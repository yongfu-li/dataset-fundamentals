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promises scale and privacy, but generated rows are not automatically trustworthy. This part covers validation and generalization gaps, demographic bias inherited from generators, and overfitting or lack of diversity when models train only on synthetic copies.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statistical similarity does not guarantee real-world utility; identify how source-data bias propagates through generators; and describe overfitting and homogeneity risks in machine-learning-based synthesis.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central challenge is proving that synthetic data represents the phenomena it is meant to simulate. Generated samples may match aggregate statistics yet miss subtle structure, natural variation, or noise that real systems exhibit. Models trained only on synthetic data may look strong in controlled tests yet fail when deployed on live inputs.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10.4 highlights a validation gap for synthetic faces. Images may appear realistic yet lack lighting changes, occlusions, and other variation present in real portraits. A face-recognition model trained on such data can underperform in production. The example 4 module for this chapter frames this fidelity versus variation tradeoff.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must generalize to conditions the generator never saw. Real environments change unpredictably—markets shift, sensors drift, and human behavior varies. When synthetic corpora oversimplify those dynamics, downstream models inherit a narrow view of the world and degrade outside the training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generators learn from existing datasets or predefined models, they can inherit and amplify demographic or label skew present in the source. Mitigation matters: biased synthetic hiring or healthcare data can reinforce unfair outcomes even when individual identifiers are removed.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10.5 shows how biased source data propagates through a generative adversarial network. If training images underrepresent certain groups, generated faces may perpetuate the same skew. In sensitive domains such as healthcare or hiring, that can produce systematically unfair decisions. The example 5 module for this chapter summarizes this propagation risk.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Machine-learning generators can overfit training data and emit homogeneous samples. When synthetic sets omit edge cases or rare events, models may memorize simplified patterns and fail on varied real-world inputs. Diversity is not optional—it is part of whether synthetic augmentation actually improves robustness.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requires explicit validation against real benchmarks, not assumption of fidelity. Source bias, mode collapse, and homogeneity can all undermine utility. Teams should treat challenges here as design constraints before choosing statistical, GAN, or language-model synthesis methods.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statistical distribution modeling, normal-distribution sampling sketches, and Monte Carlo simulation for uncertain outcomes such as asset returns.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Challenges of synthetic data</a:t>
            </a:r>
          </a:p>
          <a:p>
            <a:pPr algn="ctr">
              <a:lnSpc>
                <a:spcPts val="2200"/>
              </a:lnSpc>
              <a:spcBef>
                <a:spcPts val="1400"/>
              </a:spcBef>
            </a:pPr>
            <a:r>
              <a:rPr sz="2600" b="0">
                <a:solidFill>
                  <a:srgbClr val="333333"/>
                </a:solidFill>
                <a:latin typeface="Calibri"/>
              </a:rPr>
              <a:t>Synthetic data promises scale and privacy, but generated rows are not automatically trustworthy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Validation and generalization gaps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central challenge is proving that synthetic data represents the phenomena it is meant to</a:t>
            </a:r>
          </a:p>
          <a:p>
            <a:pPr>
              <a:spcAft>
                <a:spcPts val="1000"/>
              </a:spcAft>
              <a:buChar char="•"/>
              <a:lnSpc>
                <a:spcPts val="2200"/>
              </a:lnSpc>
            </a:pPr>
            <a:r>
              <a:rPr sz="2000" b="0">
                <a:solidFill>
                  <a:srgbClr val="333333"/>
                </a:solidFill>
                <a:latin typeface="Calibri"/>
              </a:rPr>
              <a:t>Generated samples may match aggregate statistics yet miss subtle structure</a:t>
            </a:r>
          </a:p>
          <a:p>
            <a:pPr>
              <a:spcAft>
                <a:spcPts val="1000"/>
              </a:spcAft>
              <a:buChar char="•"/>
              <a:lnSpc>
                <a:spcPts val="2200"/>
              </a:lnSpc>
            </a:pPr>
            <a:r>
              <a:rPr sz="2000" b="0">
                <a:solidFill>
                  <a:srgbClr val="333333"/>
                </a:solidFill>
                <a:latin typeface="Calibri"/>
              </a:rPr>
              <a:t>Models trained only on synthetic data may look strong in controlled tests yet fail when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10.4 — Face-Recognition Validation Gap</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10.4 — hands-on module</a:t>
            </a:r>
          </a:p>
          <a:p>
            <a:pPr>
              <a:spcAft>
                <a:spcPts val="1000"/>
              </a:spcAft>
              <a:buChar char="•"/>
              <a:lnSpc>
                <a:spcPts val="2200"/>
              </a:lnSpc>
            </a:pPr>
            <a:r>
              <a:rPr sz="2000" b="0">
                <a:solidFill>
                  <a:srgbClr val="333333"/>
                </a:solidFill>
                <a:latin typeface="Calibri"/>
              </a:rPr>
              <a:t>Example 10.4 highlights a validation gap for synthetic faces</a:t>
            </a:r>
          </a:p>
          <a:p>
            <a:pPr>
              <a:spcAft>
                <a:spcPts val="1000"/>
              </a:spcAft>
              <a:buChar char="•"/>
              <a:lnSpc>
                <a:spcPts val="2200"/>
              </a:lnSpc>
            </a:pPr>
            <a:r>
              <a:rPr sz="2000" b="0">
                <a:solidFill>
                  <a:srgbClr val="333333"/>
                </a:solidFill>
                <a:latin typeface="Calibri"/>
              </a:rPr>
              <a:t>Images may appear realistic yet lack lighting changes, occlusions</a:t>
            </a:r>
          </a:p>
          <a:p>
            <a:pPr>
              <a:spcAft>
                <a:spcPts val="1000"/>
              </a:spcAft>
              <a:buChar char="•"/>
              <a:lnSpc>
                <a:spcPts val="2200"/>
              </a:lnSpc>
            </a:pPr>
            <a:r>
              <a:rPr sz="2000" b="0">
                <a:solidFill>
                  <a:srgbClr val="333333"/>
                </a:solidFill>
                <a:latin typeface="Calibri"/>
              </a:rPr>
              <a:t>A face-recognition model trained on such data can underperform in production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Generalization beyond the generator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Synthetic data must generalize to conditions the generator never saw</a:t>
            </a:r>
          </a:p>
          <a:p>
            <a:pPr>
              <a:spcAft>
                <a:spcPts val="1000"/>
              </a:spcAft>
              <a:buChar char="•"/>
              <a:lnSpc>
                <a:spcPts val="2200"/>
              </a:lnSpc>
            </a:pPr>
            <a:r>
              <a:rPr sz="2000" b="0">
                <a:solidFill>
                  <a:srgbClr val="333333"/>
                </a:solidFill>
                <a:latin typeface="Calibri"/>
              </a:rPr>
              <a:t>Real environments change unpredictably, markets shift, sensors drift</a:t>
            </a:r>
          </a:p>
          <a:p>
            <a:pPr>
              <a:spcAft>
                <a:spcPts val="1000"/>
              </a:spcAft>
              <a:buChar char="•"/>
              <a:lnSpc>
                <a:spcPts val="2200"/>
              </a:lnSpc>
            </a:pPr>
            <a:r>
              <a:rPr sz="2000" b="0">
                <a:solidFill>
                  <a:srgbClr val="333333"/>
                </a:solidFill>
                <a:latin typeface="Calibri"/>
              </a:rPr>
              <a:t>When synthetic corpora oversimplify those dynamics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Potential biases from source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Because generators learn from existing datasets or predefined models</a:t>
            </a:r>
          </a:p>
          <a:p>
            <a:pPr>
              <a:spcAft>
                <a:spcPts val="1000"/>
              </a:spcAft>
              <a:buChar char="•"/>
              <a:lnSpc>
                <a:spcPts val="2200"/>
              </a:lnSpc>
            </a:pPr>
            <a:r>
              <a:rPr sz="2000" b="0">
                <a:solidFill>
                  <a:srgbClr val="333333"/>
                </a:solidFill>
                <a:latin typeface="Calibri"/>
              </a:rPr>
              <a:t>Mitigation matters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10.5 — Demographic Bias in GAN Training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10.5 — hands-on module</a:t>
            </a:r>
          </a:p>
          <a:p>
            <a:pPr>
              <a:spcAft>
                <a:spcPts val="1000"/>
              </a:spcAft>
              <a:buChar char="•"/>
              <a:lnSpc>
                <a:spcPts val="2200"/>
              </a:lnSpc>
            </a:pPr>
            <a:r>
              <a:rPr sz="2000" b="0">
                <a:solidFill>
                  <a:srgbClr val="333333"/>
                </a:solidFill>
                <a:latin typeface="Calibri"/>
              </a:rPr>
              <a:t>Example 10.5 shows how biased source data propagates through a generative adversarial</a:t>
            </a:r>
          </a:p>
          <a:p>
            <a:pPr>
              <a:spcAft>
                <a:spcPts val="1000"/>
              </a:spcAft>
              <a:buChar char="•"/>
              <a:lnSpc>
                <a:spcPts val="2200"/>
              </a:lnSpc>
            </a:pPr>
            <a:r>
              <a:rPr sz="2000" b="0">
                <a:solidFill>
                  <a:srgbClr val="333333"/>
                </a:solidFill>
                <a:latin typeface="Calibri"/>
              </a:rPr>
              <a:t>If training images underrepresent certain groups</a:t>
            </a:r>
          </a:p>
          <a:p>
            <a:pPr>
              <a:spcAft>
                <a:spcPts val="1000"/>
              </a:spcAft>
              <a:buChar char="•"/>
              <a:lnSpc>
                <a:spcPts val="2200"/>
              </a:lnSpc>
            </a:pPr>
            <a:r>
              <a:rPr sz="2000" b="0">
                <a:solidFill>
                  <a:srgbClr val="333333"/>
                </a:solidFill>
                <a:latin typeface="Calibri"/>
              </a:rPr>
              <a:t>In sensitive domains such as healthcare or hiring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Overfitting and lack of diversity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Machine-learning generators can overfit training data and emit homogeneous samples</a:t>
            </a:r>
          </a:p>
          <a:p>
            <a:pPr>
              <a:spcAft>
                <a:spcPts val="1000"/>
              </a:spcAft>
              <a:buChar char="•"/>
              <a:lnSpc>
                <a:spcPts val="2200"/>
              </a:lnSpc>
            </a:pPr>
            <a:r>
              <a:rPr sz="2000" b="0">
                <a:solidFill>
                  <a:srgbClr val="333333"/>
                </a:solidFill>
                <a:latin typeface="Calibri"/>
              </a:rPr>
              <a:t>When synthetic sets omit edge cases or rare events</a:t>
            </a:r>
          </a:p>
          <a:p>
            <a:pPr>
              <a:spcAft>
                <a:spcPts val="1000"/>
              </a:spcAft>
              <a:buChar char="•"/>
              <a:lnSpc>
                <a:spcPts val="2200"/>
              </a:lnSpc>
            </a:pPr>
            <a:r>
              <a:rPr sz="2000" b="0">
                <a:solidFill>
                  <a:srgbClr val="333333"/>
                </a:solidFill>
                <a:latin typeface="Calibri"/>
              </a:rPr>
              <a:t>Diversity is not optional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Synthetic data requires explicit validation against real benchmarks</a:t>
            </a:r>
          </a:p>
          <a:p>
            <a:pPr>
              <a:spcAft>
                <a:spcPts val="1000"/>
              </a:spcAft>
              <a:buChar char="•"/>
              <a:lnSpc>
                <a:spcPts val="2200"/>
              </a:lnSpc>
            </a:pPr>
            <a:r>
              <a:rPr sz="2000" b="0">
                <a:solidFill>
                  <a:srgbClr val="333333"/>
                </a:solidFill>
                <a:latin typeface="Calibri"/>
              </a:rPr>
              <a:t>Source bias, mode collapse, and homogeneity can all undermine utility</a:t>
            </a:r>
          </a:p>
          <a:p>
            <a:pPr>
              <a:spcAft>
                <a:spcPts val="1000"/>
              </a:spcAft>
              <a:buChar char="•"/>
              <a:lnSpc>
                <a:spcPts val="2200"/>
              </a:lnSpc>
            </a:pPr>
            <a:r>
              <a:rPr sz="2000" b="0">
                <a:solidFill>
                  <a:srgbClr val="333333"/>
                </a:solidFill>
                <a:latin typeface="Calibri"/>
              </a:rPr>
              <a:t>Teams should treat challenges here as design constraints before choosing statistical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Monte Carlo simulation for uncertain outcomes such as asset returns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Challenges Of Synthetic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