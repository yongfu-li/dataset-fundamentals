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Chapters 2 through 9 covered how real records are collected, labeled, cleaned, documented, and scaled. This chapter asks when artificially generated data can supplement or replace scarce or sensitive observations. Synthetic data is created by algorithms, models, or simulations rather than direct measurement, yet it should preserve enough statistical structure to support analysis and model training.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define synthetic data and explain how it differs from directly observed records; describe cross-modal fidelity requirements for images versus tabular finance data; and summarize privacy, cost, and scalability benefits that motivate synthetic generation.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data refers to artificially generated records designed to mirror the statistical properties, patterns, or structure of real data. The primary requirement is analytical value: generated rows or images should resemble the original distribution closely enough for training, testing, or sharing, while omitting direct identifiers. Synthetic outputs may still miss some real-world noise and edge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10.1 contrasts fidelity across modalities. Synthetic images should show realistic textures and object relationships, while synthetic financial transactions should preserve correlations, distributions, and trends seen in real markets. The same generator cannot be judged by one universal rule; fidelity is modality-specific. The example 1 module for this chapter summarizes these contrasts.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create synthetic data through statistical sampling, machine learning generators such as generative adversarial networks, and simulation engines. Statistical approaches draw from fitted distributions or Monte Carlo models. Machine learning methods learn an underlying data distribution and emit new samples that fit it. The method choice depends on modality, privacy goals, and validation capacity.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10.2 shows privacy-preserving medical records. A healthcare provider can generate synthetic patient tables that mimic real diagnostic and treatment patterns without exposing actual individuals. This supports research and model development under regulations such as HIPAA and GDPR. The example 2 module for this chapter frames the privacy benefit.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Collecting real-world data—especially annotated driving footage or rare clinical cases—can be expensive and slow. Synthetic generation scales volume on demand and can fill underrepresented classes or edge scenarios that real logs rarely capture. Fraud detection and rare-disease modeling are common cases where synthetic volume helps balance training sets.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10.3 illustrates synthetic autonomous-driving scenarios. Simulations can produce varied weather, lighting, and road layouts that are hard to log safely at scale in the real world. Synthetic clips let perception and planning stacks encounter diverse conditions before deployment. The example 3 module for this chapter describes this cost and coverage rationale.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Synthetic data is algorithmically generated yet must preserve analytical structure. Fidelity requirements differ by modality. Key benefits include privacy preservation, lower collection cost, and scalable coverage of rare or expensive scenarios. Benefits do not remove the need for validation, which the next part addresses.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validation and generalization gaps, demographic bias inherited from source data, and overfitting or lack of diversity when models train only on synthetic copies.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10 — Introduction to synthetic data</a:t>
            </a:r>
          </a:p>
          <a:p>
            <a:pPr algn="ctr">
              <a:lnSpc>
                <a:spcPts val="2200"/>
              </a:lnSpc>
              <a:spcBef>
                <a:spcPts val="1400"/>
              </a:spcBef>
            </a:pPr>
            <a:r>
              <a:rPr sz="2600" b="0">
                <a:solidFill>
                  <a:srgbClr val="333333"/>
                </a:solidFill>
                <a:latin typeface="Calibri"/>
              </a:rPr>
              <a:t>Chapters 2 through 9 covered how real records are collected, labeled, cleaned, documented, and scaled</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Introduction To Synthetic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Scalability benefits that motivate synthetic generation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Introduction To Synthetic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Definition and analytical value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Patterns, or structure of real data</a:t>
            </a:r>
          </a:p>
          <a:p>
            <a:pPr>
              <a:spcAft>
                <a:spcPts val="1000"/>
              </a:spcAft>
              <a:buChar char="•"/>
              <a:lnSpc>
                <a:spcPts val="2200"/>
              </a:lnSpc>
            </a:pPr>
            <a:r>
              <a:rPr sz="2000" b="0">
                <a:solidFill>
                  <a:srgbClr val="333333"/>
                </a:solidFill>
                <a:latin typeface="Calibri"/>
              </a:rPr>
              <a:t>The primary requirement is analytical value</a:t>
            </a:r>
          </a:p>
          <a:p>
            <a:pPr>
              <a:spcAft>
                <a:spcPts val="1000"/>
              </a:spcAft>
              <a:buChar char="•"/>
              <a:lnSpc>
                <a:spcPts val="2200"/>
              </a:lnSpc>
            </a:pPr>
            <a:r>
              <a:rPr sz="2000" b="0">
                <a:solidFill>
                  <a:srgbClr val="333333"/>
                </a:solidFill>
                <a:latin typeface="Calibri"/>
              </a:rPr>
              <a:t>Synthetic outputs may still miss some real-world noise and edge complexity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Introduction To Synthetic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10.1 — Cross-Modal Fidelity in Synthetic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10.1 — hands-on module</a:t>
            </a:r>
          </a:p>
          <a:p>
            <a:pPr>
              <a:spcAft>
                <a:spcPts val="1000"/>
              </a:spcAft>
              <a:buChar char="•"/>
              <a:lnSpc>
                <a:spcPts val="2200"/>
              </a:lnSpc>
            </a:pPr>
            <a:r>
              <a:rPr sz="2000" b="0">
                <a:solidFill>
                  <a:srgbClr val="333333"/>
                </a:solidFill>
                <a:latin typeface="Calibri"/>
              </a:rPr>
              <a:t>Example 10.1 contrasts fidelity across modalities</a:t>
            </a:r>
          </a:p>
          <a:p>
            <a:pPr>
              <a:spcAft>
                <a:spcPts val="1000"/>
              </a:spcAft>
              <a:buChar char="•"/>
              <a:lnSpc>
                <a:spcPts val="2200"/>
              </a:lnSpc>
            </a:pPr>
            <a:r>
              <a:rPr sz="2000" b="0">
                <a:solidFill>
                  <a:srgbClr val="333333"/>
                </a:solidFill>
                <a:latin typeface="Calibri"/>
              </a:rPr>
              <a:t>Trends seen in real markets</a:t>
            </a:r>
          </a:p>
          <a:p>
            <a:pPr>
              <a:spcAft>
                <a:spcPts val="1000"/>
              </a:spcAft>
              <a:buChar char="•"/>
              <a:lnSpc>
                <a:spcPts val="2200"/>
              </a:lnSpc>
            </a:pPr>
            <a:r>
              <a:rPr sz="2000" b="0">
                <a:solidFill>
                  <a:srgbClr val="333333"/>
                </a:solidFill>
                <a:latin typeface="Calibri"/>
              </a:rPr>
              <a:t>The same generator cannot be judged by one universal rule; fidelity is modality-specific</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`modules/chapter10/example1/`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Introduction To Synthetic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Generation methods at a glance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Simulation engines</a:t>
            </a:r>
          </a:p>
          <a:p>
            <a:pPr>
              <a:spcAft>
                <a:spcPts val="1000"/>
              </a:spcAft>
              <a:buChar char="•"/>
              <a:lnSpc>
                <a:spcPts val="2200"/>
              </a:lnSpc>
            </a:pPr>
            <a:r>
              <a:rPr sz="2000" b="0">
                <a:solidFill>
                  <a:srgbClr val="333333"/>
                </a:solidFill>
                <a:latin typeface="Calibri"/>
              </a:rPr>
              <a:t>Statistical approaches draw from fitted distributions or Monte Carlo models</a:t>
            </a:r>
          </a:p>
          <a:p>
            <a:pPr>
              <a:spcAft>
                <a:spcPts val="1000"/>
              </a:spcAft>
              <a:buChar char="•"/>
              <a:lnSpc>
                <a:spcPts val="2200"/>
              </a:lnSpc>
            </a:pPr>
            <a:r>
              <a:rPr sz="2000" b="0">
                <a:solidFill>
                  <a:srgbClr val="333333"/>
                </a:solidFill>
                <a:latin typeface="Calibri"/>
              </a:rPr>
              <a:t>Machine learning methods learn an underlying data distribution and emit new samples that</a:t>
            </a:r>
          </a:p>
          <a:p>
            <a:pPr>
              <a:spcAft>
                <a:spcPts val="1000"/>
              </a:spcAft>
              <a:buChar char="•"/>
              <a:lnSpc>
                <a:spcPts val="2200"/>
              </a:lnSpc>
            </a:pPr>
            <a:r>
              <a:rPr sz="2000" b="0">
                <a:solidFill>
                  <a:srgbClr val="333333"/>
                </a:solidFill>
                <a:latin typeface="Calibri"/>
              </a:rPr>
              <a:t>The method choice depends on modality, privacy goals, and validation capacity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Introduction To Synthetic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10.2 — Synthetic Patient Records for Privacy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10.2 — hands-on module</a:t>
            </a:r>
          </a:p>
          <a:p>
            <a:pPr>
              <a:spcAft>
                <a:spcPts val="1000"/>
              </a:spcAft>
              <a:buChar char="•"/>
              <a:lnSpc>
                <a:spcPts val="2200"/>
              </a:lnSpc>
            </a:pPr>
            <a:r>
              <a:rPr sz="2000" b="0">
                <a:solidFill>
                  <a:srgbClr val="333333"/>
                </a:solidFill>
                <a:latin typeface="Calibri"/>
              </a:rPr>
              <a:t>Example 10.2 shows privacy-preserving medical records</a:t>
            </a:r>
          </a:p>
          <a:p>
            <a:pPr>
              <a:spcAft>
                <a:spcPts val="1000"/>
              </a:spcAft>
              <a:buChar char="•"/>
              <a:lnSpc>
                <a:spcPts val="2200"/>
              </a:lnSpc>
            </a:pPr>
            <a:r>
              <a:rPr sz="2000" b="0">
                <a:solidFill>
                  <a:srgbClr val="333333"/>
                </a:solidFill>
                <a:latin typeface="Calibri"/>
              </a:rPr>
              <a:t>A healthcare provider can generate synthetic patient tables that mimic real diagnostic and</a:t>
            </a:r>
          </a:p>
          <a:p>
            <a:pPr>
              <a:spcAft>
                <a:spcPts val="1000"/>
              </a:spcAft>
              <a:buChar char="•"/>
              <a:lnSpc>
                <a:spcPts val="2200"/>
              </a:lnSpc>
            </a:pPr>
            <a:r>
              <a:rPr sz="2000" b="0">
                <a:solidFill>
                  <a:srgbClr val="333333"/>
                </a:solidFill>
                <a:latin typeface="Calibri"/>
              </a:rPr>
              <a:t>This supports research and model development under regulations such as HIPAA and GDPR</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`modules/chapter10/example2/`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Introduction To Synthetic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Cost efficiency and scalability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Collecting real-world data</a:t>
            </a:r>
          </a:p>
          <a:p>
            <a:pPr>
              <a:spcAft>
                <a:spcPts val="1000"/>
              </a:spcAft>
              <a:buChar char="•"/>
              <a:lnSpc>
                <a:spcPts val="2200"/>
              </a:lnSpc>
            </a:pPr>
            <a:r>
              <a:rPr sz="2000" b="0">
                <a:solidFill>
                  <a:srgbClr val="333333"/>
                </a:solidFill>
                <a:latin typeface="Calibri"/>
              </a:rPr>
              <a:t>Synthetic generation scales volume on demand and can fill underrepresented classes or edge</a:t>
            </a:r>
          </a:p>
          <a:p>
            <a:pPr>
              <a:spcAft>
                <a:spcPts val="1000"/>
              </a:spcAft>
              <a:buChar char="•"/>
              <a:lnSpc>
                <a:spcPts val="2200"/>
              </a:lnSpc>
            </a:pPr>
            <a:r>
              <a:rPr sz="2000" b="0">
                <a:solidFill>
                  <a:srgbClr val="333333"/>
                </a:solidFill>
                <a:latin typeface="Calibri"/>
              </a:rPr>
              <a:t>Fraud detection and rare-disease modeling are common cases where synthetic volume helps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Introduction To Synthetic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10.3 — Synthetic Driving Scenarios for AV Training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10.3 — hands-on module</a:t>
            </a:r>
          </a:p>
          <a:p>
            <a:pPr>
              <a:spcAft>
                <a:spcPts val="1000"/>
              </a:spcAft>
              <a:buChar char="•"/>
              <a:lnSpc>
                <a:spcPts val="2200"/>
              </a:lnSpc>
            </a:pPr>
            <a:r>
              <a:rPr sz="2000" b="0">
                <a:solidFill>
                  <a:srgbClr val="333333"/>
                </a:solidFill>
                <a:latin typeface="Calibri"/>
              </a:rPr>
              <a:t>Example 10.3 illustrates synthetic autonomous-driving scenarios</a:t>
            </a:r>
          </a:p>
          <a:p>
            <a:pPr>
              <a:spcAft>
                <a:spcPts val="1000"/>
              </a:spcAft>
              <a:buChar char="•"/>
              <a:lnSpc>
                <a:spcPts val="2200"/>
              </a:lnSpc>
            </a:pPr>
            <a:r>
              <a:rPr sz="2000" b="0">
                <a:solidFill>
                  <a:srgbClr val="333333"/>
                </a:solidFill>
                <a:latin typeface="Calibri"/>
              </a:rPr>
              <a:t>Simulations can produce varied weather, lighting</a:t>
            </a:r>
          </a:p>
          <a:p>
            <a:pPr>
              <a:spcAft>
                <a:spcPts val="1000"/>
              </a:spcAft>
              <a:buChar char="•"/>
              <a:lnSpc>
                <a:spcPts val="2200"/>
              </a:lnSpc>
            </a:pPr>
            <a:r>
              <a:rPr sz="2000" b="0">
                <a:solidFill>
                  <a:srgbClr val="333333"/>
                </a:solidFill>
                <a:latin typeface="Calibri"/>
              </a:rPr>
              <a:t>Synthetic clips let perception and planning stacks encounter diverse conditions before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`modules/chapter10/example3/`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Introduction To Synthetic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Synthetic data is algorithmically generated yet must preserve analytical structure</a:t>
            </a:r>
          </a:p>
          <a:p>
            <a:pPr>
              <a:spcAft>
                <a:spcPts val="1000"/>
              </a:spcAft>
              <a:buChar char="•"/>
              <a:lnSpc>
                <a:spcPts val="2200"/>
              </a:lnSpc>
            </a:pPr>
            <a:r>
              <a:rPr sz="2000" b="0">
                <a:solidFill>
                  <a:srgbClr val="333333"/>
                </a:solidFill>
                <a:latin typeface="Calibri"/>
              </a:rPr>
              <a:t>Fidelity requirements differ by modality</a:t>
            </a:r>
          </a:p>
          <a:p>
            <a:pPr>
              <a:spcAft>
                <a:spcPts val="1000"/>
              </a:spcAft>
              <a:buChar char="•"/>
              <a:lnSpc>
                <a:spcPts val="2200"/>
              </a:lnSpc>
            </a:pPr>
            <a:r>
              <a:rPr sz="2000" b="0">
                <a:solidFill>
                  <a:srgbClr val="333333"/>
                </a:solidFill>
                <a:latin typeface="Calibri"/>
              </a:rPr>
              <a:t>Key benefits include privacy preservation, lower collection cost</a:t>
            </a:r>
          </a:p>
          <a:p>
            <a:pPr>
              <a:spcAft>
                <a:spcPts val="1000"/>
              </a:spcAft>
              <a:buChar char="•"/>
              <a:lnSpc>
                <a:spcPts val="2200"/>
              </a:lnSpc>
            </a:pPr>
            <a:r>
              <a:rPr sz="2000" b="0">
                <a:solidFill>
                  <a:srgbClr val="333333"/>
                </a:solidFill>
                <a:latin typeface="Calibri"/>
              </a:rPr>
              <a:t>Benefits do not remove the need for validation, which the next part addresses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Introduction To Synthetic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Overfitting or lack of diversity when models train only on synthetic copies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10 — Introduction To Synthetic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