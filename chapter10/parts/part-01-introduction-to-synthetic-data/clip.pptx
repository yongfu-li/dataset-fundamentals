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2 through 9 covered how real records are collected, labeled, cleaned, documented, and scaled. This chapter asks when artificially generated data can supplement or replace scarce or sensitive observations. Synthetic data is created by algorithms, models, or simulations rather than direct measurement, yet it should preserve enough statistical structure to support analysis and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synthetic data and explain how it differs from directly observed records; describe cross-modal fidelity requirements for images versus tabular finance data; and summarize privacy, cost, and scalability benefits that motivate synthetic generation.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refers to artificially generated records designed to mirror the statistical properties, patterns, or structure of real data. The primary requirement is analytical value: generated rows or images should resemble the original distribution closely enough for training, testing, or sharing, while omitting direct identifiers. Synthetic outputs may still miss some real-world noise and edge complexity.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 contrasts fidelity across modalities. Synthetic images should show realistic textures and object relationships, while synthetic financial transactions should preserve correlations, distributions, and trends seen in real markets. The same generator cannot be judged by one universal rule; fidelity is modality-specific. The example 1 module for this chapter summarizes these contrasts.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create synthetic data through statistical sampling, machine learning generators such as generative adversarial networks, and simulation engines. Statistical approaches draw from fitted distributions or Monte Carlo models. Machine learning methods learn an underlying data distribution and emit new samples that fit it. The method choice depends on modality, privacy goals, and validation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10.2 shows privacy-preserving medical records. A healthcare provider can generate synthetic patient tables that mimic real diagnostic and treatment patterns without exposing actual individuals. This supports research and model development under regulations such as HIPAA and GDPR. The example 2 module for this chapter frames the privacy benefit.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Collecting real-world data—especially annotated driving footage or rare clinical cases—can be expensive and slow. Synthetic generation scales volume on demand and can fill underrepresented classes or edge scenarios that real logs rarely capture. Fraud detection and rare-disease modeling are common cases where synthetic volume helps balance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10.3 illustrates synthetic autonomous-driving scenarios. Simulations can produce varied weather, lighting, and road layouts that are hard to log safely at scale in the real world. Synthetic clips let perception and planning stacks encounter diverse conditions before deployment. The example 3 module for this chapter describes this cost and coverage rationale.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is algorithmically generated yet must preserve analytical structure. Fidelity requirements differ by modality. Key benefits include privacy preservation, lower collection cost, and scalable coverage of rare or expensive scenarios. Benefits do not remove the need for validation, which the next part addresses.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validation and generalization gaps, demographic bias inherited from source data, and overfitting or lack of diversity when models train only on synthetic copies.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Introduction to synthetic data</a:t>
            </a:r>
          </a:p>
          <a:p>
            <a:pPr algn="ctr">
              <a:lnSpc>
                <a:spcPts val="2200"/>
              </a:lnSpc>
              <a:spcBef>
                <a:spcPts val="1400"/>
              </a:spcBef>
            </a:pPr>
            <a:r>
              <a:rPr sz="2600" b="0">
                <a:solidFill>
                  <a:srgbClr val="333333"/>
                </a:solidFill>
                <a:latin typeface="Calibri"/>
              </a:rPr>
              <a:t>Chapters 2 through 9 covered how real records are collected, labeled, cleaned, documented, and scaled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Scalability benefits that motivate synthetic generation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and analytical value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Patterns, or structure of real data</a:t>
            </a:r>
          </a:p>
          <a:p>
            <a:pPr lvl="0" marL="457200" indent="-228600">
              <a:buFont typeface="Calibri"/>
              <a:spcAft>
                <a:spcPts val="1000"/>
              </a:spcAft>
              <a:buSzPct val="100000"/>
              <a:buChar char="•"/>
              <a:lnSpc>
                <a:spcPts val="2200"/>
              </a:lnSpc>
            </a:pPr>
            <a:r>
              <a:rPr sz="2000" b="0">
                <a:solidFill>
                  <a:srgbClr val="333333"/>
                </a:solidFill>
                <a:latin typeface="Calibri"/>
              </a:rPr>
              <a:t>The primary requirement is analytical value</a:t>
            </a:r>
          </a:p>
          <a:p>
            <a:pPr lvl="0" marL="457200" indent="-228600">
              <a:buFont typeface="Calibri"/>
              <a:spcAft>
                <a:spcPts val="1000"/>
              </a:spcAft>
              <a:buSzPct val="100000"/>
              <a:buChar char="•"/>
              <a:lnSpc>
                <a:spcPts val="2200"/>
              </a:lnSpc>
            </a:pPr>
            <a:r>
              <a:rPr sz="2000" b="0">
                <a:solidFill>
                  <a:srgbClr val="333333"/>
                </a:solidFill>
                <a:latin typeface="Calibri"/>
              </a:rPr>
              <a:t>Synthetic outputs may still miss some real-world noise and edge complexity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 — Cross-Modal Fidelity in Synthetic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10.1 contrasts fidelity across modalities</a:t>
            </a:r>
          </a:p>
          <a:p>
            <a:pPr lvl="0" marL="457200" indent="-228600">
              <a:buFont typeface="Calibri"/>
              <a:spcAft>
                <a:spcPts val="1000"/>
              </a:spcAft>
              <a:buSzPct val="100000"/>
              <a:buChar char="•"/>
              <a:lnSpc>
                <a:spcPts val="2200"/>
              </a:lnSpc>
            </a:pPr>
            <a:r>
              <a:rPr sz="2000" b="0">
                <a:solidFill>
                  <a:srgbClr val="333333"/>
                </a:solidFill>
                <a:latin typeface="Calibri"/>
              </a:rPr>
              <a:t>Trends seen in real markets</a:t>
            </a:r>
          </a:p>
          <a:p>
            <a:pPr lvl="0" marL="457200" indent="-228600">
              <a:buFont typeface="Calibri"/>
              <a:spcAft>
                <a:spcPts val="1000"/>
              </a:spcAft>
              <a:buSzPct val="100000"/>
              <a:buChar char="•"/>
              <a:lnSpc>
                <a:spcPts val="2200"/>
              </a:lnSpc>
            </a:pPr>
            <a:r>
              <a:rPr sz="2000" b="0">
                <a:solidFill>
                  <a:srgbClr val="333333"/>
                </a:solidFill>
                <a:latin typeface="Calibri"/>
              </a:rPr>
              <a:t>The same generator cannot be judged by one universal rule; fidelity is modality-specific</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Generation methods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Simulation engines</a:t>
            </a:r>
          </a:p>
          <a:p>
            <a:pPr lvl="0" marL="457200" indent="-228600">
              <a:buFont typeface="Calibri"/>
              <a:spcAft>
                <a:spcPts val="1000"/>
              </a:spcAft>
              <a:buSzPct val="100000"/>
              <a:buChar char="•"/>
              <a:lnSpc>
                <a:spcPts val="2200"/>
              </a:lnSpc>
            </a:pPr>
            <a:r>
              <a:rPr sz="2000" b="0">
                <a:solidFill>
                  <a:srgbClr val="333333"/>
                </a:solidFill>
                <a:latin typeface="Calibri"/>
              </a:rPr>
              <a:t>Statistical approaches draw from fitted distributions or Monte Carlo models</a:t>
            </a:r>
          </a:p>
          <a:p>
            <a:pPr lvl="0" marL="457200" indent="-228600">
              <a:buFont typeface="Calibri"/>
              <a:spcAft>
                <a:spcPts val="1000"/>
              </a:spcAft>
              <a:buSzPct val="100000"/>
              <a:buChar char="•"/>
              <a:lnSpc>
                <a:spcPts val="2200"/>
              </a:lnSpc>
            </a:pPr>
            <a:r>
              <a:rPr sz="2000" b="0">
                <a:solidFill>
                  <a:srgbClr val="333333"/>
                </a:solidFill>
                <a:latin typeface="Calibri"/>
              </a:rPr>
              <a:t>Machine learning methods learn an underlying data distribution and emit new samples that</a:t>
            </a:r>
          </a:p>
          <a:p>
            <a:pPr lvl="0" marL="457200" indent="-228600">
              <a:buFont typeface="Calibri"/>
              <a:spcAft>
                <a:spcPts val="1000"/>
              </a:spcAft>
              <a:buSzPct val="100000"/>
              <a:buChar char="•"/>
              <a:lnSpc>
                <a:spcPts val="2200"/>
              </a:lnSpc>
            </a:pPr>
            <a:r>
              <a:rPr sz="2000" b="0">
                <a:solidFill>
                  <a:srgbClr val="333333"/>
                </a:solidFill>
                <a:latin typeface="Calibri"/>
              </a:rPr>
              <a:t>The method choice depends on modality, privacy goals, and validation capacity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10.2 — Synthetic Patient Records for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10.2 shows privacy-preserving medical records</a:t>
            </a:r>
          </a:p>
          <a:p>
            <a:pPr lvl="0" marL="457200" indent="-228600">
              <a:buFont typeface="Calibri"/>
              <a:spcAft>
                <a:spcPts val="1000"/>
              </a:spcAft>
              <a:buSzPct val="100000"/>
              <a:buChar char="•"/>
              <a:lnSpc>
                <a:spcPts val="2200"/>
              </a:lnSpc>
            </a:pPr>
            <a:r>
              <a:rPr sz="2000" b="0">
                <a:solidFill>
                  <a:srgbClr val="333333"/>
                </a:solidFill>
                <a:latin typeface="Calibri"/>
              </a:rPr>
              <a:t>A healthcare provider can generate synthetic patient tables that mimic real diagnostic and</a:t>
            </a:r>
          </a:p>
          <a:p>
            <a:pPr lvl="0" marL="457200" indent="-228600">
              <a:buFont typeface="Calibri"/>
              <a:spcAft>
                <a:spcPts val="1000"/>
              </a:spcAft>
              <a:buSzPct val="100000"/>
              <a:buChar char="•"/>
              <a:lnSpc>
                <a:spcPts val="2200"/>
              </a:lnSpc>
            </a:pPr>
            <a:r>
              <a:rPr sz="2000" b="0">
                <a:solidFill>
                  <a:srgbClr val="333333"/>
                </a:solidFill>
                <a:latin typeface="Calibri"/>
              </a:rPr>
              <a:t>This supports research and model development under regulations such as HIPAA and GDPR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Cost efficiency and scalability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Collecting real-world data</a:t>
            </a:r>
          </a:p>
          <a:p>
            <a:pPr lvl="0" marL="457200" indent="-228600">
              <a:buFont typeface="Calibri"/>
              <a:spcAft>
                <a:spcPts val="1000"/>
              </a:spcAft>
              <a:buSzPct val="100000"/>
              <a:buChar char="•"/>
              <a:lnSpc>
                <a:spcPts val="2200"/>
              </a:lnSpc>
            </a:pPr>
            <a:r>
              <a:rPr sz="2000" b="0">
                <a:solidFill>
                  <a:srgbClr val="333333"/>
                </a:solidFill>
                <a:latin typeface="Calibri"/>
              </a:rPr>
              <a:t>Synthetic generation scales volume on demand and can fill underrepresented classes or edge</a:t>
            </a:r>
          </a:p>
          <a:p>
            <a:pPr lvl="0" marL="457200" indent="-228600">
              <a:buFont typeface="Calibri"/>
              <a:spcAft>
                <a:spcPts val="1000"/>
              </a:spcAft>
              <a:buSzPct val="100000"/>
              <a:buChar char="•"/>
              <a:lnSpc>
                <a:spcPts val="2200"/>
              </a:lnSpc>
            </a:pPr>
            <a:r>
              <a:rPr sz="2000" b="0">
                <a:solidFill>
                  <a:srgbClr val="333333"/>
                </a:solidFill>
                <a:latin typeface="Calibri"/>
              </a:rPr>
              <a:t>Fraud detection and rare-disease modeling are common cases where synthetic volume helps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10.3 — Synthetic Driving Scenarios for AV Training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10.3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10.3 illustrates synthetic autonomous-driving scenarios</a:t>
            </a:r>
          </a:p>
          <a:p>
            <a:pPr lvl="0" marL="457200" indent="-228600">
              <a:buFont typeface="Calibri"/>
              <a:spcAft>
                <a:spcPts val="1000"/>
              </a:spcAft>
              <a:buSzPct val="100000"/>
              <a:buChar char="•"/>
              <a:lnSpc>
                <a:spcPts val="2200"/>
              </a:lnSpc>
            </a:pPr>
            <a:r>
              <a:rPr sz="2000" b="0">
                <a:solidFill>
                  <a:srgbClr val="333333"/>
                </a:solidFill>
                <a:latin typeface="Calibri"/>
              </a:rPr>
              <a:t>Simulations can produce varied weather, lighting</a:t>
            </a:r>
          </a:p>
          <a:p>
            <a:pPr lvl="0" marL="457200" indent="-228600">
              <a:buFont typeface="Calibri"/>
              <a:spcAft>
                <a:spcPts val="1000"/>
              </a:spcAft>
              <a:buSzPct val="100000"/>
              <a:buChar char="•"/>
              <a:lnSpc>
                <a:spcPts val="2200"/>
              </a:lnSpc>
            </a:pPr>
            <a:r>
              <a:rPr sz="2000" b="0">
                <a:solidFill>
                  <a:srgbClr val="333333"/>
                </a:solidFill>
                <a:latin typeface="Calibri"/>
              </a:rPr>
              <a:t>Synthetic clips let perception and planning stacks encounter diverse conditions before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`modules/chapter10/example3/`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Synthetic data is algorithmically generated yet must preserve analytical structure</a:t>
            </a:r>
          </a:p>
          <a:p>
            <a:pPr lvl="0" marL="457200" indent="-228600">
              <a:buFont typeface="Calibri"/>
              <a:spcAft>
                <a:spcPts val="1000"/>
              </a:spcAft>
              <a:buSzPct val="100000"/>
              <a:buChar char="•"/>
              <a:lnSpc>
                <a:spcPts val="2200"/>
              </a:lnSpc>
            </a:pPr>
            <a:r>
              <a:rPr sz="2000" b="0">
                <a:solidFill>
                  <a:srgbClr val="333333"/>
                </a:solidFill>
                <a:latin typeface="Calibri"/>
              </a:rPr>
              <a:t>Fidelity requirements differ by modality</a:t>
            </a:r>
          </a:p>
          <a:p>
            <a:pPr lvl="0" marL="457200" indent="-228600">
              <a:buFont typeface="Calibri"/>
              <a:spcAft>
                <a:spcPts val="1000"/>
              </a:spcAft>
              <a:buSzPct val="100000"/>
              <a:buChar char="•"/>
              <a:lnSpc>
                <a:spcPts val="2200"/>
              </a:lnSpc>
            </a:pPr>
            <a:r>
              <a:rPr sz="2000" b="0">
                <a:solidFill>
                  <a:srgbClr val="333333"/>
                </a:solidFill>
                <a:latin typeface="Calibri"/>
              </a:rPr>
              <a:t>Key benefits include privacy preservation, lower collection cost</a:t>
            </a:r>
          </a:p>
          <a:p>
            <a:pPr lvl="0" marL="457200" indent="-228600">
              <a:buFont typeface="Calibri"/>
              <a:spcAft>
                <a:spcPts val="1000"/>
              </a:spcAft>
              <a:buSzPct val="100000"/>
              <a:buChar char="•"/>
              <a:lnSpc>
                <a:spcPts val="2200"/>
              </a:lnSpc>
            </a:pPr>
            <a:r>
              <a:rPr sz="2000" b="0">
                <a:solidFill>
                  <a:srgbClr val="333333"/>
                </a:solidFill>
                <a:latin typeface="Calibri"/>
              </a:rPr>
              <a:t>Benefits do not remove the need for validation, which the next part addresses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Overfitting or lack of diversity when models train only on synthetic copies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Introduction To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