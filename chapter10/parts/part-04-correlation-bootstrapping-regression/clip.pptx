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Univariate sampling ignores relationships between variables. This part covers joint distributions that preserve dependencies, bootstrapping from small real samples, and regression-based projection for structured synthetic rows.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why multivariate modeling matters for realistic tabular synthesis; describe bootstrapping with replacement from small samples; and outline regression-based generation of dependent variables from predictors.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datasets rarely treat columns as independent. Income and age co-vary; asset returns co-move; vitals correlate across visits. Useful synthetic tabular data must replicate these joint relationships, not just marginal histograms. Multivariate distributions and copulas model dependence structures, including nonlinear ties that simple pairwise correlation misses.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10.8 preserves correlations between income and age. Analysts model the joint distribution so synthetic rows keep segment-level relationships—such as higher income in certain age bands—rather than sampling each column independently. The example 8 module for this chapter demonstrates correlated draws in Python.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Copulas separate marginal behavior from dependence structure, which helps when variables have non-linear or time-varying relationships—as in financial markets. After fitting dependence, new synthetic rows are sampled from the joint model or copula, yielding data suitable for predictive modeling and stress testing.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Bootstrapping resamples an original dataset with replacement to create larger synthetic sets that reflect observed variability. Some real rows repeat; others are omitted. Repeating the process yields multiple bootstrap datasets for training or uncertainty estimation when collection produced only a small real sample.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10.9 bootstraps a small customer purchase-history sample into a larger training set that preserves observed purchase patterns. This supports model training when raw logs are limited. The example 9 module for this chapter runs resampling with replacement on a tiny purchase table.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Regression models fit relationships between predictors and an outcome, then generate synthetic outcomes by sampling predictor values and applying the fitted equation—including error terms for simple linear or richer multi-predictor forms. Economics, healthcare, and social science often use this when domain theory guides variable relationships.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10.10 generates synthetic GDP growth from macro predictors such as interest rates, inflation, and government spending. The regression preserves structured relationships among indicators rather than independent column draws. The example 10 module for this chapter implements projection from fitted coefficients.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Realistic tabular synthesis requires joint structure, not independent marginals. Bootstrapping expands small real samples while preserving variability; regression projects outcomes from known predictor relationships. Statistical methods set the foundation before generative adversarial networks learn complex structure from data.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explains generator and discriminator roles, adversarial training, loss functions, and convergence challenges that affect synthetic realism in generative adversarial networks.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10 — Correlation, bootstrapping, and regression</a:t>
            </a:r>
          </a:p>
          <a:p>
            <a:pPr algn="ctr">
              <a:lnSpc>
                <a:spcPts val="2200"/>
              </a:lnSpc>
              <a:spcBef>
                <a:spcPts val="1400"/>
              </a:spcBef>
            </a:pPr>
            <a:r>
              <a:rPr sz="2600" b="0">
                <a:solidFill>
                  <a:srgbClr val="333333"/>
                </a:solidFill>
                <a:latin typeface="Calibri"/>
              </a:rPr>
              <a:t>Univariate sampling ignores relationships between variables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Correlation Bootstrapping Regression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Correlation Bootstrapping Regression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Correlations and dependencies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Real datasets rarely treat columns as independent</a:t>
            </a:r>
          </a:p>
          <a:p>
            <a:pPr lvl="0" marL="457200" indent="-228600">
              <a:buFont typeface="Calibri"/>
              <a:spcAft>
                <a:spcPts val="1000"/>
              </a:spcAft>
              <a:buSzPct val="100000"/>
              <a:buChar char="•"/>
              <a:lnSpc>
                <a:spcPts val="2200"/>
              </a:lnSpc>
            </a:pPr>
            <a:r>
              <a:rPr sz="2000" b="0">
                <a:solidFill>
                  <a:srgbClr val="333333"/>
                </a:solidFill>
                <a:latin typeface="Calibri"/>
              </a:rPr>
              <a:t>Income and age co-vary; asset returns co-move; vitals correlate across visits</a:t>
            </a:r>
          </a:p>
          <a:p>
            <a:pPr lvl="0" marL="457200" indent="-228600">
              <a:buFont typeface="Calibri"/>
              <a:spcAft>
                <a:spcPts val="1000"/>
              </a:spcAft>
              <a:buSzPct val="100000"/>
              <a:buChar char="•"/>
              <a:lnSpc>
                <a:spcPts val="2200"/>
              </a:lnSpc>
            </a:pPr>
            <a:r>
              <a:rPr sz="2000" b="0">
                <a:solidFill>
                  <a:srgbClr val="333333"/>
                </a:solidFill>
                <a:latin typeface="Calibri"/>
              </a:rPr>
              <a:t>Useful synthetic tabular data must replicate these joint relationships</a:t>
            </a:r>
          </a:p>
          <a:p>
            <a:pPr lvl="0" marL="457200" indent="-228600">
              <a:buFont typeface="Calibri"/>
              <a:spcAft>
                <a:spcPts val="1000"/>
              </a:spcAft>
              <a:buSzPct val="100000"/>
              <a:buChar char="•"/>
              <a:lnSpc>
                <a:spcPts val="2200"/>
              </a:lnSpc>
            </a:pPr>
            <a:r>
              <a:rPr sz="2000" b="0">
                <a:solidFill>
                  <a:srgbClr val="333333"/>
                </a:solidFill>
                <a:latin typeface="Calibri"/>
              </a:rPr>
              <a:t>Multivariate distributions and copulas model dependence structures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Correlation Bootstrapping Regression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10.8 — Income-Age Joint Distribution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10.8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10.8 preserves correlations between income and age</a:t>
            </a:r>
          </a:p>
          <a:p>
            <a:pPr lvl="0" marL="457200" indent="-228600">
              <a:buFont typeface="Calibri"/>
              <a:spcAft>
                <a:spcPts val="1000"/>
              </a:spcAft>
              <a:buSzPct val="100000"/>
              <a:buChar char="•"/>
              <a:lnSpc>
                <a:spcPts val="2200"/>
              </a:lnSpc>
            </a:pPr>
            <a:r>
              <a:rPr sz="2000" b="0">
                <a:solidFill>
                  <a:srgbClr val="333333"/>
                </a:solidFill>
                <a:latin typeface="Calibri"/>
              </a:rPr>
              <a:t>Analysts model the joint distribution so synthetic rows keep segment-level relationships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Correlation Bootstrapping Regression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10.8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10.8 — preserve the joint relationship between income and</a:t>
            </a:r>
          </a:p>
          <a:p>
            <a:pPr>
              <a:lnSpc>
                <a:spcPts val="2200"/>
              </a:lnSpc>
              <a:spcAft>
                <a:spcPts val="400"/>
              </a:spcAft>
            </a:pPr>
            <a:r>
              <a:rPr sz="2000" b="0">
                <a:solidFill>
                  <a:srgbClr val="333333"/>
                </a:solidFill>
                <a:latin typeface="Consolas"/>
              </a:rPr>
              <a:t>age."""</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import math</a:t>
            </a:r>
          </a:p>
          <a:p>
            <a:pPr>
              <a:lnSpc>
                <a:spcPts val="2200"/>
              </a:lnSpc>
              <a:spcAft>
                <a:spcPts val="400"/>
              </a:spcAft>
            </a:pPr>
            <a:r>
              <a:rPr sz="2000" b="0">
                <a:solidFill>
                  <a:srgbClr val="333333"/>
                </a:solidFill>
                <a:latin typeface="Consolas"/>
              </a:rPr>
              <a:t>import random</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pearson(xs: list[float], ys: list[float]) -&gt; float:</a:t>
            </a:r>
          </a:p>
          <a:p>
            <a:pPr>
              <a:lnSpc>
                <a:spcPts val="2200"/>
              </a:lnSpc>
              <a:spcAft>
                <a:spcPts val="400"/>
              </a:spcAft>
            </a:pPr>
            <a:r>
              <a:rPr sz="2000" b="0">
                <a:solidFill>
                  <a:srgbClr val="333333"/>
                </a:solidFill>
                <a:latin typeface="Consolas"/>
              </a:rPr>
              <a:t>    """Return Pearson's r for two equal-length sequences."""</a:t>
            </a:r>
          </a:p>
          <a:p>
            <a:pPr>
              <a:lnSpc>
                <a:spcPts val="2200"/>
              </a:lnSpc>
              <a:spcAft>
                <a:spcPts val="400"/>
              </a:spcAft>
            </a:pPr>
            <a:r>
              <a:rPr sz="2000" b="0">
                <a:solidFill>
                  <a:srgbClr val="333333"/>
                </a:solidFill>
                <a:latin typeface="Consolas"/>
              </a:rPr>
              <a:t>    n = len(xs)</a:t>
            </a:r>
          </a:p>
          <a:p>
            <a:pPr>
              <a:lnSpc>
                <a:spcPts val="2200"/>
              </a:lnSpc>
              <a:spcAft>
                <a:spcPts val="400"/>
              </a:spcAft>
            </a:pPr>
            <a:r>
              <a:rPr sz="2000" b="0">
                <a:solidFill>
                  <a:srgbClr val="333333"/>
                </a:solidFill>
                <a:latin typeface="Consolas"/>
              </a:rPr>
              <a:t>    mx, my = sum(xs) / n, sum(ys) / n</a:t>
            </a:r>
          </a:p>
          <a:p>
            <a:pPr>
              <a:lnSpc>
                <a:spcPts val="2200"/>
              </a:lnSpc>
              <a:spcAft>
                <a:spcPts val="400"/>
              </a:spcAft>
            </a:pPr>
            <a:r>
              <a:rPr sz="2000" b="0">
                <a:solidFill>
                  <a:srgbClr val="333333"/>
                </a:solidFill>
                <a:latin typeface="Consolas"/>
              </a:rPr>
              <a:t>    cov = sum((x - mx) * (y - my) for x, y in zip(xs, ys))</a:t>
            </a:r>
          </a:p>
          <a:p>
            <a:pPr>
              <a:lnSpc>
                <a:spcPts val="2200"/>
              </a:lnSpc>
              <a:spcAft>
                <a:spcPts val="400"/>
              </a:spcAft>
            </a:pPr>
            <a:r>
              <a:rPr sz="2000" b="0">
                <a:solidFill>
                  <a:srgbClr val="333333"/>
                </a:solidFill>
                <a:latin typeface="Consolas"/>
              </a:rPr>
              <a:t>    sx = math.sqrt(sum((x - mx) ** 2 for x in xs))</a:t>
            </a:r>
          </a:p>
          <a:p>
            <a:pPr>
              <a:lnSpc>
                <a:spcPts val="2200"/>
              </a:lnSpc>
              <a:spcAft>
                <a:spcPts val="400"/>
              </a:spcAft>
            </a:pPr>
            <a:r>
              <a:rPr sz="2000" b="0">
                <a:solidFill>
                  <a:srgbClr val="333333"/>
                </a:solidFill>
                <a:latin typeface="Consolas"/>
              </a:rPr>
              <a:t>    sy = math.sqrt(sum((y - my) ** 2 for y in ys))</a:t>
            </a:r>
          </a:p>
          <a:p>
            <a:pPr>
              <a:lnSpc>
                <a:spcPts val="2200"/>
              </a:lnSpc>
              <a:spcAft>
                <a:spcPts val="400"/>
              </a:spcAft>
            </a:pPr>
            <a:r>
              <a:rPr sz="2000" b="0">
                <a:solidFill>
                  <a:srgbClr val="333333"/>
                </a:solidFill>
                <a:latin typeface="Consolas"/>
              </a:rPr>
              <a:t>    return cov / (sx * sy)</a:t>
            </a:r>
          </a:p>
          <a:p>
            <a:pPr>
              <a:lnSpc>
                <a:spcPts val="2200"/>
              </a:lnSpc>
              <a:spcAft>
                <a:spcPts val="4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Correlation Bootstrapping Regression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Copulas for complex dependence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Copulas separate marginal behavior from dependence structure</a:t>
            </a:r>
          </a:p>
          <a:p>
            <a:pPr lvl="0" marL="457200" indent="-228600">
              <a:buFont typeface="Calibri"/>
              <a:spcAft>
                <a:spcPts val="1000"/>
              </a:spcAft>
              <a:buSzPct val="100000"/>
              <a:buChar char="•"/>
              <a:lnSpc>
                <a:spcPts val="2200"/>
              </a:lnSpc>
            </a:pPr>
            <a:r>
              <a:rPr sz="2000" b="0">
                <a:solidFill>
                  <a:srgbClr val="333333"/>
                </a:solidFill>
                <a:latin typeface="Calibri"/>
              </a:rPr>
              <a:t>After fitting dependence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Correlation Bootstrapping Regression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Bootstrapping from small samples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Bootstrapping resamples an original dataset with replacement to create larger synthetic</a:t>
            </a:r>
          </a:p>
          <a:p>
            <a:pPr lvl="0" marL="457200" indent="-228600">
              <a:buFont typeface="Calibri"/>
              <a:spcAft>
                <a:spcPts val="1000"/>
              </a:spcAft>
              <a:buSzPct val="100000"/>
              <a:buChar char="•"/>
              <a:lnSpc>
                <a:spcPts val="2200"/>
              </a:lnSpc>
            </a:pPr>
            <a:r>
              <a:rPr sz="2000" b="0">
                <a:solidFill>
                  <a:srgbClr val="333333"/>
                </a:solidFill>
                <a:latin typeface="Calibri"/>
              </a:rPr>
              <a:t>Some real rows repeat; others are omitted</a:t>
            </a:r>
          </a:p>
          <a:p>
            <a:pPr lvl="0" marL="457200" indent="-228600">
              <a:buFont typeface="Calibri"/>
              <a:spcAft>
                <a:spcPts val="1000"/>
              </a:spcAft>
              <a:buSzPct val="100000"/>
              <a:buChar char="•"/>
              <a:lnSpc>
                <a:spcPts val="2200"/>
              </a:lnSpc>
            </a:pPr>
            <a:r>
              <a:rPr sz="2000" b="0">
                <a:solidFill>
                  <a:srgbClr val="333333"/>
                </a:solidFill>
                <a:latin typeface="Calibri"/>
              </a:rPr>
              <a:t>Repeating the process yields multiple bootstrap datasets for training or uncertainty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Correlation Bootstrapping Regression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10.9 — Bootstrapping Purchase Histories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10.9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10.9 bootstraps a small customer purchase-history sample into a larger training</a:t>
            </a:r>
          </a:p>
          <a:p>
            <a:pPr lvl="0" marL="457200" indent="-228600">
              <a:buFont typeface="Calibri"/>
              <a:spcAft>
                <a:spcPts val="1000"/>
              </a:spcAft>
              <a:buSzPct val="100000"/>
              <a:buChar char="•"/>
              <a:lnSpc>
                <a:spcPts val="2200"/>
              </a:lnSpc>
            </a:pPr>
            <a:r>
              <a:rPr sz="2000" b="0">
                <a:solidFill>
                  <a:srgbClr val="333333"/>
                </a:solidFill>
                <a:latin typeface="Calibri"/>
              </a:rPr>
              <a:t>This supports model training when raw logs are limited</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Correlation Bootstrapping Regression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10.9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10.9 — bootstrap larger synthetic purchase histories from a</a:t>
            </a:r>
          </a:p>
          <a:p>
            <a:pPr>
              <a:lnSpc>
                <a:spcPts val="2200"/>
              </a:lnSpc>
              <a:spcAft>
                <a:spcPts val="400"/>
              </a:spcAft>
            </a:pPr>
            <a:r>
              <a:rPr sz="2000" b="0">
                <a:solidFill>
                  <a:srgbClr val="333333"/>
                </a:solidFill>
                <a:latin typeface="Consolas"/>
              </a:rPr>
              <a:t>small sample."""</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import random</a:t>
            </a:r>
          </a:p>
          <a:p>
            <a:pPr>
              <a:lnSpc>
                <a:spcPts val="2200"/>
              </a:lnSpc>
              <a:spcAft>
                <a:spcPts val="400"/>
              </a:spcAft>
            </a:pPr>
            <a:r>
              <a:rPr sz="2000" b="0">
                <a:solidFill>
                  <a:srgbClr val="333333"/>
                </a:solidFill>
                <a:latin typeface="Consolas"/>
              </a:rPr>
              <a:t>from collections import Counter</a:t>
            </a:r>
          </a:p>
          <a:p>
            <a:pPr>
              <a:lnSpc>
                <a:spcPts val="2200"/>
              </a:lnSpc>
              <a:spcAft>
                <a:spcPts val="400"/>
              </a:spcAft>
            </a:pPr>
            <a:r>
              <a:rPr sz="2000" b="0">
                <a:solidFill>
                  <a:srgbClr val="333333"/>
                </a:solidFill>
                <a:latin typeface="Consolas"/>
              </a:rPr>
              <a:t>from statistics import fmean</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main() -&gt; None:</a:t>
            </a:r>
          </a:p>
          <a:p>
            <a:pPr>
              <a:lnSpc>
                <a:spcPts val="2200"/>
              </a:lnSpc>
              <a:spcAft>
                <a:spcPts val="400"/>
              </a:spcAft>
            </a:pPr>
            <a:r>
              <a:rPr sz="2000" b="0">
                <a:solidFill>
                  <a:srgbClr val="333333"/>
                </a:solidFill>
                <a:latin typeface="Consolas"/>
              </a:rPr>
              <a:t>    """Resample a tiny purchase-amount sample with replacement."""</a:t>
            </a:r>
          </a:p>
          <a:p>
            <a:pPr>
              <a:lnSpc>
                <a:spcPts val="2200"/>
              </a:lnSpc>
              <a:spcAft>
                <a:spcPts val="400"/>
              </a:spcAft>
            </a:pPr>
            <a:r>
              <a:rPr sz="2000" b="0">
                <a:solidFill>
                  <a:srgbClr val="333333"/>
                </a:solidFill>
                <a:latin typeface="Consolas"/>
              </a:rPr>
              <a:t>    random.seed(10)</a:t>
            </a:r>
          </a:p>
          <a:p>
            <a:pPr>
              <a:lnSpc>
                <a:spcPts val="2200"/>
              </a:lnSpc>
              <a:spcAft>
                <a:spcPts val="400"/>
              </a:spcAft>
            </a:pPr>
            <a:r>
              <a:rPr sz="2000" b="0">
                <a:solidFill>
                  <a:srgbClr val="333333"/>
                </a:solidFill>
                <a:latin typeface="Consolas"/>
              </a:rPr>
              <a:t>    original = [12.5, 40.0, 8.0, 95.0, 22.0, 15.5, 60.0, 33.0]</a:t>
            </a:r>
          </a:p>
          <a:p>
            <a:pPr>
              <a:lnSpc>
                <a:spcPts val="2200"/>
              </a:lnSpc>
              <a:spcAft>
                <a:spcPts val="400"/>
              </a:spcAft>
            </a:pPr>
            <a:r>
              <a:rPr sz="2000" b="0">
                <a:solidFill>
                  <a:srgbClr val="333333"/>
                </a:solidFill>
                <a:latin typeface="Consolas"/>
              </a:rPr>
              <a:t>    n_boot = 40</a:t>
            </a:r>
          </a:p>
          <a:p>
            <a:pPr>
              <a:lnSpc>
                <a:spcPts val="2200"/>
              </a:lnSpc>
              <a:spcAft>
                <a:spcPts val="400"/>
              </a:spcAft>
            </a:pPr>
            <a:r>
              <a:rPr sz="2000" b="0">
                <a:solidFill>
                  <a:srgbClr val="333333"/>
                </a:solidFill>
                <a:latin typeface="Consolas"/>
              </a:rPr>
              <a:t>    synthetic = [random.choice(original) for _ in range(n_boot)]</a:t>
            </a:r>
          </a:p>
          <a:p>
            <a:pPr>
              <a:lnSpc>
                <a:spcPts val="2200"/>
              </a:lnSpc>
              <a:spcAft>
                <a:spcPts val="400"/>
              </a:spcAft>
            </a:pPr>
            <a:r>
              <a:rPr sz="2000" b="0">
                <a:solidFill>
                  <a:srgbClr val="333333"/>
                </a:solidFill>
                <a:latin typeface="Consolas"/>
              </a:rPr>
              <a:t>    counts = Counter(synthetic)</a:t>
            </a:r>
          </a:p>
          <a:p>
            <a:pPr>
              <a:lnSpc>
                <a:spcPts val="2200"/>
              </a:lnSpc>
              <a:spcAft>
                <a:spcPts val="4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Correlation Bootstrapping Regression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Regression-based synthetic data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Regression models fit relationships between predictors and an outcome</a:t>
            </a:r>
          </a:p>
          <a:p>
            <a:pPr lvl="0" marL="457200" indent="-228600">
              <a:buFont typeface="Calibri"/>
              <a:spcAft>
                <a:spcPts val="1000"/>
              </a:spcAft>
              <a:buSzPct val="100000"/>
              <a:buChar char="•"/>
              <a:lnSpc>
                <a:spcPts val="2200"/>
              </a:lnSpc>
            </a:pPr>
            <a:r>
              <a:rPr sz="2000" b="0">
                <a:solidFill>
                  <a:srgbClr val="333333"/>
                </a:solidFill>
                <a:latin typeface="Calibri"/>
              </a:rPr>
              <a:t>Economics, healthcare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Correlation Bootstrapping Regression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10.10 — Regression-Based GDP Projection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10.10 — hands-on module</a:t>
            </a:r>
          </a:p>
          <a:p>
            <a:pPr lvl="0" marL="457200" indent="-228600">
              <a:buFont typeface="Calibri"/>
              <a:spcAft>
                <a:spcPts val="1000"/>
              </a:spcAft>
              <a:buSzPct val="100000"/>
              <a:buChar char="•"/>
              <a:lnSpc>
                <a:spcPts val="2200"/>
              </a:lnSpc>
            </a:pPr>
            <a:r>
              <a:rPr sz="2000" b="0">
                <a:solidFill>
                  <a:srgbClr val="333333"/>
                </a:solidFill>
                <a:latin typeface="Calibri"/>
              </a:rPr>
              <a:t>Government spending</a:t>
            </a:r>
          </a:p>
          <a:p>
            <a:pPr lvl="0" marL="457200" indent="-228600">
              <a:buFont typeface="Calibri"/>
              <a:spcAft>
                <a:spcPts val="1000"/>
              </a:spcAft>
              <a:buSzPct val="100000"/>
              <a:buChar char="•"/>
              <a:lnSpc>
                <a:spcPts val="2200"/>
              </a:lnSpc>
            </a:pPr>
            <a:r>
              <a:rPr sz="2000" b="0">
                <a:solidFill>
                  <a:srgbClr val="333333"/>
                </a:solidFill>
                <a:latin typeface="Calibri"/>
              </a:rPr>
              <a:t>The regression preserves structured relationships among indicators rather than independent</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`modules/chapter10/example10/`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Correlation Bootstrapping Regression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10.10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10.10 — generate synthetic GDP growth from a fitted linear</a:t>
            </a:r>
          </a:p>
          <a:p>
            <a:pPr>
              <a:lnSpc>
                <a:spcPts val="2200"/>
              </a:lnSpc>
              <a:spcAft>
                <a:spcPts val="400"/>
              </a:spcAft>
            </a:pPr>
            <a:r>
              <a:rPr sz="2000" b="0">
                <a:solidFill>
                  <a:srgbClr val="333333"/>
                </a:solidFill>
                <a:latin typeface="Consolas"/>
              </a:rPr>
              <a:t>regression."""</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import random</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fit_simple_regression(</a:t>
            </a:r>
          </a:p>
          <a:p>
            <a:pPr>
              <a:lnSpc>
                <a:spcPts val="2200"/>
              </a:lnSpc>
              <a:spcAft>
                <a:spcPts val="400"/>
              </a:spcAft>
            </a:pPr>
            <a:r>
              <a:rPr sz="2000" b="0">
                <a:solidFill>
                  <a:srgbClr val="333333"/>
                </a:solidFill>
                <a:latin typeface="Consolas"/>
              </a:rPr>
              <a:t>    xs: list[float], ys: list[float]</a:t>
            </a:r>
          </a:p>
          <a:p>
            <a:pPr>
              <a:lnSpc>
                <a:spcPts val="2200"/>
              </a:lnSpc>
              <a:spcAft>
                <a:spcPts val="400"/>
              </a:spcAft>
            </a:pPr>
            <a:r>
              <a:rPr sz="2000" b="0">
                <a:solidFill>
                  <a:srgbClr val="333333"/>
                </a:solidFill>
                <a:latin typeface="Consolas"/>
              </a:rPr>
              <a:t>) -&gt; tuple[float, float, float]:</a:t>
            </a:r>
          </a:p>
          <a:p>
            <a:pPr>
              <a:lnSpc>
                <a:spcPts val="2200"/>
              </a:lnSpc>
              <a:spcAft>
                <a:spcPts val="400"/>
              </a:spcAft>
            </a:pPr>
            <a:r>
              <a:rPr sz="2000" b="0">
                <a:solidFill>
                  <a:srgbClr val="333333"/>
                </a:solidFill>
                <a:latin typeface="Consolas"/>
              </a:rPr>
              <a:t>    """Fit Y = b0 + b1 X and return (b0, b1, residual_sd)."""</a:t>
            </a:r>
          </a:p>
          <a:p>
            <a:pPr>
              <a:lnSpc>
                <a:spcPts val="2200"/>
              </a:lnSpc>
              <a:spcAft>
                <a:spcPts val="400"/>
              </a:spcAft>
            </a:pPr>
            <a:r>
              <a:rPr sz="2000" b="0">
                <a:solidFill>
                  <a:srgbClr val="333333"/>
                </a:solidFill>
                <a:latin typeface="Consolas"/>
              </a:rPr>
              <a:t>    n = len(xs)</a:t>
            </a:r>
          </a:p>
          <a:p>
            <a:pPr>
              <a:lnSpc>
                <a:spcPts val="2200"/>
              </a:lnSpc>
              <a:spcAft>
                <a:spcPts val="400"/>
              </a:spcAft>
            </a:pPr>
            <a:r>
              <a:rPr sz="2000" b="0">
                <a:solidFill>
                  <a:srgbClr val="333333"/>
                </a:solidFill>
                <a:latin typeface="Consolas"/>
              </a:rPr>
              <a:t>    mx, my = sum(xs) / n, sum(ys) / n</a:t>
            </a:r>
          </a:p>
          <a:p>
            <a:pPr>
              <a:lnSpc>
                <a:spcPts val="2200"/>
              </a:lnSpc>
              <a:spcAft>
                <a:spcPts val="400"/>
              </a:spcAft>
            </a:pPr>
            <a:r>
              <a:rPr sz="2000" b="0">
                <a:solidFill>
                  <a:srgbClr val="333333"/>
                </a:solidFill>
                <a:latin typeface="Consolas"/>
              </a:rPr>
              <a:t>    b1 = sum((x - mx) * (y - my) for x, y in zip(xs, ys)) / sum((x - mx)</a:t>
            </a:r>
          </a:p>
          <a:p>
            <a:pPr>
              <a:lnSpc>
                <a:spcPts val="2200"/>
              </a:lnSpc>
              <a:spcAft>
                <a:spcPts val="400"/>
              </a:spcAft>
            </a:pPr>
            <a:r>
              <a:rPr sz="2000" b="0">
                <a:solidFill>
                  <a:srgbClr val="333333"/>
                </a:solidFill>
                <a:latin typeface="Consolas"/>
              </a:rPr>
              <a:t>** 2 for x in xs)</a:t>
            </a:r>
          </a:p>
          <a:p>
            <a:pPr>
              <a:lnSpc>
                <a:spcPts val="2200"/>
              </a:lnSpc>
              <a:spcAft>
                <a:spcPts val="400"/>
              </a:spcAft>
            </a:pPr>
            <a:r>
              <a:rPr sz="2000" b="0">
                <a:solidFill>
                  <a:srgbClr val="333333"/>
                </a:solidFill>
                <a:latin typeface="Consolas"/>
              </a:rPr>
              <a:t>    b0 = my - b1 * mx</a:t>
            </a:r>
          </a:p>
          <a:p>
            <a:pPr>
              <a:lnSpc>
                <a:spcPts val="2200"/>
              </a:lnSpc>
              <a:spcAft>
                <a:spcPts val="400"/>
              </a:spcAft>
            </a:pPr>
            <a:r>
              <a:rPr sz="2000" b="0">
                <a:solidFill>
                  <a:srgbClr val="333333"/>
                </a:solidFill>
                <a:latin typeface="Consolas"/>
              </a:rPr>
              <a:t>    residuals = [y - (b0 + b1 * x) for x, y in zip(xs, ys)]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Correlation Bootstrapping Regression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Realistic tabular synthesis requires joint structure, not independent marginals</a:t>
            </a:r>
          </a:p>
          <a:p>
            <a:pPr lvl="0" marL="457200" indent="-228600">
              <a:buFont typeface="Calibri"/>
              <a:spcAft>
                <a:spcPts val="1000"/>
              </a:spcAft>
              <a:buSzPct val="100000"/>
              <a:buChar char="•"/>
              <a:lnSpc>
                <a:spcPts val="2200"/>
              </a:lnSpc>
            </a:pPr>
            <a:r>
              <a:rPr sz="2000" b="0">
                <a:solidFill>
                  <a:srgbClr val="333333"/>
                </a:solidFill>
                <a:latin typeface="Calibri"/>
              </a:rPr>
              <a:t>Bootstrapping expands small real samples while preserving variability</a:t>
            </a:r>
          </a:p>
          <a:p>
            <a:pPr lvl="0" marL="457200" indent="-228600">
              <a:buFont typeface="Calibri"/>
              <a:spcAft>
                <a:spcPts val="1000"/>
              </a:spcAft>
              <a:buSzPct val="100000"/>
              <a:buChar char="•"/>
              <a:lnSpc>
                <a:spcPts val="2200"/>
              </a:lnSpc>
            </a:pPr>
            <a:r>
              <a:rPr sz="2000" b="0">
                <a:solidFill>
                  <a:srgbClr val="333333"/>
                </a:solidFill>
                <a:latin typeface="Calibri"/>
              </a:rPr>
              <a:t>Statistical methods set the foundation before generative adversarial networks learn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Correlation Bootstrapping Regression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Convergence challenges that affect synthetic realism in generative adversarial networks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Correlation Bootstrapping Regression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