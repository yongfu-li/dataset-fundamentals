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Univariate sampling ignores relationships between variables. This part covers joint distributions that preserve dependencies, bootstrapping from small real samples, and regression-based projection for structured synthetic rows.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multivariate modeling matters for realistic tabular synthesis; describe bootstrapping with replacement from small samples; and outline regression-based generation of dependent variables from predictors.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datasets rarely treat columns as independent. Income and age co-vary; asset returns co-move; vitals correlate across visits. Useful synthetic tabular data must replicate these joint relationships, not just marginal histograms. Multivariate distributions and copulas model dependence structures, including nonlinear ties that simple pairwise correlation misses.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10.8 preserves correlations between income and age. Analysts model the joint distribution so synthetic rows keep segment-level relationships—such as higher income in certain age bands—rather than sampling each column independently. The example 8 module for this chapter demonstrates correlated draws in Python.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Copulas separate marginal behavior from dependence structure, which helps when variables have non-linear or time-varying relationships—as in financial markets. After fitting dependence, new synthetic rows are sampled from the joint model or copula, yielding data suitable for predictive modeling and stress testing.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Bootstrapping resamples an original dataset with replacement to create larger synthetic sets that reflect observed variability. Some real rows repeat; others are omitted. Repeating the process yields multiple bootstrap datasets for training or uncertainty estimation when collection produced only a small real sample.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10.9 bootstraps a small customer purchase-history sample into a larger training set that preserves observed purchase patterns. This supports model training when raw logs are limited. The example 9 module for this chapter runs resampling with replacement on a tiny purchase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models fit relationships between predictors and an outcome, then generate synthetic outcomes by sampling predictor values and applying the fitted equation—including error terms for simple linear or richer multi-predictor forms. Economics, healthcare, and social science often use this when domain theory guides variable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10.10 generates synthetic GDP growth from macro predictors such as interest rates, inflation, and government spending. The regression preserves structured relationships among indicators rather than independent column draws. The example 10 module for this chapter implements projection from fitted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Realistic tabular synthesis requires joint structure, not independent marginals. Bootstrapping expands small real samples while preserving variability; regression projects outcomes from known predictor relationships. Statistical methods set the foundation before generative adversarial networks learn complex structure from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explains generator and discriminator roles, adversarial training, loss functions, and convergence challenges that affect synthetic realism in generative adversarial networks.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Correlation, bootstrapping, and regression</a:t>
            </a:r>
          </a:p>
          <a:p>
            <a:pPr algn="ctr">
              <a:lnSpc>
                <a:spcPts val="2200"/>
              </a:lnSpc>
              <a:spcBef>
                <a:spcPts val="1400"/>
              </a:spcBef>
            </a:pPr>
            <a:r>
              <a:rPr sz="2600" b="0">
                <a:solidFill>
                  <a:srgbClr val="333333"/>
                </a:solidFill>
                <a:latin typeface="Calibri"/>
              </a:rPr>
              <a:t>Univariate sampling ignores relationships between variables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Correlations and dependencies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 datasets rarely treat columns as independent</a:t>
            </a:r>
          </a:p>
          <a:p>
            <a:pPr>
              <a:spcAft>
                <a:spcPts val="1000"/>
              </a:spcAft>
              <a:buChar char="•"/>
              <a:lnSpc>
                <a:spcPts val="2200"/>
              </a:lnSpc>
            </a:pPr>
            <a:r>
              <a:rPr sz="2000" b="0">
                <a:solidFill>
                  <a:srgbClr val="333333"/>
                </a:solidFill>
                <a:latin typeface="Calibri"/>
              </a:rPr>
              <a:t>Income and age co-vary; asset returns co-move; vitals correlate across visits</a:t>
            </a:r>
          </a:p>
          <a:p>
            <a:pPr>
              <a:spcAft>
                <a:spcPts val="1000"/>
              </a:spcAft>
              <a:buChar char="•"/>
              <a:lnSpc>
                <a:spcPts val="2200"/>
              </a:lnSpc>
            </a:pPr>
            <a:r>
              <a:rPr sz="2000" b="0">
                <a:solidFill>
                  <a:srgbClr val="333333"/>
                </a:solidFill>
                <a:latin typeface="Calibri"/>
              </a:rPr>
              <a:t>Useful synthetic tabular data must replicate these joint relationships</a:t>
            </a:r>
          </a:p>
          <a:p>
            <a:pPr>
              <a:spcAft>
                <a:spcPts val="1000"/>
              </a:spcAft>
              <a:buChar char="•"/>
              <a:lnSpc>
                <a:spcPts val="2200"/>
              </a:lnSpc>
            </a:pPr>
            <a:r>
              <a:rPr sz="2000" b="0">
                <a:solidFill>
                  <a:srgbClr val="333333"/>
                </a:solidFill>
                <a:latin typeface="Calibri"/>
              </a:rPr>
              <a:t>Multivariate distributions and copulas model dependence structures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10.8 — Income-Age Joint Distribution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10.8 — hands-on module</a:t>
            </a:r>
          </a:p>
          <a:p>
            <a:pPr>
              <a:spcAft>
                <a:spcPts val="1000"/>
              </a:spcAft>
              <a:buChar char="•"/>
              <a:lnSpc>
                <a:spcPts val="2200"/>
              </a:lnSpc>
            </a:pPr>
            <a:r>
              <a:rPr sz="2000" b="0">
                <a:solidFill>
                  <a:srgbClr val="333333"/>
                </a:solidFill>
                <a:latin typeface="Calibri"/>
              </a:rPr>
              <a:t>Example 10.8 preserves correlations between income and age</a:t>
            </a:r>
          </a:p>
          <a:p>
            <a:pPr>
              <a:spcAft>
                <a:spcPts val="1000"/>
              </a:spcAft>
              <a:buChar char="•"/>
              <a:lnSpc>
                <a:spcPts val="2200"/>
              </a:lnSpc>
            </a:pPr>
            <a:r>
              <a:rPr sz="2000" b="0">
                <a:solidFill>
                  <a:srgbClr val="333333"/>
                </a:solidFill>
                <a:latin typeface="Calibri"/>
              </a:rPr>
              <a:t>Analysts model the joint distribution so synthetic rows keep segment-level relationships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10.8 — preserve the joint relationship between income and</a:t>
            </a:r>
          </a:p>
          <a:p>
            <a:pPr>
              <a:lnSpc>
                <a:spcPts val="2200"/>
              </a:lnSpc>
              <a:spcAft>
                <a:spcPts val="400"/>
              </a:spcAft>
            </a:pPr>
            <a:r>
              <a:rPr sz="2000" b="0">
                <a:solidFill>
                  <a:srgbClr val="333333"/>
                </a:solidFill>
                <a:latin typeface="Consolas"/>
              </a:rPr>
              <a:t>age."""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math</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pearson(xs: list[float], ys: list[float]) -&gt; float:</a:t>
            </a:r>
          </a:p>
          <a:p>
            <a:pPr>
              <a:lnSpc>
                <a:spcPts val="2200"/>
              </a:lnSpc>
              <a:spcAft>
                <a:spcPts val="400"/>
              </a:spcAft>
            </a:pPr>
            <a:r>
              <a:rPr sz="2000" b="0">
                <a:solidFill>
                  <a:srgbClr val="333333"/>
                </a:solidFill>
                <a:latin typeface="Consolas"/>
              </a:rPr>
              <a:t>    """Return Pearson's r for two equal-length sequences."""</a:t>
            </a:r>
          </a:p>
          <a:p>
            <a:pPr>
              <a:lnSpc>
                <a:spcPts val="2200"/>
              </a:lnSpc>
              <a:spcAft>
                <a:spcPts val="400"/>
              </a:spcAft>
            </a:pPr>
            <a:r>
              <a:rPr sz="2000" b="0">
                <a:solidFill>
                  <a:srgbClr val="333333"/>
                </a:solidFill>
                <a:latin typeface="Consolas"/>
              </a:rPr>
              <a:t>    n = len(xs)</a:t>
            </a:r>
          </a:p>
          <a:p>
            <a:pPr>
              <a:lnSpc>
                <a:spcPts val="2200"/>
              </a:lnSpc>
              <a:spcAft>
                <a:spcPts val="400"/>
              </a:spcAft>
            </a:pPr>
            <a:r>
              <a:rPr sz="2000" b="0">
                <a:solidFill>
                  <a:srgbClr val="333333"/>
                </a:solidFill>
                <a:latin typeface="Consolas"/>
              </a:rPr>
              <a:t>    mx, my = sum(xs) / n, sum(ys) / n</a:t>
            </a:r>
          </a:p>
          <a:p>
            <a:pPr>
              <a:lnSpc>
                <a:spcPts val="2200"/>
              </a:lnSpc>
              <a:spcAft>
                <a:spcPts val="400"/>
              </a:spcAft>
            </a:pPr>
            <a:r>
              <a:rPr sz="2000" b="0">
                <a:solidFill>
                  <a:srgbClr val="333333"/>
                </a:solidFill>
                <a:latin typeface="Consolas"/>
              </a:rPr>
              <a:t>    cov = sum((x - mx) * (y - my) for x, y in zip(xs, ys))</a:t>
            </a:r>
          </a:p>
          <a:p>
            <a:pPr>
              <a:lnSpc>
                <a:spcPts val="2200"/>
              </a:lnSpc>
              <a:spcAft>
                <a:spcPts val="400"/>
              </a:spcAft>
            </a:pPr>
            <a:r>
              <a:rPr sz="2000" b="0">
                <a:solidFill>
                  <a:srgbClr val="333333"/>
                </a:solidFill>
                <a:latin typeface="Consolas"/>
              </a:rPr>
              <a:t>    sx = math.sqrt(sum((x - mx) ** 2 for x in xs))</a:t>
            </a:r>
          </a:p>
          <a:p>
            <a:pPr>
              <a:lnSpc>
                <a:spcPts val="2200"/>
              </a:lnSpc>
              <a:spcAft>
                <a:spcPts val="400"/>
              </a:spcAft>
            </a:pPr>
            <a:r>
              <a:rPr sz="2000" b="0">
                <a:solidFill>
                  <a:srgbClr val="333333"/>
                </a:solidFill>
                <a:latin typeface="Consolas"/>
              </a:rPr>
              <a:t>    sy = math.sqrt(sum((y - my) ** 2 for y in ys))</a:t>
            </a:r>
          </a:p>
          <a:p>
            <a:pPr>
              <a:lnSpc>
                <a:spcPts val="2200"/>
              </a:lnSpc>
              <a:spcAft>
                <a:spcPts val="400"/>
              </a:spcAft>
            </a:pPr>
            <a:r>
              <a:rPr sz="2000" b="0">
                <a:solidFill>
                  <a:srgbClr val="333333"/>
                </a:solidFill>
                <a:latin typeface="Consolas"/>
              </a:rPr>
              <a:t>    return cov / (sx * sy)</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Copulas for complex dependence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Copulas separate marginal behavior from dependence structure</a:t>
            </a:r>
          </a:p>
          <a:p>
            <a:pPr>
              <a:spcAft>
                <a:spcPts val="1000"/>
              </a:spcAft>
              <a:buChar char="•"/>
              <a:lnSpc>
                <a:spcPts val="2200"/>
              </a:lnSpc>
            </a:pPr>
            <a:r>
              <a:rPr sz="2000" b="0">
                <a:solidFill>
                  <a:srgbClr val="333333"/>
                </a:solidFill>
                <a:latin typeface="Calibri"/>
              </a:rPr>
              <a:t>After fitting dependence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Bootstrapping from small samples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Bootstrapping resamples an original dataset with replacement to create larger synthetic</a:t>
            </a:r>
          </a:p>
          <a:p>
            <a:pPr>
              <a:spcAft>
                <a:spcPts val="1000"/>
              </a:spcAft>
              <a:buChar char="•"/>
              <a:lnSpc>
                <a:spcPts val="2200"/>
              </a:lnSpc>
            </a:pPr>
            <a:r>
              <a:rPr sz="2000" b="0">
                <a:solidFill>
                  <a:srgbClr val="333333"/>
                </a:solidFill>
                <a:latin typeface="Calibri"/>
              </a:rPr>
              <a:t>Some real rows repeat; others are omitted</a:t>
            </a:r>
          </a:p>
          <a:p>
            <a:pPr>
              <a:spcAft>
                <a:spcPts val="1000"/>
              </a:spcAft>
              <a:buChar char="•"/>
              <a:lnSpc>
                <a:spcPts val="2200"/>
              </a:lnSpc>
            </a:pPr>
            <a:r>
              <a:rPr sz="2000" b="0">
                <a:solidFill>
                  <a:srgbClr val="333333"/>
                </a:solidFill>
                <a:latin typeface="Calibri"/>
              </a:rPr>
              <a:t>Repeating the process yields multiple bootstrap datasets for training or uncertainty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10.9 — Bootstrapping Purchase Histories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10.9 — hands-on module</a:t>
            </a:r>
          </a:p>
          <a:p>
            <a:pPr>
              <a:spcAft>
                <a:spcPts val="1000"/>
              </a:spcAft>
              <a:buChar char="•"/>
              <a:lnSpc>
                <a:spcPts val="2200"/>
              </a:lnSpc>
            </a:pPr>
            <a:r>
              <a:rPr sz="2000" b="0">
                <a:solidFill>
                  <a:srgbClr val="333333"/>
                </a:solidFill>
                <a:latin typeface="Calibri"/>
              </a:rPr>
              <a:t>Example 10.9 bootstraps a small customer purchase-history sample into a larger training</a:t>
            </a:r>
          </a:p>
          <a:p>
            <a:pPr>
              <a:spcAft>
                <a:spcPts val="1000"/>
              </a:spcAft>
              <a:buChar char="•"/>
              <a:lnSpc>
                <a:spcPts val="2200"/>
              </a:lnSpc>
            </a:pPr>
            <a:r>
              <a:rPr sz="2000" b="0">
                <a:solidFill>
                  <a:srgbClr val="333333"/>
                </a:solidFill>
                <a:latin typeface="Calibri"/>
              </a:rPr>
              <a:t>This supports model training when raw logs are limited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10.9 — bootstrap larger synthetic purchase histories from a</a:t>
            </a:r>
          </a:p>
          <a:p>
            <a:pPr>
              <a:lnSpc>
                <a:spcPts val="2200"/>
              </a:lnSpc>
              <a:spcAft>
                <a:spcPts val="400"/>
              </a:spcAft>
            </a:pPr>
            <a:r>
              <a:rPr sz="2000" b="0">
                <a:solidFill>
                  <a:srgbClr val="333333"/>
                </a:solidFill>
                <a:latin typeface="Consolas"/>
              </a:rPr>
              <a:t>small sample."""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from collections import Counter</a:t>
            </a:r>
          </a:p>
          <a:p>
            <a:pPr>
              <a:lnSpc>
                <a:spcPts val="2200"/>
              </a:lnSpc>
              <a:spcAft>
                <a:spcPts val="400"/>
              </a:spcAft>
            </a:pPr>
            <a:r>
              <a:rPr sz="2000" b="0">
                <a:solidFill>
                  <a:srgbClr val="333333"/>
                </a:solidFill>
                <a:latin typeface="Consolas"/>
              </a:rPr>
              <a:t>from statistics import fmean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"""Resample a tiny purchase-amount sample with replacement."""</a:t>
            </a:r>
          </a:p>
          <a:p>
            <a:pPr>
              <a:lnSpc>
                <a:spcPts val="2200"/>
              </a:lnSpc>
              <a:spcAft>
                <a:spcPts val="400"/>
              </a:spcAft>
            </a:pPr>
            <a:r>
              <a:rPr sz="2000" b="0">
                <a:solidFill>
                  <a:srgbClr val="333333"/>
                </a:solidFill>
                <a:latin typeface="Consolas"/>
              </a:rPr>
              <a:t>    random.seed(10)</a:t>
            </a:r>
          </a:p>
          <a:p>
            <a:pPr>
              <a:lnSpc>
                <a:spcPts val="2200"/>
              </a:lnSpc>
              <a:spcAft>
                <a:spcPts val="400"/>
              </a:spcAft>
            </a:pPr>
            <a:r>
              <a:rPr sz="2000" b="0">
                <a:solidFill>
                  <a:srgbClr val="333333"/>
                </a:solidFill>
                <a:latin typeface="Consolas"/>
              </a:rPr>
              <a:t>    original = [12.5, 40.0, 8.0, 95.0, 22.0, 15.5, 60.0, 33.0]</a:t>
            </a:r>
          </a:p>
          <a:p>
            <a:pPr>
              <a:lnSpc>
                <a:spcPts val="2200"/>
              </a:lnSpc>
              <a:spcAft>
                <a:spcPts val="400"/>
              </a:spcAft>
            </a:pPr>
            <a:r>
              <a:rPr sz="2000" b="0">
                <a:solidFill>
                  <a:srgbClr val="333333"/>
                </a:solidFill>
                <a:latin typeface="Consolas"/>
              </a:rPr>
              <a:t>    n_boot = 40</a:t>
            </a:r>
          </a:p>
          <a:p>
            <a:pPr>
              <a:lnSpc>
                <a:spcPts val="2200"/>
              </a:lnSpc>
              <a:spcAft>
                <a:spcPts val="400"/>
              </a:spcAft>
            </a:pPr>
            <a:r>
              <a:rPr sz="2000" b="0">
                <a:solidFill>
                  <a:srgbClr val="333333"/>
                </a:solidFill>
                <a:latin typeface="Consolas"/>
              </a:rPr>
              <a:t>    synthetic = [random.choice(original) for _ in range(n_boot)]</a:t>
            </a:r>
          </a:p>
          <a:p>
            <a:pPr>
              <a:lnSpc>
                <a:spcPts val="2200"/>
              </a:lnSpc>
              <a:spcAft>
                <a:spcPts val="400"/>
              </a:spcAft>
            </a:pPr>
            <a:r>
              <a:rPr sz="2000" b="0">
                <a:solidFill>
                  <a:srgbClr val="333333"/>
                </a:solidFill>
                <a:latin typeface="Consolas"/>
              </a:rPr>
              <a:t>    counts = Counter(synthetic)</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Regression-based synthetic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Regression models fit relationships between predictors and an outcome</a:t>
            </a:r>
          </a:p>
          <a:p>
            <a:pPr>
              <a:spcAft>
                <a:spcPts val="1000"/>
              </a:spcAft>
              <a:buChar char="•"/>
              <a:lnSpc>
                <a:spcPts val="2200"/>
              </a:lnSpc>
            </a:pPr>
            <a:r>
              <a:rPr sz="2000" b="0">
                <a:solidFill>
                  <a:srgbClr val="333333"/>
                </a:solidFill>
                <a:latin typeface="Calibri"/>
              </a:rPr>
              <a:t>Economics, healthcare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10.10 — Regression-Based GDP Projection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10.10 — hands-on module</a:t>
            </a:r>
          </a:p>
          <a:p>
            <a:pPr>
              <a:spcAft>
                <a:spcPts val="1000"/>
              </a:spcAft>
              <a:buChar char="•"/>
              <a:lnSpc>
                <a:spcPts val="2200"/>
              </a:lnSpc>
            </a:pPr>
            <a:r>
              <a:rPr sz="2000" b="0">
                <a:solidFill>
                  <a:srgbClr val="333333"/>
                </a:solidFill>
                <a:latin typeface="Calibri"/>
              </a:rPr>
              <a:t>Government spending</a:t>
            </a:r>
          </a:p>
          <a:p>
            <a:pPr>
              <a:spcAft>
                <a:spcPts val="1000"/>
              </a:spcAft>
              <a:buChar char="•"/>
              <a:lnSpc>
                <a:spcPts val="2200"/>
              </a:lnSpc>
            </a:pPr>
            <a:r>
              <a:rPr sz="2000" b="0">
                <a:solidFill>
                  <a:srgbClr val="333333"/>
                </a:solidFill>
                <a:latin typeface="Calibri"/>
              </a:rPr>
              <a:t>The regression preserves structured relationships among indicators rather than independent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10.10 — generate synthetic GDP growth from a fitted linear</a:t>
            </a:r>
          </a:p>
          <a:p>
            <a:pPr>
              <a:lnSpc>
                <a:spcPts val="2200"/>
              </a:lnSpc>
              <a:spcAft>
                <a:spcPts val="400"/>
              </a:spcAft>
            </a:pPr>
            <a:r>
              <a:rPr sz="2000" b="0">
                <a:solidFill>
                  <a:srgbClr val="333333"/>
                </a:solidFill>
                <a:latin typeface="Consolas"/>
              </a:rPr>
              <a:t>regression."""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fit_simple_regression(</a:t>
            </a:r>
          </a:p>
          <a:p>
            <a:pPr>
              <a:lnSpc>
                <a:spcPts val="2200"/>
              </a:lnSpc>
              <a:spcAft>
                <a:spcPts val="400"/>
              </a:spcAft>
            </a:pPr>
            <a:r>
              <a:rPr sz="2000" b="0">
                <a:solidFill>
                  <a:srgbClr val="333333"/>
                </a:solidFill>
                <a:latin typeface="Consolas"/>
              </a:rPr>
              <a:t>    xs: list[float], ys: list[float]</a:t>
            </a:r>
          </a:p>
          <a:p>
            <a:pPr>
              <a:lnSpc>
                <a:spcPts val="2200"/>
              </a:lnSpc>
              <a:spcAft>
                <a:spcPts val="400"/>
              </a:spcAft>
            </a:pPr>
            <a:r>
              <a:rPr sz="2000" b="0">
                <a:solidFill>
                  <a:srgbClr val="333333"/>
                </a:solidFill>
                <a:latin typeface="Consolas"/>
              </a:rPr>
              <a:t>) -&gt; tuple[float, float, float]:</a:t>
            </a:r>
          </a:p>
          <a:p>
            <a:pPr>
              <a:lnSpc>
                <a:spcPts val="2200"/>
              </a:lnSpc>
              <a:spcAft>
                <a:spcPts val="400"/>
              </a:spcAft>
            </a:pPr>
            <a:r>
              <a:rPr sz="2000" b="0">
                <a:solidFill>
                  <a:srgbClr val="333333"/>
                </a:solidFill>
                <a:latin typeface="Consolas"/>
              </a:rPr>
              <a:t>    """Fit Y = b0 + b1 X and return (b0, b1, residual_sd)."""</a:t>
            </a:r>
          </a:p>
          <a:p>
            <a:pPr>
              <a:lnSpc>
                <a:spcPts val="2200"/>
              </a:lnSpc>
              <a:spcAft>
                <a:spcPts val="400"/>
              </a:spcAft>
            </a:pPr>
            <a:r>
              <a:rPr sz="2000" b="0">
                <a:solidFill>
                  <a:srgbClr val="333333"/>
                </a:solidFill>
                <a:latin typeface="Consolas"/>
              </a:rPr>
              <a:t>    n = len(xs)</a:t>
            </a:r>
          </a:p>
          <a:p>
            <a:pPr>
              <a:lnSpc>
                <a:spcPts val="2200"/>
              </a:lnSpc>
              <a:spcAft>
                <a:spcPts val="400"/>
              </a:spcAft>
            </a:pPr>
            <a:r>
              <a:rPr sz="2000" b="0">
                <a:solidFill>
                  <a:srgbClr val="333333"/>
                </a:solidFill>
                <a:latin typeface="Consolas"/>
              </a:rPr>
              <a:t>    mx, my = sum(xs) / n, sum(ys) / n</a:t>
            </a:r>
          </a:p>
          <a:p>
            <a:pPr>
              <a:lnSpc>
                <a:spcPts val="2200"/>
              </a:lnSpc>
              <a:spcAft>
                <a:spcPts val="400"/>
              </a:spcAft>
            </a:pPr>
            <a:r>
              <a:rPr sz="2000" b="0">
                <a:solidFill>
                  <a:srgbClr val="333333"/>
                </a:solidFill>
                <a:latin typeface="Consolas"/>
              </a:rPr>
              <a:t>    b1 = sum((x - mx) * (y - my) for x, y in zip(xs, ys)) / sum((x - mx)</a:t>
            </a:r>
          </a:p>
          <a:p>
            <a:pPr>
              <a:lnSpc>
                <a:spcPts val="2200"/>
              </a:lnSpc>
              <a:spcAft>
                <a:spcPts val="400"/>
              </a:spcAft>
            </a:pPr>
            <a:r>
              <a:rPr sz="2000" b="0">
                <a:solidFill>
                  <a:srgbClr val="333333"/>
                </a:solidFill>
                <a:latin typeface="Consolas"/>
              </a:rPr>
              <a:t>** 2 for x in xs)</a:t>
            </a:r>
          </a:p>
          <a:p>
            <a:pPr>
              <a:lnSpc>
                <a:spcPts val="2200"/>
              </a:lnSpc>
              <a:spcAft>
                <a:spcPts val="400"/>
              </a:spcAft>
            </a:pPr>
            <a:r>
              <a:rPr sz="2000" b="0">
                <a:solidFill>
                  <a:srgbClr val="333333"/>
                </a:solidFill>
                <a:latin typeface="Consolas"/>
              </a:rPr>
              <a:t>    b0 = my - b1 * mx</a:t>
            </a:r>
          </a:p>
          <a:p>
            <a:pPr>
              <a:lnSpc>
                <a:spcPts val="2200"/>
              </a:lnSpc>
              <a:spcAft>
                <a:spcPts val="400"/>
              </a:spcAft>
            </a:pPr>
            <a:r>
              <a:rPr sz="2000" b="0">
                <a:solidFill>
                  <a:srgbClr val="333333"/>
                </a:solidFill>
                <a:latin typeface="Consolas"/>
              </a:rPr>
              <a:t>    residuals = [y - (b0 + b1 * x) for x, y in zip(xs, 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Realistic tabular synthesis requires joint structure, not independent marginals</a:t>
            </a:r>
          </a:p>
          <a:p>
            <a:pPr>
              <a:spcAft>
                <a:spcPts val="1000"/>
              </a:spcAft>
              <a:buChar char="•"/>
              <a:lnSpc>
                <a:spcPts val="2200"/>
              </a:lnSpc>
            </a:pPr>
            <a:r>
              <a:rPr sz="2000" b="0">
                <a:solidFill>
                  <a:srgbClr val="333333"/>
                </a:solidFill>
                <a:latin typeface="Calibri"/>
              </a:rPr>
              <a:t>Bootstrapping expands small real samples while preserving variability</a:t>
            </a:r>
          </a:p>
          <a:p>
            <a:pPr>
              <a:spcAft>
                <a:spcPts val="1000"/>
              </a:spcAft>
              <a:buChar char="•"/>
              <a:lnSpc>
                <a:spcPts val="2200"/>
              </a:lnSpc>
            </a:pPr>
            <a:r>
              <a:rPr sz="2000" b="0">
                <a:solidFill>
                  <a:srgbClr val="333333"/>
                </a:solidFill>
                <a:latin typeface="Calibri"/>
              </a:rPr>
              <a:t>Statistical methods set the foundation before generative adversarial networks learn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Convergence challenges that affect synthetic realism in generative adversarial networks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Correlation Bootstrapping Regression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