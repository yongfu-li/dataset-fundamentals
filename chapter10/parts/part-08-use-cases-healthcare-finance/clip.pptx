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Synthesis methods become concrete in domain settings. This part walks privacy-preserving medical records, rare-disease simulation, and synthetic fraud patterns for financial model training.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how synthetic health data supports research under HIPAA and GDPR constraints; describe rare-condition augmentation for low-prevalence diseases; and outline fraud-detection training with synthetic transaction patterns.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Healthcare data face strict privacy rules in the United States and Europe. Real electronic health records often cannot be shared freely for external research or vendor benchmarking. Synthetic medical tables can preserve cohort-level statistics and clinical relationships while removing direct identifiers—provided re-identification risk is validated, not assumed away.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10.12 describes a hospital consortium releasing synthetic electronic health record tables with diagnosis codes, lab ranges, and visit counts. External researchers prototype models without accessing raw patient files. The example 12 module for this chapter frames privacy-preserving medical sharing scenarios.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Low-prevalence diseases yield too few real cases for robust machine learning. Synthetic generation can augment rare oncology or genetic presentations while preserving clinically relevant feature patterns. The goal is better classifiers and simulators—not fictional patients that misrepresent treatment pathways.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10.13 shows an oncology team generating additional synthetic cases of a rare lymphoma subtype so a classifier trains on more than a handful of real admissions from one center. The example 13 module for this chapter summarizes rare-disease augmentation rationale.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 institutions handle sensitive transactional data restricted by security and privacy policies. Synthetic data offers an alternative for fraud modeling and strategy simulation without exposing customer identifiers or proprietary trading histories.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Fraud is a rare-event problem: historical logs contain few positive examples. Synthetic generators can emit diverse fraudulent sequences—unusual merchant categories, velocity spikes, or card-not-present patterns—that expand detector training beyond sparse real labels.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10.14 describes a payments provider synthesizing card-not-present fraud sequences with unusual merchant categories and velocity spikes. Detectors gain positive examples absent from historical logs. The example 14 module for this chapter outlines synthetic fraud augmentation for model training.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fraud, synthetic market data can stress investment and risk models with crashes, booms, and edge conditions underrepresented in limited historical windows. Synthetic finance use cases still require validation against live macro regimes before deployment decisions rely on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Healthcare synthesis targets privacy-preserving sharing and rare-disease coverage; finance synthesis targets confidential fraud and trading simulation. Both domains demand regulatory awareness and fidelity checks beyond aggregate similarity. Autonomy and cybersecurity use cases follow in the next part.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pedestrian-in-rain edge cases for autonomous systems, computer-vision augmentation, and ransomware attack simulation for cybersecurity training.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10 — Use cases in healthcare and finance</a:t>
            </a:r>
          </a:p>
          <a:p>
            <a:pPr algn="ctr">
              <a:lnSpc>
                <a:spcPts val="2200"/>
              </a:lnSpc>
              <a:spcBef>
                <a:spcPts val="1400"/>
              </a:spcBef>
            </a:pPr>
            <a:r>
              <a:rPr sz="2600" b="0">
                <a:solidFill>
                  <a:srgbClr val="333333"/>
                </a:solidFill>
                <a:latin typeface="Calibri"/>
              </a:rPr>
              <a:t>Synthesis methods become concrete in domain settings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Healthcare Finance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Healthcare Finance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Healthcare privacy barriers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Healthcare data face strict privacy rules in the United States and Europe</a:t>
            </a:r>
          </a:p>
          <a:p>
            <a:pPr lvl="0" marL="457200" indent="-228600">
              <a:buFont typeface="Calibri"/>
              <a:spcAft>
                <a:spcPts val="1000"/>
              </a:spcAft>
              <a:buSzPct val="100000"/>
              <a:buChar char="•"/>
              <a:lnSpc>
                <a:spcPts val="2200"/>
              </a:lnSpc>
            </a:pPr>
            <a:r>
              <a:rPr sz="2000" b="0">
                <a:solidFill>
                  <a:srgbClr val="333333"/>
                </a:solidFill>
                <a:latin typeface="Calibri"/>
              </a:rPr>
              <a:t>Real electronic health records often cannot be shared freely for external research or</a:t>
            </a:r>
          </a:p>
          <a:p>
            <a:pPr lvl="0" marL="457200" indent="-228600">
              <a:buFont typeface="Calibri"/>
              <a:spcAft>
                <a:spcPts val="1000"/>
              </a:spcAft>
              <a:buSzPct val="100000"/>
              <a:buChar char="•"/>
              <a:lnSpc>
                <a:spcPts val="2200"/>
              </a:lnSpc>
            </a:pPr>
            <a:r>
              <a:rPr sz="2000" b="0">
                <a:solidFill>
                  <a:srgbClr val="333333"/>
                </a:solidFill>
                <a:latin typeface="Calibri"/>
              </a:rPr>
              <a:t>Provided re-identification risk is validated, not assumed away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Healthcare Finance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10.12 — Privacy-Preserving Medical Records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10.12 — hands-on module</a:t>
            </a:r>
          </a:p>
          <a:p>
            <a:pPr lvl="0" marL="457200" indent="-228600">
              <a:buFont typeface="Calibri"/>
              <a:spcAft>
                <a:spcPts val="1000"/>
              </a:spcAft>
              <a:buSzPct val="100000"/>
              <a:buChar char="•"/>
              <a:lnSpc>
                <a:spcPts val="2200"/>
              </a:lnSpc>
            </a:pPr>
            <a:r>
              <a:rPr sz="2000" b="0">
                <a:solidFill>
                  <a:srgbClr val="333333"/>
                </a:solidFill>
                <a:latin typeface="Calibri"/>
              </a:rPr>
              <a:t>Visit counts</a:t>
            </a:r>
          </a:p>
          <a:p>
            <a:pPr lvl="0" marL="457200" indent="-228600">
              <a:buFont typeface="Calibri"/>
              <a:spcAft>
                <a:spcPts val="1000"/>
              </a:spcAft>
              <a:buSzPct val="100000"/>
              <a:buChar char="•"/>
              <a:lnSpc>
                <a:spcPts val="2200"/>
              </a:lnSpc>
            </a:pPr>
            <a:r>
              <a:rPr sz="2000" b="0">
                <a:solidFill>
                  <a:srgbClr val="333333"/>
                </a:solidFill>
                <a:latin typeface="Calibri"/>
              </a:rPr>
              <a:t>External researchers prototype models without accessing raw patient files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Healthcare Finance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Simulating rare conditions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Low-prevalence diseases yield too few real cases for robust machine learning</a:t>
            </a:r>
          </a:p>
          <a:p>
            <a:pPr lvl="0" marL="457200" indent="-228600">
              <a:buFont typeface="Calibri"/>
              <a:spcAft>
                <a:spcPts val="1000"/>
              </a:spcAft>
              <a:buSzPct val="100000"/>
              <a:buChar char="•"/>
              <a:lnSpc>
                <a:spcPts val="2200"/>
              </a:lnSpc>
            </a:pPr>
            <a:r>
              <a:rPr sz="2000" b="0">
                <a:solidFill>
                  <a:srgbClr val="333333"/>
                </a:solidFill>
                <a:latin typeface="Calibri"/>
              </a:rPr>
              <a:t>Synthetic generation can augment rare oncology or genetic presentations while preserving</a:t>
            </a:r>
          </a:p>
          <a:p>
            <a:pPr lvl="0" marL="457200" indent="-228600">
              <a:buFont typeface="Calibri"/>
              <a:spcAft>
                <a:spcPts val="1000"/>
              </a:spcAft>
              <a:buSzPct val="100000"/>
              <a:buChar char="•"/>
              <a:lnSpc>
                <a:spcPts val="2200"/>
              </a:lnSpc>
            </a:pPr>
            <a:r>
              <a:rPr sz="2000" b="0">
                <a:solidFill>
                  <a:srgbClr val="333333"/>
                </a:solidFill>
                <a:latin typeface="Calibri"/>
              </a:rPr>
              <a:t>The goal is better classifiers and simulators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Healthcare Finance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10.13 — Rare-Disease Case Simulation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10.13 shows an oncology team generating additional synthetic cases of a rare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Healthcare Finance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Finance and confidentiality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Financial institutions handle sensitive transactional data restricted by security and</a:t>
            </a:r>
          </a:p>
          <a:p>
            <a:pPr lvl="0" marL="457200" indent="-228600">
              <a:buFont typeface="Calibri"/>
              <a:spcAft>
                <a:spcPts val="1000"/>
              </a:spcAft>
              <a:buSzPct val="100000"/>
              <a:buChar char="•"/>
              <a:lnSpc>
                <a:spcPts val="2200"/>
              </a:lnSpc>
            </a:pPr>
            <a:r>
              <a:rPr sz="2000" b="0">
                <a:solidFill>
                  <a:srgbClr val="333333"/>
                </a:solidFill>
                <a:latin typeface="Calibri"/>
              </a:rPr>
              <a:t>Synthetic data offers an alternative for fraud modeling and strategy simulation without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Healthcare Finance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Fraud detection with synthetic patterns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Fraud is a rare-event problem: historical logs contain few positive examples</a:t>
            </a:r>
          </a:p>
          <a:p>
            <a:pPr lvl="0" marL="457200" indent="-228600">
              <a:buFont typeface="Calibri"/>
              <a:spcAft>
                <a:spcPts val="1000"/>
              </a:spcAft>
              <a:buSzPct val="100000"/>
              <a:buChar char="•"/>
              <a:lnSpc>
                <a:spcPts val="2200"/>
              </a:lnSpc>
            </a:pPr>
            <a:r>
              <a:rPr sz="2000" b="0">
                <a:solidFill>
                  <a:srgbClr val="333333"/>
                </a:solidFill>
                <a:latin typeface="Calibri"/>
              </a:rPr>
              <a:t>Synthetic generators can emit diverse fraudulent sequences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Healthcare Finance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10.14 — Synthetic Fraud Transaction Patterns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10.14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10.14 describes a payments provider synthesizing card-not-present fraud sequences</a:t>
            </a:r>
          </a:p>
          <a:p>
            <a:pPr lvl="0" marL="457200" indent="-228600">
              <a:buFont typeface="Calibri"/>
              <a:spcAft>
                <a:spcPts val="1000"/>
              </a:spcAft>
              <a:buSzPct val="100000"/>
              <a:buChar char="•"/>
              <a:lnSpc>
                <a:spcPts val="2200"/>
              </a:lnSpc>
            </a:pPr>
            <a:r>
              <a:rPr sz="2000" b="0">
                <a:solidFill>
                  <a:srgbClr val="333333"/>
                </a:solidFill>
                <a:latin typeface="Calibri"/>
              </a:rPr>
              <a:t>Detectors gain positive examples absent from historical logs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`modules/chapter10/example14/`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Healthcare Finance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Trading simulations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Edge conditions underrepresented in limited historical windows</a:t>
            </a:r>
          </a:p>
          <a:p>
            <a:pPr lvl="0" marL="457200" indent="-228600">
              <a:buFont typeface="Calibri"/>
              <a:spcAft>
                <a:spcPts val="1000"/>
              </a:spcAft>
              <a:buSzPct val="100000"/>
              <a:buChar char="•"/>
              <a:lnSpc>
                <a:spcPts val="2200"/>
              </a:lnSpc>
            </a:pPr>
            <a:r>
              <a:rPr sz="2000" b="0">
                <a:solidFill>
                  <a:srgbClr val="333333"/>
                </a:solidFill>
                <a:latin typeface="Calibri"/>
              </a:rPr>
              <a:t>Synthetic finance use cases still require validation against live macro regimes before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Healthcare Finance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Healthcare synthesis targets privacy-preserving sharing and rare-disease coverage</a:t>
            </a:r>
          </a:p>
          <a:p>
            <a:pPr lvl="0" marL="457200" indent="-228600">
              <a:buFont typeface="Calibri"/>
              <a:spcAft>
                <a:spcPts val="1000"/>
              </a:spcAft>
              <a:buSzPct val="100000"/>
              <a:buChar char="•"/>
              <a:lnSpc>
                <a:spcPts val="2200"/>
              </a:lnSpc>
            </a:pPr>
            <a:r>
              <a:rPr sz="2000" b="0">
                <a:solidFill>
                  <a:srgbClr val="333333"/>
                </a:solidFill>
                <a:latin typeface="Calibri"/>
              </a:rPr>
              <a:t>Both domains demand regulatory awareness and fidelity checks beyond aggregate similarity</a:t>
            </a:r>
          </a:p>
          <a:p>
            <a:pPr lvl="0" marL="457200" indent="-228600">
              <a:buFont typeface="Calibri"/>
              <a:spcAft>
                <a:spcPts val="1000"/>
              </a:spcAft>
              <a:buSzPct val="100000"/>
              <a:buChar char="•"/>
              <a:lnSpc>
                <a:spcPts val="2200"/>
              </a:lnSpc>
            </a:pPr>
            <a:r>
              <a:rPr sz="2000" b="0">
                <a:solidFill>
                  <a:srgbClr val="333333"/>
                </a:solidFill>
                <a:latin typeface="Calibri"/>
              </a:rPr>
              <a:t>Autonomy and cybersecurity use cases follow in the next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Healthcare Finance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Ransomware attack simulation for cybersecurity training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Use Cases Healthcare Finance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