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Basic generative adversarial networks are only the starting point. This part surveys conditional generative adversarial networks, CycleGANs, and StyleGANs, then discusses realism metrics, use cases, and ethical risks such as deepfakes and malicious misuse.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contrast conditional, cycle-consistent, and style-controlled GAN variants; name common evaluation metrics for generated media; summarize domain use cases; and recognize deepfake and misuse risks tied to realistic synthesis.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Conditional generative adversarial networks feed class labels or other attributes into both generator and discriminator. The generator then produces samples that satisfy specified constraints—particular object categories, demographics, or scene types—while remaining visually or statistically plausible. This supports supervised augmentation and controlled image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10.11 shows a conditional generative adversarial network generating cats, dogs, or cars from a provided label. Label conditioning makes the output useful for image-to-image tasks and class-balanced training sets. The example 11 module for this chapter summarizes conditional generation scenarios.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CycleGAN translates between image domains without paired training examples—horses to zebras, winter to summer—using cycle consistency so round-trip mappings preserve content. StyleGAN focuses on high-quality faces and fine-grained style control through a hierarchical generator, enabling photorealistic synthesis with adjustable coarse and fine attributes.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adversarial networks excel at realistic image, text, and time-series synthesis and strong data augmentation for scarce domains. Limitations include training instability, heavy compute for high resolution, and difficult quantitative evaluation without ground-truth synthetic labels. Human review and statistical metrics both remain necessary.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synthetic sets lack per-row ground truth, teams use proxy metrics. Inception Score measures classifiability and diversity of generated images. Fréchet Inception Distance compares feature distributions of real and generated images. Precision and recall adaptations assess fidelity versus coverage of the real manifold.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adversarial networks synthesize medical imaging for privacy-aware research, augment rare events in vision and time series, and support creative generation. In security and media, the same machinery can forge identities or fabricate events—so evaluation must include utility for intended tasks, not realism alone.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Realistic generators enable deepfakes: synthetic faces, voices, or video that impersonate people or invent scenes. The same tools can produce fraudulent documents or misleading news. These risks connect to the chapter-wide ethics agenda—privacy, bias amplification, and over-reliance—not a separate policy silo for generative adversarial networks alone.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architectures add control, unpaired translation, and style manipulation atop basic adversarial training. Metrics such as Inception Score and Fréchet Inception Distance help compare generators but do not replace task-level validation. Deepfakes illustrate why governance and provenance matter alongside model quality.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explains how large language models generate synthetic text, labels, and structured records through prompting, and why hallucination, memorization, and bias require the same validation gates as generative adversarial outputs.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10 — GAN variants, evaluation, and ethics</a:t>
            </a:r>
          </a:p>
          <a:p>
            <a:pPr algn="ctr">
              <a:lnSpc>
                <a:spcPts val="2200"/>
              </a:lnSpc>
              <a:spcBef>
                <a:spcPts val="1400"/>
              </a:spcBef>
            </a:pPr>
            <a:r>
              <a:rPr sz="2600" b="0">
                <a:solidFill>
                  <a:srgbClr val="333333"/>
                </a:solidFill>
                <a:latin typeface="Calibri"/>
              </a:rPr>
              <a:t>Basic generative adversarial networks are only the starting point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Variants Evaluation Ethics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 learners should be able to contrast conditional, cycle-consistent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Variants Evaluation Ethics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Conditional GANs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Conditional generative adversarial networks feed class labels or other attributes into</a:t>
            </a:r>
          </a:p>
          <a:p>
            <a:pPr>
              <a:spcAft>
                <a:spcPts val="1000"/>
              </a:spcAft>
              <a:buChar char="•"/>
              <a:lnSpc>
                <a:spcPts val="2200"/>
              </a:lnSpc>
            </a:pPr>
            <a:r>
              <a:rPr sz="2000" b="0">
                <a:solidFill>
                  <a:srgbClr val="333333"/>
                </a:solidFill>
                <a:latin typeface="Calibri"/>
              </a:rPr>
              <a:t>The generator then produces samples that satisfy specified constraints</a:t>
            </a:r>
          </a:p>
          <a:p>
            <a:pPr>
              <a:spcAft>
                <a:spcPts val="1000"/>
              </a:spcAft>
              <a:buChar char="•"/>
              <a:lnSpc>
                <a:spcPts val="2200"/>
              </a:lnSpc>
            </a:pPr>
            <a:r>
              <a:rPr sz="2000" b="0">
                <a:solidFill>
                  <a:srgbClr val="333333"/>
                </a:solidFill>
                <a:latin typeface="Calibri"/>
              </a:rPr>
              <a:t>This supports supervised augmentation and controlled image translation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Variants Evaluation Ethics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10.11 — Conditional GAN Class Labels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10.11 — hands-on module</a:t>
            </a:r>
          </a:p>
          <a:p>
            <a:pPr>
              <a:spcAft>
                <a:spcPts val="1000"/>
              </a:spcAft>
              <a:buChar char="•"/>
              <a:lnSpc>
                <a:spcPts val="2200"/>
              </a:lnSpc>
            </a:pPr>
            <a:r>
              <a:rPr sz="2000" b="0">
                <a:solidFill>
                  <a:srgbClr val="333333"/>
                </a:solidFill>
                <a:latin typeface="Calibri"/>
              </a:rPr>
              <a:t>Example 10.11 shows a conditional generative adversarial network generating cats</a:t>
            </a:r>
          </a:p>
          <a:p>
            <a:pPr>
              <a:spcAft>
                <a:spcPts val="1000"/>
              </a:spcAft>
              <a:buChar char="•"/>
              <a:lnSpc>
                <a:spcPts val="2200"/>
              </a:lnSpc>
            </a:pPr>
            <a:r>
              <a:rPr sz="2000" b="0">
                <a:solidFill>
                  <a:srgbClr val="333333"/>
                </a:solidFill>
                <a:latin typeface="Calibri"/>
              </a:rPr>
              <a:t>Label conditioning makes the output useful for image-to-image tasks and class-balanced</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Variants Evaluation Ethics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CycleGAN and StyleGAN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CycleGAN translates between image domains without paired training examples</a:t>
            </a:r>
          </a:p>
          <a:p>
            <a:pPr>
              <a:spcAft>
                <a:spcPts val="1000"/>
              </a:spcAft>
              <a:buChar char="•"/>
              <a:lnSpc>
                <a:spcPts val="2200"/>
              </a:lnSpc>
            </a:pPr>
            <a:r>
              <a:rPr sz="2000" b="0">
                <a:solidFill>
                  <a:srgbClr val="333333"/>
                </a:solidFill>
                <a:latin typeface="Calibri"/>
              </a:rPr>
              <a:t>Enabling photorealistic synthesis with adjustable coarse and fine attributes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Variants Evaluation Ethics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Advantages and limitations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Generative adversarial networks excel at realistic image, text</a:t>
            </a:r>
          </a:p>
          <a:p>
            <a:pPr>
              <a:spcAft>
                <a:spcPts val="1000"/>
              </a:spcAft>
              <a:buChar char="•"/>
              <a:lnSpc>
                <a:spcPts val="2200"/>
              </a:lnSpc>
            </a:pPr>
            <a:r>
              <a:rPr sz="2000" b="0">
                <a:solidFill>
                  <a:srgbClr val="333333"/>
                </a:solidFill>
                <a:latin typeface="Calibri"/>
              </a:rPr>
              <a:t>Limitations include training instability, heavy compute for high resolution</a:t>
            </a:r>
          </a:p>
          <a:p>
            <a:pPr>
              <a:spcAft>
                <a:spcPts val="1000"/>
              </a:spcAft>
              <a:buChar char="•"/>
              <a:lnSpc>
                <a:spcPts val="2200"/>
              </a:lnSpc>
            </a:pPr>
            <a:r>
              <a:rPr sz="2000" b="0">
                <a:solidFill>
                  <a:srgbClr val="333333"/>
                </a:solidFill>
                <a:latin typeface="Calibri"/>
              </a:rPr>
              <a:t>Human review and statistical metrics both remain necessary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Variants Evaluation Ethics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Evaluation metrics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Because synthetic sets lack per-row ground truth, teams use proxy metrics</a:t>
            </a:r>
          </a:p>
          <a:p>
            <a:pPr>
              <a:spcAft>
                <a:spcPts val="1000"/>
              </a:spcAft>
              <a:buChar char="•"/>
              <a:lnSpc>
                <a:spcPts val="2200"/>
              </a:lnSpc>
            </a:pPr>
            <a:r>
              <a:rPr sz="2000" b="0">
                <a:solidFill>
                  <a:srgbClr val="333333"/>
                </a:solidFill>
                <a:latin typeface="Calibri"/>
              </a:rPr>
              <a:t>Inception Score measures classifiability and diversity of generated images</a:t>
            </a:r>
          </a:p>
          <a:p>
            <a:pPr>
              <a:spcAft>
                <a:spcPts val="1000"/>
              </a:spcAft>
              <a:buChar char="•"/>
              <a:lnSpc>
                <a:spcPts val="2200"/>
              </a:lnSpc>
            </a:pPr>
            <a:r>
              <a:rPr sz="2000" b="0">
                <a:solidFill>
                  <a:srgbClr val="333333"/>
                </a:solidFill>
                <a:latin typeface="Calibri"/>
              </a:rPr>
              <a:t>Fréchet Inception Distance compares feature distributions of real and generated images</a:t>
            </a:r>
          </a:p>
          <a:p>
            <a:pPr>
              <a:spcAft>
                <a:spcPts val="1000"/>
              </a:spcAft>
              <a:buChar char="•"/>
              <a:lnSpc>
                <a:spcPts val="2200"/>
              </a:lnSpc>
            </a:pPr>
            <a:r>
              <a:rPr sz="2000" b="0">
                <a:solidFill>
                  <a:srgbClr val="333333"/>
                </a:solidFill>
                <a:latin typeface="Calibri"/>
              </a:rPr>
              <a:t>Precision and recall adaptations assess fidelity versus coverage of the real manifold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Variants Evaluation Ethics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Prominent use cases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Support creative generation</a:t>
            </a:r>
          </a:p>
          <a:p>
            <a:pPr>
              <a:spcAft>
                <a:spcPts val="1000"/>
              </a:spcAft>
              <a:buChar char="•"/>
              <a:lnSpc>
                <a:spcPts val="2200"/>
              </a:lnSpc>
            </a:pPr>
            <a:r>
              <a:rPr sz="2000" b="0">
                <a:solidFill>
                  <a:srgbClr val="333333"/>
                </a:solidFill>
                <a:latin typeface="Calibri"/>
              </a:rPr>
              <a:t>In security and media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Variants Evaluation Ethics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Ethical challenges and deepfakes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Realistic generators enable deepfakes</a:t>
            </a:r>
          </a:p>
          <a:p>
            <a:pPr>
              <a:spcAft>
                <a:spcPts val="1000"/>
              </a:spcAft>
              <a:buChar char="•"/>
              <a:lnSpc>
                <a:spcPts val="2200"/>
              </a:lnSpc>
            </a:pPr>
            <a:r>
              <a:rPr sz="2000" b="0">
                <a:solidFill>
                  <a:srgbClr val="333333"/>
                </a:solidFill>
                <a:latin typeface="Calibri"/>
              </a:rPr>
              <a:t>The same tools can produce fraudulent documents or misleading news</a:t>
            </a:r>
          </a:p>
          <a:p>
            <a:pPr>
              <a:spcAft>
                <a:spcPts val="1000"/>
              </a:spcAft>
              <a:buChar char="•"/>
              <a:lnSpc>
                <a:spcPts val="2200"/>
              </a:lnSpc>
            </a:pPr>
            <a:r>
              <a:rPr sz="2000" b="0">
                <a:solidFill>
                  <a:srgbClr val="333333"/>
                </a:solidFill>
                <a:latin typeface="Calibri"/>
              </a:rPr>
              <a:t>These risks connect to the chapter-wide ethics agenda, privacy, bias amplification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Variants Evaluation Ethics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Variant architectures add control, unpaired translation</a:t>
            </a:r>
          </a:p>
          <a:p>
            <a:pPr>
              <a:spcAft>
                <a:spcPts val="1000"/>
              </a:spcAft>
              <a:buChar char="•"/>
              <a:lnSpc>
                <a:spcPts val="2200"/>
              </a:lnSpc>
            </a:pPr>
            <a:r>
              <a:rPr sz="2000" b="0">
                <a:solidFill>
                  <a:srgbClr val="333333"/>
                </a:solidFill>
                <a:latin typeface="Calibri"/>
              </a:rPr>
              <a:t>Metrics such as Inception Score and Fréchet Inception Distance help compare generators but</a:t>
            </a:r>
          </a:p>
          <a:p>
            <a:pPr>
              <a:spcAft>
                <a:spcPts val="1000"/>
              </a:spcAft>
              <a:buChar char="•"/>
              <a:lnSpc>
                <a:spcPts val="2200"/>
              </a:lnSpc>
            </a:pPr>
            <a:r>
              <a:rPr sz="2000" b="0">
                <a:solidFill>
                  <a:srgbClr val="333333"/>
                </a:solidFill>
                <a:latin typeface="Calibri"/>
              </a:rPr>
              <a:t>Deepfakes illustrate why governance and provenance matter alongside model quality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Variants Evaluation Ethics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explains how large language models generate synthetic text, labels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Variants Evaluation Ethics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