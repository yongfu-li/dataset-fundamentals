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generative adversarial networks are only the starting point. This part surveys conditional generative adversarial networks, CycleGANs, and StyleGANs, then discusses realism metrics, use cases, and ethical risks such as deepfakes and malicious misuse.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contrast conditional, cycle-consistent, and style-controlled GAN variants; name common evaluation metrics for generated media; summarize domain use cases; and recognize deepfake and misuse risks tied to realistic synthesis.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generative adversarial networks feed class labels or other attributes into both generator and discriminator. The generator then produces samples that satisfy specified constraints—particular object categories, demographics, or scene types—while remaining visually or statistically plausible. This supports supervised augmentation and controlled image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10.11 shows a conditional generative adversarial network generating cats, dogs, or cars from a provided label. Label conditioning makes the output useful for image-to-image tasks and class-balanced training sets. The example 11 module for this chapter summarizes conditional generation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CycleGAN translates between image domains without paired training examples—horses to zebras, winter to summer—using cycle consistency so round-trip mappings preserve content. StyleGAN focuses on high-quality faces and fine-grained style control through a hierarchical generator, enabling photorealistic synthesis with adjustable coarse and fine attributes.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excel at realistic image, text, and time-series synthesis and strong data augmentation for scarce domains. Limitations include training instability, heavy compute for high resolution, and difficult quantitative evaluation without ground-truth synthetic labels. Human review and statistical metrics both remain necessary.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synthetic sets lack per-row ground truth, teams use proxy metrics. Inception Score measures classifiability and diversity of generated images. Fréchet Inception Distance compares feature distributions of real and generated images. Precision and recall adaptations assess fidelity versus coverage of the real manifold.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synthesize medical imaging for privacy-aware research, augment rare events in vision and time series, and support creative generation. In security and media, the same machinery can forge identities or fabricate events—so evaluation must include utility for intended tasks, not realism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generators enable deepfakes: synthetic faces, voices, or video that impersonate people or invent scenes. The same tools can produce fraudulent documents or misleading news. These risks connect to the chapter-wide ethics agenda—privacy, bias amplification, and over-reliance—not a separate policy silo for generative adversarial networks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 architectures add control, unpaired translation, and style manipulation atop basic adversarial training. Metrics such as Inception Score and Fréchet Inception Distance help compare generators but do not replace task-level validation. Deepfakes illustrate why governance and provenance matter alongside model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explains how large language models generate synthetic text, labels, and structured records through prompting, and why hallucination, memorization, and bias require the same validation gates as generative adversarial outputs.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GAN variants, evaluation, and ethics</a:t>
            </a:r>
          </a:p>
          <a:p>
            <a:pPr algn="ctr">
              <a:lnSpc>
                <a:spcPts val="2200"/>
              </a:lnSpc>
              <a:spcBef>
                <a:spcPts val="1400"/>
              </a:spcBef>
            </a:pPr>
            <a:r>
              <a:rPr sz="2600" b="0">
                <a:solidFill>
                  <a:srgbClr val="333333"/>
                </a:solidFill>
                <a:latin typeface="Calibri"/>
              </a:rPr>
              <a:t>Basic generative adversarial networks are only the starting point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contrast conditional, cycle-consistent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Conditional GANs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Conditional generative adversarial networks feed class labels or other attributes into</a:t>
            </a:r>
          </a:p>
          <a:p>
            <a:pPr lvl="0" marL="457200" indent="-228600">
              <a:buFont typeface="Calibri"/>
              <a:spcAft>
                <a:spcPts val="1000"/>
              </a:spcAft>
              <a:buSzPct val="100000"/>
              <a:buChar char="•"/>
              <a:lnSpc>
                <a:spcPts val="2200"/>
              </a:lnSpc>
            </a:pPr>
            <a:r>
              <a:rPr sz="2000" b="0">
                <a:solidFill>
                  <a:srgbClr val="333333"/>
                </a:solidFill>
                <a:latin typeface="Calibri"/>
              </a:rPr>
              <a:t>The generator then produces samples that satisfy specified constraints</a:t>
            </a:r>
          </a:p>
          <a:p>
            <a:pPr lvl="0" marL="457200" indent="-228600">
              <a:buFont typeface="Calibri"/>
              <a:spcAft>
                <a:spcPts val="1000"/>
              </a:spcAft>
              <a:buSzPct val="100000"/>
              <a:buChar char="•"/>
              <a:lnSpc>
                <a:spcPts val="2200"/>
              </a:lnSpc>
            </a:pPr>
            <a:r>
              <a:rPr sz="2000" b="0">
                <a:solidFill>
                  <a:srgbClr val="333333"/>
                </a:solidFill>
                <a:latin typeface="Calibri"/>
              </a:rPr>
              <a:t>This supports supervised augmentation and controlled image translation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10.11 — Conditional GAN Class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10.11 shows a conditional generative adversarial network generating cats</a:t>
            </a:r>
          </a:p>
          <a:p>
            <a:pPr lvl="0" marL="457200" indent="-228600">
              <a:buFont typeface="Calibri"/>
              <a:spcAft>
                <a:spcPts val="1000"/>
              </a:spcAft>
              <a:buSzPct val="100000"/>
              <a:buChar char="•"/>
              <a:lnSpc>
                <a:spcPts val="2200"/>
              </a:lnSpc>
            </a:pPr>
            <a:r>
              <a:rPr sz="2000" b="0">
                <a:solidFill>
                  <a:srgbClr val="333333"/>
                </a:solidFill>
                <a:latin typeface="Calibri"/>
              </a:rPr>
              <a:t>Label conditioning makes the output useful for image-to-image tasks and class-balanced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CycleGAN and StyleGAN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CycleGAN translates between image domains without paired training examples</a:t>
            </a:r>
          </a:p>
          <a:p>
            <a:pPr lvl="0" marL="457200" indent="-228600">
              <a:buFont typeface="Calibri"/>
              <a:spcAft>
                <a:spcPts val="1000"/>
              </a:spcAft>
              <a:buSzPct val="100000"/>
              <a:buChar char="•"/>
              <a:lnSpc>
                <a:spcPts val="2200"/>
              </a:lnSpc>
            </a:pPr>
            <a:r>
              <a:rPr sz="2000" b="0">
                <a:solidFill>
                  <a:srgbClr val="333333"/>
                </a:solidFill>
                <a:latin typeface="Calibri"/>
              </a:rPr>
              <a:t>Enabling photorealistic synthesis with adjustable coarse and fine attributes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and limitations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Generative adversarial networks excel at realistic image, text</a:t>
            </a:r>
          </a:p>
          <a:p>
            <a:pPr lvl="0" marL="457200" indent="-228600">
              <a:buFont typeface="Calibri"/>
              <a:spcAft>
                <a:spcPts val="1000"/>
              </a:spcAft>
              <a:buSzPct val="100000"/>
              <a:buChar char="•"/>
              <a:lnSpc>
                <a:spcPts val="2200"/>
              </a:lnSpc>
            </a:pPr>
            <a:r>
              <a:rPr sz="2000" b="0">
                <a:solidFill>
                  <a:srgbClr val="333333"/>
                </a:solidFill>
                <a:latin typeface="Calibri"/>
              </a:rPr>
              <a:t>Limitations include training instability, heavy compute for high resolution</a:t>
            </a:r>
          </a:p>
          <a:p>
            <a:pPr lvl="0" marL="457200" indent="-228600">
              <a:buFont typeface="Calibri"/>
              <a:spcAft>
                <a:spcPts val="1000"/>
              </a:spcAft>
              <a:buSzPct val="100000"/>
              <a:buChar char="•"/>
              <a:lnSpc>
                <a:spcPts val="2200"/>
              </a:lnSpc>
            </a:pPr>
            <a:r>
              <a:rPr sz="2000" b="0">
                <a:solidFill>
                  <a:srgbClr val="333333"/>
                </a:solidFill>
                <a:latin typeface="Calibri"/>
              </a:rPr>
              <a:t>Human review and statistical metrics both remain necessary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Evaluation metrics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Because synthetic sets lack per-row ground truth, teams use proxy metrics</a:t>
            </a:r>
          </a:p>
          <a:p>
            <a:pPr lvl="0" marL="457200" indent="-228600">
              <a:buFont typeface="Calibri"/>
              <a:spcAft>
                <a:spcPts val="1000"/>
              </a:spcAft>
              <a:buSzPct val="100000"/>
              <a:buChar char="•"/>
              <a:lnSpc>
                <a:spcPts val="2200"/>
              </a:lnSpc>
            </a:pPr>
            <a:r>
              <a:rPr sz="2000" b="0">
                <a:solidFill>
                  <a:srgbClr val="333333"/>
                </a:solidFill>
                <a:latin typeface="Calibri"/>
              </a:rPr>
              <a:t>Inception Score measures classifiability and diversity of generated images</a:t>
            </a:r>
          </a:p>
          <a:p>
            <a:pPr lvl="0" marL="457200" indent="-228600">
              <a:buFont typeface="Calibri"/>
              <a:spcAft>
                <a:spcPts val="1000"/>
              </a:spcAft>
              <a:buSzPct val="100000"/>
              <a:buChar char="•"/>
              <a:lnSpc>
                <a:spcPts val="2200"/>
              </a:lnSpc>
            </a:pPr>
            <a:r>
              <a:rPr sz="2000" b="0">
                <a:solidFill>
                  <a:srgbClr val="333333"/>
                </a:solidFill>
                <a:latin typeface="Calibri"/>
              </a:rPr>
              <a:t>Fréchet Inception Distance compares feature distributions of real and generated images</a:t>
            </a:r>
          </a:p>
          <a:p>
            <a:pPr lvl="0" marL="457200" indent="-228600">
              <a:buFont typeface="Calibri"/>
              <a:spcAft>
                <a:spcPts val="1000"/>
              </a:spcAft>
              <a:buSzPct val="100000"/>
              <a:buChar char="•"/>
              <a:lnSpc>
                <a:spcPts val="2200"/>
              </a:lnSpc>
            </a:pPr>
            <a:r>
              <a:rPr sz="2000" b="0">
                <a:solidFill>
                  <a:srgbClr val="333333"/>
                </a:solidFill>
                <a:latin typeface="Calibri"/>
              </a:rPr>
              <a:t>Precision and recall adaptations assess fidelity versus coverage of the real manifold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Prominent use cases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Support creative generation</a:t>
            </a:r>
          </a:p>
          <a:p>
            <a:pPr lvl="0" marL="457200" indent="-228600">
              <a:buFont typeface="Calibri"/>
              <a:spcAft>
                <a:spcPts val="1000"/>
              </a:spcAft>
              <a:buSzPct val="100000"/>
              <a:buChar char="•"/>
              <a:lnSpc>
                <a:spcPts val="2200"/>
              </a:lnSpc>
            </a:pPr>
            <a:r>
              <a:rPr sz="2000" b="0">
                <a:solidFill>
                  <a:srgbClr val="333333"/>
                </a:solidFill>
                <a:latin typeface="Calibri"/>
              </a:rPr>
              <a:t>In security and media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challenges and deepfakes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Realistic generators enable deepfakes</a:t>
            </a:r>
          </a:p>
          <a:p>
            <a:pPr lvl="0" marL="457200" indent="-228600">
              <a:buFont typeface="Calibri"/>
              <a:spcAft>
                <a:spcPts val="1000"/>
              </a:spcAft>
              <a:buSzPct val="100000"/>
              <a:buChar char="•"/>
              <a:lnSpc>
                <a:spcPts val="2200"/>
              </a:lnSpc>
            </a:pPr>
            <a:r>
              <a:rPr sz="2000" b="0">
                <a:solidFill>
                  <a:srgbClr val="333333"/>
                </a:solidFill>
                <a:latin typeface="Calibri"/>
              </a:rPr>
              <a:t>The same tools can produce fraudulent documents or misleading news</a:t>
            </a:r>
          </a:p>
          <a:p>
            <a:pPr lvl="0" marL="457200" indent="-228600">
              <a:buFont typeface="Calibri"/>
              <a:spcAft>
                <a:spcPts val="1000"/>
              </a:spcAft>
              <a:buSzPct val="100000"/>
              <a:buChar char="•"/>
              <a:lnSpc>
                <a:spcPts val="2200"/>
              </a:lnSpc>
            </a:pPr>
            <a:r>
              <a:rPr sz="2000" b="0">
                <a:solidFill>
                  <a:srgbClr val="333333"/>
                </a:solidFill>
                <a:latin typeface="Calibri"/>
              </a:rPr>
              <a:t>These risks connect to the chapter-wide ethics agenda, privacy, bias amplification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Variant architectures add control, unpaired translation</a:t>
            </a:r>
          </a:p>
          <a:p>
            <a:pPr lvl="0" marL="457200" indent="-228600">
              <a:buFont typeface="Calibri"/>
              <a:spcAft>
                <a:spcPts val="1000"/>
              </a:spcAft>
              <a:buSzPct val="100000"/>
              <a:buChar char="•"/>
              <a:lnSpc>
                <a:spcPts val="2200"/>
              </a:lnSpc>
            </a:pPr>
            <a:r>
              <a:rPr sz="2000" b="0">
                <a:solidFill>
                  <a:srgbClr val="333333"/>
                </a:solidFill>
                <a:latin typeface="Calibri"/>
              </a:rPr>
              <a:t>Metrics such as Inception Score and Fréchet Inception Distance help compare generators but</a:t>
            </a:r>
          </a:p>
          <a:p>
            <a:pPr lvl="0" marL="457200" indent="-228600">
              <a:buFont typeface="Calibri"/>
              <a:spcAft>
                <a:spcPts val="1000"/>
              </a:spcAft>
              <a:buSzPct val="100000"/>
              <a:buChar char="•"/>
              <a:lnSpc>
                <a:spcPts val="2200"/>
              </a:lnSpc>
            </a:pPr>
            <a:r>
              <a:rPr sz="2000" b="0">
                <a:solidFill>
                  <a:srgbClr val="333333"/>
                </a:solidFill>
                <a:latin typeface="Calibri"/>
              </a:rPr>
              <a:t>Deepfakes illustrate why governance and provenance matter alongside model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explains how large language models generate synthetic text,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Variants Evaluation Ethics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