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closes by asking when synthetic data truly protects people and when it creates new harms. This final part covers privacy claims under GDPR, manipulated reporting, bias amplification, mitigation practices, and regulatory considerations for synthetic releases.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evaluate privacy claims for synthetic corpora under GDPR and HIPAA; recognize misuse, over-reliance, and quality risks; explain bias amplification in generated hiring data; and list transparency, validation, and oversight practices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adds risks beyond general privacy law: re-identification through memorization, bias amplification from skewed sources, deceptive realistic media, and accountability when models trained on simulations fail live. Documentation and validation are ethical obligations, not optional metadata.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often treat synthetic tables as lower risk because direct identifiers are removed. That claim fails if generators memorize rare individuals or adversaries can link rows back to real people. Under GDPR, whether synthetic outputs escape personal-data duties depends on residual identifiability, not the label synthetic alone.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10.18 describes a cross-border research project sharing synthetic patient cohorts for algorithm benchmarking while identifiable European health records remain inside the controller environment. Wide sharing is justified only when unlinkability is demonstrated. The example 18 module for this chapter frames GDPR-aware synthetic patient release.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Poorly generated or deliberately skewed synthetic sets can mislead stakeholders. Vendors may report strong accuracy on synthetic-only benchmarks that omit recent macro shocks or rare behaviors, leading to harmful deployment in banking or healthcare.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10.19 warns of a vendor reporting strong loan-default accuracy using synthetic data that omits recent macro shocks; downstream banks discover failure on live portfolios. The example 19 module for this chapter summarizes performance reporting integrity risks.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Over-reliance treats synthetic corpora as complete substitutes for real-world evidence. Autonomy planners trained mostly on synthetic intersections may fail when pedestrians behave in ways absent from the generator library. Low-quality tabular generators can emit impossible joint values that teach spurious rules.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Generators trained on skewed historical data can emit apparently diverse yet systematically biased samples. Synthetic hiring resumes from male-dominated source data may over-represent the same career paths the organization hoped to correct—amplifying unfair outcomes in high-stakes decisions.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10.22 illustrates synthetic resumes from historically male-dominated hiring data reinforcing the same career-path skew. The example 22 module for this chapter connects amplification to fairness audits on both source and synthetic cohorts.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practices include diverse training sources, fairness constraints, disclosed generation methods, benchmark validation against real data, and ethics review or automated fairness checks. Provenance and retention policies should support accountability when regulators or data subjects challenge synthetic derivatives.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10.23 notes regulators asking whether individuals can challenge inferences trained on synthetic derivatives of personal data—pushing teams to document provenance and retention. The example 23 module for this chapter summarizes evolving regulatory scrutiny.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is a privacy tool only when validation shows acceptable re-identification risk. Misuse, over-reliance, and bias amplification require governance alongside technical metrics. Document generators, validate against real benchmarks, and apply fairness oversight before release—then carry those practices into advanced annotation and storage chapters ahead.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positioned statistical sampling, generative adversarial networks, and language models as complements to real collection when data are scarce, sensitive, or imbalanced—provided fidelity and ethics checks pass. Continue to annotation and corpus-scale storage topics in subsequent chapters.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Ethics and regulation</a:t>
            </a:r>
          </a:p>
          <a:p>
            <a:pPr algn="ctr">
              <a:lnSpc>
                <a:spcPts val="2200"/>
              </a:lnSpc>
              <a:spcBef>
                <a:spcPts val="1400"/>
              </a:spcBef>
            </a:pPr>
            <a:r>
              <a:rPr sz="2600" b="0">
                <a:solidFill>
                  <a:srgbClr val="333333"/>
                </a:solidFill>
                <a:latin typeface="Calibri"/>
              </a:rPr>
              <a:t>The chapter closes by asking when synthetic data truly protects people and when it creates new harms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Generator-specific ethical tensions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Synthetic data adds risks beyond general privacy law</a:t>
            </a:r>
          </a:p>
          <a:p>
            <a:pPr>
              <a:spcAft>
                <a:spcPts val="1000"/>
              </a:spcAft>
              <a:buChar char="•"/>
              <a:lnSpc>
                <a:spcPts val="2200"/>
              </a:lnSpc>
            </a:pPr>
            <a:r>
              <a:rPr sz="2000" b="0">
                <a:solidFill>
                  <a:srgbClr val="333333"/>
                </a:solidFill>
                <a:latin typeface="Calibri"/>
              </a:rPr>
              <a:t>Documentation and validation are ethical obligations, not optional metadata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Privacy claims and GDPR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Organizations often treat synthetic tables as lower risk because direct identifiers are</a:t>
            </a:r>
          </a:p>
          <a:p>
            <a:pPr>
              <a:spcAft>
                <a:spcPts val="1000"/>
              </a:spcAft>
              <a:buChar char="•"/>
              <a:lnSpc>
                <a:spcPts val="2200"/>
              </a:lnSpc>
            </a:pPr>
            <a:r>
              <a:rPr sz="2000" b="0">
                <a:solidFill>
                  <a:srgbClr val="333333"/>
                </a:solidFill>
                <a:latin typeface="Calibri"/>
              </a:rPr>
              <a:t>That claim fails if generators memorize rare individuals or adversaries can link rows back</a:t>
            </a:r>
          </a:p>
          <a:p>
            <a:pPr>
              <a:spcAft>
                <a:spcPts val="1000"/>
              </a:spcAft>
              <a:buChar char="•"/>
              <a:lnSpc>
                <a:spcPts val="2200"/>
              </a:lnSpc>
            </a:pPr>
            <a:r>
              <a:rPr sz="2000" b="0">
                <a:solidFill>
                  <a:srgbClr val="333333"/>
                </a:solidFill>
                <a:latin typeface="Calibri"/>
              </a:rPr>
              <a:t>Under GDPR, whether synthetic outputs escape personal-data duties depends on residual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10.18 — GDPR-Compliant Synthetic Patients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10.18 — hands-on module</a:t>
            </a:r>
          </a:p>
          <a:p>
            <a:pPr>
              <a:spcAft>
                <a:spcPts val="1000"/>
              </a:spcAft>
              <a:buChar char="•"/>
              <a:lnSpc>
                <a:spcPts val="2200"/>
              </a:lnSpc>
            </a:pPr>
            <a:r>
              <a:rPr sz="2000" b="0">
                <a:solidFill>
                  <a:srgbClr val="333333"/>
                </a:solidFill>
                <a:latin typeface="Calibri"/>
              </a:rPr>
              <a:t>Example 10.18 describes a cross-border research project sharing synthetic patient cohorts</a:t>
            </a:r>
          </a:p>
          <a:p>
            <a:pPr>
              <a:spcAft>
                <a:spcPts val="1000"/>
              </a:spcAft>
              <a:buChar char="•"/>
              <a:lnSpc>
                <a:spcPts val="2200"/>
              </a:lnSpc>
            </a:pPr>
            <a:r>
              <a:rPr sz="2000" b="0">
                <a:solidFill>
                  <a:srgbClr val="333333"/>
                </a:solidFill>
                <a:latin typeface="Calibri"/>
              </a:rPr>
              <a:t>Wide sharing is justified only when unlinkability is demonstrated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Misuse and manipulated reporting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Poorly generated or deliberately skewed synthetic sets can mislead stakeholders</a:t>
            </a:r>
          </a:p>
          <a:p>
            <a:pPr>
              <a:spcAft>
                <a:spcPts val="1000"/>
              </a:spcAft>
              <a:buChar char="•"/>
              <a:lnSpc>
                <a:spcPts val="2200"/>
              </a:lnSpc>
            </a:pPr>
            <a:r>
              <a:rPr sz="2000" b="0">
                <a:solidFill>
                  <a:srgbClr val="333333"/>
                </a:solidFill>
                <a:latin typeface="Calibri"/>
              </a:rPr>
              <a:t>Leading to harmful deployment in banking or healthcare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10.19 — Manipulated Performance Reporting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10.19 — hands-on module</a:t>
            </a:r>
          </a:p>
          <a:p>
            <a:pPr>
              <a:spcAft>
                <a:spcPts val="1000"/>
              </a:spcAft>
              <a:buChar char="•"/>
              <a:lnSpc>
                <a:spcPts val="2200"/>
              </a:lnSpc>
            </a:pPr>
            <a:r>
              <a:rPr sz="2000" b="0">
                <a:solidFill>
                  <a:srgbClr val="333333"/>
                </a:solidFill>
                <a:latin typeface="Calibri"/>
              </a:rPr>
              <a:t>Downstream banks discover failure on live portfolios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Over-reliance and quality concerns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Over-reliance treats synthetic corpora as complete substitutes for real-world evidence</a:t>
            </a:r>
          </a:p>
          <a:p>
            <a:pPr>
              <a:spcAft>
                <a:spcPts val="1000"/>
              </a:spcAft>
              <a:buChar char="•"/>
              <a:lnSpc>
                <a:spcPts val="2200"/>
              </a:lnSpc>
            </a:pPr>
            <a:r>
              <a:rPr sz="2000" b="0">
                <a:solidFill>
                  <a:srgbClr val="333333"/>
                </a:solidFill>
                <a:latin typeface="Calibri"/>
              </a:rPr>
              <a:t>Autonomy planners trained mostly on synthetic intersections may fail when pedestrians</a:t>
            </a:r>
          </a:p>
          <a:p>
            <a:pPr>
              <a:spcAft>
                <a:spcPts val="1000"/>
              </a:spcAft>
              <a:buChar char="•"/>
              <a:lnSpc>
                <a:spcPts val="2200"/>
              </a:lnSpc>
            </a:pPr>
            <a:r>
              <a:rPr sz="2000" b="0">
                <a:solidFill>
                  <a:srgbClr val="333333"/>
                </a:solidFill>
                <a:latin typeface="Calibri"/>
              </a:rPr>
              <a:t>Low-quality tabular generators can emit impossible joint values that teach spurious rules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Bias amplification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Generators trained on skewed historical data can emit apparently diverse yet</a:t>
            </a:r>
          </a:p>
          <a:p>
            <a:pPr>
              <a:spcAft>
                <a:spcPts val="1000"/>
              </a:spcAft>
              <a:buChar char="•"/>
              <a:lnSpc>
                <a:spcPts val="2200"/>
              </a:lnSpc>
            </a:pPr>
            <a:r>
              <a:rPr sz="2000" b="0">
                <a:solidFill>
                  <a:srgbClr val="333333"/>
                </a:solidFill>
                <a:latin typeface="Calibri"/>
              </a:rPr>
              <a:t>Amplifying unfair outcomes in high-stakes decisions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10.22 — Bias Amplification in Hiring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10.22 — hands-on module</a:t>
            </a:r>
          </a:p>
          <a:p>
            <a:pPr>
              <a:spcAft>
                <a:spcPts val="1000"/>
              </a:spcAft>
              <a:buChar char="•"/>
              <a:lnSpc>
                <a:spcPts val="2200"/>
              </a:lnSpc>
            </a:pPr>
            <a:r>
              <a:rPr sz="2000" b="0">
                <a:solidFill>
                  <a:srgbClr val="333333"/>
                </a:solidFill>
                <a:latin typeface="Calibri"/>
              </a:rPr>
              <a:t>Example 10.22 illustrates synthetic resumes from historically male-dominated hiring data</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Mitigation: transparency, validation, oversight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Ethics review or automated fairness checks</a:t>
            </a:r>
          </a:p>
          <a:p>
            <a:pPr>
              <a:spcAft>
                <a:spcPts val="1000"/>
              </a:spcAft>
              <a:buChar char="•"/>
              <a:lnSpc>
                <a:spcPts val="2200"/>
              </a:lnSpc>
            </a:pPr>
            <a:r>
              <a:rPr sz="2000" b="0">
                <a:solidFill>
                  <a:srgbClr val="333333"/>
                </a:solidFill>
                <a:latin typeface="Calibri"/>
              </a:rPr>
              <a:t>Provenance and retention policies should support accountability when regulators or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10.23 — Synthetic Data Under GDPR Rights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10.23 — hands-on module</a:t>
            </a:r>
          </a:p>
          <a:p>
            <a:pPr>
              <a:spcAft>
                <a:spcPts val="1000"/>
              </a:spcAft>
              <a:buChar char="•"/>
              <a:lnSpc>
                <a:spcPts val="2200"/>
              </a:lnSpc>
            </a:pPr>
            <a:r>
              <a:rPr sz="2000" b="0">
                <a:solidFill>
                  <a:srgbClr val="333333"/>
                </a:solidFill>
                <a:latin typeface="Calibri"/>
              </a:rPr>
              <a:t>Pushing teams to document provenance and retention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Synthetic data is a privacy tool only when validation shows acceptable re-identification</a:t>
            </a:r>
          </a:p>
          <a:p>
            <a:pPr>
              <a:spcAft>
                <a:spcPts val="1000"/>
              </a:spcAft>
              <a:buChar char="•"/>
              <a:lnSpc>
                <a:spcPts val="2200"/>
              </a:lnSpc>
            </a:pPr>
            <a:r>
              <a:rPr sz="2000" b="0">
                <a:solidFill>
                  <a:srgbClr val="333333"/>
                </a:solidFill>
                <a:latin typeface="Calibri"/>
              </a:rPr>
              <a:t>Misuse, over-reliance</a:t>
            </a:r>
          </a:p>
          <a:p>
            <a:pPr>
              <a:spcAft>
                <a:spcPts val="1000"/>
              </a:spcAft>
              <a:buChar char="•"/>
              <a:lnSpc>
                <a:spcPts val="2200"/>
              </a:lnSpc>
            </a:pPr>
            <a:r>
              <a:rPr sz="2000" b="0">
                <a:solidFill>
                  <a:srgbClr val="333333"/>
                </a:solidFill>
                <a:latin typeface="Calibri"/>
              </a:rPr>
              <a:t>Document generators, validate against real benchmarks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Chapter complete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This chapter positioned statistical sampling, generative adversarial networks</a:t>
            </a:r>
          </a:p>
          <a:p>
            <a:pPr>
              <a:spcAft>
                <a:spcPts val="1000"/>
              </a:spcAft>
              <a:buChar char="•"/>
              <a:lnSpc>
                <a:spcPts val="2200"/>
              </a:lnSpc>
            </a:pPr>
            <a:r>
              <a:rPr sz="2000" b="0">
                <a:solidFill>
                  <a:srgbClr val="333333"/>
                </a:solidFill>
                <a:latin typeface="Calibri"/>
              </a:rPr>
              <a:t>Continue to annotation and corpus-scale storage topics in subsequent chapters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Ethics And Regulation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