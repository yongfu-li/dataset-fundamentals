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deep generative models, teams synthesized data with explicit statistical assumptions. This part introduces distribution modeling, normal-distribution sampling sketches, and Monte Carlo simulation for uncertain outcomes such as asset returns.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distribution-fitting workflows for parametric sampling; explain when Monte Carlo simulation is appropriate; and connect both methods to privacy-preserving and benchmark-oriented synthetic releases.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Statistical synthesis uses mathematical models to simulate data that shares properties with real records while limiting exposure of individual rows. Common tools include distribution fitting, Monte Carlo draws, bootstrapping, and regression—each preserving structure under stated assumptions. The main challenge is matching correlations and trends, not just marginal distributions.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Distribution modeling fits a known law—normal, exponential, Poisson, or others—to observed data, then samples new points from that law. Analysts first characterize the real dataset, estimate parameters such as mean and standard deviation, and draw synthetic values from the same family. This works when the assumed distribution matches the domain.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10.6 sketches sampling from a fitted normal distribution. If real values follow a mean of fifty and standard deviation of ten, synthetic points are drawn from a normal with the same parameters. The example 6 module for this chapter runs this sketch in Python and compares sample moments to the targets.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Monte Carlo methods repeat random sampling and simulation when the underlying process is complex or the distribution is unknown. Many draws are averaged or aggregated to estimate outcomes under uncertainty. Finance, engineering, and risk analysis use this approach to stress portfolios, systems, and scenarios that closed-form models cannot capture cleanly.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10.7 applies Monte Carlo simulation to financial returns. Synthetic return paths incorporate risk factors and market conditions, letting analysts explore outcome distributions without relying on a single historical trace. The example 7 module for this chapter demonstrates randomized draw-based simulation for asset returns.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releases—such as device-model sweeps—are synthetic by construction: every point comes from a specified simulator and parameter grid. Quality assurance then documents settings and reproducibility rather than detecting missing field packets after collection. That differs from privacy-motivated tabular synthesis but still produces shareable reference distributions.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Parametric sampling copies moments from fitted laws; Monte Carlo handles complex uncertainty through repeated simulation. Both require explicit assumptions and validation against real benchmarks. Univariate methods ignore variable relationships, which the next part addresses through correlation modeling, bootstrapping, and regression.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joint distributions that preserve dependencies between variables, bootstrapping from small real samples, and regression-based projection for structured synthetic rows.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10 — Statistical distributions and simulation</a:t>
            </a:r>
          </a:p>
          <a:p>
            <a:pPr algn="ctr">
              <a:lnSpc>
                <a:spcPts val="2200"/>
              </a:lnSpc>
              <a:spcBef>
                <a:spcPts val="1400"/>
              </a:spcBef>
            </a:pPr>
            <a:r>
              <a:rPr sz="2600" b="0">
                <a:solidFill>
                  <a:srgbClr val="333333"/>
                </a:solidFill>
                <a:latin typeface="Calibri"/>
              </a:rPr>
              <a:t>Before deep generative models, teams synthesized data with explicit statistical assumptions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Statistical Distributions And Simulation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Statistical Distributions And Simulation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Statistical methods overview</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Statistical synthesis uses mathematical models to simulate data that shares properties</a:t>
            </a:r>
          </a:p>
          <a:p>
            <a:pPr>
              <a:spcAft>
                <a:spcPts val="1000"/>
              </a:spcAft>
              <a:buChar char="•"/>
              <a:lnSpc>
                <a:spcPts val="2200"/>
              </a:lnSpc>
            </a:pPr>
            <a:r>
              <a:rPr sz="2000" b="0">
                <a:solidFill>
                  <a:srgbClr val="333333"/>
                </a:solidFill>
                <a:latin typeface="Calibri"/>
              </a:rPr>
              <a:t>Common tools include distribution fitting, Monte Carlo draws, bootstrapping</a:t>
            </a:r>
          </a:p>
          <a:p>
            <a:pPr>
              <a:spcAft>
                <a:spcPts val="1000"/>
              </a:spcAft>
              <a:buChar char="•"/>
              <a:lnSpc>
                <a:spcPts val="2200"/>
              </a:lnSpc>
            </a:pPr>
            <a:r>
              <a:rPr sz="2000" b="0">
                <a:solidFill>
                  <a:srgbClr val="333333"/>
                </a:solidFill>
                <a:latin typeface="Calibri"/>
              </a:rPr>
              <a:t>The main challenge is matching correlations and trends, not just marginal distributions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Statistical Distributions And Simulation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 distribution modeling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Distribution modeling fits a known law</a:t>
            </a:r>
          </a:p>
          <a:p>
            <a:pPr>
              <a:spcAft>
                <a:spcPts val="1000"/>
              </a:spcAft>
              <a:buChar char="•"/>
              <a:lnSpc>
                <a:spcPts val="2200"/>
              </a:lnSpc>
            </a:pPr>
            <a:r>
              <a:rPr sz="2000" b="0">
                <a:solidFill>
                  <a:srgbClr val="333333"/>
                </a:solidFill>
                <a:latin typeface="Calibri"/>
              </a:rPr>
              <a:t>Draw synthetic values from the same family</a:t>
            </a:r>
          </a:p>
          <a:p>
            <a:pPr>
              <a:spcAft>
                <a:spcPts val="1000"/>
              </a:spcAft>
              <a:buChar char="•"/>
              <a:lnSpc>
                <a:spcPts val="2200"/>
              </a:lnSpc>
            </a:pPr>
            <a:r>
              <a:rPr sz="2000" b="0">
                <a:solidFill>
                  <a:srgbClr val="333333"/>
                </a:solidFill>
                <a:latin typeface="Calibri"/>
              </a:rPr>
              <a:t>This works when the assumed distribution matches the domain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Statistical Distributions And Simulation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10.6 — Normal-Distribution Sampling Sketch</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10.6 — hands-on module</a:t>
            </a:r>
          </a:p>
          <a:p>
            <a:pPr>
              <a:spcAft>
                <a:spcPts val="1000"/>
              </a:spcAft>
              <a:buChar char="•"/>
              <a:lnSpc>
                <a:spcPts val="2200"/>
              </a:lnSpc>
            </a:pPr>
            <a:r>
              <a:rPr sz="2000" b="0">
                <a:solidFill>
                  <a:srgbClr val="333333"/>
                </a:solidFill>
                <a:latin typeface="Calibri"/>
              </a:rPr>
              <a:t>Example 10.6 sketches sampling from a fitted normal distribution</a:t>
            </a:r>
          </a:p>
          <a:p>
            <a:pPr>
              <a:spcAft>
                <a:spcPts val="1000"/>
              </a:spcAft>
              <a:buChar char="•"/>
              <a:lnSpc>
                <a:spcPts val="2200"/>
              </a:lnSpc>
            </a:pPr>
            <a:r>
              <a:rPr sz="2000" b="0">
                <a:solidFill>
                  <a:srgbClr val="333333"/>
                </a:solidFill>
                <a:latin typeface="Calibri"/>
              </a:rPr>
              <a:t>If real values follow a mean of fifty and standard deviation of ten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`modules/chapter10/example6/`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Statistical Distributions And Simulation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10.6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10.6 — sample synthetic points from a fitted normal</a:t>
            </a:r>
          </a:p>
          <a:p>
            <a:pPr>
              <a:lnSpc>
                <a:spcPts val="2200"/>
              </a:lnSpc>
              <a:spcAft>
                <a:spcPts val="400"/>
              </a:spcAft>
            </a:pPr>
            <a:r>
              <a:rPr sz="2000" b="0">
                <a:solidFill>
                  <a:srgbClr val="333333"/>
                </a:solidFill>
                <a:latin typeface="Consolas"/>
              </a:rPr>
              <a:t>distribution."""</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random</a:t>
            </a:r>
          </a:p>
          <a:p>
            <a:pPr>
              <a:lnSpc>
                <a:spcPts val="2200"/>
              </a:lnSpc>
              <a:spcAft>
                <a:spcPts val="400"/>
              </a:spcAft>
            </a:pPr>
            <a:r>
              <a:rPr sz="2000" b="0">
                <a:solidFill>
                  <a:srgbClr val="333333"/>
                </a:solidFill>
                <a:latin typeface="Consolas"/>
              </a:rPr>
              <a:t>from statistics import fmean, pstdev</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"""Draw samples from N(50, 10^2) and compare sample moments to the</a:t>
            </a:r>
          </a:p>
          <a:p>
            <a:pPr>
              <a:lnSpc>
                <a:spcPts val="2200"/>
              </a:lnSpc>
              <a:spcAft>
                <a:spcPts val="400"/>
              </a:spcAft>
            </a:pPr>
            <a:r>
              <a:rPr sz="2000" b="0">
                <a:solidFill>
                  <a:srgbClr val="333333"/>
                </a:solidFill>
                <a:latin typeface="Consolas"/>
              </a:rPr>
              <a:t>target."""</a:t>
            </a:r>
          </a:p>
          <a:p>
            <a:pPr>
              <a:lnSpc>
                <a:spcPts val="2200"/>
              </a:lnSpc>
              <a:spcAft>
                <a:spcPts val="400"/>
              </a:spcAft>
            </a:pPr>
            <a:r>
              <a:rPr sz="2000" b="0">
                <a:solidFill>
                  <a:srgbClr val="333333"/>
                </a:solidFill>
                <a:latin typeface="Consolas"/>
              </a:rPr>
              <a:t>    random.seed(10)</a:t>
            </a:r>
          </a:p>
          <a:p>
            <a:pPr>
              <a:lnSpc>
                <a:spcPts val="2200"/>
              </a:lnSpc>
              <a:spcAft>
                <a:spcPts val="400"/>
              </a:spcAft>
            </a:pPr>
            <a:r>
              <a:rPr sz="2000" b="0">
                <a:solidFill>
                  <a:srgbClr val="333333"/>
                </a:solidFill>
                <a:latin typeface="Consolas"/>
              </a:rPr>
              <a:t>    mean, sd, n = 50.0, 10.0, 1000</a:t>
            </a:r>
          </a:p>
          <a:p>
            <a:pPr>
              <a:lnSpc>
                <a:spcPts val="2200"/>
              </a:lnSpc>
              <a:spcAft>
                <a:spcPts val="400"/>
              </a:spcAft>
            </a:pPr>
            <a:r>
              <a:rPr sz="2000" b="0">
                <a:solidFill>
                  <a:srgbClr val="333333"/>
                </a:solidFill>
                <a:latin typeface="Consolas"/>
              </a:rPr>
              <a:t>    samples = [random.gauss(mean, sd) for _ in range(n)]</a:t>
            </a:r>
          </a:p>
          <a:p>
            <a:pPr>
              <a:lnSpc>
                <a:spcPts val="2200"/>
              </a:lnSpc>
              <a:spcAft>
                <a:spcPts val="400"/>
              </a:spcAft>
            </a:pPr>
            <a:r>
              <a:rPr sz="2000" b="0">
                <a:solidFill>
                  <a:srgbClr val="333333"/>
                </a:solidFill>
                <a:latin typeface="Consolas"/>
              </a:rPr>
              <a:t>    print(f"Target distribution: N(mean={mean}, sd={sd})")</a:t>
            </a:r>
          </a:p>
          <a:p>
            <a:pPr>
              <a:lnSpc>
                <a:spcPts val="2200"/>
              </a:lnSpc>
              <a:spcAft>
                <a:spcPts val="400"/>
              </a:spcAft>
            </a:pPr>
            <a:r>
              <a:rPr sz="2000" b="0">
                <a:solidFill>
                  <a:srgbClr val="333333"/>
                </a:solidFill>
                <a:latin typeface="Consolas"/>
              </a:rPr>
              <a:t>    print(f"Sample size: {n}")</a:t>
            </a:r>
          </a:p>
          <a:p>
            <a:pPr>
              <a:lnSpc>
                <a:spcPts val="2200"/>
              </a:lnSpc>
              <a:spcAft>
                <a:spcPts val="400"/>
              </a:spcAft>
            </a:pPr>
            <a:r>
              <a:rPr sz="2000" b="0">
                <a:solidFill>
                  <a:srgbClr val="333333"/>
                </a:solidFill>
                <a:latin typeface="Consolas"/>
              </a:rPr>
              <a:t>    print(f"Sample mean: {fmean(samples):.2f}")</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Statistical Distributions And Simulation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Monte Carlo simulation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Monte Carlo methods repeat random sampling and simulation when the underlying process is</a:t>
            </a:r>
          </a:p>
          <a:p>
            <a:pPr>
              <a:spcAft>
                <a:spcPts val="1000"/>
              </a:spcAft>
              <a:buChar char="•"/>
              <a:lnSpc>
                <a:spcPts val="2200"/>
              </a:lnSpc>
            </a:pPr>
            <a:r>
              <a:rPr sz="2000" b="0">
                <a:solidFill>
                  <a:srgbClr val="333333"/>
                </a:solidFill>
                <a:latin typeface="Calibri"/>
              </a:rPr>
              <a:t>Many draws are averaged or aggregated to estimate outcomes under uncertainty</a:t>
            </a:r>
          </a:p>
          <a:p>
            <a:pPr>
              <a:spcAft>
                <a:spcPts val="1000"/>
              </a:spcAft>
              <a:buChar char="•"/>
              <a:lnSpc>
                <a:spcPts val="2200"/>
              </a:lnSpc>
            </a:pPr>
            <a:r>
              <a:rPr sz="2000" b="0">
                <a:solidFill>
                  <a:srgbClr val="333333"/>
                </a:solidFill>
                <a:latin typeface="Calibri"/>
              </a:rPr>
              <a:t>Finance, engineering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Statistical Distributions And Simulation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10.7 — Monte Carlo Asset-Return Simulation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10.7 — hands-on module</a:t>
            </a:r>
          </a:p>
          <a:p>
            <a:pPr>
              <a:spcAft>
                <a:spcPts val="1000"/>
              </a:spcAft>
              <a:buChar char="•"/>
              <a:lnSpc>
                <a:spcPts val="2200"/>
              </a:lnSpc>
            </a:pPr>
            <a:r>
              <a:rPr sz="2000" b="0">
                <a:solidFill>
                  <a:srgbClr val="333333"/>
                </a:solidFill>
                <a:latin typeface="Calibri"/>
              </a:rPr>
              <a:t>Example 10.7 applies Monte Carlo simulation to financial returns</a:t>
            </a:r>
          </a:p>
          <a:p>
            <a:pPr>
              <a:spcAft>
                <a:spcPts val="1000"/>
              </a:spcAft>
              <a:buChar char="•"/>
              <a:lnSpc>
                <a:spcPts val="2200"/>
              </a:lnSpc>
            </a:pPr>
            <a:r>
              <a:rPr sz="2000" b="0">
                <a:solidFill>
                  <a:srgbClr val="333333"/>
                </a:solidFill>
                <a:latin typeface="Calibri"/>
              </a:rPr>
              <a:t>Synthetic return paths incorporate risk factors and market conditions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`modules/chapter10/example7/`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Statistical Distributions And Simulation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10.7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10.7 — Monte Carlo simulation of asset returns under</a:t>
            </a:r>
          </a:p>
          <a:p>
            <a:pPr>
              <a:lnSpc>
                <a:spcPts val="2200"/>
              </a:lnSpc>
              <a:spcAft>
                <a:spcPts val="400"/>
              </a:spcAft>
            </a:pPr>
            <a:r>
              <a:rPr sz="2000" b="0">
                <a:solidFill>
                  <a:srgbClr val="333333"/>
                </a:solidFill>
                <a:latin typeface="Consolas"/>
              </a:rPr>
              <a:t>uncertainty."""</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random</a:t>
            </a:r>
          </a:p>
          <a:p>
            <a:pPr>
              <a:lnSpc>
                <a:spcPts val="2200"/>
              </a:lnSpc>
              <a:spcAft>
                <a:spcPts val="400"/>
              </a:spcAft>
            </a:pPr>
            <a:r>
              <a:rPr sz="2000" b="0">
                <a:solidFill>
                  <a:srgbClr val="333333"/>
                </a:solidFill>
                <a:latin typeface="Consolas"/>
              </a:rPr>
              <a:t>from statistics import fmean, pstdev</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"""Simulate many one-period returns and summarize the resulting</a:t>
            </a:r>
          </a:p>
          <a:p>
            <a:pPr>
              <a:lnSpc>
                <a:spcPts val="2200"/>
              </a:lnSpc>
              <a:spcAft>
                <a:spcPts val="400"/>
              </a:spcAft>
            </a:pPr>
            <a:r>
              <a:rPr sz="2000" b="0">
                <a:solidFill>
                  <a:srgbClr val="333333"/>
                </a:solidFill>
                <a:latin typeface="Consolas"/>
              </a:rPr>
              <a:t>distribution."""</a:t>
            </a:r>
          </a:p>
          <a:p>
            <a:pPr>
              <a:lnSpc>
                <a:spcPts val="2200"/>
              </a:lnSpc>
              <a:spcAft>
                <a:spcPts val="400"/>
              </a:spcAft>
            </a:pPr>
            <a:r>
              <a:rPr sz="2000" b="0">
                <a:solidFill>
                  <a:srgbClr val="333333"/>
                </a:solidFill>
                <a:latin typeface="Consolas"/>
              </a:rPr>
              <a:t>    random.seed(10)</a:t>
            </a:r>
          </a:p>
          <a:p>
            <a:pPr>
              <a:lnSpc>
                <a:spcPts val="2200"/>
              </a:lnSpc>
              <a:spcAft>
                <a:spcPts val="400"/>
              </a:spcAft>
            </a:pPr>
            <a:r>
              <a:rPr sz="2000" b="0">
                <a:solidFill>
                  <a:srgbClr val="333333"/>
                </a:solidFill>
                <a:latin typeface="Consolas"/>
              </a:rPr>
              <a:t>    # Annualized mean return and volatility (illustrative).</a:t>
            </a:r>
          </a:p>
          <a:p>
            <a:pPr>
              <a:lnSpc>
                <a:spcPts val="2200"/>
              </a:lnSpc>
              <a:spcAft>
                <a:spcPts val="400"/>
              </a:spcAft>
            </a:pPr>
            <a:r>
              <a:rPr sz="2000" b="0">
                <a:solidFill>
                  <a:srgbClr val="333333"/>
                </a:solidFill>
                <a:latin typeface="Consolas"/>
              </a:rPr>
              <a:t>    mu, sigma = 0.08, 0.20</a:t>
            </a:r>
          </a:p>
          <a:p>
            <a:pPr>
              <a:lnSpc>
                <a:spcPts val="2200"/>
              </a:lnSpc>
              <a:spcAft>
                <a:spcPts val="400"/>
              </a:spcAft>
            </a:pPr>
            <a:r>
              <a:rPr sz="2000" b="0">
                <a:solidFill>
                  <a:srgbClr val="333333"/>
                </a:solidFill>
                <a:latin typeface="Consolas"/>
              </a:rPr>
              <a:t>    n_paths = 5_000</a:t>
            </a:r>
          </a:p>
          <a:p>
            <a:pPr>
              <a:lnSpc>
                <a:spcPts val="2200"/>
              </a:lnSpc>
              <a:spcAft>
                <a:spcPts val="400"/>
              </a:spcAft>
            </a:pPr>
            <a:r>
              <a:rPr sz="2000" b="0">
                <a:solidFill>
                  <a:srgbClr val="333333"/>
                </a:solidFill>
                <a:latin typeface="Consolas"/>
              </a:rPr>
              <a:t>    returns = [random.gauss(mu, sigma) for _ in range(n_paths)]</a:t>
            </a:r>
          </a:p>
          <a:p>
            <a:pPr>
              <a:lnSpc>
                <a:spcPts val="2200"/>
              </a:lnSpc>
              <a:spcAft>
                <a:spcPts val="400"/>
              </a:spcAft>
            </a:pPr>
            <a:r>
              <a:rPr sz="2000" b="0">
                <a:solidFill>
                  <a:srgbClr val="333333"/>
                </a:solidFill>
                <a:latin typeface="Consolas"/>
              </a:rPr>
              <a:t>    print(f"Assumed return model: N(mu={mu:.0%}, sigma={sigma:.0%})")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Statistical Distributions And Simulation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Controlled simulation benchmarks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Some releases, such as device-model sweeps, are synthetic by construction</a:t>
            </a:r>
          </a:p>
          <a:p>
            <a:pPr>
              <a:spcAft>
                <a:spcPts val="1000"/>
              </a:spcAft>
              <a:buChar char="•"/>
              <a:lnSpc>
                <a:spcPts val="2200"/>
              </a:lnSpc>
            </a:pPr>
            <a:r>
              <a:rPr sz="2000" b="0">
                <a:solidFill>
                  <a:srgbClr val="333333"/>
                </a:solidFill>
                <a:latin typeface="Calibri"/>
              </a:rPr>
              <a:t>Quality assurance then documents settings and reproducibility rather than detecting</a:t>
            </a:r>
          </a:p>
          <a:p>
            <a:pPr>
              <a:spcAft>
                <a:spcPts val="1000"/>
              </a:spcAft>
              <a:buChar char="•"/>
              <a:lnSpc>
                <a:spcPts val="2200"/>
              </a:lnSpc>
            </a:pPr>
            <a:r>
              <a:rPr sz="2000" b="0">
                <a:solidFill>
                  <a:srgbClr val="333333"/>
                </a:solidFill>
                <a:latin typeface="Calibri"/>
              </a:rPr>
              <a:t>That differs from privacy-motivated tabular synthesis but still produces shareable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Statistical Distributions And Simulation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Parametric sampling copies moments from fitted laws</a:t>
            </a:r>
          </a:p>
          <a:p>
            <a:pPr>
              <a:spcAft>
                <a:spcPts val="1000"/>
              </a:spcAft>
              <a:buChar char="•"/>
              <a:lnSpc>
                <a:spcPts val="2200"/>
              </a:lnSpc>
            </a:pPr>
            <a:r>
              <a:rPr sz="2000" b="0">
                <a:solidFill>
                  <a:srgbClr val="333333"/>
                </a:solidFill>
                <a:latin typeface="Calibri"/>
              </a:rPr>
              <a:t>Both require explicit assumptions and validation against real benchmarks</a:t>
            </a:r>
          </a:p>
          <a:p>
            <a:pPr>
              <a:spcAft>
                <a:spcPts val="1000"/>
              </a:spcAft>
              <a:buChar char="•"/>
              <a:lnSpc>
                <a:spcPts val="2200"/>
              </a:lnSpc>
            </a:pPr>
            <a:r>
              <a:rPr sz="2000" b="0">
                <a:solidFill>
                  <a:srgbClr val="333333"/>
                </a:solidFill>
                <a:latin typeface="Calibri"/>
              </a:rPr>
              <a:t>Univariate methods ignore variable relationships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Statistical Distributions And Simulation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Regression-based projection for structured synthetic rows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Statistical Distributions And Simulation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