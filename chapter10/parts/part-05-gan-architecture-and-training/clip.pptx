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Statistical methods assume known forms; generative adversarial networks learn complex structure from data. This part explains generator and discriminator roles, adversarial training, loss functions, and convergence challenges that affect synthetic realism.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the generator–discriminator minimax setup; outline alternating training updates for each network; explain binary cross-entropy loss roles; and name mode collapse and training instability as primary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generative adversarial network pairs two neural networks trained simultaneously in a game-theoretic framework. The generator creates synthetic samples from random noise; the discriminator classifies inputs as real or fake. Competition drives the generator toward outputs that are hard to distinguish from real data across images, text, audio, and other modalities.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generator maps latent noise to synthetic data points—faces, waveforms, or tabular feature vectors. Its objective is to produce samples that appear authentic to humans or downstream classifiers. Early training yields poor fakes; later iterations refine texture, structure, and label-consistent patterns as discriminator feedback improves.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discriminator acts as a binary classifier scoring whether each input is real or synthetic. It trains on batches of real records and generator outputs, providing the learning signal that pushes the generator toward realism. If the discriminator becomes too strong or too weak relative to the generator, training can stall or diverge.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alternates discriminator and generator updates. First the discriminator learns to separate real and fake batches. Then the generator updates to fool the discriminator. This minimax game continues until fakes are sufficiently realistic—though perfect equilibrium is rare in practice, and careful balance of learning rates and capacity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choice is binary cross-entropy loss. The discriminator minimizes classification error on real versus fake labels. The generator minimizes the discriminator’s ability to reject fakes—effectively maximizing the probability assigned to synthetic samples as real. Loss design directly affects stability and sample quality.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 training is notoriously unstable. Mode collapse occurs when the generator repeats a narrow set of outputs instead of exploring the full data distribution. Vanishing gradients, imbalanced network capacity, and diverging losses can prevent convergence. Teams monitor samples, losses, and diversity metrics throughout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networks learn synthesis through adversarial feedback rather than explicit distributional assumptions. Success depends on balanced generator–discriminator training and appropriate loss functions. Architectural variants, evaluation metrics, and ethical risks are covered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conditional generative adversarial networks, CycleGANs, and StyleGANs, then discusses realism metrics, prominent use cases, and ethical risks such as deepfakes and malicious misuse.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GAN architecture and training</a:t>
            </a:r>
          </a:p>
          <a:p>
            <a:pPr algn="ctr">
              <a:lnSpc>
                <a:spcPts val="2200"/>
              </a:lnSpc>
              <a:spcBef>
                <a:spcPts val="1400"/>
              </a:spcBef>
            </a:pPr>
            <a:r>
              <a:rPr sz="2600" b="0">
                <a:solidFill>
                  <a:srgbClr val="333333"/>
                </a:solidFill>
                <a:latin typeface="Calibri"/>
              </a:rPr>
              <a:t>Statistical methods assume known forms; generative adversarial networks learn complex structure from data</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Generative adversarial network overview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generative adversarial network pairs two neural networks trained simultaneously in a</a:t>
            </a:r>
          </a:p>
          <a:p>
            <a:pPr>
              <a:spcAft>
                <a:spcPts val="1000"/>
              </a:spcAft>
              <a:buChar char="•"/>
              <a:lnSpc>
                <a:spcPts val="2200"/>
              </a:lnSpc>
            </a:pPr>
            <a:r>
              <a:rPr sz="2000" b="0">
                <a:solidFill>
                  <a:srgbClr val="333333"/>
                </a:solidFill>
                <a:latin typeface="Calibri"/>
              </a:rPr>
              <a:t>The generator creates synthetic samples from random noise</a:t>
            </a:r>
          </a:p>
          <a:p>
            <a:pPr>
              <a:spcAft>
                <a:spcPts val="1000"/>
              </a:spcAft>
              <a:buChar char="•"/>
              <a:lnSpc>
                <a:spcPts val="2200"/>
              </a:lnSpc>
            </a:pPr>
            <a:r>
              <a:rPr sz="2000" b="0">
                <a:solidFill>
                  <a:srgbClr val="333333"/>
                </a:solidFill>
                <a:latin typeface="Calibri"/>
              </a:rPr>
              <a:t>Other modalities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generator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generator maps latent noise to synthetic data points</a:t>
            </a:r>
          </a:p>
          <a:p>
            <a:pPr>
              <a:spcAft>
                <a:spcPts val="1000"/>
              </a:spcAft>
              <a:buChar char="•"/>
              <a:lnSpc>
                <a:spcPts val="2200"/>
              </a:lnSpc>
            </a:pPr>
            <a:r>
              <a:rPr sz="2000" b="0">
                <a:solidFill>
                  <a:srgbClr val="333333"/>
                </a:solidFill>
                <a:latin typeface="Calibri"/>
              </a:rPr>
              <a:t>Its objective is to produce samples that appear authentic to humans or downstream</a:t>
            </a:r>
          </a:p>
          <a:p>
            <a:pPr>
              <a:spcAft>
                <a:spcPts val="1000"/>
              </a:spcAft>
              <a:buChar char="•"/>
              <a:lnSpc>
                <a:spcPts val="2200"/>
              </a:lnSpc>
            </a:pPr>
            <a:r>
              <a:rPr sz="2000" b="0">
                <a:solidFill>
                  <a:srgbClr val="333333"/>
                </a:solidFill>
                <a:latin typeface="Calibri"/>
              </a:rPr>
              <a:t>Early training yields poor fakes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discriminator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discriminator acts as a binary classifier scoring whether each input is real or</a:t>
            </a:r>
          </a:p>
          <a:p>
            <a:pPr>
              <a:spcAft>
                <a:spcPts val="1000"/>
              </a:spcAft>
              <a:buChar char="•"/>
              <a:lnSpc>
                <a:spcPts val="2200"/>
              </a:lnSpc>
            </a:pPr>
            <a:r>
              <a:rPr sz="2000" b="0">
                <a:solidFill>
                  <a:srgbClr val="333333"/>
                </a:solidFill>
                <a:latin typeface="Calibri"/>
              </a:rPr>
              <a:t>It trains on batches of real records and generator outputs</a:t>
            </a:r>
          </a:p>
          <a:p>
            <a:pPr>
              <a:spcAft>
                <a:spcPts val="1000"/>
              </a:spcAft>
              <a:buChar char="•"/>
              <a:lnSpc>
                <a:spcPts val="2200"/>
              </a:lnSpc>
            </a:pPr>
            <a:r>
              <a:rPr sz="2000" b="0">
                <a:solidFill>
                  <a:srgbClr val="333333"/>
                </a:solidFill>
                <a:latin typeface="Calibri"/>
              </a:rPr>
              <a:t>If the discriminator becomes too strong or too weak relative to the generator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Adversarial minimax training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Training alternates discriminator and generator updates</a:t>
            </a:r>
          </a:p>
          <a:p>
            <a:pPr>
              <a:spcAft>
                <a:spcPts val="1000"/>
              </a:spcAft>
              <a:buChar char="•"/>
              <a:lnSpc>
                <a:spcPts val="2200"/>
              </a:lnSpc>
            </a:pPr>
            <a:r>
              <a:rPr sz="2000" b="0">
                <a:solidFill>
                  <a:srgbClr val="333333"/>
                </a:solidFill>
                <a:latin typeface="Calibri"/>
              </a:rPr>
              <a:t>First the discriminator learns to separate real and fake batches</a:t>
            </a:r>
          </a:p>
          <a:p>
            <a:pPr>
              <a:spcAft>
                <a:spcPts val="1000"/>
              </a:spcAft>
              <a:buChar char="•"/>
              <a:lnSpc>
                <a:spcPts val="2200"/>
              </a:lnSpc>
            </a:pPr>
            <a:r>
              <a:rPr sz="2000" b="0">
                <a:solidFill>
                  <a:srgbClr val="333333"/>
                </a:solidFill>
                <a:latin typeface="Calibri"/>
              </a:rPr>
              <a:t>Then the generator updates to fool the discriminator</a:t>
            </a:r>
          </a:p>
          <a:p>
            <a:pPr>
              <a:spcAft>
                <a:spcPts val="1000"/>
              </a:spcAft>
              <a:buChar char="•"/>
              <a:lnSpc>
                <a:spcPts val="2200"/>
              </a:lnSpc>
            </a:pPr>
            <a:r>
              <a:rPr sz="2000" b="0">
                <a:solidFill>
                  <a:srgbClr val="333333"/>
                </a:solidFill>
                <a:latin typeface="Calibri"/>
              </a:rPr>
              <a:t>Careful balance of learning rates and capacity is required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Loss functions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common choice is binary cross-entropy loss</a:t>
            </a:r>
          </a:p>
          <a:p>
            <a:pPr>
              <a:spcAft>
                <a:spcPts val="1000"/>
              </a:spcAft>
              <a:buChar char="•"/>
              <a:lnSpc>
                <a:spcPts val="2200"/>
              </a:lnSpc>
            </a:pPr>
            <a:r>
              <a:rPr sz="2000" b="0">
                <a:solidFill>
                  <a:srgbClr val="333333"/>
                </a:solidFill>
                <a:latin typeface="Calibri"/>
              </a:rPr>
              <a:t>The discriminator minimizes classification error on real versus fake labels</a:t>
            </a:r>
          </a:p>
          <a:p>
            <a:pPr>
              <a:spcAft>
                <a:spcPts val="1000"/>
              </a:spcAft>
              <a:buChar char="•"/>
              <a:lnSpc>
                <a:spcPts val="2200"/>
              </a:lnSpc>
            </a:pPr>
            <a:r>
              <a:rPr sz="2000" b="0">
                <a:solidFill>
                  <a:srgbClr val="333333"/>
                </a:solidFill>
                <a:latin typeface="Calibri"/>
              </a:rPr>
              <a:t>The generator minimizes the discriminator’s ability to reject fakes</a:t>
            </a:r>
          </a:p>
          <a:p>
            <a:pPr>
              <a:spcAft>
                <a:spcPts val="1000"/>
              </a:spcAft>
              <a:buChar char="•"/>
              <a:lnSpc>
                <a:spcPts val="2200"/>
              </a:lnSpc>
            </a:pPr>
            <a:r>
              <a:rPr sz="2000" b="0">
                <a:solidFill>
                  <a:srgbClr val="333333"/>
                </a:solidFill>
                <a:latin typeface="Calibri"/>
              </a:rPr>
              <a:t>Loss design directly affects stability and sample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Convergence challenges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Generative adversarial network training is notoriously unstable</a:t>
            </a:r>
          </a:p>
          <a:p>
            <a:pPr>
              <a:spcAft>
                <a:spcPts val="1000"/>
              </a:spcAft>
              <a:buChar char="•"/>
              <a:lnSpc>
                <a:spcPts val="2200"/>
              </a:lnSpc>
            </a:pPr>
            <a:r>
              <a:rPr sz="2000" b="0">
                <a:solidFill>
                  <a:srgbClr val="333333"/>
                </a:solidFill>
                <a:latin typeface="Calibri"/>
              </a:rPr>
              <a:t>Mode collapse occurs when the generator repeats a narrow set of outputs instead of</a:t>
            </a:r>
          </a:p>
          <a:p>
            <a:pPr>
              <a:spcAft>
                <a:spcPts val="1000"/>
              </a:spcAft>
              <a:buChar char="•"/>
              <a:lnSpc>
                <a:spcPts val="2200"/>
              </a:lnSpc>
            </a:pPr>
            <a:r>
              <a:rPr sz="2000" b="0">
                <a:solidFill>
                  <a:srgbClr val="333333"/>
                </a:solidFill>
                <a:latin typeface="Calibri"/>
              </a:rPr>
              <a:t>Vanishing gradients, imbalanced network capacity</a:t>
            </a:r>
          </a:p>
          <a:p>
            <a:pPr>
              <a:spcAft>
                <a:spcPts val="1000"/>
              </a:spcAft>
              <a:buChar char="•"/>
              <a:lnSpc>
                <a:spcPts val="2200"/>
              </a:lnSpc>
            </a:pPr>
            <a:r>
              <a:rPr sz="2000" b="0">
                <a:solidFill>
                  <a:srgbClr val="333333"/>
                </a:solidFill>
                <a:latin typeface="Calibri"/>
              </a:rPr>
              <a:t>Teams monitor samples, losses, and diversity metrics throughout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Generative adversarial networks learn synthesis through adversarial feedback rather than</a:t>
            </a:r>
          </a:p>
          <a:p>
            <a:pPr>
              <a:spcAft>
                <a:spcPts val="1000"/>
              </a:spcAft>
              <a:buChar char="•"/>
              <a:lnSpc>
                <a:spcPts val="2200"/>
              </a:lnSpc>
            </a:pPr>
            <a:r>
              <a:rPr sz="2000" b="0">
                <a:solidFill>
                  <a:srgbClr val="333333"/>
                </a:solidFill>
                <a:latin typeface="Calibri"/>
              </a:rPr>
              <a:t>Success depends on balanced generator–discriminator training and appropriate loss</a:t>
            </a:r>
          </a:p>
          <a:p>
            <a:pPr>
              <a:spcAft>
                <a:spcPts val="1000"/>
              </a:spcAft>
              <a:buChar char="•"/>
              <a:lnSpc>
                <a:spcPts val="2200"/>
              </a:lnSpc>
            </a:pPr>
            <a:r>
              <a:rPr sz="2000" b="0">
                <a:solidFill>
                  <a:srgbClr val="333333"/>
                </a:solidFill>
                <a:latin typeface="Calibri"/>
              </a:rPr>
              <a:t>Architectural variants, evaluation metrics, and ethical risks are covered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surveys conditional generative adversarial networks, CycleGANs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Gan Architecture And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