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and tabular rows are not the only synthesis targets. This part explains how large language models generate synthetic text, labels, and structured records through prompting, and why hallucination, memorization, and bias require the same validation gates as generative adversarial outputs.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prompt-based text and label synthesis workflows; explain differences from adversarial image generators; and list hallucination, memorization, and bias risks that demand screening and audit before training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offer a practical route for synthetic text, labels, and structured rows. Unlike generative adversarial networks trained through a discriminator game, language-model synthesis typically conditions a pretrained model on prompts, schema instructions, or seed examples and asks it to emit new content. This supports low-resource natural language processing, instruction tuning, and rapid dataset prototyping.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paraphrase existing sentences, expand class-balanced corpora, or draft customer-support transcripts with controlled attributes such as product, sentiment, and urgency. The same pattern appears in programmatic weak supervision: a model proposes candidate labels that humans or heuristics later audit. Cheap generation is attractive when real text is scarce, sensitive, or expensive to annotate.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can invent facts, entities, or label rationales that look plausible yet are wrong. For regulated or clinical text, hallucinated content can poison training data and mislead downstream systems. Synthetic corpora therefore need factual and schema checks—not only fluency review—before they enter model training or human-subjects research.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Pretrained models may reproduce memorized training snippets, including personally identifiable information. Synthetic text is not automatically privacy-safe. Releases must be screened for identifiers and linkage risk, especially when prompts echo rare real records. Privacy engineering controls from earlier chapters still apply.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inherit social and demographic biases present in pretraining corpora. Synthetic labels or dialogues can over-represent dominant viewpoints or stereotyped roles, amplifying unfair outcomes in hiring, moderation, or healthcare applications. Fairness audits should cover both source seeds and generated cohorts.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Language-model synthesis must pass the same validation and ethics gates as statistical or generative-adversarial outputs: compare distributions to real benchmarks, document prompts and model versions, audit for sensitive content, and retain human oversight for high-stakes labels. Annotation quality practices from earlier chapters extend directly to synthetic text pipelines.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enable fast text and label synthesis through prompting rather than adversarial training. Low cost does not imply low risk—hallucination, memorization, and bias demand explicit screening. Domain use cases in healthcare, finance, autonomy, and security are explored in the next parts.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walks privacy-preserving medical records, rare-disease simulation, and synthetic fraud patterns for financial model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LLMs for synthetic text and labels</a:t>
            </a:r>
          </a:p>
          <a:p>
            <a:pPr algn="ctr">
              <a:lnSpc>
                <a:spcPts val="2200"/>
              </a:lnSpc>
              <a:spcBef>
                <a:spcPts val="1400"/>
              </a:spcBef>
            </a:pPr>
            <a:r>
              <a:rPr sz="2600" b="0">
                <a:solidFill>
                  <a:srgbClr val="333333"/>
                </a:solidFill>
                <a:latin typeface="Calibri"/>
              </a:rPr>
              <a:t>Images and tabular rows are not the only synthesis targets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risks that demand screening and audit before training use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Large language models as synthesizers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language models offer a practical route for synthetic text, labels</a:t>
            </a:r>
          </a:p>
          <a:p>
            <a:pPr lvl="0" marL="457200" indent="-228600">
              <a:buFont typeface="Calibri"/>
              <a:spcAft>
                <a:spcPts val="1000"/>
              </a:spcAft>
              <a:buSzPct val="100000"/>
              <a:buChar char="•"/>
              <a:lnSpc>
                <a:spcPts val="2200"/>
              </a:lnSpc>
            </a:pPr>
            <a:r>
              <a:rPr sz="2000" b="0">
                <a:solidFill>
                  <a:srgbClr val="333333"/>
                </a:solidFill>
                <a:latin typeface="Calibri"/>
              </a:rPr>
              <a:t>Language-model synthesis typically conditions a pretrained model on prompts</a:t>
            </a:r>
          </a:p>
          <a:p>
            <a:pPr lvl="0" marL="457200" indent="-228600">
              <a:buFont typeface="Calibri"/>
              <a:spcAft>
                <a:spcPts val="1000"/>
              </a:spcAft>
              <a:buSzPct val="100000"/>
              <a:buChar char="•"/>
              <a:lnSpc>
                <a:spcPts val="2200"/>
              </a:lnSpc>
            </a:pPr>
            <a:r>
              <a:rPr sz="2000" b="0">
                <a:solidFill>
                  <a:srgbClr val="333333"/>
                </a:solidFill>
                <a:latin typeface="Calibri"/>
              </a:rPr>
              <a:t>This supports low-resource natural language processing, instruction tuning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workflows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Teams paraphrase existing sentences</a:t>
            </a:r>
          </a:p>
          <a:p>
            <a:pPr lvl="0" marL="457200" indent="-228600">
              <a:buFont typeface="Calibri"/>
              <a:spcAft>
                <a:spcPts val="1000"/>
              </a:spcAft>
              <a:buSzPct val="100000"/>
              <a:buChar char="•"/>
              <a:lnSpc>
                <a:spcPts val="2200"/>
              </a:lnSpc>
            </a:pPr>
            <a:r>
              <a:rPr sz="2000" b="0">
                <a:solidFill>
                  <a:srgbClr val="333333"/>
                </a:solidFill>
                <a:latin typeface="Calibri"/>
              </a:rPr>
              <a:t>The same pattern appears in programmatic weak supervision</a:t>
            </a:r>
          </a:p>
          <a:p>
            <a:pPr lvl="0" marL="457200" indent="-228600">
              <a:buFont typeface="Calibri"/>
              <a:spcAft>
                <a:spcPts val="1000"/>
              </a:spcAft>
              <a:buSzPct val="100000"/>
              <a:buChar char="•"/>
              <a:lnSpc>
                <a:spcPts val="2200"/>
              </a:lnSpc>
            </a:pPr>
            <a:r>
              <a:rPr sz="2000" b="0">
                <a:solidFill>
                  <a:srgbClr val="333333"/>
                </a:solidFill>
                <a:latin typeface="Calibri"/>
              </a:rPr>
              <a:t>Cheap generation is attractive when real text is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Hallucination and factual risk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Language models can invent facts</a:t>
            </a:r>
          </a:p>
          <a:p>
            <a:pPr lvl="0" marL="457200" indent="-228600">
              <a:buFont typeface="Calibri"/>
              <a:spcAft>
                <a:spcPts val="1000"/>
              </a:spcAft>
              <a:buSzPct val="100000"/>
              <a:buChar char="•"/>
              <a:lnSpc>
                <a:spcPts val="2200"/>
              </a:lnSpc>
            </a:pPr>
            <a:r>
              <a:rPr sz="2000" b="0">
                <a:solidFill>
                  <a:srgbClr val="333333"/>
                </a:solidFill>
                <a:latin typeface="Calibri"/>
              </a:rPr>
              <a:t>For regulated or clinical text</a:t>
            </a:r>
          </a:p>
          <a:p>
            <a:pPr lvl="0" marL="457200" indent="-228600">
              <a:buFont typeface="Calibri"/>
              <a:spcAft>
                <a:spcPts val="1000"/>
              </a:spcAft>
              <a:buSzPct val="100000"/>
              <a:buChar char="•"/>
              <a:lnSpc>
                <a:spcPts val="2200"/>
              </a:lnSpc>
            </a:pPr>
            <a:r>
              <a:rPr sz="2000" b="0">
                <a:solidFill>
                  <a:srgbClr val="333333"/>
                </a:solidFill>
                <a:latin typeface="Calibri"/>
              </a:rPr>
              <a:t>Synthetic corpora therefore need factual and schema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Memorization and privacy leakage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Pretrained models may reproduce memorized training snippets</a:t>
            </a:r>
          </a:p>
          <a:p>
            <a:pPr lvl="0" marL="457200" indent="-228600">
              <a:buFont typeface="Calibri"/>
              <a:spcAft>
                <a:spcPts val="1000"/>
              </a:spcAft>
              <a:buSzPct val="100000"/>
              <a:buChar char="•"/>
              <a:lnSpc>
                <a:spcPts val="2200"/>
              </a:lnSpc>
            </a:pPr>
            <a:r>
              <a:rPr sz="2000" b="0">
                <a:solidFill>
                  <a:srgbClr val="333333"/>
                </a:solidFill>
                <a:latin typeface="Calibri"/>
              </a:rPr>
              <a:t>Synthetic text is not automatically privacy-safe</a:t>
            </a:r>
          </a:p>
          <a:p>
            <a:pPr lvl="0" marL="457200" indent="-228600">
              <a:buFont typeface="Calibri"/>
              <a:spcAft>
                <a:spcPts val="1000"/>
              </a:spcAft>
              <a:buSzPct val="100000"/>
              <a:buChar char="•"/>
              <a:lnSpc>
                <a:spcPts val="2200"/>
              </a:lnSpc>
            </a:pPr>
            <a:r>
              <a:rPr sz="2000" b="0">
                <a:solidFill>
                  <a:srgbClr val="333333"/>
                </a:solidFill>
                <a:latin typeface="Calibri"/>
              </a:rPr>
              <a:t>Releases must be screened for identifiers and linkage risk</a:t>
            </a:r>
          </a:p>
          <a:p>
            <a:pPr lvl="0" marL="457200" indent="-228600">
              <a:buFont typeface="Calibri"/>
              <a:spcAft>
                <a:spcPts val="1000"/>
              </a:spcAft>
              <a:buSzPct val="100000"/>
              <a:buChar char="•"/>
              <a:lnSpc>
                <a:spcPts val="2200"/>
              </a:lnSpc>
            </a:pPr>
            <a:r>
              <a:rPr sz="2000" b="0">
                <a:solidFill>
                  <a:srgbClr val="333333"/>
                </a:solidFill>
                <a:latin typeface="Calibri"/>
              </a:rPr>
              <a:t>Privacy engineering controls from earlier chapters still apply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and representation skew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Language models inherit social and demographic biases present in pretraining corpora</a:t>
            </a:r>
          </a:p>
          <a:p>
            <a:pPr lvl="0" marL="457200" indent="-228600">
              <a:buFont typeface="Calibri"/>
              <a:spcAft>
                <a:spcPts val="1000"/>
              </a:spcAft>
              <a:buSzPct val="100000"/>
              <a:buChar char="•"/>
              <a:lnSpc>
                <a:spcPts val="2200"/>
              </a:lnSpc>
            </a:pPr>
            <a:r>
              <a:rPr sz="2000" b="0">
                <a:solidFill>
                  <a:srgbClr val="333333"/>
                </a:solidFill>
                <a:latin typeface="Calibri"/>
              </a:rPr>
              <a:t>Synthetic labels or dialogues can over-represent dominant viewpoints or stereotyped roles</a:t>
            </a:r>
          </a:p>
          <a:p>
            <a:pPr lvl="0" marL="457200" indent="-228600">
              <a:buFont typeface="Calibri"/>
              <a:spcAft>
                <a:spcPts val="1000"/>
              </a:spcAft>
              <a:buSzPct val="100000"/>
              <a:buChar char="•"/>
              <a:lnSpc>
                <a:spcPts val="2200"/>
              </a:lnSpc>
            </a:pPr>
            <a:r>
              <a:rPr sz="2000" b="0">
                <a:solidFill>
                  <a:srgbClr val="333333"/>
                </a:solidFill>
                <a:latin typeface="Calibri"/>
              </a:rPr>
              <a:t>Fairness audits should cover both source seeds and generated cohorts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gates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Retain human oversight for high-stakes labels</a:t>
            </a:r>
          </a:p>
          <a:p>
            <a:pPr lvl="0" marL="457200" indent="-228600">
              <a:buFont typeface="Calibri"/>
              <a:spcAft>
                <a:spcPts val="1000"/>
              </a:spcAft>
              <a:buSzPct val="100000"/>
              <a:buChar char="•"/>
              <a:lnSpc>
                <a:spcPts val="2200"/>
              </a:lnSpc>
            </a:pPr>
            <a:r>
              <a:rPr sz="2000" b="0">
                <a:solidFill>
                  <a:srgbClr val="333333"/>
                </a:solidFill>
                <a:latin typeface="Calibri"/>
              </a:rPr>
              <a:t>Annotation quality practices from earlier chapters extend directly to synthetic 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language models enable fast text and label synthesis through prompting rather than</a:t>
            </a:r>
          </a:p>
          <a:p>
            <a:pPr lvl="0" marL="457200" indent="-228600">
              <a:buFont typeface="Calibri"/>
              <a:spcAft>
                <a:spcPts val="1000"/>
              </a:spcAft>
              <a:buSzPct val="100000"/>
              <a:buChar char="•"/>
              <a:lnSpc>
                <a:spcPts val="2200"/>
              </a:lnSpc>
            </a:pPr>
            <a:r>
              <a:rPr sz="2000" b="0">
                <a:solidFill>
                  <a:srgbClr val="333333"/>
                </a:solidFill>
                <a:latin typeface="Calibri"/>
              </a:rPr>
              <a:t>Low cost does not imply low risk, hallucination, memorization</a:t>
            </a:r>
          </a:p>
          <a:p>
            <a:pPr lvl="0" marL="457200" indent="-228600">
              <a:buFont typeface="Calibri"/>
              <a:spcAft>
                <a:spcPts val="1000"/>
              </a:spcAft>
              <a:buSzPct val="100000"/>
              <a:buChar char="•"/>
              <a:lnSpc>
                <a:spcPts val="2200"/>
              </a:lnSpc>
            </a:pPr>
            <a:r>
              <a:rPr sz="2000" b="0">
                <a:solidFill>
                  <a:srgbClr val="333333"/>
                </a:solidFill>
                <a:latin typeface="Calibri"/>
              </a:rPr>
              <a:t>Domain use cases in healthcare, finance, autonomy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walks privacy-preserving medical records, rare-disease simulation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Llms For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