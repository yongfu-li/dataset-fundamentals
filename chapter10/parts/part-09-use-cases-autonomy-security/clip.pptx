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Healthcare and finance are not the only high-stakes domains. This part covers pedestrian-in-rain edge cases for autonomous systems, computer-vision augmentation, and ransomware attack simulation for cybersecurity training.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synthetic scenario generation for self-driving perception and planning; describe vision augmentation for generalization; and outline cyberattack simulation for anomaly detection and blue-team drills.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Self-driving stacks require vast labeled coverage across weather, lighting, traffic, and pedestrian behavior. Logging every dangerous or rare combination on public roads is impractical and costly. Synthetic environments generate diverse driving clips for navigation, decision-making, and obstacle avoidance training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10.15 trains perception on synthetic clips of pedestrians emerging from heavy rain at night—a combination rarely present in fleet logs. Edge-case synthesis improves robustness where real collection is sparse or unsafe. The example 15 module for this chapter summarizes this autonomy scenario.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Rare events—jaywalking, sudden obstacles, or unusual road geometry—may never appear enough in real logs. Synthetic simulation supplies critical scenarios at scale, reducing the chance that planners fail on first contact with chaotic real-world behavior. Over-reliance remains a risk if generators omit plausible human actions.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Synthetic data augments sparse or imbalanced real sets across computer vision, natural language processing, and speech. Rendered product photos under varied lighting and clutter diversify backgrounds beyond warehouse photography. Modified or generated text expands corpora for sentiment and translation tasks.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10.16 shows a vision team rendering synthetic product photos with varied lighting and clutter so classifiers see more backgrounds than warehouse photography provides. The example 16 module for this chapter frames augmentation for improved generalization.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 threats evolve quickly; real attack logs are incomplete and sensitive. Synthetic normal and anomalous network activity expands training for intrusion detection, phishing recognition, and insider-threat models without waiting for live incidents.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10.17 describes a security operations center replaying synthetic ransomware encryption patterns against backup workflows to test detection latency before a live incident. The example 17 module for this chapter outlines attack simulation for defensive readiness.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Autonomy benefits from synthetic rare-scenario coverage; vision and language pipelines benefit from diversified augmentation; cybersecurity benefits from simulated attacks and anomalies. All three require validation that synthetic behavior matches plausible real threats and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part asks when synthetic data truly protects people and when it creates new harms—covering privacy claims under GDPR, manipulated reporting, bias amplification, mitigation practices, and regulatory considerations.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10 — Use cases in autonomy and security</a:t>
            </a:r>
          </a:p>
          <a:p>
            <a:pPr algn="ctr">
              <a:lnSpc>
                <a:spcPts val="2200"/>
              </a:lnSpc>
              <a:spcBef>
                <a:spcPts val="1400"/>
              </a:spcBef>
            </a:pPr>
            <a:r>
              <a:rPr sz="2600" b="0">
                <a:solidFill>
                  <a:srgbClr val="333333"/>
                </a:solidFill>
                <a:latin typeface="Calibri"/>
              </a:rPr>
              <a:t>Healthcare and finance are not the only high-stakes domains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Use Cases Autonomy Security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Use Cases Autonomy Security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Autonomous systems data demands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Self-driving stacks require vast labeled coverage across weather, lighting, traffic</a:t>
            </a:r>
          </a:p>
          <a:p>
            <a:pPr lvl="0" marL="457200" indent="-228600">
              <a:buFont typeface="Calibri"/>
              <a:spcAft>
                <a:spcPts val="1000"/>
              </a:spcAft>
              <a:buSzPct val="100000"/>
              <a:buChar char="•"/>
              <a:lnSpc>
                <a:spcPts val="2200"/>
              </a:lnSpc>
            </a:pPr>
            <a:r>
              <a:rPr sz="2000" b="0">
                <a:solidFill>
                  <a:srgbClr val="333333"/>
                </a:solidFill>
                <a:latin typeface="Calibri"/>
              </a:rPr>
              <a:t>Logging every dangerous or rare combination on public roads is impractical and costly</a:t>
            </a:r>
          </a:p>
          <a:p>
            <a:pPr lvl="0" marL="457200" indent="-228600">
              <a:buFont typeface="Calibri"/>
              <a:spcAft>
                <a:spcPts val="1000"/>
              </a:spcAft>
              <a:buSzPct val="100000"/>
              <a:buChar char="•"/>
              <a:lnSpc>
                <a:spcPts val="2200"/>
              </a:lnSpc>
            </a:pPr>
            <a:r>
              <a:rPr sz="2000" b="0">
                <a:solidFill>
                  <a:srgbClr val="333333"/>
                </a:solidFill>
                <a:latin typeface="Calibri"/>
              </a:rPr>
              <a:t>Synthetic environments generate diverse driving clips for navigation, decision-making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Use Cases Autonomy Security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10.15 — Pedestrian-in-Rain Edge Case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10.15 — hands-on module</a:t>
            </a:r>
          </a:p>
          <a:p>
            <a:pPr lvl="0" marL="457200" indent="-228600">
              <a:buFont typeface="Calibri"/>
              <a:spcAft>
                <a:spcPts val="1000"/>
              </a:spcAft>
              <a:buSzPct val="100000"/>
              <a:buChar char="•"/>
              <a:lnSpc>
                <a:spcPts val="2200"/>
              </a:lnSpc>
            </a:pPr>
            <a:r>
              <a:rPr sz="2000" b="0">
                <a:solidFill>
                  <a:srgbClr val="333333"/>
                </a:solidFill>
                <a:latin typeface="Calibri"/>
              </a:rPr>
              <a:t>A combination rarely present in fleet logs</a:t>
            </a:r>
          </a:p>
          <a:p>
            <a:pPr lvl="0" marL="457200" indent="-228600">
              <a:buFont typeface="Calibri"/>
              <a:spcAft>
                <a:spcPts val="1000"/>
              </a:spcAft>
              <a:buSzPct val="100000"/>
              <a:buChar char="•"/>
              <a:lnSpc>
                <a:spcPts val="2200"/>
              </a:lnSpc>
            </a:pPr>
            <a:r>
              <a:rPr sz="2000" b="0">
                <a:solidFill>
                  <a:srgbClr val="333333"/>
                </a:solidFill>
                <a:latin typeface="Calibri"/>
              </a:rPr>
              <a:t>Edge-case synthesis improves robustness where real collection is sparse or unsafe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`modules/chapter10/example15/`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Use Cases Autonomy Security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Edge cases and safety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Rare events, jaywalking, sudden obstacles, or unusual road geometry, may never appear</a:t>
            </a:r>
          </a:p>
          <a:p>
            <a:pPr lvl="0" marL="457200" indent="-228600">
              <a:buFont typeface="Calibri"/>
              <a:spcAft>
                <a:spcPts val="1000"/>
              </a:spcAft>
              <a:buSzPct val="100000"/>
              <a:buChar char="•"/>
              <a:lnSpc>
                <a:spcPts val="2200"/>
              </a:lnSpc>
            </a:pPr>
            <a:r>
              <a:rPr sz="2000" b="0">
                <a:solidFill>
                  <a:srgbClr val="333333"/>
                </a:solidFill>
                <a:latin typeface="Calibri"/>
              </a:rPr>
              <a:t>Synthetic simulation supplies critical scenarios at scale</a:t>
            </a:r>
          </a:p>
          <a:p>
            <a:pPr lvl="0" marL="457200" indent="-228600">
              <a:buFont typeface="Calibri"/>
              <a:spcAft>
                <a:spcPts val="1000"/>
              </a:spcAft>
              <a:buSzPct val="100000"/>
              <a:buChar char="•"/>
              <a:lnSpc>
                <a:spcPts val="2200"/>
              </a:lnSpc>
            </a:pPr>
            <a:r>
              <a:rPr sz="2000" b="0">
                <a:solidFill>
                  <a:srgbClr val="333333"/>
                </a:solidFill>
                <a:latin typeface="Calibri"/>
              </a:rPr>
              <a:t>Over-reliance remains a risk if generators omit plausible human actions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Use Cases Autonomy Security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Augmenting vision and other modalities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Synthetic data augments sparse or imbalanced real sets across computer vision</a:t>
            </a:r>
          </a:p>
          <a:p>
            <a:pPr lvl="0" marL="457200" indent="-228600">
              <a:buFont typeface="Calibri"/>
              <a:spcAft>
                <a:spcPts val="1000"/>
              </a:spcAft>
              <a:buSzPct val="100000"/>
              <a:buChar char="•"/>
              <a:lnSpc>
                <a:spcPts val="2200"/>
              </a:lnSpc>
            </a:pPr>
            <a:r>
              <a:rPr sz="2000" b="0">
                <a:solidFill>
                  <a:srgbClr val="333333"/>
                </a:solidFill>
                <a:latin typeface="Calibri"/>
              </a:rPr>
              <a:t>Rendered product photos under varied lighting and clutter diversify backgrounds beyond</a:t>
            </a:r>
          </a:p>
          <a:p>
            <a:pPr lvl="0" marL="457200" indent="-228600">
              <a:buFont typeface="Calibri"/>
              <a:spcAft>
                <a:spcPts val="1000"/>
              </a:spcAft>
              <a:buSzPct val="100000"/>
              <a:buChar char="•"/>
              <a:lnSpc>
                <a:spcPts val="2200"/>
              </a:lnSpc>
            </a:pPr>
            <a:r>
              <a:rPr sz="2000" b="0">
                <a:solidFill>
                  <a:srgbClr val="333333"/>
                </a:solidFill>
                <a:latin typeface="Calibri"/>
              </a:rPr>
              <a:t>Modified or generated text expands corpora for sentiment and translation tasks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Use Cases Autonomy Security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10.16 — Computer-Vision Augmentation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10.16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10.16 shows a vision team rendering synthetic product photos with varied lighting</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`modules/chapter10/example16/`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Use Cases Autonomy Security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Cybersecurity and evolving threats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Cyber threats evolve quickly; real attack logs are incomplete and sensitive</a:t>
            </a:r>
          </a:p>
          <a:p>
            <a:pPr lvl="0" marL="457200" indent="-228600">
              <a:buFont typeface="Calibri"/>
              <a:spcAft>
                <a:spcPts val="1000"/>
              </a:spcAft>
              <a:buSzPct val="100000"/>
              <a:buChar char="•"/>
              <a:lnSpc>
                <a:spcPts val="2200"/>
              </a:lnSpc>
            </a:pPr>
            <a:r>
              <a:rPr sz="2000" b="0">
                <a:solidFill>
                  <a:srgbClr val="333333"/>
                </a:solidFill>
                <a:latin typeface="Calibri"/>
              </a:rPr>
              <a:t>Insider-threat models without waiting for live incidents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Use Cases Autonomy Security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10.17 — Ransomware Attack Simulation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10.17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10.17 describes a security operations center replaying synthetic ransomware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`modules/chapter10/example17/`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Use Cases Autonomy Security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Autonomy benefits from synthetic rare-scenario coverage</a:t>
            </a:r>
          </a:p>
          <a:p>
            <a:pPr lvl="0" marL="457200" indent="-228600">
              <a:buFont typeface="Calibri"/>
              <a:spcAft>
                <a:spcPts val="1000"/>
              </a:spcAft>
              <a:buSzPct val="100000"/>
              <a:buChar char="•"/>
              <a:lnSpc>
                <a:spcPts val="2200"/>
              </a:lnSpc>
            </a:pPr>
            <a:r>
              <a:rPr sz="2000" b="0">
                <a:solidFill>
                  <a:srgbClr val="333333"/>
                </a:solidFill>
                <a:latin typeface="Calibri"/>
              </a:rPr>
              <a:t>All three require validation that synthetic behavior matches plausible real threats and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Use Cases Autonomy Security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Regulatory considerations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Use Cases Autonomy Security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