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Healthcare and finance are not the only high-stakes domains. This part covers pedestrian-in-rain edge cases for autonomous systems, computer-vision augmentation, and ransomware attack simulation for cybersecurity training.</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By the end of this part, learners should be able to explain synthetic scenario generation for self-driving perception and planning; describe vision augmentation for generalization; and outline cyberattack simulation for anomaly detection and blue-team drills.</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Self-driving stacks require vast labeled coverage across weather, lighting, traffic, and pedestrian behavior. Logging every dangerous or rare combination on public roads is impractical and costly. Synthetic environments generate diverse driving clips for navigation, decision-making, and obstacle avoidance training before deployment.</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Example 10.15 trains perception on synthetic clips of pedestrians emerging from heavy rain at night—a combination rarely present in fleet logs. Edge-case synthesis improves robustness where real collection is sparse or unsafe. The example 15 module for this chapter summarizes this autonomy scenario.</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Rare events—jaywalking, sudden obstacles, or unusual road geometry—may never appear enough in real logs. Synthetic simulation supplies critical scenarios at scale, reducing the chance that planners fail on first contact with chaotic real-world behavior. Over-reliance remains a risk if generators omit plausible human actions.</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Synthetic data augments sparse or imbalanced real sets across computer vision, natural language processing, and speech. Rendered product photos under varied lighting and clutter diversify backgrounds beyond warehouse photography. Modified or generated text expands corpora for sentiment and translation tasks.</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Example 10.16 shows a vision team rendering synthetic product photos with varied lighting and clutter so classifiers see more backgrounds than warehouse photography provides. The example 16 module for this chapter frames augmentation for improved generalization.</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Cyber threats evolve quickly; real attack logs are incomplete and sensitive. Synthetic normal and anomalous network activity expands training for intrusion detection, phishing recognition, and insider-threat models without waiting for live incidents.</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Example 10.17 describes a security operations center replaying synthetic ransomware encryption patterns against backup workflows to test detection latency before a live incident. The example 17 module for this chapter outlines attack simulation for defensive readiness.</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Autonomy benefits from synthetic rare-scenario coverage; vision and language pipelines benefit from diversified augmentation; cybersecurity benefits from simulated attacks and anomalies. All three require validation that synthetic behavior matches plausible real threats and environments.</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final part asks when synthetic data truly protects people and when it creates new harms—covering privacy claims under GDPR, manipulated reporting, bias amplification, mitigation practices, and regulatory considerations.</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1828800"/>
            <a:ext cx="11064240" cy="2743200"/>
          </a:xfrm>
          <a:prstGeom prst="rect">
            <a:avLst/>
          </a:prstGeom>
          <a:noFill/>
        </p:spPr>
        <p:txBody>
          <a:bodyPr wrap="square">
            <a:noAutofit/>
          </a:bodyPr>
          <a:lstStyle/>
          <a:p>
            <a:pPr algn="ctr">
              <a:lnSpc>
                <a:spcPts val="2200"/>
              </a:lnSpc>
              <a:spcAft>
                <a:spcPts val="400"/>
              </a:spcAft>
            </a:pPr>
            <a:r>
              <a:rPr sz="4000" b="1">
                <a:solidFill>
                  <a:srgbClr val="1A1A2E"/>
                </a:solidFill>
                <a:latin typeface="Calibri"/>
              </a:rPr>
              <a:t>Chapter 10 — Use cases in autonomy and security</a:t>
            </a:r>
          </a:p>
          <a:p>
            <a:pPr algn="ctr">
              <a:lnSpc>
                <a:spcPts val="2200"/>
              </a:lnSpc>
              <a:spcBef>
                <a:spcPts val="1400"/>
              </a:spcBef>
            </a:pPr>
            <a:r>
              <a:rPr sz="2600" b="0">
                <a:solidFill>
                  <a:srgbClr val="333333"/>
                </a:solidFill>
                <a:latin typeface="Calibri"/>
              </a:rPr>
              <a:t>Healthcare and finance are not the only high-stakes domains</a:t>
            </a:r>
          </a:p>
        </p:txBody>
      </p:sp>
      <p:sp>
        <p:nvSpPr>
          <p:cNvPr id="3" name="TextBox 2"/>
          <p:cNvSpPr txBox="1"/>
          <p:nvPr/>
        </p:nvSpPr>
        <p:spPr>
          <a:xfrm>
            <a:off x="548640" y="6355080"/>
            <a:ext cx="11064240" cy="320040"/>
          </a:xfrm>
          <a:prstGeom prst="rect">
            <a:avLst/>
          </a:prstGeom>
          <a:noFill/>
        </p:spPr>
        <p:txBody>
          <a:bodyPr wrap="square">
            <a:noAutofit/>
          </a:bodyPr>
          <a:lstStyle/>
          <a:p>
            <a:pPr algn="r">
              <a:lnSpc>
                <a:spcPts val="2200"/>
              </a:lnSpc>
              <a:defRPr sz="1000" b="0">
                <a:solidFill>
                  <a:srgbClr val="666666"/>
                </a:solidFill>
                <a:latin typeface="Calibri"/>
              </a:defRPr>
            </a:pPr>
            <a:r>
              <a:t>Chapter 10 — Use Cases Autonomy Security</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411480"/>
            <a:ext cx="11064240" cy="777240"/>
          </a:xfrm>
          <a:prstGeom prst="rect">
            <a:avLst/>
          </a:prstGeom>
          <a:noFill/>
        </p:spPr>
        <p:txBody>
          <a:bodyPr wrap="square">
            <a:noAutofit/>
          </a:bodyPr>
          <a:lstStyle/>
          <a:p>
            <a:pPr>
              <a:lnSpc>
                <a:spcPts val="2200"/>
              </a:lnSpc>
            </a:pPr>
            <a:r>
              <a:rPr sz="2800" b="1">
                <a:solidFill>
                  <a:srgbClr val="1A1A2E"/>
                </a:solidFill>
                <a:latin typeface="Calibri"/>
              </a:rPr>
              <a:t>Learning objectives</a:t>
            </a:r>
          </a:p>
        </p:txBody>
      </p:sp>
      <p:sp>
        <p:nvSpPr>
          <p:cNvPr id="3" name="TextBox 2"/>
          <p:cNvSpPr txBox="1"/>
          <p:nvPr/>
        </p:nvSpPr>
        <p:spPr>
          <a:xfrm>
            <a:off x="548640" y="1234440"/>
            <a:ext cx="11064240" cy="4937760"/>
          </a:xfrm>
          <a:prstGeom prst="rect">
            <a:avLst/>
          </a:prstGeom>
          <a:noFill/>
        </p:spPr>
        <p:txBody>
          <a:bodyPr wrap="square">
            <a:noAutofit/>
          </a:bodyPr>
          <a:lstStyle/>
          <a:p>
            <a:pPr>
              <a:spcAft>
                <a:spcPts val="1000"/>
              </a:spcAft>
              <a:buChar char="•"/>
              <a:lnSpc>
                <a:spcPts val="2200"/>
              </a:lnSpc>
            </a:pPr>
            <a:r>
              <a:rPr sz="2000" b="0">
                <a:solidFill>
                  <a:srgbClr val="333333"/>
                </a:solidFill>
                <a:latin typeface="Calibri"/>
              </a:rPr>
              <a:t>By the end of this part</a:t>
            </a:r>
          </a:p>
        </p:txBody>
      </p:sp>
      <p:sp>
        <p:nvSpPr>
          <p:cNvPr id="4" name="TextBox 3"/>
          <p:cNvSpPr txBox="1"/>
          <p:nvPr/>
        </p:nvSpPr>
        <p:spPr>
          <a:xfrm>
            <a:off x="548640" y="6355080"/>
            <a:ext cx="11064240" cy="320040"/>
          </a:xfrm>
          <a:prstGeom prst="rect">
            <a:avLst/>
          </a:prstGeom>
          <a:noFill/>
        </p:spPr>
        <p:txBody>
          <a:bodyPr wrap="square">
            <a:noAutofit/>
          </a:bodyPr>
          <a:lstStyle/>
          <a:p>
            <a:pPr algn="r">
              <a:lnSpc>
                <a:spcPts val="2200"/>
              </a:lnSpc>
              <a:defRPr sz="1000" b="0">
                <a:solidFill>
                  <a:srgbClr val="666666"/>
                </a:solidFill>
                <a:latin typeface="Calibri"/>
              </a:defRPr>
            </a:pPr>
            <a:r>
              <a:t>Chapter 10 — Use Cases Autonomy Security</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411480"/>
            <a:ext cx="11064240" cy="777240"/>
          </a:xfrm>
          <a:prstGeom prst="rect">
            <a:avLst/>
          </a:prstGeom>
          <a:noFill/>
        </p:spPr>
        <p:txBody>
          <a:bodyPr wrap="square">
            <a:noAutofit/>
          </a:bodyPr>
          <a:lstStyle/>
          <a:p>
            <a:pPr>
              <a:lnSpc>
                <a:spcPts val="2200"/>
              </a:lnSpc>
            </a:pPr>
            <a:r>
              <a:rPr sz="2800" b="1">
                <a:solidFill>
                  <a:srgbClr val="1A1A2E"/>
                </a:solidFill>
                <a:latin typeface="Calibri"/>
              </a:rPr>
              <a:t>Autonomous systems data demands</a:t>
            </a:r>
          </a:p>
        </p:txBody>
      </p:sp>
      <p:sp>
        <p:nvSpPr>
          <p:cNvPr id="3" name="TextBox 2"/>
          <p:cNvSpPr txBox="1"/>
          <p:nvPr/>
        </p:nvSpPr>
        <p:spPr>
          <a:xfrm>
            <a:off x="548640" y="1234440"/>
            <a:ext cx="11064240" cy="4937760"/>
          </a:xfrm>
          <a:prstGeom prst="rect">
            <a:avLst/>
          </a:prstGeom>
          <a:noFill/>
        </p:spPr>
        <p:txBody>
          <a:bodyPr wrap="square">
            <a:noAutofit/>
          </a:bodyPr>
          <a:lstStyle/>
          <a:p>
            <a:pPr>
              <a:spcAft>
                <a:spcPts val="1000"/>
              </a:spcAft>
              <a:buChar char="•"/>
              <a:lnSpc>
                <a:spcPts val="2200"/>
              </a:lnSpc>
            </a:pPr>
            <a:r>
              <a:rPr sz="2000" b="0">
                <a:solidFill>
                  <a:srgbClr val="333333"/>
                </a:solidFill>
                <a:latin typeface="Calibri"/>
              </a:rPr>
              <a:t>Self-driving stacks require vast labeled coverage across weather, lighting, traffic</a:t>
            </a:r>
          </a:p>
          <a:p>
            <a:pPr>
              <a:spcAft>
                <a:spcPts val="1000"/>
              </a:spcAft>
              <a:buChar char="•"/>
              <a:lnSpc>
                <a:spcPts val="2200"/>
              </a:lnSpc>
            </a:pPr>
            <a:r>
              <a:rPr sz="2000" b="0">
                <a:solidFill>
                  <a:srgbClr val="333333"/>
                </a:solidFill>
                <a:latin typeface="Calibri"/>
              </a:rPr>
              <a:t>Logging every dangerous or rare combination on public roads is impractical and costly</a:t>
            </a:r>
          </a:p>
          <a:p>
            <a:pPr>
              <a:spcAft>
                <a:spcPts val="1000"/>
              </a:spcAft>
              <a:buChar char="•"/>
              <a:lnSpc>
                <a:spcPts val="2200"/>
              </a:lnSpc>
            </a:pPr>
            <a:r>
              <a:rPr sz="2000" b="0">
                <a:solidFill>
                  <a:srgbClr val="333333"/>
                </a:solidFill>
                <a:latin typeface="Calibri"/>
              </a:rPr>
              <a:t>Synthetic environments generate diverse driving clips for navigation, decision-making</a:t>
            </a:r>
          </a:p>
        </p:txBody>
      </p:sp>
      <p:sp>
        <p:nvSpPr>
          <p:cNvPr id="4" name="TextBox 3"/>
          <p:cNvSpPr txBox="1"/>
          <p:nvPr/>
        </p:nvSpPr>
        <p:spPr>
          <a:xfrm>
            <a:off x="548640" y="6355080"/>
            <a:ext cx="11064240" cy="320040"/>
          </a:xfrm>
          <a:prstGeom prst="rect">
            <a:avLst/>
          </a:prstGeom>
          <a:noFill/>
        </p:spPr>
        <p:txBody>
          <a:bodyPr wrap="square">
            <a:noAutofit/>
          </a:bodyPr>
          <a:lstStyle/>
          <a:p>
            <a:pPr algn="r">
              <a:lnSpc>
                <a:spcPts val="2200"/>
              </a:lnSpc>
              <a:defRPr sz="1000" b="0">
                <a:solidFill>
                  <a:srgbClr val="666666"/>
                </a:solidFill>
                <a:latin typeface="Calibri"/>
              </a:defRPr>
            </a:pPr>
            <a:r>
              <a:t>Chapter 10 — Use Cases Autonomy Security</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411480"/>
            <a:ext cx="11064240" cy="777240"/>
          </a:xfrm>
          <a:prstGeom prst="rect">
            <a:avLst/>
          </a:prstGeom>
          <a:noFill/>
        </p:spPr>
        <p:txBody>
          <a:bodyPr wrap="square">
            <a:noAutofit/>
          </a:bodyPr>
          <a:lstStyle/>
          <a:p>
            <a:pPr>
              <a:lnSpc>
                <a:spcPts val="2200"/>
              </a:lnSpc>
            </a:pPr>
            <a:r>
              <a:rPr sz="2800" b="1">
                <a:solidFill>
                  <a:srgbClr val="1A1A2E"/>
                </a:solidFill>
                <a:latin typeface="Calibri"/>
              </a:rPr>
              <a:t>Example 10.15 — Pedestrian-in-Rain Edge Case</a:t>
            </a:r>
          </a:p>
        </p:txBody>
      </p:sp>
      <p:sp>
        <p:nvSpPr>
          <p:cNvPr id="3" name="TextBox 2"/>
          <p:cNvSpPr txBox="1"/>
          <p:nvPr/>
        </p:nvSpPr>
        <p:spPr>
          <a:xfrm>
            <a:off x="548640" y="1234440"/>
            <a:ext cx="11064240" cy="4937760"/>
          </a:xfrm>
          <a:prstGeom prst="rect">
            <a:avLst/>
          </a:prstGeom>
          <a:noFill/>
        </p:spPr>
        <p:txBody>
          <a:bodyPr wrap="square">
            <a:noAutofit/>
          </a:bodyPr>
          <a:lstStyle/>
          <a:p>
            <a:pPr>
              <a:spcAft>
                <a:spcPts val="1000"/>
              </a:spcAft>
              <a:buChar char="•"/>
              <a:lnSpc>
                <a:spcPts val="2200"/>
              </a:lnSpc>
            </a:pPr>
            <a:r>
              <a:rPr sz="2000" b="0">
                <a:solidFill>
                  <a:srgbClr val="333333"/>
                </a:solidFill>
                <a:latin typeface="Calibri"/>
              </a:rPr>
              <a:t>Example 10.15 — hands-on module</a:t>
            </a:r>
          </a:p>
          <a:p>
            <a:pPr>
              <a:spcAft>
                <a:spcPts val="1000"/>
              </a:spcAft>
              <a:buChar char="•"/>
              <a:lnSpc>
                <a:spcPts val="2200"/>
              </a:lnSpc>
            </a:pPr>
            <a:r>
              <a:rPr sz="2000" b="0">
                <a:solidFill>
                  <a:srgbClr val="333333"/>
                </a:solidFill>
                <a:latin typeface="Calibri"/>
              </a:rPr>
              <a:t>A combination rarely present in fleet logs</a:t>
            </a:r>
          </a:p>
          <a:p>
            <a:pPr>
              <a:spcAft>
                <a:spcPts val="1000"/>
              </a:spcAft>
              <a:buChar char="•"/>
              <a:lnSpc>
                <a:spcPts val="2200"/>
              </a:lnSpc>
            </a:pPr>
            <a:r>
              <a:rPr sz="2000" b="0">
                <a:solidFill>
                  <a:srgbClr val="333333"/>
                </a:solidFill>
                <a:latin typeface="Calibri"/>
              </a:rPr>
              <a:t>Edge-case synthesis improves robustness where real collection is sparse or unsafe</a:t>
            </a:r>
          </a:p>
          <a:p>
            <a:pPr>
              <a:spcAft>
                <a:spcPts val="1000"/>
              </a:spcAft>
              <a:buChar char="•"/>
              <a:lnSpc>
                <a:spcPts val="2200"/>
              </a:lnSpc>
            </a:pPr>
            <a:r>
              <a:rPr sz="2000" b="0">
                <a:solidFill>
                  <a:srgbClr val="333333"/>
                </a:solidFill>
                <a:latin typeface="Calibri"/>
              </a:rPr>
              <a:t>Explore the chapter example module</a:t>
            </a:r>
          </a:p>
          <a:p>
            <a:pPr>
              <a:spcAft>
                <a:spcPts val="1000"/>
              </a:spcAft>
              <a:buChar char="•"/>
              <a:lnSpc>
                <a:spcPts val="2200"/>
              </a:lnSpc>
            </a:pPr>
            <a:r>
              <a:rPr sz="2000" b="0">
                <a:solidFill>
                  <a:srgbClr val="333333"/>
                </a:solidFill>
                <a:latin typeface="Calibri"/>
              </a:rPr>
              <a:t>View files: `modules/chapter10/example15/`</a:t>
            </a:r>
          </a:p>
        </p:txBody>
      </p:sp>
      <p:sp>
        <p:nvSpPr>
          <p:cNvPr id="4" name="TextBox 3"/>
          <p:cNvSpPr txBox="1"/>
          <p:nvPr/>
        </p:nvSpPr>
        <p:spPr>
          <a:xfrm>
            <a:off x="548640" y="6355080"/>
            <a:ext cx="11064240" cy="320040"/>
          </a:xfrm>
          <a:prstGeom prst="rect">
            <a:avLst/>
          </a:prstGeom>
          <a:noFill/>
        </p:spPr>
        <p:txBody>
          <a:bodyPr wrap="square">
            <a:noAutofit/>
          </a:bodyPr>
          <a:lstStyle/>
          <a:p>
            <a:pPr algn="r">
              <a:lnSpc>
                <a:spcPts val="2200"/>
              </a:lnSpc>
              <a:defRPr sz="1000" b="0">
                <a:solidFill>
                  <a:srgbClr val="666666"/>
                </a:solidFill>
                <a:latin typeface="Calibri"/>
              </a:defRPr>
            </a:pPr>
            <a:r>
              <a:t>Chapter 10 — Use Cases Autonomy Security</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411480"/>
            <a:ext cx="11064240" cy="777240"/>
          </a:xfrm>
          <a:prstGeom prst="rect">
            <a:avLst/>
          </a:prstGeom>
          <a:noFill/>
        </p:spPr>
        <p:txBody>
          <a:bodyPr wrap="square">
            <a:noAutofit/>
          </a:bodyPr>
          <a:lstStyle/>
          <a:p>
            <a:pPr>
              <a:lnSpc>
                <a:spcPts val="2200"/>
              </a:lnSpc>
            </a:pPr>
            <a:r>
              <a:rPr sz="2800" b="1">
                <a:solidFill>
                  <a:srgbClr val="1A1A2E"/>
                </a:solidFill>
                <a:latin typeface="Calibri"/>
              </a:rPr>
              <a:t>Edge cases and safety</a:t>
            </a:r>
          </a:p>
        </p:txBody>
      </p:sp>
      <p:sp>
        <p:nvSpPr>
          <p:cNvPr id="3" name="TextBox 2"/>
          <p:cNvSpPr txBox="1"/>
          <p:nvPr/>
        </p:nvSpPr>
        <p:spPr>
          <a:xfrm>
            <a:off x="548640" y="1234440"/>
            <a:ext cx="11064240" cy="4937760"/>
          </a:xfrm>
          <a:prstGeom prst="rect">
            <a:avLst/>
          </a:prstGeom>
          <a:noFill/>
        </p:spPr>
        <p:txBody>
          <a:bodyPr wrap="square">
            <a:noAutofit/>
          </a:bodyPr>
          <a:lstStyle/>
          <a:p>
            <a:pPr>
              <a:spcAft>
                <a:spcPts val="1000"/>
              </a:spcAft>
              <a:buChar char="•"/>
              <a:lnSpc>
                <a:spcPts val="2200"/>
              </a:lnSpc>
            </a:pPr>
            <a:r>
              <a:rPr sz="2000" b="0">
                <a:solidFill>
                  <a:srgbClr val="333333"/>
                </a:solidFill>
                <a:latin typeface="Calibri"/>
              </a:rPr>
              <a:t>Rare events, jaywalking, sudden obstacles, or unusual road geometry, may never appear</a:t>
            </a:r>
          </a:p>
          <a:p>
            <a:pPr>
              <a:spcAft>
                <a:spcPts val="1000"/>
              </a:spcAft>
              <a:buChar char="•"/>
              <a:lnSpc>
                <a:spcPts val="2200"/>
              </a:lnSpc>
            </a:pPr>
            <a:r>
              <a:rPr sz="2000" b="0">
                <a:solidFill>
                  <a:srgbClr val="333333"/>
                </a:solidFill>
                <a:latin typeface="Calibri"/>
              </a:rPr>
              <a:t>Synthetic simulation supplies critical scenarios at scale</a:t>
            </a:r>
          </a:p>
          <a:p>
            <a:pPr>
              <a:spcAft>
                <a:spcPts val="1000"/>
              </a:spcAft>
              <a:buChar char="•"/>
              <a:lnSpc>
                <a:spcPts val="2200"/>
              </a:lnSpc>
            </a:pPr>
            <a:r>
              <a:rPr sz="2000" b="0">
                <a:solidFill>
                  <a:srgbClr val="333333"/>
                </a:solidFill>
                <a:latin typeface="Calibri"/>
              </a:rPr>
              <a:t>Over-reliance remains a risk if generators omit plausible human actions</a:t>
            </a:r>
          </a:p>
        </p:txBody>
      </p:sp>
      <p:sp>
        <p:nvSpPr>
          <p:cNvPr id="4" name="TextBox 3"/>
          <p:cNvSpPr txBox="1"/>
          <p:nvPr/>
        </p:nvSpPr>
        <p:spPr>
          <a:xfrm>
            <a:off x="548640" y="6355080"/>
            <a:ext cx="11064240" cy="320040"/>
          </a:xfrm>
          <a:prstGeom prst="rect">
            <a:avLst/>
          </a:prstGeom>
          <a:noFill/>
        </p:spPr>
        <p:txBody>
          <a:bodyPr wrap="square">
            <a:noAutofit/>
          </a:bodyPr>
          <a:lstStyle/>
          <a:p>
            <a:pPr algn="r">
              <a:lnSpc>
                <a:spcPts val="2200"/>
              </a:lnSpc>
              <a:defRPr sz="1000" b="0">
                <a:solidFill>
                  <a:srgbClr val="666666"/>
                </a:solidFill>
                <a:latin typeface="Calibri"/>
              </a:defRPr>
            </a:pPr>
            <a:r>
              <a:t>Chapter 10 — Use Cases Autonomy Security</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411480"/>
            <a:ext cx="11064240" cy="777240"/>
          </a:xfrm>
          <a:prstGeom prst="rect">
            <a:avLst/>
          </a:prstGeom>
          <a:noFill/>
        </p:spPr>
        <p:txBody>
          <a:bodyPr wrap="square">
            <a:noAutofit/>
          </a:bodyPr>
          <a:lstStyle/>
          <a:p>
            <a:pPr>
              <a:lnSpc>
                <a:spcPts val="2200"/>
              </a:lnSpc>
            </a:pPr>
            <a:r>
              <a:rPr sz="2800" b="1">
                <a:solidFill>
                  <a:srgbClr val="1A1A2E"/>
                </a:solidFill>
                <a:latin typeface="Calibri"/>
              </a:rPr>
              <a:t>Augmenting vision and other modalities</a:t>
            </a:r>
          </a:p>
        </p:txBody>
      </p:sp>
      <p:sp>
        <p:nvSpPr>
          <p:cNvPr id="3" name="TextBox 2"/>
          <p:cNvSpPr txBox="1"/>
          <p:nvPr/>
        </p:nvSpPr>
        <p:spPr>
          <a:xfrm>
            <a:off x="548640" y="1234440"/>
            <a:ext cx="11064240" cy="4937760"/>
          </a:xfrm>
          <a:prstGeom prst="rect">
            <a:avLst/>
          </a:prstGeom>
          <a:noFill/>
        </p:spPr>
        <p:txBody>
          <a:bodyPr wrap="square">
            <a:noAutofit/>
          </a:bodyPr>
          <a:lstStyle/>
          <a:p>
            <a:pPr>
              <a:spcAft>
                <a:spcPts val="1000"/>
              </a:spcAft>
              <a:buChar char="•"/>
              <a:lnSpc>
                <a:spcPts val="2200"/>
              </a:lnSpc>
            </a:pPr>
            <a:r>
              <a:rPr sz="2000" b="0">
                <a:solidFill>
                  <a:srgbClr val="333333"/>
                </a:solidFill>
                <a:latin typeface="Calibri"/>
              </a:rPr>
              <a:t>Synthetic data augments sparse or imbalanced real sets across computer vision</a:t>
            </a:r>
          </a:p>
          <a:p>
            <a:pPr>
              <a:spcAft>
                <a:spcPts val="1000"/>
              </a:spcAft>
              <a:buChar char="•"/>
              <a:lnSpc>
                <a:spcPts val="2200"/>
              </a:lnSpc>
            </a:pPr>
            <a:r>
              <a:rPr sz="2000" b="0">
                <a:solidFill>
                  <a:srgbClr val="333333"/>
                </a:solidFill>
                <a:latin typeface="Calibri"/>
              </a:rPr>
              <a:t>Rendered product photos under varied lighting and clutter diversify backgrounds beyond</a:t>
            </a:r>
          </a:p>
          <a:p>
            <a:pPr>
              <a:spcAft>
                <a:spcPts val="1000"/>
              </a:spcAft>
              <a:buChar char="•"/>
              <a:lnSpc>
                <a:spcPts val="2200"/>
              </a:lnSpc>
            </a:pPr>
            <a:r>
              <a:rPr sz="2000" b="0">
                <a:solidFill>
                  <a:srgbClr val="333333"/>
                </a:solidFill>
                <a:latin typeface="Calibri"/>
              </a:rPr>
              <a:t>Modified or generated text expands corpora for sentiment and translation tasks</a:t>
            </a:r>
          </a:p>
        </p:txBody>
      </p:sp>
      <p:sp>
        <p:nvSpPr>
          <p:cNvPr id="4" name="TextBox 3"/>
          <p:cNvSpPr txBox="1"/>
          <p:nvPr/>
        </p:nvSpPr>
        <p:spPr>
          <a:xfrm>
            <a:off x="548640" y="6355080"/>
            <a:ext cx="11064240" cy="320040"/>
          </a:xfrm>
          <a:prstGeom prst="rect">
            <a:avLst/>
          </a:prstGeom>
          <a:noFill/>
        </p:spPr>
        <p:txBody>
          <a:bodyPr wrap="square">
            <a:noAutofit/>
          </a:bodyPr>
          <a:lstStyle/>
          <a:p>
            <a:pPr algn="r">
              <a:lnSpc>
                <a:spcPts val="2200"/>
              </a:lnSpc>
              <a:defRPr sz="1000" b="0">
                <a:solidFill>
                  <a:srgbClr val="666666"/>
                </a:solidFill>
                <a:latin typeface="Calibri"/>
              </a:defRPr>
            </a:pPr>
            <a:r>
              <a:t>Chapter 10 — Use Cases Autonomy Security</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411480"/>
            <a:ext cx="11064240" cy="777240"/>
          </a:xfrm>
          <a:prstGeom prst="rect">
            <a:avLst/>
          </a:prstGeom>
          <a:noFill/>
        </p:spPr>
        <p:txBody>
          <a:bodyPr wrap="square">
            <a:noAutofit/>
          </a:bodyPr>
          <a:lstStyle/>
          <a:p>
            <a:pPr>
              <a:lnSpc>
                <a:spcPts val="2200"/>
              </a:lnSpc>
            </a:pPr>
            <a:r>
              <a:rPr sz="2800" b="1">
                <a:solidFill>
                  <a:srgbClr val="1A1A2E"/>
                </a:solidFill>
                <a:latin typeface="Calibri"/>
              </a:rPr>
              <a:t>Example 10.16 — Computer-Vision Augmentation</a:t>
            </a:r>
          </a:p>
        </p:txBody>
      </p:sp>
      <p:sp>
        <p:nvSpPr>
          <p:cNvPr id="3" name="TextBox 2"/>
          <p:cNvSpPr txBox="1"/>
          <p:nvPr/>
        </p:nvSpPr>
        <p:spPr>
          <a:xfrm>
            <a:off x="548640" y="1234440"/>
            <a:ext cx="11064240" cy="4937760"/>
          </a:xfrm>
          <a:prstGeom prst="rect">
            <a:avLst/>
          </a:prstGeom>
          <a:noFill/>
        </p:spPr>
        <p:txBody>
          <a:bodyPr wrap="square">
            <a:noAutofit/>
          </a:bodyPr>
          <a:lstStyle/>
          <a:p>
            <a:pPr>
              <a:spcAft>
                <a:spcPts val="1000"/>
              </a:spcAft>
              <a:buChar char="•"/>
              <a:lnSpc>
                <a:spcPts val="2200"/>
              </a:lnSpc>
            </a:pPr>
            <a:r>
              <a:rPr sz="2000" b="0">
                <a:solidFill>
                  <a:srgbClr val="333333"/>
                </a:solidFill>
                <a:latin typeface="Calibri"/>
              </a:rPr>
              <a:t>Example 10.16 — hands-on module</a:t>
            </a:r>
          </a:p>
          <a:p>
            <a:pPr>
              <a:spcAft>
                <a:spcPts val="1000"/>
              </a:spcAft>
              <a:buChar char="•"/>
              <a:lnSpc>
                <a:spcPts val="2200"/>
              </a:lnSpc>
            </a:pPr>
            <a:r>
              <a:rPr sz="2000" b="0">
                <a:solidFill>
                  <a:srgbClr val="333333"/>
                </a:solidFill>
                <a:latin typeface="Calibri"/>
              </a:rPr>
              <a:t>Example 10.16 shows a vision team rendering synthetic product photos with varied lighting</a:t>
            </a:r>
          </a:p>
          <a:p>
            <a:pPr>
              <a:spcAft>
                <a:spcPts val="1000"/>
              </a:spcAft>
              <a:buChar char="•"/>
              <a:lnSpc>
                <a:spcPts val="2200"/>
              </a:lnSpc>
            </a:pPr>
            <a:r>
              <a:rPr sz="2000" b="0">
                <a:solidFill>
                  <a:srgbClr val="333333"/>
                </a:solidFill>
                <a:latin typeface="Calibri"/>
              </a:rPr>
              <a:t>Explore the chapter example module</a:t>
            </a:r>
          </a:p>
          <a:p>
            <a:pPr>
              <a:spcAft>
                <a:spcPts val="1000"/>
              </a:spcAft>
              <a:buChar char="•"/>
              <a:lnSpc>
                <a:spcPts val="2200"/>
              </a:lnSpc>
            </a:pPr>
            <a:r>
              <a:rPr sz="2000" b="0">
                <a:solidFill>
                  <a:srgbClr val="333333"/>
                </a:solidFill>
                <a:latin typeface="Calibri"/>
              </a:rPr>
              <a:t>View files: `modules/chapter10/example16/`</a:t>
            </a:r>
          </a:p>
        </p:txBody>
      </p:sp>
      <p:sp>
        <p:nvSpPr>
          <p:cNvPr id="4" name="TextBox 3"/>
          <p:cNvSpPr txBox="1"/>
          <p:nvPr/>
        </p:nvSpPr>
        <p:spPr>
          <a:xfrm>
            <a:off x="548640" y="6355080"/>
            <a:ext cx="11064240" cy="320040"/>
          </a:xfrm>
          <a:prstGeom prst="rect">
            <a:avLst/>
          </a:prstGeom>
          <a:noFill/>
        </p:spPr>
        <p:txBody>
          <a:bodyPr wrap="square">
            <a:noAutofit/>
          </a:bodyPr>
          <a:lstStyle/>
          <a:p>
            <a:pPr algn="r">
              <a:lnSpc>
                <a:spcPts val="2200"/>
              </a:lnSpc>
              <a:defRPr sz="1000" b="0">
                <a:solidFill>
                  <a:srgbClr val="666666"/>
                </a:solidFill>
                <a:latin typeface="Calibri"/>
              </a:defRPr>
            </a:pPr>
            <a:r>
              <a:t>Chapter 10 — Use Cases Autonomy Security</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411480"/>
            <a:ext cx="11064240" cy="777240"/>
          </a:xfrm>
          <a:prstGeom prst="rect">
            <a:avLst/>
          </a:prstGeom>
          <a:noFill/>
        </p:spPr>
        <p:txBody>
          <a:bodyPr wrap="square">
            <a:noAutofit/>
          </a:bodyPr>
          <a:lstStyle/>
          <a:p>
            <a:pPr>
              <a:lnSpc>
                <a:spcPts val="2200"/>
              </a:lnSpc>
            </a:pPr>
            <a:r>
              <a:rPr sz="2800" b="1">
                <a:solidFill>
                  <a:srgbClr val="1A1A2E"/>
                </a:solidFill>
                <a:latin typeface="Calibri"/>
              </a:rPr>
              <a:t>Cybersecurity and evolving threats</a:t>
            </a:r>
          </a:p>
        </p:txBody>
      </p:sp>
      <p:sp>
        <p:nvSpPr>
          <p:cNvPr id="3" name="TextBox 2"/>
          <p:cNvSpPr txBox="1"/>
          <p:nvPr/>
        </p:nvSpPr>
        <p:spPr>
          <a:xfrm>
            <a:off x="548640" y="1234440"/>
            <a:ext cx="11064240" cy="4937760"/>
          </a:xfrm>
          <a:prstGeom prst="rect">
            <a:avLst/>
          </a:prstGeom>
          <a:noFill/>
        </p:spPr>
        <p:txBody>
          <a:bodyPr wrap="square">
            <a:noAutofit/>
          </a:bodyPr>
          <a:lstStyle/>
          <a:p>
            <a:pPr>
              <a:spcAft>
                <a:spcPts val="1000"/>
              </a:spcAft>
              <a:buChar char="•"/>
              <a:lnSpc>
                <a:spcPts val="2200"/>
              </a:lnSpc>
            </a:pPr>
            <a:r>
              <a:rPr sz="2000" b="0">
                <a:solidFill>
                  <a:srgbClr val="333333"/>
                </a:solidFill>
                <a:latin typeface="Calibri"/>
              </a:rPr>
              <a:t>Cyber threats evolve quickly; real attack logs are incomplete and sensitive</a:t>
            </a:r>
          </a:p>
          <a:p>
            <a:pPr>
              <a:spcAft>
                <a:spcPts val="1000"/>
              </a:spcAft>
              <a:buChar char="•"/>
              <a:lnSpc>
                <a:spcPts val="2200"/>
              </a:lnSpc>
            </a:pPr>
            <a:r>
              <a:rPr sz="2000" b="0">
                <a:solidFill>
                  <a:srgbClr val="333333"/>
                </a:solidFill>
                <a:latin typeface="Calibri"/>
              </a:rPr>
              <a:t>Insider-threat models without waiting for live incidents</a:t>
            </a:r>
          </a:p>
        </p:txBody>
      </p:sp>
      <p:sp>
        <p:nvSpPr>
          <p:cNvPr id="4" name="TextBox 3"/>
          <p:cNvSpPr txBox="1"/>
          <p:nvPr/>
        </p:nvSpPr>
        <p:spPr>
          <a:xfrm>
            <a:off x="548640" y="6355080"/>
            <a:ext cx="11064240" cy="320040"/>
          </a:xfrm>
          <a:prstGeom prst="rect">
            <a:avLst/>
          </a:prstGeom>
          <a:noFill/>
        </p:spPr>
        <p:txBody>
          <a:bodyPr wrap="square">
            <a:noAutofit/>
          </a:bodyPr>
          <a:lstStyle/>
          <a:p>
            <a:pPr algn="r">
              <a:lnSpc>
                <a:spcPts val="2200"/>
              </a:lnSpc>
              <a:defRPr sz="1000" b="0">
                <a:solidFill>
                  <a:srgbClr val="666666"/>
                </a:solidFill>
                <a:latin typeface="Calibri"/>
              </a:defRPr>
            </a:pPr>
            <a:r>
              <a:t>Chapter 10 — Use Cases Autonomy Security</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411480"/>
            <a:ext cx="11064240" cy="777240"/>
          </a:xfrm>
          <a:prstGeom prst="rect">
            <a:avLst/>
          </a:prstGeom>
          <a:noFill/>
        </p:spPr>
        <p:txBody>
          <a:bodyPr wrap="square">
            <a:noAutofit/>
          </a:bodyPr>
          <a:lstStyle/>
          <a:p>
            <a:pPr>
              <a:lnSpc>
                <a:spcPts val="2200"/>
              </a:lnSpc>
            </a:pPr>
            <a:r>
              <a:rPr sz="2800" b="1">
                <a:solidFill>
                  <a:srgbClr val="1A1A2E"/>
                </a:solidFill>
                <a:latin typeface="Calibri"/>
              </a:rPr>
              <a:t>Example 10.17 — Ransomware Attack Simulation</a:t>
            </a:r>
          </a:p>
        </p:txBody>
      </p:sp>
      <p:sp>
        <p:nvSpPr>
          <p:cNvPr id="3" name="TextBox 2"/>
          <p:cNvSpPr txBox="1"/>
          <p:nvPr/>
        </p:nvSpPr>
        <p:spPr>
          <a:xfrm>
            <a:off x="548640" y="1234440"/>
            <a:ext cx="11064240" cy="4937760"/>
          </a:xfrm>
          <a:prstGeom prst="rect">
            <a:avLst/>
          </a:prstGeom>
          <a:noFill/>
        </p:spPr>
        <p:txBody>
          <a:bodyPr wrap="square">
            <a:noAutofit/>
          </a:bodyPr>
          <a:lstStyle/>
          <a:p>
            <a:pPr>
              <a:spcAft>
                <a:spcPts val="1000"/>
              </a:spcAft>
              <a:buChar char="•"/>
              <a:lnSpc>
                <a:spcPts val="2200"/>
              </a:lnSpc>
            </a:pPr>
            <a:r>
              <a:rPr sz="2000" b="0">
                <a:solidFill>
                  <a:srgbClr val="333333"/>
                </a:solidFill>
                <a:latin typeface="Calibri"/>
              </a:rPr>
              <a:t>Example 10.17 — hands-on module</a:t>
            </a:r>
          </a:p>
          <a:p>
            <a:pPr>
              <a:spcAft>
                <a:spcPts val="1000"/>
              </a:spcAft>
              <a:buChar char="•"/>
              <a:lnSpc>
                <a:spcPts val="2200"/>
              </a:lnSpc>
            </a:pPr>
            <a:r>
              <a:rPr sz="2000" b="0">
                <a:solidFill>
                  <a:srgbClr val="333333"/>
                </a:solidFill>
                <a:latin typeface="Calibri"/>
              </a:rPr>
              <a:t>Example 10.17 describes a security operations center replaying synthetic ransomware</a:t>
            </a:r>
          </a:p>
          <a:p>
            <a:pPr>
              <a:spcAft>
                <a:spcPts val="1000"/>
              </a:spcAft>
              <a:buChar char="•"/>
              <a:lnSpc>
                <a:spcPts val="2200"/>
              </a:lnSpc>
            </a:pPr>
            <a:r>
              <a:rPr sz="2000" b="0">
                <a:solidFill>
                  <a:srgbClr val="333333"/>
                </a:solidFill>
                <a:latin typeface="Calibri"/>
              </a:rPr>
              <a:t>Explore the chapter example module</a:t>
            </a:r>
          </a:p>
          <a:p>
            <a:pPr>
              <a:spcAft>
                <a:spcPts val="1000"/>
              </a:spcAft>
              <a:buChar char="•"/>
              <a:lnSpc>
                <a:spcPts val="2200"/>
              </a:lnSpc>
            </a:pPr>
            <a:r>
              <a:rPr sz="2000" b="0">
                <a:solidFill>
                  <a:srgbClr val="333333"/>
                </a:solidFill>
                <a:latin typeface="Calibri"/>
              </a:rPr>
              <a:t>View files: `modules/chapter10/example17/`</a:t>
            </a:r>
          </a:p>
        </p:txBody>
      </p:sp>
      <p:sp>
        <p:nvSpPr>
          <p:cNvPr id="4" name="TextBox 3"/>
          <p:cNvSpPr txBox="1"/>
          <p:nvPr/>
        </p:nvSpPr>
        <p:spPr>
          <a:xfrm>
            <a:off x="548640" y="6355080"/>
            <a:ext cx="11064240" cy="320040"/>
          </a:xfrm>
          <a:prstGeom prst="rect">
            <a:avLst/>
          </a:prstGeom>
          <a:noFill/>
        </p:spPr>
        <p:txBody>
          <a:bodyPr wrap="square">
            <a:noAutofit/>
          </a:bodyPr>
          <a:lstStyle/>
          <a:p>
            <a:pPr algn="r">
              <a:lnSpc>
                <a:spcPts val="2200"/>
              </a:lnSpc>
              <a:defRPr sz="1000" b="0">
                <a:solidFill>
                  <a:srgbClr val="666666"/>
                </a:solidFill>
                <a:latin typeface="Calibri"/>
              </a:defRPr>
            </a:pPr>
            <a:r>
              <a:t>Chapter 10 — Use Cases Autonomy Security</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411480"/>
            <a:ext cx="11064240" cy="777240"/>
          </a:xfrm>
          <a:prstGeom prst="rect">
            <a:avLst/>
          </a:prstGeom>
          <a:noFill/>
        </p:spPr>
        <p:txBody>
          <a:bodyPr wrap="square">
            <a:noAutofit/>
          </a:bodyPr>
          <a:lstStyle/>
          <a:p>
            <a:pPr>
              <a:lnSpc>
                <a:spcPts val="2200"/>
              </a:lnSpc>
            </a:pPr>
            <a:r>
              <a:rPr sz="2800" b="1">
                <a:solidFill>
                  <a:srgbClr val="1A1A2E"/>
                </a:solidFill>
                <a:latin typeface="Calibri"/>
              </a:rPr>
              <a:t>Takeaways</a:t>
            </a:r>
          </a:p>
        </p:txBody>
      </p:sp>
      <p:sp>
        <p:nvSpPr>
          <p:cNvPr id="3" name="TextBox 2"/>
          <p:cNvSpPr txBox="1"/>
          <p:nvPr/>
        </p:nvSpPr>
        <p:spPr>
          <a:xfrm>
            <a:off x="548640" y="1234440"/>
            <a:ext cx="11064240" cy="4937760"/>
          </a:xfrm>
          <a:prstGeom prst="rect">
            <a:avLst/>
          </a:prstGeom>
          <a:noFill/>
        </p:spPr>
        <p:txBody>
          <a:bodyPr wrap="square">
            <a:noAutofit/>
          </a:bodyPr>
          <a:lstStyle/>
          <a:p>
            <a:pPr>
              <a:spcAft>
                <a:spcPts val="1000"/>
              </a:spcAft>
              <a:buChar char="•"/>
              <a:lnSpc>
                <a:spcPts val="2200"/>
              </a:lnSpc>
            </a:pPr>
            <a:r>
              <a:rPr sz="2000" b="0">
                <a:solidFill>
                  <a:srgbClr val="333333"/>
                </a:solidFill>
                <a:latin typeface="Calibri"/>
              </a:rPr>
              <a:t>Autonomy benefits from synthetic rare-scenario coverage</a:t>
            </a:r>
          </a:p>
          <a:p>
            <a:pPr>
              <a:spcAft>
                <a:spcPts val="1000"/>
              </a:spcAft>
              <a:buChar char="•"/>
              <a:lnSpc>
                <a:spcPts val="2200"/>
              </a:lnSpc>
            </a:pPr>
            <a:r>
              <a:rPr sz="2000" b="0">
                <a:solidFill>
                  <a:srgbClr val="333333"/>
                </a:solidFill>
                <a:latin typeface="Calibri"/>
              </a:rPr>
              <a:t>All three require validation that synthetic behavior matches plausible real threats and</a:t>
            </a:r>
          </a:p>
        </p:txBody>
      </p:sp>
      <p:sp>
        <p:nvSpPr>
          <p:cNvPr id="4" name="TextBox 3"/>
          <p:cNvSpPr txBox="1"/>
          <p:nvPr/>
        </p:nvSpPr>
        <p:spPr>
          <a:xfrm>
            <a:off x="548640" y="6355080"/>
            <a:ext cx="11064240" cy="320040"/>
          </a:xfrm>
          <a:prstGeom prst="rect">
            <a:avLst/>
          </a:prstGeom>
          <a:noFill/>
        </p:spPr>
        <p:txBody>
          <a:bodyPr wrap="square">
            <a:noAutofit/>
          </a:bodyPr>
          <a:lstStyle/>
          <a:p>
            <a:pPr algn="r">
              <a:lnSpc>
                <a:spcPts val="2200"/>
              </a:lnSpc>
              <a:defRPr sz="1000" b="0">
                <a:solidFill>
                  <a:srgbClr val="666666"/>
                </a:solidFill>
                <a:latin typeface="Calibri"/>
              </a:defRPr>
            </a:pPr>
            <a:r>
              <a:t>Chapter 10 — Use Cases Autonomy Security</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411480"/>
            <a:ext cx="11064240" cy="777240"/>
          </a:xfrm>
          <a:prstGeom prst="rect">
            <a:avLst/>
          </a:prstGeom>
          <a:noFill/>
        </p:spPr>
        <p:txBody>
          <a:bodyPr wrap="square">
            <a:noAutofit/>
          </a:bodyPr>
          <a:lstStyle/>
          <a:p>
            <a:pPr>
              <a:lnSpc>
                <a:spcPts val="2200"/>
              </a:lnSpc>
            </a:pPr>
            <a:r>
              <a:rPr sz="2800" b="1">
                <a:solidFill>
                  <a:srgbClr val="1A1A2E"/>
                </a:solidFill>
                <a:latin typeface="Calibri"/>
              </a:rPr>
              <a:t>Next</a:t>
            </a:r>
          </a:p>
        </p:txBody>
      </p:sp>
      <p:sp>
        <p:nvSpPr>
          <p:cNvPr id="3" name="TextBox 2"/>
          <p:cNvSpPr txBox="1"/>
          <p:nvPr/>
        </p:nvSpPr>
        <p:spPr>
          <a:xfrm>
            <a:off x="548640" y="1234440"/>
            <a:ext cx="11064240" cy="4937760"/>
          </a:xfrm>
          <a:prstGeom prst="rect">
            <a:avLst/>
          </a:prstGeom>
          <a:noFill/>
        </p:spPr>
        <p:txBody>
          <a:bodyPr wrap="square">
            <a:noAutofit/>
          </a:bodyPr>
          <a:lstStyle/>
          <a:p>
            <a:pPr>
              <a:spcAft>
                <a:spcPts val="1000"/>
              </a:spcAft>
              <a:buChar char="•"/>
              <a:lnSpc>
                <a:spcPts val="2200"/>
              </a:lnSpc>
            </a:pPr>
            <a:r>
              <a:rPr sz="2000" b="0">
                <a:solidFill>
                  <a:srgbClr val="333333"/>
                </a:solidFill>
                <a:latin typeface="Calibri"/>
              </a:rPr>
              <a:t>Complete the quiz for this part</a:t>
            </a:r>
          </a:p>
          <a:p>
            <a:pPr>
              <a:spcAft>
                <a:spcPts val="1000"/>
              </a:spcAft>
              <a:buChar char="•"/>
              <a:lnSpc>
                <a:spcPts val="2200"/>
              </a:lnSpc>
            </a:pPr>
            <a:r>
              <a:rPr sz="2000" b="0">
                <a:solidFill>
                  <a:srgbClr val="333333"/>
                </a:solidFill>
                <a:latin typeface="Calibri"/>
              </a:rPr>
              <a:t>Regulatory considerations</a:t>
            </a:r>
          </a:p>
        </p:txBody>
      </p:sp>
      <p:sp>
        <p:nvSpPr>
          <p:cNvPr id="4" name="TextBox 3"/>
          <p:cNvSpPr txBox="1"/>
          <p:nvPr/>
        </p:nvSpPr>
        <p:spPr>
          <a:xfrm>
            <a:off x="548640" y="6355080"/>
            <a:ext cx="11064240" cy="320040"/>
          </a:xfrm>
          <a:prstGeom prst="rect">
            <a:avLst/>
          </a:prstGeom>
          <a:noFill/>
        </p:spPr>
        <p:txBody>
          <a:bodyPr wrap="square">
            <a:noAutofit/>
          </a:bodyPr>
          <a:lstStyle/>
          <a:p>
            <a:pPr algn="r">
              <a:lnSpc>
                <a:spcPts val="2200"/>
              </a:lnSpc>
              <a:defRPr sz="1000" b="0">
                <a:solidFill>
                  <a:srgbClr val="666666"/>
                </a:solidFill>
                <a:latin typeface="Calibri"/>
              </a:defRPr>
            </a:pPr>
            <a:r>
              <a:t>Chapter 10 — Use Cases Autonomy Security</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