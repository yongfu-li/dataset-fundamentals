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2 through 9 covered how real records are collected, labeled, cleaned, documented, and scaled. This chapter asks when artificially generated data can supplement or replace scarce or sensitive observations. Synthetic data is created by algorithms, models, or simulations rather than direct measurement, yet it should preserve enough statistical structure to support analysis and model training.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synthetic data and explain how it differs from directly observed records; describe cross-modal fidelity requirements for images versus tabular finance data; and summarize privacy, cost, and scalability benefits that motivate synthetic generation.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refers to artificially generated records designed to mirror the statistical properties, patterns, or structure of real data. The primary requirement is analytical value: generated rows or images should resemble the original distribution closely enough for training, testing, or sharing, while omitting direct identifiers. Synthetic outputs may still miss some real-world noise and edge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 contrasts fidelity across modalities. Synthetic images should show realistic textures and object relationships, while synthetic financial transactions should preserve correlations, distributions, and trends seen in real markets. The same generator cannot be judged by one universal rule; fidelity is modality-specific. The example 1 module for this chapter summarizes these contrasts.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create synthetic data through statistical sampling, machine learning generators such as generative adversarial networks, and simulation engines. Statistical approaches draw from fitted distributions or Monte Carlo models. Machine learning methods learn an underlying data distribution and emit new samples that fit it. The method choice depends on modality, privacy goals, and validation capacity.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10.2 shows privacy-preserving medical records. A healthcare provider can generate synthetic patient tables that mimic real diagnostic and treatment patterns without exposing actual individuals. This supports research and model development under regulations such as HIPAA and GDPR. The example 2 module for this chapter frames the privacy benefit.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Collecting real-world data—especially annotated driving footage or rare clinical cases—can be expensive and slow. Synthetic generation scales volume on demand and can fill underrepresented classes or edge scenarios that real logs rarely capture. Fraud detection and rare-disease modeling are common cases where synthetic volume helps balance training sets.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10.3 illustrates synthetic autonomous-driving scenarios. Simulations can produce varied weather, lighting, and road layouts that are hard to log safely at scale in the real world. Synthetic clips let perception and planning stacks encounter diverse conditions before deployment. The example 3 module for this chapter describes this cost and coverage rationale.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is algorithmically generated yet must preserve analytical structure. Fidelity requirements differ by modality. Key benefits include privacy preservation, lower collection cost, and scalable coverage of rare or expensive scenarios. Benefits do not remove the need for validation, which the next part addresses.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validation and generalization gaps, demographic bias inherited from source data, and overfitting or lack of diversity when models train only on synthetic copies.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why statistical similarity does not guarantee real-world utility; identify how source-data bias propagates through generators; and describe overfitting and homogeneity risks in machine-learning-based synthesis.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central challenge is proving that synthetic data represents the phenomena it is meant to simulate. Generated samples may match aggregate statistics yet miss subtle structure, natural variation, or noise that real systems exhibit. Models trained only on synthetic data may look strong in controlled tests yet fail when deployed on live inputs.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10.4 highlights a validation gap for synthetic faces. Images may appear realistic yet lack lighting changes, occlusions, and other variation present in real portraits. A face-recognition model trained on such data can underperform in production. The example 4 module for this chapter frames this fidelity versus variation tradeoff.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must generalize to conditions the generator never saw. Real environments change unpredictably—markets shift, sensors drift, and human behavior varies. When synthetic corpora oversimplify those dynamics, downstream models inherit a narrow view of the world and degrade outside the training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generators learn from existing datasets or predefined models, they can inherit and amplify demographic or label skew present in the source. Mitigation matters: biased synthetic hiring or healthcare data can reinforce unfair outcomes even when individual identifiers are removed.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10.5 shows how biased source data propagates through a generative adversarial network. If training images underrepresent certain groups, generated faces may perpetuate the same skew. In sensitive domains such as healthcare or hiring, that can produce systematically unfair decisions. The example 5 module for this chapter summarizes this propagation risk.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Machine-learning generators can overfit training data and emit homogeneous samples. When synthetic sets omit edge cases or rare events, models may memorize simplified patterns and fail on varied real-world inputs. Diversity is not optional—it is part of whether synthetic augmentation actually improves robustness.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requires explicit validation against real benchmarks, not assumption of fidelity. Source bias, mode collapse, and homogeneity can all undermine utility. Teams should treat challenges here as design constraints before choosing statistical, GAN, or language-model synthesis methods.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introduces statistical distribution modeling, normal-distribution sampling sketches, and Monte Carlo simulation for uncertain outcomes such as asset returns.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distribution-fitting workflows for parametric sampling; explain when Monte Carlo simulation is appropriate; and connect both methods to privacy-preserving and benchmark-oriented synthetic releases.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Statistical synthesis uses mathematical models to simulate data that shares properties with real records while limiting exposure of individual rows. Common tools include distribution fitting, Monte Carlo draws, bootstrapping, and regression—each preserving structure under stated assumptions. The main challenge is matching correlations and trends, not just marginal distributions.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Distribution modeling fits a known law—normal, exponential, Poisson, or others—to observed data, then samples new points from that law. Analysts first characterize the real dataset, estimate parameters such as mean and standard deviation, and draw synthetic values from the same family. This works when the assumed distribution matches the domain.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10.6 sketches sampling from a fitted normal distribution. If real values follow a mean of fifty and standard deviation of ten, synthetic points are drawn from a normal with the same parameters. The example 6 module for this chapter runs this sketch in Python and compares sample moments to the targets.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Monte Carlo methods repeat random sampling and simulation when the underlying process is complex or the distribution is unknown. Many draws are averaged or aggregated to estimate outcomes under uncertainty. Finance, engineering, and risk analysis use this approach to stress portfolios, systems, and scenarios that closed-form models cannot capture cleanly.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10.7 applies Monte Carlo simulation to financial returns. Synthetic return paths incorporate risk factors and market conditions, letting analysts explore outcome distributions without relying on a single historical trace. The example 7 module for this chapter demonstrates randomized draw-based simulation for asset returns.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releases—such as device-model sweeps—are synthetic by construction: every point comes from a specified simulator and parameter grid. Quality assurance then documents settings and reproducibility rather than detecting missing field packets after collection. That differs from privacy-motivated tabular synthesis but still produces shareable reference distributions.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Parametric sampling copies moments from fitted laws; Monte Carlo handles complex uncertainty through repeated simulation. Both require explicit assumptions and validation against real benchmarks. Univariate methods ignore variable relationships, which the next part addresses through correlation modeling, bootstrapping, and regression.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joint distributions that preserve dependencies between variables, bootstrapping from small real samples, and regression-based projection for structured synthetic rows.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why multivariate modeling matters for realistic tabular synthesis; describe bootstrapping with replacement from small samples; and outline regression-based generation of dependent variables from predictors.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datasets rarely treat columns as independent. Income and age co-vary; asset returns co-move; vitals correlate across visits. Useful synthetic tabular data must replicate these joint relationships, not just marginal histograms. Multivariate distributions and copulas model dependence structures, including nonlinear ties that simple pairwise correlation misses.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10.8 preserves correlations between income and age. Analysts model the joint distribution so synthetic rows keep segment-level relationships—such as higher income in certain age bands—rather than sampling each column independently. The example 8 module for this chapter demonstrates correlated draws in Python.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Copulas separate marginal behavior from dependence structure, which helps when variables have non-linear or time-varying relationships—as in financial markets. After fitting dependence, new synthetic rows are sampled from the joint model or copula, yielding data suitable for predictive modeling and stress testing.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Bootstrapping resamples an original dataset with replacement to create larger synthetic sets that reflect observed variability. Some real rows repeat; others are omitted. Repeating the process yields multiple bootstrap datasets for training or uncertainty estimation when collection produced only a small real sample.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10.9 bootstraps a small customer purchase-history sample into a larger training set that preserves observed purchase patterns. This supports model training when raw logs are limited. The example 9 module for this chapter runs resampling with replacement on a tiny purchase 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Regression models fit relationships between predictors and an outcome, then generate synthetic outcomes by sampling predictor values and applying the fitted equation—including error terms for simple linear or richer multi-predictor forms. Economics, healthcare, and social science often use this when domain theory guides variable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10.10 generates synthetic GDP growth from macro predictors such as interest rates, inflation, and government spending. The regression preserves structured relationships among indicators rather than independent column draws. The example 10 module for this chapter implements projection from fitted coefficients.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Realistic tabular synthesis requires joint structure, not independent marginals. Bootstrapping expands small real samples while preserving variability; regression projects outcomes from known predictor relationships. Statistical methods set the foundation before generative adversarial networks learn complex structure from data.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explains generator and discriminator roles, adversarial training, loss functions, and convergence challenges that affect synthetic realism in generative adversarial networks.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the generator–discriminator minimax setup; outline alternating training updates for each network; explain binary cross-entropy loss roles; and name mode collapse and training instability as primary failure modes.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generative adversarial network pairs two neural networks trained simultaneously in a game-theoretic framework. The generator creates synthetic samples from random noise; the discriminator classifies inputs as real or fake. Competition drives the generator toward outputs that are hard to distinguish from real data across images, text, audio, and other modalities.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generator maps latent noise to synthetic data points—faces, waveforms, or tabular feature vectors. Its objective is to produce samples that appear authentic to humans or downstream classifiers. Early training yields poor fakes; later iterations refine texture, structure, and label-consistent patterns as discriminator feedback improves.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discriminator acts as a binary classifier scoring whether each input is real or synthetic. It trains on batches of real records and generator outputs, providing the learning signal that pushes the generator toward realism. If the discriminator becomes too strong or too weak relative to the generator, training can stall or diverge.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alternates discriminator and generator updates. First the discriminator learns to separate real and fake batches. Then the generator updates to fool the discriminator. This minimax game continues until fakes are sufficiently realistic—though perfect equilibrium is rare in practice, and careful balance of learning rates and capacity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common choice is binary cross-entropy loss. The discriminator minimizes classification error on real versus fake labels. The generator minimizes the discriminator’s ability to reject fakes—effectively maximizing the probability assigned to synthetic samples as real. Loss design directly affects stability and sample quality.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adversarial network training is notoriously unstable. Mode collapse occurs when the generator repeats a narrow set of outputs instead of exploring the full data distribution. Vanishing gradients, imbalanced network capacity, and diverging losses can prevent convergence. Teams monitor samples, losses, and diversity metrics throughout training.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adversarial networks learn synthesis through adversarial feedback rather than explicit distributional assumptions. Success depends on balanced generator–discriminator training and appropriate loss functions. Architectural variants, evaluation metrics, and ethical risks are covered in the next part.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surveys conditional generative adversarial networks, CycleGANs, and StyleGANs, then discusses realism metrics, prominent use cases, and ethical risks such as deepfakes and malicious misuse.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contrast conditional, cycle-consistent, and style-controlled GAN variants; name common evaluation metrics for generated media; summarize domain use cases; and recognize deepfake and misuse risks tied to realistic synthesis.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Conditional generative adversarial networks feed class labels or other attributes into both generator and discriminator. The generator then produces samples that satisfy specified constraints—particular object categories, demographics, or scene types—while remaining visually or statistically plausible. This supports supervised augmentation and controlled image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10.11 shows a conditional generative adversarial network generating cats, dogs, or cars from a provided label. Label conditioning makes the output useful for image-to-image tasks and class-balanced training sets. The example 11 module for this chapter summarizes conditional generation scenarios.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CycleGAN translates between image domains without paired training examples—horses to zebras, winter to summer—using cycle consistency so round-trip mappings preserve content. StyleGAN focuses on high-quality faces and fine-grained style control through a hierarchical generator, enabling photorealistic synthesis with adjustable coarse and fine attributes.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adversarial networks excel at realistic image, text, and time-series synthesis and strong data augmentation for scarce domains. Limitations include training instability, heavy compute for high resolution, and difficult quantitative evaluation without ground-truth synthetic labels. Human review and statistical metrics both remain necessary.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synthetic sets lack per-row ground truth, teams use proxy metrics. Inception Score measures classifiability and diversity of generated images. Fréchet Inception Distance compares feature distributions of real and generated images. Precision and recall adaptations assess fidelity versus coverage of the real manifold.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adversarial networks synthesize medical imaging for privacy-aware research, augment rare events in vision and time series, and support creative generation. In security and media, the same machinery can forge identities or fabricate events—so evaluation must include utility for intended tasks, not realism alone.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Realistic generators enable deepfakes: synthetic faces, voices, or video that impersonate people or invent scenes. The same tools can produce fraudulent documents or misleading news. These risks connect to the chapter-wide ethics agenda—privacy, bias amplification, and over-reliance—not a separate policy silo for generative adversarial networks alone.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Variant architectures add control, unpaired translation, and style manipulation atop basic adversarial training. Metrics such as Inception Score and Fréchet Inception Distance help compare generators but do not replace task-level validation. Deepfakes illustrate why governance and provenance matter alongside model quality.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explains how large language models generate synthetic text, labels, and structured records through prompting, and why hallucination, memorization, and bias require the same validation gates as generative adversarial outputs.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prompt-based text and label synthesis workflows; explain differences from adversarial image generators; and list hallucination, memorization, and bias risks that demand screening and audit before training use.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language models offer a practical route for synthetic text, labels, and structured rows. Unlike generative adversarial networks trained through a discriminator game, language-model synthesis typically conditions a pretrained model on prompts, schema instructions, or seed examples and asks it to emit new content. This supports low-resource natural language processing, instruction tuning, and rapid dataset prototyping.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paraphrase existing sentences, expand class-balanced corpora, or draft customer-support transcripts with controlled attributes such as product, sentiment, and urgency. The same pattern appears in programmatic weak supervision: a model proposes candidate labels that humans or heuristics later audit. Cheap generation is attractive when real text is scarce, sensitive, or expensive to annotate.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Language models can invent facts, entities, or label rationales that look plausible yet are wrong. For regulated or clinical text, hallucinated content can poison training data and mislead downstream systems. Synthetic corpora therefore need factual and schema checks—not only fluency review—before they enter model training or human-subjects research.</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Pretrained models may reproduce memorized training snippets, including personally identifiable information. Synthetic text is not automatically privacy-safe. Releases must be screened for identifiers and linkage risk, especially when prompts echo rare real records. Privacy engineering controls from earlier chapters still apply.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Language models inherit social and demographic biases present in pretraining corpora. Synthetic labels or dialogues can over-represent dominant viewpoints or stereotyped roles, amplifying unfair outcomes in hiring, moderation, or healthcare applications. Fairness audits should cover both source seeds and generated cohorts.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Language-model synthesis must pass the same validation and ethics gates as statistical or generative-adversarial outputs: compare distributions to real benchmarks, document prompts and model versions, audit for sensitive content, and retain human oversight for high-stakes labels. Annotation quality practices from earlier chapters extend directly to synthetic text pipelines.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language models enable fast text and label synthesis through prompting rather than adversarial training. Low cost does not imply low risk—hallucination, memorization, and bias demand explicit screening. Domain use cases in healthcare, finance, autonomy, and security are explored in the next parts.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walks privacy-preserving medical records, rare-disease simulation, and synthetic fraud patterns for financial model training.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how synthetic health data supports research under HIPAA and GDPR constraints; describe rare-condition augmentation for low-prevalence diseases; and outline fraud-detection training with synthetic transaction patterns.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Healthcare data face strict privacy rules in the United States and Europe. Real electronic health records often cannot be shared freely for external research or vendor benchmarking. Synthetic medical tables can preserve cohort-level statistics and clinical relationships while removing direct identifiers—provided re-identification risk is validated, not assumed away.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10.12 describes a hospital consortium releasing synthetic electronic health record tables with diagnosis codes, lab ranges, and visit counts. External researchers prototype models without accessing raw patient files. The example 12 module for this chapter frames privacy-preserving medical sharing scenarios.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Low-prevalence diseases yield too few real cases for robust machine learning. Synthetic generation can augment rare oncology or genetic presentations while preserving clinically relevant feature patterns. The goal is better classifiers and simulators—not fictional patients that misrepresent treatment pathways.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10.13 shows an oncology team generating additional synthetic cases of a rare lymphoma subtype so a classifier trains on more than a handful of real admissions from one center. The example 13 module for this chapter summarizes rare-disease augmentation rationale.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Financial institutions handle sensitive transactional data restricted by security and privacy policies. Synthetic data offers an alternative for fraud modeling and strategy simulation without exposing customer identifiers or proprietary trading histories.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Fraud is a rare-event problem: historical logs contain few positive examples. Synthetic generators can emit diverse fraudulent sequences—unusual merchant categories, velocity spikes, or card-not-present patterns—that expand detector training beyond sparse real labels.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10.14 describes a payments provider synthesizing card-not-present fraud sequences with unusual merchant categories and velocity spikes. Detectors gain positive examples absent from historical logs. The example 14 module for this chapter outlines synthetic fraud augmentation for model training.</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fraud, synthetic market data can stress investment and risk models with crashes, booms, and edge conditions underrepresented in limited historical windows. Synthetic finance use cases still require validation against live macro regimes before deployment decisions rely on them.</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Healthcare synthesis targets privacy-preserving sharing and rare-disease coverage; finance synthesis targets confidential fraud and trading simulation. Both domains demand regulatory awareness and fidelity checks beyond aggregate similarity. Autonomy and cybersecurity use cases follow in the next part.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pedestrian-in-rain edge cases for autonomous systems, computer-vision augmentation, and ransomware attack simulation for cybersecurity training.</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synthetic scenario generation for self-driving perception and planning; describe vision augmentation for generalization; and outline cyberattack simulation for anomaly detection and blue-team drills.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Self-driving stacks require vast labeled coverage across weather, lighting, traffic, and pedestrian behavior. Logging every dangerous or rare combination on public roads is impractical and costly. Synthetic environments generate diverse driving clips for navigation, decision-making, and obstacle avoidance training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10.15 trains perception on synthetic clips of pedestrians emerging from heavy rain at night—a combination rarely present in fleet logs. Edge-case synthesis improves robustness where real collection is sparse or unsafe. The example 15 module for this chapter summarizes this autonomy scenario.</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Rare events—jaywalking, sudden obstacles, or unusual road geometry—may never appear enough in real logs. Synthetic simulation supplies critical scenarios at scale, reducing the chance that planners fail on first contact with chaotic real-world behavior. Over-reliance remains a risk if generators omit plausible human actions.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augments sparse or imbalanced real sets across computer vision, natural language processing, and speech. Rendered product photos under varied lighting and clutter diversify backgrounds beyond warehouse photography. Modified or generated text expands corpora for sentiment and translation tasks.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10.16 shows a vision team rendering synthetic product photos with varied lighting and clutter so classifiers see more backgrounds than warehouse photography provides. The example 16 module for this chapter frames augmentation for improved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 threats evolve quickly; real attack logs are incomplete and sensitive. Synthetic normal and anomalous network activity expands training for intrusion detection, phishing recognition, and insider-threat models without waiting for live incidents.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10.17 describes a security operations center replaying synthetic ransomware encryption patterns against backup workflows to test detection latency before a live incident. The example 17 module for this chapter outlines attack simulation for defensive readiness.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Autonomy benefits from synthetic rare-scenario coverage; vision and language pipelines benefit from diversified augmentation; cybersecurity benefits from simulated attacks and anomalies. All three require validation that synthetic behavior matches plausible real threats and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part asks when synthetic data truly protects people and when it creates new harms—covering privacy claims under GDPR, manipulated reporting, bias amplification, mitigation practices, and regulatory considerations.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evaluate privacy claims for synthetic corpora under GDPR and HIPAA; recognize misuse, over-reliance, and quality risks; explain bias amplification in generated hiring data; and list transparency, validation, and oversight practices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adds risks beyond general privacy law: re-identification through memorization, bias amplification from skewed sources, deceptive realistic media, and accountability when models trained on simulations fail live. Documentation and validation are ethical obligations, not optional metadata.</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often treat synthetic tables as lower risk because direct identifiers are removed. That claim fails if generators memorize rare individuals or adversaries can link rows back to real people. Under GDPR, whether synthetic outputs escape personal-data duties depends on residual identifiability, not the label synthetic alone.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10.18 describes a cross-border research project sharing synthetic patient cohorts for algorithm benchmarking while identifiable European health records remain inside the controller environment. Wide sharing is justified only when unlinkability is demonstrated. The example 18 module for this chapter frames GDPR-aware synthetic patient release.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Poorly generated or deliberately skewed synthetic sets can mislead stakeholders. Vendors may report strong accuracy on synthetic-only benchmarks that omit recent macro shocks or rare behaviors, leading to harmful deployment in banking or healthcare.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10.19 warns of a vendor reporting strong loan-default accuracy using synthetic data that omits recent macro shocks; downstream banks discover failure on live portfolios. The example 19 module for this chapter summarizes performance reporting integrity risks.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Over-reliance treats synthetic corpora as complete substitutes for real-world evidence. Autonomy planners trained mostly on synthetic intersections may fail when pedestrians behave in ways absent from the generator library. Low-quality tabular generators can emit impossible joint values that teach spurious rules.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Generators trained on skewed historical data can emit apparently diverse yet systematically biased samples. Synthetic hiring resumes from male-dominated source data may over-represent the same career paths the organization hoped to correct—amplifying unfair outcomes in high-stakes decisions.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10.22 illustrates synthetic resumes from historically male-dominated hiring data reinforcing the same career-path skew. The example 22 module for this chapter connects amplification to fairness audits on both source and synthetic cohorts.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practices include diverse training sources, fairness constraints, disclosed generation methods, benchmark validation against real data, and ethics review or automated fairness checks. Provenance and retention policies should support accountability when regulators or data subjects challenge synthetic derivatives.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10.23 notes regulators asking whether individuals can challenge inferences trained on synthetic derivatives of personal data—pushing teams to document provenance and retention. The example 23 module for this chapter summarizes evolving regulatory scrutiny.</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is a privacy tool only when validation shows acceptable re-identification risk. Misuse, over-reliance, and bias amplification require governance alongside technical metrics. Document generators, validate against real benchmarks, and apply fairness oversight before release—then carry those practices into advanced annotation and storage chapters ahead.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positioned statistical sampling, generative adversarial networks, and language models as complements to real collection when data are scarce, sensitive, or imbalanced—provided fidelity and ethics checks pass. Continue to annotation and corpus-scale storage topics in subsequent chapters.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10 — Introduction to synthetic data</a:t>
            </a:r>
          </a:p>
          <a:p>
            <a:pPr algn="ctr">
              <a:lnSpc>
                <a:spcPts val="2200"/>
              </a:lnSpc>
              <a:spcBef>
                <a:spcPts val="1400"/>
              </a:spcBef>
            </a:pPr>
            <a:r>
              <a:rPr sz="2600" b="0">
                <a:solidFill>
                  <a:srgbClr val="333333"/>
                </a:solidFill>
                <a:latin typeface="Calibri"/>
              </a:rPr>
              <a:t>Chapters 2 through 9 covered how real records are collected, labeled, cleaned, documented, and scaled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Scalability benefits that motivate synthetic generation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Definition and analytical value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Patterns, or structure of real data</a:t>
            </a:r>
          </a:p>
          <a:p>
            <a:pPr lvl="0" marL="457200" indent="-228600">
              <a:buFont typeface="Calibri"/>
              <a:spcAft>
                <a:spcPts val="1000"/>
              </a:spcAft>
              <a:buSzPct val="100000"/>
              <a:buChar char="•"/>
              <a:lnSpc>
                <a:spcPts val="2200"/>
              </a:lnSpc>
            </a:pPr>
            <a:r>
              <a:rPr sz="2000" b="0">
                <a:solidFill>
                  <a:srgbClr val="333333"/>
                </a:solidFill>
                <a:latin typeface="Calibri"/>
              </a:rPr>
              <a:t>The primary requirement is analytical value</a:t>
            </a:r>
          </a:p>
          <a:p>
            <a:pPr lvl="0" marL="457200" indent="-228600">
              <a:buFont typeface="Calibri"/>
              <a:spcAft>
                <a:spcPts val="1000"/>
              </a:spcAft>
              <a:buSzPct val="100000"/>
              <a:buChar char="•"/>
              <a:lnSpc>
                <a:spcPts val="2200"/>
              </a:lnSpc>
            </a:pPr>
            <a:r>
              <a:rPr sz="2000" b="0">
                <a:solidFill>
                  <a:srgbClr val="333333"/>
                </a:solidFill>
                <a:latin typeface="Calibri"/>
              </a:rPr>
              <a:t>Synthetic outputs may still miss some real-world noise and edge complexity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 — Cross-Modal Fidelity in Synthetic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10.1 contrasts fidelity across modalities</a:t>
            </a:r>
          </a:p>
          <a:p>
            <a:pPr lvl="0" marL="457200" indent="-228600">
              <a:buFont typeface="Calibri"/>
              <a:spcAft>
                <a:spcPts val="1000"/>
              </a:spcAft>
              <a:buSzPct val="100000"/>
              <a:buChar char="•"/>
              <a:lnSpc>
                <a:spcPts val="2200"/>
              </a:lnSpc>
            </a:pPr>
            <a:r>
              <a:rPr sz="2000" b="0">
                <a:solidFill>
                  <a:srgbClr val="333333"/>
                </a:solidFill>
                <a:latin typeface="Calibri"/>
              </a:rPr>
              <a:t>Trends seen in real markets</a:t>
            </a:r>
          </a:p>
          <a:p>
            <a:pPr lvl="0" marL="457200" indent="-228600">
              <a:buFont typeface="Calibri"/>
              <a:spcAft>
                <a:spcPts val="1000"/>
              </a:spcAft>
              <a:buSzPct val="100000"/>
              <a:buChar char="•"/>
              <a:lnSpc>
                <a:spcPts val="2200"/>
              </a:lnSpc>
            </a:pPr>
            <a:r>
              <a:rPr sz="2000" b="0">
                <a:solidFill>
                  <a:srgbClr val="333333"/>
                </a:solidFill>
                <a:latin typeface="Calibri"/>
              </a:rPr>
              <a:t>The same generator cannot be judged by one universal rule; fidelity is modality-specific</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Generation methods at a glance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Simulation engines</a:t>
            </a:r>
          </a:p>
          <a:p>
            <a:pPr lvl="0" marL="457200" indent="-228600">
              <a:buFont typeface="Calibri"/>
              <a:spcAft>
                <a:spcPts val="1000"/>
              </a:spcAft>
              <a:buSzPct val="100000"/>
              <a:buChar char="•"/>
              <a:lnSpc>
                <a:spcPts val="2200"/>
              </a:lnSpc>
            </a:pPr>
            <a:r>
              <a:rPr sz="2000" b="0">
                <a:solidFill>
                  <a:srgbClr val="333333"/>
                </a:solidFill>
                <a:latin typeface="Calibri"/>
              </a:rPr>
              <a:t>Statistical approaches draw from fitted distributions or Monte Carlo models</a:t>
            </a:r>
          </a:p>
          <a:p>
            <a:pPr lvl="0" marL="457200" indent="-228600">
              <a:buFont typeface="Calibri"/>
              <a:spcAft>
                <a:spcPts val="1000"/>
              </a:spcAft>
              <a:buSzPct val="100000"/>
              <a:buChar char="•"/>
              <a:lnSpc>
                <a:spcPts val="2200"/>
              </a:lnSpc>
            </a:pPr>
            <a:r>
              <a:rPr sz="2000" b="0">
                <a:solidFill>
                  <a:srgbClr val="333333"/>
                </a:solidFill>
                <a:latin typeface="Calibri"/>
              </a:rPr>
              <a:t>Machine learning methods learn an underlying data distribution and emit new samples that</a:t>
            </a:r>
          </a:p>
          <a:p>
            <a:pPr lvl="0" marL="457200" indent="-228600">
              <a:buFont typeface="Calibri"/>
              <a:spcAft>
                <a:spcPts val="1000"/>
              </a:spcAft>
              <a:buSzPct val="100000"/>
              <a:buChar char="•"/>
              <a:lnSpc>
                <a:spcPts val="2200"/>
              </a:lnSpc>
            </a:pPr>
            <a:r>
              <a:rPr sz="2000" b="0">
                <a:solidFill>
                  <a:srgbClr val="333333"/>
                </a:solidFill>
                <a:latin typeface="Calibri"/>
              </a:rPr>
              <a:t>The method choice depends on modality, privacy goals, and validation capacity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10.2 — Synthetic Patient Records for Privacy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10.2 shows privacy-preserving medical records</a:t>
            </a:r>
          </a:p>
          <a:p>
            <a:pPr lvl="0" marL="457200" indent="-228600">
              <a:buFont typeface="Calibri"/>
              <a:spcAft>
                <a:spcPts val="1000"/>
              </a:spcAft>
              <a:buSzPct val="100000"/>
              <a:buChar char="•"/>
              <a:lnSpc>
                <a:spcPts val="2200"/>
              </a:lnSpc>
            </a:pPr>
            <a:r>
              <a:rPr sz="2000" b="0">
                <a:solidFill>
                  <a:srgbClr val="333333"/>
                </a:solidFill>
                <a:latin typeface="Calibri"/>
              </a:rPr>
              <a:t>A healthcare provider can generate synthetic patient tables that mimic real diagnostic and</a:t>
            </a:r>
          </a:p>
          <a:p>
            <a:pPr lvl="0" marL="457200" indent="-228600">
              <a:buFont typeface="Calibri"/>
              <a:spcAft>
                <a:spcPts val="1000"/>
              </a:spcAft>
              <a:buSzPct val="100000"/>
              <a:buChar char="•"/>
              <a:lnSpc>
                <a:spcPts val="2200"/>
              </a:lnSpc>
            </a:pPr>
            <a:r>
              <a:rPr sz="2000" b="0">
                <a:solidFill>
                  <a:srgbClr val="333333"/>
                </a:solidFill>
                <a:latin typeface="Calibri"/>
              </a:rPr>
              <a:t>This supports research and model development under regulations such as HIPAA and GDPR</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Cost efficiency and scalability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Collecting real-world data</a:t>
            </a:r>
          </a:p>
          <a:p>
            <a:pPr lvl="0" marL="457200" indent="-228600">
              <a:buFont typeface="Calibri"/>
              <a:spcAft>
                <a:spcPts val="1000"/>
              </a:spcAft>
              <a:buSzPct val="100000"/>
              <a:buChar char="•"/>
              <a:lnSpc>
                <a:spcPts val="2200"/>
              </a:lnSpc>
            </a:pPr>
            <a:r>
              <a:rPr sz="2000" b="0">
                <a:solidFill>
                  <a:srgbClr val="333333"/>
                </a:solidFill>
                <a:latin typeface="Calibri"/>
              </a:rPr>
              <a:t>Synthetic generation scales volume on demand and can fill underrepresented classes or edge</a:t>
            </a:r>
          </a:p>
          <a:p>
            <a:pPr lvl="0" marL="457200" indent="-228600">
              <a:buFont typeface="Calibri"/>
              <a:spcAft>
                <a:spcPts val="1000"/>
              </a:spcAft>
              <a:buSzPct val="100000"/>
              <a:buChar char="•"/>
              <a:lnSpc>
                <a:spcPts val="2200"/>
              </a:lnSpc>
            </a:pPr>
            <a:r>
              <a:rPr sz="2000" b="0">
                <a:solidFill>
                  <a:srgbClr val="333333"/>
                </a:solidFill>
                <a:latin typeface="Calibri"/>
              </a:rPr>
              <a:t>Fraud detection and rare-disease modeling are common cases where synthetic volume helps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10.3 — Synthetic Driving Scenarios for AV Training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10.3 illustrates synthetic autonomous-driving scenarios</a:t>
            </a:r>
          </a:p>
          <a:p>
            <a:pPr lvl="0" marL="457200" indent="-228600">
              <a:buFont typeface="Calibri"/>
              <a:spcAft>
                <a:spcPts val="1000"/>
              </a:spcAft>
              <a:buSzPct val="100000"/>
              <a:buChar char="•"/>
              <a:lnSpc>
                <a:spcPts val="2200"/>
              </a:lnSpc>
            </a:pPr>
            <a:r>
              <a:rPr sz="2000" b="0">
                <a:solidFill>
                  <a:srgbClr val="333333"/>
                </a:solidFill>
                <a:latin typeface="Calibri"/>
              </a:rPr>
              <a:t>Simulations can produce varied weather, lighting</a:t>
            </a:r>
          </a:p>
          <a:p>
            <a:pPr lvl="0" marL="457200" indent="-228600">
              <a:buFont typeface="Calibri"/>
              <a:spcAft>
                <a:spcPts val="1000"/>
              </a:spcAft>
              <a:buSzPct val="100000"/>
              <a:buChar char="•"/>
              <a:lnSpc>
                <a:spcPts val="2200"/>
              </a:lnSpc>
            </a:pPr>
            <a:r>
              <a:rPr sz="2000" b="0">
                <a:solidFill>
                  <a:srgbClr val="333333"/>
                </a:solidFill>
                <a:latin typeface="Calibri"/>
              </a:rPr>
              <a:t>Synthetic clips let perception and planning stacks encounter diverse conditions before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Synthetic data is algorithmically generated yet must preserve analytical structure</a:t>
            </a:r>
          </a:p>
          <a:p>
            <a:pPr lvl="0" marL="457200" indent="-228600">
              <a:buFont typeface="Calibri"/>
              <a:spcAft>
                <a:spcPts val="1000"/>
              </a:spcAft>
              <a:buSzPct val="100000"/>
              <a:buChar char="•"/>
              <a:lnSpc>
                <a:spcPts val="2200"/>
              </a:lnSpc>
            </a:pPr>
            <a:r>
              <a:rPr sz="2000" b="0">
                <a:solidFill>
                  <a:srgbClr val="333333"/>
                </a:solidFill>
                <a:latin typeface="Calibri"/>
              </a:rPr>
              <a:t>Fidelity requirements differ by modality</a:t>
            </a:r>
          </a:p>
          <a:p>
            <a:pPr lvl="0" marL="457200" indent="-228600">
              <a:buFont typeface="Calibri"/>
              <a:spcAft>
                <a:spcPts val="1000"/>
              </a:spcAft>
              <a:buSzPct val="100000"/>
              <a:buChar char="•"/>
              <a:lnSpc>
                <a:spcPts val="2200"/>
              </a:lnSpc>
            </a:pPr>
            <a:r>
              <a:rPr sz="2000" b="0">
                <a:solidFill>
                  <a:srgbClr val="333333"/>
                </a:solidFill>
                <a:latin typeface="Calibri"/>
              </a:rPr>
              <a:t>Key benefits include privacy preservation, lower collection cost</a:t>
            </a:r>
          </a:p>
          <a:p>
            <a:pPr lvl="0" marL="457200" indent="-228600">
              <a:buFont typeface="Calibri"/>
              <a:spcAft>
                <a:spcPts val="1000"/>
              </a:spcAft>
              <a:buSzPct val="100000"/>
              <a:buChar char="•"/>
              <a:lnSpc>
                <a:spcPts val="2200"/>
              </a:lnSpc>
            </a:pPr>
            <a:r>
              <a:rPr sz="2000" b="0">
                <a:solidFill>
                  <a:srgbClr val="333333"/>
                </a:solidFill>
                <a:latin typeface="Calibri"/>
              </a:rPr>
              <a:t>Benefits do not remove the need for validation, which the next part addresses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Overfitting or lack of diversity when models train only on synthetic copies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Validation and generalization gaps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central challenge is proving that synthetic data represents the phenomena it is meant to</a:t>
            </a:r>
          </a:p>
          <a:p>
            <a:pPr lvl="0" marL="457200" indent="-228600">
              <a:buFont typeface="Calibri"/>
              <a:spcAft>
                <a:spcPts val="1000"/>
              </a:spcAft>
              <a:buSzPct val="100000"/>
              <a:buChar char="•"/>
              <a:lnSpc>
                <a:spcPts val="2200"/>
              </a:lnSpc>
            </a:pPr>
            <a:r>
              <a:rPr sz="2000" b="0">
                <a:solidFill>
                  <a:srgbClr val="333333"/>
                </a:solidFill>
                <a:latin typeface="Calibri"/>
              </a:rPr>
              <a:t>Generated samples may match aggregate statistics yet miss subtle structure</a:t>
            </a:r>
          </a:p>
          <a:p>
            <a:pPr lvl="0" marL="457200" indent="-228600">
              <a:buFont typeface="Calibri"/>
              <a:spcAft>
                <a:spcPts val="1000"/>
              </a:spcAft>
              <a:buSzPct val="100000"/>
              <a:buChar char="•"/>
              <a:lnSpc>
                <a:spcPts val="2200"/>
              </a:lnSpc>
            </a:pPr>
            <a:r>
              <a:rPr sz="2000" b="0">
                <a:solidFill>
                  <a:srgbClr val="333333"/>
                </a:solidFill>
                <a:latin typeface="Calibri"/>
              </a:rPr>
              <a:t>Models trained only on synthetic data may look strong in controlled tests yet fail when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10.4 — Face-Recognition Validation Gap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10.4 highlights a validation gap for synthetic faces</a:t>
            </a:r>
          </a:p>
          <a:p>
            <a:pPr lvl="0" marL="457200" indent="-228600">
              <a:buFont typeface="Calibri"/>
              <a:spcAft>
                <a:spcPts val="1000"/>
              </a:spcAft>
              <a:buSzPct val="100000"/>
              <a:buChar char="•"/>
              <a:lnSpc>
                <a:spcPts val="2200"/>
              </a:lnSpc>
            </a:pPr>
            <a:r>
              <a:rPr sz="2000" b="0">
                <a:solidFill>
                  <a:srgbClr val="333333"/>
                </a:solidFill>
                <a:latin typeface="Calibri"/>
              </a:rPr>
              <a:t>Images may appear realistic yet lack lighting changes, occlusions</a:t>
            </a:r>
          </a:p>
          <a:p>
            <a:pPr lvl="0" marL="457200" indent="-228600">
              <a:buFont typeface="Calibri"/>
              <a:spcAft>
                <a:spcPts val="1000"/>
              </a:spcAft>
              <a:buSzPct val="100000"/>
              <a:buChar char="•"/>
              <a:lnSpc>
                <a:spcPts val="2200"/>
              </a:lnSpc>
            </a:pPr>
            <a:r>
              <a:rPr sz="2000" b="0">
                <a:solidFill>
                  <a:srgbClr val="333333"/>
                </a:solidFill>
                <a:latin typeface="Calibri"/>
              </a:rPr>
              <a:t>A face-recognition model trained on such data can underperform in production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Generalization beyond the generator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Synthetic data must generalize to conditions the generator never saw</a:t>
            </a:r>
          </a:p>
          <a:p>
            <a:pPr lvl="0" marL="457200" indent="-228600">
              <a:buFont typeface="Calibri"/>
              <a:spcAft>
                <a:spcPts val="1000"/>
              </a:spcAft>
              <a:buSzPct val="100000"/>
              <a:buChar char="•"/>
              <a:lnSpc>
                <a:spcPts val="2200"/>
              </a:lnSpc>
            </a:pPr>
            <a:r>
              <a:rPr sz="2000" b="0">
                <a:solidFill>
                  <a:srgbClr val="333333"/>
                </a:solidFill>
                <a:latin typeface="Calibri"/>
              </a:rPr>
              <a:t>Real environments change unpredictably, markets shift, sensors drift</a:t>
            </a:r>
          </a:p>
          <a:p>
            <a:pPr lvl="0" marL="457200" indent="-228600">
              <a:buFont typeface="Calibri"/>
              <a:spcAft>
                <a:spcPts val="1000"/>
              </a:spcAft>
              <a:buSzPct val="100000"/>
              <a:buChar char="•"/>
              <a:lnSpc>
                <a:spcPts val="2200"/>
              </a:lnSpc>
            </a:pPr>
            <a:r>
              <a:rPr sz="2000" b="0">
                <a:solidFill>
                  <a:srgbClr val="333333"/>
                </a:solidFill>
                <a:latin typeface="Calibri"/>
              </a:rPr>
              <a:t>When synthetic corpora oversimplify those dynamics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Potential biases from source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Because generators learn from existing datasets or predefined models</a:t>
            </a:r>
          </a:p>
          <a:p>
            <a:pPr lvl="0" marL="457200" indent="-228600">
              <a:buFont typeface="Calibri"/>
              <a:spcAft>
                <a:spcPts val="1000"/>
              </a:spcAft>
              <a:buSzPct val="100000"/>
              <a:buChar char="•"/>
              <a:lnSpc>
                <a:spcPts val="2200"/>
              </a:lnSpc>
            </a:pPr>
            <a:r>
              <a:rPr sz="2000" b="0">
                <a:solidFill>
                  <a:srgbClr val="333333"/>
                </a:solidFill>
                <a:latin typeface="Calibri"/>
              </a:rPr>
              <a:t>Mitigation matters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10.5 — Demographic Bias in GAN Training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10.5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10.5 shows how biased source data propagates through a generative adversarial</a:t>
            </a:r>
          </a:p>
          <a:p>
            <a:pPr lvl="0" marL="457200" indent="-228600">
              <a:buFont typeface="Calibri"/>
              <a:spcAft>
                <a:spcPts val="1000"/>
              </a:spcAft>
              <a:buSzPct val="100000"/>
              <a:buChar char="•"/>
              <a:lnSpc>
                <a:spcPts val="2200"/>
              </a:lnSpc>
            </a:pPr>
            <a:r>
              <a:rPr sz="2000" b="0">
                <a:solidFill>
                  <a:srgbClr val="333333"/>
                </a:solidFill>
                <a:latin typeface="Calibri"/>
              </a:rPr>
              <a:t>If training images underrepresent certain groups</a:t>
            </a:r>
          </a:p>
          <a:p>
            <a:pPr lvl="0" marL="457200" indent="-228600">
              <a:buFont typeface="Calibri"/>
              <a:spcAft>
                <a:spcPts val="1000"/>
              </a:spcAft>
              <a:buSzPct val="100000"/>
              <a:buChar char="•"/>
              <a:lnSpc>
                <a:spcPts val="2200"/>
              </a:lnSpc>
            </a:pPr>
            <a:r>
              <a:rPr sz="2000" b="0">
                <a:solidFill>
                  <a:srgbClr val="333333"/>
                </a:solidFill>
                <a:latin typeface="Calibri"/>
              </a:rPr>
              <a:t>In sensitive domains such as healthcare or hiring</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Overfitting and lack of diversity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Machine-learning generators can overfit training data and emit homogeneous samples</a:t>
            </a:r>
          </a:p>
          <a:p>
            <a:pPr lvl="0" marL="457200" indent="-228600">
              <a:buFont typeface="Calibri"/>
              <a:spcAft>
                <a:spcPts val="1000"/>
              </a:spcAft>
              <a:buSzPct val="100000"/>
              <a:buChar char="•"/>
              <a:lnSpc>
                <a:spcPts val="2200"/>
              </a:lnSpc>
            </a:pPr>
            <a:r>
              <a:rPr sz="2000" b="0">
                <a:solidFill>
                  <a:srgbClr val="333333"/>
                </a:solidFill>
                <a:latin typeface="Calibri"/>
              </a:rPr>
              <a:t>When synthetic sets omit edge cases or rare events</a:t>
            </a:r>
          </a:p>
          <a:p>
            <a:pPr lvl="0" marL="457200" indent="-228600">
              <a:buFont typeface="Calibri"/>
              <a:spcAft>
                <a:spcPts val="1000"/>
              </a:spcAft>
              <a:buSzPct val="100000"/>
              <a:buChar char="•"/>
              <a:lnSpc>
                <a:spcPts val="2200"/>
              </a:lnSpc>
            </a:pPr>
            <a:r>
              <a:rPr sz="2000" b="0">
                <a:solidFill>
                  <a:srgbClr val="333333"/>
                </a:solidFill>
                <a:latin typeface="Calibri"/>
              </a:rPr>
              <a:t>Diversity is not optional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Synthetic data requires explicit validation against real benchmarks</a:t>
            </a:r>
          </a:p>
          <a:p>
            <a:pPr lvl="0" marL="457200" indent="-228600">
              <a:buFont typeface="Calibri"/>
              <a:spcAft>
                <a:spcPts val="1000"/>
              </a:spcAft>
              <a:buSzPct val="100000"/>
              <a:buChar char="•"/>
              <a:lnSpc>
                <a:spcPts val="2200"/>
              </a:lnSpc>
            </a:pPr>
            <a:r>
              <a:rPr sz="2000" b="0">
                <a:solidFill>
                  <a:srgbClr val="333333"/>
                </a:solidFill>
                <a:latin typeface="Calibri"/>
              </a:rPr>
              <a:t>Source bias, mode collapse, and homogeneity can all undermine utility</a:t>
            </a:r>
          </a:p>
          <a:p>
            <a:pPr lvl="0" marL="457200" indent="-228600">
              <a:buFont typeface="Calibri"/>
              <a:spcAft>
                <a:spcPts val="1000"/>
              </a:spcAft>
              <a:buSzPct val="100000"/>
              <a:buChar char="•"/>
              <a:lnSpc>
                <a:spcPts val="2200"/>
              </a:lnSpc>
            </a:pPr>
            <a:r>
              <a:rPr sz="2000" b="0">
                <a:solidFill>
                  <a:srgbClr val="333333"/>
                </a:solidFill>
                <a:latin typeface="Calibri"/>
              </a:rPr>
              <a:t>Teams should treat challenges here as design constraints before choosing statistical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Monte Carlo simulation for uncertain outcomes such as asset returns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Statistical methods overview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Statistical synthesis uses mathematical models to simulate data that shares properties</a:t>
            </a:r>
          </a:p>
          <a:p>
            <a:pPr lvl="0" marL="457200" indent="-228600">
              <a:buFont typeface="Calibri"/>
              <a:spcAft>
                <a:spcPts val="1000"/>
              </a:spcAft>
              <a:buSzPct val="100000"/>
              <a:buChar char="•"/>
              <a:lnSpc>
                <a:spcPts val="2200"/>
              </a:lnSpc>
            </a:pPr>
            <a:r>
              <a:rPr sz="2000" b="0">
                <a:solidFill>
                  <a:srgbClr val="333333"/>
                </a:solidFill>
                <a:latin typeface="Calibri"/>
              </a:rPr>
              <a:t>Common tools include distribution fitting, Monte Carlo draws, bootstrapping</a:t>
            </a:r>
          </a:p>
          <a:p>
            <a:pPr lvl="0" marL="457200" indent="-228600">
              <a:buFont typeface="Calibri"/>
              <a:spcAft>
                <a:spcPts val="1000"/>
              </a:spcAft>
              <a:buSzPct val="100000"/>
              <a:buChar char="•"/>
              <a:lnSpc>
                <a:spcPts val="2200"/>
              </a:lnSpc>
            </a:pPr>
            <a:r>
              <a:rPr sz="2000" b="0">
                <a:solidFill>
                  <a:srgbClr val="333333"/>
                </a:solidFill>
                <a:latin typeface="Calibri"/>
              </a:rPr>
              <a:t>The main challenge is matching correlations and trends, not just marginal distributions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Data distribution modeling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Distribution modeling fits a known law</a:t>
            </a:r>
          </a:p>
          <a:p>
            <a:pPr lvl="0" marL="457200" indent="-228600">
              <a:buFont typeface="Calibri"/>
              <a:spcAft>
                <a:spcPts val="1000"/>
              </a:spcAft>
              <a:buSzPct val="100000"/>
              <a:buChar char="•"/>
              <a:lnSpc>
                <a:spcPts val="2200"/>
              </a:lnSpc>
            </a:pPr>
            <a:r>
              <a:rPr sz="2000" b="0">
                <a:solidFill>
                  <a:srgbClr val="333333"/>
                </a:solidFill>
                <a:latin typeface="Calibri"/>
              </a:rPr>
              <a:t>Draw synthetic values from the same family</a:t>
            </a:r>
          </a:p>
          <a:p>
            <a:pPr lvl="0" marL="457200" indent="-228600">
              <a:buFont typeface="Calibri"/>
              <a:spcAft>
                <a:spcPts val="1000"/>
              </a:spcAft>
              <a:buSzPct val="100000"/>
              <a:buChar char="•"/>
              <a:lnSpc>
                <a:spcPts val="2200"/>
              </a:lnSpc>
            </a:pPr>
            <a:r>
              <a:rPr sz="2000" b="0">
                <a:solidFill>
                  <a:srgbClr val="333333"/>
                </a:solidFill>
                <a:latin typeface="Calibri"/>
              </a:rPr>
              <a:t>This works when the assumed distribution matches the domain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10.6 — Normal-Distribution Sampling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10.6 sketches sampling from a fitted normal distribution</a:t>
            </a:r>
          </a:p>
          <a:p>
            <a:pPr lvl="0" marL="457200" indent="-228600">
              <a:buFont typeface="Calibri"/>
              <a:spcAft>
                <a:spcPts val="1000"/>
              </a:spcAft>
              <a:buSzPct val="100000"/>
              <a:buChar char="•"/>
              <a:lnSpc>
                <a:spcPts val="2200"/>
              </a:lnSpc>
            </a:pPr>
            <a:r>
              <a:rPr sz="2000" b="0">
                <a:solidFill>
                  <a:srgbClr val="333333"/>
                </a:solidFill>
                <a:latin typeface="Calibri"/>
              </a:rPr>
              <a:t>If real values follow a mean of fifty and standard deviation of ten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10.6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10.6 — sample synthetic points from a fitted normal</a:t>
            </a:r>
          </a:p>
          <a:p>
            <a:pPr>
              <a:lnSpc>
                <a:spcPts val="2200"/>
              </a:lnSpc>
              <a:spcAft>
                <a:spcPts val="400"/>
              </a:spcAft>
            </a:pPr>
            <a:r>
              <a:rPr sz="2000" b="0">
                <a:solidFill>
                  <a:srgbClr val="333333"/>
                </a:solidFill>
                <a:latin typeface="Consolas"/>
              </a:rPr>
              <a:t>distribution."""</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random</a:t>
            </a:r>
          </a:p>
          <a:p>
            <a:pPr>
              <a:lnSpc>
                <a:spcPts val="2200"/>
              </a:lnSpc>
              <a:spcAft>
                <a:spcPts val="400"/>
              </a:spcAft>
            </a:pPr>
            <a:r>
              <a:rPr sz="2000" b="0">
                <a:solidFill>
                  <a:srgbClr val="333333"/>
                </a:solidFill>
                <a:latin typeface="Consolas"/>
              </a:rPr>
              <a:t>from statistics import fmean, pstdev</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"""Draw samples from N(50, 10^2) and compare sample moments to the</a:t>
            </a:r>
          </a:p>
          <a:p>
            <a:pPr>
              <a:lnSpc>
                <a:spcPts val="2200"/>
              </a:lnSpc>
              <a:spcAft>
                <a:spcPts val="400"/>
              </a:spcAft>
            </a:pPr>
            <a:r>
              <a:rPr sz="2000" b="0">
                <a:solidFill>
                  <a:srgbClr val="333333"/>
                </a:solidFill>
                <a:latin typeface="Consolas"/>
              </a:rPr>
              <a:t>target."""</a:t>
            </a:r>
          </a:p>
          <a:p>
            <a:pPr>
              <a:lnSpc>
                <a:spcPts val="2200"/>
              </a:lnSpc>
              <a:spcAft>
                <a:spcPts val="400"/>
              </a:spcAft>
            </a:pPr>
            <a:r>
              <a:rPr sz="2000" b="0">
                <a:solidFill>
                  <a:srgbClr val="333333"/>
                </a:solidFill>
                <a:latin typeface="Consolas"/>
              </a:rPr>
              <a:t>    random.seed(10)</a:t>
            </a:r>
          </a:p>
          <a:p>
            <a:pPr>
              <a:lnSpc>
                <a:spcPts val="2200"/>
              </a:lnSpc>
              <a:spcAft>
                <a:spcPts val="400"/>
              </a:spcAft>
            </a:pPr>
            <a:r>
              <a:rPr sz="2000" b="0">
                <a:solidFill>
                  <a:srgbClr val="333333"/>
                </a:solidFill>
                <a:latin typeface="Consolas"/>
              </a:rPr>
              <a:t>    mean, sd, n = 50.0, 10.0, 1000</a:t>
            </a:r>
          </a:p>
          <a:p>
            <a:pPr>
              <a:lnSpc>
                <a:spcPts val="2200"/>
              </a:lnSpc>
              <a:spcAft>
                <a:spcPts val="400"/>
              </a:spcAft>
            </a:pPr>
            <a:r>
              <a:rPr sz="2000" b="0">
                <a:solidFill>
                  <a:srgbClr val="333333"/>
                </a:solidFill>
                <a:latin typeface="Consolas"/>
              </a:rPr>
              <a:t>    samples = [random.gauss(mean, sd) for _ in range(n)]</a:t>
            </a:r>
          </a:p>
          <a:p>
            <a:pPr>
              <a:lnSpc>
                <a:spcPts val="2200"/>
              </a:lnSpc>
              <a:spcAft>
                <a:spcPts val="400"/>
              </a:spcAft>
            </a:pPr>
            <a:r>
              <a:rPr sz="2000" b="0">
                <a:solidFill>
                  <a:srgbClr val="333333"/>
                </a:solidFill>
                <a:latin typeface="Consolas"/>
              </a:rPr>
              <a:t>    print(f"Target distribution: N(mean={mean}, sd={sd})")</a:t>
            </a:r>
          </a:p>
          <a:p>
            <a:pPr>
              <a:lnSpc>
                <a:spcPts val="2200"/>
              </a:lnSpc>
              <a:spcAft>
                <a:spcPts val="400"/>
              </a:spcAft>
            </a:pPr>
            <a:r>
              <a:rPr sz="2000" b="0">
                <a:solidFill>
                  <a:srgbClr val="333333"/>
                </a:solidFill>
                <a:latin typeface="Consolas"/>
              </a:rPr>
              <a:t>    print(f"Sample size: {n}")</a:t>
            </a:r>
          </a:p>
          <a:p>
            <a:pPr>
              <a:lnSpc>
                <a:spcPts val="2200"/>
              </a:lnSpc>
              <a:spcAft>
                <a:spcPts val="400"/>
              </a:spcAft>
            </a:pPr>
            <a:r>
              <a:rPr sz="2000" b="0">
                <a:solidFill>
                  <a:srgbClr val="333333"/>
                </a:solidFill>
                <a:latin typeface="Consolas"/>
              </a:rPr>
              <a:t>    print(f"Sample mean: {fmean(samples):.2f}")</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Monte Carlo simulation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Monte Carlo methods repeat random sampling and simulation when the underlying process is</a:t>
            </a:r>
          </a:p>
          <a:p>
            <a:pPr lvl="0" marL="457200" indent="-228600">
              <a:buFont typeface="Calibri"/>
              <a:spcAft>
                <a:spcPts val="1000"/>
              </a:spcAft>
              <a:buSzPct val="100000"/>
              <a:buChar char="•"/>
              <a:lnSpc>
                <a:spcPts val="2200"/>
              </a:lnSpc>
            </a:pPr>
            <a:r>
              <a:rPr sz="2000" b="0">
                <a:solidFill>
                  <a:srgbClr val="333333"/>
                </a:solidFill>
                <a:latin typeface="Calibri"/>
              </a:rPr>
              <a:t>Many draws are averaged or aggregated to estimate outcomes under uncertainty</a:t>
            </a:r>
          </a:p>
          <a:p>
            <a:pPr lvl="0" marL="457200" indent="-228600">
              <a:buFont typeface="Calibri"/>
              <a:spcAft>
                <a:spcPts val="1000"/>
              </a:spcAft>
              <a:buSzPct val="100000"/>
              <a:buChar char="•"/>
              <a:lnSpc>
                <a:spcPts val="2200"/>
              </a:lnSpc>
            </a:pPr>
            <a:r>
              <a:rPr sz="2000" b="0">
                <a:solidFill>
                  <a:srgbClr val="333333"/>
                </a:solidFill>
                <a:latin typeface="Calibri"/>
              </a:rPr>
              <a:t>Finance, engineering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10.7 — Monte Carlo Asset-Return Simulation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10.7 applies Monte Carlo simulation to financial returns</a:t>
            </a:r>
          </a:p>
          <a:p>
            <a:pPr lvl="0" marL="457200" indent="-228600">
              <a:buFont typeface="Calibri"/>
              <a:spcAft>
                <a:spcPts val="1000"/>
              </a:spcAft>
              <a:buSzPct val="100000"/>
              <a:buChar char="•"/>
              <a:lnSpc>
                <a:spcPts val="2200"/>
              </a:lnSpc>
            </a:pPr>
            <a:r>
              <a:rPr sz="2000" b="0">
                <a:solidFill>
                  <a:srgbClr val="333333"/>
                </a:solidFill>
                <a:latin typeface="Calibri"/>
              </a:rPr>
              <a:t>Synthetic return paths incorporate risk factors and market conditions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10.7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10.7 — Monte Carlo simulation of asset returns under</a:t>
            </a:r>
          </a:p>
          <a:p>
            <a:pPr>
              <a:lnSpc>
                <a:spcPts val="2200"/>
              </a:lnSpc>
              <a:spcAft>
                <a:spcPts val="400"/>
              </a:spcAft>
            </a:pPr>
            <a:r>
              <a:rPr sz="2000" b="0">
                <a:solidFill>
                  <a:srgbClr val="333333"/>
                </a:solidFill>
                <a:latin typeface="Consolas"/>
              </a:rPr>
              <a:t>uncertainty."""</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random</a:t>
            </a:r>
          </a:p>
          <a:p>
            <a:pPr>
              <a:lnSpc>
                <a:spcPts val="2200"/>
              </a:lnSpc>
              <a:spcAft>
                <a:spcPts val="400"/>
              </a:spcAft>
            </a:pPr>
            <a:r>
              <a:rPr sz="2000" b="0">
                <a:solidFill>
                  <a:srgbClr val="333333"/>
                </a:solidFill>
                <a:latin typeface="Consolas"/>
              </a:rPr>
              <a:t>from statistics import fmean, pstdev</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"""Simulate many one-period returns and summarize the resulting</a:t>
            </a:r>
          </a:p>
          <a:p>
            <a:pPr>
              <a:lnSpc>
                <a:spcPts val="2200"/>
              </a:lnSpc>
              <a:spcAft>
                <a:spcPts val="400"/>
              </a:spcAft>
            </a:pPr>
            <a:r>
              <a:rPr sz="2000" b="0">
                <a:solidFill>
                  <a:srgbClr val="333333"/>
                </a:solidFill>
                <a:latin typeface="Consolas"/>
              </a:rPr>
              <a:t>distribution."""</a:t>
            </a:r>
          </a:p>
          <a:p>
            <a:pPr>
              <a:lnSpc>
                <a:spcPts val="2200"/>
              </a:lnSpc>
              <a:spcAft>
                <a:spcPts val="400"/>
              </a:spcAft>
            </a:pPr>
            <a:r>
              <a:rPr sz="2000" b="0">
                <a:solidFill>
                  <a:srgbClr val="333333"/>
                </a:solidFill>
                <a:latin typeface="Consolas"/>
              </a:rPr>
              <a:t>    random.seed(10)</a:t>
            </a:r>
          </a:p>
          <a:p>
            <a:pPr>
              <a:lnSpc>
                <a:spcPts val="2200"/>
              </a:lnSpc>
              <a:spcAft>
                <a:spcPts val="400"/>
              </a:spcAft>
            </a:pPr>
            <a:r>
              <a:rPr sz="2000" b="0">
                <a:solidFill>
                  <a:srgbClr val="333333"/>
                </a:solidFill>
                <a:latin typeface="Consolas"/>
              </a:rPr>
              <a:t>    # Annualized mean return and volatility (illustrative).</a:t>
            </a:r>
          </a:p>
          <a:p>
            <a:pPr>
              <a:lnSpc>
                <a:spcPts val="2200"/>
              </a:lnSpc>
              <a:spcAft>
                <a:spcPts val="400"/>
              </a:spcAft>
            </a:pPr>
            <a:r>
              <a:rPr sz="2000" b="0">
                <a:solidFill>
                  <a:srgbClr val="333333"/>
                </a:solidFill>
                <a:latin typeface="Consolas"/>
              </a:rPr>
              <a:t>    mu, sigma = 0.08, 0.20</a:t>
            </a:r>
          </a:p>
          <a:p>
            <a:pPr>
              <a:lnSpc>
                <a:spcPts val="2200"/>
              </a:lnSpc>
              <a:spcAft>
                <a:spcPts val="400"/>
              </a:spcAft>
            </a:pPr>
            <a:r>
              <a:rPr sz="2000" b="0">
                <a:solidFill>
                  <a:srgbClr val="333333"/>
                </a:solidFill>
                <a:latin typeface="Consolas"/>
              </a:rPr>
              <a:t>    n_paths = 5_000</a:t>
            </a:r>
          </a:p>
          <a:p>
            <a:pPr>
              <a:lnSpc>
                <a:spcPts val="2200"/>
              </a:lnSpc>
              <a:spcAft>
                <a:spcPts val="400"/>
              </a:spcAft>
            </a:pPr>
            <a:r>
              <a:rPr sz="2000" b="0">
                <a:solidFill>
                  <a:srgbClr val="333333"/>
                </a:solidFill>
                <a:latin typeface="Consolas"/>
              </a:rPr>
              <a:t>    returns = [random.gauss(mu, sigma) for _ in range(n_paths)]</a:t>
            </a:r>
          </a:p>
          <a:p>
            <a:pPr>
              <a:lnSpc>
                <a:spcPts val="2200"/>
              </a:lnSpc>
              <a:spcAft>
                <a:spcPts val="400"/>
              </a:spcAft>
            </a:pPr>
            <a:r>
              <a:rPr sz="2000" b="0">
                <a:solidFill>
                  <a:srgbClr val="333333"/>
                </a:solidFill>
                <a:latin typeface="Consolas"/>
              </a:rPr>
              <a:t>    print(f"Assumed return model: N(mu={mu:.0%}, sigma={sigma:.0%})")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Controlled simulation benchmarks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Some releases, such as device-model sweeps, are synthetic by construction</a:t>
            </a:r>
          </a:p>
          <a:p>
            <a:pPr lvl="0" marL="457200" indent="-228600">
              <a:buFont typeface="Calibri"/>
              <a:spcAft>
                <a:spcPts val="1000"/>
              </a:spcAft>
              <a:buSzPct val="100000"/>
              <a:buChar char="•"/>
              <a:lnSpc>
                <a:spcPts val="2200"/>
              </a:lnSpc>
            </a:pPr>
            <a:r>
              <a:rPr sz="2000" b="0">
                <a:solidFill>
                  <a:srgbClr val="333333"/>
                </a:solidFill>
                <a:latin typeface="Calibri"/>
              </a:rPr>
              <a:t>Quality assurance then documents settings and reproducibility rather than detecting</a:t>
            </a:r>
          </a:p>
          <a:p>
            <a:pPr lvl="0" marL="457200" indent="-228600">
              <a:buFont typeface="Calibri"/>
              <a:spcAft>
                <a:spcPts val="1000"/>
              </a:spcAft>
              <a:buSzPct val="100000"/>
              <a:buChar char="•"/>
              <a:lnSpc>
                <a:spcPts val="2200"/>
              </a:lnSpc>
            </a:pPr>
            <a:r>
              <a:rPr sz="2000" b="0">
                <a:solidFill>
                  <a:srgbClr val="333333"/>
                </a:solidFill>
                <a:latin typeface="Calibri"/>
              </a:rPr>
              <a:t>That differs from privacy-motivated tabular synthesis but still produces shareable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Parametric sampling copies moments from fitted laws</a:t>
            </a:r>
          </a:p>
          <a:p>
            <a:pPr lvl="0" marL="457200" indent="-228600">
              <a:buFont typeface="Calibri"/>
              <a:spcAft>
                <a:spcPts val="1000"/>
              </a:spcAft>
              <a:buSzPct val="100000"/>
              <a:buChar char="•"/>
              <a:lnSpc>
                <a:spcPts val="2200"/>
              </a:lnSpc>
            </a:pPr>
            <a:r>
              <a:rPr sz="2000" b="0">
                <a:solidFill>
                  <a:srgbClr val="333333"/>
                </a:solidFill>
                <a:latin typeface="Calibri"/>
              </a:rPr>
              <a:t>Both require explicit assumptions and validation against real benchmarks</a:t>
            </a:r>
          </a:p>
          <a:p>
            <a:pPr lvl="0" marL="457200" indent="-228600">
              <a:buFont typeface="Calibri"/>
              <a:spcAft>
                <a:spcPts val="1000"/>
              </a:spcAft>
              <a:buSzPct val="100000"/>
              <a:buChar char="•"/>
              <a:lnSpc>
                <a:spcPts val="2200"/>
              </a:lnSpc>
            </a:pPr>
            <a:r>
              <a:rPr sz="2000" b="0">
                <a:solidFill>
                  <a:srgbClr val="333333"/>
                </a:solidFill>
                <a:latin typeface="Calibri"/>
              </a:rPr>
              <a:t>Univariate methods ignore variable relationships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Regression-based projection for structured synthetic rows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Correlations and dependencies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Real datasets rarely treat columns as independent</a:t>
            </a:r>
          </a:p>
          <a:p>
            <a:pPr lvl="0" marL="457200" indent="-228600">
              <a:buFont typeface="Calibri"/>
              <a:spcAft>
                <a:spcPts val="1000"/>
              </a:spcAft>
              <a:buSzPct val="100000"/>
              <a:buChar char="•"/>
              <a:lnSpc>
                <a:spcPts val="2200"/>
              </a:lnSpc>
            </a:pPr>
            <a:r>
              <a:rPr sz="2000" b="0">
                <a:solidFill>
                  <a:srgbClr val="333333"/>
                </a:solidFill>
                <a:latin typeface="Calibri"/>
              </a:rPr>
              <a:t>Income and age co-vary; asset returns co-move; vitals correlate across visits</a:t>
            </a:r>
          </a:p>
          <a:p>
            <a:pPr lvl="0" marL="457200" indent="-228600">
              <a:buFont typeface="Calibri"/>
              <a:spcAft>
                <a:spcPts val="1000"/>
              </a:spcAft>
              <a:buSzPct val="100000"/>
              <a:buChar char="•"/>
              <a:lnSpc>
                <a:spcPts val="2200"/>
              </a:lnSpc>
            </a:pPr>
            <a:r>
              <a:rPr sz="2000" b="0">
                <a:solidFill>
                  <a:srgbClr val="333333"/>
                </a:solidFill>
                <a:latin typeface="Calibri"/>
              </a:rPr>
              <a:t>Useful synthetic tabular data must replicate these joint relationships</a:t>
            </a:r>
          </a:p>
          <a:p>
            <a:pPr lvl="0" marL="457200" indent="-228600">
              <a:buFont typeface="Calibri"/>
              <a:spcAft>
                <a:spcPts val="1000"/>
              </a:spcAft>
              <a:buSzPct val="100000"/>
              <a:buChar char="•"/>
              <a:lnSpc>
                <a:spcPts val="2200"/>
              </a:lnSpc>
            </a:pPr>
            <a:r>
              <a:rPr sz="2000" b="0">
                <a:solidFill>
                  <a:srgbClr val="333333"/>
                </a:solidFill>
                <a:latin typeface="Calibri"/>
              </a:rPr>
              <a:t>Multivariate distributions and copulas model dependence structures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10.8 — Income-Age Joint Distribution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10.8 preserves correlations between income and age</a:t>
            </a:r>
          </a:p>
          <a:p>
            <a:pPr lvl="0" marL="457200" indent="-228600">
              <a:buFont typeface="Calibri"/>
              <a:spcAft>
                <a:spcPts val="1000"/>
              </a:spcAft>
              <a:buSzPct val="100000"/>
              <a:buChar char="•"/>
              <a:lnSpc>
                <a:spcPts val="2200"/>
              </a:lnSpc>
            </a:pPr>
            <a:r>
              <a:rPr sz="2000" b="0">
                <a:solidFill>
                  <a:srgbClr val="333333"/>
                </a:solidFill>
                <a:latin typeface="Calibri"/>
              </a:rPr>
              <a:t>Analysts model the joint distribution so synthetic rows keep segment-level relationships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10.8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10.8 — preserve the joint relationship between income and</a:t>
            </a:r>
          </a:p>
          <a:p>
            <a:pPr>
              <a:lnSpc>
                <a:spcPts val="2200"/>
              </a:lnSpc>
              <a:spcAft>
                <a:spcPts val="400"/>
              </a:spcAft>
            </a:pPr>
            <a:r>
              <a:rPr sz="2000" b="0">
                <a:solidFill>
                  <a:srgbClr val="333333"/>
                </a:solidFill>
                <a:latin typeface="Consolas"/>
              </a:rPr>
              <a:t>age."""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math</a:t>
            </a:r>
          </a:p>
          <a:p>
            <a:pPr>
              <a:lnSpc>
                <a:spcPts val="2200"/>
              </a:lnSpc>
              <a:spcAft>
                <a:spcPts val="400"/>
              </a:spcAft>
            </a:pPr>
            <a:r>
              <a:rPr sz="2000" b="0">
                <a:solidFill>
                  <a:srgbClr val="333333"/>
                </a:solidFill>
                <a:latin typeface="Consolas"/>
              </a:rPr>
              <a:t>import random</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pearson(xs: list[float], ys: list[float]) -&gt; float:</a:t>
            </a:r>
          </a:p>
          <a:p>
            <a:pPr>
              <a:lnSpc>
                <a:spcPts val="2200"/>
              </a:lnSpc>
              <a:spcAft>
                <a:spcPts val="400"/>
              </a:spcAft>
            </a:pPr>
            <a:r>
              <a:rPr sz="2000" b="0">
                <a:solidFill>
                  <a:srgbClr val="333333"/>
                </a:solidFill>
                <a:latin typeface="Consolas"/>
              </a:rPr>
              <a:t>    """Return Pearson's r for two equal-length sequences."""</a:t>
            </a:r>
          </a:p>
          <a:p>
            <a:pPr>
              <a:lnSpc>
                <a:spcPts val="2200"/>
              </a:lnSpc>
              <a:spcAft>
                <a:spcPts val="400"/>
              </a:spcAft>
            </a:pPr>
            <a:r>
              <a:rPr sz="2000" b="0">
                <a:solidFill>
                  <a:srgbClr val="333333"/>
                </a:solidFill>
                <a:latin typeface="Consolas"/>
              </a:rPr>
              <a:t>    n = len(xs)</a:t>
            </a:r>
          </a:p>
          <a:p>
            <a:pPr>
              <a:lnSpc>
                <a:spcPts val="2200"/>
              </a:lnSpc>
              <a:spcAft>
                <a:spcPts val="400"/>
              </a:spcAft>
            </a:pPr>
            <a:r>
              <a:rPr sz="2000" b="0">
                <a:solidFill>
                  <a:srgbClr val="333333"/>
                </a:solidFill>
                <a:latin typeface="Consolas"/>
              </a:rPr>
              <a:t>    mx, my = sum(xs) / n, sum(ys) / n</a:t>
            </a:r>
          </a:p>
          <a:p>
            <a:pPr>
              <a:lnSpc>
                <a:spcPts val="2200"/>
              </a:lnSpc>
              <a:spcAft>
                <a:spcPts val="400"/>
              </a:spcAft>
            </a:pPr>
            <a:r>
              <a:rPr sz="2000" b="0">
                <a:solidFill>
                  <a:srgbClr val="333333"/>
                </a:solidFill>
                <a:latin typeface="Consolas"/>
              </a:rPr>
              <a:t>    cov = sum((x - mx) * (y - my) for x, y in zip(xs, ys))</a:t>
            </a:r>
          </a:p>
          <a:p>
            <a:pPr>
              <a:lnSpc>
                <a:spcPts val="2200"/>
              </a:lnSpc>
              <a:spcAft>
                <a:spcPts val="400"/>
              </a:spcAft>
            </a:pPr>
            <a:r>
              <a:rPr sz="2000" b="0">
                <a:solidFill>
                  <a:srgbClr val="333333"/>
                </a:solidFill>
                <a:latin typeface="Consolas"/>
              </a:rPr>
              <a:t>    sx = math.sqrt(sum((x - mx) ** 2 for x in xs))</a:t>
            </a:r>
          </a:p>
          <a:p>
            <a:pPr>
              <a:lnSpc>
                <a:spcPts val="2200"/>
              </a:lnSpc>
              <a:spcAft>
                <a:spcPts val="400"/>
              </a:spcAft>
            </a:pPr>
            <a:r>
              <a:rPr sz="2000" b="0">
                <a:solidFill>
                  <a:srgbClr val="333333"/>
                </a:solidFill>
                <a:latin typeface="Consolas"/>
              </a:rPr>
              <a:t>    sy = math.sqrt(sum((y - my) ** 2 for y in ys))</a:t>
            </a:r>
          </a:p>
          <a:p>
            <a:pPr>
              <a:lnSpc>
                <a:spcPts val="2200"/>
              </a:lnSpc>
              <a:spcAft>
                <a:spcPts val="400"/>
              </a:spcAft>
            </a:pPr>
            <a:r>
              <a:rPr sz="2000" b="0">
                <a:solidFill>
                  <a:srgbClr val="333333"/>
                </a:solidFill>
                <a:latin typeface="Consolas"/>
              </a:rPr>
              <a:t>    return cov / (sx * sy)</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Copulas for complex dependence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Copulas separate marginal behavior from dependence structure</a:t>
            </a:r>
          </a:p>
          <a:p>
            <a:pPr lvl="0" marL="457200" indent="-228600">
              <a:buFont typeface="Calibri"/>
              <a:spcAft>
                <a:spcPts val="1000"/>
              </a:spcAft>
              <a:buSzPct val="100000"/>
              <a:buChar char="•"/>
              <a:lnSpc>
                <a:spcPts val="2200"/>
              </a:lnSpc>
            </a:pPr>
            <a:r>
              <a:rPr sz="2000" b="0">
                <a:solidFill>
                  <a:srgbClr val="333333"/>
                </a:solidFill>
                <a:latin typeface="Calibri"/>
              </a:rPr>
              <a:t>After fitting dependence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Bootstrapping from small samples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Bootstrapping resamples an original dataset with replacement to create larger synthetic</a:t>
            </a:r>
          </a:p>
          <a:p>
            <a:pPr lvl="0" marL="457200" indent="-228600">
              <a:buFont typeface="Calibri"/>
              <a:spcAft>
                <a:spcPts val="1000"/>
              </a:spcAft>
              <a:buSzPct val="100000"/>
              <a:buChar char="•"/>
              <a:lnSpc>
                <a:spcPts val="2200"/>
              </a:lnSpc>
            </a:pPr>
            <a:r>
              <a:rPr sz="2000" b="0">
                <a:solidFill>
                  <a:srgbClr val="333333"/>
                </a:solidFill>
                <a:latin typeface="Calibri"/>
              </a:rPr>
              <a:t>Some real rows repeat; others are omitted</a:t>
            </a:r>
          </a:p>
          <a:p>
            <a:pPr lvl="0" marL="457200" indent="-228600">
              <a:buFont typeface="Calibri"/>
              <a:spcAft>
                <a:spcPts val="1000"/>
              </a:spcAft>
              <a:buSzPct val="100000"/>
              <a:buChar char="•"/>
              <a:lnSpc>
                <a:spcPts val="2200"/>
              </a:lnSpc>
            </a:pPr>
            <a:r>
              <a:rPr sz="2000" b="0">
                <a:solidFill>
                  <a:srgbClr val="333333"/>
                </a:solidFill>
                <a:latin typeface="Calibri"/>
              </a:rPr>
              <a:t>Repeating the process yields multiple bootstrap datasets for training or uncertainty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10.9 — Bootstrapping Purchase Histories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10.9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10.9 bootstraps a small customer purchase-history sample into a larger training</a:t>
            </a:r>
          </a:p>
          <a:p>
            <a:pPr lvl="0" marL="457200" indent="-228600">
              <a:buFont typeface="Calibri"/>
              <a:spcAft>
                <a:spcPts val="1000"/>
              </a:spcAft>
              <a:buSzPct val="100000"/>
              <a:buChar char="•"/>
              <a:lnSpc>
                <a:spcPts val="2200"/>
              </a:lnSpc>
            </a:pPr>
            <a:r>
              <a:rPr sz="2000" b="0">
                <a:solidFill>
                  <a:srgbClr val="333333"/>
                </a:solidFill>
                <a:latin typeface="Calibri"/>
              </a:rPr>
              <a:t>This supports model training when raw logs are limited</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10.9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10.9 — bootstrap larger synthetic purchase histories from a</a:t>
            </a:r>
          </a:p>
          <a:p>
            <a:pPr>
              <a:lnSpc>
                <a:spcPts val="2200"/>
              </a:lnSpc>
              <a:spcAft>
                <a:spcPts val="400"/>
              </a:spcAft>
            </a:pPr>
            <a:r>
              <a:rPr sz="2000" b="0">
                <a:solidFill>
                  <a:srgbClr val="333333"/>
                </a:solidFill>
                <a:latin typeface="Consolas"/>
              </a:rPr>
              <a:t>small sample."""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random</a:t>
            </a:r>
          </a:p>
          <a:p>
            <a:pPr>
              <a:lnSpc>
                <a:spcPts val="2200"/>
              </a:lnSpc>
              <a:spcAft>
                <a:spcPts val="400"/>
              </a:spcAft>
            </a:pPr>
            <a:r>
              <a:rPr sz="2000" b="0">
                <a:solidFill>
                  <a:srgbClr val="333333"/>
                </a:solidFill>
                <a:latin typeface="Consolas"/>
              </a:rPr>
              <a:t>from collections import Counter</a:t>
            </a:r>
          </a:p>
          <a:p>
            <a:pPr>
              <a:lnSpc>
                <a:spcPts val="2200"/>
              </a:lnSpc>
              <a:spcAft>
                <a:spcPts val="400"/>
              </a:spcAft>
            </a:pPr>
            <a:r>
              <a:rPr sz="2000" b="0">
                <a:solidFill>
                  <a:srgbClr val="333333"/>
                </a:solidFill>
                <a:latin typeface="Consolas"/>
              </a:rPr>
              <a:t>from statistics import fmean</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"""Resample a tiny purchase-amount sample with replacement."""</a:t>
            </a:r>
          </a:p>
          <a:p>
            <a:pPr>
              <a:lnSpc>
                <a:spcPts val="2200"/>
              </a:lnSpc>
              <a:spcAft>
                <a:spcPts val="400"/>
              </a:spcAft>
            </a:pPr>
            <a:r>
              <a:rPr sz="2000" b="0">
                <a:solidFill>
                  <a:srgbClr val="333333"/>
                </a:solidFill>
                <a:latin typeface="Consolas"/>
              </a:rPr>
              <a:t>    random.seed(10)</a:t>
            </a:r>
          </a:p>
          <a:p>
            <a:pPr>
              <a:lnSpc>
                <a:spcPts val="2200"/>
              </a:lnSpc>
              <a:spcAft>
                <a:spcPts val="400"/>
              </a:spcAft>
            </a:pPr>
            <a:r>
              <a:rPr sz="2000" b="0">
                <a:solidFill>
                  <a:srgbClr val="333333"/>
                </a:solidFill>
                <a:latin typeface="Consolas"/>
              </a:rPr>
              <a:t>    original = [12.5, 40.0, 8.0, 95.0, 22.0, 15.5, 60.0, 33.0]</a:t>
            </a:r>
          </a:p>
          <a:p>
            <a:pPr>
              <a:lnSpc>
                <a:spcPts val="2200"/>
              </a:lnSpc>
              <a:spcAft>
                <a:spcPts val="400"/>
              </a:spcAft>
            </a:pPr>
            <a:r>
              <a:rPr sz="2000" b="0">
                <a:solidFill>
                  <a:srgbClr val="333333"/>
                </a:solidFill>
                <a:latin typeface="Consolas"/>
              </a:rPr>
              <a:t>    n_boot = 40</a:t>
            </a:r>
          </a:p>
          <a:p>
            <a:pPr>
              <a:lnSpc>
                <a:spcPts val="2200"/>
              </a:lnSpc>
              <a:spcAft>
                <a:spcPts val="400"/>
              </a:spcAft>
            </a:pPr>
            <a:r>
              <a:rPr sz="2000" b="0">
                <a:solidFill>
                  <a:srgbClr val="333333"/>
                </a:solidFill>
                <a:latin typeface="Consolas"/>
              </a:rPr>
              <a:t>    synthetic = [random.choice(original) for _ in range(n_boot)]</a:t>
            </a:r>
          </a:p>
          <a:p>
            <a:pPr>
              <a:lnSpc>
                <a:spcPts val="2200"/>
              </a:lnSpc>
              <a:spcAft>
                <a:spcPts val="400"/>
              </a:spcAft>
            </a:pPr>
            <a:r>
              <a:rPr sz="2000" b="0">
                <a:solidFill>
                  <a:srgbClr val="333333"/>
                </a:solidFill>
                <a:latin typeface="Consolas"/>
              </a:rPr>
              <a:t>    counts = Counter(synthetic)</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Regression-based synthetic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Regression models fit relationships between predictors and an outcome</a:t>
            </a:r>
          </a:p>
          <a:p>
            <a:pPr lvl="0" marL="457200" indent="-228600">
              <a:buFont typeface="Calibri"/>
              <a:spcAft>
                <a:spcPts val="1000"/>
              </a:spcAft>
              <a:buSzPct val="100000"/>
              <a:buChar char="•"/>
              <a:lnSpc>
                <a:spcPts val="2200"/>
              </a:lnSpc>
            </a:pPr>
            <a:r>
              <a:rPr sz="2000" b="0">
                <a:solidFill>
                  <a:srgbClr val="333333"/>
                </a:solidFill>
                <a:latin typeface="Calibri"/>
              </a:rPr>
              <a:t>Economics, healthcare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10.10 — Regression-Based GDP Projection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10.10 — hands-on module</a:t>
            </a:r>
          </a:p>
          <a:p>
            <a:pPr lvl="0" marL="457200" indent="-228600">
              <a:buFont typeface="Calibri"/>
              <a:spcAft>
                <a:spcPts val="1000"/>
              </a:spcAft>
              <a:buSzPct val="100000"/>
              <a:buChar char="•"/>
              <a:lnSpc>
                <a:spcPts val="2200"/>
              </a:lnSpc>
            </a:pPr>
            <a:r>
              <a:rPr sz="2000" b="0">
                <a:solidFill>
                  <a:srgbClr val="333333"/>
                </a:solidFill>
                <a:latin typeface="Calibri"/>
              </a:rPr>
              <a:t>Government spending</a:t>
            </a:r>
          </a:p>
          <a:p>
            <a:pPr lvl="0" marL="457200" indent="-228600">
              <a:buFont typeface="Calibri"/>
              <a:spcAft>
                <a:spcPts val="1000"/>
              </a:spcAft>
              <a:buSzPct val="100000"/>
              <a:buChar char="•"/>
              <a:lnSpc>
                <a:spcPts val="2200"/>
              </a:lnSpc>
            </a:pPr>
            <a:r>
              <a:rPr sz="2000" b="0">
                <a:solidFill>
                  <a:srgbClr val="333333"/>
                </a:solidFill>
                <a:latin typeface="Calibri"/>
              </a:rPr>
              <a:t>The regression preserves structured relationships among indicators rather than independent</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10.10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10.10 — generate synthetic GDP growth from a fitted linear</a:t>
            </a:r>
          </a:p>
          <a:p>
            <a:pPr>
              <a:lnSpc>
                <a:spcPts val="2200"/>
              </a:lnSpc>
              <a:spcAft>
                <a:spcPts val="400"/>
              </a:spcAft>
            </a:pPr>
            <a:r>
              <a:rPr sz="2000" b="0">
                <a:solidFill>
                  <a:srgbClr val="333333"/>
                </a:solidFill>
                <a:latin typeface="Consolas"/>
              </a:rPr>
              <a:t>regression."""</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random</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fit_simple_regression(</a:t>
            </a:r>
          </a:p>
          <a:p>
            <a:pPr>
              <a:lnSpc>
                <a:spcPts val="2200"/>
              </a:lnSpc>
              <a:spcAft>
                <a:spcPts val="400"/>
              </a:spcAft>
            </a:pPr>
            <a:r>
              <a:rPr sz="2000" b="0">
                <a:solidFill>
                  <a:srgbClr val="333333"/>
                </a:solidFill>
                <a:latin typeface="Consolas"/>
              </a:rPr>
              <a:t>    xs: list[float], ys: list[float]</a:t>
            </a:r>
          </a:p>
          <a:p>
            <a:pPr>
              <a:lnSpc>
                <a:spcPts val="2200"/>
              </a:lnSpc>
              <a:spcAft>
                <a:spcPts val="400"/>
              </a:spcAft>
            </a:pPr>
            <a:r>
              <a:rPr sz="2000" b="0">
                <a:solidFill>
                  <a:srgbClr val="333333"/>
                </a:solidFill>
                <a:latin typeface="Consolas"/>
              </a:rPr>
              <a:t>) -&gt; tuple[float, float, float]:</a:t>
            </a:r>
          </a:p>
          <a:p>
            <a:pPr>
              <a:lnSpc>
                <a:spcPts val="2200"/>
              </a:lnSpc>
              <a:spcAft>
                <a:spcPts val="400"/>
              </a:spcAft>
            </a:pPr>
            <a:r>
              <a:rPr sz="2000" b="0">
                <a:solidFill>
                  <a:srgbClr val="333333"/>
                </a:solidFill>
                <a:latin typeface="Consolas"/>
              </a:rPr>
              <a:t>    """Fit Y = b0 + b1 X and return (b0, b1, residual_sd)."""</a:t>
            </a:r>
          </a:p>
          <a:p>
            <a:pPr>
              <a:lnSpc>
                <a:spcPts val="2200"/>
              </a:lnSpc>
              <a:spcAft>
                <a:spcPts val="400"/>
              </a:spcAft>
            </a:pPr>
            <a:r>
              <a:rPr sz="2000" b="0">
                <a:solidFill>
                  <a:srgbClr val="333333"/>
                </a:solidFill>
                <a:latin typeface="Consolas"/>
              </a:rPr>
              <a:t>    n = len(xs)</a:t>
            </a:r>
          </a:p>
          <a:p>
            <a:pPr>
              <a:lnSpc>
                <a:spcPts val="2200"/>
              </a:lnSpc>
              <a:spcAft>
                <a:spcPts val="400"/>
              </a:spcAft>
            </a:pPr>
            <a:r>
              <a:rPr sz="2000" b="0">
                <a:solidFill>
                  <a:srgbClr val="333333"/>
                </a:solidFill>
                <a:latin typeface="Consolas"/>
              </a:rPr>
              <a:t>    mx, my = sum(xs) / n, sum(ys) / n</a:t>
            </a:r>
          </a:p>
          <a:p>
            <a:pPr>
              <a:lnSpc>
                <a:spcPts val="2200"/>
              </a:lnSpc>
              <a:spcAft>
                <a:spcPts val="400"/>
              </a:spcAft>
            </a:pPr>
            <a:r>
              <a:rPr sz="2000" b="0">
                <a:solidFill>
                  <a:srgbClr val="333333"/>
                </a:solidFill>
                <a:latin typeface="Consolas"/>
              </a:rPr>
              <a:t>    b1 = sum((x - mx) * (y - my) for x, y in zip(xs, ys)) / sum((x - mx)</a:t>
            </a:r>
          </a:p>
          <a:p>
            <a:pPr>
              <a:lnSpc>
                <a:spcPts val="2200"/>
              </a:lnSpc>
              <a:spcAft>
                <a:spcPts val="400"/>
              </a:spcAft>
            </a:pPr>
            <a:r>
              <a:rPr sz="2000" b="0">
                <a:solidFill>
                  <a:srgbClr val="333333"/>
                </a:solidFill>
                <a:latin typeface="Consolas"/>
              </a:rPr>
              <a:t>** 2 for x in xs)</a:t>
            </a:r>
          </a:p>
          <a:p>
            <a:pPr>
              <a:lnSpc>
                <a:spcPts val="2200"/>
              </a:lnSpc>
              <a:spcAft>
                <a:spcPts val="400"/>
              </a:spcAft>
            </a:pPr>
            <a:r>
              <a:rPr sz="2000" b="0">
                <a:solidFill>
                  <a:srgbClr val="333333"/>
                </a:solidFill>
                <a:latin typeface="Consolas"/>
              </a:rPr>
              <a:t>    b0 = my - b1 * mx</a:t>
            </a:r>
          </a:p>
          <a:p>
            <a:pPr>
              <a:lnSpc>
                <a:spcPts val="2200"/>
              </a:lnSpc>
              <a:spcAft>
                <a:spcPts val="400"/>
              </a:spcAft>
            </a:pPr>
            <a:r>
              <a:rPr sz="2000" b="0">
                <a:solidFill>
                  <a:srgbClr val="333333"/>
                </a:solidFill>
                <a:latin typeface="Consolas"/>
              </a:rPr>
              <a:t>    residuals = [y - (b0 + b1 * x) for x, y in zip(xs, ys)]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Realistic tabular synthesis requires joint structure, not independent marginals</a:t>
            </a:r>
          </a:p>
          <a:p>
            <a:pPr lvl="0" marL="457200" indent="-228600">
              <a:buFont typeface="Calibri"/>
              <a:spcAft>
                <a:spcPts val="1000"/>
              </a:spcAft>
              <a:buSzPct val="100000"/>
              <a:buChar char="•"/>
              <a:lnSpc>
                <a:spcPts val="2200"/>
              </a:lnSpc>
            </a:pPr>
            <a:r>
              <a:rPr sz="2000" b="0">
                <a:solidFill>
                  <a:srgbClr val="333333"/>
                </a:solidFill>
                <a:latin typeface="Calibri"/>
              </a:rPr>
              <a:t>Bootstrapping expands small real samples while preserving variability</a:t>
            </a:r>
          </a:p>
          <a:p>
            <a:pPr lvl="0" marL="457200" indent="-228600">
              <a:buFont typeface="Calibri"/>
              <a:spcAft>
                <a:spcPts val="1000"/>
              </a:spcAft>
              <a:buSzPct val="100000"/>
              <a:buChar char="•"/>
              <a:lnSpc>
                <a:spcPts val="2200"/>
              </a:lnSpc>
            </a:pPr>
            <a:r>
              <a:rPr sz="2000" b="0">
                <a:solidFill>
                  <a:srgbClr val="333333"/>
                </a:solidFill>
                <a:latin typeface="Calibri"/>
              </a:rPr>
              <a:t>Statistical methods set the foundation before generative adversarial networks learn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Convergence challenges that affect synthetic realism in generative adversarial networks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Generative adversarial network overview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generative adversarial network pairs two neural networks trained simultaneously in a</a:t>
            </a:r>
          </a:p>
          <a:p>
            <a:pPr lvl="0" marL="457200" indent="-228600">
              <a:buFont typeface="Calibri"/>
              <a:spcAft>
                <a:spcPts val="1000"/>
              </a:spcAft>
              <a:buSzPct val="100000"/>
              <a:buChar char="•"/>
              <a:lnSpc>
                <a:spcPts val="2200"/>
              </a:lnSpc>
            </a:pPr>
            <a:r>
              <a:rPr sz="2000" b="0">
                <a:solidFill>
                  <a:srgbClr val="333333"/>
                </a:solidFill>
                <a:latin typeface="Calibri"/>
              </a:rPr>
              <a:t>The generator creates synthetic samples from random noise</a:t>
            </a:r>
          </a:p>
          <a:p>
            <a:pPr lvl="0" marL="457200" indent="-228600">
              <a:buFont typeface="Calibri"/>
              <a:spcAft>
                <a:spcPts val="1000"/>
              </a:spcAft>
              <a:buSzPct val="100000"/>
              <a:buChar char="•"/>
              <a:lnSpc>
                <a:spcPts val="2200"/>
              </a:lnSpc>
            </a:pPr>
            <a:r>
              <a:rPr sz="2000" b="0">
                <a:solidFill>
                  <a:srgbClr val="333333"/>
                </a:solidFill>
                <a:latin typeface="Calibri"/>
              </a:rPr>
              <a:t>Other modalities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generator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generator maps latent noise to synthetic data points</a:t>
            </a:r>
          </a:p>
          <a:p>
            <a:pPr lvl="0" marL="457200" indent="-228600">
              <a:buFont typeface="Calibri"/>
              <a:spcAft>
                <a:spcPts val="1000"/>
              </a:spcAft>
              <a:buSzPct val="100000"/>
              <a:buChar char="•"/>
              <a:lnSpc>
                <a:spcPts val="2200"/>
              </a:lnSpc>
            </a:pPr>
            <a:r>
              <a:rPr sz="2000" b="0">
                <a:solidFill>
                  <a:srgbClr val="333333"/>
                </a:solidFill>
                <a:latin typeface="Calibri"/>
              </a:rPr>
              <a:t>Its objective is to produce samples that appear authentic to humans or downstream</a:t>
            </a:r>
          </a:p>
          <a:p>
            <a:pPr lvl="0" marL="457200" indent="-228600">
              <a:buFont typeface="Calibri"/>
              <a:spcAft>
                <a:spcPts val="1000"/>
              </a:spcAft>
              <a:buSzPct val="100000"/>
              <a:buChar char="•"/>
              <a:lnSpc>
                <a:spcPts val="2200"/>
              </a:lnSpc>
            </a:pPr>
            <a:r>
              <a:rPr sz="2000" b="0">
                <a:solidFill>
                  <a:srgbClr val="333333"/>
                </a:solidFill>
                <a:latin typeface="Calibri"/>
              </a:rPr>
              <a:t>Early training yields poor fakes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discriminator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discriminator acts as a binary classifier scoring whether each input is real or</a:t>
            </a:r>
          </a:p>
          <a:p>
            <a:pPr lvl="0" marL="457200" indent="-228600">
              <a:buFont typeface="Calibri"/>
              <a:spcAft>
                <a:spcPts val="1000"/>
              </a:spcAft>
              <a:buSzPct val="100000"/>
              <a:buChar char="•"/>
              <a:lnSpc>
                <a:spcPts val="2200"/>
              </a:lnSpc>
            </a:pPr>
            <a:r>
              <a:rPr sz="2000" b="0">
                <a:solidFill>
                  <a:srgbClr val="333333"/>
                </a:solidFill>
                <a:latin typeface="Calibri"/>
              </a:rPr>
              <a:t>It trains on batches of real records and generator outputs</a:t>
            </a:r>
          </a:p>
          <a:p>
            <a:pPr lvl="0" marL="457200" indent="-228600">
              <a:buFont typeface="Calibri"/>
              <a:spcAft>
                <a:spcPts val="1000"/>
              </a:spcAft>
              <a:buSzPct val="100000"/>
              <a:buChar char="•"/>
              <a:lnSpc>
                <a:spcPts val="2200"/>
              </a:lnSpc>
            </a:pPr>
            <a:r>
              <a:rPr sz="2000" b="0">
                <a:solidFill>
                  <a:srgbClr val="333333"/>
                </a:solidFill>
                <a:latin typeface="Calibri"/>
              </a:rPr>
              <a:t>If the discriminator becomes too strong or too weak relative to the generator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Adversarial minimax training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Training alternates discriminator and generator updates</a:t>
            </a:r>
          </a:p>
          <a:p>
            <a:pPr lvl="0" marL="457200" indent="-228600">
              <a:buFont typeface="Calibri"/>
              <a:spcAft>
                <a:spcPts val="1000"/>
              </a:spcAft>
              <a:buSzPct val="100000"/>
              <a:buChar char="•"/>
              <a:lnSpc>
                <a:spcPts val="2200"/>
              </a:lnSpc>
            </a:pPr>
            <a:r>
              <a:rPr sz="2000" b="0">
                <a:solidFill>
                  <a:srgbClr val="333333"/>
                </a:solidFill>
                <a:latin typeface="Calibri"/>
              </a:rPr>
              <a:t>First the discriminator learns to separate real and fake batches</a:t>
            </a:r>
          </a:p>
          <a:p>
            <a:pPr lvl="0" marL="457200" indent="-228600">
              <a:buFont typeface="Calibri"/>
              <a:spcAft>
                <a:spcPts val="1000"/>
              </a:spcAft>
              <a:buSzPct val="100000"/>
              <a:buChar char="•"/>
              <a:lnSpc>
                <a:spcPts val="2200"/>
              </a:lnSpc>
            </a:pPr>
            <a:r>
              <a:rPr sz="2000" b="0">
                <a:solidFill>
                  <a:srgbClr val="333333"/>
                </a:solidFill>
                <a:latin typeface="Calibri"/>
              </a:rPr>
              <a:t>Then the generator updates to fool the discriminator</a:t>
            </a:r>
          </a:p>
          <a:p>
            <a:pPr lvl="0" marL="457200" indent="-228600">
              <a:buFont typeface="Calibri"/>
              <a:spcAft>
                <a:spcPts val="1000"/>
              </a:spcAft>
              <a:buSzPct val="100000"/>
              <a:buChar char="•"/>
              <a:lnSpc>
                <a:spcPts val="2200"/>
              </a:lnSpc>
            </a:pPr>
            <a:r>
              <a:rPr sz="2000" b="0">
                <a:solidFill>
                  <a:srgbClr val="333333"/>
                </a:solidFill>
                <a:latin typeface="Calibri"/>
              </a:rPr>
              <a:t>Careful balance of learning rates and capacity is required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Loss functions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common choice is binary cross-entropy loss</a:t>
            </a:r>
          </a:p>
          <a:p>
            <a:pPr lvl="0" marL="457200" indent="-228600">
              <a:buFont typeface="Calibri"/>
              <a:spcAft>
                <a:spcPts val="1000"/>
              </a:spcAft>
              <a:buSzPct val="100000"/>
              <a:buChar char="•"/>
              <a:lnSpc>
                <a:spcPts val="2200"/>
              </a:lnSpc>
            </a:pPr>
            <a:r>
              <a:rPr sz="2000" b="0">
                <a:solidFill>
                  <a:srgbClr val="333333"/>
                </a:solidFill>
                <a:latin typeface="Calibri"/>
              </a:rPr>
              <a:t>The discriminator minimizes classification error on real versus fake labels</a:t>
            </a:r>
          </a:p>
          <a:p>
            <a:pPr lvl="0" marL="457200" indent="-228600">
              <a:buFont typeface="Calibri"/>
              <a:spcAft>
                <a:spcPts val="1000"/>
              </a:spcAft>
              <a:buSzPct val="100000"/>
              <a:buChar char="•"/>
              <a:lnSpc>
                <a:spcPts val="2200"/>
              </a:lnSpc>
            </a:pPr>
            <a:r>
              <a:rPr sz="2000" b="0">
                <a:solidFill>
                  <a:srgbClr val="333333"/>
                </a:solidFill>
                <a:latin typeface="Calibri"/>
              </a:rPr>
              <a:t>The generator minimizes the discriminator’s ability to reject fakes</a:t>
            </a:r>
          </a:p>
          <a:p>
            <a:pPr lvl="0" marL="457200" indent="-228600">
              <a:buFont typeface="Calibri"/>
              <a:spcAft>
                <a:spcPts val="1000"/>
              </a:spcAft>
              <a:buSzPct val="100000"/>
              <a:buChar char="•"/>
              <a:lnSpc>
                <a:spcPts val="2200"/>
              </a:lnSpc>
            </a:pPr>
            <a:r>
              <a:rPr sz="2000" b="0">
                <a:solidFill>
                  <a:srgbClr val="333333"/>
                </a:solidFill>
                <a:latin typeface="Calibri"/>
              </a:rPr>
              <a:t>Loss design directly affects stability and sample quality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Convergence challenges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Generative adversarial network training is notoriously unstable</a:t>
            </a:r>
          </a:p>
          <a:p>
            <a:pPr lvl="0" marL="457200" indent="-228600">
              <a:buFont typeface="Calibri"/>
              <a:spcAft>
                <a:spcPts val="1000"/>
              </a:spcAft>
              <a:buSzPct val="100000"/>
              <a:buChar char="•"/>
              <a:lnSpc>
                <a:spcPts val="2200"/>
              </a:lnSpc>
            </a:pPr>
            <a:r>
              <a:rPr sz="2000" b="0">
                <a:solidFill>
                  <a:srgbClr val="333333"/>
                </a:solidFill>
                <a:latin typeface="Calibri"/>
              </a:rPr>
              <a:t>Mode collapse occurs when the generator repeats a narrow set of outputs instead of</a:t>
            </a:r>
          </a:p>
          <a:p>
            <a:pPr lvl="0" marL="457200" indent="-228600">
              <a:buFont typeface="Calibri"/>
              <a:spcAft>
                <a:spcPts val="1000"/>
              </a:spcAft>
              <a:buSzPct val="100000"/>
              <a:buChar char="•"/>
              <a:lnSpc>
                <a:spcPts val="2200"/>
              </a:lnSpc>
            </a:pPr>
            <a:r>
              <a:rPr sz="2000" b="0">
                <a:solidFill>
                  <a:srgbClr val="333333"/>
                </a:solidFill>
                <a:latin typeface="Calibri"/>
              </a:rPr>
              <a:t>Vanishing gradients, imbalanced network capacity</a:t>
            </a:r>
          </a:p>
          <a:p>
            <a:pPr lvl="0" marL="457200" indent="-228600">
              <a:buFont typeface="Calibri"/>
              <a:spcAft>
                <a:spcPts val="1000"/>
              </a:spcAft>
              <a:buSzPct val="100000"/>
              <a:buChar char="•"/>
              <a:lnSpc>
                <a:spcPts val="2200"/>
              </a:lnSpc>
            </a:pPr>
            <a:r>
              <a:rPr sz="2000" b="0">
                <a:solidFill>
                  <a:srgbClr val="333333"/>
                </a:solidFill>
                <a:latin typeface="Calibri"/>
              </a:rPr>
              <a:t>Teams monitor samples, losses, and diversity metrics throughout training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Generative adversarial networks learn synthesis through adversarial feedback rather than</a:t>
            </a:r>
          </a:p>
          <a:p>
            <a:pPr lvl="0" marL="457200" indent="-228600">
              <a:buFont typeface="Calibri"/>
              <a:spcAft>
                <a:spcPts val="1000"/>
              </a:spcAft>
              <a:buSzPct val="100000"/>
              <a:buChar char="•"/>
              <a:lnSpc>
                <a:spcPts val="2200"/>
              </a:lnSpc>
            </a:pPr>
            <a:r>
              <a:rPr sz="2000" b="0">
                <a:solidFill>
                  <a:srgbClr val="333333"/>
                </a:solidFill>
                <a:latin typeface="Calibri"/>
              </a:rPr>
              <a:t>Success depends on balanced generator–discriminator training and appropriate loss</a:t>
            </a:r>
          </a:p>
          <a:p>
            <a:pPr lvl="0" marL="457200" indent="-228600">
              <a:buFont typeface="Calibri"/>
              <a:spcAft>
                <a:spcPts val="1000"/>
              </a:spcAft>
              <a:buSzPct val="100000"/>
              <a:buChar char="•"/>
              <a:lnSpc>
                <a:spcPts val="2200"/>
              </a:lnSpc>
            </a:pPr>
            <a:r>
              <a:rPr sz="2000" b="0">
                <a:solidFill>
                  <a:srgbClr val="333333"/>
                </a:solidFill>
                <a:latin typeface="Calibri"/>
              </a:rPr>
              <a:t>Architectural variants, evaluation metrics, and ethical risks are covered in the next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surveys conditional generative adversarial networks, CycleGANs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 learners should be able to contrast conditional, cycle-consistent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Conditional GANs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Conditional generative adversarial networks feed class labels or other attributes into</a:t>
            </a:r>
          </a:p>
          <a:p>
            <a:pPr lvl="0" marL="457200" indent="-228600">
              <a:buFont typeface="Calibri"/>
              <a:spcAft>
                <a:spcPts val="1000"/>
              </a:spcAft>
              <a:buSzPct val="100000"/>
              <a:buChar char="•"/>
              <a:lnSpc>
                <a:spcPts val="2200"/>
              </a:lnSpc>
            </a:pPr>
            <a:r>
              <a:rPr sz="2000" b="0">
                <a:solidFill>
                  <a:srgbClr val="333333"/>
                </a:solidFill>
                <a:latin typeface="Calibri"/>
              </a:rPr>
              <a:t>The generator then produces samples that satisfy specified constraints</a:t>
            </a:r>
          </a:p>
          <a:p>
            <a:pPr lvl="0" marL="457200" indent="-228600">
              <a:buFont typeface="Calibri"/>
              <a:spcAft>
                <a:spcPts val="1000"/>
              </a:spcAft>
              <a:buSzPct val="100000"/>
              <a:buChar char="•"/>
              <a:lnSpc>
                <a:spcPts val="2200"/>
              </a:lnSpc>
            </a:pPr>
            <a:r>
              <a:rPr sz="2000" b="0">
                <a:solidFill>
                  <a:srgbClr val="333333"/>
                </a:solidFill>
                <a:latin typeface="Calibri"/>
              </a:rPr>
              <a:t>This supports supervised augmentation and controlled image translation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10.11 — Conditional GAN Class Labels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10.11 shows a conditional generative adversarial network generating cats</a:t>
            </a:r>
          </a:p>
          <a:p>
            <a:pPr lvl="0" marL="457200" indent="-228600">
              <a:buFont typeface="Calibri"/>
              <a:spcAft>
                <a:spcPts val="1000"/>
              </a:spcAft>
              <a:buSzPct val="100000"/>
              <a:buChar char="•"/>
              <a:lnSpc>
                <a:spcPts val="2200"/>
              </a:lnSpc>
            </a:pPr>
            <a:r>
              <a:rPr sz="2000" b="0">
                <a:solidFill>
                  <a:srgbClr val="333333"/>
                </a:solidFill>
                <a:latin typeface="Calibri"/>
              </a:rPr>
              <a:t>Label conditioning makes the output useful for image-to-image tasks and class-balanced</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CycleGAN and StyleGAN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CycleGAN translates between image domains without paired training examples</a:t>
            </a:r>
          </a:p>
          <a:p>
            <a:pPr lvl="0" marL="457200" indent="-228600">
              <a:buFont typeface="Calibri"/>
              <a:spcAft>
                <a:spcPts val="1000"/>
              </a:spcAft>
              <a:buSzPct val="100000"/>
              <a:buChar char="•"/>
              <a:lnSpc>
                <a:spcPts val="2200"/>
              </a:lnSpc>
            </a:pPr>
            <a:r>
              <a:rPr sz="2000" b="0">
                <a:solidFill>
                  <a:srgbClr val="333333"/>
                </a:solidFill>
                <a:latin typeface="Calibri"/>
              </a:rPr>
              <a:t>Enabling photorealistic synthesis with adjustable coarse and fine attributes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Advantages and limitations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Generative adversarial networks excel at realistic image, text</a:t>
            </a:r>
          </a:p>
          <a:p>
            <a:pPr lvl="0" marL="457200" indent="-228600">
              <a:buFont typeface="Calibri"/>
              <a:spcAft>
                <a:spcPts val="1000"/>
              </a:spcAft>
              <a:buSzPct val="100000"/>
              <a:buChar char="•"/>
              <a:lnSpc>
                <a:spcPts val="2200"/>
              </a:lnSpc>
            </a:pPr>
            <a:r>
              <a:rPr sz="2000" b="0">
                <a:solidFill>
                  <a:srgbClr val="333333"/>
                </a:solidFill>
                <a:latin typeface="Calibri"/>
              </a:rPr>
              <a:t>Limitations include training instability, heavy compute for high resolution</a:t>
            </a:r>
          </a:p>
          <a:p>
            <a:pPr lvl="0" marL="457200" indent="-228600">
              <a:buFont typeface="Calibri"/>
              <a:spcAft>
                <a:spcPts val="1000"/>
              </a:spcAft>
              <a:buSzPct val="100000"/>
              <a:buChar char="•"/>
              <a:lnSpc>
                <a:spcPts val="2200"/>
              </a:lnSpc>
            </a:pPr>
            <a:r>
              <a:rPr sz="2000" b="0">
                <a:solidFill>
                  <a:srgbClr val="333333"/>
                </a:solidFill>
                <a:latin typeface="Calibri"/>
              </a:rPr>
              <a:t>Human review and statistical metrics both remain necessary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Evaluation metrics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Because synthetic sets lack per-row ground truth, teams use proxy metrics</a:t>
            </a:r>
          </a:p>
          <a:p>
            <a:pPr lvl="0" marL="457200" indent="-228600">
              <a:buFont typeface="Calibri"/>
              <a:spcAft>
                <a:spcPts val="1000"/>
              </a:spcAft>
              <a:buSzPct val="100000"/>
              <a:buChar char="•"/>
              <a:lnSpc>
                <a:spcPts val="2200"/>
              </a:lnSpc>
            </a:pPr>
            <a:r>
              <a:rPr sz="2000" b="0">
                <a:solidFill>
                  <a:srgbClr val="333333"/>
                </a:solidFill>
                <a:latin typeface="Calibri"/>
              </a:rPr>
              <a:t>Inception Score measures classifiability and diversity of generated images</a:t>
            </a:r>
          </a:p>
          <a:p>
            <a:pPr lvl="0" marL="457200" indent="-228600">
              <a:buFont typeface="Calibri"/>
              <a:spcAft>
                <a:spcPts val="1000"/>
              </a:spcAft>
              <a:buSzPct val="100000"/>
              <a:buChar char="•"/>
              <a:lnSpc>
                <a:spcPts val="2200"/>
              </a:lnSpc>
            </a:pPr>
            <a:r>
              <a:rPr sz="2000" b="0">
                <a:solidFill>
                  <a:srgbClr val="333333"/>
                </a:solidFill>
                <a:latin typeface="Calibri"/>
              </a:rPr>
              <a:t>Fréchet Inception Distance compares feature distributions of real and generated images</a:t>
            </a:r>
          </a:p>
          <a:p>
            <a:pPr lvl="0" marL="457200" indent="-228600">
              <a:buFont typeface="Calibri"/>
              <a:spcAft>
                <a:spcPts val="1000"/>
              </a:spcAft>
              <a:buSzPct val="100000"/>
              <a:buChar char="•"/>
              <a:lnSpc>
                <a:spcPts val="2200"/>
              </a:lnSpc>
            </a:pPr>
            <a:r>
              <a:rPr sz="2000" b="0">
                <a:solidFill>
                  <a:srgbClr val="333333"/>
                </a:solidFill>
                <a:latin typeface="Calibri"/>
              </a:rPr>
              <a:t>Precision and recall adaptations assess fidelity versus coverage of the real manifold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Prominent use cases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Support creative generation</a:t>
            </a:r>
          </a:p>
          <a:p>
            <a:pPr lvl="0" marL="457200" indent="-228600">
              <a:buFont typeface="Calibri"/>
              <a:spcAft>
                <a:spcPts val="1000"/>
              </a:spcAft>
              <a:buSzPct val="100000"/>
              <a:buChar char="•"/>
              <a:lnSpc>
                <a:spcPts val="2200"/>
              </a:lnSpc>
            </a:pPr>
            <a:r>
              <a:rPr sz="2000" b="0">
                <a:solidFill>
                  <a:srgbClr val="333333"/>
                </a:solidFill>
                <a:latin typeface="Calibri"/>
              </a:rPr>
              <a:t>In security and media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Ethical challenges and deepfakes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Realistic generators enable deepfakes</a:t>
            </a:r>
          </a:p>
          <a:p>
            <a:pPr lvl="0" marL="457200" indent="-228600">
              <a:buFont typeface="Calibri"/>
              <a:spcAft>
                <a:spcPts val="1000"/>
              </a:spcAft>
              <a:buSzPct val="100000"/>
              <a:buChar char="•"/>
              <a:lnSpc>
                <a:spcPts val="2200"/>
              </a:lnSpc>
            </a:pPr>
            <a:r>
              <a:rPr sz="2000" b="0">
                <a:solidFill>
                  <a:srgbClr val="333333"/>
                </a:solidFill>
                <a:latin typeface="Calibri"/>
              </a:rPr>
              <a:t>The same tools can produce fraudulent documents or misleading news</a:t>
            </a:r>
          </a:p>
          <a:p>
            <a:pPr lvl="0" marL="457200" indent="-228600">
              <a:buFont typeface="Calibri"/>
              <a:spcAft>
                <a:spcPts val="1000"/>
              </a:spcAft>
              <a:buSzPct val="100000"/>
              <a:buChar char="•"/>
              <a:lnSpc>
                <a:spcPts val="2200"/>
              </a:lnSpc>
            </a:pPr>
            <a:r>
              <a:rPr sz="2000" b="0">
                <a:solidFill>
                  <a:srgbClr val="333333"/>
                </a:solidFill>
                <a:latin typeface="Calibri"/>
              </a:rPr>
              <a:t>These risks connect to the chapter-wide ethics agenda, privacy, bias amplification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Variant architectures add control, unpaired translation</a:t>
            </a:r>
          </a:p>
          <a:p>
            <a:pPr lvl="0" marL="457200" indent="-228600">
              <a:buFont typeface="Calibri"/>
              <a:spcAft>
                <a:spcPts val="1000"/>
              </a:spcAft>
              <a:buSzPct val="100000"/>
              <a:buChar char="•"/>
              <a:lnSpc>
                <a:spcPts val="2200"/>
              </a:lnSpc>
            </a:pPr>
            <a:r>
              <a:rPr sz="2000" b="0">
                <a:solidFill>
                  <a:srgbClr val="333333"/>
                </a:solidFill>
                <a:latin typeface="Calibri"/>
              </a:rPr>
              <a:t>Metrics such as Inception Score and Fréchet Inception Distance help compare generators but</a:t>
            </a:r>
          </a:p>
          <a:p>
            <a:pPr lvl="0" marL="457200" indent="-228600">
              <a:buFont typeface="Calibri"/>
              <a:spcAft>
                <a:spcPts val="1000"/>
              </a:spcAft>
              <a:buSzPct val="100000"/>
              <a:buChar char="•"/>
              <a:lnSpc>
                <a:spcPts val="2200"/>
              </a:lnSpc>
            </a:pPr>
            <a:r>
              <a:rPr sz="2000" b="0">
                <a:solidFill>
                  <a:srgbClr val="333333"/>
                </a:solidFill>
                <a:latin typeface="Calibri"/>
              </a:rPr>
              <a:t>Deepfakes illustrate why governance and provenance matter alongside model quality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explains how large language models generate synthetic text, labels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Bias risks that demand screening and audit before training use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Large language models as synthesizers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Large language models offer a practical route for synthetic text, labels</a:t>
            </a:r>
          </a:p>
          <a:p>
            <a:pPr lvl="0" marL="457200" indent="-228600">
              <a:buFont typeface="Calibri"/>
              <a:spcAft>
                <a:spcPts val="1000"/>
              </a:spcAft>
              <a:buSzPct val="100000"/>
              <a:buChar char="•"/>
              <a:lnSpc>
                <a:spcPts val="2200"/>
              </a:lnSpc>
            </a:pPr>
            <a:r>
              <a:rPr sz="2000" b="0">
                <a:solidFill>
                  <a:srgbClr val="333333"/>
                </a:solidFill>
                <a:latin typeface="Calibri"/>
              </a:rPr>
              <a:t>Language-model synthesis typically conditions a pretrained model on prompts</a:t>
            </a:r>
          </a:p>
          <a:p>
            <a:pPr lvl="0" marL="457200" indent="-228600">
              <a:buFont typeface="Calibri"/>
              <a:spcAft>
                <a:spcPts val="1000"/>
              </a:spcAft>
              <a:buSzPct val="100000"/>
              <a:buChar char="•"/>
              <a:lnSpc>
                <a:spcPts val="2200"/>
              </a:lnSpc>
            </a:pPr>
            <a:r>
              <a:rPr sz="2000" b="0">
                <a:solidFill>
                  <a:srgbClr val="333333"/>
                </a:solidFill>
                <a:latin typeface="Calibri"/>
              </a:rPr>
              <a:t>This supports low-resource natural language processing, instruction tuning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Common workflows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Teams paraphrase existing sentences</a:t>
            </a:r>
          </a:p>
          <a:p>
            <a:pPr lvl="0" marL="457200" indent="-228600">
              <a:buFont typeface="Calibri"/>
              <a:spcAft>
                <a:spcPts val="1000"/>
              </a:spcAft>
              <a:buSzPct val="100000"/>
              <a:buChar char="•"/>
              <a:lnSpc>
                <a:spcPts val="2200"/>
              </a:lnSpc>
            </a:pPr>
            <a:r>
              <a:rPr sz="2000" b="0">
                <a:solidFill>
                  <a:srgbClr val="333333"/>
                </a:solidFill>
                <a:latin typeface="Calibri"/>
              </a:rPr>
              <a:t>The same pattern appears in programmatic weak supervision</a:t>
            </a:r>
          </a:p>
          <a:p>
            <a:pPr lvl="0" marL="457200" indent="-228600">
              <a:buFont typeface="Calibri"/>
              <a:spcAft>
                <a:spcPts val="1000"/>
              </a:spcAft>
              <a:buSzPct val="100000"/>
              <a:buChar char="•"/>
              <a:lnSpc>
                <a:spcPts val="2200"/>
              </a:lnSpc>
            </a:pPr>
            <a:r>
              <a:rPr sz="2000" b="0">
                <a:solidFill>
                  <a:srgbClr val="333333"/>
                </a:solidFill>
                <a:latin typeface="Calibri"/>
              </a:rPr>
              <a:t>Cheap generation is attractive when real text is scarce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Hallucination and factual risk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Language models can invent facts</a:t>
            </a:r>
          </a:p>
          <a:p>
            <a:pPr lvl="0" marL="457200" indent="-228600">
              <a:buFont typeface="Calibri"/>
              <a:spcAft>
                <a:spcPts val="1000"/>
              </a:spcAft>
              <a:buSzPct val="100000"/>
              <a:buChar char="•"/>
              <a:lnSpc>
                <a:spcPts val="2200"/>
              </a:lnSpc>
            </a:pPr>
            <a:r>
              <a:rPr sz="2000" b="0">
                <a:solidFill>
                  <a:srgbClr val="333333"/>
                </a:solidFill>
                <a:latin typeface="Calibri"/>
              </a:rPr>
              <a:t>For regulated or clinical text</a:t>
            </a:r>
          </a:p>
          <a:p>
            <a:pPr lvl="0" marL="457200" indent="-228600">
              <a:buFont typeface="Calibri"/>
              <a:spcAft>
                <a:spcPts val="1000"/>
              </a:spcAft>
              <a:buSzPct val="100000"/>
              <a:buChar char="•"/>
              <a:lnSpc>
                <a:spcPts val="2200"/>
              </a:lnSpc>
            </a:pPr>
            <a:r>
              <a:rPr sz="2000" b="0">
                <a:solidFill>
                  <a:srgbClr val="333333"/>
                </a:solidFill>
                <a:latin typeface="Calibri"/>
              </a:rPr>
              <a:t>Synthetic corpora therefore need factual and schema checks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Memorization and privacy leakage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Pretrained models may reproduce memorized training snippets</a:t>
            </a:r>
          </a:p>
          <a:p>
            <a:pPr lvl="0" marL="457200" indent="-228600">
              <a:buFont typeface="Calibri"/>
              <a:spcAft>
                <a:spcPts val="1000"/>
              </a:spcAft>
              <a:buSzPct val="100000"/>
              <a:buChar char="•"/>
              <a:lnSpc>
                <a:spcPts val="2200"/>
              </a:lnSpc>
            </a:pPr>
            <a:r>
              <a:rPr sz="2000" b="0">
                <a:solidFill>
                  <a:srgbClr val="333333"/>
                </a:solidFill>
                <a:latin typeface="Calibri"/>
              </a:rPr>
              <a:t>Synthetic text is not automatically privacy-safe</a:t>
            </a:r>
          </a:p>
          <a:p>
            <a:pPr lvl="0" marL="457200" indent="-228600">
              <a:buFont typeface="Calibri"/>
              <a:spcAft>
                <a:spcPts val="1000"/>
              </a:spcAft>
              <a:buSzPct val="100000"/>
              <a:buChar char="•"/>
              <a:lnSpc>
                <a:spcPts val="2200"/>
              </a:lnSpc>
            </a:pPr>
            <a:r>
              <a:rPr sz="2000" b="0">
                <a:solidFill>
                  <a:srgbClr val="333333"/>
                </a:solidFill>
                <a:latin typeface="Calibri"/>
              </a:rPr>
              <a:t>Releases must be screened for identifiers and linkage risk</a:t>
            </a:r>
          </a:p>
          <a:p>
            <a:pPr lvl="0" marL="457200" indent="-228600">
              <a:buFont typeface="Calibri"/>
              <a:spcAft>
                <a:spcPts val="1000"/>
              </a:spcAft>
              <a:buSzPct val="100000"/>
              <a:buChar char="•"/>
              <a:lnSpc>
                <a:spcPts val="2200"/>
              </a:lnSpc>
            </a:pPr>
            <a:r>
              <a:rPr sz="2000" b="0">
                <a:solidFill>
                  <a:srgbClr val="333333"/>
                </a:solidFill>
                <a:latin typeface="Calibri"/>
              </a:rPr>
              <a:t>Privacy engineering controls from earlier chapters still apply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Bias and representation skew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Language models inherit social and demographic biases present in pretraining corpora</a:t>
            </a:r>
          </a:p>
          <a:p>
            <a:pPr lvl="0" marL="457200" indent="-228600">
              <a:buFont typeface="Calibri"/>
              <a:spcAft>
                <a:spcPts val="1000"/>
              </a:spcAft>
              <a:buSzPct val="100000"/>
              <a:buChar char="•"/>
              <a:lnSpc>
                <a:spcPts val="2200"/>
              </a:lnSpc>
            </a:pPr>
            <a:r>
              <a:rPr sz="2000" b="0">
                <a:solidFill>
                  <a:srgbClr val="333333"/>
                </a:solidFill>
                <a:latin typeface="Calibri"/>
              </a:rPr>
              <a:t>Synthetic labels or dialogues can over-represent dominant viewpoints or stereotyped roles</a:t>
            </a:r>
          </a:p>
          <a:p>
            <a:pPr lvl="0" marL="457200" indent="-228600">
              <a:buFont typeface="Calibri"/>
              <a:spcAft>
                <a:spcPts val="1000"/>
              </a:spcAft>
              <a:buSzPct val="100000"/>
              <a:buChar char="•"/>
              <a:lnSpc>
                <a:spcPts val="2200"/>
              </a:lnSpc>
            </a:pPr>
            <a:r>
              <a:rPr sz="2000" b="0">
                <a:solidFill>
                  <a:srgbClr val="333333"/>
                </a:solidFill>
                <a:latin typeface="Calibri"/>
              </a:rPr>
              <a:t>Fairness audits should cover both source seeds and generated cohorts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Validation gates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Retain human oversight for high-stakes labels</a:t>
            </a:r>
          </a:p>
          <a:p>
            <a:pPr lvl="0" marL="457200" indent="-228600">
              <a:buFont typeface="Calibri"/>
              <a:spcAft>
                <a:spcPts val="1000"/>
              </a:spcAft>
              <a:buSzPct val="100000"/>
              <a:buChar char="•"/>
              <a:lnSpc>
                <a:spcPts val="2200"/>
              </a:lnSpc>
            </a:pPr>
            <a:r>
              <a:rPr sz="2000" b="0">
                <a:solidFill>
                  <a:srgbClr val="333333"/>
                </a:solidFill>
                <a:latin typeface="Calibri"/>
              </a:rPr>
              <a:t>Annotation quality practices from earlier chapters extend directly to synthetic text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Large language models enable fast text and label synthesis through prompting rather than</a:t>
            </a:r>
          </a:p>
          <a:p>
            <a:pPr lvl="0" marL="457200" indent="-228600">
              <a:buFont typeface="Calibri"/>
              <a:spcAft>
                <a:spcPts val="1000"/>
              </a:spcAft>
              <a:buSzPct val="100000"/>
              <a:buChar char="•"/>
              <a:lnSpc>
                <a:spcPts val="2200"/>
              </a:lnSpc>
            </a:pPr>
            <a:r>
              <a:rPr sz="2000" b="0">
                <a:solidFill>
                  <a:srgbClr val="333333"/>
                </a:solidFill>
                <a:latin typeface="Calibri"/>
              </a:rPr>
              <a:t>Low cost does not imply low risk, hallucination, memorization</a:t>
            </a:r>
          </a:p>
          <a:p>
            <a:pPr lvl="0" marL="457200" indent="-228600">
              <a:buFont typeface="Calibri"/>
              <a:spcAft>
                <a:spcPts val="1000"/>
              </a:spcAft>
              <a:buSzPct val="100000"/>
              <a:buChar char="•"/>
              <a:lnSpc>
                <a:spcPts val="2200"/>
              </a:lnSpc>
            </a:pPr>
            <a:r>
              <a:rPr sz="2000" b="0">
                <a:solidFill>
                  <a:srgbClr val="333333"/>
                </a:solidFill>
                <a:latin typeface="Calibri"/>
              </a:rPr>
              <a:t>Domain use cases in healthcare, finance, autonomy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walks privacy-preserving medical records, rare-disease simulation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Healthcare privacy barriers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Healthcare data face strict privacy rules in the United States and Europe</a:t>
            </a:r>
          </a:p>
          <a:p>
            <a:pPr lvl="0" marL="457200" indent="-228600">
              <a:buFont typeface="Calibri"/>
              <a:spcAft>
                <a:spcPts val="1000"/>
              </a:spcAft>
              <a:buSzPct val="100000"/>
              <a:buChar char="•"/>
              <a:lnSpc>
                <a:spcPts val="2200"/>
              </a:lnSpc>
            </a:pPr>
            <a:r>
              <a:rPr sz="2000" b="0">
                <a:solidFill>
                  <a:srgbClr val="333333"/>
                </a:solidFill>
                <a:latin typeface="Calibri"/>
              </a:rPr>
              <a:t>Real electronic health records often cannot be shared freely for external research or</a:t>
            </a:r>
          </a:p>
          <a:p>
            <a:pPr lvl="0" marL="457200" indent="-228600">
              <a:buFont typeface="Calibri"/>
              <a:spcAft>
                <a:spcPts val="1000"/>
              </a:spcAft>
              <a:buSzPct val="100000"/>
              <a:buChar char="•"/>
              <a:lnSpc>
                <a:spcPts val="2200"/>
              </a:lnSpc>
            </a:pPr>
            <a:r>
              <a:rPr sz="2000" b="0">
                <a:solidFill>
                  <a:srgbClr val="333333"/>
                </a:solidFill>
                <a:latin typeface="Calibri"/>
              </a:rPr>
              <a:t>Provided re-identification risk is validated, not assumed away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10.12 — Privacy-Preserving Medical Records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10.12 — hands-on module</a:t>
            </a:r>
          </a:p>
          <a:p>
            <a:pPr lvl="0" marL="457200" indent="-228600">
              <a:buFont typeface="Calibri"/>
              <a:spcAft>
                <a:spcPts val="1000"/>
              </a:spcAft>
              <a:buSzPct val="100000"/>
              <a:buChar char="•"/>
              <a:lnSpc>
                <a:spcPts val="2200"/>
              </a:lnSpc>
            </a:pPr>
            <a:r>
              <a:rPr sz="2000" b="0">
                <a:solidFill>
                  <a:srgbClr val="333333"/>
                </a:solidFill>
                <a:latin typeface="Calibri"/>
              </a:rPr>
              <a:t>Visit counts</a:t>
            </a:r>
          </a:p>
          <a:p>
            <a:pPr lvl="0" marL="457200" indent="-228600">
              <a:buFont typeface="Calibri"/>
              <a:spcAft>
                <a:spcPts val="1000"/>
              </a:spcAft>
              <a:buSzPct val="100000"/>
              <a:buChar char="•"/>
              <a:lnSpc>
                <a:spcPts val="2200"/>
              </a:lnSpc>
            </a:pPr>
            <a:r>
              <a:rPr sz="2000" b="0">
                <a:solidFill>
                  <a:srgbClr val="333333"/>
                </a:solidFill>
                <a:latin typeface="Calibri"/>
              </a:rPr>
              <a:t>External researchers prototype models without accessing raw patient files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Simulating rare conditions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Low-prevalence diseases yield too few real cases for robust machine learning</a:t>
            </a:r>
          </a:p>
          <a:p>
            <a:pPr lvl="0" marL="457200" indent="-228600">
              <a:buFont typeface="Calibri"/>
              <a:spcAft>
                <a:spcPts val="1000"/>
              </a:spcAft>
              <a:buSzPct val="100000"/>
              <a:buChar char="•"/>
              <a:lnSpc>
                <a:spcPts val="2200"/>
              </a:lnSpc>
            </a:pPr>
            <a:r>
              <a:rPr sz="2000" b="0">
                <a:solidFill>
                  <a:srgbClr val="333333"/>
                </a:solidFill>
                <a:latin typeface="Calibri"/>
              </a:rPr>
              <a:t>Synthetic generation can augment rare oncology or genetic presentations while preserving</a:t>
            </a:r>
          </a:p>
          <a:p>
            <a:pPr lvl="0" marL="457200" indent="-228600">
              <a:buFont typeface="Calibri"/>
              <a:spcAft>
                <a:spcPts val="1000"/>
              </a:spcAft>
              <a:buSzPct val="100000"/>
              <a:buChar char="•"/>
              <a:lnSpc>
                <a:spcPts val="2200"/>
              </a:lnSpc>
            </a:pPr>
            <a:r>
              <a:rPr sz="2000" b="0">
                <a:solidFill>
                  <a:srgbClr val="333333"/>
                </a:solidFill>
                <a:latin typeface="Calibri"/>
              </a:rPr>
              <a:t>The goal is better classifiers and simulators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10.13 — Rare-Disease Case Simulation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10.13 shows an oncology team generating additional synthetic cases of a rare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Finance and confidentiality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Financial institutions handle sensitive transactional data restricted by security and</a:t>
            </a:r>
          </a:p>
          <a:p>
            <a:pPr lvl="0" marL="457200" indent="-228600">
              <a:buFont typeface="Calibri"/>
              <a:spcAft>
                <a:spcPts val="1000"/>
              </a:spcAft>
              <a:buSzPct val="100000"/>
              <a:buChar char="•"/>
              <a:lnSpc>
                <a:spcPts val="2200"/>
              </a:lnSpc>
            </a:pPr>
            <a:r>
              <a:rPr sz="2000" b="0">
                <a:solidFill>
                  <a:srgbClr val="333333"/>
                </a:solidFill>
                <a:latin typeface="Calibri"/>
              </a:rPr>
              <a:t>Synthetic data offers an alternative for fraud modeling and strategy simulation without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Fraud detection with synthetic patterns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Fraud is a rare-event problem: historical logs contain few positive examples</a:t>
            </a:r>
          </a:p>
          <a:p>
            <a:pPr lvl="0" marL="457200" indent="-228600">
              <a:buFont typeface="Calibri"/>
              <a:spcAft>
                <a:spcPts val="1000"/>
              </a:spcAft>
              <a:buSzPct val="100000"/>
              <a:buChar char="•"/>
              <a:lnSpc>
                <a:spcPts val="2200"/>
              </a:lnSpc>
            </a:pPr>
            <a:r>
              <a:rPr sz="2000" b="0">
                <a:solidFill>
                  <a:srgbClr val="333333"/>
                </a:solidFill>
                <a:latin typeface="Calibri"/>
              </a:rPr>
              <a:t>Synthetic generators can emit diverse fraudulent sequences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10.14 — Synthetic Fraud Transaction Patterns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10.14 describes a payments provider synthesizing card-not-present fraud sequences</a:t>
            </a:r>
          </a:p>
          <a:p>
            <a:pPr lvl="0" marL="457200" indent="-228600">
              <a:buFont typeface="Calibri"/>
              <a:spcAft>
                <a:spcPts val="1000"/>
              </a:spcAft>
              <a:buSzPct val="100000"/>
              <a:buChar char="•"/>
              <a:lnSpc>
                <a:spcPts val="2200"/>
              </a:lnSpc>
            </a:pPr>
            <a:r>
              <a:rPr sz="2000" b="0">
                <a:solidFill>
                  <a:srgbClr val="333333"/>
                </a:solidFill>
                <a:latin typeface="Calibri"/>
              </a:rPr>
              <a:t>Detectors gain positive examples absent from historical logs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Trading simulations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Edge conditions underrepresented in limited historical windows</a:t>
            </a:r>
          </a:p>
          <a:p>
            <a:pPr lvl="0" marL="457200" indent="-228600">
              <a:buFont typeface="Calibri"/>
              <a:spcAft>
                <a:spcPts val="1000"/>
              </a:spcAft>
              <a:buSzPct val="100000"/>
              <a:buChar char="•"/>
              <a:lnSpc>
                <a:spcPts val="2200"/>
              </a:lnSpc>
            </a:pPr>
            <a:r>
              <a:rPr sz="2000" b="0">
                <a:solidFill>
                  <a:srgbClr val="333333"/>
                </a:solidFill>
                <a:latin typeface="Calibri"/>
              </a:rPr>
              <a:t>Synthetic finance use cases still require validation against live macro regimes before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Healthcare synthesis targets privacy-preserving sharing and rare-disease coverage</a:t>
            </a:r>
          </a:p>
          <a:p>
            <a:pPr lvl="0" marL="457200" indent="-228600">
              <a:buFont typeface="Calibri"/>
              <a:spcAft>
                <a:spcPts val="1000"/>
              </a:spcAft>
              <a:buSzPct val="100000"/>
              <a:buChar char="•"/>
              <a:lnSpc>
                <a:spcPts val="2200"/>
              </a:lnSpc>
            </a:pPr>
            <a:r>
              <a:rPr sz="2000" b="0">
                <a:solidFill>
                  <a:srgbClr val="333333"/>
                </a:solidFill>
                <a:latin typeface="Calibri"/>
              </a:rPr>
              <a:t>Both domains demand regulatory awareness and fidelity checks beyond aggregate similarity</a:t>
            </a:r>
          </a:p>
          <a:p>
            <a:pPr lvl="0" marL="457200" indent="-228600">
              <a:buFont typeface="Calibri"/>
              <a:spcAft>
                <a:spcPts val="1000"/>
              </a:spcAft>
              <a:buSzPct val="100000"/>
              <a:buChar char="•"/>
              <a:lnSpc>
                <a:spcPts val="2200"/>
              </a:lnSpc>
            </a:pPr>
            <a:r>
              <a:rPr sz="2000" b="0">
                <a:solidFill>
                  <a:srgbClr val="333333"/>
                </a:solidFill>
                <a:latin typeface="Calibri"/>
              </a:rPr>
              <a:t>Autonomy and cybersecurity use cases follow in the next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Ransomware attack simulation for cybersecurity training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Autonomous systems data demands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Self-driving stacks require vast labeled coverage across weather, lighting, traffic</a:t>
            </a:r>
          </a:p>
          <a:p>
            <a:pPr lvl="0" marL="457200" indent="-228600">
              <a:buFont typeface="Calibri"/>
              <a:spcAft>
                <a:spcPts val="1000"/>
              </a:spcAft>
              <a:buSzPct val="100000"/>
              <a:buChar char="•"/>
              <a:lnSpc>
                <a:spcPts val="2200"/>
              </a:lnSpc>
            </a:pPr>
            <a:r>
              <a:rPr sz="2000" b="0">
                <a:solidFill>
                  <a:srgbClr val="333333"/>
                </a:solidFill>
                <a:latin typeface="Calibri"/>
              </a:rPr>
              <a:t>Logging every dangerous or rare combination on public roads is impractical and costly</a:t>
            </a:r>
          </a:p>
          <a:p>
            <a:pPr lvl="0" marL="457200" indent="-228600">
              <a:buFont typeface="Calibri"/>
              <a:spcAft>
                <a:spcPts val="1000"/>
              </a:spcAft>
              <a:buSzPct val="100000"/>
              <a:buChar char="•"/>
              <a:lnSpc>
                <a:spcPts val="2200"/>
              </a:lnSpc>
            </a:pPr>
            <a:r>
              <a:rPr sz="2000" b="0">
                <a:solidFill>
                  <a:srgbClr val="333333"/>
                </a:solidFill>
                <a:latin typeface="Calibri"/>
              </a:rPr>
              <a:t>Synthetic environments generate diverse driving clips for navigation, decision-making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10.15 — Pedestrian-in-Rain Edge Case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10.15 — hands-on module</a:t>
            </a:r>
          </a:p>
          <a:p>
            <a:pPr lvl="0" marL="457200" indent="-228600">
              <a:buFont typeface="Calibri"/>
              <a:spcAft>
                <a:spcPts val="1000"/>
              </a:spcAft>
              <a:buSzPct val="100000"/>
              <a:buChar char="•"/>
              <a:lnSpc>
                <a:spcPts val="2200"/>
              </a:lnSpc>
            </a:pPr>
            <a:r>
              <a:rPr sz="2000" b="0">
                <a:solidFill>
                  <a:srgbClr val="333333"/>
                </a:solidFill>
                <a:latin typeface="Calibri"/>
              </a:rPr>
              <a:t>A combination rarely present in fleet logs</a:t>
            </a:r>
          </a:p>
          <a:p>
            <a:pPr lvl="0" marL="457200" indent="-228600">
              <a:buFont typeface="Calibri"/>
              <a:spcAft>
                <a:spcPts val="1000"/>
              </a:spcAft>
              <a:buSzPct val="100000"/>
              <a:buChar char="•"/>
              <a:lnSpc>
                <a:spcPts val="2200"/>
              </a:lnSpc>
            </a:pPr>
            <a:r>
              <a:rPr sz="2000" b="0">
                <a:solidFill>
                  <a:srgbClr val="333333"/>
                </a:solidFill>
                <a:latin typeface="Calibri"/>
              </a:rPr>
              <a:t>Edge-case synthesis improves robustness where real collection is sparse or unsafe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Edge cases and safety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Rare events, jaywalking, sudden obstacles, or unusual road geometry, may never appear</a:t>
            </a:r>
          </a:p>
          <a:p>
            <a:pPr lvl="0" marL="457200" indent="-228600">
              <a:buFont typeface="Calibri"/>
              <a:spcAft>
                <a:spcPts val="1000"/>
              </a:spcAft>
              <a:buSzPct val="100000"/>
              <a:buChar char="•"/>
              <a:lnSpc>
                <a:spcPts val="2200"/>
              </a:lnSpc>
            </a:pPr>
            <a:r>
              <a:rPr sz="2000" b="0">
                <a:solidFill>
                  <a:srgbClr val="333333"/>
                </a:solidFill>
                <a:latin typeface="Calibri"/>
              </a:rPr>
              <a:t>Synthetic simulation supplies critical scenarios at scale</a:t>
            </a:r>
          </a:p>
          <a:p>
            <a:pPr lvl="0" marL="457200" indent="-228600">
              <a:buFont typeface="Calibri"/>
              <a:spcAft>
                <a:spcPts val="1000"/>
              </a:spcAft>
              <a:buSzPct val="100000"/>
              <a:buChar char="•"/>
              <a:lnSpc>
                <a:spcPts val="2200"/>
              </a:lnSpc>
            </a:pPr>
            <a:r>
              <a:rPr sz="2000" b="0">
                <a:solidFill>
                  <a:srgbClr val="333333"/>
                </a:solidFill>
                <a:latin typeface="Calibri"/>
              </a:rPr>
              <a:t>Over-reliance remains a risk if generators omit plausible human actions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Augmenting vision and other modalities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Synthetic data augments sparse or imbalanced real sets across computer vision</a:t>
            </a:r>
          </a:p>
          <a:p>
            <a:pPr lvl="0" marL="457200" indent="-228600">
              <a:buFont typeface="Calibri"/>
              <a:spcAft>
                <a:spcPts val="1000"/>
              </a:spcAft>
              <a:buSzPct val="100000"/>
              <a:buChar char="•"/>
              <a:lnSpc>
                <a:spcPts val="2200"/>
              </a:lnSpc>
            </a:pPr>
            <a:r>
              <a:rPr sz="2000" b="0">
                <a:solidFill>
                  <a:srgbClr val="333333"/>
                </a:solidFill>
                <a:latin typeface="Calibri"/>
              </a:rPr>
              <a:t>Rendered product photos under varied lighting and clutter diversify backgrounds beyond</a:t>
            </a:r>
          </a:p>
          <a:p>
            <a:pPr lvl="0" marL="457200" indent="-228600">
              <a:buFont typeface="Calibri"/>
              <a:spcAft>
                <a:spcPts val="1000"/>
              </a:spcAft>
              <a:buSzPct val="100000"/>
              <a:buChar char="•"/>
              <a:lnSpc>
                <a:spcPts val="2200"/>
              </a:lnSpc>
            </a:pPr>
            <a:r>
              <a:rPr sz="2000" b="0">
                <a:solidFill>
                  <a:srgbClr val="333333"/>
                </a:solidFill>
                <a:latin typeface="Calibri"/>
              </a:rPr>
              <a:t>Modified or generated text expands corpora for sentiment and translation tasks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10.16 — Computer-Vision Augmentation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10.16 shows a vision team rendering synthetic product photos with varied lighting</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Cybersecurity and evolving threats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Cyber threats evolve quickly; real attack logs are incomplete and sensitive</a:t>
            </a:r>
          </a:p>
          <a:p>
            <a:pPr lvl="0" marL="457200" indent="-228600">
              <a:buFont typeface="Calibri"/>
              <a:spcAft>
                <a:spcPts val="1000"/>
              </a:spcAft>
              <a:buSzPct val="100000"/>
              <a:buChar char="•"/>
              <a:lnSpc>
                <a:spcPts val="2200"/>
              </a:lnSpc>
            </a:pPr>
            <a:r>
              <a:rPr sz="2000" b="0">
                <a:solidFill>
                  <a:srgbClr val="333333"/>
                </a:solidFill>
                <a:latin typeface="Calibri"/>
              </a:rPr>
              <a:t>Insider-threat models without waiting for live incidents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10.17 — Ransomware Attack Simulation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10.17 describes a security operations center replaying synthetic ransomware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Autonomy benefits from synthetic rare-scenario coverage</a:t>
            </a:r>
          </a:p>
          <a:p>
            <a:pPr lvl="0" marL="457200" indent="-228600">
              <a:buFont typeface="Calibri"/>
              <a:spcAft>
                <a:spcPts val="1000"/>
              </a:spcAft>
              <a:buSzPct val="100000"/>
              <a:buChar char="•"/>
              <a:lnSpc>
                <a:spcPts val="2200"/>
              </a:lnSpc>
            </a:pPr>
            <a:r>
              <a:rPr sz="2000" b="0">
                <a:solidFill>
                  <a:srgbClr val="333333"/>
                </a:solidFill>
                <a:latin typeface="Calibri"/>
              </a:rPr>
              <a:t>All three require validation that synthetic behavior matches plausible real threats and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Regulatory considerations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Generator-specific ethical tensions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Synthetic data adds risks beyond general privacy law</a:t>
            </a:r>
          </a:p>
          <a:p>
            <a:pPr lvl="0" marL="457200" indent="-228600">
              <a:buFont typeface="Calibri"/>
              <a:spcAft>
                <a:spcPts val="1000"/>
              </a:spcAft>
              <a:buSzPct val="100000"/>
              <a:buChar char="•"/>
              <a:lnSpc>
                <a:spcPts val="2200"/>
              </a:lnSpc>
            </a:pPr>
            <a:r>
              <a:rPr sz="2000" b="0">
                <a:solidFill>
                  <a:srgbClr val="333333"/>
                </a:solidFill>
                <a:latin typeface="Calibri"/>
              </a:rPr>
              <a:t>Documentation and validation are ethical obligations, not optional metadata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Privacy claims and GDPR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Organizations often treat synthetic tables as lower risk because direct identifiers are</a:t>
            </a:r>
          </a:p>
          <a:p>
            <a:pPr lvl="0" marL="457200" indent="-228600">
              <a:buFont typeface="Calibri"/>
              <a:spcAft>
                <a:spcPts val="1000"/>
              </a:spcAft>
              <a:buSzPct val="100000"/>
              <a:buChar char="•"/>
              <a:lnSpc>
                <a:spcPts val="2200"/>
              </a:lnSpc>
            </a:pPr>
            <a:r>
              <a:rPr sz="2000" b="0">
                <a:solidFill>
                  <a:srgbClr val="333333"/>
                </a:solidFill>
                <a:latin typeface="Calibri"/>
              </a:rPr>
              <a:t>That claim fails if generators memorize rare individuals or adversaries can link rows back</a:t>
            </a:r>
          </a:p>
          <a:p>
            <a:pPr lvl="0" marL="457200" indent="-228600">
              <a:buFont typeface="Calibri"/>
              <a:spcAft>
                <a:spcPts val="1000"/>
              </a:spcAft>
              <a:buSzPct val="100000"/>
              <a:buChar char="•"/>
              <a:lnSpc>
                <a:spcPts val="2200"/>
              </a:lnSpc>
            </a:pPr>
            <a:r>
              <a:rPr sz="2000" b="0">
                <a:solidFill>
                  <a:srgbClr val="333333"/>
                </a:solidFill>
                <a:latin typeface="Calibri"/>
              </a:rPr>
              <a:t>Under GDPR, whether synthetic outputs escape personal-data duties depends on residual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10.18 — GDPR-Compliant Synthetic Patients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10.18 describes a cross-border research project sharing synthetic patient cohorts</a:t>
            </a:r>
          </a:p>
          <a:p>
            <a:pPr lvl="0" marL="457200" indent="-228600">
              <a:buFont typeface="Calibri"/>
              <a:spcAft>
                <a:spcPts val="1000"/>
              </a:spcAft>
              <a:buSzPct val="100000"/>
              <a:buChar char="•"/>
              <a:lnSpc>
                <a:spcPts val="2200"/>
              </a:lnSpc>
            </a:pPr>
            <a:r>
              <a:rPr sz="2000" b="0">
                <a:solidFill>
                  <a:srgbClr val="333333"/>
                </a:solidFill>
                <a:latin typeface="Calibri"/>
              </a:rPr>
              <a:t>Wide sharing is justified only when unlinkability is demonstrated</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Misuse and manipulated reporting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Poorly generated or deliberately skewed synthetic sets can mislead stakeholders</a:t>
            </a:r>
          </a:p>
          <a:p>
            <a:pPr lvl="0" marL="457200" indent="-228600">
              <a:buFont typeface="Calibri"/>
              <a:spcAft>
                <a:spcPts val="1000"/>
              </a:spcAft>
              <a:buSzPct val="100000"/>
              <a:buChar char="•"/>
              <a:lnSpc>
                <a:spcPts val="2200"/>
              </a:lnSpc>
            </a:pPr>
            <a:r>
              <a:rPr sz="2000" b="0">
                <a:solidFill>
                  <a:srgbClr val="333333"/>
                </a:solidFill>
                <a:latin typeface="Calibri"/>
              </a:rPr>
              <a:t>Leading to harmful deployment in banking or healthcare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10.19 — Manipulated Performance Reporting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10.19 — hands-on module</a:t>
            </a:r>
          </a:p>
          <a:p>
            <a:pPr lvl="0" marL="457200" indent="-228600">
              <a:buFont typeface="Calibri"/>
              <a:spcAft>
                <a:spcPts val="1000"/>
              </a:spcAft>
              <a:buSzPct val="100000"/>
              <a:buChar char="•"/>
              <a:lnSpc>
                <a:spcPts val="2200"/>
              </a:lnSpc>
            </a:pPr>
            <a:r>
              <a:rPr sz="2000" b="0">
                <a:solidFill>
                  <a:srgbClr val="333333"/>
                </a:solidFill>
                <a:latin typeface="Calibri"/>
              </a:rPr>
              <a:t>Downstream banks discover failure on live portfolios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Over-reliance and quality concerns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Over-reliance treats synthetic corpora as complete substitutes for real-world evidence</a:t>
            </a:r>
          </a:p>
          <a:p>
            <a:pPr lvl="0" marL="457200" indent="-228600">
              <a:buFont typeface="Calibri"/>
              <a:spcAft>
                <a:spcPts val="1000"/>
              </a:spcAft>
              <a:buSzPct val="100000"/>
              <a:buChar char="•"/>
              <a:lnSpc>
                <a:spcPts val="2200"/>
              </a:lnSpc>
            </a:pPr>
            <a:r>
              <a:rPr sz="2000" b="0">
                <a:solidFill>
                  <a:srgbClr val="333333"/>
                </a:solidFill>
                <a:latin typeface="Calibri"/>
              </a:rPr>
              <a:t>Autonomy planners trained mostly on synthetic intersections may fail when pedestrians</a:t>
            </a:r>
          </a:p>
          <a:p>
            <a:pPr lvl="0" marL="457200" indent="-228600">
              <a:buFont typeface="Calibri"/>
              <a:spcAft>
                <a:spcPts val="1000"/>
              </a:spcAft>
              <a:buSzPct val="100000"/>
              <a:buChar char="•"/>
              <a:lnSpc>
                <a:spcPts val="2200"/>
              </a:lnSpc>
            </a:pPr>
            <a:r>
              <a:rPr sz="2000" b="0">
                <a:solidFill>
                  <a:srgbClr val="333333"/>
                </a:solidFill>
                <a:latin typeface="Calibri"/>
              </a:rPr>
              <a:t>Low-quality tabular generators can emit impossible joint values that teach spurious rules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Bias amplification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Generators trained on skewed historical data can emit apparently diverse yet</a:t>
            </a:r>
          </a:p>
          <a:p>
            <a:pPr lvl="0" marL="457200" indent="-228600">
              <a:buFont typeface="Calibri"/>
              <a:spcAft>
                <a:spcPts val="1000"/>
              </a:spcAft>
              <a:buSzPct val="100000"/>
              <a:buChar char="•"/>
              <a:lnSpc>
                <a:spcPts val="2200"/>
              </a:lnSpc>
            </a:pPr>
            <a:r>
              <a:rPr sz="2000" b="0">
                <a:solidFill>
                  <a:srgbClr val="333333"/>
                </a:solidFill>
                <a:latin typeface="Calibri"/>
              </a:rPr>
              <a:t>Amplifying unfair outcomes in high-stakes decisions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10.22 — Bias Amplification in Hiring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10.22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10.22 illustrates synthetic resumes from historically male-dominated hiring data</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`modules/chapter10/example22/`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Mitigation: transparency, validation, oversight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Ethics review or automated fairness checks</a:t>
            </a:r>
          </a:p>
          <a:p>
            <a:pPr lvl="0" marL="457200" indent="-228600">
              <a:buFont typeface="Calibri"/>
              <a:spcAft>
                <a:spcPts val="1000"/>
              </a:spcAft>
              <a:buSzPct val="100000"/>
              <a:buChar char="•"/>
              <a:lnSpc>
                <a:spcPts val="2200"/>
              </a:lnSpc>
            </a:pPr>
            <a:r>
              <a:rPr sz="2000" b="0">
                <a:solidFill>
                  <a:srgbClr val="333333"/>
                </a:solidFill>
                <a:latin typeface="Calibri"/>
              </a:rPr>
              <a:t>Provenance and retention policies should support accountability when regulators or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10.23 — Synthetic Data Under GDPR Rights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10.23 — hands-on module</a:t>
            </a:r>
          </a:p>
          <a:p>
            <a:pPr lvl="0" marL="457200" indent="-228600">
              <a:buFont typeface="Calibri"/>
              <a:spcAft>
                <a:spcPts val="1000"/>
              </a:spcAft>
              <a:buSzPct val="100000"/>
              <a:buChar char="•"/>
              <a:lnSpc>
                <a:spcPts val="2200"/>
              </a:lnSpc>
            </a:pPr>
            <a:r>
              <a:rPr sz="2000" b="0">
                <a:solidFill>
                  <a:srgbClr val="333333"/>
                </a:solidFill>
                <a:latin typeface="Calibri"/>
              </a:rPr>
              <a:t>Pushing teams to document provenance and retention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`modules/chapter10/example23/`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Synthetic data is a privacy tool only when validation shows acceptable re-identification</a:t>
            </a:r>
          </a:p>
          <a:p>
            <a:pPr lvl="0" marL="457200" indent="-228600">
              <a:buFont typeface="Calibri"/>
              <a:spcAft>
                <a:spcPts val="1000"/>
              </a:spcAft>
              <a:buSzPct val="100000"/>
              <a:buChar char="•"/>
              <a:lnSpc>
                <a:spcPts val="2200"/>
              </a:lnSpc>
            </a:pPr>
            <a:r>
              <a:rPr sz="2000" b="0">
                <a:solidFill>
                  <a:srgbClr val="333333"/>
                </a:solidFill>
                <a:latin typeface="Calibri"/>
              </a:rPr>
              <a:t>Misuse, over-reliance</a:t>
            </a:r>
          </a:p>
          <a:p>
            <a:pPr lvl="0" marL="457200" indent="-228600">
              <a:buFont typeface="Calibri"/>
              <a:spcAft>
                <a:spcPts val="1000"/>
              </a:spcAft>
              <a:buSzPct val="100000"/>
              <a:buChar char="•"/>
              <a:lnSpc>
                <a:spcPts val="2200"/>
              </a:lnSpc>
            </a:pPr>
            <a:r>
              <a:rPr sz="2000" b="0">
                <a:solidFill>
                  <a:srgbClr val="333333"/>
                </a:solidFill>
                <a:latin typeface="Calibri"/>
              </a:rPr>
              <a:t>Document generators, validate against real benchmarks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Chapter complete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This chapter positioned statistical sampling, generative adversarial networks</a:t>
            </a:r>
          </a:p>
          <a:p>
            <a:pPr lvl="0" marL="457200" indent="-228600">
              <a:buFont typeface="Calibri"/>
              <a:spcAft>
                <a:spcPts val="1000"/>
              </a:spcAft>
              <a:buSzPct val="100000"/>
              <a:buChar char="•"/>
              <a:lnSpc>
                <a:spcPts val="2200"/>
              </a:lnSpc>
            </a:pPr>
            <a:r>
              <a:rPr sz="2000" b="0">
                <a:solidFill>
                  <a:srgbClr val="333333"/>
                </a:solidFill>
                <a:latin typeface="Calibri"/>
              </a:rPr>
              <a:t>Continue to annotation and corpus-scale storage topics in subsequent chapters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Synthetic Data Generation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