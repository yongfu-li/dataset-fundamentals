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covered surveys, sampling, and small-scale collection. This chapter asks what changes when evidence must arrive continuously, from many devices, or at volumes no spreadsheet can hold. Advanced techniques—crowdsourcing, Internet of Things sensing, and streaming pipelines—extend decision-focused design rather than replace it.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when traditional collection pipelines hit scale, reliability, and cost limits; state why heterogeneous sources demand continuous rather than one-shot collection; and connect advanced methods to the same decision-making purpose that anchors smaller surveys.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collection is not an excuse to gather everything. Teams still need the right evidence for a concrete action. Crowdsourcing, sensors, and streams exist so that purpose can survive larger scale, higher velocity, and more diverse formats without losing the link between measurement and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 considers a product team that may still begin with customer-satisfaction surveys. Once the same questions must be answered continuously across regions, channels, and product lines, survey logistics alone cannot keep up. Advanced methods preserve that decision-making goal at larger scale. Open the example 1 module for this chapter to review the scenario takeaways.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collection often fails on three fronts: scalability, reliability, and cost. Paper and interview workflows grow expensive as samples expand; human observers introduce inconsistency; and longitudinal studies multiply travel and personnel costs. Those limits motivate the techniques developed later in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 shows how paper surveys fail to scale with sample size. Distribution, collection, and processing become exponentially harder as more respondents are added. The lesson is operational: when turnaround and volume matter, manual logistics break first. The example 2 module for this chapter summarizes the same scalability rationale.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Beyond scale and cost, modern projects must ingest sensors, social feeds, web analytics, enterprise logs, and multimedia. These sources differ in structure, arrive at high velocity, and often require continuous rather than one-shot collection. Quality assurance therefore depends on declared crawl windows, stable identifiers, and refresh practices that keep longitudinal work comparable.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9.5 shows wearables as continuous health sources that traditional clinic visits and paper records cannot match. Fitness trackers and smartwatches stream heart rate, activity, and sleep at a temporal resolution periodic visits cannot provide. The example 5 module for this chapter frames that continuous-sensing contrast.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collection extends Chapter 2 when data grow too large, too fast, or too heterogeneous for surveys and small databases alone. Decision focus remains the design goal. Crowdsourcing, IoT and edge sensing, and big-data streaming pipelines address scale, reliability, cost, variety, and timely processing.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defines crowdsourcing and walks use cases from fraud-pattern review and innovation contests to microtask image tagging on crowd platforms.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crowdsourcing and name major task types; describe labeling, market research, innovation, and microtasking use cases; and interpret examples of fraud-pattern review, open algorithmic contests, and catalog image tagging.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obtains input, services, or resources by soliciting contributions from a large group, typically through an online community. It draws on collective intelligence and diverse skills for problems that are too complex or time-consuming for a small team alone. The approach can lower cost while also tapping creativity, not only routine labor.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types include crowd voting on ideas or designs; crowd creation of writing, design, or code; crowd collaboration on complex research or software problems; crowdfunding for projects; and crowd labor that splits work into microtasks such as labeling, transcription, or categorization. Dataset projects most often emphasize crowd labor and related labeling workflows.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Machine learning teams use crowdsourcing to gather labeled images and text quickly. Market research can sample broad demographics through surveys on the same platforms. Example settings also apply crowd-scale review patterns to large transaction corpora when fraud risk must be assessed from amount, location, and frequency signals.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9.8 describes a bank analyzing millions of transactions for fraud likelihood based on amounts, locations, and frequency. Applied in near real time, such a model can flag and help prevent fraud before customers are harmed. Open the example 8 module for this chapter to review the fraud-review framing.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9.9 recalls the Netflix Prize: a one-million-dollar open competition for the best algorithm to improve recommendations. Organizations use contests to crowdsource innovation when many external teams can explore solutions under a shared goal. The example 9 module for this chapter summarizes that contest-style innovation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9.10 shows catalog image tagging split into microtasks—for example labeling apparel, electronics, or home goods—and distributed to many workers. Thousands of items can be annotated in hours rather than weeks. The example 10 module for this chapter captures that microtasking speed advantage.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scales human judgment through online communities and multiple task types. Dataset work often centers on labeling and microtasking, while contests can crowdsource innovation. Fraud review, open prizes, and catalog tagging illustrate how the same idea adapts to different collection goals.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moves from use cases to platforms: the Amazon Mechanical Turk workflow for posting and reviewing Human Intelligence Tasks, then alternatives such as Prolific, CrowdFlower, and Clickworker.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the MTurk requester–worker workflow including Human Intelligence Tasks, review, payment, and reputation; apply that workflow to a product-description labeling scenario; and contrast Prolific, CrowdFlower, and Clickworker with MTurk for research and annotation work.</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Amazon Mechanical Turk, launched in 2005, connects requesters with a large pool of remote workers who perform microtasks. Through a web interface, requesters post work ranging from data entry to content moderation or sentiment analysis. The platform is one of the best-known venues for crowd labor in research and industry labeling.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Requesters create Human Intelligence Tasks—units that need human judgment, such as labeling, categorization, or short summaries. Workers browse available tasks and choose which to complete. After submission, the requester reviews results and pays when the work is satisfactory. Feedback builds worker reputation and influences access to harder tasks.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9.11 walks a product-description labeling campaign. Workers read descriptions and tag categories such as electronics, clothing, or home goods. Those labels then train recommendation models. Open the example 11 module for this chapter to review the HIT-style labeling workflow.</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Prolific targets academic research. Participants are pre-screened to meet study criteria, and the platform emphasizes research ethics, fair compensation, and data quality. Compared with general microtask markets, Prolific workers are often preferred for surveys and experiments that need thoughtful responses rather than purely piece-rate labeling.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CrowdFlower, now Figure Eight, supports annotation, machine learning tasks, and content moderation by splitting complex workflows into smaller units for a global workforce. Clickworker, based in Germany, focuses on writing, translation, categorization, and proofreading, with a large European worker base and flexible microtask work. Platform choice should match task type, geography, and quality needs.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MTurk remains a common default for flexible microtasks and labeling. Prolific is often stronger when ethics screening and survey quality matter most. CrowdFlower and Clickworker emphasize managed annotation workflows or European language and content tasks. Teams should align platform features with recruitment criteria, pay norms, and validation plans.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MTurk operationalizes crowdsourcing through Human Intelligence Tasks, review, payment, and reputation. Product-description labeling shows how category tags feed downstream models. Prolific, CrowdFlower, and Clickworker offer research-focused or workflow-specific alternatives when MTurk is not the best fit.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advantages and failure modes of crowdsourcing, best practices for instructions and quality checks, and ethical obligations around fair pay, privacy, and harmful work conditions.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major advantages of crowdsourcing; identify quality, privacy, and labor challenges; apply best practices such as clear instructions, gold-standard checks, fair incentives, and reputation filters; and state ethical concerns including pay, exploitation, and data security.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can be cost-effective by outsourcing units of work without full-time headcount. Access to thousands of workers supports speed and scale so projects that once took months can finish in days. A global talent pool brings diverse perspectives, and requesters can flex capacity up or down with pilots before expanding.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control is hard when many individuals contribute: inconsistency, error, and bias appear without oversight. Sharing sensitive data with third parties raises security, privacy, and compliance concerns such as GDPR. Ethically, very low pay and job insecurity create exploitation risks for workers who depend on microtasks.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detailed instructions are critical so workers understand requirements and can complete tasks accurately. Validation mechanisms such as gold-standard questions—items with known answers embedded in the stream—help measure accuracy and reduce careless or malicious submissions before labels enter training sets.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 compensation and bonuses for complex or high-quality work motivate better performance. Reputation systems rate workers based on past quality; requesters should use those ratings when assigning tasks. Together, incentives and reputation filters improve consistency beyond relying on volume alone.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primary ethical concern is low pay—sometimes only cents per unit—accepted under limited local alternatives. The informal nature of microtask work often means no job security, benefits, or strong worker protections. Precarious conditions can become exploitation when effort and expertise are underpaid.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tasks may expose sensitive data to many workers. Organizations need security protocols, training, and regulatory compliance to limit breaches. Ethical design therefore pairs technical controls with fair labor practices rather than treating either concern as optional.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Crowdsourcing offers cost, speed, diversity, and flexibility, but quality and privacy do not come free. Best practices center on clear instructions, gold standards, fair incentives, and reputation. Ethical campaigns address fair pay, exploitation risk, and data security together with technical validation.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shifts from human microtasks to continuous measurement: Internet of Things components—sensors, connectivity, and processing—with wearables, industrial monitors, and agricultural soil networks as motivating examples.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the Internet of Things and its main components; give examples of wearable and industrial sensing endpoints; and explain how connectivity and continuous soil sensing support collection without constant human intervention.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Internet of Things is a network of physical devices that connect to the internet and exchange data. Devices range from smart thermostats and wearables to industrial machinery, autonomous vehicles, and smart-city systems. Objects collect, share, and analyze data with limited direct human intervention, yielding timely status and environmental insights.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its core, IoT combines things equipped with sensors or actuators; reliable connectivity to move data; and processing analytics at the edge or in the cloud. Devices capture measurements or perform actions. Networks carry those readings onward. Processing turns raw streams into decisions for users and automated systems.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9.12 lists wearables such as fitness trackers and smartwatches that monitor heart rate, steps, and sleep. These endpoints illustrate everyday sensing that produces continuous personal health streams. Open the example 12 module for this chapter to review wearable sensing as an IoT collection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9.14 describes manufacturing machines that monitor their own performance, detect faults, and predict maintenance needs. Industrial IoT therefore links sensing to operational reliability rather than only consumer wellness. The example 14 module for this chapter frames that self-monitoring maintenance use case.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Devices need reliable links to gateways or cloud services. Common options include Wi-Fi for home and office devices; Bluetooth Low Energy for many wearables; cellular networks for long-range mobile devices; and low-power wide-area networks for small payloads over long distances, as in agriculture. Choice depends on power, range, and bandwidth.</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9.16 highlights soil sensors that support continuous agriculture data. Farmers collect moisture, temperature, and related readings so irrigation and crop decisions can follow timely streams rather than infrequent manual tests. The example 16 module for this chapter summarizes continuous agricultural sensing.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collection rests on sensing devices, connectivity, and edge or cloud processing. Wearables and industrial monitors show personal and plant-floor endpoints. Connectivity choices and soil networks illustrate how continuous streams replace sparse manual measurement in the field.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describes the IoT collection pipeline and the benefits of edge processing for latency, bandwidth, and local decisions such as thermostats, traffic lights, and logistics rerouting.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outline stages of an IoT data pipeline; explain edge computing benefits for latency, bandwidth, and reliability; and apply those ideas to thermostat sensing, traffic-light control, and real-time logistics rerouting.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IoT pipeline typically moves through data generation at the sensor; transmission to a gateway or cloud; processing first at the edge and then centrally; and storage with analytics that share insights with users or automated systems. Each stage must be designed so volume and delay do not erase the value of continuous sensing.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9.17 gives a minimal sensing vignette: a smart thermostat records temperature in a room. That local reading is the generation step before gateway or cloud processing. Open the example 17 module for this chapter to situate local sensing at the start of the pipeline.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Edge computing processes data at or near the device, often on local servers, before sending results to the cloud. Doing so reduces load on central servers and shortens delay for real-time decisions. Transmission may still use Wi-Fi, Bluetooth, or cellular links, but not every raw sample must travel unmodified.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Processing closer to the source cuts latency for time-sensitive applications. Sending only relevant or pre-processed data optimizes bandwidth and cost. Edge devices can also keep working when connectivity drops, syncing later when the link returns. Together these benefits make continuous IoT collection operationally viable.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9.18 shows smart traffic systems that process camera and sensor data at the edge to adjust lights in real time without waiting on a distant cloud round trip. Local decisions keep control loops tight. The example 18 module for this chapter highlights that near-real-time traffic control pattern.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9.19 applies IoT tracking to logistics: delivery trucks are monitored in real time and rerouted using traffic data to improve fuel use and delivery times. Timely sensing plus responsive processing turns location streams into operational decisions. The example 19 module for this chapter summarizes that rerouting advantage.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pipelines span generation, transmission, edge and cloud processing, and analytics. Edge computing improves latency, bandwidth use, and offline resilience. Thermostats, traffic lights, and logistics rerouting show why local processing matters for timely action.</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scalability, security, and privacy challenges in IoT collection, smart-city multi-source designs, and ethical concerns including consent and managing data overload.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scalability, security, and privacy challenges for IoT collection; describe encryption, authentication, and secure-edge practices; and discuss ethical issues of ownership, overload, and surveillance using wearable and smart-city examples.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device counts grow, managing and processing massive volumes becomes difficult without robust infrastructure and efficient protocols. Many IoT devices ship with minimal security, so each endpoint can be an attack surface. Sensitive health and behavior data also demand compliance with privacy rules such as GDPR or HIPAA.</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practices include end-to-end encryption at the device, in transit, and in the cloud; strong authentication and authorization for devices and users; and hardened edge devices with secure boot and encrypted storage. These controls reduce unauthorized access, tampering, and remote takeover risks in continuous collection systems.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9.20 highlights wearable health trackers that monitor vital signs in real time. Securing those edge devices against tampering and ensuring health data reach clinicians safely are essential to protect patient privacy. Open the example 20 module for this chapter to review secure wearable edge collection.</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9.21 outlines smart-city systems that collect from traffic lights, environmental sensors, waste management, and public transit. Multi-source urban sensing amplifies both operational value and the need for standardized formats, protocols, and governance. The example 21 module for this chapter frames that multi-source design.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multi-source IoT depends on shared formats and lightweight protocols. Message Queuing Telemetry Transport suits low-bandwidth messaging, while Constrained Application Protocol supports low-power devices. Standardization helps cities and operators fuse streams without brittle one-off integrations that fail under scale.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owns device-collected personal data—the individual or the vendor—is often contested. Millions of devices also create overload: important signals can be lost in volume. Public and personal tracking raise surveillance concerns, so designers must balance operational benefits against privacy rights and consent.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collection faces scalability, security, and privacy challenges that grow with always-on endpoints. Encryption, authentication, and secure edge devices are baseline controls. Wearables and smart cities show why ethics—ownership, overload, and surveillance—must travel with the technical pipeline.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to big-data characteristics—volume, velocity, variety, and veracity—and to streaming and distributed systems that absorb continuous stock, sensor, and social feeds.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characterize volume, velocity, variety, veracity, and value; explain why social streams need noise filtering; and describe streaming data and distributed processing with technologies such as Hadoop and Kafka.</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refers to extremely large, complex datasets beyond conventional processing tools. Classic dimensions include volume—the sheer size of the corpus; velocity—the speed of generation and processing; variety—structured, semi-structured, and unstructured formats; veracity—reliability of the data; and value—useful insights, not mere accumulation.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9.23 illustrates volume: social platforms, sensors, and internet transactions can reach petabyte scale—a petabyte being a million gigabytes—or more. At that size, collection design must assume distributed storage and processing from the start. Open the example 23 module for this chapter to review the volume framing.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Velocity rises with IoT, social, and financial streams that demand rapid processing for timely decisions. Variety spans spreadsheets, JSON, XML, posts, video, and images. Veracity is hard to assess at scale. Value reminds teams that collecting volume without extractable insight wastes infrastructure and attention.</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9.24 shows why social streams need filtering: posts often contain noise or irrelevant content that must be removed before insights are meaningful. Collection pipelines therefore include quality gates, not only ingest. The example 24 module for this chapter summarizes noise filtering as a veracity practice.</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data is generated continuously and must be processed as it arrives. Unlike batch workflows that store first and analyze later, streaming systems handle high-throughput flows in motion. Stock feeds, IoT readings, and social updates are typical sources that break one-shot collection assumptions.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9.25 lists common streaming sources: real-time stock market feeds, IoT sensor readings, and social media updates. Distributed systems split large datasets across machines so parallel processing can keep up. The example 25 module for this chapter ties those feeds to continuous ingestion design.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is defined by volume, velocity, variety, veracity, and value—not size alone. Social noise filtering protects insight quality. Streaming plus distributed frameworks such as Hadoop and Kafka support continuous stock, sensor, and social collection at scale.</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surveys collection challenges and tooling, then contrasts data lakes for mixed raw sources with data warehouses for structured business intelligence.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integration, storage, quality, and scalability challenges in big-data collection; name tools such as Apache Flume and Apache NiFi; and contrast data lakes with data warehouses using retail and financial examples.</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arrives from social, sensors, databases, and more, each with different formats and protocols, so integration is hard. Traditional relational stores struggle with volume and variety, pushing teams toward distributed file systems and NoSQL options. Quality drifts under velocity, and infrastructure must scale storage and compute without uncontrolled cost.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Apache Flume is a distributed collection service for aggregating and transporting large log volumes, often into real-time analytics paths. Apache NiFi automates data flow between systems: collect, route, and transform from many sources into varied stores. These tools address movement and integration when custom scripts do not scale.</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lake is a centralized repository that stores vast raw data in native formats—structured, semi-structured, or unstructured. Lakes suit text, video, and social feeds when analysts need flexible access later. Weak schema discipline, however, can complicate governance and quality management if curation is neglected.</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9.26 places customer interaction logs, social content, and sensor data in a retail data lake. Analysts later apply machine learning to uncover behavior trends from that mixed corpus. Open the example 26 module for this chapter to review the lake-as-landing-zone pattern.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warehouse stores cleaned, transformed, structured data organized for fast querying and reporting. Tables support business intelligence tools and historical analysis. Warehouses excel at governed reporting but are less suited to the full variety and real-time nature of raw big-data streams.</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9.27 shows a financial institution storing transactions, balances, and demographics in a warehouse for monthly reporting and performance tracking. Structured BI needs consistency that lakes alone may not provide. The example 27 module for this chapter contrasts that warehouse reporting role.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Big-data collection faces integration, storage, quality, and scalability challenges that Flume and NiFi help address. Lakes land mixed raw sources for flexible analytics; warehouses serve cleaned structured reporting. Retail lakes and financial warehouses illustrate complementary storage patterns.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walks real-time social sentiment analysis, distributed file systems and ingestion modes, then quality, privacy, AI integration, and emerging trends that prepare later storage and modeling chapters.</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outline a real-time sentiment pipeline from social streams; describe distributed file systems and batch versus real-time ingestion; and summarize quality, privacy, AI integration, and emerging trends such as edge and AI-driven analytics.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Platforms such as Twitter, Facebook, and Instagram generate posts, comments, likes, and shares that stream in real time. Those signals can be analyzed for sentiment and related insights when collection, processing, and natural language analysis are wired into a continuous pipeline rather than a one-time export.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9.28 considers a product launch monitored through Twitter streams. Analysts collect tweets via an API, move continuous flows with tools such as Kafka or Flume, classify sentiment with natural language methods, and visualize results on dashboards. Open the example 28 module for this chapter to review that end-to-end launch-feedback design.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file systems such as HDFS and object stores such as Amazon S3 split data across cluster nodes for parallel processing, fault tolerance, and scalable storage. Ingestion may be batch—large chunks on a schedule—or real-time continuous streaming with platforms such as Kafka, Flume, or Kinesis. Mode choice follows latency needs.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Quality challenges include missing sensor values after network failures, inconsistent formats and units across sources, and duplicates that skew analysis. Cleaning, transformation, and validation are therefore part of collection design. Privacy requires encryption, access control, and anonymization when personal data fall under rules such as GDPR or HIPAA.</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Big data realizes more value when combined with AI and machine learning. Predictive analytics in healthcare, finance, and retail forecast outcomes or demand. Recommendation systems at scale use behavior histories to suggest products or media. Collection pipelines must therefore deliver timely, trustworthy features—not only raw volume.</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Emerging directions include quantum computing for faster complex processing as systems mature; edge computing for real-time applications with IoT and autonomy; greater use of five-G for faster device connectivity; and AI-driven analytics that automate more processing and insight extraction. These trends extend the advanced collection themes of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Real-time sentiment analysis shows how streaming collection, distributed transport, NLP, and dashboards form one pipeline. HDFS-style stores and batch or real-time ingestion land those streams. Quality, privacy, AI integration, and emerging edge and AI trends complete the chapter outlook toward later platform chapters.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to close Chapter 9. Later chapters deepen storage platforms, modeling, and operational practices that consume the advanced collection patterns introduced here.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9 — From fundamentals to advanced collection</a:t>
            </a:r>
          </a:p>
          <a:p>
            <a:pPr algn="ctr">
              <a:lnSpc>
                <a:spcPts val="2200"/>
              </a:lnSpc>
              <a:spcBef>
                <a:spcPts val="1400"/>
              </a:spcBef>
            </a:pPr>
            <a:r>
              <a:rPr sz="2600" b="0">
                <a:solidFill>
                  <a:srgbClr val="333333"/>
                </a:solidFill>
                <a:latin typeface="Calibri"/>
              </a:rPr>
              <a:t>Chapter 2 covered surveys, sampling, and small-scale collection</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Decision focus still anchors advanced pipelines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collection is not an excuse to gather everything</a:t>
            </a:r>
          </a:p>
          <a:p>
            <a:pPr>
              <a:spcAft>
                <a:spcPts val="1000"/>
              </a:spcAft>
              <a:buChar char="•"/>
              <a:lnSpc>
                <a:spcPts val="2200"/>
              </a:lnSpc>
            </a:pPr>
            <a:r>
              <a:rPr sz="2000" b="0">
                <a:solidFill>
                  <a:srgbClr val="333333"/>
                </a:solidFill>
                <a:latin typeface="Calibri"/>
              </a:rPr>
              <a:t>Teams still need the right evidence for a concrete action</a:t>
            </a:r>
          </a:p>
          <a:p>
            <a:pPr>
              <a:spcAft>
                <a:spcPts val="1000"/>
              </a:spcAft>
              <a:buChar char="•"/>
              <a:lnSpc>
                <a:spcPts val="2200"/>
              </a:lnSpc>
            </a:pPr>
            <a:r>
              <a:rPr sz="2000" b="0">
                <a:solidFill>
                  <a:srgbClr val="333333"/>
                </a:solidFill>
                <a:latin typeface="Calibri"/>
              </a:rPr>
              <a:t>Crowdsourcing, sensors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 — Customer Sentiment Survey for Decisions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 — hands-on module</a:t>
            </a:r>
          </a:p>
          <a:p>
            <a:pPr>
              <a:spcAft>
                <a:spcPts val="1000"/>
              </a:spcAft>
              <a:buChar char="•"/>
              <a:lnSpc>
                <a:spcPts val="2200"/>
              </a:lnSpc>
            </a:pPr>
            <a:r>
              <a:rPr sz="2000" b="0">
                <a:solidFill>
                  <a:srgbClr val="333333"/>
                </a:solidFill>
                <a:latin typeface="Calibri"/>
              </a:rPr>
              <a:t>Example 9.1 considers a product team that may still begin with customer-satisfaction</a:t>
            </a:r>
          </a:p>
          <a:p>
            <a:pPr>
              <a:spcAft>
                <a:spcPts val="1000"/>
              </a:spcAft>
              <a:buChar char="•"/>
              <a:lnSpc>
                <a:spcPts val="2200"/>
              </a:lnSpc>
            </a:pPr>
            <a:r>
              <a:rPr sz="2000" b="0">
                <a:solidFill>
                  <a:srgbClr val="333333"/>
                </a:solidFill>
                <a:latin typeface="Calibri"/>
              </a:rPr>
              <a:t>Once the same questions must be answered continuously across regions, channels</a:t>
            </a:r>
          </a:p>
          <a:p>
            <a:pPr>
              <a:spcAft>
                <a:spcPts val="1000"/>
              </a:spcAft>
              <a:buChar char="•"/>
              <a:lnSpc>
                <a:spcPts val="2200"/>
              </a:lnSpc>
            </a:pPr>
            <a:r>
              <a:rPr sz="2000" b="0">
                <a:solidFill>
                  <a:srgbClr val="333333"/>
                </a:solidFill>
                <a:latin typeface="Calibri"/>
              </a:rPr>
              <a:t>Advanced methods preserve that decision-making goal at larger scale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traditional pipelines hit limits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Traditional collection often fails on three fronts: scalability, reliability, and cost</a:t>
            </a:r>
          </a:p>
          <a:p>
            <a:pPr>
              <a:spcAft>
                <a:spcPts val="1000"/>
              </a:spcAft>
              <a:buChar char="•"/>
              <a:lnSpc>
                <a:spcPts val="2200"/>
              </a:lnSpc>
            </a:pPr>
            <a:r>
              <a:rPr sz="2000" b="0">
                <a:solidFill>
                  <a:srgbClr val="333333"/>
                </a:solidFill>
                <a:latin typeface="Calibri"/>
              </a:rPr>
              <a:t>Paper and interview workflows grow expensive as samples expand</a:t>
            </a:r>
          </a:p>
          <a:p>
            <a:pPr>
              <a:spcAft>
                <a:spcPts val="1000"/>
              </a:spcAft>
              <a:buChar char="•"/>
              <a:lnSpc>
                <a:spcPts val="2200"/>
              </a:lnSpc>
            </a:pPr>
            <a:r>
              <a:rPr sz="2000" b="0">
                <a:solidFill>
                  <a:srgbClr val="333333"/>
                </a:solidFill>
                <a:latin typeface="Calibri"/>
              </a:rPr>
              <a:t>Those limits motivate the techniques developed later in this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 — Paper Surveys and Scalability Limits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 — hands-on module</a:t>
            </a:r>
          </a:p>
          <a:p>
            <a:pPr>
              <a:spcAft>
                <a:spcPts val="1000"/>
              </a:spcAft>
              <a:buChar char="•"/>
              <a:lnSpc>
                <a:spcPts val="2200"/>
              </a:lnSpc>
            </a:pPr>
            <a:r>
              <a:rPr sz="2000" b="0">
                <a:solidFill>
                  <a:srgbClr val="333333"/>
                </a:solidFill>
                <a:latin typeface="Calibri"/>
              </a:rPr>
              <a:t>Example 9.2 shows how paper surveys fail to scale with sample size</a:t>
            </a:r>
          </a:p>
          <a:p>
            <a:pPr>
              <a:spcAft>
                <a:spcPts val="1000"/>
              </a:spcAft>
              <a:buChar char="•"/>
              <a:lnSpc>
                <a:spcPts val="2200"/>
              </a:lnSpc>
            </a:pPr>
            <a:r>
              <a:rPr sz="2000" b="0">
                <a:solidFill>
                  <a:srgbClr val="333333"/>
                </a:solidFill>
                <a:latin typeface="Calibri"/>
              </a:rPr>
              <a:t>Distribution, collection</a:t>
            </a:r>
          </a:p>
          <a:p>
            <a:pPr>
              <a:spcAft>
                <a:spcPts val="1000"/>
              </a:spcAft>
              <a:buChar char="•"/>
              <a:lnSpc>
                <a:spcPts val="2200"/>
              </a:lnSpc>
            </a:pPr>
            <a:r>
              <a:rPr sz="2000" b="0">
                <a:solidFill>
                  <a:srgbClr val="333333"/>
                </a:solidFill>
                <a:latin typeface="Calibri"/>
              </a:rPr>
              <a:t>The lesson is operational: when turnaround and volume matter, manual logistics break first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Heterogeneous sources and continuous streams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Beyond scale and cost</a:t>
            </a:r>
          </a:p>
          <a:p>
            <a:pPr>
              <a:spcAft>
                <a:spcPts val="1000"/>
              </a:spcAft>
              <a:buChar char="•"/>
              <a:lnSpc>
                <a:spcPts val="2200"/>
              </a:lnSpc>
            </a:pPr>
            <a:r>
              <a:rPr sz="2000" b="0">
                <a:solidFill>
                  <a:srgbClr val="333333"/>
                </a:solidFill>
                <a:latin typeface="Calibri"/>
              </a:rPr>
              <a:t>These sources differ in structure, arrive at high velocity</a:t>
            </a:r>
          </a:p>
          <a:p>
            <a:pPr>
              <a:spcAft>
                <a:spcPts val="1000"/>
              </a:spcAft>
              <a:buChar char="•"/>
              <a:lnSpc>
                <a:spcPts val="2200"/>
              </a:lnSpc>
            </a:pPr>
            <a:r>
              <a:rPr sz="2000" b="0">
                <a:solidFill>
                  <a:srgbClr val="333333"/>
                </a:solidFill>
                <a:latin typeface="Calibri"/>
              </a:rPr>
              <a:t>Quality assurance therefore depends on declared crawl windows, stable identifiers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9.5 — Wearables as Continuous Health Data Sources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9.5 — hands-on module</a:t>
            </a:r>
          </a:p>
          <a:p>
            <a:pPr>
              <a:spcAft>
                <a:spcPts val="1000"/>
              </a:spcAft>
              <a:buChar char="•"/>
              <a:lnSpc>
                <a:spcPts val="2200"/>
              </a:lnSpc>
            </a:pPr>
            <a:r>
              <a:rPr sz="2000" b="0">
                <a:solidFill>
                  <a:srgbClr val="333333"/>
                </a:solidFill>
                <a:latin typeface="Calibri"/>
              </a:rPr>
              <a:t>Example 9.5 shows wearables as continuous health sources that traditional clinic visits</a:t>
            </a:r>
          </a:p>
          <a:p>
            <a:pPr>
              <a:spcAft>
                <a:spcPts val="1000"/>
              </a:spcAft>
              <a:buChar char="•"/>
              <a:lnSpc>
                <a:spcPts val="2200"/>
              </a:lnSpc>
            </a:pPr>
            <a:r>
              <a:rPr sz="2000" b="0">
                <a:solidFill>
                  <a:srgbClr val="333333"/>
                </a:solidFill>
                <a:latin typeface="Calibri"/>
              </a:rPr>
              <a:t>Fitness trackers and smartwatches stream heart rate, activity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collection extends Chapter 2 when data grow too large</a:t>
            </a:r>
          </a:p>
          <a:p>
            <a:pPr>
              <a:spcAft>
                <a:spcPts val="1000"/>
              </a:spcAft>
              <a:buChar char="•"/>
              <a:lnSpc>
                <a:spcPts val="2200"/>
              </a:lnSpc>
            </a:pPr>
            <a:r>
              <a:rPr sz="2000" b="0">
                <a:solidFill>
                  <a:srgbClr val="333333"/>
                </a:solidFill>
                <a:latin typeface="Calibri"/>
              </a:rPr>
              <a:t>Decision focus remains the design goal</a:t>
            </a:r>
          </a:p>
          <a:p>
            <a:pPr>
              <a:spcAft>
                <a:spcPts val="1000"/>
              </a:spcAft>
              <a:buChar char="•"/>
              <a:lnSpc>
                <a:spcPts val="2200"/>
              </a:lnSpc>
            </a:pPr>
            <a:r>
              <a:rPr sz="2000" b="0">
                <a:solidFill>
                  <a:srgbClr val="333333"/>
                </a:solidFill>
                <a:latin typeface="Calibri"/>
              </a:rPr>
              <a:t>Crowdsourcing, IoT and edge sensing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defines crowdsourcing and walks use cases from fraud-pattern review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crowdsourcing is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Crowdsourcing obtains input</a:t>
            </a:r>
          </a:p>
          <a:p>
            <a:pPr>
              <a:spcAft>
                <a:spcPts val="1000"/>
              </a:spcAft>
              <a:buChar char="•"/>
              <a:lnSpc>
                <a:spcPts val="2200"/>
              </a:lnSpc>
            </a:pPr>
            <a:r>
              <a:rPr sz="2000" b="0">
                <a:solidFill>
                  <a:srgbClr val="333333"/>
                </a:solidFill>
                <a:latin typeface="Calibri"/>
              </a:rPr>
              <a:t>It draws on collective intelligence and diverse skills for problems that are too complex</a:t>
            </a:r>
          </a:p>
          <a:p>
            <a:pPr>
              <a:spcAft>
                <a:spcPts val="1000"/>
              </a:spcAft>
              <a:buChar char="•"/>
              <a:lnSpc>
                <a:spcPts val="2200"/>
              </a:lnSpc>
            </a:pPr>
            <a:r>
              <a:rPr sz="2000" b="0">
                <a:solidFill>
                  <a:srgbClr val="333333"/>
                </a:solidFill>
                <a:latin typeface="Calibri"/>
              </a:rPr>
              <a:t>The approach can lower cost while also tapping creativity, not only routine labor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Types of crowdsourcing tasks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Common types include crowd voting on ideas or designs</a:t>
            </a:r>
          </a:p>
          <a:p>
            <a:pPr>
              <a:spcAft>
                <a:spcPts val="1000"/>
              </a:spcAft>
              <a:buChar char="•"/>
              <a:lnSpc>
                <a:spcPts val="2200"/>
              </a:lnSpc>
            </a:pPr>
            <a:r>
              <a:rPr sz="2000" b="0">
                <a:solidFill>
                  <a:srgbClr val="333333"/>
                </a:solidFill>
                <a:latin typeface="Calibri"/>
              </a:rPr>
              <a:t>Dataset projects most often emphasize crowd labor and related labeling workflows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Labeling, research, and fraud review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Machine learning teams use crowdsourcing to gather labeled images and text quickly</a:t>
            </a:r>
          </a:p>
          <a:p>
            <a:pPr>
              <a:spcAft>
                <a:spcPts val="1000"/>
              </a:spcAft>
              <a:buChar char="•"/>
              <a:lnSpc>
                <a:spcPts val="2200"/>
              </a:lnSpc>
            </a:pPr>
            <a:r>
              <a:rPr sz="2000" b="0">
                <a:solidFill>
                  <a:srgbClr val="333333"/>
                </a:solidFill>
                <a:latin typeface="Calibri"/>
              </a:rPr>
              <a:t>Market research can sample broad demographics through surveys on the same platforms</a:t>
            </a:r>
          </a:p>
          <a:p>
            <a:pPr>
              <a:spcAft>
                <a:spcPts val="1000"/>
              </a:spcAft>
              <a:buChar char="•"/>
              <a:lnSpc>
                <a:spcPts val="2200"/>
              </a:lnSpc>
            </a:pPr>
            <a:r>
              <a:rPr sz="2000" b="0">
                <a:solidFill>
                  <a:srgbClr val="333333"/>
                </a:solidFill>
                <a:latin typeface="Calibri"/>
              </a:rPr>
              <a:t>Frequency signals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9.8 — Crowdsourcing Fraud-Pattern Review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9.8 — hands-on module</a:t>
            </a:r>
          </a:p>
          <a:p>
            <a:pPr>
              <a:spcAft>
                <a:spcPts val="1000"/>
              </a:spcAft>
              <a:buChar char="•"/>
              <a:lnSpc>
                <a:spcPts val="2200"/>
              </a:lnSpc>
            </a:pPr>
            <a:r>
              <a:rPr sz="2000" b="0">
                <a:solidFill>
                  <a:srgbClr val="333333"/>
                </a:solidFill>
                <a:latin typeface="Calibri"/>
              </a:rPr>
              <a:t>Locations, and frequency</a:t>
            </a:r>
          </a:p>
          <a:p>
            <a:pPr>
              <a:spcAft>
                <a:spcPts val="1000"/>
              </a:spcAft>
              <a:buChar char="•"/>
              <a:lnSpc>
                <a:spcPts val="2200"/>
              </a:lnSpc>
            </a:pPr>
            <a:r>
              <a:rPr sz="2000" b="0">
                <a:solidFill>
                  <a:srgbClr val="333333"/>
                </a:solidFill>
                <a:latin typeface="Calibri"/>
              </a:rPr>
              <a:t>Applied in near real time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9.9 — Netflix Prize Crowdsourced Innovation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9.9 — hands-on module</a:t>
            </a:r>
          </a:p>
          <a:p>
            <a:pPr>
              <a:spcAft>
                <a:spcPts val="1000"/>
              </a:spcAft>
              <a:buChar char="•"/>
              <a:lnSpc>
                <a:spcPts val="2200"/>
              </a:lnSpc>
            </a:pPr>
            <a:r>
              <a:rPr sz="2000" b="0">
                <a:solidFill>
                  <a:srgbClr val="333333"/>
                </a:solidFill>
                <a:latin typeface="Calibri"/>
              </a:rPr>
              <a:t>Example 9.9 recalls the Netflix Prize</a:t>
            </a:r>
          </a:p>
          <a:p>
            <a:pPr>
              <a:spcAft>
                <a:spcPts val="1000"/>
              </a:spcAft>
              <a:buChar char="•"/>
              <a:lnSpc>
                <a:spcPts val="2200"/>
              </a:lnSpc>
            </a:pPr>
            <a:r>
              <a:rPr sz="2000" b="0">
                <a:solidFill>
                  <a:srgbClr val="333333"/>
                </a:solidFill>
                <a:latin typeface="Calibri"/>
              </a:rPr>
              <a:t>Organizations use contests to crowdsource innovation when many external teams can explore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9.10 — Microtask Image Tagging on Crowd Platforms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9.10 — hands-on module</a:t>
            </a:r>
          </a:p>
          <a:p>
            <a:pPr>
              <a:spcAft>
                <a:spcPts val="1000"/>
              </a:spcAft>
              <a:buChar char="•"/>
              <a:lnSpc>
                <a:spcPts val="2200"/>
              </a:lnSpc>
            </a:pPr>
            <a:r>
              <a:rPr sz="2000" b="0">
                <a:solidFill>
                  <a:srgbClr val="333333"/>
                </a:solidFill>
                <a:latin typeface="Calibri"/>
              </a:rPr>
              <a:t>Distributed to many workers</a:t>
            </a:r>
          </a:p>
          <a:p>
            <a:pPr>
              <a:spcAft>
                <a:spcPts val="1000"/>
              </a:spcAft>
              <a:buChar char="•"/>
              <a:lnSpc>
                <a:spcPts val="2200"/>
              </a:lnSpc>
            </a:pPr>
            <a:r>
              <a:rPr sz="2000" b="0">
                <a:solidFill>
                  <a:srgbClr val="333333"/>
                </a:solidFill>
                <a:latin typeface="Calibri"/>
              </a:rPr>
              <a:t>Thousands of items can be annotated in hours rather than weeks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Crowdsourcing scales human judgment through online communities and multiple task types</a:t>
            </a:r>
          </a:p>
          <a:p>
            <a:pPr>
              <a:spcAft>
                <a:spcPts val="1000"/>
              </a:spcAft>
              <a:buChar char="•"/>
              <a:lnSpc>
                <a:spcPts val="2200"/>
              </a:lnSpc>
            </a:pPr>
            <a:r>
              <a:rPr sz="2000" b="0">
                <a:solidFill>
                  <a:srgbClr val="333333"/>
                </a:solidFill>
                <a:latin typeface="Calibri"/>
              </a:rPr>
              <a:t>Dataset work often centers on labeling and microtasking</a:t>
            </a:r>
          </a:p>
          <a:p>
            <a:pPr>
              <a:spcAft>
                <a:spcPts val="1000"/>
              </a:spcAft>
              <a:buChar char="•"/>
              <a:lnSpc>
                <a:spcPts val="2200"/>
              </a:lnSpc>
            </a:pPr>
            <a:r>
              <a:rPr sz="2000" b="0">
                <a:solidFill>
                  <a:srgbClr val="333333"/>
                </a:solidFill>
                <a:latin typeface="Calibri"/>
              </a:rPr>
              <a:t>Fraud review, open prizes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moves from use cases to platforms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Amazon Mechanical Turk overview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Amazon Mechanical Turk</a:t>
            </a:r>
          </a:p>
          <a:p>
            <a:pPr>
              <a:spcAft>
                <a:spcPts val="1000"/>
              </a:spcAft>
              <a:buChar char="•"/>
              <a:lnSpc>
                <a:spcPts val="2200"/>
              </a:lnSpc>
            </a:pPr>
            <a:r>
              <a:rPr sz="2000" b="0">
                <a:solidFill>
                  <a:srgbClr val="333333"/>
                </a:solidFill>
                <a:latin typeface="Calibri"/>
              </a:rPr>
              <a:t>Through a web interface</a:t>
            </a:r>
          </a:p>
          <a:p>
            <a:pPr>
              <a:spcAft>
                <a:spcPts val="1000"/>
              </a:spcAft>
              <a:buChar char="•"/>
              <a:lnSpc>
                <a:spcPts val="2200"/>
              </a:lnSpc>
            </a:pPr>
            <a:r>
              <a:rPr sz="2000" b="0">
                <a:solidFill>
                  <a:srgbClr val="333333"/>
                </a:solidFill>
                <a:latin typeface="Calibri"/>
              </a:rPr>
              <a:t>The platform is one of the best-known venues for crowd labor in research and industry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HIT workflow: post, complete, review, pay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Requesters create Human Intelligence Tasks</a:t>
            </a:r>
          </a:p>
          <a:p>
            <a:pPr>
              <a:spcAft>
                <a:spcPts val="1000"/>
              </a:spcAft>
              <a:buChar char="•"/>
              <a:lnSpc>
                <a:spcPts val="2200"/>
              </a:lnSpc>
            </a:pPr>
            <a:r>
              <a:rPr sz="2000" b="0">
                <a:solidFill>
                  <a:srgbClr val="333333"/>
                </a:solidFill>
                <a:latin typeface="Calibri"/>
              </a:rPr>
              <a:t>Workers browse available tasks and choose which to complete</a:t>
            </a:r>
          </a:p>
          <a:p>
            <a:pPr>
              <a:spcAft>
                <a:spcPts val="1000"/>
              </a:spcAft>
              <a:buChar char="•"/>
              <a:lnSpc>
                <a:spcPts val="2200"/>
              </a:lnSpc>
            </a:pPr>
            <a:r>
              <a:rPr sz="2000" b="0">
                <a:solidFill>
                  <a:srgbClr val="333333"/>
                </a:solidFill>
                <a:latin typeface="Calibri"/>
              </a:rPr>
              <a:t>After submission, the requester reviews results and pays when the work is satisfactory</a:t>
            </a:r>
          </a:p>
          <a:p>
            <a:pPr>
              <a:spcAft>
                <a:spcPts val="1000"/>
              </a:spcAft>
              <a:buChar char="•"/>
              <a:lnSpc>
                <a:spcPts val="2200"/>
              </a:lnSpc>
            </a:pPr>
            <a:r>
              <a:rPr sz="2000" b="0">
                <a:solidFill>
                  <a:srgbClr val="333333"/>
                </a:solidFill>
                <a:latin typeface="Calibri"/>
              </a:rPr>
              <a:t>Feedback builds worker reputation and influences access to harder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9.11 — MTurk Product-Description Labeling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9.11 — hands-on module</a:t>
            </a:r>
          </a:p>
          <a:p>
            <a:pPr>
              <a:spcAft>
                <a:spcPts val="1000"/>
              </a:spcAft>
              <a:buChar char="•"/>
              <a:lnSpc>
                <a:spcPts val="2200"/>
              </a:lnSpc>
            </a:pPr>
            <a:r>
              <a:rPr sz="2000" b="0">
                <a:solidFill>
                  <a:srgbClr val="333333"/>
                </a:solidFill>
                <a:latin typeface="Calibri"/>
              </a:rPr>
              <a:t>Example 9.11 walks a product-description labeling campaign</a:t>
            </a:r>
          </a:p>
          <a:p>
            <a:pPr>
              <a:spcAft>
                <a:spcPts val="1000"/>
              </a:spcAft>
              <a:buChar char="•"/>
              <a:lnSpc>
                <a:spcPts val="2200"/>
              </a:lnSpc>
            </a:pPr>
            <a:r>
              <a:rPr sz="2000" b="0">
                <a:solidFill>
                  <a:srgbClr val="333333"/>
                </a:solidFill>
                <a:latin typeface="Calibri"/>
              </a:rPr>
              <a:t>Workers read descriptions and tag categories such as electronics, clothing, or home goods</a:t>
            </a:r>
          </a:p>
          <a:p>
            <a:pPr>
              <a:spcAft>
                <a:spcPts val="1000"/>
              </a:spcAft>
              <a:buChar char="•"/>
              <a:lnSpc>
                <a:spcPts val="2200"/>
              </a:lnSpc>
            </a:pPr>
            <a:r>
              <a:rPr sz="2000" b="0">
                <a:solidFill>
                  <a:srgbClr val="333333"/>
                </a:solidFill>
                <a:latin typeface="Calibri"/>
              </a:rPr>
              <a:t>Those labels then train recommendation models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Prolific for research recruitment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Prolific targets academic research</a:t>
            </a:r>
          </a:p>
          <a:p>
            <a:pPr>
              <a:spcAft>
                <a:spcPts val="1000"/>
              </a:spcAft>
              <a:buChar char="•"/>
              <a:lnSpc>
                <a:spcPts val="2200"/>
              </a:lnSpc>
            </a:pPr>
            <a:r>
              <a:rPr sz="2000" b="0">
                <a:solidFill>
                  <a:srgbClr val="333333"/>
                </a:solidFill>
                <a:latin typeface="Calibri"/>
              </a:rPr>
              <a:t>Participants are pre-screened to meet study criteria</a:t>
            </a:r>
          </a:p>
          <a:p>
            <a:pPr>
              <a:spcAft>
                <a:spcPts val="1000"/>
              </a:spcAft>
              <a:buChar char="•"/>
              <a:lnSpc>
                <a:spcPts val="2200"/>
              </a:lnSpc>
            </a:pPr>
            <a:r>
              <a:rPr sz="2000" b="0">
                <a:solidFill>
                  <a:srgbClr val="333333"/>
                </a:solidFill>
                <a:latin typeface="Calibri"/>
              </a:rPr>
              <a:t>Compared with general microtask markets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CrowdFlower and Clickworker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CrowdFlower, now Figure Eight, supports annotation, machine learning tasks</a:t>
            </a:r>
          </a:p>
          <a:p>
            <a:pPr>
              <a:spcAft>
                <a:spcPts val="1000"/>
              </a:spcAft>
              <a:buChar char="•"/>
              <a:lnSpc>
                <a:spcPts val="2200"/>
              </a:lnSpc>
            </a:pPr>
            <a:r>
              <a:rPr sz="2000" b="0">
                <a:solidFill>
                  <a:srgbClr val="333333"/>
                </a:solidFill>
                <a:latin typeface="Calibri"/>
              </a:rPr>
              <a:t>Clickworker, based in Germany, focuses on writing, translation, categorization</a:t>
            </a:r>
          </a:p>
          <a:p>
            <a:pPr>
              <a:spcAft>
                <a:spcPts val="1000"/>
              </a:spcAft>
              <a:buChar char="•"/>
              <a:lnSpc>
                <a:spcPts val="2200"/>
              </a:lnSpc>
            </a:pPr>
            <a:r>
              <a:rPr sz="2000" b="0">
                <a:solidFill>
                  <a:srgbClr val="333333"/>
                </a:solidFill>
                <a:latin typeface="Calibri"/>
              </a:rPr>
              <a:t>Platform choice should match task type, geography, and quality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 platform</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MTurk remains a common default for flexible microtasks and labeling</a:t>
            </a:r>
          </a:p>
          <a:p>
            <a:pPr>
              <a:spcAft>
                <a:spcPts val="1000"/>
              </a:spcAft>
              <a:buChar char="•"/>
              <a:lnSpc>
                <a:spcPts val="2200"/>
              </a:lnSpc>
            </a:pPr>
            <a:r>
              <a:rPr sz="2000" b="0">
                <a:solidFill>
                  <a:srgbClr val="333333"/>
                </a:solidFill>
                <a:latin typeface="Calibri"/>
              </a:rPr>
              <a:t>Prolific is often stronger when ethics screening and survey quality matter most</a:t>
            </a:r>
          </a:p>
          <a:p>
            <a:pPr>
              <a:spcAft>
                <a:spcPts val="1000"/>
              </a:spcAft>
              <a:buChar char="•"/>
              <a:lnSpc>
                <a:spcPts val="2200"/>
              </a:lnSpc>
            </a:pPr>
            <a:r>
              <a:rPr sz="2000" b="0">
                <a:solidFill>
                  <a:srgbClr val="333333"/>
                </a:solidFill>
                <a:latin typeface="Calibri"/>
              </a:rPr>
              <a:t>CrowdFlower and Clickworker emphasize managed annotation workflows or European language</a:t>
            </a:r>
          </a:p>
          <a:p>
            <a:pPr>
              <a:spcAft>
                <a:spcPts val="1000"/>
              </a:spcAft>
              <a:buChar char="•"/>
              <a:lnSpc>
                <a:spcPts val="2200"/>
              </a:lnSpc>
            </a:pPr>
            <a:r>
              <a:rPr sz="2000" b="0">
                <a:solidFill>
                  <a:srgbClr val="333333"/>
                </a:solidFill>
                <a:latin typeface="Calibri"/>
              </a:rPr>
              <a:t>Teams should align platform features with recruitment criteria, pay norms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MTurk operationalizes crowdsourcing through Human Intelligence Tasks, review, payment</a:t>
            </a:r>
          </a:p>
          <a:p>
            <a:pPr>
              <a:spcAft>
                <a:spcPts val="1000"/>
              </a:spcAft>
              <a:buChar char="•"/>
              <a:lnSpc>
                <a:spcPts val="2200"/>
              </a:lnSpc>
            </a:pPr>
            <a:r>
              <a:rPr sz="2000" b="0">
                <a:solidFill>
                  <a:srgbClr val="333333"/>
                </a:solidFill>
                <a:latin typeface="Calibri"/>
              </a:rPr>
              <a:t>Product-description labeling shows how category tags feed downstream models</a:t>
            </a:r>
          </a:p>
          <a:p>
            <a:pPr>
              <a:spcAft>
                <a:spcPts val="1000"/>
              </a:spcAft>
              <a:buChar char="•"/>
              <a:lnSpc>
                <a:spcPts val="2200"/>
              </a:lnSpc>
            </a:pPr>
            <a:r>
              <a:rPr sz="2000" b="0">
                <a:solidFill>
                  <a:srgbClr val="333333"/>
                </a:solidFill>
                <a:latin typeface="Calibri"/>
              </a:rPr>
              <a:t>Prolific, CrowdFlower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Ethical obligations around fair pay, privacy, and harmful work conditions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 learners should be able to list major advantages of crowdsourcing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Advantages of crowdsourcing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Crowdsourcing can be cost-effective by outsourcing units of work without full-time</a:t>
            </a:r>
          </a:p>
          <a:p>
            <a:pPr>
              <a:spcAft>
                <a:spcPts val="1000"/>
              </a:spcAft>
              <a:buChar char="•"/>
              <a:lnSpc>
                <a:spcPts val="2200"/>
              </a:lnSpc>
            </a:pPr>
            <a:r>
              <a:rPr sz="2000" b="0">
                <a:solidFill>
                  <a:srgbClr val="333333"/>
                </a:solidFill>
                <a:latin typeface="Calibri"/>
              </a:rPr>
              <a:t>Access to thousands of workers supports speed and scale so projects that once took months</a:t>
            </a:r>
          </a:p>
          <a:p>
            <a:pPr>
              <a:spcAft>
                <a:spcPts val="1000"/>
              </a:spcAft>
              <a:buChar char="•"/>
              <a:lnSpc>
                <a:spcPts val="2200"/>
              </a:lnSpc>
            </a:pPr>
            <a:r>
              <a:rPr sz="2000" b="0">
                <a:solidFill>
                  <a:srgbClr val="333333"/>
                </a:solidFill>
                <a:latin typeface="Calibri"/>
              </a:rPr>
              <a:t>A global talent pool brings diverse perspectives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quality, privacy, and labor risk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Quality control is hard when many individuals contribute</a:t>
            </a:r>
          </a:p>
          <a:p>
            <a:pPr>
              <a:spcAft>
                <a:spcPts val="1000"/>
              </a:spcAft>
              <a:buChar char="•"/>
              <a:lnSpc>
                <a:spcPts val="2200"/>
              </a:lnSpc>
            </a:pPr>
            <a:r>
              <a:rPr sz="2000" b="0">
                <a:solidFill>
                  <a:srgbClr val="333333"/>
                </a:solidFill>
                <a:latin typeface="Calibri"/>
              </a:rPr>
              <a:t>Sharing sensitive data with third parties raises security, privacy</a:t>
            </a:r>
          </a:p>
          <a:p>
            <a:pPr>
              <a:spcAft>
                <a:spcPts val="1000"/>
              </a:spcAft>
              <a:buChar char="•"/>
              <a:lnSpc>
                <a:spcPts val="2200"/>
              </a:lnSpc>
            </a:pPr>
            <a:r>
              <a:rPr sz="2000" b="0">
                <a:solidFill>
                  <a:srgbClr val="333333"/>
                </a:solidFill>
                <a:latin typeface="Calibri"/>
              </a:rPr>
              <a:t>Ethically, very low pay and job insecurity create exploitation risks for workers who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practices: instructions and validation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Clear, detailed instructions are critical so workers understand requirements and can</a:t>
            </a:r>
          </a:p>
          <a:p>
            <a:pPr>
              <a:spcAft>
                <a:spcPts val="1000"/>
              </a:spcAft>
              <a:buChar char="•"/>
              <a:lnSpc>
                <a:spcPts val="2200"/>
              </a:lnSpc>
            </a:pPr>
            <a:r>
              <a:rPr sz="2000" b="0">
                <a:solidFill>
                  <a:srgbClr val="333333"/>
                </a:solidFill>
                <a:latin typeface="Calibri"/>
              </a:rPr>
              <a:t>Validation mechanisms such as gold-standard questions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Best practices: incentives and reputation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Fair compensation and bonuses for complex or high-quality work motivate better performance</a:t>
            </a:r>
          </a:p>
          <a:p>
            <a:pPr>
              <a:spcAft>
                <a:spcPts val="1000"/>
              </a:spcAft>
              <a:buChar char="•"/>
              <a:lnSpc>
                <a:spcPts val="2200"/>
              </a:lnSpc>
            </a:pPr>
            <a:r>
              <a:rPr sz="2000" b="0">
                <a:solidFill>
                  <a:srgbClr val="333333"/>
                </a:solidFill>
                <a:latin typeface="Calibri"/>
              </a:rPr>
              <a:t>Reputation systems rate workers based on past quality</a:t>
            </a:r>
          </a:p>
          <a:p>
            <a:pPr>
              <a:spcAft>
                <a:spcPts val="1000"/>
              </a:spcAft>
              <a:buChar char="•"/>
              <a:lnSpc>
                <a:spcPts val="2200"/>
              </a:lnSpc>
            </a:pPr>
            <a:r>
              <a:rPr sz="2000" b="0">
                <a:solidFill>
                  <a:srgbClr val="333333"/>
                </a:solidFill>
                <a:latin typeface="Calibri"/>
              </a:rPr>
              <a:t>Incentives and reputation filters improve consistency beyond relying on volume alone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considerations: fair pay and exploitation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primary ethical concern is low pay</a:t>
            </a:r>
          </a:p>
          <a:p>
            <a:pPr>
              <a:spcAft>
                <a:spcPts val="1000"/>
              </a:spcAft>
              <a:buChar char="•"/>
              <a:lnSpc>
                <a:spcPts val="2200"/>
              </a:lnSpc>
            </a:pPr>
            <a:r>
              <a:rPr sz="2000" b="0">
                <a:solidFill>
                  <a:srgbClr val="333333"/>
                </a:solidFill>
                <a:latin typeface="Calibri"/>
              </a:rPr>
              <a:t>The informal nature of microtask work often means no job security</a:t>
            </a:r>
          </a:p>
          <a:p>
            <a:pPr>
              <a:spcAft>
                <a:spcPts val="1000"/>
              </a:spcAft>
              <a:buChar char="•"/>
              <a:lnSpc>
                <a:spcPts val="2200"/>
              </a:lnSpc>
            </a:pPr>
            <a:r>
              <a:rPr sz="2000" b="0">
                <a:solidFill>
                  <a:srgbClr val="333333"/>
                </a:solidFill>
                <a:latin typeface="Calibri"/>
              </a:rPr>
              <a:t>Precarious conditions can become exploitation when effort and expertise are underpaid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Ethical considerations: privacy and security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Crowdsourcing tasks may expose sensitive data to many workers</a:t>
            </a:r>
          </a:p>
          <a:p>
            <a:pPr>
              <a:spcAft>
                <a:spcPts val="1000"/>
              </a:spcAft>
              <a:buChar char="•"/>
              <a:lnSpc>
                <a:spcPts val="2200"/>
              </a:lnSpc>
            </a:pPr>
            <a:r>
              <a:rPr sz="2000" b="0">
                <a:solidFill>
                  <a:srgbClr val="333333"/>
                </a:solidFill>
                <a:latin typeface="Calibri"/>
              </a:rPr>
              <a:t>Organizations need security protocols, training</a:t>
            </a:r>
          </a:p>
          <a:p>
            <a:pPr>
              <a:spcAft>
                <a:spcPts val="1000"/>
              </a:spcAft>
              <a:buChar char="•"/>
              <a:lnSpc>
                <a:spcPts val="2200"/>
              </a:lnSpc>
            </a:pPr>
            <a:r>
              <a:rPr sz="2000" b="0">
                <a:solidFill>
                  <a:srgbClr val="333333"/>
                </a:solidFill>
                <a:latin typeface="Calibri"/>
              </a:rPr>
              <a:t>Ethical design therefore pairs technical controls with fair labor practices rather than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Crowdsourcing offers cost, speed, diversity</a:t>
            </a:r>
          </a:p>
          <a:p>
            <a:pPr>
              <a:spcAft>
                <a:spcPts val="1000"/>
              </a:spcAft>
              <a:buChar char="•"/>
              <a:lnSpc>
                <a:spcPts val="2200"/>
              </a:lnSpc>
            </a:pPr>
            <a:r>
              <a:rPr sz="2000" b="0">
                <a:solidFill>
                  <a:srgbClr val="333333"/>
                </a:solidFill>
                <a:latin typeface="Calibri"/>
              </a:rPr>
              <a:t>Best practices center on clear instructions, gold standards, fair incentives</a:t>
            </a:r>
          </a:p>
          <a:p>
            <a:pPr>
              <a:spcAft>
                <a:spcPts val="1000"/>
              </a:spcAft>
              <a:buChar char="•"/>
              <a:lnSpc>
                <a:spcPts val="2200"/>
              </a:lnSpc>
            </a:pPr>
            <a:r>
              <a:rPr sz="2000" b="0">
                <a:solidFill>
                  <a:srgbClr val="333333"/>
                </a:solidFill>
                <a:latin typeface="Calibri"/>
              </a:rPr>
              <a:t>Ethical campaigns address fair pay, exploitation risk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shifts from human microtasks to continuous measurement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the Internet of Things is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Internet of Things is a network of physical devices that connect to the internet and</a:t>
            </a:r>
          </a:p>
          <a:p>
            <a:pPr>
              <a:spcAft>
                <a:spcPts val="1000"/>
              </a:spcAft>
              <a:buChar char="•"/>
              <a:lnSpc>
                <a:spcPts val="2200"/>
              </a:lnSpc>
            </a:pPr>
            <a:r>
              <a:rPr sz="2000" b="0">
                <a:solidFill>
                  <a:srgbClr val="333333"/>
                </a:solidFill>
                <a:latin typeface="Calibri"/>
              </a:rPr>
              <a:t>Smart-city systems</a:t>
            </a:r>
          </a:p>
          <a:p>
            <a:pPr>
              <a:spcAft>
                <a:spcPts val="1000"/>
              </a:spcAft>
              <a:buChar char="•"/>
              <a:lnSpc>
                <a:spcPts val="2200"/>
              </a:lnSpc>
            </a:pPr>
            <a:r>
              <a:rPr sz="2000" b="0">
                <a:solidFill>
                  <a:srgbClr val="333333"/>
                </a:solidFill>
                <a:latin typeface="Calibri"/>
              </a:rPr>
              <a:t>Objects collect, share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components: devices, connectivity, 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At its core, IoT combines things equipped with sensors or actuators</a:t>
            </a:r>
          </a:p>
          <a:p>
            <a:pPr>
              <a:spcAft>
                <a:spcPts val="1000"/>
              </a:spcAft>
              <a:buChar char="•"/>
              <a:lnSpc>
                <a:spcPts val="2200"/>
              </a:lnSpc>
            </a:pPr>
            <a:r>
              <a:rPr sz="2000" b="0">
                <a:solidFill>
                  <a:srgbClr val="333333"/>
                </a:solidFill>
                <a:latin typeface="Calibri"/>
              </a:rPr>
              <a:t>Devices capture measurements or perform actions</a:t>
            </a:r>
          </a:p>
          <a:p>
            <a:pPr>
              <a:spcAft>
                <a:spcPts val="1000"/>
              </a:spcAft>
              <a:buChar char="•"/>
              <a:lnSpc>
                <a:spcPts val="2200"/>
              </a:lnSpc>
            </a:pPr>
            <a:r>
              <a:rPr sz="2000" b="0">
                <a:solidFill>
                  <a:srgbClr val="333333"/>
                </a:solidFill>
                <a:latin typeface="Calibri"/>
              </a:rPr>
              <a:t>Networks carry those readings onward</a:t>
            </a:r>
          </a:p>
          <a:p>
            <a:pPr>
              <a:spcAft>
                <a:spcPts val="1000"/>
              </a:spcAft>
              <a:buChar char="•"/>
              <a:lnSpc>
                <a:spcPts val="2200"/>
              </a:lnSpc>
            </a:pPr>
            <a:r>
              <a:rPr sz="2000" b="0">
                <a:solidFill>
                  <a:srgbClr val="333333"/>
                </a:solidFill>
                <a:latin typeface="Calibri"/>
              </a:rPr>
              <a:t>Processing turns raw streams into decisions for users and automated systems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9.12 — Wearable Health Sensors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9.12 — hands-on module</a:t>
            </a:r>
          </a:p>
          <a:p>
            <a:pPr>
              <a:spcAft>
                <a:spcPts val="1000"/>
              </a:spcAft>
              <a:buChar char="•"/>
              <a:lnSpc>
                <a:spcPts val="2200"/>
              </a:lnSpc>
            </a:pPr>
            <a:r>
              <a:rPr sz="2000" b="0">
                <a:solidFill>
                  <a:srgbClr val="333333"/>
                </a:solidFill>
                <a:latin typeface="Calibri"/>
              </a:rPr>
              <a:t>Steps, and sleep</a:t>
            </a:r>
          </a:p>
          <a:p>
            <a:pPr>
              <a:spcAft>
                <a:spcPts val="1000"/>
              </a:spcAft>
              <a:buChar char="•"/>
              <a:lnSpc>
                <a:spcPts val="2200"/>
              </a:lnSpc>
            </a:pPr>
            <a:r>
              <a:rPr sz="2000" b="0">
                <a:solidFill>
                  <a:srgbClr val="333333"/>
                </a:solidFill>
                <a:latin typeface="Calibri"/>
              </a:rPr>
              <a:t>These endpoints illustrate everyday sensing that produces continuous personal health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9.14 — Industrial Machine Monitoring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9.14 — hands-on module</a:t>
            </a:r>
          </a:p>
          <a:p>
            <a:pPr>
              <a:spcAft>
                <a:spcPts val="1000"/>
              </a:spcAft>
              <a:buChar char="•"/>
              <a:lnSpc>
                <a:spcPts val="2200"/>
              </a:lnSpc>
            </a:pPr>
            <a:r>
              <a:rPr sz="2000" b="0">
                <a:solidFill>
                  <a:srgbClr val="333333"/>
                </a:solidFill>
                <a:latin typeface="Calibri"/>
              </a:rPr>
              <a:t>Predict maintenance needs</a:t>
            </a:r>
          </a:p>
          <a:p>
            <a:pPr>
              <a:spcAft>
                <a:spcPts val="1000"/>
              </a:spcAft>
              <a:buChar char="•"/>
              <a:lnSpc>
                <a:spcPts val="2200"/>
              </a:lnSpc>
            </a:pPr>
            <a:r>
              <a:rPr sz="2000" b="0">
                <a:solidFill>
                  <a:srgbClr val="333333"/>
                </a:solidFill>
                <a:latin typeface="Calibri"/>
              </a:rPr>
              <a:t>Industrial IoT therefore links sensing to operational reliability rather than only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Connectivity options for IoT transfer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Devices need reliable links to gateways or cloud services</a:t>
            </a:r>
          </a:p>
          <a:p>
            <a:pPr>
              <a:spcAft>
                <a:spcPts val="1000"/>
              </a:spcAft>
              <a:buChar char="•"/>
              <a:lnSpc>
                <a:spcPts val="2200"/>
              </a:lnSpc>
            </a:pPr>
            <a:r>
              <a:rPr sz="2000" b="0">
                <a:solidFill>
                  <a:srgbClr val="333333"/>
                </a:solidFill>
                <a:latin typeface="Calibri"/>
              </a:rPr>
              <a:t>Common options include Wi-Fi for home and office devices</a:t>
            </a:r>
          </a:p>
          <a:p>
            <a:pPr>
              <a:spcAft>
                <a:spcPts val="1000"/>
              </a:spcAft>
              <a:buChar char="•"/>
              <a:lnSpc>
                <a:spcPts val="2200"/>
              </a:lnSpc>
            </a:pPr>
            <a:r>
              <a:rPr sz="2000" b="0">
                <a:solidFill>
                  <a:srgbClr val="333333"/>
                </a:solidFill>
                <a:latin typeface="Calibri"/>
              </a:rPr>
              <a:t>Choice depends on power, range, and bandwidth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9.16 — Soil Sensors for Continuous Agriculture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9.16 — hands-on module</a:t>
            </a:r>
          </a:p>
          <a:p>
            <a:pPr>
              <a:spcAft>
                <a:spcPts val="1000"/>
              </a:spcAft>
              <a:buChar char="•"/>
              <a:lnSpc>
                <a:spcPts val="2200"/>
              </a:lnSpc>
            </a:pPr>
            <a:r>
              <a:rPr sz="2000" b="0">
                <a:solidFill>
                  <a:srgbClr val="333333"/>
                </a:solidFill>
                <a:latin typeface="Calibri"/>
              </a:rPr>
              <a:t>Example 9.16 highlights soil sensors that support continuous agriculture data</a:t>
            </a:r>
          </a:p>
          <a:p>
            <a:pPr>
              <a:spcAft>
                <a:spcPts val="1000"/>
              </a:spcAft>
              <a:buChar char="•"/>
              <a:lnSpc>
                <a:spcPts val="2200"/>
              </a:lnSpc>
            </a:pPr>
            <a:r>
              <a:rPr sz="2000" b="0">
                <a:solidFill>
                  <a:srgbClr val="333333"/>
                </a:solidFill>
                <a:latin typeface="Calibri"/>
              </a:rPr>
              <a:t>Farmers collect moisture, temperature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IoT collection rests on sensing devices, connectivity, and edge or cloud processing</a:t>
            </a:r>
          </a:p>
          <a:p>
            <a:pPr>
              <a:spcAft>
                <a:spcPts val="1000"/>
              </a:spcAft>
              <a:buChar char="•"/>
              <a:lnSpc>
                <a:spcPts val="2200"/>
              </a:lnSpc>
            </a:pPr>
            <a:r>
              <a:rPr sz="2000" b="0">
                <a:solidFill>
                  <a:srgbClr val="333333"/>
                </a:solidFill>
                <a:latin typeface="Calibri"/>
              </a:rPr>
              <a:t>Wearables and industrial monitors show personal and plant-floor endpoints</a:t>
            </a:r>
          </a:p>
          <a:p>
            <a:pPr>
              <a:spcAft>
                <a:spcPts val="1000"/>
              </a:spcAft>
              <a:buChar char="•"/>
              <a:lnSpc>
                <a:spcPts val="2200"/>
              </a:lnSpc>
            </a:pPr>
            <a:r>
              <a:rPr sz="2000" b="0">
                <a:solidFill>
                  <a:srgbClr val="333333"/>
                </a:solidFill>
                <a:latin typeface="Calibri"/>
              </a:rPr>
              <a:t>Connectivity choices and soil networks illustrate how continuous streams replace sparse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Local decisions such as thermostats, traffic lights, and logistics rerouting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 learners should be able to outline stages of an IoT data pipeline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Pipeline stages from generation to analytics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 IoT pipeline typically moves through data generation at the sensor</a:t>
            </a:r>
          </a:p>
          <a:p>
            <a:pPr>
              <a:spcAft>
                <a:spcPts val="1000"/>
              </a:spcAft>
              <a:buChar char="•"/>
              <a:lnSpc>
                <a:spcPts val="2200"/>
              </a:lnSpc>
            </a:pPr>
            <a:r>
              <a:rPr sz="2000" b="0">
                <a:solidFill>
                  <a:srgbClr val="333333"/>
                </a:solidFill>
                <a:latin typeface="Calibri"/>
              </a:rPr>
              <a:t>Each stage must be designed so volume and delay do not erase the value of continuous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9.17 — Smart Thermostat Local Reading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9.17 — hands-on module</a:t>
            </a:r>
          </a:p>
          <a:p>
            <a:pPr>
              <a:spcAft>
                <a:spcPts val="1000"/>
              </a:spcAft>
              <a:buChar char="•"/>
              <a:lnSpc>
                <a:spcPts val="2200"/>
              </a:lnSpc>
            </a:pPr>
            <a:r>
              <a:rPr sz="2000" b="0">
                <a:solidFill>
                  <a:srgbClr val="333333"/>
                </a:solidFill>
                <a:latin typeface="Calibri"/>
              </a:rPr>
              <a:t>Example 9.17 gives a minimal sensing vignette</a:t>
            </a:r>
          </a:p>
          <a:p>
            <a:pPr>
              <a:spcAft>
                <a:spcPts val="1000"/>
              </a:spcAft>
              <a:buChar char="•"/>
              <a:lnSpc>
                <a:spcPts val="2200"/>
              </a:lnSpc>
            </a:pPr>
            <a:r>
              <a:rPr sz="2000" b="0">
                <a:solidFill>
                  <a:srgbClr val="333333"/>
                </a:solidFill>
                <a:latin typeface="Calibri"/>
              </a:rPr>
              <a:t>That local reading is the generation step before gateway or cloud processing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Edge processing in the pipeline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Edge computing processes data at or near the device</a:t>
            </a:r>
          </a:p>
          <a:p>
            <a:pPr>
              <a:spcAft>
                <a:spcPts val="1000"/>
              </a:spcAft>
              <a:buChar char="•"/>
              <a:lnSpc>
                <a:spcPts val="2200"/>
              </a:lnSpc>
            </a:pPr>
            <a:r>
              <a:rPr sz="2000" b="0">
                <a:solidFill>
                  <a:srgbClr val="333333"/>
                </a:solidFill>
                <a:latin typeface="Calibri"/>
              </a:rPr>
              <a:t>Doing so reduces load on central servers and shortens delay for real-time decisions</a:t>
            </a:r>
          </a:p>
          <a:p>
            <a:pPr>
              <a:spcAft>
                <a:spcPts val="1000"/>
              </a:spcAft>
              <a:buChar char="•"/>
              <a:lnSpc>
                <a:spcPts val="2200"/>
              </a:lnSpc>
            </a:pPr>
            <a:r>
              <a:rPr sz="2000" b="0">
                <a:solidFill>
                  <a:srgbClr val="333333"/>
                </a:solidFill>
                <a:latin typeface="Calibri"/>
              </a:rPr>
              <a:t>Transmission may still use Wi-Fi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Benefits: latency, bandwidth, reliability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Processing closer to the source cuts latency for time-sensitive applications</a:t>
            </a:r>
          </a:p>
          <a:p>
            <a:pPr>
              <a:spcAft>
                <a:spcPts val="1000"/>
              </a:spcAft>
              <a:buChar char="•"/>
              <a:lnSpc>
                <a:spcPts val="2200"/>
              </a:lnSpc>
            </a:pPr>
            <a:r>
              <a:rPr sz="2000" b="0">
                <a:solidFill>
                  <a:srgbClr val="333333"/>
                </a:solidFill>
                <a:latin typeface="Calibri"/>
              </a:rPr>
              <a:t>Sending only relevant or pre-processed data optimizes bandwidth and cost</a:t>
            </a:r>
          </a:p>
          <a:p>
            <a:pPr>
              <a:spcAft>
                <a:spcPts val="1000"/>
              </a:spcAft>
              <a:buChar char="•"/>
              <a:lnSpc>
                <a:spcPts val="2200"/>
              </a:lnSpc>
            </a:pPr>
            <a:r>
              <a:rPr sz="2000" b="0">
                <a:solidFill>
                  <a:srgbClr val="333333"/>
                </a:solidFill>
                <a:latin typeface="Calibri"/>
              </a:rPr>
              <a:t>Edge devices can also keep working when connectivity drops</a:t>
            </a:r>
          </a:p>
          <a:p>
            <a:pPr>
              <a:spcAft>
                <a:spcPts val="1000"/>
              </a:spcAft>
              <a:buChar char="•"/>
              <a:lnSpc>
                <a:spcPts val="2200"/>
              </a:lnSpc>
            </a:pPr>
            <a:r>
              <a:rPr sz="2000" b="0">
                <a:solidFill>
                  <a:srgbClr val="333333"/>
                </a:solidFill>
                <a:latin typeface="Calibri"/>
              </a:rPr>
              <a:t>Together these benefits make continuous IoT collection operationally viable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9.18 — Edge Processing for Traffic Lights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9.18 — hands-on module</a:t>
            </a:r>
          </a:p>
          <a:p>
            <a:pPr>
              <a:spcAft>
                <a:spcPts val="1000"/>
              </a:spcAft>
              <a:buChar char="•"/>
              <a:lnSpc>
                <a:spcPts val="2200"/>
              </a:lnSpc>
            </a:pPr>
            <a:r>
              <a:rPr sz="2000" b="0">
                <a:solidFill>
                  <a:srgbClr val="333333"/>
                </a:solidFill>
                <a:latin typeface="Calibri"/>
              </a:rPr>
              <a:t>Example 9.18 shows smart traffic systems that process camera and sensor data at the edge</a:t>
            </a:r>
          </a:p>
          <a:p>
            <a:pPr>
              <a:spcAft>
                <a:spcPts val="1000"/>
              </a:spcAft>
              <a:buChar char="•"/>
              <a:lnSpc>
                <a:spcPts val="2200"/>
              </a:lnSpc>
            </a:pPr>
            <a:r>
              <a:rPr sz="2000" b="0">
                <a:solidFill>
                  <a:srgbClr val="333333"/>
                </a:solidFill>
                <a:latin typeface="Calibri"/>
              </a:rPr>
              <a:t>Local decisions keep control loops tight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9.19 — Real-Time Logistics Rerouting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9.19 — hands-on module</a:t>
            </a:r>
          </a:p>
          <a:p>
            <a:pPr>
              <a:spcAft>
                <a:spcPts val="1000"/>
              </a:spcAft>
              <a:buChar char="•"/>
              <a:lnSpc>
                <a:spcPts val="2200"/>
              </a:lnSpc>
            </a:pPr>
            <a:r>
              <a:rPr sz="2000" b="0">
                <a:solidFill>
                  <a:srgbClr val="333333"/>
                </a:solidFill>
                <a:latin typeface="Calibri"/>
              </a:rPr>
              <a:t>Example 9.19 applies IoT tracking to logistics</a:t>
            </a:r>
          </a:p>
          <a:p>
            <a:pPr>
              <a:spcAft>
                <a:spcPts val="1000"/>
              </a:spcAft>
              <a:buChar char="•"/>
              <a:lnSpc>
                <a:spcPts val="2200"/>
              </a:lnSpc>
            </a:pPr>
            <a:r>
              <a:rPr sz="2000" b="0">
                <a:solidFill>
                  <a:srgbClr val="333333"/>
                </a:solidFill>
                <a:latin typeface="Calibri"/>
              </a:rPr>
              <a:t>Timely sensing plus responsive processing turns location streams into operational</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IoT pipelines span generation, transmission, edge and cloud processing, and analytics</a:t>
            </a:r>
          </a:p>
          <a:p>
            <a:pPr>
              <a:spcAft>
                <a:spcPts val="1000"/>
              </a:spcAft>
              <a:buChar char="•"/>
              <a:lnSpc>
                <a:spcPts val="2200"/>
              </a:lnSpc>
            </a:pPr>
            <a:r>
              <a:rPr sz="2000" b="0">
                <a:solidFill>
                  <a:srgbClr val="333333"/>
                </a:solidFill>
                <a:latin typeface="Calibri"/>
              </a:rPr>
              <a:t>Edge computing improves latency, bandwidth use, and offline resilience</a:t>
            </a:r>
          </a:p>
          <a:p>
            <a:pPr>
              <a:spcAft>
                <a:spcPts val="1000"/>
              </a:spcAft>
              <a:buChar char="•"/>
              <a:lnSpc>
                <a:spcPts val="2200"/>
              </a:lnSpc>
            </a:pPr>
            <a:r>
              <a:rPr sz="2000" b="0">
                <a:solidFill>
                  <a:srgbClr val="333333"/>
                </a:solidFill>
                <a:latin typeface="Calibri"/>
              </a:rPr>
              <a:t>Thermostats, traffic lights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scalability, security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 learners should be able to explain scalability, security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Challenges: scalability, security, privacy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As device counts grow</a:t>
            </a:r>
          </a:p>
          <a:p>
            <a:pPr>
              <a:spcAft>
                <a:spcPts val="1000"/>
              </a:spcAft>
              <a:buChar char="•"/>
              <a:lnSpc>
                <a:spcPts val="2200"/>
              </a:lnSpc>
            </a:pPr>
            <a:r>
              <a:rPr sz="2000" b="0">
                <a:solidFill>
                  <a:srgbClr val="333333"/>
                </a:solidFill>
                <a:latin typeface="Calibri"/>
              </a:rPr>
              <a:t>Many IoT devices ship with minimal security, so each endpoint can be an attack surface</a:t>
            </a:r>
          </a:p>
          <a:p>
            <a:pPr>
              <a:spcAft>
                <a:spcPts val="1000"/>
              </a:spcAft>
              <a:buChar char="•"/>
              <a:lnSpc>
                <a:spcPts val="2200"/>
              </a:lnSpc>
            </a:pPr>
            <a:r>
              <a:rPr sz="2000" b="0">
                <a:solidFill>
                  <a:srgbClr val="333333"/>
                </a:solidFill>
                <a:latin typeface="Calibri"/>
              </a:rPr>
              <a:t>Sensitive health and behavior data also demand compliance with privacy rules such as GDPR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Security practices for IoT and edge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Best practices include end-to-end encryption at the device, in transit, and in the cloud</a:t>
            </a:r>
          </a:p>
          <a:p>
            <a:pPr>
              <a:spcAft>
                <a:spcPts val="1000"/>
              </a:spcAft>
              <a:buChar char="•"/>
              <a:lnSpc>
                <a:spcPts val="2200"/>
              </a:lnSpc>
            </a:pPr>
            <a:r>
              <a:rPr sz="2000" b="0">
                <a:solidFill>
                  <a:srgbClr val="333333"/>
                </a:solidFill>
                <a:latin typeface="Calibri"/>
              </a:rPr>
              <a:t>These controls reduce unauthorized access, tampering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9.20 — Securing Wearable Health Edge Devices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9.20 — hands-on module</a:t>
            </a:r>
          </a:p>
          <a:p>
            <a:pPr>
              <a:spcAft>
                <a:spcPts val="1000"/>
              </a:spcAft>
              <a:buChar char="•"/>
              <a:lnSpc>
                <a:spcPts val="2200"/>
              </a:lnSpc>
            </a:pPr>
            <a:r>
              <a:rPr sz="2000" b="0">
                <a:solidFill>
                  <a:srgbClr val="333333"/>
                </a:solidFill>
                <a:latin typeface="Calibri"/>
              </a:rPr>
              <a:t>Example 9.20 highlights wearable health trackers that monitor vital signs in real time</a:t>
            </a:r>
          </a:p>
          <a:p>
            <a:pPr>
              <a:spcAft>
                <a:spcPts val="1000"/>
              </a:spcAft>
              <a:buChar char="•"/>
              <a:lnSpc>
                <a:spcPts val="2200"/>
              </a:lnSpc>
            </a:pPr>
            <a:r>
              <a:rPr sz="2000" b="0">
                <a:solidFill>
                  <a:srgbClr val="333333"/>
                </a:solidFill>
                <a:latin typeface="Calibri"/>
              </a:rPr>
              <a:t>Securing those edge devices against tampering and ensuring health data reach clinicians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9.21 — Smart-City Multi-Source IoT Collection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9.21 — hands-on module</a:t>
            </a:r>
          </a:p>
          <a:p>
            <a:pPr>
              <a:spcAft>
                <a:spcPts val="1000"/>
              </a:spcAft>
              <a:buChar char="•"/>
              <a:lnSpc>
                <a:spcPts val="2200"/>
              </a:lnSpc>
            </a:pPr>
            <a:r>
              <a:rPr sz="2000" b="0">
                <a:solidFill>
                  <a:srgbClr val="333333"/>
                </a:solidFill>
                <a:latin typeface="Calibri"/>
              </a:rPr>
              <a:t>Public transit</a:t>
            </a:r>
          </a:p>
          <a:p>
            <a:pPr>
              <a:spcAft>
                <a:spcPts val="1000"/>
              </a:spcAft>
              <a:buChar char="•"/>
              <a:lnSpc>
                <a:spcPts val="2200"/>
              </a:lnSpc>
            </a:pPr>
            <a:r>
              <a:rPr sz="2000" b="0">
                <a:solidFill>
                  <a:srgbClr val="333333"/>
                </a:solidFill>
                <a:latin typeface="Calibri"/>
              </a:rPr>
              <a:t>Protocols, and governance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Protocols and multi-source coordination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Effective multi-source IoT depends on shared formats and lightweight protocols</a:t>
            </a:r>
          </a:p>
          <a:p>
            <a:pPr>
              <a:spcAft>
                <a:spcPts val="1000"/>
              </a:spcAft>
              <a:buChar char="•"/>
              <a:lnSpc>
                <a:spcPts val="2200"/>
              </a:lnSpc>
            </a:pPr>
            <a:r>
              <a:rPr sz="2000" b="0">
                <a:solidFill>
                  <a:srgbClr val="333333"/>
                </a:solidFill>
                <a:latin typeface="Calibri"/>
              </a:rPr>
              <a:t>Message Queuing Telemetry Transport suits low-bandwidth messaging</a:t>
            </a:r>
          </a:p>
          <a:p>
            <a:pPr>
              <a:spcAft>
                <a:spcPts val="1000"/>
              </a:spcAft>
              <a:buChar char="•"/>
              <a:lnSpc>
                <a:spcPts val="2200"/>
              </a:lnSpc>
            </a:pPr>
            <a:r>
              <a:rPr sz="2000" b="0">
                <a:solidFill>
                  <a:srgbClr val="333333"/>
                </a:solidFill>
                <a:latin typeface="Calibri"/>
              </a:rPr>
              <a:t>Standardization helps cities and operators fuse streams without brittle one-off</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Ethics: ownership, overload, surveillance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Who owns device-collected personal data, the individual or the vendor, is often contested</a:t>
            </a:r>
          </a:p>
          <a:p>
            <a:pPr>
              <a:spcAft>
                <a:spcPts val="1000"/>
              </a:spcAft>
              <a:buChar char="•"/>
              <a:lnSpc>
                <a:spcPts val="2200"/>
              </a:lnSpc>
            </a:pPr>
            <a:r>
              <a:rPr sz="2000" b="0">
                <a:solidFill>
                  <a:srgbClr val="333333"/>
                </a:solidFill>
                <a:latin typeface="Calibri"/>
              </a:rPr>
              <a:t>Millions of devices also create overload: important signals can be lost in volume</a:t>
            </a:r>
          </a:p>
          <a:p>
            <a:pPr>
              <a:spcAft>
                <a:spcPts val="1000"/>
              </a:spcAft>
              <a:buChar char="•"/>
              <a:lnSpc>
                <a:spcPts val="2200"/>
              </a:lnSpc>
            </a:pPr>
            <a:r>
              <a:rPr sz="2000" b="0">
                <a:solidFill>
                  <a:srgbClr val="333333"/>
                </a:solidFill>
                <a:latin typeface="Calibri"/>
              </a:rPr>
              <a:t>Public and personal tracking raise surveillance concerns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IoT collection faces scalability, security</a:t>
            </a:r>
          </a:p>
          <a:p>
            <a:pPr>
              <a:spcAft>
                <a:spcPts val="1000"/>
              </a:spcAft>
              <a:buChar char="•"/>
              <a:lnSpc>
                <a:spcPts val="2200"/>
              </a:lnSpc>
            </a:pPr>
            <a:r>
              <a:rPr sz="2000" b="0">
                <a:solidFill>
                  <a:srgbClr val="333333"/>
                </a:solidFill>
                <a:latin typeface="Calibri"/>
              </a:rPr>
              <a:t>Encryption, authentication, and secure edge devices are baseline controls</a:t>
            </a:r>
          </a:p>
          <a:p>
            <a:pPr>
              <a:spcAft>
                <a:spcPts val="1000"/>
              </a:spcAft>
              <a:buChar char="•"/>
              <a:lnSpc>
                <a:spcPts val="2200"/>
              </a:lnSpc>
            </a:pPr>
            <a:r>
              <a:rPr sz="2000" b="0">
                <a:solidFill>
                  <a:srgbClr val="333333"/>
                </a:solidFill>
                <a:latin typeface="Calibri"/>
              </a:rPr>
              <a:t>Wearables and smart cities show why ethics, ownership, overload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turns to big-data characteristics, volume, velocity, variety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Defining big data and the Vs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Big data refers to extremely large, complex datasets beyond conventional processing tools</a:t>
            </a:r>
          </a:p>
          <a:p>
            <a:pPr>
              <a:spcAft>
                <a:spcPts val="1000"/>
              </a:spcAft>
              <a:buChar char="•"/>
              <a:lnSpc>
                <a:spcPts val="2200"/>
              </a:lnSpc>
            </a:pPr>
            <a:r>
              <a:rPr sz="2000" b="0">
                <a:solidFill>
                  <a:srgbClr val="333333"/>
                </a:solidFill>
                <a:latin typeface="Calibri"/>
              </a:rPr>
              <a:t>Classic dimensions include volume, the sheer size of the corpus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9.23 — Petabyte-Scale Social and Sensor Volume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9.23 — hands-on module</a:t>
            </a:r>
          </a:p>
          <a:p>
            <a:pPr>
              <a:spcAft>
                <a:spcPts val="1000"/>
              </a:spcAft>
              <a:buChar char="•"/>
              <a:lnSpc>
                <a:spcPts val="2200"/>
              </a:lnSpc>
            </a:pPr>
            <a:r>
              <a:rPr sz="2000" b="0">
                <a:solidFill>
                  <a:srgbClr val="333333"/>
                </a:solidFill>
                <a:latin typeface="Calibri"/>
              </a:rPr>
              <a:t>Example 9.23 illustrates volume</a:t>
            </a:r>
          </a:p>
          <a:p>
            <a:pPr>
              <a:spcAft>
                <a:spcPts val="1000"/>
              </a:spcAft>
              <a:buChar char="•"/>
              <a:lnSpc>
                <a:spcPts val="2200"/>
              </a:lnSpc>
            </a:pPr>
            <a:r>
              <a:rPr sz="2000" b="0">
                <a:solidFill>
                  <a:srgbClr val="333333"/>
                </a:solidFill>
                <a:latin typeface="Calibri"/>
              </a:rPr>
              <a:t>At that size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Velocity, variety, veracity, and value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Velocity rises with IoT, social</a:t>
            </a:r>
          </a:p>
          <a:p>
            <a:pPr>
              <a:spcAft>
                <a:spcPts val="1000"/>
              </a:spcAft>
              <a:buChar char="•"/>
              <a:lnSpc>
                <a:spcPts val="2200"/>
              </a:lnSpc>
            </a:pPr>
            <a:r>
              <a:rPr sz="2000" b="0">
                <a:solidFill>
                  <a:srgbClr val="333333"/>
                </a:solidFill>
                <a:latin typeface="Calibri"/>
              </a:rPr>
              <a:t>Variety spans spreadsheets, JSON, XML, posts, video, and images</a:t>
            </a:r>
          </a:p>
          <a:p>
            <a:pPr>
              <a:spcAft>
                <a:spcPts val="1000"/>
              </a:spcAft>
              <a:buChar char="•"/>
              <a:lnSpc>
                <a:spcPts val="2200"/>
              </a:lnSpc>
            </a:pPr>
            <a:r>
              <a:rPr sz="2000" b="0">
                <a:solidFill>
                  <a:srgbClr val="333333"/>
                </a:solidFill>
                <a:latin typeface="Calibri"/>
              </a:rPr>
              <a:t>Veracity is hard to assess at scale</a:t>
            </a:r>
          </a:p>
          <a:p>
            <a:pPr>
              <a:spcAft>
                <a:spcPts val="1000"/>
              </a:spcAft>
              <a:buChar char="•"/>
              <a:lnSpc>
                <a:spcPts val="2200"/>
              </a:lnSpc>
            </a:pPr>
            <a:r>
              <a:rPr sz="2000" b="0">
                <a:solidFill>
                  <a:srgbClr val="333333"/>
                </a:solidFill>
                <a:latin typeface="Calibri"/>
              </a:rPr>
              <a:t>Value reminds teams that collecting volume without extractable insight wastes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9.24 — Noise Filtering in Social Media Streams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9.24 — hands-on module</a:t>
            </a:r>
          </a:p>
          <a:p>
            <a:pPr>
              <a:spcAft>
                <a:spcPts val="1000"/>
              </a:spcAft>
              <a:buChar char="•"/>
              <a:lnSpc>
                <a:spcPts val="2200"/>
              </a:lnSpc>
            </a:pPr>
            <a:r>
              <a:rPr sz="2000" b="0">
                <a:solidFill>
                  <a:srgbClr val="333333"/>
                </a:solidFill>
                <a:latin typeface="Calibri"/>
              </a:rPr>
              <a:t>Example 9.24 shows why social streams need filtering</a:t>
            </a:r>
          </a:p>
          <a:p>
            <a:pPr>
              <a:spcAft>
                <a:spcPts val="1000"/>
              </a:spcAft>
              <a:buChar char="•"/>
              <a:lnSpc>
                <a:spcPts val="2200"/>
              </a:lnSpc>
            </a:pPr>
            <a:r>
              <a:rPr sz="2000" b="0">
                <a:solidFill>
                  <a:srgbClr val="333333"/>
                </a:solidFill>
                <a:latin typeface="Calibri"/>
              </a:rPr>
              <a:t>Collection pipelines therefore include quality gates, not only ingest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Streaming data versus batch 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Streaming data is generated continuously and must be processed as it arrives</a:t>
            </a:r>
          </a:p>
          <a:p>
            <a:pPr>
              <a:spcAft>
                <a:spcPts val="1000"/>
              </a:spcAft>
              <a:buChar char="•"/>
              <a:lnSpc>
                <a:spcPts val="2200"/>
              </a:lnSpc>
            </a:pPr>
            <a:r>
              <a:rPr sz="2000" b="0">
                <a:solidFill>
                  <a:srgbClr val="333333"/>
                </a:solidFill>
                <a:latin typeface="Calibri"/>
              </a:rPr>
              <a:t>Streaming systems handle high-throughput flows in motion</a:t>
            </a:r>
          </a:p>
          <a:p>
            <a:pPr>
              <a:spcAft>
                <a:spcPts val="1000"/>
              </a:spcAft>
              <a:buChar char="•"/>
              <a:lnSpc>
                <a:spcPts val="2200"/>
              </a:lnSpc>
            </a:pPr>
            <a:r>
              <a:rPr sz="2000" b="0">
                <a:solidFill>
                  <a:srgbClr val="333333"/>
                </a:solidFill>
                <a:latin typeface="Calibri"/>
              </a:rPr>
              <a:t>Stock feeds, IoT readings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9.25 — Streaming Stock Sensor and Social Feeds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9.25 — hands-on module</a:t>
            </a:r>
          </a:p>
          <a:p>
            <a:pPr>
              <a:spcAft>
                <a:spcPts val="1000"/>
              </a:spcAft>
              <a:buChar char="•"/>
              <a:lnSpc>
                <a:spcPts val="2200"/>
              </a:lnSpc>
            </a:pPr>
            <a:r>
              <a:rPr sz="2000" b="0">
                <a:solidFill>
                  <a:srgbClr val="333333"/>
                </a:solidFill>
                <a:latin typeface="Calibri"/>
              </a:rPr>
              <a:t>Example 9.25 lists common streaming sources</a:t>
            </a:r>
          </a:p>
          <a:p>
            <a:pPr>
              <a:spcAft>
                <a:spcPts val="1000"/>
              </a:spcAft>
              <a:buChar char="•"/>
              <a:lnSpc>
                <a:spcPts val="2200"/>
              </a:lnSpc>
            </a:pPr>
            <a:r>
              <a:rPr sz="2000" b="0">
                <a:solidFill>
                  <a:srgbClr val="333333"/>
                </a:solidFill>
                <a:latin typeface="Calibri"/>
              </a:rPr>
              <a:t>Distributed systems split large datasets across machines so parallel processing can keep</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Big data is defined by volume, velocity, variety, veracity, and value, not size alone</a:t>
            </a:r>
          </a:p>
          <a:p>
            <a:pPr>
              <a:spcAft>
                <a:spcPts val="1000"/>
              </a:spcAft>
              <a:buChar char="•"/>
              <a:lnSpc>
                <a:spcPts val="2200"/>
              </a:lnSpc>
            </a:pPr>
            <a:r>
              <a:rPr sz="2000" b="0">
                <a:solidFill>
                  <a:srgbClr val="333333"/>
                </a:solidFill>
                <a:latin typeface="Calibri"/>
              </a:rPr>
              <a:t>Social noise filtering protects insight quality</a:t>
            </a:r>
          </a:p>
          <a:p>
            <a:pPr>
              <a:spcAft>
                <a:spcPts val="1000"/>
              </a:spcAft>
              <a:buChar char="•"/>
              <a:lnSpc>
                <a:spcPts val="2200"/>
              </a:lnSpc>
            </a:pPr>
            <a:r>
              <a:rPr sz="2000" b="0">
                <a:solidFill>
                  <a:srgbClr val="333333"/>
                </a:solidFill>
                <a:latin typeface="Calibri"/>
              </a:rPr>
              <a:t>Social collection at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surveys collection challenges and tooling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 learners should be able to list integration, storage, quality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Collection challenges at big-data scale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Big data arrives from social, sensors, databases</a:t>
            </a:r>
          </a:p>
          <a:p>
            <a:pPr>
              <a:spcAft>
                <a:spcPts val="1000"/>
              </a:spcAft>
              <a:buChar char="•"/>
              <a:lnSpc>
                <a:spcPts val="2200"/>
              </a:lnSpc>
            </a:pPr>
            <a:r>
              <a:rPr sz="2000" b="0">
                <a:solidFill>
                  <a:srgbClr val="333333"/>
                </a:solidFill>
                <a:latin typeface="Calibri"/>
              </a:rPr>
              <a:t>Traditional relational stores struggle with volume and variety</a:t>
            </a:r>
          </a:p>
          <a:p>
            <a:pPr>
              <a:spcAft>
                <a:spcPts val="1000"/>
              </a:spcAft>
              <a:buChar char="•"/>
              <a:lnSpc>
                <a:spcPts val="2200"/>
              </a:lnSpc>
            </a:pPr>
            <a:r>
              <a:rPr sz="2000" b="0">
                <a:solidFill>
                  <a:srgbClr val="333333"/>
                </a:solidFill>
                <a:latin typeface="Calibri"/>
              </a:rPr>
              <a:t>Quality drifts under velocity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Tools: Flume and NiFi</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Often into real-time analytics paths</a:t>
            </a:r>
          </a:p>
          <a:p>
            <a:pPr>
              <a:spcAft>
                <a:spcPts val="1000"/>
              </a:spcAft>
              <a:buChar char="•"/>
              <a:lnSpc>
                <a:spcPts val="2200"/>
              </a:lnSpc>
            </a:pPr>
            <a:r>
              <a:rPr sz="2000" b="0">
                <a:solidFill>
                  <a:srgbClr val="333333"/>
                </a:solidFill>
                <a:latin typeface="Calibri"/>
              </a:rPr>
              <a:t>Apache NiFi automates data flow between systems</a:t>
            </a:r>
          </a:p>
          <a:p>
            <a:pPr>
              <a:spcAft>
                <a:spcPts val="1000"/>
              </a:spcAft>
              <a:buChar char="•"/>
              <a:lnSpc>
                <a:spcPts val="2200"/>
              </a:lnSpc>
            </a:pPr>
            <a:r>
              <a:rPr sz="2000" b="0">
                <a:solidFill>
                  <a:srgbClr val="333333"/>
                </a:solidFill>
                <a:latin typeface="Calibri"/>
              </a:rPr>
              <a:t>These tools address movement and integration when custom scripts do not scale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lakes for raw, mixed sources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data lake is a centralized repository that stores vast raw data in native formats</a:t>
            </a:r>
          </a:p>
          <a:p>
            <a:pPr>
              <a:spcAft>
                <a:spcPts val="1000"/>
              </a:spcAft>
              <a:buChar char="•"/>
              <a:lnSpc>
                <a:spcPts val="2200"/>
              </a:lnSpc>
            </a:pPr>
            <a:r>
              <a:rPr sz="2000" b="0">
                <a:solidFill>
                  <a:srgbClr val="333333"/>
                </a:solidFill>
                <a:latin typeface="Calibri"/>
              </a:rPr>
              <a:t>Lakes suit text, video, and social feeds when analysts need flexible access later</a:t>
            </a:r>
          </a:p>
          <a:p>
            <a:pPr>
              <a:spcAft>
                <a:spcPts val="1000"/>
              </a:spcAft>
              <a:buChar char="•"/>
              <a:lnSpc>
                <a:spcPts val="2200"/>
              </a:lnSpc>
            </a:pPr>
            <a:r>
              <a:rPr sz="2000" b="0">
                <a:solidFill>
                  <a:srgbClr val="333333"/>
                </a:solidFill>
                <a:latin typeface="Calibri"/>
              </a:rPr>
              <a:t>Weak schema discipline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9.26 — Retail Data Lake for Mixed Sources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9.26 — hands-on module</a:t>
            </a:r>
          </a:p>
          <a:p>
            <a:pPr>
              <a:spcAft>
                <a:spcPts val="1000"/>
              </a:spcAft>
              <a:buChar char="•"/>
              <a:lnSpc>
                <a:spcPts val="2200"/>
              </a:lnSpc>
            </a:pPr>
            <a:r>
              <a:rPr sz="2000" b="0">
                <a:solidFill>
                  <a:srgbClr val="333333"/>
                </a:solidFill>
                <a:latin typeface="Calibri"/>
              </a:rPr>
              <a:t>Example 9.26 places customer interaction logs, social content</a:t>
            </a:r>
          </a:p>
          <a:p>
            <a:pPr>
              <a:spcAft>
                <a:spcPts val="1000"/>
              </a:spcAft>
              <a:buChar char="•"/>
              <a:lnSpc>
                <a:spcPts val="2200"/>
              </a:lnSpc>
            </a:pPr>
            <a:r>
              <a:rPr sz="2000" b="0">
                <a:solidFill>
                  <a:srgbClr val="333333"/>
                </a:solidFill>
                <a:latin typeface="Calibri"/>
              </a:rPr>
              <a:t>Analysts later apply machine learning to uncover behavior trends from that mixed corpus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warehouses for structured BI</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data warehouse stores cleaned</a:t>
            </a:r>
          </a:p>
          <a:p>
            <a:pPr>
              <a:spcAft>
                <a:spcPts val="1000"/>
              </a:spcAft>
              <a:buChar char="•"/>
              <a:lnSpc>
                <a:spcPts val="2200"/>
              </a:lnSpc>
            </a:pPr>
            <a:r>
              <a:rPr sz="2000" b="0">
                <a:solidFill>
                  <a:srgbClr val="333333"/>
                </a:solidFill>
                <a:latin typeface="Calibri"/>
              </a:rPr>
              <a:t>Tables support business intelligence tools and historical analysis</a:t>
            </a:r>
          </a:p>
          <a:p>
            <a:pPr>
              <a:spcAft>
                <a:spcPts val="1000"/>
              </a:spcAft>
              <a:buChar char="•"/>
              <a:lnSpc>
                <a:spcPts val="2200"/>
              </a:lnSpc>
            </a:pPr>
            <a:r>
              <a:rPr sz="2000" b="0">
                <a:solidFill>
                  <a:srgbClr val="333333"/>
                </a:solidFill>
                <a:latin typeface="Calibri"/>
              </a:rPr>
              <a:t>Warehouses excel at governed reporting but are less suited to the full variety and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9.27 — Financial Data Warehouse for Structured BI</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9.27 — hands-on module</a:t>
            </a:r>
          </a:p>
          <a:p>
            <a:pPr>
              <a:spcAft>
                <a:spcPts val="1000"/>
              </a:spcAft>
              <a:buChar char="•"/>
              <a:lnSpc>
                <a:spcPts val="2200"/>
              </a:lnSpc>
            </a:pPr>
            <a:r>
              <a:rPr sz="2000" b="0">
                <a:solidFill>
                  <a:srgbClr val="333333"/>
                </a:solidFill>
                <a:latin typeface="Calibri"/>
              </a:rPr>
              <a:t>Example 9.27 shows a financial institution storing transactions, balances</a:t>
            </a:r>
          </a:p>
          <a:p>
            <a:pPr>
              <a:spcAft>
                <a:spcPts val="1000"/>
              </a:spcAft>
              <a:buChar char="•"/>
              <a:lnSpc>
                <a:spcPts val="2200"/>
              </a:lnSpc>
            </a:pPr>
            <a:r>
              <a:rPr sz="2000" b="0">
                <a:solidFill>
                  <a:srgbClr val="333333"/>
                </a:solidFill>
                <a:latin typeface="Calibri"/>
              </a:rPr>
              <a:t>Structured BI needs consistency that lakes alone may not provide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Big-data collection faces integration, storage, quality</a:t>
            </a:r>
          </a:p>
          <a:p>
            <a:pPr>
              <a:spcAft>
                <a:spcPts val="1000"/>
              </a:spcAft>
              <a:buChar char="•"/>
              <a:lnSpc>
                <a:spcPts val="2200"/>
              </a:lnSpc>
            </a:pPr>
            <a:r>
              <a:rPr sz="2000" b="0">
                <a:solidFill>
                  <a:srgbClr val="333333"/>
                </a:solidFill>
                <a:latin typeface="Calibri"/>
              </a:rPr>
              <a:t>Lakes land mixed raw sources for flexible analytics</a:t>
            </a:r>
          </a:p>
          <a:p>
            <a:pPr>
              <a:spcAft>
                <a:spcPts val="1000"/>
              </a:spcAft>
              <a:buChar char="•"/>
              <a:lnSpc>
                <a:spcPts val="2200"/>
              </a:lnSpc>
            </a:pPr>
            <a:r>
              <a:rPr sz="2000" b="0">
                <a:solidFill>
                  <a:srgbClr val="333333"/>
                </a:solidFill>
                <a:latin typeface="Calibri"/>
              </a:rPr>
              <a:t>Retail lakes and financial warehouses illustrate complementary storage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Emerging trends that prepare later storage and modeling chapters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Emerging trends such as edge and AI-driven analytics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Social platforms as continuous sentiment sources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Platforms such as Twitter, Facebook</a:t>
            </a:r>
          </a:p>
          <a:p>
            <a:pPr>
              <a:spcAft>
                <a:spcPts val="1000"/>
              </a:spcAft>
              <a:buChar char="•"/>
              <a:lnSpc>
                <a:spcPts val="2200"/>
              </a:lnSpc>
            </a:pPr>
            <a:r>
              <a:rPr sz="2000" b="0">
                <a:solidFill>
                  <a:srgbClr val="333333"/>
                </a:solidFill>
                <a:latin typeface="Calibri"/>
              </a:rPr>
              <a:t>Those signals can be analyzed for sentiment and related insights when collection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9.28 — Real-Time Twitter Sentiment for Launch Feedback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9.28 — hands-on module</a:t>
            </a:r>
          </a:p>
          <a:p>
            <a:pPr>
              <a:spcAft>
                <a:spcPts val="1000"/>
              </a:spcAft>
              <a:buChar char="•"/>
              <a:lnSpc>
                <a:spcPts val="2200"/>
              </a:lnSpc>
            </a:pPr>
            <a:r>
              <a:rPr sz="2000" b="0">
                <a:solidFill>
                  <a:srgbClr val="333333"/>
                </a:solidFill>
                <a:latin typeface="Calibri"/>
              </a:rPr>
              <a:t>Example 9.28 considers a product launch monitored through Twitter streams</a:t>
            </a:r>
          </a:p>
          <a:p>
            <a:pPr>
              <a:spcAft>
                <a:spcPts val="1000"/>
              </a:spcAft>
              <a:buChar char="•"/>
              <a:lnSpc>
                <a:spcPts val="2200"/>
              </a:lnSpc>
            </a:pPr>
            <a:r>
              <a:rPr sz="2000" b="0">
                <a:solidFill>
                  <a:srgbClr val="333333"/>
                </a:solidFill>
                <a:latin typeface="Calibri"/>
              </a:rPr>
              <a:t>Visualize results on dashboards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`modules/chapter9/example28/`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Distributed file systems and ingestion modes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Scalable storage</a:t>
            </a:r>
          </a:p>
          <a:p>
            <a:pPr>
              <a:spcAft>
                <a:spcPts val="1000"/>
              </a:spcAft>
              <a:buChar char="•"/>
              <a:lnSpc>
                <a:spcPts val="2200"/>
              </a:lnSpc>
            </a:pPr>
            <a:r>
              <a:rPr sz="2000" b="0">
                <a:solidFill>
                  <a:srgbClr val="333333"/>
                </a:solidFill>
                <a:latin typeface="Calibri"/>
              </a:rPr>
              <a:t>Ingestion may be batch</a:t>
            </a:r>
          </a:p>
          <a:p>
            <a:pPr>
              <a:spcAft>
                <a:spcPts val="1000"/>
              </a:spcAft>
              <a:buChar char="•"/>
              <a:lnSpc>
                <a:spcPts val="2200"/>
              </a:lnSpc>
            </a:pPr>
            <a:r>
              <a:rPr sz="2000" b="0">
                <a:solidFill>
                  <a:srgbClr val="333333"/>
                </a:solidFill>
                <a:latin typeface="Calibri"/>
              </a:rPr>
              <a:t>Mode choice follows latency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Quality and privacy in big-data environments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Duplicates that skew analysis</a:t>
            </a:r>
          </a:p>
          <a:p>
            <a:pPr>
              <a:spcAft>
                <a:spcPts val="1000"/>
              </a:spcAft>
              <a:buChar char="•"/>
              <a:lnSpc>
                <a:spcPts val="2200"/>
              </a:lnSpc>
            </a:pPr>
            <a:r>
              <a:rPr sz="2000" b="0">
                <a:solidFill>
                  <a:srgbClr val="333333"/>
                </a:solidFill>
                <a:latin typeface="Calibri"/>
              </a:rPr>
              <a:t>Cleaning, transformation, and validation are therefore part of collection design</a:t>
            </a:r>
          </a:p>
          <a:p>
            <a:pPr>
              <a:spcAft>
                <a:spcPts val="1000"/>
              </a:spcAft>
              <a:buChar char="•"/>
              <a:lnSpc>
                <a:spcPts val="2200"/>
              </a:lnSpc>
            </a:pPr>
            <a:r>
              <a:rPr sz="2000" b="0">
                <a:solidFill>
                  <a:srgbClr val="333333"/>
                </a:solidFill>
                <a:latin typeface="Calibri"/>
              </a:rPr>
              <a:t>Privacy requires encryption, access control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Integration with AI and machine learning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Big data realizes more value when combined with AI and machine learning</a:t>
            </a:r>
          </a:p>
          <a:p>
            <a:pPr>
              <a:spcAft>
                <a:spcPts val="1000"/>
              </a:spcAft>
              <a:buChar char="•"/>
              <a:lnSpc>
                <a:spcPts val="2200"/>
              </a:lnSpc>
            </a:pPr>
            <a:r>
              <a:rPr sz="2000" b="0">
                <a:solidFill>
                  <a:srgbClr val="333333"/>
                </a:solidFill>
                <a:latin typeface="Calibri"/>
              </a:rPr>
              <a:t>Predictive analytics in healthcare, finance, and retail forecast outcomes or demand</a:t>
            </a:r>
          </a:p>
          <a:p>
            <a:pPr>
              <a:spcAft>
                <a:spcPts val="1000"/>
              </a:spcAft>
              <a:buChar char="•"/>
              <a:lnSpc>
                <a:spcPts val="2200"/>
              </a:lnSpc>
            </a:pPr>
            <a:r>
              <a:rPr sz="2000" b="0">
                <a:solidFill>
                  <a:srgbClr val="333333"/>
                </a:solidFill>
                <a:latin typeface="Calibri"/>
              </a:rPr>
              <a:t>Recommendation systems at scale use behavior histories to suggest products or media</a:t>
            </a:r>
          </a:p>
          <a:p>
            <a:pPr>
              <a:spcAft>
                <a:spcPts val="1000"/>
              </a:spcAft>
              <a:buChar char="•"/>
              <a:lnSpc>
                <a:spcPts val="2200"/>
              </a:lnSpc>
            </a:pPr>
            <a:r>
              <a:rPr sz="2000" b="0">
                <a:solidFill>
                  <a:srgbClr val="333333"/>
                </a:solidFill>
                <a:latin typeface="Calibri"/>
              </a:rPr>
              <a:t>Collection pipelines must therefore deliver timely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Emerging trends and outlook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Emerging directions include quantum computing for faster complex processing as systems</a:t>
            </a:r>
          </a:p>
          <a:p>
            <a:pPr>
              <a:spcAft>
                <a:spcPts val="1000"/>
              </a:spcAft>
              <a:buChar char="•"/>
              <a:lnSpc>
                <a:spcPts val="2200"/>
              </a:lnSpc>
            </a:pPr>
            <a:r>
              <a:rPr sz="2000" b="0">
                <a:solidFill>
                  <a:srgbClr val="333333"/>
                </a:solidFill>
                <a:latin typeface="Calibri"/>
              </a:rPr>
              <a:t>These trends extend the advanced collection themes of this chapter</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Real-time sentiment analysis shows how streaming collection, distributed transport, NLP</a:t>
            </a:r>
          </a:p>
          <a:p>
            <a:pPr>
              <a:spcAft>
                <a:spcPts val="1000"/>
              </a:spcAft>
              <a:buChar char="•"/>
              <a:lnSpc>
                <a:spcPts val="2200"/>
              </a:lnSpc>
            </a:pPr>
            <a:r>
              <a:rPr sz="2000" b="0">
                <a:solidFill>
                  <a:srgbClr val="333333"/>
                </a:solidFill>
                <a:latin typeface="Calibri"/>
              </a:rPr>
              <a:t>HDFS-style stores and batch or real-time ingestion land those streams</a:t>
            </a:r>
          </a:p>
          <a:p>
            <a:pPr>
              <a:spcAft>
                <a:spcPts val="1000"/>
              </a:spcAft>
              <a:buChar char="•"/>
              <a:lnSpc>
                <a:spcPts val="2200"/>
              </a:lnSpc>
            </a:pPr>
            <a:r>
              <a:rPr sz="2000" b="0">
                <a:solidFill>
                  <a:srgbClr val="333333"/>
                </a:solidFill>
                <a:latin typeface="Calibri"/>
              </a:rPr>
              <a:t>Quality, privacy, AI integration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for this part to close Chapter 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9 — Advanced Data Collection Techniques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