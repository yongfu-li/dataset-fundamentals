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Streaming needs a landing place. This part surveys collection challenges and tooling, then contrasts data lakes for mixed raw sources with data warehouses for structured business intelligence.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learners should be able to list integration, storage, quality, and scalability challenges in big-data collection; name tools such as Apache Flume and Apache NiFi; and contrast data lakes with data warehouses using retail and financial examples.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Big data arrives from social, sensors, databases, and more, each with different formats and protocols, so integration is hard. Traditional relational stores struggle with volume and variety, pushing teams toward distributed file systems and NoSQL options. Quality drifts under velocity, and infrastructure must scale storage and compute without uncontrolled cost.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Apache Flume is a distributed collection service for aggregating and transporting large log volumes, often into real-time analytics paths. Apache NiFi automates data flow between systems: collect, route, and transform from many sources into varied stores. These tools address movement and integration when custom scripts do not scale.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data lake is a centralized repository that stores vast raw data in native formats—structured, semi-structured, or unstructured. Lakes suit text, video, and social feeds when analysts need flexible access later. Weak schema discipline, however, can complicate governance and quality management if curation is neglected.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9.26 places customer interaction logs, social content, and sensor data in a retail data lake. Analysts later apply machine learning to uncover behavior trends from that mixed corpus. Open the example 26 module for this chapter to review the lake-as-landing-zone pattern.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data warehouse stores cleaned, transformed, structured data organized for fast querying and reporting. Tables support business intelligence tools and historical analysis. Warehouses excel at governed reporting but are less suited to the full variety and real-time nature of raw big-data streams.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9.27 shows a financial institution storing transactions, balances, and demographics in a warehouse for monthly reporting and performance tracking. Structured BI needs consistency that lakes alone may not provide. The example 27 module for this chapter contrasts that warehouse reporting role.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Big-data collection faces integration, storage, quality, and scalability challenges that Flume and NiFi help address. Lakes land mixed raw sources for flexible analytics; warehouses serve cleaned structured reporting. Retail lakes and financial warehouses illustrate complementary storage patterns.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final part walks real-time social sentiment analysis, distributed file systems and ingestion modes, then quality, privacy, AI integration, and emerging trends that prepare later storage and modeling chapters.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Chapter 9 — Big-data tools, lakes, and warehouses</a:t>
            </a:r>
          </a:p>
          <a:p>
            <a:pPr algn="ctr">
              <a:lnSpc>
                <a:spcPts val="2200"/>
              </a:lnSpc>
              <a:spcBef>
                <a:spcPts val="1400"/>
              </a:spcBef>
            </a:pPr>
            <a:r>
              <a:rPr sz="2600" b="0">
                <a:solidFill>
                  <a:srgbClr val="333333"/>
                </a:solidFill>
                <a:latin typeface="Calibri"/>
              </a:rPr>
              <a:t>Streaming needs a landing place</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Lakes Warehouses Tools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By the end of this part, learners should be able to list integration, storage, quality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Lakes Warehouses Tools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Collection challenges at big-data scale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Big data arrives from social, sensors, databases</a:t>
            </a:r>
          </a:p>
          <a:p>
            <a:pPr lvl="0" marL="457200" indent="-228600">
              <a:buFont typeface="Calibri"/>
              <a:spcAft>
                <a:spcPts val="1000"/>
              </a:spcAft>
              <a:buSzPct val="100000"/>
              <a:buChar char="•"/>
              <a:lnSpc>
                <a:spcPts val="2200"/>
              </a:lnSpc>
            </a:pPr>
            <a:r>
              <a:rPr sz="2000" b="0">
                <a:solidFill>
                  <a:srgbClr val="333333"/>
                </a:solidFill>
                <a:latin typeface="Calibri"/>
              </a:rPr>
              <a:t>Traditional relational stores struggle with volume and variety</a:t>
            </a:r>
          </a:p>
          <a:p>
            <a:pPr lvl="0" marL="457200" indent="-228600">
              <a:buFont typeface="Calibri"/>
              <a:spcAft>
                <a:spcPts val="1000"/>
              </a:spcAft>
              <a:buSzPct val="100000"/>
              <a:buChar char="•"/>
              <a:lnSpc>
                <a:spcPts val="2200"/>
              </a:lnSpc>
            </a:pPr>
            <a:r>
              <a:rPr sz="2000" b="0">
                <a:solidFill>
                  <a:srgbClr val="333333"/>
                </a:solidFill>
                <a:latin typeface="Calibri"/>
              </a:rPr>
              <a:t>Quality drifts under velocity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Lakes Warehouses Tools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Tools: Flume and NiFi</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Often into real-time analytics paths</a:t>
            </a:r>
          </a:p>
          <a:p>
            <a:pPr lvl="0" marL="457200" indent="-228600">
              <a:buFont typeface="Calibri"/>
              <a:spcAft>
                <a:spcPts val="1000"/>
              </a:spcAft>
              <a:buSzPct val="100000"/>
              <a:buChar char="•"/>
              <a:lnSpc>
                <a:spcPts val="2200"/>
              </a:lnSpc>
            </a:pPr>
            <a:r>
              <a:rPr sz="2000" b="0">
                <a:solidFill>
                  <a:srgbClr val="333333"/>
                </a:solidFill>
                <a:latin typeface="Calibri"/>
              </a:rPr>
              <a:t>Apache NiFi automates data flow between systems</a:t>
            </a:r>
          </a:p>
          <a:p>
            <a:pPr lvl="0" marL="457200" indent="-228600">
              <a:buFont typeface="Calibri"/>
              <a:spcAft>
                <a:spcPts val="1000"/>
              </a:spcAft>
              <a:buSzPct val="100000"/>
              <a:buChar char="•"/>
              <a:lnSpc>
                <a:spcPts val="2200"/>
              </a:lnSpc>
            </a:pPr>
            <a:r>
              <a:rPr sz="2000" b="0">
                <a:solidFill>
                  <a:srgbClr val="333333"/>
                </a:solidFill>
                <a:latin typeface="Calibri"/>
              </a:rPr>
              <a:t>These tools address movement and integration when custom scripts do not scale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Lakes Warehouses Tools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Data lakes for raw, mixed sources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A data lake is a centralized repository that stores vast raw data in native formats</a:t>
            </a:r>
          </a:p>
          <a:p>
            <a:pPr lvl="0" marL="457200" indent="-228600">
              <a:buFont typeface="Calibri"/>
              <a:spcAft>
                <a:spcPts val="1000"/>
              </a:spcAft>
              <a:buSzPct val="100000"/>
              <a:buChar char="•"/>
              <a:lnSpc>
                <a:spcPts val="2200"/>
              </a:lnSpc>
            </a:pPr>
            <a:r>
              <a:rPr sz="2000" b="0">
                <a:solidFill>
                  <a:srgbClr val="333333"/>
                </a:solidFill>
                <a:latin typeface="Calibri"/>
              </a:rPr>
              <a:t>Lakes suit text, video, and social feeds when analysts need flexible access later</a:t>
            </a:r>
          </a:p>
          <a:p>
            <a:pPr lvl="0" marL="457200" indent="-228600">
              <a:buFont typeface="Calibri"/>
              <a:spcAft>
                <a:spcPts val="1000"/>
              </a:spcAft>
              <a:buSzPct val="100000"/>
              <a:buChar char="•"/>
              <a:lnSpc>
                <a:spcPts val="2200"/>
              </a:lnSpc>
            </a:pPr>
            <a:r>
              <a:rPr sz="2000" b="0">
                <a:solidFill>
                  <a:srgbClr val="333333"/>
                </a:solidFill>
                <a:latin typeface="Calibri"/>
              </a:rPr>
              <a:t>Weak schema discipline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Lakes Warehouses Tools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9.26 — Retail Data Lake for Mixed Sources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9.26 — hands-on module</a:t>
            </a:r>
          </a:p>
          <a:p>
            <a:pPr lvl="0" marL="457200" indent="-228600">
              <a:buFont typeface="Calibri"/>
              <a:spcAft>
                <a:spcPts val="1000"/>
              </a:spcAft>
              <a:buSzPct val="100000"/>
              <a:buChar char="•"/>
              <a:lnSpc>
                <a:spcPts val="2200"/>
              </a:lnSpc>
            </a:pPr>
            <a:r>
              <a:rPr sz="2000" b="0">
                <a:solidFill>
                  <a:srgbClr val="333333"/>
                </a:solidFill>
                <a:latin typeface="Calibri"/>
              </a:rPr>
              <a:t>Example 9.26 places customer interaction logs, social content</a:t>
            </a:r>
          </a:p>
          <a:p>
            <a:pPr lvl="0" marL="457200" indent="-228600">
              <a:buFont typeface="Calibri"/>
              <a:spcAft>
                <a:spcPts val="1000"/>
              </a:spcAft>
              <a:buSzPct val="100000"/>
              <a:buChar char="•"/>
              <a:lnSpc>
                <a:spcPts val="2200"/>
              </a:lnSpc>
            </a:pPr>
            <a:r>
              <a:rPr sz="2000" b="0">
                <a:solidFill>
                  <a:srgbClr val="333333"/>
                </a:solidFill>
                <a:latin typeface="Calibri"/>
              </a:rPr>
              <a:t>Analysts later apply machine learning to uncover behavior trends from that mixed corpus</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`modules/chapter9/example26/`</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Lakes Warehouses Tools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Data warehouses for structured BI</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A data warehouse stores cleaned</a:t>
            </a:r>
          </a:p>
          <a:p>
            <a:pPr lvl="0" marL="457200" indent="-228600">
              <a:buFont typeface="Calibri"/>
              <a:spcAft>
                <a:spcPts val="1000"/>
              </a:spcAft>
              <a:buSzPct val="100000"/>
              <a:buChar char="•"/>
              <a:lnSpc>
                <a:spcPts val="2200"/>
              </a:lnSpc>
            </a:pPr>
            <a:r>
              <a:rPr sz="2000" b="0">
                <a:solidFill>
                  <a:srgbClr val="333333"/>
                </a:solidFill>
                <a:latin typeface="Calibri"/>
              </a:rPr>
              <a:t>Tables support business intelligence tools and historical analysis</a:t>
            </a:r>
          </a:p>
          <a:p>
            <a:pPr lvl="0" marL="457200" indent="-228600">
              <a:buFont typeface="Calibri"/>
              <a:spcAft>
                <a:spcPts val="1000"/>
              </a:spcAft>
              <a:buSzPct val="100000"/>
              <a:buChar char="•"/>
              <a:lnSpc>
                <a:spcPts val="2200"/>
              </a:lnSpc>
            </a:pPr>
            <a:r>
              <a:rPr sz="2000" b="0">
                <a:solidFill>
                  <a:srgbClr val="333333"/>
                </a:solidFill>
                <a:latin typeface="Calibri"/>
              </a:rPr>
              <a:t>Warehouses excel at governed reporting but are less suited to the full variety and</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Lakes Warehouses Tools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9.27 — Financial Data Warehouse for Structured BI</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9.27 — hands-on module</a:t>
            </a:r>
          </a:p>
          <a:p>
            <a:pPr lvl="0" marL="457200" indent="-228600">
              <a:buFont typeface="Calibri"/>
              <a:spcAft>
                <a:spcPts val="1000"/>
              </a:spcAft>
              <a:buSzPct val="100000"/>
              <a:buChar char="•"/>
              <a:lnSpc>
                <a:spcPts val="2200"/>
              </a:lnSpc>
            </a:pPr>
            <a:r>
              <a:rPr sz="2000" b="0">
                <a:solidFill>
                  <a:srgbClr val="333333"/>
                </a:solidFill>
                <a:latin typeface="Calibri"/>
              </a:rPr>
              <a:t>Example 9.27 shows a financial institution storing transactions, balances</a:t>
            </a:r>
          </a:p>
          <a:p>
            <a:pPr lvl="0" marL="457200" indent="-228600">
              <a:buFont typeface="Calibri"/>
              <a:spcAft>
                <a:spcPts val="1000"/>
              </a:spcAft>
              <a:buSzPct val="100000"/>
              <a:buChar char="•"/>
              <a:lnSpc>
                <a:spcPts val="2200"/>
              </a:lnSpc>
            </a:pPr>
            <a:r>
              <a:rPr sz="2000" b="0">
                <a:solidFill>
                  <a:srgbClr val="333333"/>
                </a:solidFill>
                <a:latin typeface="Calibri"/>
              </a:rPr>
              <a:t>Structured BI needs consistency that lakes alone may not provide</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`modules/chapter9/example27/`</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Lakes Warehouses Tools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Big-data collection faces integration, storage, quality</a:t>
            </a:r>
          </a:p>
          <a:p>
            <a:pPr lvl="0" marL="457200" indent="-228600">
              <a:buFont typeface="Calibri"/>
              <a:spcAft>
                <a:spcPts val="1000"/>
              </a:spcAft>
              <a:buSzPct val="100000"/>
              <a:buChar char="•"/>
              <a:lnSpc>
                <a:spcPts val="2200"/>
              </a:lnSpc>
            </a:pPr>
            <a:r>
              <a:rPr sz="2000" b="0">
                <a:solidFill>
                  <a:srgbClr val="333333"/>
                </a:solidFill>
                <a:latin typeface="Calibri"/>
              </a:rPr>
              <a:t>Lakes land mixed raw sources for flexible analytics</a:t>
            </a:r>
          </a:p>
          <a:p>
            <a:pPr lvl="0" marL="457200" indent="-228600">
              <a:buFont typeface="Calibri"/>
              <a:spcAft>
                <a:spcPts val="1000"/>
              </a:spcAft>
              <a:buSzPct val="100000"/>
              <a:buChar char="•"/>
              <a:lnSpc>
                <a:spcPts val="2200"/>
              </a:lnSpc>
            </a:pPr>
            <a:r>
              <a:rPr sz="2000" b="0">
                <a:solidFill>
                  <a:srgbClr val="333333"/>
                </a:solidFill>
                <a:latin typeface="Calibri"/>
              </a:rPr>
              <a:t>Retail lakes and financial warehouses illustrate complementary storage patterns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Lakes Warehouses Tools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quiz for this part</a:t>
            </a:r>
          </a:p>
          <a:p>
            <a:pPr lvl="0" marL="457200" indent="-228600">
              <a:buFont typeface="Calibri"/>
              <a:spcAft>
                <a:spcPts val="1000"/>
              </a:spcAft>
              <a:buSzPct val="100000"/>
              <a:buChar char="•"/>
              <a:lnSpc>
                <a:spcPts val="2200"/>
              </a:lnSpc>
            </a:pPr>
            <a:r>
              <a:rPr sz="2000" b="0">
                <a:solidFill>
                  <a:srgbClr val="333333"/>
                </a:solidFill>
                <a:latin typeface="Calibri"/>
              </a:rPr>
              <a:t>Emerging trends that prepare later storage and modeling chapters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Lakes Warehouses Tools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