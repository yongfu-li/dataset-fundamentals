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human judgment must scale beyond a small expert team, crowdsourcing distributes work to a large online community. This part defines crowdsourcing, outlines common task types, and shows use cases from fraud-related review and innovation contests to microtask image tagging.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define crowdsourcing and name major task types; describe labeling, market research, innovation, and microtasking use cases; and interpret examples of fraud-pattern review, open algorithmic contests, and catalog image tagging.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Crowdsourcing obtains input, services, or resources by soliciting contributions from a large group, typically through an online community. It draws on collective intelligence and diverse skills for problems that are too complex or time-consuming for a small team alone. The approach can lower cost while also tapping creativity, not only routine labor.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types include crowd voting on ideas or designs; crowd creation of writing, design, or code; crowd collaboration on complex research or software problems; crowdfunding for projects; and crowd labor that splits work into microtasks such as labeling, transcription, or categorization. Dataset projects most often emphasize crowd labor and related labeling workflows.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Machine learning teams use crowdsourcing to gather labeled images and text quickly. Market research can sample broad demographics through surveys on the same platforms. Example settings also apply crowd-scale review patterns to large transaction corpora when fraud risk must be assessed from amount, location, and frequency signals.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9.8 describes a bank analyzing millions of transactions for fraud likelihood based on amounts, locations, and frequency. Applied in near real time, such a model can flag and help prevent fraud before customers are harmed. Open the example 8 module for this chapter to review the fraud-review framing.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9.9 recalls the Netflix Prize: a one-million-dollar open competition for the best algorithm to improve recommendations. Organizations use contests to crowdsource innovation when many external teams can explore solutions under a shared goal. The example 9 module for this chapter summarizes that contest-style innovation pattern.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9.10 shows catalog image tagging split into microtasks—for example labeling apparel, electronics, or home goods—and distributed to many workers. Thousands of items can be annotated in hours rather than weeks. The example 10 module for this chapter captures that microtasking speed advantage.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Crowdsourcing scales human judgment through online communities and multiple task types. Dataset work often centers on labeling and microtasking, while contests can crowdsource innovation. Fraud review, open prizes, and catalog tagging illustrate how the same idea adapts to different collection goals.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moves from use cases to platforms: the Amazon Mechanical Turk workflow for posting and reviewing Human Intelligence Tasks, then alternatives such as Prolific, CrowdFlower, and Clickworker.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9 — Crowdsourcing use cases</a:t>
            </a:r>
          </a:p>
          <a:p>
            <a:pPr algn="ctr">
              <a:lnSpc>
                <a:spcPts val="2200"/>
              </a:lnSpc>
              <a:spcBef>
                <a:spcPts val="1400"/>
              </a:spcBef>
            </a:pPr>
            <a:r>
              <a:rPr sz="2600" b="0">
                <a:solidFill>
                  <a:srgbClr val="333333"/>
                </a:solidFill>
                <a:latin typeface="Calibri"/>
              </a:rPr>
              <a:t>When human judgment must scale beyond a small expert team, crowdsourcing distributes work to a large online community</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Crowdsourcing Use Cases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Crowdsourcing Use Cases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crowdsourcing is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Crowdsourcing obtains input</a:t>
            </a:r>
          </a:p>
          <a:p>
            <a:pPr>
              <a:spcAft>
                <a:spcPts val="1000"/>
              </a:spcAft>
              <a:buChar char="•"/>
              <a:lnSpc>
                <a:spcPts val="2200"/>
              </a:lnSpc>
            </a:pPr>
            <a:r>
              <a:rPr sz="2000" b="0">
                <a:solidFill>
                  <a:srgbClr val="333333"/>
                </a:solidFill>
                <a:latin typeface="Calibri"/>
              </a:rPr>
              <a:t>It draws on collective intelligence and diverse skills for problems that are too complex</a:t>
            </a:r>
          </a:p>
          <a:p>
            <a:pPr>
              <a:spcAft>
                <a:spcPts val="1000"/>
              </a:spcAft>
              <a:buChar char="•"/>
              <a:lnSpc>
                <a:spcPts val="2200"/>
              </a:lnSpc>
            </a:pPr>
            <a:r>
              <a:rPr sz="2000" b="0">
                <a:solidFill>
                  <a:srgbClr val="333333"/>
                </a:solidFill>
                <a:latin typeface="Calibri"/>
              </a:rPr>
              <a:t>The approach can lower cost while also tapping creativity, not only routine labor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Crowdsourcing Use Cases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Types of crowdsourcing tasks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Common types include crowd voting on ideas or designs</a:t>
            </a:r>
          </a:p>
          <a:p>
            <a:pPr>
              <a:spcAft>
                <a:spcPts val="1000"/>
              </a:spcAft>
              <a:buChar char="•"/>
              <a:lnSpc>
                <a:spcPts val="2200"/>
              </a:lnSpc>
            </a:pPr>
            <a:r>
              <a:rPr sz="2000" b="0">
                <a:solidFill>
                  <a:srgbClr val="333333"/>
                </a:solidFill>
                <a:latin typeface="Calibri"/>
              </a:rPr>
              <a:t>Dataset projects most often emphasize crowd labor and related labeling workflows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Crowdsourcing Use Cases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Labeling, research, and fraud review</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Machine learning teams use crowdsourcing to gather labeled images and text quickly</a:t>
            </a:r>
          </a:p>
          <a:p>
            <a:pPr>
              <a:spcAft>
                <a:spcPts val="1000"/>
              </a:spcAft>
              <a:buChar char="•"/>
              <a:lnSpc>
                <a:spcPts val="2200"/>
              </a:lnSpc>
            </a:pPr>
            <a:r>
              <a:rPr sz="2000" b="0">
                <a:solidFill>
                  <a:srgbClr val="333333"/>
                </a:solidFill>
                <a:latin typeface="Calibri"/>
              </a:rPr>
              <a:t>Market research can sample broad demographics through surveys on the same platforms</a:t>
            </a:r>
          </a:p>
          <a:p>
            <a:pPr>
              <a:spcAft>
                <a:spcPts val="1000"/>
              </a:spcAft>
              <a:buChar char="•"/>
              <a:lnSpc>
                <a:spcPts val="2200"/>
              </a:lnSpc>
            </a:pPr>
            <a:r>
              <a:rPr sz="2000" b="0">
                <a:solidFill>
                  <a:srgbClr val="333333"/>
                </a:solidFill>
                <a:latin typeface="Calibri"/>
              </a:rPr>
              <a:t>Frequency signals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Crowdsourcing Use Cases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9.8 — Crowdsourcing Fraud-Pattern Review</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9.8 — hands-on module</a:t>
            </a:r>
          </a:p>
          <a:p>
            <a:pPr>
              <a:spcAft>
                <a:spcPts val="1000"/>
              </a:spcAft>
              <a:buChar char="•"/>
              <a:lnSpc>
                <a:spcPts val="2200"/>
              </a:lnSpc>
            </a:pPr>
            <a:r>
              <a:rPr sz="2000" b="0">
                <a:solidFill>
                  <a:srgbClr val="333333"/>
                </a:solidFill>
                <a:latin typeface="Calibri"/>
              </a:rPr>
              <a:t>Locations, and frequency</a:t>
            </a:r>
          </a:p>
          <a:p>
            <a:pPr>
              <a:spcAft>
                <a:spcPts val="1000"/>
              </a:spcAft>
              <a:buChar char="•"/>
              <a:lnSpc>
                <a:spcPts val="2200"/>
              </a:lnSpc>
            </a:pPr>
            <a:r>
              <a:rPr sz="2000" b="0">
                <a:solidFill>
                  <a:srgbClr val="333333"/>
                </a:solidFill>
                <a:latin typeface="Calibri"/>
              </a:rPr>
              <a:t>Applied in near real time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`modules/chapter9/example8/`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Crowdsourcing Use Cases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9.9 — Netflix Prize Crowdsourced Innovation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9.9 — hands-on module</a:t>
            </a:r>
          </a:p>
          <a:p>
            <a:pPr>
              <a:spcAft>
                <a:spcPts val="1000"/>
              </a:spcAft>
              <a:buChar char="•"/>
              <a:lnSpc>
                <a:spcPts val="2200"/>
              </a:lnSpc>
            </a:pPr>
            <a:r>
              <a:rPr sz="2000" b="0">
                <a:solidFill>
                  <a:srgbClr val="333333"/>
                </a:solidFill>
                <a:latin typeface="Calibri"/>
              </a:rPr>
              <a:t>Example 9.9 recalls the Netflix Prize</a:t>
            </a:r>
          </a:p>
          <a:p>
            <a:pPr>
              <a:spcAft>
                <a:spcPts val="1000"/>
              </a:spcAft>
              <a:buChar char="•"/>
              <a:lnSpc>
                <a:spcPts val="2200"/>
              </a:lnSpc>
            </a:pPr>
            <a:r>
              <a:rPr sz="2000" b="0">
                <a:solidFill>
                  <a:srgbClr val="333333"/>
                </a:solidFill>
                <a:latin typeface="Calibri"/>
              </a:rPr>
              <a:t>Organizations use contests to crowdsource innovation when many external teams can explore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`modules/chapter9/example9/`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Crowdsourcing Use Cases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9.10 — Microtask Image Tagging on Crowd Platforms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9.10 — hands-on module</a:t>
            </a:r>
          </a:p>
          <a:p>
            <a:pPr>
              <a:spcAft>
                <a:spcPts val="1000"/>
              </a:spcAft>
              <a:buChar char="•"/>
              <a:lnSpc>
                <a:spcPts val="2200"/>
              </a:lnSpc>
            </a:pPr>
            <a:r>
              <a:rPr sz="2000" b="0">
                <a:solidFill>
                  <a:srgbClr val="333333"/>
                </a:solidFill>
                <a:latin typeface="Calibri"/>
              </a:rPr>
              <a:t>Distributed to many workers</a:t>
            </a:r>
          </a:p>
          <a:p>
            <a:pPr>
              <a:spcAft>
                <a:spcPts val="1000"/>
              </a:spcAft>
              <a:buChar char="•"/>
              <a:lnSpc>
                <a:spcPts val="2200"/>
              </a:lnSpc>
            </a:pPr>
            <a:r>
              <a:rPr sz="2000" b="0">
                <a:solidFill>
                  <a:srgbClr val="333333"/>
                </a:solidFill>
                <a:latin typeface="Calibri"/>
              </a:rPr>
              <a:t>Thousands of items can be annotated in hours rather than weeks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`modules/chapter9/example10/`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Crowdsourcing Use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Crowdsourcing scales human judgment through online communities and multiple task types</a:t>
            </a:r>
          </a:p>
          <a:p>
            <a:pPr>
              <a:spcAft>
                <a:spcPts val="1000"/>
              </a:spcAft>
              <a:buChar char="•"/>
              <a:lnSpc>
                <a:spcPts val="2200"/>
              </a:lnSpc>
            </a:pPr>
            <a:r>
              <a:rPr sz="2000" b="0">
                <a:solidFill>
                  <a:srgbClr val="333333"/>
                </a:solidFill>
                <a:latin typeface="Calibri"/>
              </a:rPr>
              <a:t>Dataset work often centers on labeling and microtasking</a:t>
            </a:r>
          </a:p>
          <a:p>
            <a:pPr>
              <a:spcAft>
                <a:spcPts val="1000"/>
              </a:spcAft>
              <a:buChar char="•"/>
              <a:lnSpc>
                <a:spcPts val="2200"/>
              </a:lnSpc>
            </a:pPr>
            <a:r>
              <a:rPr sz="2000" b="0">
                <a:solidFill>
                  <a:srgbClr val="333333"/>
                </a:solidFill>
                <a:latin typeface="Calibri"/>
              </a:rPr>
              <a:t>Fraud review, open prizes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Crowdsourcing Use Cases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part moves from use cases to platforms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Crowdsourcing Use Cases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