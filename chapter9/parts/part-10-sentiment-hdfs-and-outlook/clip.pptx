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closes by tying advanced collection to an end-to-end application. This final part walks real-time social sentiment analysis, distributed file systems and ingestion modes, then quality, privacy, AI integration, and emerging trends that prepare later storage and modeling chapters.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outline a real-time sentiment pipeline from social streams; describe distributed file systems and batch versus real-time ingestion; and summarize quality, privacy, AI integration, and emerging trends such as edge and AI-driven analytics.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Platforms such as Twitter, Facebook, and Instagram generate posts, comments, likes, and shares that stream in real time. Those signals can be analyzed for sentiment and related insights when collection, processing, and natural language analysis are wired into a continuous pipeline rather than a one-time export.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9.28 considers a product launch monitored through Twitter streams. Analysts collect tweets via an API, move continuous flows with tools such as Kafka or Flume, classify sentiment with natural language methods, and visualize results on dashboards. Open the example 28 module for this chapter to review that end-to-end launch-feedback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file systems such as HDFS and object stores such as Amazon S3 split data across cluster nodes for parallel processing, fault tolerance, and scalable storage. Ingestion may be batch—large chunks on a schedule—or real-time continuous streaming with platforms such as Kafka, Flume, or Kinesis. Mode choice follows latency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challenges include missing sensor values after network failures, inconsistent formats and units across sources, and duplicates that skew analysis. Cleaning, transformation, and validation are therefore part of collection design. Privacy requires encryption, access control, and anonymization when personal data fall under rules such as GDPR or HIPAA.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realizes more value when combined with AI and machine learning. Predictive analytics in healthcare, finance, and retail forecast outcomes or demand. Recommendation systems at scale use behavior histories to suggest products or media. Collection pipelines must therefore deliver timely, trustworthy features—not only raw volume.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Emerging directions include quantum computing for faster complex processing as systems mature; edge computing for real-time applications with IoT and autonomy; greater use of five-G for faster device connectivity; and AI-driven analytics that automate more processing and insight extraction. These trends extend the advanced collection themes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sentiment analysis shows how streaming collection, distributed transport, NLP, and dashboards form one pipeline. HDFS-style stores and batch or real-time ingestion land those streams. Quality, privacy, AI integration, and emerging edge and AI trends complete the chapter outlook toward later platform chapters.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close Chapter 9. Later chapters deepen storage platforms, modeling, and operational practices that consume the advanced collection patterns introduced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Sentiment case study and big-data outlook</a:t>
            </a:r>
          </a:p>
          <a:p>
            <a:pPr algn="ctr">
              <a:lnSpc>
                <a:spcPts val="2200"/>
              </a:lnSpc>
              <a:spcBef>
                <a:spcPts val="1400"/>
              </a:spcBef>
            </a:pPr>
            <a:r>
              <a:rPr sz="2600" b="0">
                <a:solidFill>
                  <a:srgbClr val="333333"/>
                </a:solidFill>
                <a:latin typeface="Calibri"/>
              </a:rPr>
              <a:t>The chapter closes by tying advanced collection to an end-to-end application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Emerging trends such as edge and AI-driven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Social platforms as continuous sentiment sources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Platforms such as Twitter, Facebook</a:t>
            </a:r>
          </a:p>
          <a:p>
            <a:pPr lvl="0" marL="457200" indent="-228600">
              <a:buFont typeface="Calibri"/>
              <a:spcAft>
                <a:spcPts val="1000"/>
              </a:spcAft>
              <a:buSzPct val="100000"/>
              <a:buChar char="•"/>
              <a:lnSpc>
                <a:spcPts val="2200"/>
              </a:lnSpc>
            </a:pPr>
            <a:r>
              <a:rPr sz="2000" b="0">
                <a:solidFill>
                  <a:srgbClr val="333333"/>
                </a:solidFill>
                <a:latin typeface="Calibri"/>
              </a:rPr>
              <a:t>Those signals can be analyzed for sentiment and related insights when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9.28 — Real-Time Twitter Sentiment for Launch Feedback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9.28 considers a product launch monitored through Twitter streams</a:t>
            </a:r>
          </a:p>
          <a:p>
            <a:pPr lvl="0" marL="457200" indent="-228600">
              <a:buFont typeface="Calibri"/>
              <a:spcAft>
                <a:spcPts val="1000"/>
              </a:spcAft>
              <a:buSzPct val="100000"/>
              <a:buChar char="•"/>
              <a:lnSpc>
                <a:spcPts val="2200"/>
              </a:lnSpc>
            </a:pPr>
            <a:r>
              <a:rPr sz="2000" b="0">
                <a:solidFill>
                  <a:srgbClr val="333333"/>
                </a:solidFill>
                <a:latin typeface="Calibri"/>
              </a:rPr>
              <a:t>Visualize results on dashboards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Distributed file systems and ingestion modes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storage</a:t>
            </a:r>
          </a:p>
          <a:p>
            <a:pPr lvl="0" marL="457200" indent="-228600">
              <a:buFont typeface="Calibri"/>
              <a:spcAft>
                <a:spcPts val="1000"/>
              </a:spcAft>
              <a:buSzPct val="100000"/>
              <a:buChar char="•"/>
              <a:lnSpc>
                <a:spcPts val="2200"/>
              </a:lnSpc>
            </a:pPr>
            <a:r>
              <a:rPr sz="2000" b="0">
                <a:solidFill>
                  <a:srgbClr val="333333"/>
                </a:solidFill>
                <a:latin typeface="Calibri"/>
              </a:rPr>
              <a:t>Ingestion may be batch</a:t>
            </a:r>
          </a:p>
          <a:p>
            <a:pPr lvl="0" marL="457200" indent="-228600">
              <a:buFont typeface="Calibri"/>
              <a:spcAft>
                <a:spcPts val="1000"/>
              </a:spcAft>
              <a:buSzPct val="100000"/>
              <a:buChar char="•"/>
              <a:lnSpc>
                <a:spcPts val="2200"/>
              </a:lnSpc>
            </a:pPr>
            <a:r>
              <a:rPr sz="2000" b="0">
                <a:solidFill>
                  <a:srgbClr val="333333"/>
                </a:solidFill>
                <a:latin typeface="Calibri"/>
              </a:rPr>
              <a:t>Mode choice follows latency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and privacy in big-data environments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Duplicates that skew analysis</a:t>
            </a:r>
          </a:p>
          <a:p>
            <a:pPr lvl="0" marL="457200" indent="-228600">
              <a:buFont typeface="Calibri"/>
              <a:spcAft>
                <a:spcPts val="1000"/>
              </a:spcAft>
              <a:buSzPct val="100000"/>
              <a:buChar char="•"/>
              <a:lnSpc>
                <a:spcPts val="2200"/>
              </a:lnSpc>
            </a:pPr>
            <a:r>
              <a:rPr sz="2000" b="0">
                <a:solidFill>
                  <a:srgbClr val="333333"/>
                </a:solidFill>
                <a:latin typeface="Calibri"/>
              </a:rPr>
              <a:t>Cleaning, transformation, and validation are therefore part of collection design</a:t>
            </a:r>
          </a:p>
          <a:p>
            <a:pPr lvl="0" marL="457200" indent="-228600">
              <a:buFont typeface="Calibri"/>
              <a:spcAft>
                <a:spcPts val="1000"/>
              </a:spcAft>
              <a:buSzPct val="100000"/>
              <a:buChar char="•"/>
              <a:lnSpc>
                <a:spcPts val="2200"/>
              </a:lnSpc>
            </a:pPr>
            <a:r>
              <a:rPr sz="2000" b="0">
                <a:solidFill>
                  <a:srgbClr val="333333"/>
                </a:solidFill>
                <a:latin typeface="Calibri"/>
              </a:rPr>
              <a:t>Privacy requires encryption, access control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Integration with AI and machine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Big data realizes more value when combined with AI and machine learning</a:t>
            </a:r>
          </a:p>
          <a:p>
            <a:pPr lvl="0" marL="457200" indent="-228600">
              <a:buFont typeface="Calibri"/>
              <a:spcAft>
                <a:spcPts val="1000"/>
              </a:spcAft>
              <a:buSzPct val="100000"/>
              <a:buChar char="•"/>
              <a:lnSpc>
                <a:spcPts val="2200"/>
              </a:lnSpc>
            </a:pPr>
            <a:r>
              <a:rPr sz="2000" b="0">
                <a:solidFill>
                  <a:srgbClr val="333333"/>
                </a:solidFill>
                <a:latin typeface="Calibri"/>
              </a:rPr>
              <a:t>Predictive analytics in healthcare, finance, and retail forecast outcomes or demand</a:t>
            </a:r>
          </a:p>
          <a:p>
            <a:pPr lvl="0" marL="457200" indent="-228600">
              <a:buFont typeface="Calibri"/>
              <a:spcAft>
                <a:spcPts val="1000"/>
              </a:spcAft>
              <a:buSzPct val="100000"/>
              <a:buChar char="•"/>
              <a:lnSpc>
                <a:spcPts val="2200"/>
              </a:lnSpc>
            </a:pPr>
            <a:r>
              <a:rPr sz="2000" b="0">
                <a:solidFill>
                  <a:srgbClr val="333333"/>
                </a:solidFill>
                <a:latin typeface="Calibri"/>
              </a:rPr>
              <a:t>Recommendation systems at scale use behavior histories to suggest products or media</a:t>
            </a:r>
          </a:p>
          <a:p>
            <a:pPr lvl="0" marL="457200" indent="-228600">
              <a:buFont typeface="Calibri"/>
              <a:spcAft>
                <a:spcPts val="1000"/>
              </a:spcAft>
              <a:buSzPct val="100000"/>
              <a:buChar char="•"/>
              <a:lnSpc>
                <a:spcPts val="2200"/>
              </a:lnSpc>
            </a:pPr>
            <a:r>
              <a:rPr sz="2000" b="0">
                <a:solidFill>
                  <a:srgbClr val="333333"/>
                </a:solidFill>
                <a:latin typeface="Calibri"/>
              </a:rPr>
              <a:t>Collection pipelines must therefore deliver timely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trends and outlook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Emerging directions include quantum computing for faster complex processing as systems</a:t>
            </a:r>
          </a:p>
          <a:p>
            <a:pPr lvl="0" marL="457200" indent="-228600">
              <a:buFont typeface="Calibri"/>
              <a:spcAft>
                <a:spcPts val="1000"/>
              </a:spcAft>
              <a:buSzPct val="100000"/>
              <a:buChar char="•"/>
              <a:lnSpc>
                <a:spcPts val="2200"/>
              </a:lnSpc>
            </a:pPr>
            <a:r>
              <a:rPr sz="2000" b="0">
                <a:solidFill>
                  <a:srgbClr val="333333"/>
                </a:solidFill>
                <a:latin typeface="Calibri"/>
              </a:rPr>
              <a:t>These trends extend the advanced collection themes of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Real-time sentiment analysis shows how streaming collection, distributed transport, NLP</a:t>
            </a:r>
          </a:p>
          <a:p>
            <a:pPr lvl="0" marL="457200" indent="-228600">
              <a:buFont typeface="Calibri"/>
              <a:spcAft>
                <a:spcPts val="1000"/>
              </a:spcAft>
              <a:buSzPct val="100000"/>
              <a:buChar char="•"/>
              <a:lnSpc>
                <a:spcPts val="2200"/>
              </a:lnSpc>
            </a:pPr>
            <a:r>
              <a:rPr sz="2000" b="0">
                <a:solidFill>
                  <a:srgbClr val="333333"/>
                </a:solidFill>
                <a:latin typeface="Calibri"/>
              </a:rPr>
              <a:t>HDFS-style stores and batch or real-time ingestion land those streams</a:t>
            </a:r>
          </a:p>
          <a:p>
            <a:pPr lvl="0" marL="457200" indent="-228600">
              <a:buFont typeface="Calibri"/>
              <a:spcAft>
                <a:spcPts val="1000"/>
              </a:spcAft>
              <a:buSzPct val="100000"/>
              <a:buChar char="•"/>
              <a:lnSpc>
                <a:spcPts val="2200"/>
              </a:lnSpc>
            </a:pPr>
            <a:r>
              <a:rPr sz="2000" b="0">
                <a:solidFill>
                  <a:srgbClr val="333333"/>
                </a:solidFill>
                <a:latin typeface="Calibri"/>
              </a:rPr>
              <a:t>Quality, privacy, AI integration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 to close Chapter 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Sentiment Hdfs And Outlook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