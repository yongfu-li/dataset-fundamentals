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Crowdsourcing scales human labeling; the Internet of Things scales continuous measurement. This part introduces IoT components—devices with sensors or actuators, connectivity, and processing—and motivates them with wearables, industrial monitors, and agricultural soil networks.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define the Internet of Things and its main components; give examples of wearable and industrial sensing endpoints; and explain how connectivity and continuous soil sensing support collection without constant human intervention.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Internet of Things is a network of physical devices that connect to the internet and exchange data. Devices range from smart thermostats and wearables to industrial machinery, autonomous vehicles, and smart-city systems. Objects collect, share, and analyze data with limited direct human intervention, yielding timely status and environmental insights.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its core, IoT combines things equipped with sensors or actuators; reliable connectivity to move data; and processing analytics at the edge or in the cloud. Devices capture measurements or perform actions. Networks carry those readings onward. Processing turns raw streams into decisions for users and automated systems.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9.12 lists wearables such as fitness trackers and smartwatches that monitor heart rate, steps, and sleep. These endpoints illustrate everyday sensing that produces continuous personal health streams. Open the example 12 module for this chapter to review wearable sensing as an IoT collection pattern.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9.14 describes manufacturing machines that monitor their own performance, detect faults, and predict maintenance needs. Industrial IoT therefore links sensing to operational reliability rather than only consumer wellness. The example 14 module for this chapter frames that self-monitoring maintenance use case.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Devices need reliable links to gateways or cloud services. Common options include Wi-Fi for home and office devices; Bluetooth Low Energy for many wearables; cellular networks for long-range mobile devices; and low-power wide-area networks for small payloads over long distances, as in agriculture. Choice depends on power, range, and bandwidth.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9.16 highlights soil sensors that support continuous agriculture data. Farmers collect moisture, temperature, and related readings so irrigation and crop decisions can follow timely streams rather than infrequent manual tests. The example 16 module for this chapter summarizes continuous agricultural sensing.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IoT collection rests on sensing devices, connectivity, and edge or cloud processing. Wearables and industrial monitors show personal and plant-floor endpoints. Connectivity choices and soil networks illustrate how continuous streams replace sparse manual measurement in the field.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describes the IoT collection pipeline and the benefits of edge processing for latency, bandwidth, and local decisions such as thermostats, traffic lights, and logistics rerouting.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9 — IoT components and sensing</a:t>
            </a:r>
          </a:p>
          <a:p>
            <a:pPr algn="ctr">
              <a:lnSpc>
                <a:spcPts val="2200"/>
              </a:lnSpc>
              <a:spcBef>
                <a:spcPts val="1400"/>
              </a:spcBef>
            </a:pPr>
            <a:r>
              <a:rPr sz="2600" b="0">
                <a:solidFill>
                  <a:srgbClr val="333333"/>
                </a:solidFill>
                <a:latin typeface="Calibri"/>
              </a:rPr>
              <a:t>Crowdsourcing scales human labeling; the Internet of Things scales continuous measurement</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Iot Components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Iot Components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What the Internet of Things is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The Internet of Things is a network of physical devices that connect to the internet and</a:t>
            </a:r>
          </a:p>
          <a:p>
            <a:pPr lvl="0" marL="457200" indent="-228600">
              <a:buFont typeface="Calibri"/>
              <a:spcAft>
                <a:spcPts val="1000"/>
              </a:spcAft>
              <a:buSzPct val="100000"/>
              <a:buChar char="•"/>
              <a:lnSpc>
                <a:spcPts val="2200"/>
              </a:lnSpc>
            </a:pPr>
            <a:r>
              <a:rPr sz="2000" b="0">
                <a:solidFill>
                  <a:srgbClr val="333333"/>
                </a:solidFill>
                <a:latin typeface="Calibri"/>
              </a:rPr>
              <a:t>Smart-city systems</a:t>
            </a:r>
          </a:p>
          <a:p>
            <a:pPr lvl="0" marL="457200" indent="-228600">
              <a:buFont typeface="Calibri"/>
              <a:spcAft>
                <a:spcPts val="1000"/>
              </a:spcAft>
              <a:buSzPct val="100000"/>
              <a:buChar char="•"/>
              <a:lnSpc>
                <a:spcPts val="2200"/>
              </a:lnSpc>
            </a:pPr>
            <a:r>
              <a:rPr sz="2000" b="0">
                <a:solidFill>
                  <a:srgbClr val="333333"/>
                </a:solidFill>
                <a:latin typeface="Calibri"/>
              </a:rPr>
              <a:t>Objects collect, share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Iot Components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Core components: devices, connectivity, processing</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At its core, IoT combines things equipped with sensors or actuators</a:t>
            </a:r>
          </a:p>
          <a:p>
            <a:pPr lvl="0" marL="457200" indent="-228600">
              <a:buFont typeface="Calibri"/>
              <a:spcAft>
                <a:spcPts val="1000"/>
              </a:spcAft>
              <a:buSzPct val="100000"/>
              <a:buChar char="•"/>
              <a:lnSpc>
                <a:spcPts val="2200"/>
              </a:lnSpc>
            </a:pPr>
            <a:r>
              <a:rPr sz="2000" b="0">
                <a:solidFill>
                  <a:srgbClr val="333333"/>
                </a:solidFill>
                <a:latin typeface="Calibri"/>
              </a:rPr>
              <a:t>Devices capture measurements or perform actions</a:t>
            </a:r>
          </a:p>
          <a:p>
            <a:pPr lvl="0" marL="457200" indent="-228600">
              <a:buFont typeface="Calibri"/>
              <a:spcAft>
                <a:spcPts val="1000"/>
              </a:spcAft>
              <a:buSzPct val="100000"/>
              <a:buChar char="•"/>
              <a:lnSpc>
                <a:spcPts val="2200"/>
              </a:lnSpc>
            </a:pPr>
            <a:r>
              <a:rPr sz="2000" b="0">
                <a:solidFill>
                  <a:srgbClr val="333333"/>
                </a:solidFill>
                <a:latin typeface="Calibri"/>
              </a:rPr>
              <a:t>Networks carry those readings onward</a:t>
            </a:r>
          </a:p>
          <a:p>
            <a:pPr lvl="0" marL="457200" indent="-228600">
              <a:buFont typeface="Calibri"/>
              <a:spcAft>
                <a:spcPts val="1000"/>
              </a:spcAft>
              <a:buSzPct val="100000"/>
              <a:buChar char="•"/>
              <a:lnSpc>
                <a:spcPts val="2200"/>
              </a:lnSpc>
            </a:pPr>
            <a:r>
              <a:rPr sz="2000" b="0">
                <a:solidFill>
                  <a:srgbClr val="333333"/>
                </a:solidFill>
                <a:latin typeface="Calibri"/>
              </a:rPr>
              <a:t>Processing turns raw streams into decisions for users and automated systems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Iot Components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9.12 — Wearable Health Sensors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9.12 — hands-on module</a:t>
            </a:r>
          </a:p>
          <a:p>
            <a:pPr lvl="0" marL="457200" indent="-228600">
              <a:buFont typeface="Calibri"/>
              <a:spcAft>
                <a:spcPts val="1000"/>
              </a:spcAft>
              <a:buSzPct val="100000"/>
              <a:buChar char="•"/>
              <a:lnSpc>
                <a:spcPts val="2200"/>
              </a:lnSpc>
            </a:pPr>
            <a:r>
              <a:rPr sz="2000" b="0">
                <a:solidFill>
                  <a:srgbClr val="333333"/>
                </a:solidFill>
                <a:latin typeface="Calibri"/>
              </a:rPr>
              <a:t>Steps, and sleep</a:t>
            </a:r>
          </a:p>
          <a:p>
            <a:pPr lvl="0" marL="457200" indent="-228600">
              <a:buFont typeface="Calibri"/>
              <a:spcAft>
                <a:spcPts val="1000"/>
              </a:spcAft>
              <a:buSzPct val="100000"/>
              <a:buChar char="•"/>
              <a:lnSpc>
                <a:spcPts val="2200"/>
              </a:lnSpc>
            </a:pPr>
            <a:r>
              <a:rPr sz="2000" b="0">
                <a:solidFill>
                  <a:srgbClr val="333333"/>
                </a:solidFill>
                <a:latin typeface="Calibri"/>
              </a:rPr>
              <a:t>These endpoints illustrate everyday sensing that produces continuous personal health</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`modules/chapter9/example12/`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Iot Components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9.14 — Industrial Machine Monitoring</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9.14 — hands-on module</a:t>
            </a:r>
          </a:p>
          <a:p>
            <a:pPr lvl="0" marL="457200" indent="-228600">
              <a:buFont typeface="Calibri"/>
              <a:spcAft>
                <a:spcPts val="1000"/>
              </a:spcAft>
              <a:buSzPct val="100000"/>
              <a:buChar char="•"/>
              <a:lnSpc>
                <a:spcPts val="2200"/>
              </a:lnSpc>
            </a:pPr>
            <a:r>
              <a:rPr sz="2000" b="0">
                <a:solidFill>
                  <a:srgbClr val="333333"/>
                </a:solidFill>
                <a:latin typeface="Calibri"/>
              </a:rPr>
              <a:t>Predict maintenance needs</a:t>
            </a:r>
          </a:p>
          <a:p>
            <a:pPr lvl="0" marL="457200" indent="-228600">
              <a:buFont typeface="Calibri"/>
              <a:spcAft>
                <a:spcPts val="1000"/>
              </a:spcAft>
              <a:buSzPct val="100000"/>
              <a:buChar char="•"/>
              <a:lnSpc>
                <a:spcPts val="2200"/>
              </a:lnSpc>
            </a:pPr>
            <a:r>
              <a:rPr sz="2000" b="0">
                <a:solidFill>
                  <a:srgbClr val="333333"/>
                </a:solidFill>
                <a:latin typeface="Calibri"/>
              </a:rPr>
              <a:t>Industrial IoT therefore links sensing to operational reliability rather than only</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`modules/chapter9/example14/`</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Iot Components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Connectivity options for IoT transfer</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Devices need reliable links to gateways or cloud services</a:t>
            </a:r>
          </a:p>
          <a:p>
            <a:pPr lvl="0" marL="457200" indent="-228600">
              <a:buFont typeface="Calibri"/>
              <a:spcAft>
                <a:spcPts val="1000"/>
              </a:spcAft>
              <a:buSzPct val="100000"/>
              <a:buChar char="•"/>
              <a:lnSpc>
                <a:spcPts val="2200"/>
              </a:lnSpc>
            </a:pPr>
            <a:r>
              <a:rPr sz="2000" b="0">
                <a:solidFill>
                  <a:srgbClr val="333333"/>
                </a:solidFill>
                <a:latin typeface="Calibri"/>
              </a:rPr>
              <a:t>Common options include Wi-Fi for home and office devices</a:t>
            </a:r>
          </a:p>
          <a:p>
            <a:pPr lvl="0" marL="457200" indent="-228600">
              <a:buFont typeface="Calibri"/>
              <a:spcAft>
                <a:spcPts val="1000"/>
              </a:spcAft>
              <a:buSzPct val="100000"/>
              <a:buChar char="•"/>
              <a:lnSpc>
                <a:spcPts val="2200"/>
              </a:lnSpc>
            </a:pPr>
            <a:r>
              <a:rPr sz="2000" b="0">
                <a:solidFill>
                  <a:srgbClr val="333333"/>
                </a:solidFill>
                <a:latin typeface="Calibri"/>
              </a:rPr>
              <a:t>Choice depends on power, range, and bandwidth</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Iot Components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9.16 — Soil Sensors for Continuous Agriculture Data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9.16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9.16 highlights soil sensors that support continuous agriculture data</a:t>
            </a:r>
          </a:p>
          <a:p>
            <a:pPr lvl="0" marL="457200" indent="-228600">
              <a:buFont typeface="Calibri"/>
              <a:spcAft>
                <a:spcPts val="1000"/>
              </a:spcAft>
              <a:buSzPct val="100000"/>
              <a:buChar char="•"/>
              <a:lnSpc>
                <a:spcPts val="2200"/>
              </a:lnSpc>
            </a:pPr>
            <a:r>
              <a:rPr sz="2000" b="0">
                <a:solidFill>
                  <a:srgbClr val="333333"/>
                </a:solidFill>
                <a:latin typeface="Calibri"/>
              </a:rPr>
              <a:t>Farmers collect moisture, temperature</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`modules/chapter9/example16/`</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Iot Components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IoT collection rests on sensing devices, connectivity, and edge or cloud processing</a:t>
            </a:r>
          </a:p>
          <a:p>
            <a:pPr lvl="0" marL="457200" indent="-228600">
              <a:buFont typeface="Calibri"/>
              <a:spcAft>
                <a:spcPts val="1000"/>
              </a:spcAft>
              <a:buSzPct val="100000"/>
              <a:buChar char="•"/>
              <a:lnSpc>
                <a:spcPts val="2200"/>
              </a:lnSpc>
            </a:pPr>
            <a:r>
              <a:rPr sz="2000" b="0">
                <a:solidFill>
                  <a:srgbClr val="333333"/>
                </a:solidFill>
                <a:latin typeface="Calibri"/>
              </a:rPr>
              <a:t>Wearables and industrial monitors show personal and plant-floor endpoints</a:t>
            </a:r>
          </a:p>
          <a:p>
            <a:pPr lvl="0" marL="457200" indent="-228600">
              <a:buFont typeface="Calibri"/>
              <a:spcAft>
                <a:spcPts val="1000"/>
              </a:spcAft>
              <a:buSzPct val="100000"/>
              <a:buChar char="•"/>
              <a:lnSpc>
                <a:spcPts val="2200"/>
              </a:lnSpc>
            </a:pPr>
            <a:r>
              <a:rPr sz="2000" b="0">
                <a:solidFill>
                  <a:srgbClr val="333333"/>
                </a:solidFill>
                <a:latin typeface="Calibri"/>
              </a:rPr>
              <a:t>Connectivity choices and soil networks illustrate how continuous streams replace sparse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Iot Components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Local decisions such as thermostats, traffic lights, and logistics rerouting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Iot Components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