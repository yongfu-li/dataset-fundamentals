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sensor streams overwhelm networks if everything ships to the cloud. This part describes the IoT collection pipeline and the benefits of edge processing for latency, bandwidth, and local decisions such as thermostats, traffic lights, and logistics rerouting.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outline stages of an IoT data pipeline; explain edge computing benefits for latency, bandwidth, and reliability; and apply those ideas to thermostat sensing, traffic-light control, and real-time logistics rerouting.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IoT pipeline typically moves through data generation at the sensor; transmission to a gateway or cloud; processing first at the edge and then centrally; and storage with analytics that share insights with users or automated systems. Each stage must be designed so volume and delay do not erase the value of continuous sensing.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9.17 gives a minimal sensing vignette: a smart thermostat records temperature in a room. That local reading is the generation step before gateway or cloud processing. Open the example 17 module for this chapter to situate local sensing at the start of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computing processes data at or near the device, often on local servers, before sending results to the cloud. Doing so reduces load on central servers and shortens delay for real-time decisions. Transmission may still use Wi-Fi, Bluetooth, or cellular links, but not every raw sample must travel unmodified.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closer to the source cuts latency for time-sensitive applications. Sending only relevant or pre-processed data optimizes bandwidth and cost. Edge devices can also keep working when connectivity drops, syncing later when the link returns. Together these benefits make continuous IoT collection operationally viable.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9.18 shows smart traffic systems that process camera and sensor data at the edge to adjust lights in real time without waiting on a distant cloud round trip. Local decisions keep control loops tight. The example 18 module for this chapter highlights that near-real-time traffic control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9.19 applies IoT tracking to logistics: delivery trucks are monitored in real time and rerouted using traffic data to improve fuel use and delivery times. Timely sensing plus responsive processing turns location streams into operational decisions. The example 19 module for this chapter summarizes that rerouting advantage.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pipelines span generation, transmission, edge and cloud processing, and analytics. Edge computing improves latency, bandwidth use, and offline resilience. Thermostats, traffic lights, and logistics rerouting show why local processing matters for timely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scalability, security, and privacy challenges in IoT collection, smart-city multi-source designs, and ethical concerns including consent and managing data overload.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Edge computing and the IoT pipeline</a:t>
            </a:r>
          </a:p>
          <a:p>
            <a:pPr algn="ctr">
              <a:lnSpc>
                <a:spcPts val="2200"/>
              </a:lnSpc>
              <a:spcBef>
                <a:spcPts val="1400"/>
              </a:spcBef>
            </a:pPr>
            <a:r>
              <a:rPr sz="2600" b="0">
                <a:solidFill>
                  <a:srgbClr val="333333"/>
                </a:solidFill>
                <a:latin typeface="Calibri"/>
              </a:rPr>
              <a:t>Raw sensor streams overwhelm networks if everything ships to the cloud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outline stages of an IoT data pipeline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Pipeline stages from generation to analytics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 IoT pipeline typically moves through data generation at the sensor</a:t>
            </a:r>
          </a:p>
          <a:p>
            <a:pPr lvl="0" marL="457200" indent="-228600">
              <a:buFont typeface="Calibri"/>
              <a:spcAft>
                <a:spcPts val="1000"/>
              </a:spcAft>
              <a:buSzPct val="100000"/>
              <a:buChar char="•"/>
              <a:lnSpc>
                <a:spcPts val="2200"/>
              </a:lnSpc>
            </a:pPr>
            <a:r>
              <a:rPr sz="2000" b="0">
                <a:solidFill>
                  <a:srgbClr val="333333"/>
                </a:solidFill>
                <a:latin typeface="Calibri"/>
              </a:rPr>
              <a:t>Each stage must be designed so volume and delay do not erase the value of continuous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9.17 — Smart Thermostat Local Reading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9.17 gives a minimal sensing vignette</a:t>
            </a:r>
          </a:p>
          <a:p>
            <a:pPr lvl="0" marL="457200" indent="-228600">
              <a:buFont typeface="Calibri"/>
              <a:spcAft>
                <a:spcPts val="1000"/>
              </a:spcAft>
              <a:buSzPct val="100000"/>
              <a:buChar char="•"/>
              <a:lnSpc>
                <a:spcPts val="2200"/>
              </a:lnSpc>
            </a:pPr>
            <a:r>
              <a:rPr sz="2000" b="0">
                <a:solidFill>
                  <a:srgbClr val="333333"/>
                </a:solidFill>
                <a:latin typeface="Calibri"/>
              </a:rPr>
              <a:t>That local reading is the generation step before gateway or cloud processing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 processing in the pipeline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Edge computing processes data at or near the device</a:t>
            </a:r>
          </a:p>
          <a:p>
            <a:pPr lvl="0" marL="457200" indent="-228600">
              <a:buFont typeface="Calibri"/>
              <a:spcAft>
                <a:spcPts val="1000"/>
              </a:spcAft>
              <a:buSzPct val="100000"/>
              <a:buChar char="•"/>
              <a:lnSpc>
                <a:spcPts val="2200"/>
              </a:lnSpc>
            </a:pPr>
            <a:r>
              <a:rPr sz="2000" b="0">
                <a:solidFill>
                  <a:srgbClr val="333333"/>
                </a:solidFill>
                <a:latin typeface="Calibri"/>
              </a:rPr>
              <a:t>Doing so reduces load on central servers and shortens delay for real-time decisions</a:t>
            </a:r>
          </a:p>
          <a:p>
            <a:pPr lvl="0" marL="457200" indent="-228600">
              <a:buFont typeface="Calibri"/>
              <a:spcAft>
                <a:spcPts val="1000"/>
              </a:spcAft>
              <a:buSzPct val="100000"/>
              <a:buChar char="•"/>
              <a:lnSpc>
                <a:spcPts val="2200"/>
              </a:lnSpc>
            </a:pPr>
            <a:r>
              <a:rPr sz="2000" b="0">
                <a:solidFill>
                  <a:srgbClr val="333333"/>
                </a:solidFill>
                <a:latin typeface="Calibri"/>
              </a:rPr>
              <a:t>Transmission may still use Wi-Fi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Benefits: latency, bandwidth, reliability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Processing closer to the source cuts latency for time-sensitive applications</a:t>
            </a:r>
          </a:p>
          <a:p>
            <a:pPr lvl="0" marL="457200" indent="-228600">
              <a:buFont typeface="Calibri"/>
              <a:spcAft>
                <a:spcPts val="1000"/>
              </a:spcAft>
              <a:buSzPct val="100000"/>
              <a:buChar char="•"/>
              <a:lnSpc>
                <a:spcPts val="2200"/>
              </a:lnSpc>
            </a:pPr>
            <a:r>
              <a:rPr sz="2000" b="0">
                <a:solidFill>
                  <a:srgbClr val="333333"/>
                </a:solidFill>
                <a:latin typeface="Calibri"/>
              </a:rPr>
              <a:t>Sending only relevant or pre-processed data optimizes bandwidth and cost</a:t>
            </a:r>
          </a:p>
          <a:p>
            <a:pPr lvl="0" marL="457200" indent="-228600">
              <a:buFont typeface="Calibri"/>
              <a:spcAft>
                <a:spcPts val="1000"/>
              </a:spcAft>
              <a:buSzPct val="100000"/>
              <a:buChar char="•"/>
              <a:lnSpc>
                <a:spcPts val="2200"/>
              </a:lnSpc>
            </a:pPr>
            <a:r>
              <a:rPr sz="2000" b="0">
                <a:solidFill>
                  <a:srgbClr val="333333"/>
                </a:solidFill>
                <a:latin typeface="Calibri"/>
              </a:rPr>
              <a:t>Edge devices can also keep working when connectivity drops</a:t>
            </a:r>
          </a:p>
          <a:p>
            <a:pPr lvl="0" marL="457200" indent="-228600">
              <a:buFont typeface="Calibri"/>
              <a:spcAft>
                <a:spcPts val="1000"/>
              </a:spcAft>
              <a:buSzPct val="100000"/>
              <a:buChar char="•"/>
              <a:lnSpc>
                <a:spcPts val="2200"/>
              </a:lnSpc>
            </a:pPr>
            <a:r>
              <a:rPr sz="2000" b="0">
                <a:solidFill>
                  <a:srgbClr val="333333"/>
                </a:solidFill>
                <a:latin typeface="Calibri"/>
              </a:rPr>
              <a:t>Together these benefits make continuous IoT collection operationally viable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9.18 — Edge Processing for Traffic Lights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9.18 shows smart traffic systems that process camera and sensor data at the edge</a:t>
            </a:r>
          </a:p>
          <a:p>
            <a:pPr lvl="0" marL="457200" indent="-228600">
              <a:buFont typeface="Calibri"/>
              <a:spcAft>
                <a:spcPts val="1000"/>
              </a:spcAft>
              <a:buSzPct val="100000"/>
              <a:buChar char="•"/>
              <a:lnSpc>
                <a:spcPts val="2200"/>
              </a:lnSpc>
            </a:pPr>
            <a:r>
              <a:rPr sz="2000" b="0">
                <a:solidFill>
                  <a:srgbClr val="333333"/>
                </a:solidFill>
                <a:latin typeface="Calibri"/>
              </a:rPr>
              <a:t>Local decisions keep control loops tight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9.19 — Real-Time Logistics Rerouting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9.19 applies IoT tracking to logistics</a:t>
            </a:r>
          </a:p>
          <a:p>
            <a:pPr lvl="0" marL="457200" indent="-228600">
              <a:buFont typeface="Calibri"/>
              <a:spcAft>
                <a:spcPts val="1000"/>
              </a:spcAft>
              <a:buSzPct val="100000"/>
              <a:buChar char="•"/>
              <a:lnSpc>
                <a:spcPts val="2200"/>
              </a:lnSpc>
            </a:pPr>
            <a:r>
              <a:rPr sz="2000" b="0">
                <a:solidFill>
                  <a:srgbClr val="333333"/>
                </a:solidFill>
                <a:latin typeface="Calibri"/>
              </a:rPr>
              <a:t>Timely sensing plus responsive processing turns location streams into operational</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IoT pipelines span generation, transmission, edge and cloud processing, and analytics</a:t>
            </a:r>
          </a:p>
          <a:p>
            <a:pPr lvl="0" marL="457200" indent="-228600">
              <a:buFont typeface="Calibri"/>
              <a:spcAft>
                <a:spcPts val="1000"/>
              </a:spcAft>
              <a:buSzPct val="100000"/>
              <a:buChar char="•"/>
              <a:lnSpc>
                <a:spcPts val="2200"/>
              </a:lnSpc>
            </a:pPr>
            <a:r>
              <a:rPr sz="2000" b="0">
                <a:solidFill>
                  <a:srgbClr val="333333"/>
                </a:solidFill>
                <a:latin typeface="Calibri"/>
              </a:rPr>
              <a:t>Edge computing improves latency, bandwidth use, and offline resilience</a:t>
            </a:r>
          </a:p>
          <a:p>
            <a:pPr lvl="0" marL="457200" indent="-228600">
              <a:buFont typeface="Calibri"/>
              <a:spcAft>
                <a:spcPts val="1000"/>
              </a:spcAft>
              <a:buSzPct val="100000"/>
              <a:buChar char="•"/>
              <a:lnSpc>
                <a:spcPts val="2200"/>
              </a:lnSpc>
            </a:pPr>
            <a:r>
              <a:rPr sz="2000" b="0">
                <a:solidFill>
                  <a:srgbClr val="333333"/>
                </a:solidFill>
                <a:latin typeface="Calibri"/>
              </a:rPr>
              <a:t>Thermostats, traffic lights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scalability, security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Edge Computing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