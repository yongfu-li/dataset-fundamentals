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covered surveys, sampling, and small-scale collection. This chapter asks what changes when evidence must arrive continuously, from many devices, or at volumes no spreadsheet can hold. Advanced techniques—crowdsourcing, Internet of Things sensing, and streaming pipelines—extend decision-focused design rather than replace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when traditional collection pipelines hit scale, reliability, and cost limits; state why heterogeneous sources demand continuous rather than one-shot collection; and connect advanced methods to the same decision-making purpose that anchors smaller surveys.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Advanced collection is not an excuse to gather everything. Teams still need the right evidence for a concrete action. Crowdsourcing, sensors, and streams exist so that purpose can survive larger scale, higher velocity, and more diverse formats without losing the link between measurement and decision.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9.1 considers a product team that may still begin with customer-satisfaction surveys. Once the same questions must be answered continuously across regions, channels, and product lines, survey logistics alone cannot keep up. Advanced methods preserve that decision-making goal at larger scale. Open the example 1 module for this chapter to review the scenario takeaways.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collection often fails on three fronts: scalability, reliability, and cost. Paper and interview workflows grow expensive as samples expand; human observers introduce inconsistency; and longitudinal studies multiply travel and personnel costs. Those limits motivate the techniques developed later in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9.2 shows how paper surveys fail to scale with sample size. Distribution, collection, and processing become exponentially harder as more respondents are added. The lesson is operational: when turnaround and volume matter, manual logistics break first. The example 2 module for this chapter summarizes the same scalability rationale.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scale and cost, modern projects must ingest sensors, social feeds, web analytics, enterprise logs, and multimedia. These sources differ in structure, arrive at high velocity, and often require continuous rather than one-shot collection. Quality assurance therefore depends on declared crawl windows, stable identifiers, and refresh practices that keep longitudinal work comparable.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9.5 shows wearables as continuous health sources that traditional clinic visits and paper records cannot match. Fitness trackers and smartwatches stream heart rate, activity, and sleep at a temporal resolution periodic visits cannot provide. The example 5 module for this chapter frames that continuous-sensing contrast.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Advanced collection extends Chapter 2 when data grow too large, too fast, or too heterogeneous for surveys and small databases alone. Decision focus remains the design goal. Crowdsourcing, IoT and edge sensing, and big-data streaming pipelines address scale, reliability, cost, variety, and timely processing.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defines crowdsourcing and walks use cases from fraud-pattern review and innovation contests to microtask image tagging on crowd platforms.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9 — From fundamentals to advanced collection</a:t>
            </a:r>
          </a:p>
          <a:p>
            <a:pPr algn="ctr">
              <a:lnSpc>
                <a:spcPts val="2200"/>
              </a:lnSpc>
              <a:spcBef>
                <a:spcPts val="1400"/>
              </a:spcBef>
            </a:pPr>
            <a:r>
              <a:rPr sz="2600" b="0">
                <a:solidFill>
                  <a:srgbClr val="333333"/>
                </a:solidFill>
                <a:latin typeface="Calibri"/>
              </a:rPr>
              <a:t>Chapter 2 covered surveys, sampling, and small-scale collection</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From Fundamentals To Advanced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From Fundamentals To Advanced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Decision focus still anchors advanced pipelines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Advanced collection is not an excuse to gather everything</a:t>
            </a:r>
          </a:p>
          <a:p>
            <a:pPr>
              <a:spcAft>
                <a:spcPts val="1000"/>
              </a:spcAft>
              <a:buChar char="•"/>
              <a:lnSpc>
                <a:spcPts val="2200"/>
              </a:lnSpc>
            </a:pPr>
            <a:r>
              <a:rPr sz="2000" b="0">
                <a:solidFill>
                  <a:srgbClr val="333333"/>
                </a:solidFill>
                <a:latin typeface="Calibri"/>
              </a:rPr>
              <a:t>Teams still need the right evidence for a concrete action</a:t>
            </a:r>
          </a:p>
          <a:p>
            <a:pPr>
              <a:spcAft>
                <a:spcPts val="1000"/>
              </a:spcAft>
              <a:buChar char="•"/>
              <a:lnSpc>
                <a:spcPts val="2200"/>
              </a:lnSpc>
            </a:pPr>
            <a:r>
              <a:rPr sz="2000" b="0">
                <a:solidFill>
                  <a:srgbClr val="333333"/>
                </a:solidFill>
                <a:latin typeface="Calibri"/>
              </a:rPr>
              <a:t>Crowdsourcing, sensors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From Fundamentals To Advanced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9.1 — Customer Sentiment Survey for Decisions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9.1 — hands-on module</a:t>
            </a:r>
          </a:p>
          <a:p>
            <a:pPr>
              <a:spcAft>
                <a:spcPts val="1000"/>
              </a:spcAft>
              <a:buChar char="•"/>
              <a:lnSpc>
                <a:spcPts val="2200"/>
              </a:lnSpc>
            </a:pPr>
            <a:r>
              <a:rPr sz="2000" b="0">
                <a:solidFill>
                  <a:srgbClr val="333333"/>
                </a:solidFill>
                <a:latin typeface="Calibri"/>
              </a:rPr>
              <a:t>Example 9.1 considers a product team that may still begin with customer-satisfaction</a:t>
            </a:r>
          </a:p>
          <a:p>
            <a:pPr>
              <a:spcAft>
                <a:spcPts val="1000"/>
              </a:spcAft>
              <a:buChar char="•"/>
              <a:lnSpc>
                <a:spcPts val="2200"/>
              </a:lnSpc>
            </a:pPr>
            <a:r>
              <a:rPr sz="2000" b="0">
                <a:solidFill>
                  <a:srgbClr val="333333"/>
                </a:solidFill>
                <a:latin typeface="Calibri"/>
              </a:rPr>
              <a:t>Once the same questions must be answered continuously across regions, channels</a:t>
            </a:r>
          </a:p>
          <a:p>
            <a:pPr>
              <a:spcAft>
                <a:spcPts val="1000"/>
              </a:spcAft>
              <a:buChar char="•"/>
              <a:lnSpc>
                <a:spcPts val="2200"/>
              </a:lnSpc>
            </a:pPr>
            <a:r>
              <a:rPr sz="2000" b="0">
                <a:solidFill>
                  <a:srgbClr val="333333"/>
                </a:solidFill>
                <a:latin typeface="Calibri"/>
              </a:rPr>
              <a:t>Advanced methods preserve that decision-making goal at larger scale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From Fundamentals To Advanced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traditional pipelines hit limits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Traditional collection often fails on three fronts: scalability, reliability, and cost</a:t>
            </a:r>
          </a:p>
          <a:p>
            <a:pPr>
              <a:spcAft>
                <a:spcPts val="1000"/>
              </a:spcAft>
              <a:buChar char="•"/>
              <a:lnSpc>
                <a:spcPts val="2200"/>
              </a:lnSpc>
            </a:pPr>
            <a:r>
              <a:rPr sz="2000" b="0">
                <a:solidFill>
                  <a:srgbClr val="333333"/>
                </a:solidFill>
                <a:latin typeface="Calibri"/>
              </a:rPr>
              <a:t>Paper and interview workflows grow expensive as samples expand</a:t>
            </a:r>
          </a:p>
          <a:p>
            <a:pPr>
              <a:spcAft>
                <a:spcPts val="1000"/>
              </a:spcAft>
              <a:buChar char="•"/>
              <a:lnSpc>
                <a:spcPts val="2200"/>
              </a:lnSpc>
            </a:pPr>
            <a:r>
              <a:rPr sz="2000" b="0">
                <a:solidFill>
                  <a:srgbClr val="333333"/>
                </a:solidFill>
                <a:latin typeface="Calibri"/>
              </a:rPr>
              <a:t>Those limits motivate the techniques developed later in this chapter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From Fundamentals To Advanced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9.2 — Paper Surveys and Scalability Limits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9.2 — hands-on module</a:t>
            </a:r>
          </a:p>
          <a:p>
            <a:pPr>
              <a:spcAft>
                <a:spcPts val="1000"/>
              </a:spcAft>
              <a:buChar char="•"/>
              <a:lnSpc>
                <a:spcPts val="2200"/>
              </a:lnSpc>
            </a:pPr>
            <a:r>
              <a:rPr sz="2000" b="0">
                <a:solidFill>
                  <a:srgbClr val="333333"/>
                </a:solidFill>
                <a:latin typeface="Calibri"/>
              </a:rPr>
              <a:t>Example 9.2 shows how paper surveys fail to scale with sample size</a:t>
            </a:r>
          </a:p>
          <a:p>
            <a:pPr>
              <a:spcAft>
                <a:spcPts val="1000"/>
              </a:spcAft>
              <a:buChar char="•"/>
              <a:lnSpc>
                <a:spcPts val="2200"/>
              </a:lnSpc>
            </a:pPr>
            <a:r>
              <a:rPr sz="2000" b="0">
                <a:solidFill>
                  <a:srgbClr val="333333"/>
                </a:solidFill>
                <a:latin typeface="Calibri"/>
              </a:rPr>
              <a:t>Distribution, collection</a:t>
            </a:r>
          </a:p>
          <a:p>
            <a:pPr>
              <a:spcAft>
                <a:spcPts val="1000"/>
              </a:spcAft>
              <a:buChar char="•"/>
              <a:lnSpc>
                <a:spcPts val="2200"/>
              </a:lnSpc>
            </a:pPr>
            <a:r>
              <a:rPr sz="2000" b="0">
                <a:solidFill>
                  <a:srgbClr val="333333"/>
                </a:solidFill>
                <a:latin typeface="Calibri"/>
              </a:rPr>
              <a:t>The lesson is operational: when turnaround and volume matter, manual logistics break first</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From Fundamentals To Advanced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Heterogeneous sources and continuous streams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Beyond scale and cost</a:t>
            </a:r>
          </a:p>
          <a:p>
            <a:pPr>
              <a:spcAft>
                <a:spcPts val="1000"/>
              </a:spcAft>
              <a:buChar char="•"/>
              <a:lnSpc>
                <a:spcPts val="2200"/>
              </a:lnSpc>
            </a:pPr>
            <a:r>
              <a:rPr sz="2000" b="0">
                <a:solidFill>
                  <a:srgbClr val="333333"/>
                </a:solidFill>
                <a:latin typeface="Calibri"/>
              </a:rPr>
              <a:t>These sources differ in structure, arrive at high velocity</a:t>
            </a:r>
          </a:p>
          <a:p>
            <a:pPr>
              <a:spcAft>
                <a:spcPts val="1000"/>
              </a:spcAft>
              <a:buChar char="•"/>
              <a:lnSpc>
                <a:spcPts val="2200"/>
              </a:lnSpc>
            </a:pPr>
            <a:r>
              <a:rPr sz="2000" b="0">
                <a:solidFill>
                  <a:srgbClr val="333333"/>
                </a:solidFill>
                <a:latin typeface="Calibri"/>
              </a:rPr>
              <a:t>Quality assurance therefore depends on declared crawl windows, stable identifiers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From Fundamentals To Advanced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9.5 — Wearables as Continuous Health Data Sources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9.5 — hands-on module</a:t>
            </a:r>
          </a:p>
          <a:p>
            <a:pPr>
              <a:spcAft>
                <a:spcPts val="1000"/>
              </a:spcAft>
              <a:buChar char="•"/>
              <a:lnSpc>
                <a:spcPts val="2200"/>
              </a:lnSpc>
            </a:pPr>
            <a:r>
              <a:rPr sz="2000" b="0">
                <a:solidFill>
                  <a:srgbClr val="333333"/>
                </a:solidFill>
                <a:latin typeface="Calibri"/>
              </a:rPr>
              <a:t>Example 9.5 shows wearables as continuous health sources that traditional clinic visits</a:t>
            </a:r>
          </a:p>
          <a:p>
            <a:pPr>
              <a:spcAft>
                <a:spcPts val="1000"/>
              </a:spcAft>
              <a:buChar char="•"/>
              <a:lnSpc>
                <a:spcPts val="2200"/>
              </a:lnSpc>
            </a:pPr>
            <a:r>
              <a:rPr sz="2000" b="0">
                <a:solidFill>
                  <a:srgbClr val="333333"/>
                </a:solidFill>
                <a:latin typeface="Calibri"/>
              </a:rPr>
              <a:t>Fitness trackers and smartwatches stream heart rate, activity</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From Fundamentals To Advanced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Advanced collection extends Chapter 2 when data grow too large</a:t>
            </a:r>
          </a:p>
          <a:p>
            <a:pPr>
              <a:spcAft>
                <a:spcPts val="1000"/>
              </a:spcAft>
              <a:buChar char="•"/>
              <a:lnSpc>
                <a:spcPts val="2200"/>
              </a:lnSpc>
            </a:pPr>
            <a:r>
              <a:rPr sz="2000" b="0">
                <a:solidFill>
                  <a:srgbClr val="333333"/>
                </a:solidFill>
                <a:latin typeface="Calibri"/>
              </a:rPr>
              <a:t>Decision focus remains the design goal</a:t>
            </a:r>
          </a:p>
          <a:p>
            <a:pPr>
              <a:spcAft>
                <a:spcPts val="1000"/>
              </a:spcAft>
              <a:buChar char="•"/>
              <a:lnSpc>
                <a:spcPts val="2200"/>
              </a:lnSpc>
            </a:pPr>
            <a:r>
              <a:rPr sz="2000" b="0">
                <a:solidFill>
                  <a:srgbClr val="333333"/>
                </a:solidFill>
                <a:latin typeface="Calibri"/>
              </a:rPr>
              <a:t>Crowdsourcing, IoT and edge sensing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From Fundamentals To Advanced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defines crowdsourcing and walks use cases from fraud-pattern review and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From Fundamentals To Advanced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