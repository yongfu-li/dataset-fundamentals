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Platforms alone do not guarantee usable labels. This part covers advantages and failure modes of crowdsourcing, best practices for instructions and quality checks, and ethical obligations around fair pay, privacy, and precarious microtask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list major advantages of crowdsourcing; identify quality, privacy, and labor challenges; apply best practices such as clear instructions, gold-standard checks, fair incentives, and reputation filters; and state ethical concerns including pay, exploitation, and data security.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Crowdsourcing can be cost-effective by outsourcing units of work without full-time headcount. Access to thousands of workers supports speed and scale so projects that once took months can finish in days. A global talent pool brings diverse perspectives, and requesters can flex capacity up or down with pilots before expanding.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control is hard when many individuals contribute: inconsistency, error, and bias appear without oversight. Sharing sensitive data with third parties raises security, privacy, and compliance concerns such as GDPR. Ethically, very low pay and job insecurity create exploitation risks for workers who depend on microtasks.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detailed instructions are critical so workers understand requirements and can complete tasks accurately. Validation mechanisms such as gold-standard questions—items with known answers embedded in the stream—help measure accuracy and reduce careless or malicious submissions before labels enter training sets.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 compensation and bonuses for complex or high-quality work motivate better performance. Reputation systems rate workers based on past quality; requesters should use those ratings when assigning tasks. Together, incentives and reputation filters improve consistency beyond relying on volume alone.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primary ethical concern is low pay—sometimes only cents per unit—accepted under limited local alternatives. The informal nature of microtask work often means no job security, benefits, or strong worker protections. Precarious conditions can become exploitation when effort and expertise are underpaid.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Crowdsourcing tasks may expose sensitive data to many workers. Organizations need security protocols, training, and regulatory compliance to limit breaches. Ethical design therefore pairs technical controls with fair labor practices rather than treating either concern as optional.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Crowdsourcing offers cost, speed, diversity, and flexibility, but quality and privacy do not come free. Best practices center on clear instructions, gold standards, fair incentives, and reputation. Ethical campaigns address fair pay, exploitation risk, and data security together with technical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shifts from human microtasks to continuous measurement: Internet of Things components—sensors, connectivity, and processing—with wearables, industrial monitors, and agricultural soil networks as motivating examples.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9 — Crowdsourcing quality and ethics</a:t>
            </a:r>
          </a:p>
          <a:p>
            <a:pPr algn="ctr">
              <a:lnSpc>
                <a:spcPts val="2200"/>
              </a:lnSpc>
              <a:spcBef>
                <a:spcPts val="1400"/>
              </a:spcBef>
            </a:pPr>
            <a:r>
              <a:rPr sz="2600" b="0">
                <a:solidFill>
                  <a:srgbClr val="333333"/>
                </a:solidFill>
                <a:latin typeface="Calibri"/>
              </a:rPr>
              <a:t>Platforms alone do not guarantee usable labels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Quality And Ethics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 learners should be able to list major advantages of crowdsourcing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Quality And Ethics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Advantages of crowdsourcing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Crowdsourcing can be cost-effective by outsourcing units of work without full-time</a:t>
            </a:r>
          </a:p>
          <a:p>
            <a:pPr lvl="0" marL="457200" indent="-228600">
              <a:buFont typeface="Calibri"/>
              <a:spcAft>
                <a:spcPts val="1000"/>
              </a:spcAft>
              <a:buSzPct val="100000"/>
              <a:buChar char="•"/>
              <a:lnSpc>
                <a:spcPts val="2200"/>
              </a:lnSpc>
            </a:pPr>
            <a:r>
              <a:rPr sz="2000" b="0">
                <a:solidFill>
                  <a:srgbClr val="333333"/>
                </a:solidFill>
                <a:latin typeface="Calibri"/>
              </a:rPr>
              <a:t>Access to thousands of workers supports speed and scale so projects that once took months</a:t>
            </a:r>
          </a:p>
          <a:p>
            <a:pPr lvl="0" marL="457200" indent="-228600">
              <a:buFont typeface="Calibri"/>
              <a:spcAft>
                <a:spcPts val="1000"/>
              </a:spcAft>
              <a:buSzPct val="100000"/>
              <a:buChar char="•"/>
              <a:lnSpc>
                <a:spcPts val="2200"/>
              </a:lnSpc>
            </a:pPr>
            <a:r>
              <a:rPr sz="2000" b="0">
                <a:solidFill>
                  <a:srgbClr val="333333"/>
                </a:solidFill>
                <a:latin typeface="Calibri"/>
              </a:rPr>
              <a:t>A global talent pool brings diverse perspectives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Quality And Ethics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Challenges: quality, privacy, and labor risk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Quality control is hard when many individuals contribute</a:t>
            </a:r>
          </a:p>
          <a:p>
            <a:pPr lvl="0" marL="457200" indent="-228600">
              <a:buFont typeface="Calibri"/>
              <a:spcAft>
                <a:spcPts val="1000"/>
              </a:spcAft>
              <a:buSzPct val="100000"/>
              <a:buChar char="•"/>
              <a:lnSpc>
                <a:spcPts val="2200"/>
              </a:lnSpc>
            </a:pPr>
            <a:r>
              <a:rPr sz="2000" b="0">
                <a:solidFill>
                  <a:srgbClr val="333333"/>
                </a:solidFill>
                <a:latin typeface="Calibri"/>
              </a:rPr>
              <a:t>Sharing sensitive data with third parties raises security, privacy</a:t>
            </a:r>
          </a:p>
          <a:p>
            <a:pPr lvl="0" marL="457200" indent="-228600">
              <a:buFont typeface="Calibri"/>
              <a:spcAft>
                <a:spcPts val="1000"/>
              </a:spcAft>
              <a:buSzPct val="100000"/>
              <a:buChar char="•"/>
              <a:lnSpc>
                <a:spcPts val="2200"/>
              </a:lnSpc>
            </a:pPr>
            <a:r>
              <a:rPr sz="2000" b="0">
                <a:solidFill>
                  <a:srgbClr val="333333"/>
                </a:solidFill>
                <a:latin typeface="Calibri"/>
              </a:rPr>
              <a:t>Ethically, very low pay and job insecurity create exploitation risks for workers who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Quality And Ethics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Best practices: instructions and validation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Clear, detailed instructions are critical so workers understand requirements and can</a:t>
            </a:r>
          </a:p>
          <a:p>
            <a:pPr lvl="0" marL="457200" indent="-228600">
              <a:buFont typeface="Calibri"/>
              <a:spcAft>
                <a:spcPts val="1000"/>
              </a:spcAft>
              <a:buSzPct val="100000"/>
              <a:buChar char="•"/>
              <a:lnSpc>
                <a:spcPts val="2200"/>
              </a:lnSpc>
            </a:pPr>
            <a:r>
              <a:rPr sz="2000" b="0">
                <a:solidFill>
                  <a:srgbClr val="333333"/>
                </a:solidFill>
                <a:latin typeface="Calibri"/>
              </a:rPr>
              <a:t>Validation mechanisms such as gold-standard questions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Quality And Ethics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Best practices: incentives and reputation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Fair compensation and bonuses for complex or high-quality work motivate better performance</a:t>
            </a:r>
          </a:p>
          <a:p>
            <a:pPr lvl="0" marL="457200" indent="-228600">
              <a:buFont typeface="Calibri"/>
              <a:spcAft>
                <a:spcPts val="1000"/>
              </a:spcAft>
              <a:buSzPct val="100000"/>
              <a:buChar char="•"/>
              <a:lnSpc>
                <a:spcPts val="2200"/>
              </a:lnSpc>
            </a:pPr>
            <a:r>
              <a:rPr sz="2000" b="0">
                <a:solidFill>
                  <a:srgbClr val="333333"/>
                </a:solidFill>
                <a:latin typeface="Calibri"/>
              </a:rPr>
              <a:t>Reputation systems rate workers based on past quality</a:t>
            </a:r>
          </a:p>
          <a:p>
            <a:pPr lvl="0" marL="457200" indent="-228600">
              <a:buFont typeface="Calibri"/>
              <a:spcAft>
                <a:spcPts val="1000"/>
              </a:spcAft>
              <a:buSzPct val="100000"/>
              <a:buChar char="•"/>
              <a:lnSpc>
                <a:spcPts val="2200"/>
              </a:lnSpc>
            </a:pPr>
            <a:r>
              <a:rPr sz="2000" b="0">
                <a:solidFill>
                  <a:srgbClr val="333333"/>
                </a:solidFill>
                <a:latin typeface="Calibri"/>
              </a:rPr>
              <a:t>Incentives and reputation filters improve consistency beyond relying on volume alone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Quality And Ethics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considerations: fair pay and exploitation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primary ethical concern is low pay</a:t>
            </a:r>
          </a:p>
          <a:p>
            <a:pPr lvl="0" marL="457200" indent="-228600">
              <a:buFont typeface="Calibri"/>
              <a:spcAft>
                <a:spcPts val="1000"/>
              </a:spcAft>
              <a:buSzPct val="100000"/>
              <a:buChar char="•"/>
              <a:lnSpc>
                <a:spcPts val="2200"/>
              </a:lnSpc>
            </a:pPr>
            <a:r>
              <a:rPr sz="2000" b="0">
                <a:solidFill>
                  <a:srgbClr val="333333"/>
                </a:solidFill>
                <a:latin typeface="Calibri"/>
              </a:rPr>
              <a:t>The informal nature of microtask work often means no job security</a:t>
            </a:r>
          </a:p>
          <a:p>
            <a:pPr lvl="0" marL="457200" indent="-228600">
              <a:buFont typeface="Calibri"/>
              <a:spcAft>
                <a:spcPts val="1000"/>
              </a:spcAft>
              <a:buSzPct val="100000"/>
              <a:buChar char="•"/>
              <a:lnSpc>
                <a:spcPts val="2200"/>
              </a:lnSpc>
            </a:pPr>
            <a:r>
              <a:rPr sz="2000" b="0">
                <a:solidFill>
                  <a:srgbClr val="333333"/>
                </a:solidFill>
                <a:latin typeface="Calibri"/>
              </a:rPr>
              <a:t>Precarious conditions can become exploitation when effort and expertise are underpaid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Quality And Ethics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considerations: privacy and security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Crowdsourcing tasks may expose sensitive data to many workers</a:t>
            </a:r>
          </a:p>
          <a:p>
            <a:pPr lvl="0" marL="457200" indent="-228600">
              <a:buFont typeface="Calibri"/>
              <a:spcAft>
                <a:spcPts val="1000"/>
              </a:spcAft>
              <a:buSzPct val="100000"/>
              <a:buChar char="•"/>
              <a:lnSpc>
                <a:spcPts val="2200"/>
              </a:lnSpc>
            </a:pPr>
            <a:r>
              <a:rPr sz="2000" b="0">
                <a:solidFill>
                  <a:srgbClr val="333333"/>
                </a:solidFill>
                <a:latin typeface="Calibri"/>
              </a:rPr>
              <a:t>Organizations need security protocols, training</a:t>
            </a:r>
          </a:p>
          <a:p>
            <a:pPr lvl="0" marL="457200" indent="-228600">
              <a:buFont typeface="Calibri"/>
              <a:spcAft>
                <a:spcPts val="1000"/>
              </a:spcAft>
              <a:buSzPct val="100000"/>
              <a:buChar char="•"/>
              <a:lnSpc>
                <a:spcPts val="2200"/>
              </a:lnSpc>
            </a:pPr>
            <a:r>
              <a:rPr sz="2000" b="0">
                <a:solidFill>
                  <a:srgbClr val="333333"/>
                </a:solidFill>
                <a:latin typeface="Calibri"/>
              </a:rPr>
              <a:t>Ethical design therefore pairs technical controls with fair labor practices rather than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Quality And Ethics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Crowdsourcing offers cost, speed, diversity</a:t>
            </a:r>
          </a:p>
          <a:p>
            <a:pPr lvl="0" marL="457200" indent="-228600">
              <a:buFont typeface="Calibri"/>
              <a:spcAft>
                <a:spcPts val="1000"/>
              </a:spcAft>
              <a:buSzPct val="100000"/>
              <a:buChar char="•"/>
              <a:lnSpc>
                <a:spcPts val="2200"/>
              </a:lnSpc>
            </a:pPr>
            <a:r>
              <a:rPr sz="2000" b="0">
                <a:solidFill>
                  <a:srgbClr val="333333"/>
                </a:solidFill>
                <a:latin typeface="Calibri"/>
              </a:rPr>
              <a:t>Best practices center on clear instructions, gold standards, fair incentives</a:t>
            </a:r>
          </a:p>
          <a:p>
            <a:pPr lvl="0" marL="457200" indent="-228600">
              <a:buFont typeface="Calibri"/>
              <a:spcAft>
                <a:spcPts val="1000"/>
              </a:spcAft>
              <a:buSzPct val="100000"/>
              <a:buChar char="•"/>
              <a:lnSpc>
                <a:spcPts val="2200"/>
              </a:lnSpc>
            </a:pPr>
            <a:r>
              <a:rPr sz="2000" b="0">
                <a:solidFill>
                  <a:srgbClr val="333333"/>
                </a:solidFill>
                <a:latin typeface="Calibri"/>
              </a:rPr>
              <a:t>Ethical campaigns address fair pay, exploitation risk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Quality And Ethics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shifts from human microtasks to continuous measurement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Quality And Ethics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