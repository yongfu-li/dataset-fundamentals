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IoT and social platforms produce volume and velocity that traditional databases cannot absorb alone. This part defines big-data characteristics, filtering noisy streams, and distributed systems that support continuous stock, sensor, and social feeds.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part, learners should be able to characterize volume, velocity, variety, veracity, and value; explain why social streams need noise filtering; and describe streaming data and distributed processing with technologies such as Hadoop and Kafka.</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Big data refers to extremely large, complex datasets beyond conventional processing tools. Classic dimensions include volume—the sheer size of the corpus; velocity—the speed of generation and processing; variety—structured, semi-structured, and unstructured formats; veracity—reliability of the data; and value—useful insights, not mere accumulation.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9.23 illustrates volume: social platforms, sensors, and internet transactions can reach petabyte scale—a petabyte being a million gigabytes—or more. At that size, collection design must assume distributed storage and processing from the start. Open the example 23 module for this chapter to review the volume framing.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Velocity rises with IoT, social, and financial streams that demand rapid processing for timely decisions. Variety spans spreadsheets, JSON, XML, posts, video, and images. Veracity is hard to assess at scale. Value reminds teams that collecting volume without extractable insight wastes infrastructure and attention.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9.24 shows why social streams need filtering: posts often contain noise or irrelevant content that must be removed before insights are meaningful. Collection pipelines therefore include quality gates, not only ingest. The example 24 module for this chapter summarizes noise filtering as a veracity practice.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Streaming data is generated continuously and must be processed as it arrives. Unlike batch workflows that store first and analyze later, streaming systems handle high-throughput flows in motion. Stock feeds, IoT readings, and social updates are typical sources that break one-shot collection assumptions.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9.25 lists common streaming sources: real-time stock market feeds, IoT sensor readings, and social media updates. Distributed systems split large datasets across machines so parallel processing can keep up. The example 25 module for this chapter ties those feeds to continuous ingestion design.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Big data is defined by volume, velocity, variety, veracity, and value—not size alone. Social noise filtering protects insight quality. Streaming plus distributed frameworks such as Hadoop and Kafka support continuous stock, sensor, and social collection at scale.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next part surveys collection challenges and tooling, then contrasts data lakes for mixed raw sources with data warehouses for structured business intelligence.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11064240" cy="2743200"/>
          </a:xfrm>
          <a:prstGeom prst="rect">
            <a:avLst/>
          </a:prstGeom>
          <a:noFill/>
        </p:spPr>
        <p:txBody>
          <a:bodyPr wrap="square">
            <a:noAutofit/>
          </a:bodyPr>
          <a:lstStyle/>
          <a:p>
            <a:pPr algn="ctr">
              <a:lnSpc>
                <a:spcPts val="2200"/>
              </a:lnSpc>
              <a:spcAft>
                <a:spcPts val="400"/>
              </a:spcAft>
            </a:pPr>
            <a:r>
              <a:rPr sz="4000" b="1">
                <a:solidFill>
                  <a:srgbClr val="1A1A2E"/>
                </a:solidFill>
                <a:latin typeface="Calibri"/>
              </a:rPr>
              <a:t>Chapter 9 — Big data and streaming</a:t>
            </a:r>
          </a:p>
          <a:p>
            <a:pPr algn="ctr">
              <a:lnSpc>
                <a:spcPts val="2200"/>
              </a:lnSpc>
              <a:spcBef>
                <a:spcPts val="1400"/>
              </a:spcBef>
            </a:pPr>
            <a:r>
              <a:rPr sz="2600" b="0">
                <a:solidFill>
                  <a:srgbClr val="333333"/>
                </a:solidFill>
                <a:latin typeface="Calibri"/>
              </a:rPr>
              <a:t>IoT and social platforms produce volume and velocity that traditional databases cannot absorb alone</a:t>
            </a:r>
          </a:p>
        </p:txBody>
      </p:sp>
      <p:sp>
        <p:nvSpPr>
          <p:cNvPr id="3" name="TextBox 2"/>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9 — Big Data And Streaming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By the end of this part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9 — Big Data And Streaming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Defining big data and the Vs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Big data refers to extremely large, complex datasets beyond conventional processing tools</a:t>
            </a:r>
          </a:p>
          <a:p>
            <a:pPr lvl="0" marL="457200" indent="-228600">
              <a:buFont typeface="Calibri"/>
              <a:spcAft>
                <a:spcPts val="1000"/>
              </a:spcAft>
              <a:buSzPct val="100000"/>
              <a:buChar char="•"/>
              <a:lnSpc>
                <a:spcPts val="2200"/>
              </a:lnSpc>
            </a:pPr>
            <a:r>
              <a:rPr sz="2000" b="0">
                <a:solidFill>
                  <a:srgbClr val="333333"/>
                </a:solidFill>
                <a:latin typeface="Calibri"/>
              </a:rPr>
              <a:t>Classic dimensions include volume, the sheer size of the corpus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9 — Big Data And Streaming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9.23 — Petabyte-Scale Social and Sensor Volume</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9.23 — hands-on module</a:t>
            </a:r>
          </a:p>
          <a:p>
            <a:pPr lvl="0" marL="457200" indent="-228600">
              <a:buFont typeface="Calibri"/>
              <a:spcAft>
                <a:spcPts val="1000"/>
              </a:spcAft>
              <a:buSzPct val="100000"/>
              <a:buChar char="•"/>
              <a:lnSpc>
                <a:spcPts val="2200"/>
              </a:lnSpc>
            </a:pPr>
            <a:r>
              <a:rPr sz="2000" b="0">
                <a:solidFill>
                  <a:srgbClr val="333333"/>
                </a:solidFill>
                <a:latin typeface="Calibri"/>
              </a:rPr>
              <a:t>Example 9.23 illustrates volume</a:t>
            </a:r>
          </a:p>
          <a:p>
            <a:pPr lvl="0" marL="457200" indent="-228600">
              <a:buFont typeface="Calibri"/>
              <a:spcAft>
                <a:spcPts val="1000"/>
              </a:spcAft>
              <a:buSzPct val="100000"/>
              <a:buChar char="•"/>
              <a:lnSpc>
                <a:spcPts val="2200"/>
              </a:lnSpc>
            </a:pPr>
            <a:r>
              <a:rPr sz="2000" b="0">
                <a:solidFill>
                  <a:srgbClr val="333333"/>
                </a:solidFill>
                <a:latin typeface="Calibri"/>
              </a:rPr>
              <a:t>At that size</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`modules/chapter9/example23/`</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9 — Big Data And Streaming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Velocity, variety, veracity, and value</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Velocity rises with IoT, social</a:t>
            </a:r>
          </a:p>
          <a:p>
            <a:pPr lvl="0" marL="457200" indent="-228600">
              <a:buFont typeface="Calibri"/>
              <a:spcAft>
                <a:spcPts val="1000"/>
              </a:spcAft>
              <a:buSzPct val="100000"/>
              <a:buChar char="•"/>
              <a:lnSpc>
                <a:spcPts val="2200"/>
              </a:lnSpc>
            </a:pPr>
            <a:r>
              <a:rPr sz="2000" b="0">
                <a:solidFill>
                  <a:srgbClr val="333333"/>
                </a:solidFill>
                <a:latin typeface="Calibri"/>
              </a:rPr>
              <a:t>Variety spans spreadsheets, JSON, XML, posts, video, and images</a:t>
            </a:r>
          </a:p>
          <a:p>
            <a:pPr lvl="0" marL="457200" indent="-228600">
              <a:buFont typeface="Calibri"/>
              <a:spcAft>
                <a:spcPts val="1000"/>
              </a:spcAft>
              <a:buSzPct val="100000"/>
              <a:buChar char="•"/>
              <a:lnSpc>
                <a:spcPts val="2200"/>
              </a:lnSpc>
            </a:pPr>
            <a:r>
              <a:rPr sz="2000" b="0">
                <a:solidFill>
                  <a:srgbClr val="333333"/>
                </a:solidFill>
                <a:latin typeface="Calibri"/>
              </a:rPr>
              <a:t>Veracity is hard to assess at scale</a:t>
            </a:r>
          </a:p>
          <a:p>
            <a:pPr lvl="0" marL="457200" indent="-228600">
              <a:buFont typeface="Calibri"/>
              <a:spcAft>
                <a:spcPts val="1000"/>
              </a:spcAft>
              <a:buSzPct val="100000"/>
              <a:buChar char="•"/>
              <a:lnSpc>
                <a:spcPts val="2200"/>
              </a:lnSpc>
            </a:pPr>
            <a:r>
              <a:rPr sz="2000" b="0">
                <a:solidFill>
                  <a:srgbClr val="333333"/>
                </a:solidFill>
                <a:latin typeface="Calibri"/>
              </a:rPr>
              <a:t>Value reminds teams that collecting volume without extractable insight wastes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9 — Big Data And Streaming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9.24 — Noise Filtering in Social Media Streams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9.24 — hands-on module</a:t>
            </a:r>
          </a:p>
          <a:p>
            <a:pPr lvl="0" marL="457200" indent="-228600">
              <a:buFont typeface="Calibri"/>
              <a:spcAft>
                <a:spcPts val="1000"/>
              </a:spcAft>
              <a:buSzPct val="100000"/>
              <a:buChar char="•"/>
              <a:lnSpc>
                <a:spcPts val="2200"/>
              </a:lnSpc>
            </a:pPr>
            <a:r>
              <a:rPr sz="2000" b="0">
                <a:solidFill>
                  <a:srgbClr val="333333"/>
                </a:solidFill>
                <a:latin typeface="Calibri"/>
              </a:rPr>
              <a:t>Example 9.24 shows why social streams need filtering</a:t>
            </a:r>
          </a:p>
          <a:p>
            <a:pPr lvl="0" marL="457200" indent="-228600">
              <a:buFont typeface="Calibri"/>
              <a:spcAft>
                <a:spcPts val="1000"/>
              </a:spcAft>
              <a:buSzPct val="100000"/>
              <a:buChar char="•"/>
              <a:lnSpc>
                <a:spcPts val="2200"/>
              </a:lnSpc>
            </a:pPr>
            <a:r>
              <a:rPr sz="2000" b="0">
                <a:solidFill>
                  <a:srgbClr val="333333"/>
                </a:solidFill>
                <a:latin typeface="Calibri"/>
              </a:rPr>
              <a:t>Collection pipelines therefore include quality gates, not only ingest</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`modules/chapter9/example24/`</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9 — Big Data And Streaming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Streaming data versus batch processing</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Streaming data is generated continuously and must be processed as it arrives</a:t>
            </a:r>
          </a:p>
          <a:p>
            <a:pPr lvl="0" marL="457200" indent="-228600">
              <a:buFont typeface="Calibri"/>
              <a:spcAft>
                <a:spcPts val="1000"/>
              </a:spcAft>
              <a:buSzPct val="100000"/>
              <a:buChar char="•"/>
              <a:lnSpc>
                <a:spcPts val="2200"/>
              </a:lnSpc>
            </a:pPr>
            <a:r>
              <a:rPr sz="2000" b="0">
                <a:solidFill>
                  <a:srgbClr val="333333"/>
                </a:solidFill>
                <a:latin typeface="Calibri"/>
              </a:rPr>
              <a:t>Streaming systems handle high-throughput flows in motion</a:t>
            </a:r>
          </a:p>
          <a:p>
            <a:pPr lvl="0" marL="457200" indent="-228600">
              <a:buFont typeface="Calibri"/>
              <a:spcAft>
                <a:spcPts val="1000"/>
              </a:spcAft>
              <a:buSzPct val="100000"/>
              <a:buChar char="•"/>
              <a:lnSpc>
                <a:spcPts val="2200"/>
              </a:lnSpc>
            </a:pPr>
            <a:r>
              <a:rPr sz="2000" b="0">
                <a:solidFill>
                  <a:srgbClr val="333333"/>
                </a:solidFill>
                <a:latin typeface="Calibri"/>
              </a:rPr>
              <a:t>Stock feeds, IoT readings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9 — Big Data And Streaming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9.25 — Streaming Stock Sensor and Social Feeds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9.25 — hands-on module</a:t>
            </a:r>
          </a:p>
          <a:p>
            <a:pPr lvl="0" marL="457200" indent="-228600">
              <a:buFont typeface="Calibri"/>
              <a:spcAft>
                <a:spcPts val="1000"/>
              </a:spcAft>
              <a:buSzPct val="100000"/>
              <a:buChar char="•"/>
              <a:lnSpc>
                <a:spcPts val="2200"/>
              </a:lnSpc>
            </a:pPr>
            <a:r>
              <a:rPr sz="2000" b="0">
                <a:solidFill>
                  <a:srgbClr val="333333"/>
                </a:solidFill>
                <a:latin typeface="Calibri"/>
              </a:rPr>
              <a:t>Example 9.25 lists common streaming sources</a:t>
            </a:r>
          </a:p>
          <a:p>
            <a:pPr lvl="0" marL="457200" indent="-228600">
              <a:buFont typeface="Calibri"/>
              <a:spcAft>
                <a:spcPts val="1000"/>
              </a:spcAft>
              <a:buSzPct val="100000"/>
              <a:buChar char="•"/>
              <a:lnSpc>
                <a:spcPts val="2200"/>
              </a:lnSpc>
            </a:pPr>
            <a:r>
              <a:rPr sz="2000" b="0">
                <a:solidFill>
                  <a:srgbClr val="333333"/>
                </a:solidFill>
                <a:latin typeface="Calibri"/>
              </a:rPr>
              <a:t>Distributed systems split large datasets across machines so parallel processing can keep</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`modules/chapter9/example25/`</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9 — Big Data And Streaming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Big data is defined by volume, velocity, variety, veracity, and value, not size alone</a:t>
            </a:r>
          </a:p>
          <a:p>
            <a:pPr lvl="0" marL="457200" indent="-228600">
              <a:buFont typeface="Calibri"/>
              <a:spcAft>
                <a:spcPts val="1000"/>
              </a:spcAft>
              <a:buSzPct val="100000"/>
              <a:buChar char="•"/>
              <a:lnSpc>
                <a:spcPts val="2200"/>
              </a:lnSpc>
            </a:pPr>
            <a:r>
              <a:rPr sz="2000" b="0">
                <a:solidFill>
                  <a:srgbClr val="333333"/>
                </a:solidFill>
                <a:latin typeface="Calibri"/>
              </a:rPr>
              <a:t>Social noise filtering protects insight quality</a:t>
            </a:r>
          </a:p>
          <a:p>
            <a:pPr lvl="0" marL="457200" indent="-228600">
              <a:buFont typeface="Calibri"/>
              <a:spcAft>
                <a:spcPts val="1000"/>
              </a:spcAft>
              <a:buSzPct val="100000"/>
              <a:buChar char="•"/>
              <a:lnSpc>
                <a:spcPts val="2200"/>
              </a:lnSpc>
            </a:pPr>
            <a:r>
              <a:rPr sz="2000" b="0">
                <a:solidFill>
                  <a:srgbClr val="333333"/>
                </a:solidFill>
                <a:latin typeface="Calibri"/>
              </a:rPr>
              <a:t>Social collection at scale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9 — Big Data And Streaming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Complete the quiz for this part</a:t>
            </a:r>
          </a:p>
          <a:p>
            <a:pPr lvl="0" marL="457200" indent="-228600">
              <a:buFont typeface="Calibri"/>
              <a:spcAft>
                <a:spcPts val="1000"/>
              </a:spcAft>
              <a:buSzPct val="100000"/>
              <a:buChar char="•"/>
              <a:lnSpc>
                <a:spcPts val="2200"/>
              </a:lnSpc>
            </a:pPr>
            <a:r>
              <a:rPr sz="2000" b="0">
                <a:solidFill>
                  <a:srgbClr val="333333"/>
                </a:solidFill>
                <a:latin typeface="Calibri"/>
              </a:rPr>
              <a:t>The next part surveys collection challenges and tooling</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9 — Big Data And Streaming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