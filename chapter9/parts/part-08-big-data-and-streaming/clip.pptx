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and social platforms produce volume and velocity that traditional databases cannot absorb alone. This part defines big-data characteristics, filtering noisy streams, and distributed systems that support continuous stock, sensor, and social feeds.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characterize volume, velocity, variety, veracity, and value; explain why social streams need noise filtering; and describe streaming data and distributed processing with technologies such as Hadoop and Kafka.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refers to extremely large, complex datasets beyond conventional processing tools. Classic dimensions include volume—the sheer size of the corpus; velocity—the speed of generation and processing; variety—structured, semi-structured, and unstructured formats; veracity—reliability of the data; and value—useful insights, not mere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9.23 illustrates volume: social platforms, sensors, and internet transactions can reach petabyte scale—a petabyte being a million gigabytes—or more. At that size, collection design must assume distributed storage and processing from the start. Open the example 23 module for this chapter to review the volume framing.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Velocity rises with IoT, social, and financial streams that demand rapid processing for timely decisions. Variety spans spreadsheets, JSON, XML, posts, video, and images. Veracity is hard to assess at scale. Value reminds teams that collecting volume without extractable insight wastes infrastructure and attention.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9.24 shows why social streams need filtering: posts often contain noise or irrelevant content that must be removed before insights are meaningful. Collection pipelines therefore include quality gates, not only ingest. The example 24 module for this chapter summarizes noise filtering as a veracity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data is generated continuously and must be processed as it arrives. Unlike batch workflows that store first and analyze later, streaming systems handle high-throughput flows in motion. Stock feeds, IoT readings, and social updates are typical sources that break one-shot collection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9.25 lists common streaming sources: real-time stock market feeds, IoT sensor readings, and social media updates. Distributed systems split large datasets across machines so parallel processing can keep up. The example 25 module for this chapter ties those feeds to continuous ingestion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is defined by volume, velocity, variety, veracity, and value—not size alone. Social noise filtering protects insight quality. Streaming plus distributed frameworks such as Hadoop and Kafka support continuous stock, sensor, and social collection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collection challenges and tooling, then contrasts data lakes for mixed raw sources with data warehouses for structured business intelligence.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Big data and streaming</a:t>
            </a:r>
          </a:p>
          <a:p>
            <a:pPr algn="ctr">
              <a:lnSpc>
                <a:spcPts val="2200"/>
              </a:lnSpc>
              <a:spcBef>
                <a:spcPts val="1400"/>
              </a:spcBef>
            </a:pPr>
            <a:r>
              <a:rPr sz="2600" b="0">
                <a:solidFill>
                  <a:srgbClr val="333333"/>
                </a:solidFill>
                <a:latin typeface="Calibri"/>
              </a:rPr>
              <a:t>IoT and social platforms produce volume and velocity that traditional databases cannot absorb alone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Defining big data and the Vs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refers to extremely large, complex datasets beyond conventional processing tools</a:t>
            </a:r>
          </a:p>
          <a:p>
            <a:pPr>
              <a:spcAft>
                <a:spcPts val="1000"/>
              </a:spcAft>
              <a:buChar char="•"/>
              <a:lnSpc>
                <a:spcPts val="2200"/>
              </a:lnSpc>
            </a:pPr>
            <a:r>
              <a:rPr sz="2000" b="0">
                <a:solidFill>
                  <a:srgbClr val="333333"/>
                </a:solidFill>
                <a:latin typeface="Calibri"/>
              </a:rPr>
              <a:t>Classic dimensions include volume, the sheer size of the corpus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9.23 — Petabyte-Scale Social and Sensor Volume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9.23 — hands-on module</a:t>
            </a:r>
          </a:p>
          <a:p>
            <a:pPr>
              <a:spcAft>
                <a:spcPts val="1000"/>
              </a:spcAft>
              <a:buChar char="•"/>
              <a:lnSpc>
                <a:spcPts val="2200"/>
              </a:lnSpc>
            </a:pPr>
            <a:r>
              <a:rPr sz="2000" b="0">
                <a:solidFill>
                  <a:srgbClr val="333333"/>
                </a:solidFill>
                <a:latin typeface="Calibri"/>
              </a:rPr>
              <a:t>Example 9.23 illustrates volume</a:t>
            </a:r>
          </a:p>
          <a:p>
            <a:pPr>
              <a:spcAft>
                <a:spcPts val="1000"/>
              </a:spcAft>
              <a:buChar char="•"/>
              <a:lnSpc>
                <a:spcPts val="2200"/>
              </a:lnSpc>
            </a:pPr>
            <a:r>
              <a:rPr sz="2000" b="0">
                <a:solidFill>
                  <a:srgbClr val="333333"/>
                </a:solidFill>
                <a:latin typeface="Calibri"/>
              </a:rPr>
              <a:t>At that size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Velocity, variety, veracity, and value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Velocity rises with IoT, social</a:t>
            </a:r>
          </a:p>
          <a:p>
            <a:pPr>
              <a:spcAft>
                <a:spcPts val="1000"/>
              </a:spcAft>
              <a:buChar char="•"/>
              <a:lnSpc>
                <a:spcPts val="2200"/>
              </a:lnSpc>
            </a:pPr>
            <a:r>
              <a:rPr sz="2000" b="0">
                <a:solidFill>
                  <a:srgbClr val="333333"/>
                </a:solidFill>
                <a:latin typeface="Calibri"/>
              </a:rPr>
              <a:t>Variety spans spreadsheets, JSON, XML, posts, video, and images</a:t>
            </a:r>
          </a:p>
          <a:p>
            <a:pPr>
              <a:spcAft>
                <a:spcPts val="1000"/>
              </a:spcAft>
              <a:buChar char="•"/>
              <a:lnSpc>
                <a:spcPts val="2200"/>
              </a:lnSpc>
            </a:pPr>
            <a:r>
              <a:rPr sz="2000" b="0">
                <a:solidFill>
                  <a:srgbClr val="333333"/>
                </a:solidFill>
                <a:latin typeface="Calibri"/>
              </a:rPr>
              <a:t>Veracity is hard to assess at scale</a:t>
            </a:r>
          </a:p>
          <a:p>
            <a:pPr>
              <a:spcAft>
                <a:spcPts val="1000"/>
              </a:spcAft>
              <a:buChar char="•"/>
              <a:lnSpc>
                <a:spcPts val="2200"/>
              </a:lnSpc>
            </a:pPr>
            <a:r>
              <a:rPr sz="2000" b="0">
                <a:solidFill>
                  <a:srgbClr val="333333"/>
                </a:solidFill>
                <a:latin typeface="Calibri"/>
              </a:rPr>
              <a:t>Value reminds teams that collecting volume without extractable insight wastes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9.24 — Noise Filtering in Social Media Streams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9.24 — hands-on module</a:t>
            </a:r>
          </a:p>
          <a:p>
            <a:pPr>
              <a:spcAft>
                <a:spcPts val="1000"/>
              </a:spcAft>
              <a:buChar char="•"/>
              <a:lnSpc>
                <a:spcPts val="2200"/>
              </a:lnSpc>
            </a:pPr>
            <a:r>
              <a:rPr sz="2000" b="0">
                <a:solidFill>
                  <a:srgbClr val="333333"/>
                </a:solidFill>
                <a:latin typeface="Calibri"/>
              </a:rPr>
              <a:t>Example 9.24 shows why social streams need filtering</a:t>
            </a:r>
          </a:p>
          <a:p>
            <a:pPr>
              <a:spcAft>
                <a:spcPts val="1000"/>
              </a:spcAft>
              <a:buChar char="•"/>
              <a:lnSpc>
                <a:spcPts val="2200"/>
              </a:lnSpc>
            </a:pPr>
            <a:r>
              <a:rPr sz="2000" b="0">
                <a:solidFill>
                  <a:srgbClr val="333333"/>
                </a:solidFill>
                <a:latin typeface="Calibri"/>
              </a:rPr>
              <a:t>Collection pipelines therefore include quality gates, not only ingest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Streaming data versus batch 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Streaming data is generated continuously and must be processed as it arrives</a:t>
            </a:r>
          </a:p>
          <a:p>
            <a:pPr>
              <a:spcAft>
                <a:spcPts val="1000"/>
              </a:spcAft>
              <a:buChar char="•"/>
              <a:lnSpc>
                <a:spcPts val="2200"/>
              </a:lnSpc>
            </a:pPr>
            <a:r>
              <a:rPr sz="2000" b="0">
                <a:solidFill>
                  <a:srgbClr val="333333"/>
                </a:solidFill>
                <a:latin typeface="Calibri"/>
              </a:rPr>
              <a:t>Streaming systems handle high-throughput flows in motion</a:t>
            </a:r>
          </a:p>
          <a:p>
            <a:pPr>
              <a:spcAft>
                <a:spcPts val="1000"/>
              </a:spcAft>
              <a:buChar char="•"/>
              <a:lnSpc>
                <a:spcPts val="2200"/>
              </a:lnSpc>
            </a:pPr>
            <a:r>
              <a:rPr sz="2000" b="0">
                <a:solidFill>
                  <a:srgbClr val="333333"/>
                </a:solidFill>
                <a:latin typeface="Calibri"/>
              </a:rPr>
              <a:t>Stock feeds, IoT readings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9.25 — Streaming Stock Sensor and Social Feeds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9.25 — hands-on module</a:t>
            </a:r>
          </a:p>
          <a:p>
            <a:pPr>
              <a:spcAft>
                <a:spcPts val="1000"/>
              </a:spcAft>
              <a:buChar char="•"/>
              <a:lnSpc>
                <a:spcPts val="2200"/>
              </a:lnSpc>
            </a:pPr>
            <a:r>
              <a:rPr sz="2000" b="0">
                <a:solidFill>
                  <a:srgbClr val="333333"/>
                </a:solidFill>
                <a:latin typeface="Calibri"/>
              </a:rPr>
              <a:t>Example 9.25 lists common streaming sources</a:t>
            </a:r>
          </a:p>
          <a:p>
            <a:pPr>
              <a:spcAft>
                <a:spcPts val="1000"/>
              </a:spcAft>
              <a:buChar char="•"/>
              <a:lnSpc>
                <a:spcPts val="2200"/>
              </a:lnSpc>
            </a:pPr>
            <a:r>
              <a:rPr sz="2000" b="0">
                <a:solidFill>
                  <a:srgbClr val="333333"/>
                </a:solidFill>
                <a:latin typeface="Calibri"/>
              </a:rPr>
              <a:t>Distributed systems split large datasets across machines so parallel processing can keep</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is defined by volume, velocity, variety, veracity, and value, not size alone</a:t>
            </a:r>
          </a:p>
          <a:p>
            <a:pPr>
              <a:spcAft>
                <a:spcPts val="1000"/>
              </a:spcAft>
              <a:buChar char="•"/>
              <a:lnSpc>
                <a:spcPts val="2200"/>
              </a:lnSpc>
            </a:pPr>
            <a:r>
              <a:rPr sz="2000" b="0">
                <a:solidFill>
                  <a:srgbClr val="333333"/>
                </a:solidFill>
                <a:latin typeface="Calibri"/>
              </a:rPr>
              <a:t>Social noise filtering protects insight quality</a:t>
            </a:r>
          </a:p>
          <a:p>
            <a:pPr>
              <a:spcAft>
                <a:spcPts val="1000"/>
              </a:spcAft>
              <a:buChar char="•"/>
              <a:lnSpc>
                <a:spcPts val="2200"/>
              </a:lnSpc>
            </a:pPr>
            <a:r>
              <a:rPr sz="2000" b="0">
                <a:solidFill>
                  <a:srgbClr val="333333"/>
                </a:solidFill>
                <a:latin typeface="Calibri"/>
              </a:rPr>
              <a:t>Social collection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surveys collection challenges and tooling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Big Data And Streaming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