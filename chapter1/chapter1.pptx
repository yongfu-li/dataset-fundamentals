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clip opens Chapter 1 by answering a deceptively simple question: what counts as a dataset? By the end, the vocabulary of records and attributes should feel concrete, whether the file is a spreadsheet or a JSON document.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goals guide this clip. First, define a dataset as something curated for analysis, not merely a raw stream of events. Second, separate records from attributes so every later example has a shared language. Third, see that the same idea appears in both flat CSV tables and nested 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dataset is a curated collection of data, often organized as records and attributes, that serves as input to analysis, modeling, or decision-making. Unlike raw operational logs, a dataset usually has defined scope, structure, and ideally documentation that makes it interpretable. In modern data work, the dataset is the basic unit—whether the task is machine learning, statistics, or business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tabular data, each record is one observation—one sale, one patient, one sensor reading—and each attribute describes a property of that observation. The sales CSV uses Date, Product, Quantity, and Price as attributes; each row is one transaction. The same mapping appears in healthcare and sensor examples later in the section: change the domain, keep the structure.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 is the chapter's first concrete anchor: a small CSV of retail sales. Each row is one sale; columns detail product, date, quantity, and price. Open the example 1 module for this chapter to inspect the file and count rows and columns before moving on. Later examples change domain but keep this shape.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Datasets are not only tables. Example 1.4 stores housing listings as JSON with nested fields—still records with attributes, but in a flexible schema. The form changes; the objective stays the same: provide meaningful data that can be turned into insight. Try the example 4 module to see how keys and nested objects play the role of columns.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three points. A dataset is prepared for a purpose. Records and attributes are the shared vocabulary. Formats and modalities vary widely, but the goal of interpretable, usable data does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next clip on types of datasets—structured, unstructured, and semi-structured.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you should contrast the three structural types, name a typical format for each, and explain when a dataset is static versus dynamic.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Datasets are commonly classified along two axes. Structure covers structured, unstructured, and semi-structured forms. Temporal behavior covers static snapshots versus continuously updating streams. Selecting an appropriate representation is a prerequisite for reliable analysis.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Structured datasets follow a fixed schema: rows and columns with consistent types. They live comfortably in spreadsheets and relational databases and are generally the easiest to query and aggregate. A retail customer table—one row per customer, typed columns for email and purchase history—is the textbook case.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Unstructured data has no predefined row–column model. Text, images, audio, and video fall here. Valuable insights often require NLP or image recognition rather than a simple SQL filter. Social media feedback and medical images are common examples.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Semi-structured data uses tags or keys—JSON, XML, YAML—without requiring every record to share the same flat columns. Example 1.7 shows JSON objects where optional fields appear when relevant. Open the example 7 module to inspect a concrete sample.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datasets change rarely—an archived extract. Dynamic datasets update continuously—sensor streams or click logs. The same entity can move between forms over its lifecycle. Temporal behavior shapes how often you refresh, version, and monitor the data.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 and time are independent. Structured data is easiest to query; unstructured data needs extraction pipelines; semi-structured data offers flexible keys that remain machine-readable.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dataset formats—how these types are stored on disk.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should leave able to name formats for tabular, hierarchical, and geospatial data, explain when CSV, SQL, HDF5, or GeoJSON fits, and connect format choice to the tools that will consume the data.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is the serialization of structure. Matching format to structure, expected volume, and downstream tools reduces friction across collection and analysis. A mismatch—for example, forcing huge arrays through naive CSV—creates avoidable cost.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CSV remains the common language for simple tables. SQL tables add typed schemas and efficient queries. JSON and GeoJSON handle nested objects and spatial features. HDF5 targets large scientific or array-oriented datasets. Each aligns with a structural niche.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1.8 shows structured data in a relational form: typed columns and queries for filtering and joins. When attributes are stable and analysts need aggregations, SQL, or an equivalent relational store, is a natural fit. The example 8 module lets you explore this hands-on.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1.9 creates and reads an HDF5 file—a hierarchical binary format efficient for large numeric arrays. Scientific and machine-learning pipelines often prefer HDF5 when CSV becomes too slow or too large. Try the example 9 module to create and read one yourself.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structure, then consider size, update rate, and tooling. Prefer formats your team already supports, and document the choice so later consumers are not guessing. Metadata and documentation—covered next—make that choice durable.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serializes structure. Everyday tables lean on CSV and SQL; specialized shapes and scales use HDF5, GeoJSON, and related formats.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move to characteristics of good datasets—accuracy, completeness, and related quality dimensions.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will list five widely cited dimensions, diagnose concrete defects in accuracy, completeness, and consistency, and explain why metadata and documentation make a dataset reusable.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1.6 in the chapter lists accuracy, completeness, consistency, relevance, and timeliness. None stands alone: a dataset can be complete yet inaccurate, or timely yet irrelevant to the question at hand. Assessment starts by asking whether values are trustworthy, sufficiently populated, comparable, and still on-question.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1.11 shows a ledger where one transaction likely contains an extra zero. That single accuracy error changes monthly revenue by an order of magnitude and can distort averages and forecasts. Inspect the example 11 module and try to spot the suspicious amount.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Completeness failures—blank diagnosis or age cells—force models to guess or drop rows and can bias estimates when missingness is not random. Consistency failures—mixed regional date formats—break sorting until one convention is enforced. Later chapters develop systematic repair; here the goal is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Metadata records schema, units, provenance, and related context; documentation explains how to interpret and reuse the file. Example 1.14 illustrates metadata for a weather dataset. Without these, even accurate tables become hard to trust outside the original team. The example 14 module shows what good metadata looks like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is multi-dimensional and task-relative. Learn to spot accuracy errors, missing fields, and format clashes early, and treat metadata plus documentation as part of the dataset—not optional extras.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exploring a dataset—the practical first pass for surfacing these issues.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clip covers three early questions every analyst should settle, how to match tools to the table at hand, and a minimal profiling pattern using summaries, visuals, and missingness checks.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Exploration builds a mental model of the domain: seasonal sales cycles, sensor outliers, missing demographics that would bias a segmentation model. It does not replace formal cleaning in later chapters; it reveals where cleaning is needed and which variables merit deeper study.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what is in the table, what looks suspicious, and what analysis goals remain feasible given the defects you find. An e-commerce glance that reveals holiday spikes, for example, can justify seasonal features long before training.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Spreadsheets suit small tables. SQL handles filtering and aggregation in relational stores. pandas supports reproducible profiling. Dashboards help teams share interactive views. No single tool wins every scenario—the habit of documenting findings matters more than the brand of software.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1.20 walks through a standard pandas profiling script on a compact household-income table. Use it as a template: summary statistics, distribution checks, and null counts. Run the example 20 module to see the pattern end to end.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Explore before modeling. Choose tools that fit size and structure. Document what you inspected and what you decided to fix so later analysis stays accountable.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uses of datasets—where these practices create value across sectors.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should map sectors to typical datasets and goals, recognize the shared lifecycle across domains, and outline the steps in the customer-churn case study.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Organizations collect records about customers, patients, students, or transactions, organize them, and use them to monitor performance, detect risk, or personalize services. Retail emphasizes purchase and clickstream data; healthcare joins EHRs with wearables; finance scores transactions; education and government use logs and public statistics for intervention and planning.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1.21 stores one row per order with customer, category, date, and amount. Aggregating by customer reveals repurchase intervals and category preferences that drive segmentation and promotions. The example 21 module walks through the concept.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churn case study stitches the chapter together: assemble behavioral features, explore and clean, train a classifier, and intervene before cancellation. Ranked feature importance highlights which behaviors precede churn; thresholded scores let retention teams act.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1.31 provides a Python sketch of that pipeline. The same structure appears in fraud scoring and demand forecasting—only labels and the cost of errors change. Run the example 31 module when you want to see the code in action.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vocabulary changes; the lifecycle does not. Quality and exploration feed every serious application. Churn is the chapter's end-to-end illustration of define, prepare, model, and intervene.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finish the chapter with dataset management—versioning, access, and privacy that keep such pipelines trustworthy.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should explain why management matters after a model ships, list core practices such as versioning and access control, and name privacy controls that protect sensitive extracts.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dataset is collected, cleaned, documented, stored, shared, and sometimes retired. Traceability links figures to their sources; ownership and documentation reduce duplicated effort; governance limits who can see sensitive fields. Without these foundations, tuned models can amplify undocumented errors or leak attributes that should never leave a restricted store.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1.8 highlights version control, cleaning and transformation, metadata documentation, storage and backups, access control, and cataloging. These reinforce one another: a versioned file without metadata still confuses new users; rich docs without access controls may violate privacy rules.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Encryption, anonymization, role-based access with MFA, regulatory compliance, and audit logging commonly combine to protect personal and proprietary data. Healthcare extracts, banking ledgers, and customer feature tables are useful only if access, retention, and sharing are controlled. Ethical nuance continues in later chapters; the point here is that protection starts when records are first stored.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established definitions, types, quality, exploration, applications, and management. Chapter 2 turns to data collection—where records originate and how sampling shapes representativeness.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is not optional. Versioning, metadata, and access must work together. Protection begins at first storage and continues through every reuse.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return to the chapter learning path or continue to Chapter 2 when that lecture is available.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 — Introduction to datasets</a:t>
            </a:r>
          </a:p>
          <a:p>
            <a:pPr algn="ctr">
              <a:lnSpc>
                <a:spcPts val="2200"/>
              </a:lnSpc>
              <a:spcBef>
                <a:spcPts val="1400"/>
              </a:spcBef>
            </a:pPr>
            <a:r>
              <a:rPr sz="2600" b="0">
                <a:solidFill>
                  <a:srgbClr val="333333"/>
                </a:solidFill>
                <a:latin typeface="Calibri"/>
              </a:rPr>
              <a:t>This clip opens Chapter 1 by answering a deceptively simple question: what counts as a dataset?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Define a dataset as curated for analysis, not raw event streams</a:t>
            </a:r>
          </a:p>
          <a:p>
            <a:pPr>
              <a:spcAft>
                <a:spcPts val="1000"/>
              </a:spcAft>
              <a:buChar char="•"/>
              <a:lnSpc>
                <a:spcPts val="2200"/>
              </a:lnSpc>
            </a:pPr>
            <a:r>
              <a:rPr sz="2000" b="0">
                <a:solidFill>
                  <a:srgbClr val="333333"/>
                </a:solidFill>
                <a:latin typeface="Calibri"/>
              </a:rPr>
              <a:t>Distinguish records from attributes (shared vocabulary)</a:t>
            </a:r>
          </a:p>
          <a:p>
            <a:pPr>
              <a:spcAft>
                <a:spcPts val="1000"/>
              </a:spcAft>
              <a:buChar char="•"/>
              <a:lnSpc>
                <a:spcPts val="2200"/>
              </a:lnSpc>
            </a:pPr>
            <a:r>
              <a:rPr sz="2000" b="0">
                <a:solidFill>
                  <a:srgbClr val="333333"/>
                </a:solidFill>
                <a:latin typeface="Calibri"/>
              </a:rPr>
              <a:t>Same idea in CSV tables and nested JSON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is a dataset?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dataset is a curated collection of data</a:t>
            </a:r>
          </a:p>
          <a:p>
            <a:pPr>
              <a:spcAft>
                <a:spcPts val="1000"/>
              </a:spcAft>
              <a:buChar char="•"/>
              <a:lnSpc>
                <a:spcPts val="2200"/>
              </a:lnSpc>
            </a:pPr>
            <a:r>
              <a:rPr sz="2000" b="0">
                <a:solidFill>
                  <a:srgbClr val="333333"/>
                </a:solidFill>
                <a:latin typeface="Calibri"/>
              </a:rPr>
              <a:t>Has scope, structure, and documentation</a:t>
            </a:r>
          </a:p>
          <a:p>
            <a:pPr>
              <a:spcAft>
                <a:spcPts val="1000"/>
              </a:spcAft>
              <a:buChar char="•"/>
              <a:lnSpc>
                <a:spcPts val="2200"/>
              </a:lnSpc>
            </a:pPr>
            <a:r>
              <a:rPr sz="2000" b="0">
                <a:solidFill>
                  <a:srgbClr val="333333"/>
                </a:solidFill>
                <a:latin typeface="Calibri"/>
              </a:rPr>
              <a:t>The dataset is the basic unit for ML, statistics, and BI</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Records and attributes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Each record is one observation; each attribute describes it</a:t>
            </a:r>
          </a:p>
          <a:p>
            <a:pPr>
              <a:spcAft>
                <a:spcPts val="1000"/>
              </a:spcAft>
              <a:buChar char="•"/>
              <a:lnSpc>
                <a:spcPts val="2200"/>
              </a:lnSpc>
            </a:pPr>
            <a:r>
              <a:rPr sz="2000" b="0">
                <a:solidFill>
                  <a:srgbClr val="333333"/>
                </a:solidFill>
                <a:latin typeface="Calibri"/>
              </a:rPr>
              <a:t>The sales CSV uses Date, Product, Quantity, and Price as attributes</a:t>
            </a:r>
          </a:p>
          <a:p>
            <a:pPr>
              <a:spcAft>
                <a:spcPts val="1000"/>
              </a:spcAft>
              <a:buChar char="•"/>
              <a:lnSpc>
                <a:spcPts val="2200"/>
              </a:lnSpc>
            </a:pPr>
            <a:r>
              <a:rPr sz="2000" b="0">
                <a:solidFill>
                  <a:srgbClr val="333333"/>
                </a:solidFill>
                <a:latin typeface="Calibri"/>
              </a:rPr>
              <a:t>The same mapping appears in healthcare and sensor examples later in the section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 — Sample CSV sales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 — hands-on module</a:t>
            </a:r>
          </a:p>
          <a:p>
            <a:pPr>
              <a:spcAft>
                <a:spcPts val="1000"/>
              </a:spcAft>
              <a:buChar char="•"/>
              <a:lnSpc>
                <a:spcPts val="2200"/>
              </a:lnSpc>
            </a:pPr>
            <a:r>
              <a:rPr sz="2000" b="0">
                <a:solidFill>
                  <a:srgbClr val="333333"/>
                </a:solidFill>
                <a:latin typeface="Calibri"/>
              </a:rPr>
              <a:t>First concrete anchor: a small CSV of retail sales</a:t>
            </a:r>
          </a:p>
          <a:p>
            <a:pPr>
              <a:spcAft>
                <a:spcPts val="1000"/>
              </a:spcAft>
              <a:buChar char="•"/>
              <a:lnSpc>
                <a:spcPts val="2200"/>
              </a:lnSpc>
            </a:pPr>
            <a:r>
              <a:rPr sz="2000" b="0">
                <a:solidFill>
                  <a:srgbClr val="333333"/>
                </a:solidFill>
                <a:latin typeface="Calibri"/>
              </a:rPr>
              <a:t>Each row is one sale; columns detail product, date, quantity, and price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Date,Product,Quantity,Price,Total</a:t>
            </a:r>
          </a:p>
          <a:p>
            <a:pPr>
              <a:lnSpc>
                <a:spcPts val="2200"/>
              </a:lnSpc>
              <a:spcAft>
                <a:spcPts val="400"/>
              </a:spcAft>
            </a:pPr>
            <a:r>
              <a:rPr sz="2000" b="0">
                <a:solidFill>
                  <a:srgbClr val="333333"/>
                </a:solidFill>
                <a:latin typeface="Consolas"/>
              </a:rPr>
              <a:t>2024-01-01,Apple,3,0.5,1.5</a:t>
            </a:r>
          </a:p>
          <a:p>
            <a:pPr>
              <a:lnSpc>
                <a:spcPts val="2200"/>
              </a:lnSpc>
              <a:spcAft>
                <a:spcPts val="400"/>
              </a:spcAft>
            </a:pPr>
            <a:r>
              <a:rPr sz="2000" b="0">
                <a:solidFill>
                  <a:srgbClr val="333333"/>
                </a:solidFill>
                <a:latin typeface="Consolas"/>
              </a:rPr>
              <a:t>2024-01-01,Banana,2,0.3,0.6</a:t>
            </a:r>
          </a:p>
          <a:p>
            <a:pPr>
              <a:lnSpc>
                <a:spcPts val="2200"/>
              </a:lnSpc>
              <a:spcAft>
                <a:spcPts val="400"/>
              </a:spcAft>
            </a:pPr>
            <a:r>
              <a:rPr sz="2000" b="0">
                <a:solidFill>
                  <a:srgbClr val="333333"/>
                </a:solidFill>
                <a:latin typeface="Consolas"/>
              </a:rPr>
              <a:t>2024-01-02,Orange,5,0.7,3.5</a:t>
            </a:r>
          </a:p>
          <a:p>
            <a:pPr>
              <a:lnSpc>
                <a:spcPts val="2200"/>
              </a:lnSpc>
              <a:spcAft>
                <a:spcPts val="400"/>
              </a:spcAft>
            </a:pPr>
            <a:r>
              <a:rPr sz="2000" b="0">
                <a:solidFill>
                  <a:srgbClr val="333333"/>
                </a:solidFill>
                <a:latin typeface="Consolas"/>
              </a:rPr>
              <a:t>2024-01-02,Grapes,1,2.0,2.0</a:t>
            </a:r>
          </a:p>
          <a:p>
            <a:pPr>
              <a:lnSpc>
                <a:spcPts val="2200"/>
              </a:lnSpc>
              <a:spcAft>
                <a:spcPts val="400"/>
              </a:spcAft>
            </a:pPr>
            <a:r>
              <a:rPr sz="2000" b="0">
                <a:solidFill>
                  <a:srgbClr val="333333"/>
                </a:solidFill>
                <a:latin typeface="Consolas"/>
              </a:rPr>
              <a:t>2024-01-03,Mango,4,1.5,6.0</a:t>
            </a:r>
          </a:p>
          <a:p>
            <a:pPr>
              <a:lnSpc>
                <a:spcPts val="2200"/>
              </a:lnSpc>
              <a:spcAft>
                <a:spcPts val="400"/>
              </a:spcAft>
            </a:pPr>
            <a:r>
              <a:rPr sz="2000" b="0">
                <a:solidFill>
                  <a:srgbClr val="333333"/>
                </a:solidFill>
                <a:latin typeface="Consolas"/>
              </a:rPr>
              <a:t>2024-01-04,Apple,2,0.5,1.0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1.4 — Housing prices in JSON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1.4 — hands-on module</a:t>
            </a:r>
          </a:p>
          <a:p>
            <a:pPr>
              <a:spcAft>
                <a:spcPts val="1000"/>
              </a:spcAft>
              <a:buChar char="•"/>
              <a:lnSpc>
                <a:spcPts val="2200"/>
              </a:lnSpc>
            </a:pPr>
            <a:r>
              <a:rPr sz="2000" b="0">
                <a:solidFill>
                  <a:srgbClr val="333333"/>
                </a:solidFill>
                <a:latin typeface="Calibri"/>
              </a:rPr>
              <a:t>Example 1.4 JSON listings with nested fields (flexible schema)</a:t>
            </a:r>
          </a:p>
          <a:p>
            <a:pPr>
              <a:spcAft>
                <a:spcPts val="1000"/>
              </a:spcAft>
              <a:buChar char="•"/>
              <a:lnSpc>
                <a:spcPts val="2200"/>
              </a:lnSpc>
            </a:pPr>
            <a:r>
              <a:rPr sz="2000" b="0">
                <a:solidFill>
                  <a:srgbClr val="333333"/>
                </a:solidFill>
                <a:latin typeface="Calibri"/>
              </a:rPr>
              <a:t>The form changes; the objective stays the same: meaningful, analyzable data</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1.4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"House_ID": 101,</a:t>
            </a:r>
          </a:p>
          <a:p>
            <a:pPr>
              <a:lnSpc>
                <a:spcPts val="2200"/>
              </a:lnSpc>
              <a:spcAft>
                <a:spcPts val="400"/>
              </a:spcAft>
            </a:pPr>
            <a:r>
              <a:rPr sz="2000" b="0">
                <a:solidFill>
                  <a:srgbClr val="333333"/>
                </a:solidFill>
                <a:latin typeface="Consolas"/>
              </a:rPr>
              <a:t>    "Location": "New York",</a:t>
            </a:r>
          </a:p>
          <a:p>
            <a:pPr>
              <a:lnSpc>
                <a:spcPts val="2200"/>
              </a:lnSpc>
              <a:spcAft>
                <a:spcPts val="400"/>
              </a:spcAft>
            </a:pPr>
            <a:r>
              <a:rPr sz="2000" b="0">
                <a:solidFill>
                  <a:srgbClr val="333333"/>
                </a:solidFill>
                <a:latin typeface="Consolas"/>
              </a:rPr>
              <a:t>    "Square_Footage": 2000,</a:t>
            </a:r>
          </a:p>
          <a:p>
            <a:pPr>
              <a:lnSpc>
                <a:spcPts val="2200"/>
              </a:lnSpc>
              <a:spcAft>
                <a:spcPts val="400"/>
              </a:spcAft>
            </a:pPr>
            <a:r>
              <a:rPr sz="2000" b="0">
                <a:solidFill>
                  <a:srgbClr val="333333"/>
                </a:solidFill>
                <a:latin typeface="Consolas"/>
              </a:rPr>
              <a:t>    "Bedrooms": 3,</a:t>
            </a:r>
          </a:p>
          <a:p>
            <a:pPr>
              <a:lnSpc>
                <a:spcPts val="2200"/>
              </a:lnSpc>
              <a:spcAft>
                <a:spcPts val="400"/>
              </a:spcAft>
            </a:pPr>
            <a:r>
              <a:rPr sz="2000" b="0">
                <a:solidFill>
                  <a:srgbClr val="333333"/>
                </a:solidFill>
                <a:latin typeface="Consolas"/>
              </a:rPr>
              <a:t>    "Proximity_to_Schools": "0.5 miles",</a:t>
            </a:r>
          </a:p>
          <a:p>
            <a:pPr>
              <a:lnSpc>
                <a:spcPts val="2200"/>
              </a:lnSpc>
              <a:spcAft>
                <a:spcPts val="400"/>
              </a:spcAft>
            </a:pPr>
            <a:r>
              <a:rPr sz="2000" b="0">
                <a:solidFill>
                  <a:srgbClr val="333333"/>
                </a:solidFill>
                <a:latin typeface="Consolas"/>
              </a:rPr>
              <a:t>    "Price": 850000</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"House_ID": 102,</a:t>
            </a:r>
          </a:p>
          <a:p>
            <a:pPr>
              <a:lnSpc>
                <a:spcPts val="2200"/>
              </a:lnSpc>
              <a:spcAft>
                <a:spcPts val="400"/>
              </a:spcAft>
            </a:pPr>
            <a:r>
              <a:rPr sz="2000" b="0">
                <a:solidFill>
                  <a:srgbClr val="333333"/>
                </a:solidFill>
                <a:latin typeface="Consolas"/>
              </a:rPr>
              <a:t>    "Location": "Los Angeles",</a:t>
            </a:r>
          </a:p>
          <a:p>
            <a:pPr>
              <a:lnSpc>
                <a:spcPts val="2200"/>
              </a:lnSpc>
              <a:spcAft>
                <a:spcPts val="400"/>
              </a:spcAft>
            </a:pPr>
            <a:r>
              <a:rPr sz="2000" b="0">
                <a:solidFill>
                  <a:srgbClr val="333333"/>
                </a:solidFill>
                <a:latin typeface="Consolas"/>
              </a:rPr>
              <a:t>    "Square_Footage": 1800,</a:t>
            </a:r>
          </a:p>
          <a:p>
            <a:pPr>
              <a:lnSpc>
                <a:spcPts val="2200"/>
              </a:lnSpc>
              <a:spcAft>
                <a:spcPts val="400"/>
              </a:spcAft>
            </a:pPr>
            <a:r>
              <a:rPr sz="2000" b="0">
                <a:solidFill>
                  <a:srgbClr val="333333"/>
                </a:solidFill>
                <a:latin typeface="Consolas"/>
              </a:rPr>
              <a:t>    "Bedrooms": 4,</a:t>
            </a:r>
          </a:p>
          <a:p>
            <a:pPr>
              <a:lnSpc>
                <a:spcPts val="2200"/>
              </a:lnSpc>
              <a:spcAft>
                <a:spcPts val="400"/>
              </a:spcAft>
            </a:pPr>
            <a:r>
              <a:rPr sz="2000" b="0">
                <a:solidFill>
                  <a:srgbClr val="333333"/>
                </a:solidFill>
                <a:latin typeface="Consolas"/>
              </a:rPr>
              <a:t>    "Proximity_to_Schools": "1.2 miles",</a:t>
            </a:r>
          </a:p>
          <a:p>
            <a:pPr>
              <a:lnSpc>
                <a:spcPts val="2200"/>
              </a:lnSpc>
              <a:spcAft>
                <a:spcPts val="400"/>
              </a:spcAft>
            </a:pPr>
            <a:r>
              <a:rPr sz="2000" b="0">
                <a:solidFill>
                  <a:srgbClr val="333333"/>
                </a:solidFill>
                <a:latin typeface="Consolas"/>
              </a:rPr>
              <a:t>    "Price": 720000</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dataset is prepared for a purpose</a:t>
            </a:r>
          </a:p>
          <a:p>
            <a:pPr>
              <a:spcAft>
                <a:spcPts val="1000"/>
              </a:spcAft>
              <a:buChar char="•"/>
              <a:lnSpc>
                <a:spcPts val="2200"/>
              </a:lnSpc>
            </a:pPr>
            <a:r>
              <a:rPr sz="2000" b="0">
                <a:solidFill>
                  <a:srgbClr val="333333"/>
                </a:solidFill>
                <a:latin typeface="Calibri"/>
              </a:rPr>
              <a:t>Records and attributes are the shared vocabulary</a:t>
            </a:r>
          </a:p>
          <a:p>
            <a:pPr>
              <a:spcAft>
                <a:spcPts val="1000"/>
              </a:spcAft>
              <a:buChar char="•"/>
              <a:lnSpc>
                <a:spcPts val="2200"/>
              </a:lnSpc>
            </a:pPr>
            <a:r>
              <a:rPr sz="2000" b="0">
                <a:solidFill>
                  <a:srgbClr val="333333"/>
                </a:solidFill>
                <a:latin typeface="Calibri"/>
              </a:rPr>
              <a:t>Formats and modalities vary widely, but the goal of interpretable, usable data does not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clip</a:t>
            </a:r>
          </a:p>
          <a:p>
            <a:pPr>
              <a:spcAft>
                <a:spcPts val="1000"/>
              </a:spcAft>
              <a:buChar char="•"/>
              <a:lnSpc>
                <a:spcPts val="2200"/>
              </a:lnSpc>
            </a:pPr>
            <a:r>
              <a:rPr sz="2000" b="0">
                <a:solidFill>
                  <a:srgbClr val="333333"/>
                </a:solidFill>
                <a:latin typeface="Calibri"/>
              </a:rPr>
              <a:t>Continue to the next clip on types of datasets, structured, unstructured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Contrast the three structural types, name a typical format for each</a:t>
            </a:r>
          </a:p>
          <a:p>
            <a:pPr>
              <a:spcAft>
                <a:spcPts val="1000"/>
              </a:spcAft>
              <a:buChar char="•"/>
              <a:lnSpc>
                <a:spcPts val="2200"/>
              </a:lnSpc>
            </a:pPr>
            <a:r>
              <a:rPr sz="2000" b="0">
                <a:solidFill>
                  <a:srgbClr val="333333"/>
                </a:solidFill>
                <a:latin typeface="Calibri"/>
              </a:rPr>
              <a:t>Explain when a dataset is static versus dynamic</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Two classification axes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Datasets are commonly classified along two axes</a:t>
            </a:r>
          </a:p>
          <a:p>
            <a:pPr>
              <a:spcAft>
                <a:spcPts val="1000"/>
              </a:spcAft>
              <a:buChar char="•"/>
              <a:lnSpc>
                <a:spcPts val="2200"/>
              </a:lnSpc>
            </a:pPr>
            <a:r>
              <a:rPr sz="2000" b="0">
                <a:solidFill>
                  <a:srgbClr val="333333"/>
                </a:solidFill>
                <a:latin typeface="Calibri"/>
              </a:rPr>
              <a:t>Structure covers structured, unstructured, and semi-structured forms</a:t>
            </a:r>
          </a:p>
          <a:p>
            <a:pPr>
              <a:spcAft>
                <a:spcPts val="1000"/>
              </a:spcAft>
              <a:buChar char="•"/>
              <a:lnSpc>
                <a:spcPts val="2200"/>
              </a:lnSpc>
            </a:pPr>
            <a:r>
              <a:rPr sz="2000" b="0">
                <a:solidFill>
                  <a:srgbClr val="333333"/>
                </a:solidFill>
                <a:latin typeface="Calibri"/>
              </a:rPr>
              <a:t>Temporal behavior covers static snapshots versus continuously updating streams</a:t>
            </a:r>
          </a:p>
          <a:p>
            <a:pPr>
              <a:spcAft>
                <a:spcPts val="1000"/>
              </a:spcAft>
              <a:buChar char="•"/>
              <a:lnSpc>
                <a:spcPts val="2200"/>
              </a:lnSpc>
            </a:pPr>
            <a:r>
              <a:rPr sz="2000" b="0">
                <a:solidFill>
                  <a:srgbClr val="333333"/>
                </a:solidFill>
                <a:latin typeface="Calibri"/>
              </a:rPr>
              <a:t>Selecting an appropriate representation is a prerequisite for reliable analysis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Structured datasets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Structured datasets follow a fixed schema: rows and columns with consistent types</a:t>
            </a:r>
          </a:p>
          <a:p>
            <a:pPr>
              <a:spcAft>
                <a:spcPts val="1000"/>
              </a:spcAft>
              <a:buChar char="•"/>
              <a:lnSpc>
                <a:spcPts val="2200"/>
              </a:lnSpc>
            </a:pPr>
            <a:r>
              <a:rPr sz="2000" b="0">
                <a:solidFill>
                  <a:srgbClr val="333333"/>
                </a:solidFill>
                <a:latin typeface="Calibri"/>
              </a:rPr>
              <a:t>They live comfortably in spreadsheets and relational databases and are generally the</a:t>
            </a:r>
          </a:p>
          <a:p>
            <a:pPr>
              <a:spcAft>
                <a:spcPts val="1000"/>
              </a:spcAft>
              <a:buChar char="•"/>
              <a:lnSpc>
                <a:spcPts val="2200"/>
              </a:lnSpc>
            </a:pPr>
            <a:r>
              <a:rPr sz="2000" b="0">
                <a:solidFill>
                  <a:srgbClr val="333333"/>
                </a:solidFill>
                <a:latin typeface="Calibri"/>
              </a:rPr>
              <a:t>A retail customer table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Unstructured datasets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Unstructured data has no predefined row–column model</a:t>
            </a:r>
          </a:p>
          <a:p>
            <a:pPr>
              <a:spcAft>
                <a:spcPts val="1000"/>
              </a:spcAft>
              <a:buChar char="•"/>
              <a:lnSpc>
                <a:spcPts val="2200"/>
              </a:lnSpc>
            </a:pPr>
            <a:r>
              <a:rPr sz="2000" b="0">
                <a:solidFill>
                  <a:srgbClr val="333333"/>
                </a:solidFill>
                <a:latin typeface="Calibri"/>
              </a:rPr>
              <a:t>Text, images, audio, and video fall here</a:t>
            </a:r>
          </a:p>
          <a:p>
            <a:pPr>
              <a:spcAft>
                <a:spcPts val="1000"/>
              </a:spcAft>
              <a:buChar char="•"/>
              <a:lnSpc>
                <a:spcPts val="2200"/>
              </a:lnSpc>
            </a:pPr>
            <a:r>
              <a:rPr sz="2000" b="0">
                <a:solidFill>
                  <a:srgbClr val="333333"/>
                </a:solidFill>
                <a:latin typeface="Calibri"/>
              </a:rPr>
              <a:t>Valuable insights often require NLP or image recognition rather than a simple SQL filter</a:t>
            </a:r>
          </a:p>
          <a:p>
            <a:pPr>
              <a:spcAft>
                <a:spcPts val="1000"/>
              </a:spcAft>
              <a:buChar char="•"/>
              <a:lnSpc>
                <a:spcPts val="2200"/>
              </a:lnSpc>
            </a:pPr>
            <a:r>
              <a:rPr sz="2000" b="0">
                <a:solidFill>
                  <a:srgbClr val="333333"/>
                </a:solidFill>
                <a:latin typeface="Calibri"/>
              </a:rPr>
              <a:t>Social media feedback and medical images are common examples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Semi-structured datasets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Semi-structured data uses tags or keys</a:t>
            </a:r>
          </a:p>
          <a:p>
            <a:pPr>
              <a:spcAft>
                <a:spcPts val="1000"/>
              </a:spcAft>
              <a:buChar char="•"/>
              <a:lnSpc>
                <a:spcPts val="2200"/>
              </a:lnSpc>
            </a:pPr>
            <a:r>
              <a:rPr sz="2000" b="0">
                <a:solidFill>
                  <a:srgbClr val="333333"/>
                </a:solidFill>
                <a:latin typeface="Calibri"/>
              </a:rPr>
              <a:t>Example 1.7 shows JSON objects where optional fields appear when relevant</a:t>
            </a:r>
          </a:p>
          <a:p>
            <a:pPr>
              <a:spcAft>
                <a:spcPts val="1000"/>
              </a:spcAft>
              <a:buChar char="•"/>
              <a:lnSpc>
                <a:spcPts val="2200"/>
              </a:lnSpc>
            </a:pPr>
            <a:r>
              <a:rPr sz="2000" b="0">
                <a:solidFill>
                  <a:srgbClr val="333333"/>
                </a:solidFill>
                <a:latin typeface="Calibri"/>
              </a:rPr>
              <a:t>Open the example 7 module to inspect a concrete sample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Static vs dynamic</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Static datasets change rarely, an archived extract</a:t>
            </a:r>
          </a:p>
          <a:p>
            <a:pPr>
              <a:spcAft>
                <a:spcPts val="1000"/>
              </a:spcAft>
              <a:buChar char="•"/>
              <a:lnSpc>
                <a:spcPts val="2200"/>
              </a:lnSpc>
            </a:pPr>
            <a:r>
              <a:rPr sz="2000" b="0">
                <a:solidFill>
                  <a:srgbClr val="333333"/>
                </a:solidFill>
                <a:latin typeface="Calibri"/>
              </a:rPr>
              <a:t>Dynamic datasets update continuously, sensor streams or click logs</a:t>
            </a:r>
          </a:p>
          <a:p>
            <a:pPr>
              <a:spcAft>
                <a:spcPts val="1000"/>
              </a:spcAft>
              <a:buChar char="•"/>
              <a:lnSpc>
                <a:spcPts val="2200"/>
              </a:lnSpc>
            </a:pPr>
            <a:r>
              <a:rPr sz="2000" b="0">
                <a:solidFill>
                  <a:srgbClr val="333333"/>
                </a:solidFill>
                <a:latin typeface="Calibri"/>
              </a:rPr>
              <a:t>The same entity can move between forms over its lifecycle</a:t>
            </a:r>
          </a:p>
          <a:p>
            <a:pPr>
              <a:spcAft>
                <a:spcPts val="1000"/>
              </a:spcAft>
              <a:buChar char="•"/>
              <a:lnSpc>
                <a:spcPts val="2200"/>
              </a:lnSpc>
            </a:pPr>
            <a:r>
              <a:rPr sz="2000" b="0">
                <a:solidFill>
                  <a:srgbClr val="333333"/>
                </a:solidFill>
                <a:latin typeface="Calibri"/>
              </a:rPr>
              <a:t>Temporal behavior shapes how often you refresh, version, and monitor the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Structure and time are independent</a:t>
            </a:r>
          </a:p>
          <a:p>
            <a:pPr>
              <a:spcAft>
                <a:spcPts val="1000"/>
              </a:spcAft>
              <a:buChar char="•"/>
              <a:lnSpc>
                <a:spcPts val="2200"/>
              </a:lnSpc>
            </a:pPr>
            <a:r>
              <a:rPr sz="2000" b="0">
                <a:solidFill>
                  <a:srgbClr val="333333"/>
                </a:solidFill>
                <a:latin typeface="Calibri"/>
              </a:rPr>
              <a:t>Structured data is easiest to query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clip</a:t>
            </a:r>
          </a:p>
          <a:p>
            <a:pPr>
              <a:spcAft>
                <a:spcPts val="1000"/>
              </a:spcAft>
              <a:buChar char="•"/>
              <a:lnSpc>
                <a:spcPts val="2200"/>
              </a:lnSpc>
            </a:pPr>
            <a:r>
              <a:rPr sz="2000" b="0">
                <a:solidFill>
                  <a:srgbClr val="333333"/>
                </a:solidFill>
                <a:latin typeface="Calibri"/>
              </a:rPr>
              <a:t>Complete the quiz, then continue to dataset formats, how these types are stored on disk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Leave able to name formats for tabular, hierarchical</a:t>
            </a:r>
          </a:p>
          <a:p>
            <a:pPr>
              <a:spcAft>
                <a:spcPts val="1000"/>
              </a:spcAft>
              <a:buChar char="•"/>
              <a:lnSpc>
                <a:spcPts val="2200"/>
              </a:lnSpc>
            </a:pPr>
            <a:r>
              <a:rPr sz="2000" b="0">
                <a:solidFill>
                  <a:srgbClr val="333333"/>
                </a:solidFill>
                <a:latin typeface="Calibri"/>
              </a:rPr>
              <a:t>Geospatial data, explain when CSV, SQL, HDF5, or GeoJSON fits</a:t>
            </a:r>
          </a:p>
          <a:p>
            <a:pPr>
              <a:spcAft>
                <a:spcPts val="1000"/>
              </a:spcAft>
              <a:buChar char="•"/>
              <a:lnSpc>
                <a:spcPts val="2200"/>
              </a:lnSpc>
            </a:pPr>
            <a:r>
              <a:rPr sz="2000" b="0">
                <a:solidFill>
                  <a:srgbClr val="333333"/>
                </a:solidFill>
                <a:latin typeface="Calibri"/>
              </a:rPr>
              <a:t>Connect format choice to the tools that will consume the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format matters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Format is the serialization of structure</a:t>
            </a:r>
          </a:p>
          <a:p>
            <a:pPr>
              <a:spcAft>
                <a:spcPts val="1000"/>
              </a:spcAft>
              <a:buChar char="•"/>
              <a:lnSpc>
                <a:spcPts val="2200"/>
              </a:lnSpc>
            </a:pPr>
            <a:r>
              <a:rPr sz="2000" b="0">
                <a:solidFill>
                  <a:srgbClr val="333333"/>
                </a:solidFill>
                <a:latin typeface="Calibri"/>
              </a:rPr>
              <a:t>Matching format to structure, expected volume</a:t>
            </a:r>
          </a:p>
          <a:p>
            <a:pPr>
              <a:spcAft>
                <a:spcPts val="1000"/>
              </a:spcAft>
              <a:buChar char="•"/>
              <a:lnSpc>
                <a:spcPts val="2200"/>
              </a:lnSpc>
            </a:pPr>
            <a:r>
              <a:rPr sz="2000" b="0">
                <a:solidFill>
                  <a:srgbClr val="333333"/>
                </a:solidFill>
                <a:latin typeface="Calibri"/>
              </a:rPr>
              <a:t>A mismatch, for example, forcing huge arrays through naive CSV, creates avoidable cost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Common formats at a glance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CSV remains the common language for simple tables</a:t>
            </a:r>
          </a:p>
          <a:p>
            <a:pPr>
              <a:spcAft>
                <a:spcPts val="1000"/>
              </a:spcAft>
              <a:buChar char="•"/>
              <a:lnSpc>
                <a:spcPts val="2200"/>
              </a:lnSpc>
            </a:pPr>
            <a:r>
              <a:rPr sz="2000" b="0">
                <a:solidFill>
                  <a:srgbClr val="333333"/>
                </a:solidFill>
                <a:latin typeface="Calibri"/>
              </a:rPr>
              <a:t>SQL tables add typed schemas and efficient queries</a:t>
            </a:r>
          </a:p>
          <a:p>
            <a:pPr>
              <a:spcAft>
                <a:spcPts val="1000"/>
              </a:spcAft>
              <a:buChar char="•"/>
              <a:lnSpc>
                <a:spcPts val="2200"/>
              </a:lnSpc>
            </a:pPr>
            <a:r>
              <a:rPr sz="2000" b="0">
                <a:solidFill>
                  <a:srgbClr val="333333"/>
                </a:solidFill>
                <a:latin typeface="Calibri"/>
              </a:rPr>
              <a:t>JSON and GeoJSON handle nested objects and spatial features</a:t>
            </a:r>
          </a:p>
          <a:p>
            <a:pPr>
              <a:spcAft>
                <a:spcPts val="1000"/>
              </a:spcAft>
              <a:buChar char="•"/>
              <a:lnSpc>
                <a:spcPts val="2200"/>
              </a:lnSpc>
            </a:pPr>
            <a:r>
              <a:rPr sz="2000" b="0">
                <a:solidFill>
                  <a:srgbClr val="333333"/>
                </a:solidFill>
                <a:latin typeface="Calibri"/>
              </a:rPr>
              <a:t>HDF5 targets large scientific or array-oriented datasets</a:t>
            </a:r>
          </a:p>
          <a:p>
            <a:pPr>
              <a:spcAft>
                <a:spcPts val="1000"/>
              </a:spcAft>
              <a:buChar char="•"/>
              <a:lnSpc>
                <a:spcPts val="2200"/>
              </a:lnSpc>
            </a:pPr>
            <a:r>
              <a:rPr sz="2000" b="0">
                <a:solidFill>
                  <a:srgbClr val="333333"/>
                </a:solidFill>
                <a:latin typeface="Calibri"/>
              </a:rPr>
              <a:t>Each aligns with a structural niche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1.8 — SQL format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1.8 — hands-on module</a:t>
            </a:r>
          </a:p>
          <a:p>
            <a:pPr>
              <a:spcAft>
                <a:spcPts val="1000"/>
              </a:spcAft>
              <a:buChar char="•"/>
              <a:lnSpc>
                <a:spcPts val="2200"/>
              </a:lnSpc>
            </a:pPr>
            <a:r>
              <a:rPr sz="2000" b="0">
                <a:solidFill>
                  <a:srgbClr val="333333"/>
                </a:solidFill>
                <a:latin typeface="Calibri"/>
              </a:rPr>
              <a:t>Example 1.8 shows structured data in a relational form</a:t>
            </a:r>
          </a:p>
          <a:p>
            <a:pPr>
              <a:spcAft>
                <a:spcPts val="1000"/>
              </a:spcAft>
              <a:buChar char="•"/>
              <a:lnSpc>
                <a:spcPts val="2200"/>
              </a:lnSpc>
            </a:pPr>
            <a:r>
              <a:rPr sz="2000" b="0">
                <a:solidFill>
                  <a:srgbClr val="333333"/>
                </a:solidFill>
                <a:latin typeface="Calibri"/>
              </a:rPr>
              <a:t>When attributes are stable and analysts need aggregations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1.8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CREATE TABLE Customers (</a:t>
            </a:r>
          </a:p>
          <a:p>
            <a:pPr>
              <a:lnSpc>
                <a:spcPts val="2200"/>
              </a:lnSpc>
              <a:spcAft>
                <a:spcPts val="400"/>
              </a:spcAft>
            </a:pPr>
            <a:r>
              <a:rPr sz="2000" b="0">
                <a:solidFill>
                  <a:srgbClr val="333333"/>
                </a:solidFill>
                <a:latin typeface="Consolas"/>
              </a:rPr>
              <a:t>    customer_id SERIAL PRIMARY KEY,</a:t>
            </a:r>
          </a:p>
          <a:p>
            <a:pPr>
              <a:lnSpc>
                <a:spcPts val="2200"/>
              </a:lnSpc>
              <a:spcAft>
                <a:spcPts val="400"/>
              </a:spcAft>
            </a:pPr>
            <a:r>
              <a:rPr sz="2000" b="0">
                <a:solidFill>
                  <a:srgbClr val="333333"/>
                </a:solidFill>
                <a:latin typeface="Consolas"/>
              </a:rPr>
              <a:t>    name VARCHAR(100) NOT NULL,</a:t>
            </a:r>
          </a:p>
          <a:p>
            <a:pPr>
              <a:lnSpc>
                <a:spcPts val="2200"/>
              </a:lnSpc>
              <a:spcAft>
                <a:spcPts val="400"/>
              </a:spcAft>
            </a:pPr>
            <a:r>
              <a:rPr sz="2000" b="0">
                <a:solidFill>
                  <a:srgbClr val="333333"/>
                </a:solidFill>
                <a:latin typeface="Consolas"/>
              </a:rPr>
              <a:t>    email VARCHAR(100) UNIQUE NOT NULL</a:t>
            </a:r>
          </a:p>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CREATE TABLE Orders (</a:t>
            </a:r>
          </a:p>
          <a:p>
            <a:pPr>
              <a:lnSpc>
                <a:spcPts val="2200"/>
              </a:lnSpc>
              <a:spcAft>
                <a:spcPts val="400"/>
              </a:spcAft>
            </a:pPr>
            <a:r>
              <a:rPr sz="2000" b="0">
                <a:solidFill>
                  <a:srgbClr val="333333"/>
                </a:solidFill>
                <a:latin typeface="Consolas"/>
              </a:rPr>
              <a:t>    order_id SERIAL PRIMARY KEY,</a:t>
            </a:r>
          </a:p>
          <a:p>
            <a:pPr>
              <a:lnSpc>
                <a:spcPts val="2200"/>
              </a:lnSpc>
              <a:spcAft>
                <a:spcPts val="400"/>
              </a:spcAft>
            </a:pPr>
            <a:r>
              <a:rPr sz="2000" b="0">
                <a:solidFill>
                  <a:srgbClr val="333333"/>
                </a:solidFill>
                <a:latin typeface="Consolas"/>
              </a:rPr>
              <a:t>    customer_id INT NOT NULL,</a:t>
            </a:r>
          </a:p>
          <a:p>
            <a:pPr>
              <a:lnSpc>
                <a:spcPts val="2200"/>
              </a:lnSpc>
              <a:spcAft>
                <a:spcPts val="400"/>
              </a:spcAft>
            </a:pPr>
            <a:r>
              <a:rPr sz="2000" b="0">
                <a:solidFill>
                  <a:srgbClr val="333333"/>
                </a:solidFill>
                <a:latin typeface="Consolas"/>
              </a:rPr>
              <a:t>    order_date TIMESTAMP DEFAULT CURRENT_TIMESTAMP,</a:t>
            </a:r>
          </a:p>
          <a:p>
            <a:pPr>
              <a:lnSpc>
                <a:spcPts val="2200"/>
              </a:lnSpc>
              <a:spcAft>
                <a:spcPts val="400"/>
              </a:spcAft>
            </a:pPr>
            <a:r>
              <a:rPr sz="2000" b="0">
                <a:solidFill>
                  <a:srgbClr val="333333"/>
                </a:solidFill>
                <a:latin typeface="Consolas"/>
              </a:rPr>
              <a:t>    total_amount DECIMAL(10,2),</a:t>
            </a:r>
          </a:p>
          <a:p>
            <a:pPr>
              <a:lnSpc>
                <a:spcPts val="2200"/>
              </a:lnSpc>
              <a:spcAft>
                <a:spcPts val="400"/>
              </a:spcAft>
            </a:pPr>
            <a:r>
              <a:rPr sz="2000" b="0">
                <a:solidFill>
                  <a:srgbClr val="333333"/>
                </a:solidFill>
                <a:latin typeface="Consolas"/>
              </a:rPr>
              <a:t>    FOREIGN KEY (customer_id) REFERENCES Customers(customer_id)</a:t>
            </a:r>
          </a:p>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CREATE TABLE Order_Items (</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1.9 — HDF5</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1.9 — hands-on module</a:t>
            </a:r>
          </a:p>
          <a:p>
            <a:pPr>
              <a:spcAft>
                <a:spcPts val="1000"/>
              </a:spcAft>
              <a:buChar char="•"/>
              <a:lnSpc>
                <a:spcPts val="2200"/>
              </a:lnSpc>
            </a:pPr>
            <a:r>
              <a:rPr sz="2000" b="0">
                <a:solidFill>
                  <a:srgbClr val="333333"/>
                </a:solidFill>
                <a:latin typeface="Calibri"/>
              </a:rPr>
              <a:t>Example 1.9 creates and reads an HDF5 file</a:t>
            </a:r>
          </a:p>
          <a:p>
            <a:pPr>
              <a:spcAft>
                <a:spcPts val="1000"/>
              </a:spcAft>
              <a:buChar char="•"/>
              <a:lnSpc>
                <a:spcPts val="2200"/>
              </a:lnSpc>
            </a:pPr>
            <a:r>
              <a:rPr sz="2000" b="0">
                <a:solidFill>
                  <a:srgbClr val="333333"/>
                </a:solidFill>
                <a:latin typeface="Calibri"/>
              </a:rPr>
              <a:t>Scientific and machine-learning pipelines often prefer HDF5 when CSV becomes too slow or</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1.9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h5py</a:t>
            </a:r>
          </a:p>
          <a:p>
            <a:pPr>
              <a:lnSpc>
                <a:spcPts val="2200"/>
              </a:lnSpc>
              <a:spcAft>
                <a:spcPts val="400"/>
              </a:spcAft>
            </a:pPr>
            <a:r>
              <a:rPr sz="2000" b="0">
                <a:solidFill>
                  <a:srgbClr val="333333"/>
                </a:solidFill>
                <a:latin typeface="Consolas"/>
              </a:rPr>
              <a:t>import numpy as np</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with h5py.File("example.h5", "w") as hdf:</a:t>
            </a:r>
          </a:p>
          <a:p>
            <a:pPr>
              <a:lnSpc>
                <a:spcPts val="2200"/>
              </a:lnSpc>
              <a:spcAft>
                <a:spcPts val="400"/>
              </a:spcAft>
            </a:pPr>
            <a:r>
              <a:rPr sz="2000" b="0">
                <a:solidFill>
                  <a:srgbClr val="333333"/>
                </a:solidFill>
                <a:latin typeface="Consolas"/>
              </a:rPr>
              <a:t>    data = np.random.rand(100, 100)</a:t>
            </a:r>
          </a:p>
          <a:p>
            <a:pPr>
              <a:lnSpc>
                <a:spcPts val="2200"/>
              </a:lnSpc>
              <a:spcAft>
                <a:spcPts val="400"/>
              </a:spcAft>
            </a:pPr>
            <a:r>
              <a:rPr sz="2000" b="0">
                <a:solidFill>
                  <a:srgbClr val="333333"/>
                </a:solidFill>
                <a:latin typeface="Consolas"/>
              </a:rPr>
              <a:t>    hdf.create_dataset("random_data", data=data)</a:t>
            </a:r>
          </a:p>
          <a:p>
            <a:pPr>
              <a:lnSpc>
                <a:spcPts val="2200"/>
              </a:lnSpc>
              <a:spcAft>
                <a:spcPts val="400"/>
              </a:spcAft>
            </a:pPr>
            <a:r>
              <a:rPr sz="2000" b="0">
                <a:solidFill>
                  <a:srgbClr val="333333"/>
                </a:solidFill>
                <a:latin typeface="Consolas"/>
              </a:rPr>
              <a:t>    group = hdf.create_group("experiment")</a:t>
            </a:r>
          </a:p>
          <a:p>
            <a:pPr>
              <a:lnSpc>
                <a:spcPts val="2200"/>
              </a:lnSpc>
              <a:spcAft>
                <a:spcPts val="400"/>
              </a:spcAft>
            </a:pPr>
            <a:r>
              <a:rPr sz="2000" b="0">
                <a:solidFill>
                  <a:srgbClr val="333333"/>
                </a:solidFill>
                <a:latin typeface="Consolas"/>
              </a:rPr>
              <a:t>    group.create_dataset("temperature", data=np.linspace(0, 100, 100))</a:t>
            </a:r>
          </a:p>
          <a:p>
            <a:pPr>
              <a:lnSpc>
                <a:spcPts val="2200"/>
              </a:lnSpc>
              <a:spcAft>
                <a:spcPts val="400"/>
              </a:spcAft>
            </a:pPr>
            <a:r>
              <a:rPr sz="2000" b="0">
                <a:solidFill>
                  <a:srgbClr val="333333"/>
                </a:solidFill>
                <a:latin typeface="Consolas"/>
              </a:rPr>
              <a:t>    group.create_dataset("pressure", data=np.linspace(1, 10, 100))</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with h5py.File("example.h5", "r") as hdf:</a:t>
            </a:r>
          </a:p>
          <a:p>
            <a:pPr>
              <a:lnSpc>
                <a:spcPts val="2200"/>
              </a:lnSpc>
              <a:spcAft>
                <a:spcPts val="400"/>
              </a:spcAft>
            </a:pPr>
            <a:r>
              <a:rPr sz="2000" b="0">
                <a:solidFill>
                  <a:srgbClr val="333333"/>
                </a:solidFill>
                <a:latin typeface="Consolas"/>
              </a:rPr>
              <a:t>    print("Datasets in root:", list(hdf.keys()))</a:t>
            </a:r>
          </a:p>
          <a:p>
            <a:pPr>
              <a:lnSpc>
                <a:spcPts val="2200"/>
              </a:lnSpc>
              <a:spcAft>
                <a:spcPts val="400"/>
              </a:spcAft>
            </a:pPr>
            <a:r>
              <a:rPr sz="2000" b="0">
                <a:solidFill>
                  <a:srgbClr val="333333"/>
                </a:solidFill>
                <a:latin typeface="Consolas"/>
              </a:rPr>
              <a:t>    random_data = hdf["random_data"][:]</a:t>
            </a:r>
          </a:p>
          <a:p>
            <a:pPr>
              <a:lnSpc>
                <a:spcPts val="2200"/>
              </a:lnSpc>
              <a:spcAft>
                <a:spcPts val="400"/>
              </a:spcAft>
            </a:pPr>
            <a:r>
              <a:rPr sz="2000" b="0">
                <a:solidFill>
                  <a:srgbClr val="333333"/>
                </a:solidFill>
                <a:latin typeface="Consolas"/>
              </a:rPr>
              <a:t>    print("Shape of 'random_data':", random_data.shape)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Choosing a format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Start from structure, then consider size, update rate, and tooling</a:t>
            </a:r>
          </a:p>
          <a:p>
            <a:pPr>
              <a:spcAft>
                <a:spcPts val="1000"/>
              </a:spcAft>
              <a:buChar char="•"/>
              <a:lnSpc>
                <a:spcPts val="2200"/>
              </a:lnSpc>
            </a:pPr>
            <a:r>
              <a:rPr sz="2000" b="0">
                <a:solidFill>
                  <a:srgbClr val="333333"/>
                </a:solidFill>
                <a:latin typeface="Calibri"/>
              </a:rPr>
              <a:t>Prefer formats your team already supports</a:t>
            </a:r>
          </a:p>
          <a:p>
            <a:pPr>
              <a:spcAft>
                <a:spcPts val="1000"/>
              </a:spcAft>
              <a:buChar char="•"/>
              <a:lnSpc>
                <a:spcPts val="2200"/>
              </a:lnSpc>
            </a:pPr>
            <a:r>
              <a:rPr sz="2000" b="0">
                <a:solidFill>
                  <a:srgbClr val="333333"/>
                </a:solidFill>
                <a:latin typeface="Calibri"/>
              </a:rPr>
              <a:t>Metadata and documentation, covered next, make that choice durable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Format serializes structure</a:t>
            </a:r>
          </a:p>
          <a:p>
            <a:pPr>
              <a:spcAft>
                <a:spcPts val="1000"/>
              </a:spcAft>
              <a:buChar char="•"/>
              <a:lnSpc>
                <a:spcPts val="2200"/>
              </a:lnSpc>
            </a:pPr>
            <a:r>
              <a:rPr sz="2000" b="0">
                <a:solidFill>
                  <a:srgbClr val="333333"/>
                </a:solidFill>
                <a:latin typeface="Calibri"/>
              </a:rPr>
              <a:t>Everyday tables lean on CSV and SQL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clip</a:t>
            </a:r>
          </a:p>
          <a:p>
            <a:pPr>
              <a:spcAft>
                <a:spcPts val="1000"/>
              </a:spcAft>
              <a:buChar char="•"/>
              <a:lnSpc>
                <a:spcPts val="2200"/>
              </a:lnSpc>
            </a:pPr>
            <a:r>
              <a:rPr sz="2000" b="0">
                <a:solidFill>
                  <a:srgbClr val="333333"/>
                </a:solidFill>
                <a:latin typeface="Calibri"/>
              </a:rPr>
              <a:t>Complete the quiz, then move to characteristics of good datasets, accuracy, completeness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Consistency, and explain why metadata and documentation make a dataset reusable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Five quality dimensions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Table 1.6 in the chapter lists accuracy, completeness, consistency, relevance</a:t>
            </a:r>
          </a:p>
          <a:p>
            <a:pPr>
              <a:spcAft>
                <a:spcPts val="1000"/>
              </a:spcAft>
              <a:buChar char="•"/>
              <a:lnSpc>
                <a:spcPts val="2200"/>
              </a:lnSpc>
            </a:pPr>
            <a:r>
              <a:rPr sz="2000" b="0">
                <a:solidFill>
                  <a:srgbClr val="333333"/>
                </a:solidFill>
                <a:latin typeface="Calibri"/>
              </a:rPr>
              <a:t>None stands alone</a:t>
            </a:r>
          </a:p>
          <a:p>
            <a:pPr>
              <a:spcAft>
                <a:spcPts val="1000"/>
              </a:spcAft>
              <a:buChar char="•"/>
              <a:lnSpc>
                <a:spcPts val="2200"/>
              </a:lnSpc>
            </a:pPr>
            <a:r>
              <a:rPr sz="2000" b="0">
                <a:solidFill>
                  <a:srgbClr val="333333"/>
                </a:solidFill>
                <a:latin typeface="Calibri"/>
              </a:rPr>
              <a:t>Still on-question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 — Incorrect transaction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1.11 — hands-on module</a:t>
            </a:r>
          </a:p>
          <a:p>
            <a:pPr>
              <a:spcAft>
                <a:spcPts val="1000"/>
              </a:spcAft>
              <a:buChar char="•"/>
              <a:lnSpc>
                <a:spcPts val="2200"/>
              </a:lnSpc>
            </a:pPr>
            <a:r>
              <a:rPr sz="2000" b="0">
                <a:solidFill>
                  <a:srgbClr val="333333"/>
                </a:solidFill>
                <a:latin typeface="Calibri"/>
              </a:rPr>
              <a:t>Example 1.11 shows a ledger where one transaction likely contains an extra zero</a:t>
            </a:r>
          </a:p>
          <a:p>
            <a:pPr>
              <a:spcAft>
                <a:spcPts val="1000"/>
              </a:spcAft>
              <a:buChar char="•"/>
              <a:lnSpc>
                <a:spcPts val="2200"/>
              </a:lnSpc>
            </a:pPr>
            <a:r>
              <a:rPr sz="2000" b="0">
                <a:solidFill>
                  <a:srgbClr val="333333"/>
                </a:solidFill>
                <a:latin typeface="Calibri"/>
              </a:rPr>
              <a:t>That single accuracy error changes monthly revenue by an order of magnitude and can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`modules/chapter1/example11/`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Txn_ID,Date,Account,Amount,Type</a:t>
            </a:r>
          </a:p>
          <a:p>
            <a:pPr>
              <a:lnSpc>
                <a:spcPts val="2200"/>
              </a:lnSpc>
              <a:spcAft>
                <a:spcPts val="400"/>
              </a:spcAft>
            </a:pPr>
            <a:r>
              <a:rPr sz="2000" b="0">
                <a:solidFill>
                  <a:srgbClr val="333333"/>
                </a:solidFill>
                <a:latin typeface="Consolas"/>
              </a:rPr>
              <a:t>T001,2024-03-01,Revenue,1500.00,Credit</a:t>
            </a:r>
          </a:p>
          <a:p>
            <a:pPr>
              <a:lnSpc>
                <a:spcPts val="2200"/>
              </a:lnSpc>
              <a:spcAft>
                <a:spcPts val="400"/>
              </a:spcAft>
            </a:pPr>
            <a:r>
              <a:rPr sz="2000" b="0">
                <a:solidFill>
                  <a:srgbClr val="333333"/>
                </a:solidFill>
                <a:latin typeface="Consolas"/>
              </a:rPr>
              <a:t>T002,2024-03-02,Revenue,15000.00,Credit</a:t>
            </a:r>
          </a:p>
          <a:p>
            <a:pPr>
              <a:lnSpc>
                <a:spcPts val="2200"/>
              </a:lnSpc>
              <a:spcAft>
                <a:spcPts val="400"/>
              </a:spcAft>
            </a:pPr>
            <a:r>
              <a:rPr sz="2000" b="0">
                <a:solidFill>
                  <a:srgbClr val="333333"/>
                </a:solidFill>
                <a:latin typeface="Consolas"/>
              </a:rPr>
              <a:t>T003,2024-03-03,Refund,50.00,Debit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Completeness and consistency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Completeness failures</a:t>
            </a:r>
          </a:p>
          <a:p>
            <a:pPr>
              <a:spcAft>
                <a:spcPts val="1000"/>
              </a:spcAft>
              <a:buChar char="•"/>
              <a:lnSpc>
                <a:spcPts val="2200"/>
              </a:lnSpc>
            </a:pPr>
            <a:r>
              <a:rPr sz="2000" b="0">
                <a:solidFill>
                  <a:srgbClr val="333333"/>
                </a:solidFill>
                <a:latin typeface="Calibri"/>
              </a:rPr>
              <a:t>Consistency failures</a:t>
            </a:r>
          </a:p>
          <a:p>
            <a:pPr>
              <a:spcAft>
                <a:spcPts val="1000"/>
              </a:spcAft>
              <a:buChar char="•"/>
              <a:lnSpc>
                <a:spcPts val="2200"/>
              </a:lnSpc>
            </a:pPr>
            <a:r>
              <a:rPr sz="2000" b="0">
                <a:solidFill>
                  <a:srgbClr val="333333"/>
                </a:solidFill>
                <a:latin typeface="Calibri"/>
              </a:rPr>
              <a:t>Later chapters develop systematic repair; here the goal is recognition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Metadata and documentation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Metadata records schema, units, provenance, and related context</a:t>
            </a:r>
          </a:p>
          <a:p>
            <a:pPr>
              <a:spcAft>
                <a:spcPts val="1000"/>
              </a:spcAft>
              <a:buChar char="•"/>
              <a:lnSpc>
                <a:spcPts val="2200"/>
              </a:lnSpc>
            </a:pPr>
            <a:r>
              <a:rPr sz="2000" b="0">
                <a:solidFill>
                  <a:srgbClr val="333333"/>
                </a:solidFill>
                <a:latin typeface="Calibri"/>
              </a:rPr>
              <a:t>Example 1.14 illustrates metadata for a weather dataset</a:t>
            </a:r>
          </a:p>
          <a:p>
            <a:pPr>
              <a:spcAft>
                <a:spcPts val="1000"/>
              </a:spcAft>
              <a:buChar char="•"/>
              <a:lnSpc>
                <a:spcPts val="2200"/>
              </a:lnSpc>
            </a:pPr>
            <a:r>
              <a:rPr sz="2000" b="0">
                <a:solidFill>
                  <a:srgbClr val="333333"/>
                </a:solidFill>
                <a:latin typeface="Calibri"/>
              </a:rPr>
              <a:t>Without these, even accurate tables become hard to trust outside the original team</a:t>
            </a:r>
          </a:p>
          <a:p>
            <a:pPr>
              <a:spcAft>
                <a:spcPts val="1000"/>
              </a:spcAft>
              <a:buChar char="•"/>
              <a:lnSpc>
                <a:spcPts val="2200"/>
              </a:lnSpc>
            </a:pPr>
            <a:r>
              <a:rPr sz="2000" b="0">
                <a:solidFill>
                  <a:srgbClr val="333333"/>
                </a:solidFill>
                <a:latin typeface="Calibri"/>
              </a:rPr>
              <a:t>The example 14 module shows what good metadata looks like in practice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Quality is multi-dimensional and task-relative</a:t>
            </a:r>
          </a:p>
          <a:p>
            <a:pPr>
              <a:spcAft>
                <a:spcPts val="1000"/>
              </a:spcAft>
              <a:buChar char="•"/>
              <a:lnSpc>
                <a:spcPts val="2200"/>
              </a:lnSpc>
            </a:pPr>
            <a:r>
              <a:rPr sz="2000" b="0">
                <a:solidFill>
                  <a:srgbClr val="333333"/>
                </a:solidFill>
                <a:latin typeface="Calibri"/>
              </a:rPr>
              <a:t>Learn to spot accuracy errors, missing fields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clip</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minimal profiling pattern using summaries, visuals, and missingness checks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explore first?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Exploration builds a mental model of the domain</a:t>
            </a:r>
          </a:p>
          <a:p>
            <a:pPr>
              <a:spcAft>
                <a:spcPts val="1000"/>
              </a:spcAft>
              <a:buChar char="•"/>
              <a:lnSpc>
                <a:spcPts val="2200"/>
              </a:lnSpc>
            </a:pPr>
            <a:r>
              <a:rPr sz="2000" b="0">
                <a:solidFill>
                  <a:srgbClr val="333333"/>
                </a:solidFill>
                <a:latin typeface="Calibri"/>
              </a:rPr>
              <a:t>It does not replace formal cleaning in later chapters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Three early questions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Ask: what is in the table, what looks suspicious</a:t>
            </a:r>
          </a:p>
          <a:p>
            <a:pPr>
              <a:spcAft>
                <a:spcPts val="1000"/>
              </a:spcAft>
              <a:buChar char="•"/>
              <a:lnSpc>
                <a:spcPts val="2200"/>
              </a:lnSpc>
            </a:pPr>
            <a:r>
              <a:rPr sz="2000" b="0">
                <a:solidFill>
                  <a:srgbClr val="333333"/>
                </a:solidFill>
                <a:latin typeface="Calibri"/>
              </a:rPr>
              <a:t>An e-commerce glance that reveals holiday spikes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Tools for exploration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Spreadsheets suit small tables</a:t>
            </a:r>
          </a:p>
          <a:p>
            <a:pPr>
              <a:spcAft>
                <a:spcPts val="1000"/>
              </a:spcAft>
              <a:buChar char="•"/>
              <a:lnSpc>
                <a:spcPts val="2200"/>
              </a:lnSpc>
            </a:pPr>
            <a:r>
              <a:rPr sz="2000" b="0">
                <a:solidFill>
                  <a:srgbClr val="333333"/>
                </a:solidFill>
                <a:latin typeface="Calibri"/>
              </a:rPr>
              <a:t>SQL handles filtering and aggregation in relational stores</a:t>
            </a:r>
          </a:p>
          <a:p>
            <a:pPr>
              <a:spcAft>
                <a:spcPts val="1000"/>
              </a:spcAft>
              <a:buChar char="•"/>
              <a:lnSpc>
                <a:spcPts val="2200"/>
              </a:lnSpc>
            </a:pPr>
            <a:r>
              <a:rPr sz="2000" b="0">
                <a:solidFill>
                  <a:srgbClr val="333333"/>
                </a:solidFill>
                <a:latin typeface="Calibri"/>
              </a:rPr>
              <a:t>Pandas supports reproducible profiling</a:t>
            </a:r>
          </a:p>
          <a:p>
            <a:pPr>
              <a:spcAft>
                <a:spcPts val="1000"/>
              </a:spcAft>
              <a:buChar char="•"/>
              <a:lnSpc>
                <a:spcPts val="2200"/>
              </a:lnSpc>
            </a:pPr>
            <a:r>
              <a:rPr sz="2000" b="0">
                <a:solidFill>
                  <a:srgbClr val="333333"/>
                </a:solidFill>
                <a:latin typeface="Calibri"/>
              </a:rPr>
              <a:t>Dashboards help teams share interactive views</a:t>
            </a:r>
          </a:p>
          <a:p>
            <a:pPr>
              <a:spcAft>
                <a:spcPts val="1000"/>
              </a:spcAft>
              <a:buChar char="•"/>
              <a:lnSpc>
                <a:spcPts val="2200"/>
              </a:lnSpc>
            </a:pPr>
            <a:r>
              <a:rPr sz="2000" b="0">
                <a:solidFill>
                  <a:srgbClr val="333333"/>
                </a:solidFill>
                <a:latin typeface="Calibri"/>
              </a:rPr>
              <a:t>No single tool wins every scenario</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1.20 — Household incomes EDA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1.20 — hands-on module</a:t>
            </a:r>
          </a:p>
          <a:p>
            <a:pPr>
              <a:spcAft>
                <a:spcPts val="1000"/>
              </a:spcAft>
              <a:buChar char="•"/>
              <a:lnSpc>
                <a:spcPts val="2200"/>
              </a:lnSpc>
            </a:pPr>
            <a:r>
              <a:rPr sz="2000" b="0">
                <a:solidFill>
                  <a:srgbClr val="333333"/>
                </a:solidFill>
                <a:latin typeface="Calibri"/>
              </a:rPr>
              <a:t>Example 1.20 walks through a standard pandas profiling script on a compact</a:t>
            </a:r>
          </a:p>
          <a:p>
            <a:pPr>
              <a:spcAft>
                <a:spcPts val="1000"/>
              </a:spcAft>
              <a:buChar char="•"/>
              <a:lnSpc>
                <a:spcPts val="2200"/>
              </a:lnSpc>
            </a:pPr>
            <a:r>
              <a:rPr sz="2000" b="0">
                <a:solidFill>
                  <a:srgbClr val="333333"/>
                </a:solidFill>
                <a:latin typeface="Calibri"/>
              </a:rPr>
              <a:t>Use it as a template: summary statistics, distribution checks, and null counts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`modules/chapter1/example20/`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1.20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pandas as pd</a:t>
            </a:r>
          </a:p>
          <a:p>
            <a:pPr>
              <a:lnSpc>
                <a:spcPts val="2200"/>
              </a:lnSpc>
              <a:spcAft>
                <a:spcPts val="400"/>
              </a:spcAft>
            </a:pPr>
            <a:r>
              <a:rPr sz="2000" b="0">
                <a:solidFill>
                  <a:srgbClr val="333333"/>
                </a:solidFill>
                <a:latin typeface="Consolas"/>
              </a:rPr>
              <a:t>import matplotlib.pyplot as plt</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Load the dataset</a:t>
            </a:r>
          </a:p>
          <a:p>
            <a:pPr>
              <a:lnSpc>
                <a:spcPts val="2200"/>
              </a:lnSpc>
              <a:spcAft>
                <a:spcPts val="400"/>
              </a:spcAft>
            </a:pPr>
            <a:r>
              <a:rPr sz="2000" b="0">
                <a:solidFill>
                  <a:srgbClr val="333333"/>
                </a:solidFill>
                <a:latin typeface="Consolas"/>
              </a:rPr>
              <a:t>household_incomes = pd.read_csv("household_incomes.csv")</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View the first few rows</a:t>
            </a:r>
          </a:p>
          <a:p>
            <a:pPr>
              <a:lnSpc>
                <a:spcPts val="2200"/>
              </a:lnSpc>
              <a:spcAft>
                <a:spcPts val="400"/>
              </a:spcAft>
            </a:pPr>
            <a:r>
              <a:rPr sz="2000" b="0">
                <a:solidFill>
                  <a:srgbClr val="333333"/>
                </a:solidFill>
                <a:latin typeface="Consolas"/>
              </a:rPr>
              <a:t>print(household_incomes.head())</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Summary statistics for numerical columns</a:t>
            </a:r>
          </a:p>
          <a:p>
            <a:pPr>
              <a:lnSpc>
                <a:spcPts val="2200"/>
              </a:lnSpc>
              <a:spcAft>
                <a:spcPts val="400"/>
              </a:spcAft>
            </a:pPr>
            <a:r>
              <a:rPr sz="2000" b="0">
                <a:solidFill>
                  <a:srgbClr val="333333"/>
                </a:solidFill>
                <a:latin typeface="Consolas"/>
              </a:rPr>
              <a:t>print(household_incomes.describe())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Check for missing values</a:t>
            </a:r>
          </a:p>
          <a:p>
            <a:pPr>
              <a:lnSpc>
                <a:spcPts val="2200"/>
              </a:lnSpc>
              <a:spcAft>
                <a:spcPts val="400"/>
              </a:spcAft>
            </a:pPr>
            <a:r>
              <a:rPr sz="2000" b="0">
                <a:solidFill>
                  <a:srgbClr val="333333"/>
                </a:solidFill>
                <a:latin typeface="Consolas"/>
              </a:rPr>
              <a:t>print(household_incomes.isnull().sum())</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Visualize the income distribution</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Explore before modeling</a:t>
            </a:r>
          </a:p>
          <a:p>
            <a:pPr>
              <a:spcAft>
                <a:spcPts val="1000"/>
              </a:spcAft>
              <a:buChar char="•"/>
              <a:lnSpc>
                <a:spcPts val="2200"/>
              </a:lnSpc>
            </a:pPr>
            <a:r>
              <a:rPr sz="2000" b="0">
                <a:solidFill>
                  <a:srgbClr val="333333"/>
                </a:solidFill>
                <a:latin typeface="Calibri"/>
              </a:rPr>
              <a:t>Choose tools that fit size and structure</a:t>
            </a:r>
          </a:p>
          <a:p>
            <a:pPr>
              <a:spcAft>
                <a:spcPts val="1000"/>
              </a:spcAft>
              <a:buChar char="•"/>
              <a:lnSpc>
                <a:spcPts val="2200"/>
              </a:lnSpc>
            </a:pPr>
            <a:r>
              <a:rPr sz="2000" b="0">
                <a:solidFill>
                  <a:srgbClr val="333333"/>
                </a:solidFill>
                <a:latin typeface="Calibri"/>
              </a:rPr>
              <a:t>Document what you inspected and what you decided to fix so later analysis stays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clip</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Map sectors to typical datasets and goals, recognize the shared lifecycle across domains</a:t>
            </a:r>
          </a:p>
          <a:p>
            <a:pPr>
              <a:spcAft>
                <a:spcPts val="1000"/>
              </a:spcAft>
              <a:buChar char="•"/>
              <a:lnSpc>
                <a:spcPts val="2200"/>
              </a:lnSpc>
            </a:pPr>
            <a:r>
              <a:rPr sz="2000" b="0">
                <a:solidFill>
                  <a:srgbClr val="333333"/>
                </a:solidFill>
                <a:latin typeface="Calibri"/>
              </a:rPr>
              <a:t>Outline the steps in the customer-churn case study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Applications across sectors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Use them to monitor performance, detect risk, or personalize services</a:t>
            </a:r>
          </a:p>
          <a:p>
            <a:pPr>
              <a:spcAft>
                <a:spcPts val="1000"/>
              </a:spcAft>
              <a:buChar char="•"/>
              <a:lnSpc>
                <a:spcPts val="2200"/>
              </a:lnSpc>
            </a:pPr>
            <a:r>
              <a:rPr sz="2000" b="0">
                <a:solidFill>
                  <a:srgbClr val="333333"/>
                </a:solidFill>
                <a:latin typeface="Calibri"/>
              </a:rPr>
              <a:t>Retail emphasizes purchase and clickstream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 — Purchase history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1.21 — hands-on module</a:t>
            </a:r>
          </a:p>
          <a:p>
            <a:pPr>
              <a:spcAft>
                <a:spcPts val="1000"/>
              </a:spcAft>
              <a:buChar char="•"/>
              <a:lnSpc>
                <a:spcPts val="2200"/>
              </a:lnSpc>
            </a:pPr>
            <a:r>
              <a:rPr sz="2000" b="0">
                <a:solidFill>
                  <a:srgbClr val="333333"/>
                </a:solidFill>
                <a:latin typeface="Calibri"/>
              </a:rPr>
              <a:t>Example 1.21 stores one row per order with customer, category, date, and amount</a:t>
            </a:r>
          </a:p>
          <a:p>
            <a:pPr>
              <a:spcAft>
                <a:spcPts val="1000"/>
              </a:spcAft>
              <a:buChar char="•"/>
              <a:lnSpc>
                <a:spcPts val="2200"/>
              </a:lnSpc>
            </a:pPr>
            <a:r>
              <a:rPr sz="2000" b="0">
                <a:solidFill>
                  <a:srgbClr val="333333"/>
                </a:solidFill>
                <a:latin typeface="Calibri"/>
              </a:rPr>
              <a:t>Aggregating by customer reveals repurchase intervals and category preferences that drive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`modules/chapter1/example21/`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study: customer churn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churn case study stitches the chapter together</a:t>
            </a:r>
          </a:p>
          <a:p>
            <a:pPr>
              <a:spcAft>
                <a:spcPts val="1000"/>
              </a:spcAft>
              <a:buChar char="•"/>
              <a:lnSpc>
                <a:spcPts val="2200"/>
              </a:lnSpc>
            </a:pPr>
            <a:r>
              <a:rPr sz="2000" b="0">
                <a:solidFill>
                  <a:srgbClr val="333333"/>
                </a:solidFill>
                <a:latin typeface="Calibri"/>
              </a:rPr>
              <a:t>Ranked feature importance highlights which behaviors precede churn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 — Churn model sketch</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1.31 — hands-on module</a:t>
            </a:r>
          </a:p>
          <a:p>
            <a:pPr>
              <a:spcAft>
                <a:spcPts val="1000"/>
              </a:spcAft>
              <a:buChar char="•"/>
              <a:lnSpc>
                <a:spcPts val="2200"/>
              </a:lnSpc>
            </a:pPr>
            <a:r>
              <a:rPr sz="2000" b="0">
                <a:solidFill>
                  <a:srgbClr val="333333"/>
                </a:solidFill>
                <a:latin typeface="Calibri"/>
              </a:rPr>
              <a:t>Example 1.31 provides a Python sketch of that pipeline</a:t>
            </a:r>
          </a:p>
          <a:p>
            <a:pPr>
              <a:spcAft>
                <a:spcPts val="1000"/>
              </a:spcAft>
              <a:buChar char="•"/>
              <a:lnSpc>
                <a:spcPts val="2200"/>
              </a:lnSpc>
            </a:pPr>
            <a:r>
              <a:rPr sz="2000" b="0">
                <a:solidFill>
                  <a:srgbClr val="333333"/>
                </a:solidFill>
                <a:latin typeface="Calibri"/>
              </a:rPr>
              <a:t>The same structure appears in fraud scoring and demand forecasting</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`modules/chapter1/example31/`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pandas as pd</a:t>
            </a:r>
          </a:p>
          <a:p>
            <a:pPr>
              <a:lnSpc>
                <a:spcPts val="2200"/>
              </a:lnSpc>
              <a:spcAft>
                <a:spcPts val="400"/>
              </a:spcAft>
            </a:pPr>
            <a:r>
              <a:rPr sz="2000" b="0">
                <a:solidFill>
                  <a:srgbClr val="333333"/>
                </a:solidFill>
                <a:latin typeface="Consolas"/>
              </a:rPr>
              <a:t>import numpy as np</a:t>
            </a:r>
          </a:p>
          <a:p>
            <a:pPr>
              <a:lnSpc>
                <a:spcPts val="2200"/>
              </a:lnSpc>
              <a:spcAft>
                <a:spcPts val="400"/>
              </a:spcAft>
            </a:pPr>
            <a:r>
              <a:rPr sz="2000" b="0">
                <a:solidFill>
                  <a:srgbClr val="333333"/>
                </a:solidFill>
                <a:latin typeface="Consolas"/>
              </a:rPr>
              <a:t>from sklearn.ensemble import RandomForestClassifier</a:t>
            </a:r>
          </a:p>
          <a:p>
            <a:pPr>
              <a:lnSpc>
                <a:spcPts val="2200"/>
              </a:lnSpc>
              <a:spcAft>
                <a:spcPts val="400"/>
              </a:spcAft>
            </a:pPr>
            <a:r>
              <a:rPr sz="2000" b="0">
                <a:solidFill>
                  <a:srgbClr val="333333"/>
                </a:solidFill>
                <a:latin typeface="Consolas"/>
              </a:rPr>
              <a:t>from sklearn.model_selection import train_test_split</a:t>
            </a:r>
          </a:p>
          <a:p>
            <a:pPr>
              <a:lnSpc>
                <a:spcPts val="2200"/>
              </a:lnSpc>
              <a:spcAft>
                <a:spcPts val="400"/>
              </a:spcAft>
            </a:pPr>
            <a:r>
              <a:rPr sz="2000" b="0">
                <a:solidFill>
                  <a:srgbClr val="333333"/>
                </a:solidFill>
                <a:latin typeface="Consolas"/>
              </a:rPr>
              <a:t>from sklearn.impute import SimpleImputer</a:t>
            </a:r>
          </a:p>
          <a:p>
            <a:pPr>
              <a:lnSpc>
                <a:spcPts val="2200"/>
              </a:lnSpc>
              <a:spcAft>
                <a:spcPts val="400"/>
              </a:spcAft>
            </a:pPr>
            <a:r>
              <a:rPr sz="2000" b="0">
                <a:solidFill>
                  <a:srgbClr val="333333"/>
                </a:solidFill>
                <a:latin typeface="Consolas"/>
              </a:rPr>
              <a:t>from sklearn.metrics import accuracy_score, precision_score,</a:t>
            </a:r>
          </a:p>
          <a:p>
            <a:pPr>
              <a:lnSpc>
                <a:spcPts val="2200"/>
              </a:lnSpc>
              <a:spcAft>
                <a:spcPts val="400"/>
              </a:spcAft>
            </a:pPr>
            <a:r>
              <a:rPr sz="2000" b="0">
                <a:solidFill>
                  <a:srgbClr val="333333"/>
                </a:solidFill>
                <a:latin typeface="Consolas"/>
              </a:rPr>
              <a:t>recall_score, f1_score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Sample dataset</a:t>
            </a:r>
          </a:p>
          <a:p>
            <a:pPr>
              <a:lnSpc>
                <a:spcPts val="2200"/>
              </a:lnSpc>
              <a:spcAft>
                <a:spcPts val="400"/>
              </a:spcAft>
            </a:pPr>
            <a:r>
              <a:rPr sz="2000" b="0">
                <a:solidFill>
                  <a:srgbClr val="333333"/>
                </a:solidFill>
                <a:latin typeface="Consolas"/>
              </a:rPr>
              <a:t>data = {</a:t>
            </a:r>
          </a:p>
          <a:p>
            <a:pPr>
              <a:lnSpc>
                <a:spcPts val="2200"/>
              </a:lnSpc>
              <a:spcAft>
                <a:spcPts val="400"/>
              </a:spcAft>
            </a:pPr>
            <a:r>
              <a:rPr sz="2000" b="0">
                <a:solidFill>
                  <a:srgbClr val="333333"/>
                </a:solidFill>
                <a:latin typeface="Consolas"/>
              </a:rPr>
              <a:t>    "Customer_ID": [1001, 1002, 1003, 1004, 1005, 1006, 1007, 1008,</a:t>
            </a:r>
          </a:p>
          <a:p>
            <a:pPr>
              <a:lnSpc>
                <a:spcPts val="2200"/>
              </a:lnSpc>
              <a:spcAft>
                <a:spcPts val="400"/>
              </a:spcAft>
            </a:pPr>
            <a:r>
              <a:rPr sz="2000" b="0">
                <a:solidFill>
                  <a:srgbClr val="333333"/>
                </a:solidFill>
                <a:latin typeface="Consolas"/>
              </a:rPr>
              <a:t>1009, 1010],</a:t>
            </a:r>
          </a:p>
          <a:p>
            <a:pPr>
              <a:lnSpc>
                <a:spcPts val="2200"/>
              </a:lnSpc>
              <a:spcAft>
                <a:spcPts val="400"/>
              </a:spcAft>
            </a:pPr>
            <a:r>
              <a:rPr sz="2000" b="0">
                <a:solidFill>
                  <a:srgbClr val="333333"/>
                </a:solidFill>
                <a:latin typeface="Consolas"/>
              </a:rPr>
              <a:t>    "Complaints": [2, 5, 8, 1, 3, 7, 0, 4, 6, 9],</a:t>
            </a:r>
          </a:p>
          <a:p>
            <a:pPr>
              <a:lnSpc>
                <a:spcPts val="2200"/>
              </a:lnSpc>
              <a:spcAft>
                <a:spcPts val="400"/>
              </a:spcAft>
            </a:pPr>
            <a:r>
              <a:rPr sz="2000" b="0">
                <a:solidFill>
                  <a:srgbClr val="333333"/>
                </a:solidFill>
                <a:latin typeface="Consolas"/>
              </a:rPr>
              <a:t>    "Product_Usage": [50, 30, 20, 70, 45, 15, 80, 35, 25, 10],</a:t>
            </a:r>
          </a:p>
          <a:p>
            <a:pPr>
              <a:lnSpc>
                <a:spcPts val="2200"/>
              </a:lnSpc>
              <a:spcAft>
                <a:spcPts val="400"/>
              </a:spcAft>
            </a:pPr>
            <a:r>
              <a:rPr sz="2000" b="0">
                <a:solidFill>
                  <a:srgbClr val="333333"/>
                </a:solidFill>
                <a:latin typeface="Consolas"/>
              </a:rPr>
              <a:t>    "Account_Activity_Change": [5, -10, -15, 8, -5, -20, 10, -7, -12,</a:t>
            </a:r>
          </a:p>
          <a:p>
            <a:pPr>
              <a:lnSpc>
                <a:spcPts val="2200"/>
              </a:lnSpc>
              <a:spcAft>
                <a:spcPts val="400"/>
              </a:spcAft>
            </a:pPr>
            <a:r>
              <a:rPr sz="2000" b="0">
                <a:solidFill>
                  <a:srgbClr val="333333"/>
                </a:solidFill>
                <a:latin typeface="Consolas"/>
              </a:rPr>
              <a:t>-25],</a:t>
            </a:r>
          </a:p>
          <a:p>
            <a:pPr>
              <a:lnSpc>
                <a:spcPts val="2200"/>
              </a:lnSpc>
              <a:spcAft>
                <a:spcPts val="400"/>
              </a:spcAft>
            </a:pPr>
            <a:r>
              <a:rPr sz="2000" b="0">
                <a:solidFill>
                  <a:srgbClr val="333333"/>
                </a:solidFill>
                <a:latin typeface="Consolas"/>
              </a:rPr>
              <a:t>    "Subscription_Length": [24, 36, 12, 48, 30, 6, 60, 28, 14, 10],</a:t>
            </a:r>
          </a:p>
          <a:p>
            <a:pPr>
              <a:lnSpc>
                <a:spcPts val="2200"/>
              </a:lnSpc>
              <a:spcAft>
                <a:spcPts val="400"/>
              </a:spcAft>
            </a:pPr>
            <a:r>
              <a:rPr sz="2000" b="0">
                <a:solidFill>
                  <a:srgbClr val="333333"/>
                </a:solidFill>
                <a:latin typeface="Consolas"/>
              </a:rPr>
              <a:t>    "Churned": [0, 1, 1, 0, 0, 1, 0, 1, 1, 1]  # 1 = Churned, 0 = Not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Domain vocabulary changes; the lifecycle does not</a:t>
            </a:r>
          </a:p>
          <a:p>
            <a:pPr>
              <a:spcAft>
                <a:spcPts val="1000"/>
              </a:spcAft>
              <a:buChar char="•"/>
              <a:lnSpc>
                <a:spcPts val="2200"/>
              </a:lnSpc>
            </a:pPr>
            <a:r>
              <a:rPr sz="2000" b="0">
                <a:solidFill>
                  <a:srgbClr val="333333"/>
                </a:solidFill>
                <a:latin typeface="Calibri"/>
              </a:rPr>
              <a:t>Quality and exploration feed every serious application</a:t>
            </a:r>
          </a:p>
          <a:p>
            <a:pPr>
              <a:spcAft>
                <a:spcPts val="1000"/>
              </a:spcAft>
              <a:buChar char="•"/>
              <a:lnSpc>
                <a:spcPts val="2200"/>
              </a:lnSpc>
            </a:pPr>
            <a:r>
              <a:rPr sz="2000" b="0">
                <a:solidFill>
                  <a:srgbClr val="333333"/>
                </a:solidFill>
                <a:latin typeface="Calibri"/>
              </a:rPr>
              <a:t>Churn is the chapter's end-to-end illustration of define, prepare, model, and intervene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clip</a:t>
            </a:r>
          </a:p>
          <a:p>
            <a:pPr>
              <a:spcAft>
                <a:spcPts val="1000"/>
              </a:spcAft>
              <a:buChar char="•"/>
              <a:lnSpc>
                <a:spcPts val="2200"/>
              </a:lnSpc>
            </a:pPr>
            <a:r>
              <a:rPr sz="2000" b="0">
                <a:solidFill>
                  <a:srgbClr val="333333"/>
                </a:solidFill>
                <a:latin typeface="Calibri"/>
              </a:rPr>
              <a:t>Complete the quiz, then finish the chapter with dataset management, versioning, access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Explain why management matters after a model ships</a:t>
            </a:r>
          </a:p>
          <a:p>
            <a:pPr>
              <a:spcAft>
                <a:spcPts val="1000"/>
              </a:spcAft>
              <a:buChar char="•"/>
              <a:lnSpc>
                <a:spcPts val="2200"/>
              </a:lnSpc>
            </a:pPr>
            <a:r>
              <a:rPr sz="2000" b="0">
                <a:solidFill>
                  <a:srgbClr val="333333"/>
                </a:solidFill>
                <a:latin typeface="Calibri"/>
              </a:rPr>
              <a:t>Name privacy controls that protect sensitive extracts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management matters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dataset is collected, cleaned, documented, stored, shared, and sometimes retired</a:t>
            </a:r>
          </a:p>
          <a:p>
            <a:pPr>
              <a:spcAft>
                <a:spcPts val="1000"/>
              </a:spcAft>
              <a:buChar char="•"/>
              <a:lnSpc>
                <a:spcPts val="2200"/>
              </a:lnSpc>
            </a:pPr>
            <a:r>
              <a:rPr sz="2000" b="0">
                <a:solidFill>
                  <a:srgbClr val="333333"/>
                </a:solidFill>
                <a:latin typeface="Calibri"/>
              </a:rPr>
              <a:t>Traceability links figures to their sources</a:t>
            </a:r>
          </a:p>
          <a:p>
            <a:pPr>
              <a:spcAft>
                <a:spcPts val="1000"/>
              </a:spcAft>
              <a:buChar char="•"/>
              <a:lnSpc>
                <a:spcPts val="2200"/>
              </a:lnSpc>
            </a:pPr>
            <a:r>
              <a:rPr sz="2000" b="0">
                <a:solidFill>
                  <a:srgbClr val="333333"/>
                </a:solidFill>
                <a:latin typeface="Calibri"/>
              </a:rPr>
              <a:t>Without these foundations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Best practices (overview)</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Table 1.8 highlights version control</a:t>
            </a:r>
          </a:p>
          <a:p>
            <a:pPr>
              <a:spcAft>
                <a:spcPts val="1000"/>
              </a:spcAft>
              <a:buChar char="•"/>
              <a:lnSpc>
                <a:spcPts val="2200"/>
              </a:lnSpc>
            </a:pPr>
            <a:r>
              <a:rPr sz="2000" b="0">
                <a:solidFill>
                  <a:srgbClr val="333333"/>
                </a:solidFill>
                <a:latin typeface="Calibri"/>
              </a:rPr>
              <a:t>These reinforce one another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Privacy and security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Encryption, anonymization, role-based access with MFA, regulatory compliance</a:t>
            </a:r>
          </a:p>
          <a:p>
            <a:pPr>
              <a:spcAft>
                <a:spcPts val="1000"/>
              </a:spcAft>
              <a:buChar char="•"/>
              <a:lnSpc>
                <a:spcPts val="2200"/>
              </a:lnSpc>
            </a:pPr>
            <a:r>
              <a:rPr sz="2000" b="0">
                <a:solidFill>
                  <a:srgbClr val="333333"/>
                </a:solidFill>
                <a:latin typeface="Calibri"/>
              </a:rPr>
              <a:t>Healthcare extracts, banking ledgers</a:t>
            </a:r>
          </a:p>
          <a:p>
            <a:pPr>
              <a:spcAft>
                <a:spcPts val="1000"/>
              </a:spcAft>
              <a:buChar char="•"/>
              <a:lnSpc>
                <a:spcPts val="2200"/>
              </a:lnSpc>
            </a:pPr>
            <a:r>
              <a:rPr sz="2000" b="0">
                <a:solidFill>
                  <a:srgbClr val="333333"/>
                </a:solidFill>
                <a:latin typeface="Calibri"/>
              </a:rPr>
              <a:t>Ethical nuance continues in later chapters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Looking ahead</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Chapter 1 established definitions, types, quality, exploration, applications</a:t>
            </a:r>
          </a:p>
          <a:p>
            <a:pPr>
              <a:spcAft>
                <a:spcPts val="1000"/>
              </a:spcAft>
              <a:buChar char="•"/>
              <a:lnSpc>
                <a:spcPts val="2200"/>
              </a:lnSpc>
            </a:pPr>
            <a:r>
              <a:rPr sz="2000" b="0">
                <a:solidFill>
                  <a:srgbClr val="333333"/>
                </a:solidFill>
                <a:latin typeface="Calibri"/>
              </a:rPr>
              <a:t>Chapter 2 turns to data collection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Management is not optional</a:t>
            </a:r>
          </a:p>
          <a:p>
            <a:pPr>
              <a:spcAft>
                <a:spcPts val="1000"/>
              </a:spcAft>
              <a:buChar char="•"/>
              <a:lnSpc>
                <a:spcPts val="2200"/>
              </a:lnSpc>
            </a:pPr>
            <a:r>
              <a:rPr sz="2000" b="0">
                <a:solidFill>
                  <a:srgbClr val="333333"/>
                </a:solidFill>
                <a:latin typeface="Calibri"/>
              </a:rPr>
              <a:t>Versioning, metadata, and access must work together</a:t>
            </a:r>
          </a:p>
          <a:p>
            <a:pPr>
              <a:spcAft>
                <a:spcPts val="1000"/>
              </a:spcAft>
              <a:buChar char="•"/>
              <a:lnSpc>
                <a:spcPts val="2200"/>
              </a:lnSpc>
            </a:pPr>
            <a:r>
              <a:rPr sz="2000" b="0">
                <a:solidFill>
                  <a:srgbClr val="333333"/>
                </a:solidFill>
                <a:latin typeface="Calibri"/>
              </a:rPr>
              <a:t>Protection begins at first storage and continues through every reuse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clip</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