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Chapter 1 — Introduction to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Short lecture clips covering definitions, types, formats, quality, exploration, applications, and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Define a dataset as curated records and attributes prepared for a purpose</a:t>
            </a:r>
          </a:p>
          <a:p>
            <a:pPr>
              <a:defRPr sz="2000"/>
            </a:pPr>
            <a:r>
              <a:t>Classify datasets by structure, temporal behavior, and storage format</a:t>
            </a:r>
          </a:p>
          <a:p>
            <a:pPr>
              <a:defRPr sz="2000"/>
            </a:pPr>
            <a:r>
              <a:t>Assess quality along accuracy, completeness, consistency, relevance, and timeliness</a:t>
            </a:r>
          </a:p>
          <a:p>
            <a:pPr>
              <a:defRPr sz="2000"/>
            </a:pPr>
            <a:r>
              <a:t>Apply a first-pass exploration mindset before modeling</a:t>
            </a:r>
          </a:p>
          <a:p>
            <a:pPr>
              <a:defRPr sz="2000"/>
            </a:pPr>
            <a:r>
              <a:t>Recognize how organizations put datasets to work and why management matters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1. Introduction to datasets</a:t>
            </a:r>
          </a:p>
          <a:p>
            <a:pPr>
              <a:defRPr sz="2000"/>
            </a:pPr>
            <a:r>
              <a:t>2. Types of datasets</a:t>
            </a:r>
          </a:p>
          <a:p>
            <a:pPr>
              <a:defRPr sz="2000"/>
            </a:pPr>
            <a:r>
              <a:t>3. Dataset formats</a:t>
            </a:r>
          </a:p>
          <a:p>
            <a:pPr>
              <a:defRPr sz="2000"/>
            </a:pPr>
            <a:r>
              <a:t>4. Characteristics of good datasets</a:t>
            </a:r>
          </a:p>
          <a:p>
            <a:pPr>
              <a:defRPr sz="2000"/>
            </a:pPr>
            <a:r>
              <a:t>5. Exploring a dataset</a:t>
            </a:r>
          </a:p>
          <a:p>
            <a:pPr>
              <a:defRPr sz="2000"/>
            </a:pPr>
            <a:r>
              <a:t>6. Uses of datasets</a:t>
            </a:r>
          </a:p>
          <a:p>
            <a:pPr>
              <a:defRPr sz="2000"/>
            </a:pPr>
            <a:r>
              <a:t>7. Dataset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What is a dataset?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Curated collection of data for analysis or decisions</a:t>
            </a:r>
          </a:p>
          <a:p>
            <a:pPr>
              <a:defRPr sz="2000"/>
            </a:pPr>
            <a:r>
              <a:t>Typically organized as records and attributes</a:t>
            </a:r>
          </a:p>
          <a:p>
            <a:pPr>
              <a:defRPr sz="2000"/>
            </a:pPr>
            <a:r>
              <a:t>Prepared for a purpose: scope, structure, documentation</a:t>
            </a:r>
          </a:p>
          <a:p>
            <a:pPr>
              <a:defRPr sz="2000"/>
            </a:pPr>
            <a:r>
              <a:t>Basic unit for ML, statistics, and business intelligence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Records and attributes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**Record** — one observation (row, instance)</a:t>
            </a:r>
          </a:p>
          <a:p>
            <a:pPr>
              <a:defRPr sz="2000"/>
            </a:pPr>
            <a:r>
              <a:t>**Attribute** — one property of that observation (column, field)</a:t>
            </a:r>
          </a:p>
          <a:p>
            <a:pPr>
              <a:defRPr sz="2000"/>
            </a:pPr>
            <a:r>
              <a:t>Sales example: one sale = one record; Date, Product, Price = attributes</a:t>
            </a:r>
          </a:p>
          <a:p>
            <a:pPr>
              <a:defRPr sz="2000"/>
            </a:pPr>
            <a:r>
              <a:t>Same pattern in healthcare, sensors, and other domains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Example 1.1 — Sample CSV sales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Setting: six retail transactions in CSV</a:t>
            </a:r>
          </a:p>
          <a:p>
            <a:pPr>
              <a:defRPr sz="2000"/>
            </a:pPr>
            <a:r>
              <a:t>Key idea: each row is one sale; columns describe it</a:t>
            </a:r>
          </a:p>
          <a:p>
            <a:pPr>
              <a:defRPr sz="2000"/>
            </a:pPr>
            <a:r>
              <a:t>Try it: `modules/chapter1/example1/`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Example 1.4 — Housing prices in 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Setting: nested property listings (semi-structured)</a:t>
            </a:r>
          </a:p>
          <a:p>
            <a:pPr>
              <a:defRPr sz="2000"/>
            </a:pPr>
            <a:r>
              <a:t>Key idea: records need not be flat tables</a:t>
            </a:r>
          </a:p>
          <a:p>
            <a:pPr>
              <a:defRPr sz="2000"/>
            </a:pPr>
            <a:r>
              <a:t>Same goal: meaningful, interpretable data for analysis</a:t>
            </a:r>
          </a:p>
          <a:p>
            <a:pPr>
              <a:defRPr sz="2000"/>
            </a:pPr>
            <a:r>
              <a:t>Try it: `modules/chapter1/example4/`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 dataset is curated for a purpose, not just a dump of bytes</a:t>
            </a:r>
          </a:p>
          <a:p>
            <a:pPr>
              <a:defRPr sz="2000"/>
            </a:pPr>
            <a:r>
              <a:t>Records + attributes are the core vocabulary</a:t>
            </a:r>
          </a:p>
          <a:p>
            <a:pPr>
              <a:defRPr sz="2000"/>
            </a:pPr>
            <a:r>
              <a:t>Form varies (CSV, JSON, images, text); the goal stays insight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Chapter 1 — Types of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Classify datasets by structure and temporal behavior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Contrast structured, unstructured, and semi-structured data</a:t>
            </a:r>
          </a:p>
          <a:p>
            <a:pPr>
              <a:defRPr sz="2000"/>
            </a:pPr>
            <a:r>
              <a:t>Give a typical format and example for each structural type</a:t>
            </a:r>
          </a:p>
          <a:p>
            <a:pPr>
              <a:defRPr sz="2000"/>
            </a:pPr>
            <a:r>
              <a:t>Distinguish static from dynamic datasets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Two classification axes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**Structure:** structured / unstructured / semi-structured</a:t>
            </a:r>
          </a:p>
          <a:p>
            <a:pPr>
              <a:defRPr sz="2000"/>
            </a:pPr>
            <a:r>
              <a:t>**Temporal behavior:** static vs dynamic</a:t>
            </a:r>
          </a:p>
          <a:p>
            <a:pPr>
              <a:defRPr sz="2000"/>
            </a:pPr>
            <a:r>
              <a:t>Structure affects how you store, query, and analyze</a:t>
            </a:r>
          </a:p>
          <a:p>
            <a:pPr>
              <a:defRPr sz="2000"/>
            </a:pPr>
            <a:r>
              <a:t>Choosing the right representation is a prerequisite for reliable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Structured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Fixed schema: rows and columns, consistent types</a:t>
            </a:r>
          </a:p>
          <a:p>
            <a:pPr>
              <a:defRPr sz="2000"/>
            </a:pPr>
            <a:r>
              <a:t>Common stores: spreadsheets, relational tables, CSV</a:t>
            </a:r>
          </a:p>
          <a:p>
            <a:pPr>
              <a:defRPr sz="2000"/>
            </a:pPr>
            <a:r>
              <a:t>Easy to filter, join, and aggregate</a:t>
            </a:r>
          </a:p>
          <a:p>
            <a:pPr>
              <a:defRPr sz="2000"/>
            </a:pPr>
            <a:r>
              <a:t>Example: customer table (ID, Name, Email, …)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Unstructured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No fixed row–column schema</a:t>
            </a:r>
          </a:p>
          <a:p>
            <a:pPr>
              <a:defRPr sz="2000"/>
            </a:pPr>
            <a:r>
              <a:t>Text, images, audio, video</a:t>
            </a:r>
          </a:p>
          <a:p>
            <a:pPr>
              <a:defRPr sz="2000"/>
            </a:pPr>
            <a:r>
              <a:t>Insights often need NLP or computer vision</a:t>
            </a:r>
          </a:p>
          <a:p>
            <a:pPr>
              <a:defRPr sz="2000"/>
            </a:pPr>
            <a:r>
              <a:t>Example: social posts, X-rays, voice recordings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Semi-structured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Flexible schema with tags or keys (JSON, XML, YAML)</a:t>
            </a:r>
          </a:p>
          <a:p>
            <a:pPr>
              <a:defRPr sz="2000"/>
            </a:pPr>
            <a:r>
              <a:t>Nested fields without a rigid relational table</a:t>
            </a:r>
          </a:p>
          <a:p>
            <a:pPr>
              <a:defRPr sz="2000"/>
            </a:pPr>
            <a:r>
              <a:t>Example 1.7: JSON objects with varying optional keys</a:t>
            </a:r>
          </a:p>
          <a:p>
            <a:pPr>
              <a:defRPr sz="2000"/>
            </a:pPr>
            <a:r>
              <a:t>Try it: `modules/chapter1/example7/`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Static vs dynamic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**Static:** snapshot that changes rarely (archive census extract)</a:t>
            </a:r>
          </a:p>
          <a:p>
            <a:pPr>
              <a:defRPr sz="2000"/>
            </a:pPr>
            <a:r>
              <a:t>**Dynamic:** updates continuously (sensor streams, click logs)</a:t>
            </a:r>
          </a:p>
          <a:p>
            <a:pPr>
              <a:defRPr sz="2000"/>
            </a:pPr>
            <a:r>
              <a:t>Same entity can appear in both forms over its lifecycle</a:t>
            </a:r>
          </a:p>
          <a:p>
            <a:pPr>
              <a:defRPr sz="2000"/>
            </a:pPr>
            <a:r>
              <a:t>Temporal behavior drives refresh, versioning, and monitoring needs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Structure and time are independent axes</a:t>
            </a:r>
          </a:p>
          <a:p>
            <a:pPr>
              <a:defRPr sz="2000"/>
            </a:pPr>
            <a:r>
              <a:t>Structured data is easiest to query; unstructured needs extraction</a:t>
            </a:r>
          </a:p>
          <a:p>
            <a:pPr>
              <a:defRPr sz="2000"/>
            </a:pPr>
            <a:r>
              <a:t>Semi-structured sits between: flexible keys, still machine-readable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Chapter 1 — Dataset formats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Match storage formats to structure, volume, and tools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Name common formats for tabular, hierarchical, and geospatial data</a:t>
            </a:r>
          </a:p>
          <a:p>
            <a:pPr>
              <a:defRPr sz="2000"/>
            </a:pPr>
            <a:r>
              <a:t>Explain when CSV, SQL, HDF5, or GeoJSON is a fit</a:t>
            </a:r>
          </a:p>
          <a:p>
            <a:pPr>
              <a:defRPr sz="2000"/>
            </a:pPr>
            <a:r>
              <a:t>Link format choice to downstream tooling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Why format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Format is how structure is serialized on disk</a:t>
            </a:r>
          </a:p>
          <a:p>
            <a:pPr>
              <a:defRPr sz="2000"/>
            </a:pPr>
            <a:r>
              <a:t>Wrong format creates friction in the pipeline</a:t>
            </a:r>
          </a:p>
          <a:p>
            <a:pPr>
              <a:defRPr sz="2000"/>
            </a:pPr>
            <a:r>
              <a:t>Match format to structure, volume, and tools</a:t>
            </a:r>
          </a:p>
          <a:p>
            <a:pPr>
              <a:defRPr sz="2000"/>
            </a:pPr>
            <a:r>
              <a:t>Complements the type taxonomy from the previous clip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Common formats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**CSV** — simple tabular exchange</a:t>
            </a:r>
          </a:p>
          <a:p>
            <a:pPr>
              <a:defRPr sz="2000"/>
            </a:pPr>
            <a:r>
              <a:t>**SQL tables** — queryable structured stores</a:t>
            </a:r>
          </a:p>
          <a:p>
            <a:pPr>
              <a:defRPr sz="2000"/>
            </a:pPr>
            <a:r>
              <a:t>**JSON / GeoJSON** — nested or spatial features</a:t>
            </a:r>
          </a:p>
          <a:p>
            <a:pPr>
              <a:defRPr sz="2000"/>
            </a:pPr>
            <a:r>
              <a:t>**HDF5** — large scientific / array datasets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Example 1.8 — SQL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Setting: relational tables with typed columns</a:t>
            </a:r>
          </a:p>
          <a:p>
            <a:pPr>
              <a:defRPr sz="2000"/>
            </a:pPr>
            <a:r>
              <a:t>Key idea: schema + queries for filtering and joins</a:t>
            </a:r>
          </a:p>
          <a:p>
            <a:pPr>
              <a:defRPr sz="2000"/>
            </a:pPr>
            <a:r>
              <a:t>Fits structured datasets with stable attributes</a:t>
            </a:r>
          </a:p>
          <a:p>
            <a:pPr>
              <a:defRPr sz="2000"/>
            </a:pPr>
            <a:r>
              <a:t>Try it: `modules/chapter1/example8/`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Example 1.9 — HDF5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Setting: hierarchical binary store for arrays</a:t>
            </a:r>
          </a:p>
          <a:p>
            <a:pPr>
              <a:defRPr sz="2000"/>
            </a:pPr>
            <a:r>
              <a:t>Key idea: efficient read/write for large numeric data</a:t>
            </a:r>
          </a:p>
          <a:p>
            <a:pPr>
              <a:defRPr sz="2000"/>
            </a:pPr>
            <a:r>
              <a:t>Common in scientific and ML feature pipelines</a:t>
            </a:r>
          </a:p>
          <a:p>
            <a:pPr>
              <a:defRPr sz="2000"/>
            </a:pPr>
            <a:r>
              <a:t>Try it: `modules/chapter1/example9/`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Choosing a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Start from structure (tabular vs nested vs spatial)</a:t>
            </a:r>
          </a:p>
          <a:p>
            <a:pPr>
              <a:defRPr sz="2000"/>
            </a:pPr>
            <a:r>
              <a:t>Consider size, update rate, and who will query it</a:t>
            </a:r>
          </a:p>
          <a:p>
            <a:pPr>
              <a:defRPr sz="2000"/>
            </a:pPr>
            <a:r>
              <a:t>Prefer formats your stack already supports well</a:t>
            </a:r>
          </a:p>
          <a:p>
            <a:pPr>
              <a:defRPr sz="2000"/>
            </a:pPr>
            <a:r>
              <a:t>Document the choice in metadata (next quality topics)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Format = serialization of structure</a:t>
            </a:r>
          </a:p>
          <a:p>
            <a:pPr>
              <a:defRPr sz="2000"/>
            </a:pPr>
            <a:r>
              <a:t>CSV and SQL dominate everyday tables</a:t>
            </a:r>
          </a:p>
          <a:p>
            <a:pPr>
              <a:defRPr sz="2000"/>
            </a:pPr>
            <a:r>
              <a:t>HDF5 and GeoJSON serve specialized shapes and scales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Chapter 1 — Characteristics of good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Judge quality as a bundle of task-relative dimensions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List five quality dimensions from the chapter</a:t>
            </a:r>
          </a:p>
          <a:p>
            <a:pPr>
              <a:defRPr sz="2000"/>
            </a:pPr>
            <a:r>
              <a:t>Diagnose accuracy, completeness, and consistency defects</a:t>
            </a:r>
          </a:p>
          <a:p>
            <a:pPr>
              <a:defRPr sz="2000"/>
            </a:pPr>
            <a:r>
              <a:t>Explain why metadata and documentation matter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Five quality dimensions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**Accuracy** — values reflect ground truth closely enough</a:t>
            </a:r>
          </a:p>
          <a:p>
            <a:pPr>
              <a:defRPr sz="2000"/>
            </a:pPr>
            <a:r>
              <a:t>**Completeness** — needed records and attributes are present</a:t>
            </a:r>
          </a:p>
          <a:p>
            <a:pPr>
              <a:defRPr sz="2000"/>
            </a:pPr>
            <a:r>
              <a:t>**Consistency** — uniform formats, units, definitions</a:t>
            </a:r>
          </a:p>
          <a:p>
            <a:pPr>
              <a:defRPr sz="2000"/>
            </a:pPr>
            <a:r>
              <a:t>**Relevance** — data answers the intended question</a:t>
            </a:r>
          </a:p>
          <a:p>
            <a:pPr>
              <a:defRPr sz="2000"/>
            </a:pPr>
            <a:r>
              <a:t>**Timeliness** — data is sufficiently up to date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Example 1.11 — Incorrect transaction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Setting: financial ledger with a mis-keyed amount</a:t>
            </a:r>
          </a:p>
          <a:p>
            <a:pPr>
              <a:defRPr sz="2000"/>
            </a:pPr>
            <a:r>
              <a:t>Key idea: one extra zero shifts monthly revenue by 10×</a:t>
            </a:r>
          </a:p>
          <a:p>
            <a:pPr>
              <a:defRPr sz="2000"/>
            </a:pPr>
            <a:r>
              <a:t>Accuracy failures distort aggregates and forecasts</a:t>
            </a:r>
          </a:p>
          <a:p>
            <a:pPr>
              <a:defRPr sz="2000"/>
            </a:pPr>
            <a:r>
              <a:t>Try it: `modules/chapter1/example11/`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Completeness and consistency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Missing age or diagnosis fields bias clinical models (eg:1.12)</a:t>
            </a:r>
          </a:p>
          <a:p>
            <a:pPr>
              <a:defRPr sz="2000"/>
            </a:pPr>
            <a:r>
              <a:t>Mixed date formats break chronological sorting (eg:1.13)</a:t>
            </a:r>
          </a:p>
          <a:p>
            <a:pPr>
              <a:defRPr sz="2000"/>
            </a:pPr>
            <a:r>
              <a:t>Defects interact: complete yet inaccurate still fails the task</a:t>
            </a:r>
          </a:p>
          <a:p>
            <a:pPr>
              <a:defRPr sz="2000"/>
            </a:pPr>
            <a:r>
              <a:t>Systematic repair is deferred to later chapters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Metadata and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Metadata: who, when, schema, units, provenance</a:t>
            </a:r>
          </a:p>
          <a:p>
            <a:pPr>
              <a:defRPr sz="2000"/>
            </a:pPr>
            <a:r>
              <a:t>Documentation: how to interpret and reuse the file</a:t>
            </a:r>
          </a:p>
          <a:p>
            <a:pPr>
              <a:defRPr sz="2000"/>
            </a:pPr>
            <a:r>
              <a:t>Example 1.14: weather dataset metadata fields</a:t>
            </a:r>
          </a:p>
          <a:p>
            <a:pPr>
              <a:defRPr sz="2000"/>
            </a:pPr>
            <a:r>
              <a:t>Try it: `modules/chapter1/example14/`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Quality is multi-dimensional and task-relative</a:t>
            </a:r>
          </a:p>
          <a:p>
            <a:pPr>
              <a:defRPr sz="2000"/>
            </a:pPr>
            <a:r>
              <a:t>Spot accuracy, missingness, and format clashes early</a:t>
            </a:r>
          </a:p>
          <a:p>
            <a:pPr>
              <a:defRPr sz="2000"/>
            </a:pPr>
            <a:r>
              <a:t>Metadata + docs make datasets usable beyond their author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Chapter 1 — Exploring a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Discover whether a concrete file meets the quality bar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State three early questions exploration should answer</a:t>
            </a:r>
          </a:p>
          <a:p>
            <a:pPr>
              <a:defRPr sz="2000"/>
            </a:pPr>
            <a:r>
              <a:t>Match common tools to dataset size and structure</a:t>
            </a:r>
          </a:p>
          <a:p>
            <a:pPr>
              <a:defRPr sz="2000"/>
            </a:pPr>
            <a:r>
              <a:t>Outline a first-pass profiling pattern (summaries + visuals + missingness)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Why explore first?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Turns an unfamiliar file into a mental model</a:t>
            </a:r>
          </a:p>
          <a:p>
            <a:pPr>
              <a:defRPr sz="2000"/>
            </a:pPr>
            <a:r>
              <a:t>Surfaces seasonal patterns, outliers, missing fields</a:t>
            </a:r>
          </a:p>
          <a:p>
            <a:pPr>
              <a:defRPr sz="2000"/>
            </a:pPr>
            <a:r>
              <a:t>Shapes which quality issues to prioritize</a:t>
            </a:r>
          </a:p>
          <a:p>
            <a:pPr>
              <a:defRPr sz="2000"/>
            </a:pPr>
            <a:r>
              <a:t>Does not replace formal cleaning—reveals where it is needed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Three early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What is in the table?</a:t>
            </a:r>
          </a:p>
          <a:p>
            <a:pPr>
              <a:defRPr sz="2000"/>
            </a:pPr>
            <a:r>
              <a:t>What looks suspicious?</a:t>
            </a:r>
          </a:p>
          <a:p>
            <a:pPr>
              <a:defRPr sz="2000"/>
            </a:pPr>
            <a:r>
              <a:t>What analysis goals remain feasible given defects?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Tools for exploration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Spreadsheets — small tables, quick looks</a:t>
            </a:r>
          </a:p>
          <a:p>
            <a:pPr>
              <a:defRPr sz="2000"/>
            </a:pPr>
            <a:r>
              <a:t>SQL — filter and aggregate relational stores</a:t>
            </a:r>
          </a:p>
          <a:p>
            <a:pPr>
              <a:defRPr sz="2000"/>
            </a:pPr>
            <a:r>
              <a:t>pandas — reproducible profiling scripts</a:t>
            </a:r>
          </a:p>
          <a:p>
            <a:pPr>
              <a:defRPr sz="2000"/>
            </a:pPr>
            <a:r>
              <a:t>Tableau / Power BI — shared interactive views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Example 1.20 — Household incomes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Setting: compact income table + pandas profiling</a:t>
            </a:r>
          </a:p>
          <a:p>
            <a:pPr>
              <a:defRPr sz="2000"/>
            </a:pPr>
            <a:r>
              <a:t>Key idea: summaries, distribution checks, missingness</a:t>
            </a:r>
          </a:p>
          <a:p>
            <a:pPr>
              <a:defRPr sz="2000"/>
            </a:pPr>
            <a:r>
              <a:t>Adapt the script to any new CSV</a:t>
            </a:r>
          </a:p>
          <a:p>
            <a:pPr>
              <a:defRPr sz="2000"/>
            </a:pPr>
            <a:r>
              <a:t>Try it: `modules/chapter1/example20/`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Explore before modeling to set expectations</a:t>
            </a:r>
          </a:p>
          <a:p>
            <a:pPr>
              <a:defRPr sz="2000"/>
            </a:pPr>
            <a:r>
              <a:t>Tool choice follows size, structure, and audience</a:t>
            </a:r>
          </a:p>
          <a:p>
            <a:pPr>
              <a:defRPr sz="2000"/>
            </a:pPr>
            <a:r>
              <a:t>Document what you inspected and what you will fix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Chapter 1 — Uses of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Where datasets create value—and one end-to-end workflow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Map sectors to typical datasets and analytical goals</a:t>
            </a:r>
          </a:p>
          <a:p>
            <a:pPr>
              <a:defRPr sz="2000"/>
            </a:pPr>
            <a:r>
              <a:t>Trace the shared lifecycle: define, assess, explore, act</a:t>
            </a:r>
          </a:p>
          <a:p>
            <a:pPr>
              <a:defRPr sz="2000"/>
            </a:pPr>
            <a:r>
              <a:t>Outline the customer-churn case study steps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Applications across sectors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Retail: purchase histories → segmentation, forecasts</a:t>
            </a:r>
          </a:p>
          <a:p>
            <a:pPr>
              <a:defRPr sz="2000"/>
            </a:pPr>
            <a:r>
              <a:t>Healthcare: EHRs and wearables → risk and monitoring</a:t>
            </a:r>
          </a:p>
          <a:p>
            <a:pPr>
              <a:defRPr sz="2000"/>
            </a:pPr>
            <a:r>
              <a:t>Finance: ledgers → fraud and credit scoring</a:t>
            </a:r>
          </a:p>
          <a:p>
            <a:pPr>
              <a:defRPr sz="2000"/>
            </a:pPr>
            <a:r>
              <a:t>Education and government: logs and statistics → intervention and planning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Example 1.21 — Purchase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Setting: one row per order (customer, category, date, amount)</a:t>
            </a:r>
          </a:p>
          <a:p>
            <a:pPr>
              <a:defRPr sz="2000"/>
            </a:pPr>
            <a:r>
              <a:t>Key idea: aggregates reveal repurchase rhythms</a:t>
            </a:r>
          </a:p>
          <a:p>
            <a:pPr>
              <a:defRPr sz="2000"/>
            </a:pPr>
            <a:r>
              <a:t>Drives segmentation and promotional calendars</a:t>
            </a:r>
          </a:p>
          <a:p>
            <a:pPr>
              <a:defRPr sz="2000"/>
            </a:pPr>
            <a:r>
              <a:t>Module: `modules/chapter1/example21/`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Case study: customer churn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Collect and join customer behavior features</a:t>
            </a:r>
          </a:p>
          <a:p>
            <a:pPr>
              <a:defRPr sz="2000"/>
            </a:pPr>
            <a:r>
              <a:t>Explore and clean before modeling</a:t>
            </a:r>
          </a:p>
          <a:p>
            <a:pPr>
              <a:defRPr sz="2000"/>
            </a:pPr>
            <a:r>
              <a:t>Train a classifier; score risk of cancellation</a:t>
            </a:r>
          </a:p>
          <a:p>
            <a:pPr>
              <a:defRPr sz="2000"/>
            </a:pPr>
            <a:r>
              <a:t>Act with retention offers guided by feature importance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Example 1.31 — Churn model sketch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Setting: Python workflow on churn labels</a:t>
            </a:r>
          </a:p>
          <a:p>
            <a:pPr>
              <a:defRPr sz="2000"/>
            </a:pPr>
            <a:r>
              <a:t>Key idea: same arc as fraud or demand forecasting</a:t>
            </a:r>
          </a:p>
          <a:p>
            <a:pPr>
              <a:defRPr sz="2000"/>
            </a:pPr>
            <a:r>
              <a:t>Only labels and cost of errors change by domain</a:t>
            </a:r>
          </a:p>
          <a:p>
            <a:pPr>
              <a:defRPr sz="2000"/>
            </a:pPr>
            <a:r>
              <a:t>Try it: `modules/chapter1/example31/`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Domain vocabulary changes; the lifecycle does not</a:t>
            </a:r>
          </a:p>
          <a:p>
            <a:pPr>
              <a:defRPr sz="2000"/>
            </a:pPr>
            <a:r>
              <a:t>Exploration and quality feed every serious application</a:t>
            </a:r>
          </a:p>
          <a:p>
            <a:pPr>
              <a:defRPr sz="2000"/>
            </a:pPr>
            <a:r>
              <a:t>Churn shows define → prepare → model → intervene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Chapter 1 — Dataset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Keep datasets trustworthy as they are stored, shared, and reused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Explain why management matters after models ship</a:t>
            </a:r>
          </a:p>
          <a:p>
            <a:pPr>
              <a:defRPr sz="2000"/>
            </a:pPr>
            <a:r>
              <a:t>List core management practices (versioning, metadata, access, catalog)</a:t>
            </a:r>
          </a:p>
          <a:p>
            <a:pPr>
              <a:defRPr sz="2000"/>
            </a:pPr>
            <a:r>
              <a:t>Name privacy and security controls that protect sensitive tables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Why management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Quiet work: access, versions, backups, retention</a:t>
            </a:r>
          </a:p>
          <a:p>
            <a:pPr>
              <a:defRPr sz="2000"/>
            </a:pPr>
            <a:r>
              <a:t>Traceability for audits and collaboration</a:t>
            </a:r>
          </a:p>
          <a:p>
            <a:pPr>
              <a:defRPr sz="2000"/>
            </a:pPr>
            <a:r>
              <a:t>Prevents undocumented preprocessing from poisoning models</a:t>
            </a:r>
          </a:p>
          <a:p>
            <a:pPr>
              <a:defRPr sz="2000"/>
            </a:pPr>
            <a:r>
              <a:t>Protects the investment in collection and quality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Best practices (overview)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Version control for evolving extracts</a:t>
            </a:r>
          </a:p>
          <a:p>
            <a:pPr>
              <a:defRPr sz="2000"/>
            </a:pPr>
            <a:r>
              <a:t>Cleaning and transformation with clear schemas</a:t>
            </a:r>
          </a:p>
          <a:p>
            <a:pPr>
              <a:defRPr sz="2000"/>
            </a:pPr>
            <a:r>
              <a:t>Metadata documentation and data catalogs</a:t>
            </a:r>
          </a:p>
          <a:p>
            <a:pPr>
              <a:defRPr sz="2000"/>
            </a:pPr>
            <a:r>
              <a:t>Storage, backups, and role-based access control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Privacy and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Encryption at rest and in transit</a:t>
            </a:r>
          </a:p>
          <a:p>
            <a:pPr>
              <a:defRPr sz="2000"/>
            </a:pPr>
            <a:r>
              <a:t>Anonymization / de-identification for sharing</a:t>
            </a:r>
          </a:p>
          <a:p>
            <a:pPr>
              <a:defRPr sz="2000"/>
            </a:pPr>
            <a:r>
              <a:t>MFA and role-based access</a:t>
            </a:r>
          </a:p>
          <a:p>
            <a:pPr>
              <a:defRPr sz="2000"/>
            </a:pPr>
            <a:r>
              <a:t>Compliance (e.g., GDPR, HIPAA) plus audit logging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Looking ahead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This chapter: what datasets are and how to use them responsibly</a:t>
            </a:r>
          </a:p>
          <a:p>
            <a:pPr>
              <a:defRPr sz="2000"/>
            </a:pPr>
            <a:r>
              <a:t>Next: Chapter 2 — how records are collected</a:t>
            </a:r>
          </a:p>
          <a:p>
            <a:pPr>
              <a:defRPr sz="2000"/>
            </a:pPr>
            <a:r>
              <a:t>Management depth continues in later chapters (privacy, docs, storage)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Management is not an optional add-on</a:t>
            </a:r>
          </a:p>
          <a:p>
            <a:pPr>
              <a:defRPr sz="2000"/>
            </a:pPr>
            <a:r>
              <a:t>Versioning + metadata + access must work together</a:t>
            </a:r>
          </a:p>
          <a:p>
            <a:pPr>
              <a:defRPr sz="2000"/>
            </a:pPr>
            <a:r>
              <a:t>Protection begins when records are first stored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