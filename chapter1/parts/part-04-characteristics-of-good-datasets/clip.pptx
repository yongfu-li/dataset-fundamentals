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a file's type and format is not enough. This part treats quality as a bundle of properties judged relative to an intended task.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will list five widely cited dimensions, diagnose concrete defects in accuracy, completeness, and consistency, and explain why metadata and documentation make a dataset reusable.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1.6 in the chapter lists accuracy, completeness, consistency, relevance, and timeliness. None stands alone: a dataset can be complete yet inaccurate, or timely yet irrelevant to the question at hand. Assessment starts by asking whether values are trustworthy, sufficiently populated, comparable, and still on-question.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 shows a ledger where one transaction likely contains an extra zero. That single accuracy error changes monthly revenue by an order of magnitude and can distort averages and forecasts. Inspect the example 11 module and try to spot the suspicious amount.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Completeness failures—blank diagnosis or age cells—force models to guess or drop rows and can bias estimates when missingness is not random. Consistency failures—mixed regional date formats—break sorting until one convention is enforced. Later chapters develop systematic repair; here the goal is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records schema, units, provenance, and related context; documentation explains how to interpret and reuse the file. Example 1.14 illustrates metadata for a weather dataset. Without these, even accurate tables become hard to trust outside the original team. The example 14 module shows what good metadata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is multi-dimensional and task-relative. Learn to spot accuracy errors, missing fields, and format clashes early, and treat metadata plus documentation as part of the dataset—not optional extras.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exploring a dataset—the practical first pass for surfacing these issues.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Characteristics of good datasets</a:t>
            </a:r>
          </a:p>
          <a:p>
            <a:pPr algn="ctr">
              <a:lnSpc>
                <a:spcPts val="2200"/>
              </a:lnSpc>
              <a:spcBef>
                <a:spcPts val="1400"/>
              </a:spcBef>
            </a:pPr>
            <a:r>
              <a:rPr sz="2600" b="0">
                <a:solidFill>
                  <a:srgbClr val="333333"/>
                </a:solidFill>
                <a:latin typeface="Calibri"/>
              </a:rPr>
              <a:t>Knowing a file's type and format is not enough</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Characteristics Of Good Datasets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Consistency, and explain why metadata and documentation make a dataset reusable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Characteristics Of Good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Five quality dimensions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Table 1.6 in the chapter lists accuracy, completeness, consistency, relevance</a:t>
            </a:r>
          </a:p>
          <a:p>
            <a:pPr lvl="0" marL="457200" indent="-228600">
              <a:buFont typeface="Calibri"/>
              <a:spcAft>
                <a:spcPts val="1000"/>
              </a:spcAft>
              <a:buSzPct val="100000"/>
              <a:buChar char="•"/>
              <a:lnSpc>
                <a:spcPts val="2200"/>
              </a:lnSpc>
            </a:pPr>
            <a:r>
              <a:rPr sz="2000" b="0">
                <a:solidFill>
                  <a:srgbClr val="333333"/>
                </a:solidFill>
                <a:latin typeface="Calibri"/>
              </a:rPr>
              <a:t>None stands alone</a:t>
            </a:r>
          </a:p>
          <a:p>
            <a:pPr lvl="0" marL="457200" indent="-228600">
              <a:buFont typeface="Calibri"/>
              <a:spcAft>
                <a:spcPts val="1000"/>
              </a:spcAft>
              <a:buSzPct val="100000"/>
              <a:buChar char="•"/>
              <a:lnSpc>
                <a:spcPts val="2200"/>
              </a:lnSpc>
            </a:pPr>
            <a:r>
              <a:rPr sz="2000" b="0">
                <a:solidFill>
                  <a:srgbClr val="333333"/>
                </a:solidFill>
                <a:latin typeface="Calibri"/>
              </a:rPr>
              <a:t>Still on-question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Characteristics Of Good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Incorrect transaction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1.11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1.11 shows a ledger where one transaction likely contains an extra zero</a:t>
            </a:r>
          </a:p>
          <a:p>
            <a:pPr lvl="0" marL="457200" indent="-228600">
              <a:buFont typeface="Calibri"/>
              <a:spcAft>
                <a:spcPts val="1000"/>
              </a:spcAft>
              <a:buSzPct val="100000"/>
              <a:buChar char="•"/>
              <a:lnSpc>
                <a:spcPts val="2200"/>
              </a:lnSpc>
            </a:pPr>
            <a:r>
              <a:rPr sz="2000" b="0">
                <a:solidFill>
                  <a:srgbClr val="333333"/>
                </a:solidFill>
                <a:latin typeface="Calibri"/>
              </a:rPr>
              <a:t>That single accuracy error changes monthly revenue by an order of magnitude and can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Characteristics Of Good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Txn_ID,Date,Account,Amount,Type</a:t>
            </a:r>
          </a:p>
          <a:p>
            <a:pPr>
              <a:lnSpc>
                <a:spcPts val="2200"/>
              </a:lnSpc>
              <a:spcAft>
                <a:spcPts val="400"/>
              </a:spcAft>
            </a:pPr>
            <a:r>
              <a:rPr sz="2000" b="0">
                <a:solidFill>
                  <a:srgbClr val="333333"/>
                </a:solidFill>
                <a:latin typeface="Consolas"/>
              </a:rPr>
              <a:t>T001,2024-03-01,Revenue,1500.00,Credit</a:t>
            </a:r>
          </a:p>
          <a:p>
            <a:pPr>
              <a:lnSpc>
                <a:spcPts val="2200"/>
              </a:lnSpc>
              <a:spcAft>
                <a:spcPts val="400"/>
              </a:spcAft>
            </a:pPr>
            <a:r>
              <a:rPr sz="2000" b="0">
                <a:solidFill>
                  <a:srgbClr val="333333"/>
                </a:solidFill>
                <a:latin typeface="Consolas"/>
              </a:rPr>
              <a:t>T002,2024-03-02,Revenue,15000.00,Credit</a:t>
            </a:r>
          </a:p>
          <a:p>
            <a:pPr>
              <a:lnSpc>
                <a:spcPts val="2200"/>
              </a:lnSpc>
              <a:spcAft>
                <a:spcPts val="400"/>
              </a:spcAft>
            </a:pPr>
            <a:r>
              <a:rPr sz="2000" b="0">
                <a:solidFill>
                  <a:srgbClr val="333333"/>
                </a:solidFill>
                <a:latin typeface="Consolas"/>
              </a:rPr>
              <a:t>T003,2024-03-03,Refund,50.00,Debit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Characteristics Of Good Datasets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Completeness and consistency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Completeness failures</a:t>
            </a:r>
          </a:p>
          <a:p>
            <a:pPr lvl="0" marL="457200" indent="-228600">
              <a:buFont typeface="Calibri"/>
              <a:spcAft>
                <a:spcPts val="1000"/>
              </a:spcAft>
              <a:buSzPct val="100000"/>
              <a:buChar char="•"/>
              <a:lnSpc>
                <a:spcPts val="2200"/>
              </a:lnSpc>
            </a:pPr>
            <a:r>
              <a:rPr sz="2000" b="0">
                <a:solidFill>
                  <a:srgbClr val="333333"/>
                </a:solidFill>
                <a:latin typeface="Calibri"/>
              </a:rPr>
              <a:t>Consistency failures</a:t>
            </a:r>
          </a:p>
          <a:p>
            <a:pPr lvl="0" marL="457200" indent="-228600">
              <a:buFont typeface="Calibri"/>
              <a:spcAft>
                <a:spcPts val="1000"/>
              </a:spcAft>
              <a:buSzPct val="100000"/>
              <a:buChar char="•"/>
              <a:lnSpc>
                <a:spcPts val="2200"/>
              </a:lnSpc>
            </a:pPr>
            <a:r>
              <a:rPr sz="2000" b="0">
                <a:solidFill>
                  <a:srgbClr val="333333"/>
                </a:solidFill>
                <a:latin typeface="Calibri"/>
              </a:rPr>
              <a:t>Later chapters develop systematic repair; here the goal is recognition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Characteristics Of Good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Metadata and documentation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Metadata records schema, units, provenance, and related context</a:t>
            </a:r>
          </a:p>
          <a:p>
            <a:pPr lvl="0" marL="457200" indent="-228600">
              <a:buFont typeface="Calibri"/>
              <a:spcAft>
                <a:spcPts val="1000"/>
              </a:spcAft>
              <a:buSzPct val="100000"/>
              <a:buChar char="•"/>
              <a:lnSpc>
                <a:spcPts val="2200"/>
              </a:lnSpc>
            </a:pPr>
            <a:r>
              <a:rPr sz="2000" b="0">
                <a:solidFill>
                  <a:srgbClr val="333333"/>
                </a:solidFill>
                <a:latin typeface="Calibri"/>
              </a:rPr>
              <a:t>Example 1.14 illustrates metadata for a weather dataset</a:t>
            </a:r>
          </a:p>
          <a:p>
            <a:pPr lvl="0" marL="457200" indent="-228600">
              <a:buFont typeface="Calibri"/>
              <a:spcAft>
                <a:spcPts val="1000"/>
              </a:spcAft>
              <a:buSzPct val="100000"/>
              <a:buChar char="•"/>
              <a:lnSpc>
                <a:spcPts val="2200"/>
              </a:lnSpc>
            </a:pPr>
            <a:r>
              <a:rPr sz="2000" b="0">
                <a:solidFill>
                  <a:srgbClr val="333333"/>
                </a:solidFill>
                <a:latin typeface="Calibri"/>
              </a:rPr>
              <a:t>Without these, even accurate tables become hard to trust outside the original team</a:t>
            </a:r>
          </a:p>
          <a:p>
            <a:pPr lvl="0" marL="457200" indent="-228600">
              <a:buFont typeface="Calibri"/>
              <a:spcAft>
                <a:spcPts val="1000"/>
              </a:spcAft>
              <a:buSzPct val="100000"/>
              <a:buChar char="•"/>
              <a:lnSpc>
                <a:spcPts val="2200"/>
              </a:lnSpc>
            </a:pPr>
            <a:r>
              <a:rPr sz="2000" b="0">
                <a:solidFill>
                  <a:srgbClr val="333333"/>
                </a:solidFill>
                <a:latin typeface="Calibri"/>
              </a:rPr>
              <a:t>The example 14 module shows what good metadata looks like in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Characteristics Of Good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Quality is multi-dimensional and task-relative</a:t>
            </a:r>
          </a:p>
          <a:p>
            <a:pPr lvl="0" marL="457200" indent="-228600">
              <a:buFont typeface="Calibri"/>
              <a:spcAft>
                <a:spcPts val="1000"/>
              </a:spcAft>
              <a:buSzPct val="100000"/>
              <a:buChar char="•"/>
              <a:lnSpc>
                <a:spcPts val="2200"/>
              </a:lnSpc>
            </a:pPr>
            <a:r>
              <a:rPr sz="2000" b="0">
                <a:solidFill>
                  <a:srgbClr val="333333"/>
                </a:solidFill>
                <a:latin typeface="Calibri"/>
              </a:rPr>
              <a:t>Learn to spot accuracy errors, missing fields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Characteristics Of Good Datasets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Characteristics Of Good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