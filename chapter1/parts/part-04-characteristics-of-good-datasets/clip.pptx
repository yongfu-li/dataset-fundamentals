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Knowing a file's type and format is not enough. This part treats quality as a bundle of properties judged relative to an intended task.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will list five widely cited dimensions, diagnose concrete defects in accuracy, completeness, and consistency, and explain why metadata and documentation make a dataset reusable.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1.6 in the chapter lists accuracy, completeness, consistency, relevance, and timeliness. None stands alone: a dataset can be complete yet inaccurate, or timely yet irrelevant to the question at hand. Assessment starts by asking whether values are trustworthy, sufficiently populated, comparable, and still on-question.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 shows a ledger where one transaction likely contains an extra zero. That single accuracy error changes monthly revenue by an order of magnitude and can distort averages and forecasts. Inspect the example 11 module and try to spot the suspicious amount.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Completeness failures—blank diagnosis or age cells—force models to guess or drop rows and can bias estimates when missingness is not random. Consistency failures—mixed regional date formats—break sorting until one convention is enforced. Later chapters develop systematic repair; here the goal is recognition.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records schema, units, provenance, and related context; documentation explains how to interpret and reuse the file. Example 1.14 illustrates metadata for a weather dataset. Without these, even accurate tables become hard to trust outside the original team. The example 14 module shows what good metadata looks like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is multi-dimensional and task-relative. Learn to spot accuracy errors, missing fields, and format clashes early, and treat metadata plus documentation as part of the dataset—not optional extras.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exploring a dataset—the practical first pass for surfacing these issues.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 — Characteristics of good datasets</a:t>
            </a:r>
          </a:p>
          <a:p>
            <a:pPr algn="ctr">
              <a:lnSpc>
                <a:spcPts val="2200"/>
              </a:lnSpc>
              <a:spcBef>
                <a:spcPts val="1400"/>
              </a:spcBef>
            </a:pPr>
            <a:r>
              <a:rPr sz="2600" b="0">
                <a:solidFill>
                  <a:srgbClr val="333333"/>
                </a:solidFill>
                <a:latin typeface="Calibri"/>
              </a:rPr>
              <a:t>Knowing a file's type and format is not enough</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Characteristics Of Good Datasets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Consistency, and explain why metadata and documentation make a dataset reusable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Characteristics Of Good Datasets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Five quality dimensions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Table 1.6 in the chapter lists accuracy, completeness, consistency, relevance</a:t>
            </a:r>
          </a:p>
          <a:p>
            <a:pPr>
              <a:spcAft>
                <a:spcPts val="1000"/>
              </a:spcAft>
              <a:buChar char="•"/>
              <a:lnSpc>
                <a:spcPts val="2200"/>
              </a:lnSpc>
            </a:pPr>
            <a:r>
              <a:rPr sz="2000" b="0">
                <a:solidFill>
                  <a:srgbClr val="333333"/>
                </a:solidFill>
                <a:latin typeface="Calibri"/>
              </a:rPr>
              <a:t>None stands alone</a:t>
            </a:r>
          </a:p>
          <a:p>
            <a:pPr>
              <a:spcAft>
                <a:spcPts val="1000"/>
              </a:spcAft>
              <a:buChar char="•"/>
              <a:lnSpc>
                <a:spcPts val="2200"/>
              </a:lnSpc>
            </a:pPr>
            <a:r>
              <a:rPr sz="2000" b="0">
                <a:solidFill>
                  <a:srgbClr val="333333"/>
                </a:solidFill>
                <a:latin typeface="Calibri"/>
              </a:rPr>
              <a:t>Still on-question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Characteristics Of Good Datasets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 — Incorrect transaction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1.11 — hands-on module</a:t>
            </a:r>
          </a:p>
          <a:p>
            <a:pPr>
              <a:spcAft>
                <a:spcPts val="1000"/>
              </a:spcAft>
              <a:buChar char="•"/>
              <a:lnSpc>
                <a:spcPts val="2200"/>
              </a:lnSpc>
            </a:pPr>
            <a:r>
              <a:rPr sz="2000" b="0">
                <a:solidFill>
                  <a:srgbClr val="333333"/>
                </a:solidFill>
                <a:latin typeface="Calibri"/>
              </a:rPr>
              <a:t>Example 1.11 shows a ledger where one transaction likely contains an extra zero</a:t>
            </a:r>
          </a:p>
          <a:p>
            <a:pPr>
              <a:spcAft>
                <a:spcPts val="1000"/>
              </a:spcAft>
              <a:buChar char="•"/>
              <a:lnSpc>
                <a:spcPts val="2200"/>
              </a:lnSpc>
            </a:pPr>
            <a:r>
              <a:rPr sz="2000" b="0">
                <a:solidFill>
                  <a:srgbClr val="333333"/>
                </a:solidFill>
                <a:latin typeface="Calibri"/>
              </a:rPr>
              <a:t>That single accuracy error changes monthly revenue by an order of magnitude and can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`modules/chapter1/example11/`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Characteristics Of Good Datasets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Txn_ID,Date,Account,Amount,Type</a:t>
            </a:r>
          </a:p>
          <a:p>
            <a:pPr>
              <a:lnSpc>
                <a:spcPts val="2200"/>
              </a:lnSpc>
              <a:spcAft>
                <a:spcPts val="400"/>
              </a:spcAft>
            </a:pPr>
            <a:r>
              <a:rPr sz="2000" b="0">
                <a:solidFill>
                  <a:srgbClr val="333333"/>
                </a:solidFill>
                <a:latin typeface="Consolas"/>
              </a:rPr>
              <a:t>T001,2024-03-01,Revenue,1500.00,Credit</a:t>
            </a:r>
          </a:p>
          <a:p>
            <a:pPr>
              <a:lnSpc>
                <a:spcPts val="2200"/>
              </a:lnSpc>
              <a:spcAft>
                <a:spcPts val="400"/>
              </a:spcAft>
            </a:pPr>
            <a:r>
              <a:rPr sz="2000" b="0">
                <a:solidFill>
                  <a:srgbClr val="333333"/>
                </a:solidFill>
                <a:latin typeface="Consolas"/>
              </a:rPr>
              <a:t>T002,2024-03-02,Revenue,15000.00,Credit</a:t>
            </a:r>
          </a:p>
          <a:p>
            <a:pPr>
              <a:lnSpc>
                <a:spcPts val="2200"/>
              </a:lnSpc>
              <a:spcAft>
                <a:spcPts val="400"/>
              </a:spcAft>
            </a:pPr>
            <a:r>
              <a:rPr sz="2000" b="0">
                <a:solidFill>
                  <a:srgbClr val="333333"/>
                </a:solidFill>
                <a:latin typeface="Consolas"/>
              </a:rPr>
              <a:t>T003,2024-03-03,Refund,50.00,Debit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Characteristics Of Good Datasets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Completeness and consistency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Completeness failures</a:t>
            </a:r>
          </a:p>
          <a:p>
            <a:pPr>
              <a:spcAft>
                <a:spcPts val="1000"/>
              </a:spcAft>
              <a:buChar char="•"/>
              <a:lnSpc>
                <a:spcPts val="2200"/>
              </a:lnSpc>
            </a:pPr>
            <a:r>
              <a:rPr sz="2000" b="0">
                <a:solidFill>
                  <a:srgbClr val="333333"/>
                </a:solidFill>
                <a:latin typeface="Calibri"/>
              </a:rPr>
              <a:t>Consistency failures</a:t>
            </a:r>
          </a:p>
          <a:p>
            <a:pPr>
              <a:spcAft>
                <a:spcPts val="1000"/>
              </a:spcAft>
              <a:buChar char="•"/>
              <a:lnSpc>
                <a:spcPts val="2200"/>
              </a:lnSpc>
            </a:pPr>
            <a:r>
              <a:rPr sz="2000" b="0">
                <a:solidFill>
                  <a:srgbClr val="333333"/>
                </a:solidFill>
                <a:latin typeface="Calibri"/>
              </a:rPr>
              <a:t>Later chapters develop systematic repair; here the goal is recognition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Characteristics Of Good Datasets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Metadata and documentation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Metadata records schema, units, provenance, and related context</a:t>
            </a:r>
          </a:p>
          <a:p>
            <a:pPr>
              <a:spcAft>
                <a:spcPts val="1000"/>
              </a:spcAft>
              <a:buChar char="•"/>
              <a:lnSpc>
                <a:spcPts val="2200"/>
              </a:lnSpc>
            </a:pPr>
            <a:r>
              <a:rPr sz="2000" b="0">
                <a:solidFill>
                  <a:srgbClr val="333333"/>
                </a:solidFill>
                <a:latin typeface="Calibri"/>
              </a:rPr>
              <a:t>Example 1.14 illustrates metadata for a weather dataset</a:t>
            </a:r>
          </a:p>
          <a:p>
            <a:pPr>
              <a:spcAft>
                <a:spcPts val="1000"/>
              </a:spcAft>
              <a:buChar char="•"/>
              <a:lnSpc>
                <a:spcPts val="2200"/>
              </a:lnSpc>
            </a:pPr>
            <a:r>
              <a:rPr sz="2000" b="0">
                <a:solidFill>
                  <a:srgbClr val="333333"/>
                </a:solidFill>
                <a:latin typeface="Calibri"/>
              </a:rPr>
              <a:t>Without these, even accurate tables become hard to trust outside the original team</a:t>
            </a:r>
          </a:p>
          <a:p>
            <a:pPr>
              <a:spcAft>
                <a:spcPts val="1000"/>
              </a:spcAft>
              <a:buChar char="•"/>
              <a:lnSpc>
                <a:spcPts val="2200"/>
              </a:lnSpc>
            </a:pPr>
            <a:r>
              <a:rPr sz="2000" b="0">
                <a:solidFill>
                  <a:srgbClr val="333333"/>
                </a:solidFill>
                <a:latin typeface="Calibri"/>
              </a:rPr>
              <a:t>The example 14 module shows what good metadata looks like in practice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Characteristics Of Good Datasets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Quality is multi-dimensional and task-relative</a:t>
            </a:r>
          </a:p>
          <a:p>
            <a:pPr>
              <a:spcAft>
                <a:spcPts val="1000"/>
              </a:spcAft>
              <a:buChar char="•"/>
              <a:lnSpc>
                <a:spcPts val="2200"/>
              </a:lnSpc>
            </a:pPr>
            <a:r>
              <a:rPr sz="2000" b="0">
                <a:solidFill>
                  <a:srgbClr val="333333"/>
                </a:solidFill>
                <a:latin typeface="Calibri"/>
              </a:rPr>
              <a:t>Learn to spot accuracy errors, missing fields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Characteristics Of Good Datasets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Complete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Characteristics Of Good Datasets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