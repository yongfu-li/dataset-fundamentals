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criteria tell you what good looks like. Exploration is how you check whether a concrete file meets that bar before fitting models.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covers three early questions every analyst should settle, how to match tools to the table at hand, and a minimal profiling pattern using summaries, visuals, and missingness checks.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Exploration builds a mental model of the domain: seasonal sales cycles, sensor outliers, missing demographics that would bias a segmentation model. It does not replace formal cleaning in later chapters; it reveals where cleaning is needed and which variables merit deeper study.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is in the table, what looks suspicious, and what analysis goals remain feasible given the defects you find. An e-commerce glance that reveals holiday spikes, for example, can justify seasonal features long before training.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Spreadsheets suit small tables. SQL handles filtering and aggregation in relational stores. pandas supports reproducible profiling. Dashboards help teams share interactive views. No single tool wins every scenario—the habit of documenting findings matters more than the brand of software.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1.20 walks through a standard pandas profiling script on a compact household-income table. Use it as a template: summary statistics, distribution checks, and null counts. Run the example 20 module to see the pattern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Explore before modeling. Choose tools that fit size and structure. Document what you inspected and what you decided to fix so later analysis stays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uses of datasets—where these practices create value across sectors.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Exploring a dataset</a:t>
            </a:r>
          </a:p>
          <a:p>
            <a:pPr algn="ctr">
              <a:lnSpc>
                <a:spcPts val="2200"/>
              </a:lnSpc>
              <a:spcBef>
                <a:spcPts val="1400"/>
              </a:spcBef>
            </a:pPr>
            <a:r>
              <a:rPr sz="2600" b="0">
                <a:solidFill>
                  <a:srgbClr val="333333"/>
                </a:solidFill>
                <a:latin typeface="Calibri"/>
              </a:rPr>
              <a:t>Quality criteria tell you what good looks like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Exploring A Dataset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minimal profiling pattern using summaries, visuals, and missingness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Exploring A Dataset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explore first?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Exploration builds a mental model of the domain</a:t>
            </a:r>
          </a:p>
          <a:p>
            <a:pPr lvl="0" marL="457200" indent="-228600">
              <a:buFont typeface="Calibri"/>
              <a:spcAft>
                <a:spcPts val="1000"/>
              </a:spcAft>
              <a:buSzPct val="100000"/>
              <a:buChar char="•"/>
              <a:lnSpc>
                <a:spcPts val="2200"/>
              </a:lnSpc>
            </a:pPr>
            <a:r>
              <a:rPr sz="2000" b="0">
                <a:solidFill>
                  <a:srgbClr val="333333"/>
                </a:solidFill>
                <a:latin typeface="Calibri"/>
              </a:rPr>
              <a:t>It does not replace formal cleaning in later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Exploring A Dataset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Three early questions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Ask: what is in the table, what looks suspicious</a:t>
            </a:r>
          </a:p>
          <a:p>
            <a:pPr lvl="0" marL="457200" indent="-228600">
              <a:buFont typeface="Calibri"/>
              <a:spcAft>
                <a:spcPts val="1000"/>
              </a:spcAft>
              <a:buSzPct val="100000"/>
              <a:buChar char="•"/>
              <a:lnSpc>
                <a:spcPts val="2200"/>
              </a:lnSpc>
            </a:pPr>
            <a:r>
              <a:rPr sz="2000" b="0">
                <a:solidFill>
                  <a:srgbClr val="333333"/>
                </a:solidFill>
                <a:latin typeface="Calibri"/>
              </a:rPr>
              <a:t>An e-commerce glance that reveals holiday spikes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Exploring A Dataset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for exploration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Spreadsheets suit small tables</a:t>
            </a:r>
          </a:p>
          <a:p>
            <a:pPr lvl="0" marL="457200" indent="-228600">
              <a:buFont typeface="Calibri"/>
              <a:spcAft>
                <a:spcPts val="1000"/>
              </a:spcAft>
              <a:buSzPct val="100000"/>
              <a:buChar char="•"/>
              <a:lnSpc>
                <a:spcPts val="2200"/>
              </a:lnSpc>
            </a:pPr>
            <a:r>
              <a:rPr sz="2000" b="0">
                <a:solidFill>
                  <a:srgbClr val="333333"/>
                </a:solidFill>
                <a:latin typeface="Calibri"/>
              </a:rPr>
              <a:t>SQL handles filtering and aggregation in relational stores</a:t>
            </a:r>
          </a:p>
          <a:p>
            <a:pPr lvl="0" marL="457200" indent="-228600">
              <a:buFont typeface="Calibri"/>
              <a:spcAft>
                <a:spcPts val="1000"/>
              </a:spcAft>
              <a:buSzPct val="100000"/>
              <a:buChar char="•"/>
              <a:lnSpc>
                <a:spcPts val="2200"/>
              </a:lnSpc>
            </a:pPr>
            <a:r>
              <a:rPr sz="2000" b="0">
                <a:solidFill>
                  <a:srgbClr val="333333"/>
                </a:solidFill>
                <a:latin typeface="Calibri"/>
              </a:rPr>
              <a:t>Pandas supports reproducible profiling</a:t>
            </a:r>
          </a:p>
          <a:p>
            <a:pPr lvl="0" marL="457200" indent="-228600">
              <a:buFont typeface="Calibri"/>
              <a:spcAft>
                <a:spcPts val="1000"/>
              </a:spcAft>
              <a:buSzPct val="100000"/>
              <a:buChar char="•"/>
              <a:lnSpc>
                <a:spcPts val="2200"/>
              </a:lnSpc>
            </a:pPr>
            <a:r>
              <a:rPr sz="2000" b="0">
                <a:solidFill>
                  <a:srgbClr val="333333"/>
                </a:solidFill>
                <a:latin typeface="Calibri"/>
              </a:rPr>
              <a:t>Dashboards help teams share interactive views</a:t>
            </a:r>
          </a:p>
          <a:p>
            <a:pPr lvl="0" marL="457200" indent="-228600">
              <a:buFont typeface="Calibri"/>
              <a:spcAft>
                <a:spcPts val="1000"/>
              </a:spcAft>
              <a:buSzPct val="100000"/>
              <a:buChar char="•"/>
              <a:lnSpc>
                <a:spcPts val="2200"/>
              </a:lnSpc>
            </a:pPr>
            <a:r>
              <a:rPr sz="2000" b="0">
                <a:solidFill>
                  <a:srgbClr val="333333"/>
                </a:solidFill>
                <a:latin typeface="Calibri"/>
              </a:rPr>
              <a:t>No single tool wins every scenario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Exploring A Dataset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1.20 — Household incomes EDA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1.20 walks through a standard pandas profiling script on a compact</a:t>
            </a:r>
          </a:p>
          <a:p>
            <a:pPr lvl="0" marL="457200" indent="-228600">
              <a:buFont typeface="Calibri"/>
              <a:spcAft>
                <a:spcPts val="1000"/>
              </a:spcAft>
              <a:buSzPct val="100000"/>
              <a:buChar char="•"/>
              <a:lnSpc>
                <a:spcPts val="2200"/>
              </a:lnSpc>
            </a:pPr>
            <a:r>
              <a:rPr sz="2000" b="0">
                <a:solidFill>
                  <a:srgbClr val="333333"/>
                </a:solidFill>
                <a:latin typeface="Calibri"/>
              </a:rPr>
              <a:t>Use it as a template: summary statistics, distribution checks, and null counts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Exploring A 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import matplotlib.pyplot as plt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Load the dataset</a:t>
            </a:r>
          </a:p>
          <a:p>
            <a:pPr>
              <a:lnSpc>
                <a:spcPts val="2200"/>
              </a:lnSpc>
              <a:spcAft>
                <a:spcPts val="400"/>
              </a:spcAft>
            </a:pPr>
            <a:r>
              <a:rPr sz="2000" b="0">
                <a:solidFill>
                  <a:srgbClr val="333333"/>
                </a:solidFill>
                <a:latin typeface="Consolas"/>
              </a:rPr>
              <a:t>household_incomes = pd.read_csv("household_incomes.csv")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View the first few rows</a:t>
            </a:r>
          </a:p>
          <a:p>
            <a:pPr>
              <a:lnSpc>
                <a:spcPts val="2200"/>
              </a:lnSpc>
              <a:spcAft>
                <a:spcPts val="400"/>
              </a:spcAft>
            </a:pPr>
            <a:r>
              <a:rPr sz="2000" b="0">
                <a:solidFill>
                  <a:srgbClr val="333333"/>
                </a:solidFill>
                <a:latin typeface="Consolas"/>
              </a:rPr>
              <a:t>print(household_incomes.head())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Summary statistics for numerical columns</a:t>
            </a:r>
          </a:p>
          <a:p>
            <a:pPr>
              <a:lnSpc>
                <a:spcPts val="2200"/>
              </a:lnSpc>
              <a:spcAft>
                <a:spcPts val="400"/>
              </a:spcAft>
            </a:pPr>
            <a:r>
              <a:rPr sz="2000" b="0">
                <a:solidFill>
                  <a:srgbClr val="333333"/>
                </a:solidFill>
                <a:latin typeface="Consolas"/>
              </a:rPr>
              <a:t>print(household_incomes.describe())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Check for missing values</a:t>
            </a:r>
          </a:p>
          <a:p>
            <a:pPr>
              <a:lnSpc>
                <a:spcPts val="2200"/>
              </a:lnSpc>
              <a:spcAft>
                <a:spcPts val="400"/>
              </a:spcAft>
            </a:pPr>
            <a:r>
              <a:rPr sz="2000" b="0">
                <a:solidFill>
                  <a:srgbClr val="333333"/>
                </a:solidFill>
                <a:latin typeface="Consolas"/>
              </a:rPr>
              <a:t>print(household_incomes.isnull().sum())</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Visualize the income distribution</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Exploring A Dataset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Explore before modeling</a:t>
            </a:r>
          </a:p>
          <a:p>
            <a:pPr lvl="0" marL="457200" indent="-228600">
              <a:buFont typeface="Calibri"/>
              <a:spcAft>
                <a:spcPts val="1000"/>
              </a:spcAft>
              <a:buSzPct val="100000"/>
              <a:buChar char="•"/>
              <a:lnSpc>
                <a:spcPts val="2200"/>
              </a:lnSpc>
            </a:pPr>
            <a:r>
              <a:rPr sz="2000" b="0">
                <a:solidFill>
                  <a:srgbClr val="333333"/>
                </a:solidFill>
                <a:latin typeface="Calibri"/>
              </a:rPr>
              <a:t>Choose tools that fit size and structure</a:t>
            </a:r>
          </a:p>
          <a:p>
            <a:pPr lvl="0" marL="457200" indent="-228600">
              <a:buFont typeface="Calibri"/>
              <a:spcAft>
                <a:spcPts val="1000"/>
              </a:spcAft>
              <a:buSzPct val="100000"/>
              <a:buChar char="•"/>
              <a:lnSpc>
                <a:spcPts val="2200"/>
              </a:lnSpc>
            </a:pPr>
            <a:r>
              <a:rPr sz="2000" b="0">
                <a:solidFill>
                  <a:srgbClr val="333333"/>
                </a:solidFill>
                <a:latin typeface="Calibri"/>
              </a:rPr>
              <a:t>Document what you inspected and what you decided to fix so later analysis stays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Exploring A Dataset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Exploring A Dataset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