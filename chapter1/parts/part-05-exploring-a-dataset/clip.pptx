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criteria tell you what good looks like. Exploration is how you check whether a concrete file meets that bar before fitting models.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part covers three early questions every analyst should settle, how to match tools to the table at hand, and a minimal profiling pattern using summaries, visuals, and missingness checks.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Exploration builds a mental model of the domain: seasonal sales cycles, sensor outliers, missing demographics that would bias a segmentation model. It does not replace formal cleaning in later chapters; it reveals where cleaning is needed and which variables merit deeper study.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what is in the table, what looks suspicious, and what analysis goals remain feasible given the defects you find. An e-commerce glance that reveals holiday spikes, for example, can justify seasonal features long before training.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Spreadsheets suit small tables. SQL handles filtering and aggregation in relational stores. pandas supports reproducible profiling. Dashboards help teams share interactive views. No single tool wins every scenario—the habit of documenting findings matters more than the brand of software.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1.20 walks through a standard pandas profiling script on a compact household-income table. Use it as a template: summary statistics, distribution checks, and null counts. Run the example 20 module to see the pattern end to end.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Explore before modeling. Choose tools that fit size and structure. Document what you inspected and what you decided to fix so later analysis stays accountable.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continue to uses of datasets—where these practices create value across sectors.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 — Exploring a dataset</a:t>
            </a:r>
          </a:p>
          <a:p>
            <a:pPr algn="ctr">
              <a:lnSpc>
                <a:spcPts val="2200"/>
              </a:lnSpc>
              <a:spcBef>
                <a:spcPts val="1400"/>
              </a:spcBef>
            </a:pPr>
            <a:r>
              <a:rPr sz="2600" b="0">
                <a:solidFill>
                  <a:srgbClr val="333333"/>
                </a:solidFill>
                <a:latin typeface="Calibri"/>
              </a:rPr>
              <a:t>Quality criteria tell you what good looks like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Exploring A Dataset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 minimal profiling pattern using summaries, visuals, and missingness checks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Exploring A Dataset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explore first?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Exploration builds a mental model of the domain</a:t>
            </a:r>
          </a:p>
          <a:p>
            <a:pPr>
              <a:spcAft>
                <a:spcPts val="1000"/>
              </a:spcAft>
              <a:buChar char="•"/>
              <a:lnSpc>
                <a:spcPts val="2200"/>
              </a:lnSpc>
            </a:pPr>
            <a:r>
              <a:rPr sz="2000" b="0">
                <a:solidFill>
                  <a:srgbClr val="333333"/>
                </a:solidFill>
                <a:latin typeface="Calibri"/>
              </a:rPr>
              <a:t>It does not replace formal cleaning in later chapters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Exploring A Dataset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Three early questions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Ask: what is in the table, what looks suspicious</a:t>
            </a:r>
          </a:p>
          <a:p>
            <a:pPr>
              <a:spcAft>
                <a:spcPts val="1000"/>
              </a:spcAft>
              <a:buChar char="•"/>
              <a:lnSpc>
                <a:spcPts val="2200"/>
              </a:lnSpc>
            </a:pPr>
            <a:r>
              <a:rPr sz="2000" b="0">
                <a:solidFill>
                  <a:srgbClr val="333333"/>
                </a:solidFill>
                <a:latin typeface="Calibri"/>
              </a:rPr>
              <a:t>An e-commerce glance that reveals holiday spikes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Exploring A Dataset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Tools for exploration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Spreadsheets suit small tables</a:t>
            </a:r>
          </a:p>
          <a:p>
            <a:pPr>
              <a:spcAft>
                <a:spcPts val="1000"/>
              </a:spcAft>
              <a:buChar char="•"/>
              <a:lnSpc>
                <a:spcPts val="2200"/>
              </a:lnSpc>
            </a:pPr>
            <a:r>
              <a:rPr sz="2000" b="0">
                <a:solidFill>
                  <a:srgbClr val="333333"/>
                </a:solidFill>
                <a:latin typeface="Calibri"/>
              </a:rPr>
              <a:t>SQL handles filtering and aggregation in relational stores</a:t>
            </a:r>
          </a:p>
          <a:p>
            <a:pPr>
              <a:spcAft>
                <a:spcPts val="1000"/>
              </a:spcAft>
              <a:buChar char="•"/>
              <a:lnSpc>
                <a:spcPts val="2200"/>
              </a:lnSpc>
            </a:pPr>
            <a:r>
              <a:rPr sz="2000" b="0">
                <a:solidFill>
                  <a:srgbClr val="333333"/>
                </a:solidFill>
                <a:latin typeface="Calibri"/>
              </a:rPr>
              <a:t>Pandas supports reproducible profiling</a:t>
            </a:r>
          </a:p>
          <a:p>
            <a:pPr>
              <a:spcAft>
                <a:spcPts val="1000"/>
              </a:spcAft>
              <a:buChar char="•"/>
              <a:lnSpc>
                <a:spcPts val="2200"/>
              </a:lnSpc>
            </a:pPr>
            <a:r>
              <a:rPr sz="2000" b="0">
                <a:solidFill>
                  <a:srgbClr val="333333"/>
                </a:solidFill>
                <a:latin typeface="Calibri"/>
              </a:rPr>
              <a:t>Dashboards help teams share interactive views</a:t>
            </a:r>
          </a:p>
          <a:p>
            <a:pPr>
              <a:spcAft>
                <a:spcPts val="1000"/>
              </a:spcAft>
              <a:buChar char="•"/>
              <a:lnSpc>
                <a:spcPts val="2200"/>
              </a:lnSpc>
            </a:pPr>
            <a:r>
              <a:rPr sz="2000" b="0">
                <a:solidFill>
                  <a:srgbClr val="333333"/>
                </a:solidFill>
                <a:latin typeface="Calibri"/>
              </a:rPr>
              <a:t>No single tool wins every scenario</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Exploring A Dataset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1.20 — Household incomes EDA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1.20 — hands-on module</a:t>
            </a:r>
          </a:p>
          <a:p>
            <a:pPr>
              <a:spcAft>
                <a:spcPts val="1000"/>
              </a:spcAft>
              <a:buChar char="•"/>
              <a:lnSpc>
                <a:spcPts val="2200"/>
              </a:lnSpc>
            </a:pPr>
            <a:r>
              <a:rPr sz="2000" b="0">
                <a:solidFill>
                  <a:srgbClr val="333333"/>
                </a:solidFill>
                <a:latin typeface="Calibri"/>
              </a:rPr>
              <a:t>Example 1.20 walks through a standard pandas profiling script on a compact</a:t>
            </a:r>
          </a:p>
          <a:p>
            <a:pPr>
              <a:spcAft>
                <a:spcPts val="1000"/>
              </a:spcAft>
              <a:buChar char="•"/>
              <a:lnSpc>
                <a:spcPts val="2200"/>
              </a:lnSpc>
            </a:pPr>
            <a:r>
              <a:rPr sz="2000" b="0">
                <a:solidFill>
                  <a:srgbClr val="333333"/>
                </a:solidFill>
                <a:latin typeface="Calibri"/>
              </a:rPr>
              <a:t>Use it as a template: summary statistics, distribution checks, and null counts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`modules/chapter1/example20/`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Exploring A Dataset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1.20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import pandas as pd</a:t>
            </a:r>
          </a:p>
          <a:p>
            <a:pPr>
              <a:lnSpc>
                <a:spcPts val="2200"/>
              </a:lnSpc>
              <a:spcAft>
                <a:spcPts val="400"/>
              </a:spcAft>
            </a:pPr>
            <a:r>
              <a:rPr sz="2000" b="0">
                <a:solidFill>
                  <a:srgbClr val="333333"/>
                </a:solidFill>
                <a:latin typeface="Consolas"/>
              </a:rPr>
              <a:t>import matplotlib.pyplot as plt</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Load the dataset</a:t>
            </a:r>
          </a:p>
          <a:p>
            <a:pPr>
              <a:lnSpc>
                <a:spcPts val="2200"/>
              </a:lnSpc>
              <a:spcAft>
                <a:spcPts val="400"/>
              </a:spcAft>
            </a:pPr>
            <a:r>
              <a:rPr sz="2000" b="0">
                <a:solidFill>
                  <a:srgbClr val="333333"/>
                </a:solidFill>
                <a:latin typeface="Consolas"/>
              </a:rPr>
              <a:t>household_incomes = pd.read_csv("household_incomes.csv")</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View the first few rows</a:t>
            </a:r>
          </a:p>
          <a:p>
            <a:pPr>
              <a:lnSpc>
                <a:spcPts val="2200"/>
              </a:lnSpc>
              <a:spcAft>
                <a:spcPts val="400"/>
              </a:spcAft>
            </a:pPr>
            <a:r>
              <a:rPr sz="2000" b="0">
                <a:solidFill>
                  <a:srgbClr val="333333"/>
                </a:solidFill>
                <a:latin typeface="Consolas"/>
              </a:rPr>
              <a:t>print(household_incomes.head())</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Summary statistics for numerical columns</a:t>
            </a:r>
          </a:p>
          <a:p>
            <a:pPr>
              <a:lnSpc>
                <a:spcPts val="2200"/>
              </a:lnSpc>
              <a:spcAft>
                <a:spcPts val="400"/>
              </a:spcAft>
            </a:pPr>
            <a:r>
              <a:rPr sz="2000" b="0">
                <a:solidFill>
                  <a:srgbClr val="333333"/>
                </a:solidFill>
                <a:latin typeface="Consolas"/>
              </a:rPr>
              <a:t>print(household_incomes.describe())</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Check for missing values</a:t>
            </a:r>
          </a:p>
          <a:p>
            <a:pPr>
              <a:lnSpc>
                <a:spcPts val="2200"/>
              </a:lnSpc>
              <a:spcAft>
                <a:spcPts val="400"/>
              </a:spcAft>
            </a:pPr>
            <a:r>
              <a:rPr sz="2000" b="0">
                <a:solidFill>
                  <a:srgbClr val="333333"/>
                </a:solidFill>
                <a:latin typeface="Consolas"/>
              </a:rPr>
              <a:t>print(household_incomes.isnull().sum())</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Visualize the income distribution</a:t>
            </a:r>
          </a:p>
          <a:p>
            <a:pPr>
              <a:lnSpc>
                <a:spcPts val="2200"/>
              </a:lnSpc>
              <a:spcAft>
                <a:spcPts val="4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Exploring A Dataset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Explore before modeling</a:t>
            </a:r>
          </a:p>
          <a:p>
            <a:pPr>
              <a:spcAft>
                <a:spcPts val="1000"/>
              </a:spcAft>
              <a:buChar char="•"/>
              <a:lnSpc>
                <a:spcPts val="2200"/>
              </a:lnSpc>
            </a:pPr>
            <a:r>
              <a:rPr sz="2000" b="0">
                <a:solidFill>
                  <a:srgbClr val="333333"/>
                </a:solidFill>
                <a:latin typeface="Calibri"/>
              </a:rPr>
              <a:t>Choose tools that fit size and structure</a:t>
            </a:r>
          </a:p>
          <a:p>
            <a:pPr>
              <a:spcAft>
                <a:spcPts val="1000"/>
              </a:spcAft>
              <a:buChar char="•"/>
              <a:lnSpc>
                <a:spcPts val="2200"/>
              </a:lnSpc>
            </a:pPr>
            <a:r>
              <a:rPr sz="2000" b="0">
                <a:solidFill>
                  <a:srgbClr val="333333"/>
                </a:solidFill>
                <a:latin typeface="Calibri"/>
              </a:rPr>
              <a:t>Document what you inspected and what you decided to fix so later analysis stays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Exploring A Dataset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Complete the quiz</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Exploring A Dataset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