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parts answered what a dataset is and how to read one responsibly. This part asks where datasets create value in practice, then walks a complete churn workflow.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should map sectors to typical datasets and goals, recognize the shared lifecycle across domains, and outline the steps in the customer-churn case study.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collect records about customers, patients, students, or transactions, organize them, and use them to monitor performance, detect risk, or personalize services. Retail emphasizes purchase and clickstream data; healthcare joins EHRs with wearables; finance scores transactions; education and government use logs and public statistics for intervention and planning.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1.21 stores one row per order with customer, category, date, and amount. Aggregating by customer reveals repurchase intervals and category preferences that drive segmentation and promotions. The example 21 module walks through the concept.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churn case study stitches the chapter together: assemble behavioral features, explore and clean, train a classifier, and intervene before cancellation. Ranked feature importance highlights which behaviors precede churn; thresholded scores let retention teams 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1.31 provides a Python sketch of that pipeline. The same structure appears in fraud scoring and demand forecasting—only labels and the cost of errors change. Run the example 31 module when you want to see the code in 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vocabulary changes; the lifecycle does not. Quality and exploration feed every serious application. Churn is the chapter's end-to-end illustration of define, prepare, model, and intervene.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finish the chapter with dataset management—versioning, access, and privacy that keep such pipelines trustworthy.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 — Uses of datasets</a:t>
            </a:r>
          </a:p>
          <a:p>
            <a:pPr algn="ctr">
              <a:lnSpc>
                <a:spcPts val="2200"/>
              </a:lnSpc>
              <a:spcBef>
                <a:spcPts val="1400"/>
              </a:spcBef>
            </a:pPr>
            <a:r>
              <a:rPr sz="2600" b="0">
                <a:solidFill>
                  <a:srgbClr val="333333"/>
                </a:solidFill>
                <a:latin typeface="Calibri"/>
              </a:rPr>
              <a:t>Earlier parts answered what a dataset is and how to read one responsibly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Uses Of Datasets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Map sectors to typical datasets and goals, recognize the shared lifecycle across domains</a:t>
            </a:r>
          </a:p>
          <a:p>
            <a:pPr>
              <a:spcAft>
                <a:spcPts val="1000"/>
              </a:spcAft>
              <a:buChar char="•"/>
              <a:lnSpc>
                <a:spcPts val="2200"/>
              </a:lnSpc>
            </a:pPr>
            <a:r>
              <a:rPr sz="2000" b="0">
                <a:solidFill>
                  <a:srgbClr val="333333"/>
                </a:solidFill>
                <a:latin typeface="Calibri"/>
              </a:rPr>
              <a:t>Outline the steps in the customer-churn case study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Uses Of Datasets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Applications across sectors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Use them to monitor performance, detect risk, or personalize services</a:t>
            </a:r>
          </a:p>
          <a:p>
            <a:pPr>
              <a:spcAft>
                <a:spcPts val="1000"/>
              </a:spcAft>
              <a:buChar char="•"/>
              <a:lnSpc>
                <a:spcPts val="2200"/>
              </a:lnSpc>
            </a:pPr>
            <a:r>
              <a:rPr sz="2000" b="0">
                <a:solidFill>
                  <a:srgbClr val="333333"/>
                </a:solidFill>
                <a:latin typeface="Calibri"/>
              </a:rPr>
              <a:t>Retail emphasizes purchase and clickstream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Uses Of Datasets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 — Purchase history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1.21 — hands-on module</a:t>
            </a:r>
          </a:p>
          <a:p>
            <a:pPr>
              <a:spcAft>
                <a:spcPts val="1000"/>
              </a:spcAft>
              <a:buChar char="•"/>
              <a:lnSpc>
                <a:spcPts val="2200"/>
              </a:lnSpc>
            </a:pPr>
            <a:r>
              <a:rPr sz="2000" b="0">
                <a:solidFill>
                  <a:srgbClr val="333333"/>
                </a:solidFill>
                <a:latin typeface="Calibri"/>
              </a:rPr>
              <a:t>Example 1.21 stores one row per order with customer, category, date, and amount</a:t>
            </a:r>
          </a:p>
          <a:p>
            <a:pPr>
              <a:spcAft>
                <a:spcPts val="1000"/>
              </a:spcAft>
              <a:buChar char="•"/>
              <a:lnSpc>
                <a:spcPts val="2200"/>
              </a:lnSpc>
            </a:pPr>
            <a:r>
              <a:rPr sz="2000" b="0">
                <a:solidFill>
                  <a:srgbClr val="333333"/>
                </a:solidFill>
                <a:latin typeface="Calibri"/>
              </a:rPr>
              <a:t>Aggregating by customer reveals repurchase intervals and category preferences that drive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`modules/chapter1/example21/`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Uses Of Datasets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customer churn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churn case study stitches the chapter together</a:t>
            </a:r>
          </a:p>
          <a:p>
            <a:pPr>
              <a:spcAft>
                <a:spcPts val="1000"/>
              </a:spcAft>
              <a:buChar char="•"/>
              <a:lnSpc>
                <a:spcPts val="2200"/>
              </a:lnSpc>
            </a:pPr>
            <a:r>
              <a:rPr sz="2000" b="0">
                <a:solidFill>
                  <a:srgbClr val="333333"/>
                </a:solidFill>
                <a:latin typeface="Calibri"/>
              </a:rPr>
              <a:t>Ranked feature importance highlights which behaviors precede churn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Uses Of Datasets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 — Churn model sketch</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1.31 — hands-on module</a:t>
            </a:r>
          </a:p>
          <a:p>
            <a:pPr>
              <a:spcAft>
                <a:spcPts val="1000"/>
              </a:spcAft>
              <a:buChar char="•"/>
              <a:lnSpc>
                <a:spcPts val="2200"/>
              </a:lnSpc>
            </a:pPr>
            <a:r>
              <a:rPr sz="2000" b="0">
                <a:solidFill>
                  <a:srgbClr val="333333"/>
                </a:solidFill>
                <a:latin typeface="Calibri"/>
              </a:rPr>
              <a:t>Example 1.31 provides a Python sketch of that pipeline</a:t>
            </a:r>
          </a:p>
          <a:p>
            <a:pPr>
              <a:spcAft>
                <a:spcPts val="1000"/>
              </a:spcAft>
              <a:buChar char="•"/>
              <a:lnSpc>
                <a:spcPts val="2200"/>
              </a:lnSpc>
            </a:pPr>
            <a:r>
              <a:rPr sz="2000" b="0">
                <a:solidFill>
                  <a:srgbClr val="333333"/>
                </a:solidFill>
                <a:latin typeface="Calibri"/>
              </a:rPr>
              <a:t>The same structure appears in fraud scoring and demand forecasting</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`modules/chapter1/example31/`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Uses Of Datasets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import pandas as pd</a:t>
            </a:r>
          </a:p>
          <a:p>
            <a:pPr>
              <a:lnSpc>
                <a:spcPts val="2200"/>
              </a:lnSpc>
              <a:spcAft>
                <a:spcPts val="400"/>
              </a:spcAft>
            </a:pPr>
            <a:r>
              <a:rPr sz="2000" b="0">
                <a:solidFill>
                  <a:srgbClr val="333333"/>
                </a:solidFill>
                <a:latin typeface="Consolas"/>
              </a:rPr>
              <a:t>import numpy as np</a:t>
            </a:r>
          </a:p>
          <a:p>
            <a:pPr>
              <a:lnSpc>
                <a:spcPts val="2200"/>
              </a:lnSpc>
              <a:spcAft>
                <a:spcPts val="400"/>
              </a:spcAft>
            </a:pPr>
            <a:r>
              <a:rPr sz="2000" b="0">
                <a:solidFill>
                  <a:srgbClr val="333333"/>
                </a:solidFill>
                <a:latin typeface="Consolas"/>
              </a:rPr>
              <a:t>from sklearn.ensemble import RandomForestClassifier</a:t>
            </a:r>
          </a:p>
          <a:p>
            <a:pPr>
              <a:lnSpc>
                <a:spcPts val="2200"/>
              </a:lnSpc>
              <a:spcAft>
                <a:spcPts val="400"/>
              </a:spcAft>
            </a:pPr>
            <a:r>
              <a:rPr sz="2000" b="0">
                <a:solidFill>
                  <a:srgbClr val="333333"/>
                </a:solidFill>
                <a:latin typeface="Consolas"/>
              </a:rPr>
              <a:t>from sklearn.model_selection import train_test_split</a:t>
            </a:r>
          </a:p>
          <a:p>
            <a:pPr>
              <a:lnSpc>
                <a:spcPts val="2200"/>
              </a:lnSpc>
              <a:spcAft>
                <a:spcPts val="400"/>
              </a:spcAft>
            </a:pPr>
            <a:r>
              <a:rPr sz="2000" b="0">
                <a:solidFill>
                  <a:srgbClr val="333333"/>
                </a:solidFill>
                <a:latin typeface="Consolas"/>
              </a:rPr>
              <a:t>from sklearn.impute import SimpleImputer</a:t>
            </a:r>
          </a:p>
          <a:p>
            <a:pPr>
              <a:lnSpc>
                <a:spcPts val="2200"/>
              </a:lnSpc>
              <a:spcAft>
                <a:spcPts val="400"/>
              </a:spcAft>
            </a:pPr>
            <a:r>
              <a:rPr sz="2000" b="0">
                <a:solidFill>
                  <a:srgbClr val="333333"/>
                </a:solidFill>
                <a:latin typeface="Consolas"/>
              </a:rPr>
              <a:t>from sklearn.metrics import accuracy_score, precision_score,</a:t>
            </a:r>
          </a:p>
          <a:p>
            <a:pPr>
              <a:lnSpc>
                <a:spcPts val="2200"/>
              </a:lnSpc>
              <a:spcAft>
                <a:spcPts val="400"/>
              </a:spcAft>
            </a:pPr>
            <a:r>
              <a:rPr sz="2000" b="0">
                <a:solidFill>
                  <a:srgbClr val="333333"/>
                </a:solidFill>
                <a:latin typeface="Consolas"/>
              </a:rPr>
              <a:t>recall_score, f1_score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Sample dataset</a:t>
            </a:r>
          </a:p>
          <a:p>
            <a:pPr>
              <a:lnSpc>
                <a:spcPts val="2200"/>
              </a:lnSpc>
              <a:spcAft>
                <a:spcPts val="400"/>
              </a:spcAft>
            </a:pPr>
            <a:r>
              <a:rPr sz="2000" b="0">
                <a:solidFill>
                  <a:srgbClr val="333333"/>
                </a:solidFill>
                <a:latin typeface="Consolas"/>
              </a:rPr>
              <a:t>data = {</a:t>
            </a:r>
          </a:p>
          <a:p>
            <a:pPr>
              <a:lnSpc>
                <a:spcPts val="2200"/>
              </a:lnSpc>
              <a:spcAft>
                <a:spcPts val="400"/>
              </a:spcAft>
            </a:pPr>
            <a:r>
              <a:rPr sz="2000" b="0">
                <a:solidFill>
                  <a:srgbClr val="333333"/>
                </a:solidFill>
                <a:latin typeface="Consolas"/>
              </a:rPr>
              <a:t>    "Customer_ID": [1001, 1002, 1003, 1004, 1005, 1006, 1007, 1008,</a:t>
            </a:r>
          </a:p>
          <a:p>
            <a:pPr>
              <a:lnSpc>
                <a:spcPts val="2200"/>
              </a:lnSpc>
              <a:spcAft>
                <a:spcPts val="400"/>
              </a:spcAft>
            </a:pPr>
            <a:r>
              <a:rPr sz="2000" b="0">
                <a:solidFill>
                  <a:srgbClr val="333333"/>
                </a:solidFill>
                <a:latin typeface="Consolas"/>
              </a:rPr>
              <a:t>1009, 1010],</a:t>
            </a:r>
          </a:p>
          <a:p>
            <a:pPr>
              <a:lnSpc>
                <a:spcPts val="2200"/>
              </a:lnSpc>
              <a:spcAft>
                <a:spcPts val="400"/>
              </a:spcAft>
            </a:pPr>
            <a:r>
              <a:rPr sz="2000" b="0">
                <a:solidFill>
                  <a:srgbClr val="333333"/>
                </a:solidFill>
                <a:latin typeface="Consolas"/>
              </a:rPr>
              <a:t>    "Complaints": [2, 5, 8, 1, 3, 7, 0, 4, 6, 9],</a:t>
            </a:r>
          </a:p>
          <a:p>
            <a:pPr>
              <a:lnSpc>
                <a:spcPts val="2200"/>
              </a:lnSpc>
              <a:spcAft>
                <a:spcPts val="400"/>
              </a:spcAft>
            </a:pPr>
            <a:r>
              <a:rPr sz="2000" b="0">
                <a:solidFill>
                  <a:srgbClr val="333333"/>
                </a:solidFill>
                <a:latin typeface="Consolas"/>
              </a:rPr>
              <a:t>    "Product_Usage": [50, 30, 20, 70, 45, 15, 80, 35, 25, 10],</a:t>
            </a:r>
          </a:p>
          <a:p>
            <a:pPr>
              <a:lnSpc>
                <a:spcPts val="2200"/>
              </a:lnSpc>
              <a:spcAft>
                <a:spcPts val="400"/>
              </a:spcAft>
            </a:pPr>
            <a:r>
              <a:rPr sz="2000" b="0">
                <a:solidFill>
                  <a:srgbClr val="333333"/>
                </a:solidFill>
                <a:latin typeface="Consolas"/>
              </a:rPr>
              <a:t>    "Account_Activity_Change": [5, -10, -15, 8, -5, -20, 10, -7, -12,</a:t>
            </a:r>
          </a:p>
          <a:p>
            <a:pPr>
              <a:lnSpc>
                <a:spcPts val="2200"/>
              </a:lnSpc>
              <a:spcAft>
                <a:spcPts val="400"/>
              </a:spcAft>
            </a:pPr>
            <a:r>
              <a:rPr sz="2000" b="0">
                <a:solidFill>
                  <a:srgbClr val="333333"/>
                </a:solidFill>
                <a:latin typeface="Consolas"/>
              </a:rPr>
              <a:t>-25],</a:t>
            </a:r>
          </a:p>
          <a:p>
            <a:pPr>
              <a:lnSpc>
                <a:spcPts val="2200"/>
              </a:lnSpc>
              <a:spcAft>
                <a:spcPts val="400"/>
              </a:spcAft>
            </a:pPr>
            <a:r>
              <a:rPr sz="2000" b="0">
                <a:solidFill>
                  <a:srgbClr val="333333"/>
                </a:solidFill>
                <a:latin typeface="Consolas"/>
              </a:rPr>
              <a:t>    "Subscription_Length": [24, 36, 12, 48, 30, 6, 60, 28, 14, 10],</a:t>
            </a:r>
          </a:p>
          <a:p>
            <a:pPr>
              <a:lnSpc>
                <a:spcPts val="2200"/>
              </a:lnSpc>
              <a:spcAft>
                <a:spcPts val="400"/>
              </a:spcAft>
            </a:pPr>
            <a:r>
              <a:rPr sz="2000" b="0">
                <a:solidFill>
                  <a:srgbClr val="333333"/>
                </a:solidFill>
                <a:latin typeface="Consolas"/>
              </a:rPr>
              <a:t>    "Churned": [0, 1, 1, 0, 0, 1, 0, 1, 1, 1]  # 1 = Churned, 0 = Not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Uses Of Datasets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Domain vocabulary changes; the lifecycle does not</a:t>
            </a:r>
          </a:p>
          <a:p>
            <a:pPr>
              <a:spcAft>
                <a:spcPts val="1000"/>
              </a:spcAft>
              <a:buChar char="•"/>
              <a:lnSpc>
                <a:spcPts val="2200"/>
              </a:lnSpc>
            </a:pPr>
            <a:r>
              <a:rPr sz="2000" b="0">
                <a:solidFill>
                  <a:srgbClr val="333333"/>
                </a:solidFill>
                <a:latin typeface="Calibri"/>
              </a:rPr>
              <a:t>Quality and exploration feed every serious application</a:t>
            </a:r>
          </a:p>
          <a:p>
            <a:pPr>
              <a:spcAft>
                <a:spcPts val="1000"/>
              </a:spcAft>
              <a:buChar char="•"/>
              <a:lnSpc>
                <a:spcPts val="2200"/>
              </a:lnSpc>
            </a:pPr>
            <a:r>
              <a:rPr sz="2000" b="0">
                <a:solidFill>
                  <a:srgbClr val="333333"/>
                </a:solidFill>
                <a:latin typeface="Calibri"/>
              </a:rPr>
              <a:t>Churn is the chapter's end-to-end illustration of define, prepare, model, and intervene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Uses Of Datasets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 then finish the chapter with dataset management, versioning, access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Uses Of Datasets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