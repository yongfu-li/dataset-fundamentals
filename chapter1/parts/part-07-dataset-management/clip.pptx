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and dashboards depend on quieter work: who may access the table, which version was trained, where backups live, and how long personal fields may be retained. This final part introduces that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should explain why management matters after a model ships, list core practices such as versioning and access control, and name privacy controls that protect sensitive extracts.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dataset is collected, cleaned, documented, stored, shared, and sometimes retired. Traceability links figures to their sources; ownership and documentation reduce duplicated effort; governance limits who can see sensitive fields. Without these foundations, tuned models can amplify undocumented errors or leak attributes that should never leave a restricted store.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1.8 highlights version control, cleaning and transformation, metadata documentation, storage and backups, access control, and cataloging. These reinforce one another: a versioned file without metadata still confuses new users; rich docs without access controls may violate privacy rules.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anonymization, role-based access with MFA, regulatory compliance, and audit logging commonly combine to protect personal and proprietary data. Healthcare extracts, banking ledgers, and customer feature tables are useful only if access, retention, and sharing are controlled. Ethical nuance continues in later chapters; the point here is that protection starts when records are first stored.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established definitions, types, quality, exploration, applications, and management. Chapter 2 turns to data collection—where records originate and how sampling shapes representativeness.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not optional. Versioning, metadata, and access must work together. Protection begins at first storage and continues through every reuse.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return to the chapter learning path or continue to Chapter 2 when that lecture is available.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 — Dataset management</a:t>
            </a:r>
          </a:p>
          <a:p>
            <a:pPr algn="ctr">
              <a:lnSpc>
                <a:spcPts val="2200"/>
              </a:lnSpc>
              <a:spcBef>
                <a:spcPts val="1400"/>
              </a:spcBef>
            </a:pPr>
            <a:r>
              <a:rPr sz="2600" b="0">
                <a:solidFill>
                  <a:srgbClr val="333333"/>
                </a:solidFill>
                <a:latin typeface="Calibri"/>
              </a:rPr>
              <a:t>Models and dashboards depend on quieter work</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Explain why management matters after a model ships</a:t>
            </a:r>
          </a:p>
          <a:p>
            <a:pPr>
              <a:spcAft>
                <a:spcPts val="1000"/>
              </a:spcAft>
              <a:buChar char="•"/>
              <a:lnSpc>
                <a:spcPts val="2200"/>
              </a:lnSpc>
            </a:pPr>
            <a:r>
              <a:rPr sz="2000" b="0">
                <a:solidFill>
                  <a:srgbClr val="333333"/>
                </a:solidFill>
                <a:latin typeface="Calibri"/>
              </a:rPr>
              <a:t>Name privacy controls that protect sensitive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management matters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dataset is collected, cleaned, documented, stored, shared, and sometimes retired</a:t>
            </a:r>
          </a:p>
          <a:p>
            <a:pPr>
              <a:spcAft>
                <a:spcPts val="1000"/>
              </a:spcAft>
              <a:buChar char="•"/>
              <a:lnSpc>
                <a:spcPts val="2200"/>
              </a:lnSpc>
            </a:pPr>
            <a:r>
              <a:rPr sz="2000" b="0">
                <a:solidFill>
                  <a:srgbClr val="333333"/>
                </a:solidFill>
                <a:latin typeface="Calibri"/>
              </a:rPr>
              <a:t>Traceability links figures to their sources</a:t>
            </a:r>
          </a:p>
          <a:p>
            <a:pPr>
              <a:spcAft>
                <a:spcPts val="1000"/>
              </a:spcAft>
              <a:buChar char="•"/>
              <a:lnSpc>
                <a:spcPts val="2200"/>
              </a:lnSpc>
            </a:pPr>
            <a:r>
              <a:rPr sz="2000" b="0">
                <a:solidFill>
                  <a:srgbClr val="333333"/>
                </a:solidFill>
                <a:latin typeface="Calibri"/>
              </a:rPr>
              <a:t>Without these foundations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Table 1.8 highlights version control</a:t>
            </a:r>
          </a:p>
          <a:p>
            <a:pPr>
              <a:spcAft>
                <a:spcPts val="1000"/>
              </a:spcAft>
              <a:buChar char="•"/>
              <a:lnSpc>
                <a:spcPts val="2200"/>
              </a:lnSpc>
            </a:pPr>
            <a:r>
              <a:rPr sz="2000" b="0">
                <a:solidFill>
                  <a:srgbClr val="333333"/>
                </a:solidFill>
                <a:latin typeface="Calibri"/>
              </a:rPr>
              <a:t>These reinforce one another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and security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Encryption, anonymization, role-based access with MFA, regulatory compliance</a:t>
            </a:r>
          </a:p>
          <a:p>
            <a:pPr>
              <a:spcAft>
                <a:spcPts val="1000"/>
              </a:spcAft>
              <a:buChar char="•"/>
              <a:lnSpc>
                <a:spcPts val="2200"/>
              </a:lnSpc>
            </a:pPr>
            <a:r>
              <a:rPr sz="2000" b="0">
                <a:solidFill>
                  <a:srgbClr val="333333"/>
                </a:solidFill>
                <a:latin typeface="Calibri"/>
              </a:rPr>
              <a:t>Healthcare extracts, banking ledgers</a:t>
            </a:r>
          </a:p>
          <a:p>
            <a:pPr>
              <a:spcAft>
                <a:spcPts val="1000"/>
              </a:spcAft>
              <a:buChar char="•"/>
              <a:lnSpc>
                <a:spcPts val="2200"/>
              </a:lnSpc>
            </a:pPr>
            <a:r>
              <a:rPr sz="2000" b="0">
                <a:solidFill>
                  <a:srgbClr val="333333"/>
                </a:solidFill>
                <a:latin typeface="Calibri"/>
              </a:rPr>
              <a:t>Ethical nuance continues in later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1 established definitions, types, quality, exploration, applications</a:t>
            </a:r>
          </a:p>
          <a:p>
            <a:pPr>
              <a:spcAft>
                <a:spcPts val="1000"/>
              </a:spcAft>
              <a:buChar char="•"/>
              <a:lnSpc>
                <a:spcPts val="2200"/>
              </a:lnSpc>
            </a:pPr>
            <a:r>
              <a:rPr sz="2000" b="0">
                <a:solidFill>
                  <a:srgbClr val="333333"/>
                </a:solidFill>
                <a:latin typeface="Calibri"/>
              </a:rPr>
              <a:t>Chapter 2 turns to data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Management is not optional</a:t>
            </a:r>
          </a:p>
          <a:p>
            <a:pPr>
              <a:spcAft>
                <a:spcPts val="1000"/>
              </a:spcAft>
              <a:buChar char="•"/>
              <a:lnSpc>
                <a:spcPts val="2200"/>
              </a:lnSpc>
            </a:pPr>
            <a:r>
              <a:rPr sz="2000" b="0">
                <a:solidFill>
                  <a:srgbClr val="333333"/>
                </a:solidFill>
                <a:latin typeface="Calibri"/>
              </a:rPr>
              <a:t>Versioning, metadata, and access must work together</a:t>
            </a:r>
          </a:p>
          <a:p>
            <a:pPr>
              <a:spcAft>
                <a:spcPts val="1000"/>
              </a:spcAft>
              <a:buChar char="•"/>
              <a:lnSpc>
                <a:spcPts val="2200"/>
              </a:lnSpc>
            </a:pPr>
            <a:r>
              <a:rPr sz="2000" b="0">
                <a:solidFill>
                  <a:srgbClr val="333333"/>
                </a:solidFill>
                <a:latin typeface="Calibri"/>
              </a:rPr>
              <a:t>Protection begins at first storage and continues through every reuse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 — Dataset Management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