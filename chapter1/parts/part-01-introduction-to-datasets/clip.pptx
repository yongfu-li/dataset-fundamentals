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opens Chapter 1 by answering a deceptively simple question: what counts as a dataset? By the end, the vocabulary of records and attributes should feel concrete, whether the file is a spreadsheet or a JSON document.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goals guide this part. First, define a dataset as something curated for analysis, not merely a raw stream of events. Second, separate records from attributes so every later example has a shared language. Third, see that the same idea appears in both flat CSV tables and nested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dataset is a curated collection of data, often organized as records and attributes, that serves as input to analysis, modeling, or decision-making. Unlike raw operational logs, a dataset usually has defined scope, structure, and ideally documentation that makes it interpretable. In modern data work, the dataset is the basic unit—whether the task is machine learning, statistics, or business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tabular data, each record is one observation—one sale, one patient, one sensor reading—and each attribute describes a property of that observation. The sales CSV uses Date, Product, Quantity, and Price as attributes; each row is one transaction. The same mapping appears in healthcare and sensor examples later in the section: change the domain, keep the 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 is the chapter's first concrete anchor: a small CSV of retail sales. Each row is one sale; columns detail product, date, quantity, and price. Open the example 1 module for this chapter to inspect the file and count rows and columns before moving on. Later examples change domain but keep this shape.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Datasets are not only tables. Example 1.4 stores housing listings as JSON with nested fields—still records with attributes, but in a flexible schema. The form changes; the objective stays the same: provide meaningful data that can be turned into insight. Try the example 4 module to see how keys and nested objects play the role of columns.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three points. A dataset is prepared for a purpose. Records and attributes are the shared vocabulary. Formats and modalities vary widely, but the goal of interpretable, usable data does not.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types of datasets—structured, unstructured, and semi-structured.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 — Introduction to datasets</a:t>
            </a:r>
          </a:p>
          <a:p>
            <a:pPr algn="ctr">
              <a:lnSpc>
                <a:spcPts val="2200"/>
              </a:lnSpc>
              <a:spcBef>
                <a:spcPts val="1400"/>
              </a:spcBef>
            </a:pPr>
            <a:r>
              <a:rPr sz="2600" b="0">
                <a:solidFill>
                  <a:srgbClr val="333333"/>
                </a:solidFill>
                <a:latin typeface="Calibri"/>
              </a:rPr>
              <a:t>This part opens Chapter 1 by answering a deceptively simple question: what counts as a dataset?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Introduction To Datasets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Define a dataset as curated for analysis, not raw event streams</a:t>
            </a:r>
          </a:p>
          <a:p>
            <a:pPr lvl="0" marL="457200" indent="-228600">
              <a:buFont typeface="Calibri"/>
              <a:spcAft>
                <a:spcPts val="1000"/>
              </a:spcAft>
              <a:buSzPct val="100000"/>
              <a:buChar char="•"/>
              <a:lnSpc>
                <a:spcPts val="2200"/>
              </a:lnSpc>
            </a:pPr>
            <a:r>
              <a:rPr sz="2000" b="0">
                <a:solidFill>
                  <a:srgbClr val="333333"/>
                </a:solidFill>
                <a:latin typeface="Calibri"/>
              </a:rPr>
              <a:t>Distinguish records from attributes (shared vocabulary)</a:t>
            </a:r>
          </a:p>
          <a:p>
            <a:pPr lvl="0" marL="457200" indent="-228600">
              <a:buFont typeface="Calibri"/>
              <a:spcAft>
                <a:spcPts val="1000"/>
              </a:spcAft>
              <a:buSzPct val="100000"/>
              <a:buChar char="•"/>
              <a:lnSpc>
                <a:spcPts val="2200"/>
              </a:lnSpc>
            </a:pPr>
            <a:r>
              <a:rPr sz="2000" b="0">
                <a:solidFill>
                  <a:srgbClr val="333333"/>
                </a:solidFill>
                <a:latin typeface="Calibri"/>
              </a:rPr>
              <a:t>Same idea in CSV tables and nested JSON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Introduction To Datasets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is a dataset?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dataset is a curated collection of data</a:t>
            </a:r>
          </a:p>
          <a:p>
            <a:pPr lvl="0" marL="457200" indent="-228600">
              <a:buFont typeface="Calibri"/>
              <a:spcAft>
                <a:spcPts val="1000"/>
              </a:spcAft>
              <a:buSzPct val="100000"/>
              <a:buChar char="•"/>
              <a:lnSpc>
                <a:spcPts val="2200"/>
              </a:lnSpc>
            </a:pPr>
            <a:r>
              <a:rPr sz="2000" b="0">
                <a:solidFill>
                  <a:srgbClr val="333333"/>
                </a:solidFill>
                <a:latin typeface="Calibri"/>
              </a:rPr>
              <a:t>Has scope, structure, and documentation</a:t>
            </a:r>
          </a:p>
          <a:p>
            <a:pPr lvl="0" marL="457200" indent="-228600">
              <a:buFont typeface="Calibri"/>
              <a:spcAft>
                <a:spcPts val="1000"/>
              </a:spcAft>
              <a:buSzPct val="100000"/>
              <a:buChar char="•"/>
              <a:lnSpc>
                <a:spcPts val="2200"/>
              </a:lnSpc>
            </a:pPr>
            <a:r>
              <a:rPr sz="2000" b="0">
                <a:solidFill>
                  <a:srgbClr val="333333"/>
                </a:solidFill>
                <a:latin typeface="Calibri"/>
              </a:rPr>
              <a:t>The dataset is the basic unit for ML, statistics, and BI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Introduction To Datasets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Records and attributes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Each record is one observation; each attribute describes it</a:t>
            </a:r>
          </a:p>
          <a:p>
            <a:pPr lvl="0" marL="457200" indent="-228600">
              <a:buFont typeface="Calibri"/>
              <a:spcAft>
                <a:spcPts val="1000"/>
              </a:spcAft>
              <a:buSzPct val="100000"/>
              <a:buChar char="•"/>
              <a:lnSpc>
                <a:spcPts val="2200"/>
              </a:lnSpc>
            </a:pPr>
            <a:r>
              <a:rPr sz="2000" b="0">
                <a:solidFill>
                  <a:srgbClr val="333333"/>
                </a:solidFill>
                <a:latin typeface="Calibri"/>
              </a:rPr>
              <a:t>The sales CSV uses Date, Product, Quantity, and Price as attributes</a:t>
            </a:r>
          </a:p>
          <a:p>
            <a:pPr lvl="0" marL="457200" indent="-228600">
              <a:buFont typeface="Calibri"/>
              <a:spcAft>
                <a:spcPts val="1000"/>
              </a:spcAft>
              <a:buSzPct val="100000"/>
              <a:buChar char="•"/>
              <a:lnSpc>
                <a:spcPts val="2200"/>
              </a:lnSpc>
            </a:pPr>
            <a:r>
              <a:rPr sz="2000" b="0">
                <a:solidFill>
                  <a:srgbClr val="333333"/>
                </a:solidFill>
                <a:latin typeface="Calibri"/>
              </a:rPr>
              <a:t>The same mapping appears in healthcare and sensor examples later in the section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Introduction To Datasets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 — Sample CSV sales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 — hands-on module</a:t>
            </a:r>
          </a:p>
          <a:p>
            <a:pPr lvl="0" marL="457200" indent="-228600">
              <a:buFont typeface="Calibri"/>
              <a:spcAft>
                <a:spcPts val="1000"/>
              </a:spcAft>
              <a:buSzPct val="100000"/>
              <a:buChar char="•"/>
              <a:lnSpc>
                <a:spcPts val="2200"/>
              </a:lnSpc>
            </a:pPr>
            <a:r>
              <a:rPr sz="2000" b="0">
                <a:solidFill>
                  <a:srgbClr val="333333"/>
                </a:solidFill>
                <a:latin typeface="Calibri"/>
              </a:rPr>
              <a:t>First concrete anchor: a small CSV of retail sales</a:t>
            </a:r>
          </a:p>
          <a:p>
            <a:pPr lvl="0" marL="457200" indent="-228600">
              <a:buFont typeface="Calibri"/>
              <a:spcAft>
                <a:spcPts val="1000"/>
              </a:spcAft>
              <a:buSzPct val="100000"/>
              <a:buChar char="•"/>
              <a:lnSpc>
                <a:spcPts val="2200"/>
              </a:lnSpc>
            </a:pPr>
            <a:r>
              <a:rPr sz="2000" b="0">
                <a:solidFill>
                  <a:srgbClr val="333333"/>
                </a:solidFill>
                <a:latin typeface="Calibri"/>
              </a:rPr>
              <a:t>Each row is one sale; columns detail product, date, quantity, and price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Introduction To Datasets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Date,Product,Quantity,Price,Total</a:t>
            </a:r>
          </a:p>
          <a:p>
            <a:pPr>
              <a:lnSpc>
                <a:spcPts val="2200"/>
              </a:lnSpc>
              <a:spcAft>
                <a:spcPts val="400"/>
              </a:spcAft>
            </a:pPr>
            <a:r>
              <a:rPr sz="2000" b="0">
                <a:solidFill>
                  <a:srgbClr val="333333"/>
                </a:solidFill>
                <a:latin typeface="Consolas"/>
              </a:rPr>
              <a:t>2024-01-01,Apple,3,0.5,1.5</a:t>
            </a:r>
          </a:p>
          <a:p>
            <a:pPr>
              <a:lnSpc>
                <a:spcPts val="2200"/>
              </a:lnSpc>
              <a:spcAft>
                <a:spcPts val="400"/>
              </a:spcAft>
            </a:pPr>
            <a:r>
              <a:rPr sz="2000" b="0">
                <a:solidFill>
                  <a:srgbClr val="333333"/>
                </a:solidFill>
                <a:latin typeface="Consolas"/>
              </a:rPr>
              <a:t>2024-01-01,Banana,2,0.3,0.6</a:t>
            </a:r>
          </a:p>
          <a:p>
            <a:pPr>
              <a:lnSpc>
                <a:spcPts val="2200"/>
              </a:lnSpc>
              <a:spcAft>
                <a:spcPts val="400"/>
              </a:spcAft>
            </a:pPr>
            <a:r>
              <a:rPr sz="2000" b="0">
                <a:solidFill>
                  <a:srgbClr val="333333"/>
                </a:solidFill>
                <a:latin typeface="Consolas"/>
              </a:rPr>
              <a:t>2024-01-02,Orange,5,0.7,3.5</a:t>
            </a:r>
          </a:p>
          <a:p>
            <a:pPr>
              <a:lnSpc>
                <a:spcPts val="2200"/>
              </a:lnSpc>
              <a:spcAft>
                <a:spcPts val="400"/>
              </a:spcAft>
            </a:pPr>
            <a:r>
              <a:rPr sz="2000" b="0">
                <a:solidFill>
                  <a:srgbClr val="333333"/>
                </a:solidFill>
                <a:latin typeface="Consolas"/>
              </a:rPr>
              <a:t>2024-01-02,Grapes,1,2.0,2.0</a:t>
            </a:r>
          </a:p>
          <a:p>
            <a:pPr>
              <a:lnSpc>
                <a:spcPts val="2200"/>
              </a:lnSpc>
              <a:spcAft>
                <a:spcPts val="400"/>
              </a:spcAft>
            </a:pPr>
            <a:r>
              <a:rPr sz="2000" b="0">
                <a:solidFill>
                  <a:srgbClr val="333333"/>
                </a:solidFill>
                <a:latin typeface="Consolas"/>
              </a:rPr>
              <a:t>2024-01-03,Mango,4,1.5,6.0</a:t>
            </a:r>
          </a:p>
          <a:p>
            <a:pPr>
              <a:lnSpc>
                <a:spcPts val="2200"/>
              </a:lnSpc>
              <a:spcAft>
                <a:spcPts val="400"/>
              </a:spcAft>
            </a:pPr>
            <a:r>
              <a:rPr sz="2000" b="0">
                <a:solidFill>
                  <a:srgbClr val="333333"/>
                </a:solidFill>
                <a:latin typeface="Consolas"/>
              </a:rPr>
              <a:t>2024-01-04,Apple,2,0.5,1.0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Introduction To Datasets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1.4 — Housing prices in JSON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1.4 JSON listings with nested fields (flexible schema)</a:t>
            </a:r>
          </a:p>
          <a:p>
            <a:pPr lvl="0" marL="457200" indent="-228600">
              <a:buFont typeface="Calibri"/>
              <a:spcAft>
                <a:spcPts val="1000"/>
              </a:spcAft>
              <a:buSzPct val="100000"/>
              <a:buChar char="•"/>
              <a:lnSpc>
                <a:spcPts val="2200"/>
              </a:lnSpc>
            </a:pPr>
            <a:r>
              <a:rPr sz="2000" b="0">
                <a:solidFill>
                  <a:srgbClr val="333333"/>
                </a:solidFill>
                <a:latin typeface="Calibri"/>
              </a:rPr>
              <a:t>The form changes; the objective stays the same: meaningful, analyzable data</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Introduction To Datasets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1.4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    "House_ID": 101,</a:t>
            </a:r>
          </a:p>
          <a:p>
            <a:pPr>
              <a:lnSpc>
                <a:spcPts val="2200"/>
              </a:lnSpc>
              <a:spcAft>
                <a:spcPts val="400"/>
              </a:spcAft>
            </a:pPr>
            <a:r>
              <a:rPr sz="2000" b="0">
                <a:solidFill>
                  <a:srgbClr val="333333"/>
                </a:solidFill>
                <a:latin typeface="Consolas"/>
              </a:rPr>
              <a:t>    "Location": "New York",</a:t>
            </a:r>
          </a:p>
          <a:p>
            <a:pPr>
              <a:lnSpc>
                <a:spcPts val="2200"/>
              </a:lnSpc>
              <a:spcAft>
                <a:spcPts val="400"/>
              </a:spcAft>
            </a:pPr>
            <a:r>
              <a:rPr sz="2000" b="0">
                <a:solidFill>
                  <a:srgbClr val="333333"/>
                </a:solidFill>
                <a:latin typeface="Consolas"/>
              </a:rPr>
              <a:t>    "Square_Footage": 2000,</a:t>
            </a:r>
          </a:p>
          <a:p>
            <a:pPr>
              <a:lnSpc>
                <a:spcPts val="2200"/>
              </a:lnSpc>
              <a:spcAft>
                <a:spcPts val="400"/>
              </a:spcAft>
            </a:pPr>
            <a:r>
              <a:rPr sz="2000" b="0">
                <a:solidFill>
                  <a:srgbClr val="333333"/>
                </a:solidFill>
                <a:latin typeface="Consolas"/>
              </a:rPr>
              <a:t>    "Bedrooms": 3,</a:t>
            </a:r>
          </a:p>
          <a:p>
            <a:pPr>
              <a:lnSpc>
                <a:spcPts val="2200"/>
              </a:lnSpc>
              <a:spcAft>
                <a:spcPts val="400"/>
              </a:spcAft>
            </a:pPr>
            <a:r>
              <a:rPr sz="2000" b="0">
                <a:solidFill>
                  <a:srgbClr val="333333"/>
                </a:solidFill>
                <a:latin typeface="Consolas"/>
              </a:rPr>
              <a:t>    "Proximity_to_Schools": "0.5 miles",</a:t>
            </a:r>
          </a:p>
          <a:p>
            <a:pPr>
              <a:lnSpc>
                <a:spcPts val="2200"/>
              </a:lnSpc>
              <a:spcAft>
                <a:spcPts val="400"/>
              </a:spcAft>
            </a:pPr>
            <a:r>
              <a:rPr sz="2000" b="0">
                <a:solidFill>
                  <a:srgbClr val="333333"/>
                </a:solidFill>
                <a:latin typeface="Consolas"/>
              </a:rPr>
              <a:t>    "Price": 850000</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    "House_ID": 102,</a:t>
            </a:r>
          </a:p>
          <a:p>
            <a:pPr>
              <a:lnSpc>
                <a:spcPts val="2200"/>
              </a:lnSpc>
              <a:spcAft>
                <a:spcPts val="400"/>
              </a:spcAft>
            </a:pPr>
            <a:r>
              <a:rPr sz="2000" b="0">
                <a:solidFill>
                  <a:srgbClr val="333333"/>
                </a:solidFill>
                <a:latin typeface="Consolas"/>
              </a:rPr>
              <a:t>    "Location": "Los Angeles",</a:t>
            </a:r>
          </a:p>
          <a:p>
            <a:pPr>
              <a:lnSpc>
                <a:spcPts val="2200"/>
              </a:lnSpc>
              <a:spcAft>
                <a:spcPts val="400"/>
              </a:spcAft>
            </a:pPr>
            <a:r>
              <a:rPr sz="2000" b="0">
                <a:solidFill>
                  <a:srgbClr val="333333"/>
                </a:solidFill>
                <a:latin typeface="Consolas"/>
              </a:rPr>
              <a:t>    "Square_Footage": 1800,</a:t>
            </a:r>
          </a:p>
          <a:p>
            <a:pPr>
              <a:lnSpc>
                <a:spcPts val="2200"/>
              </a:lnSpc>
              <a:spcAft>
                <a:spcPts val="400"/>
              </a:spcAft>
            </a:pPr>
            <a:r>
              <a:rPr sz="2000" b="0">
                <a:solidFill>
                  <a:srgbClr val="333333"/>
                </a:solidFill>
                <a:latin typeface="Consolas"/>
              </a:rPr>
              <a:t>    "Bedrooms": 4,</a:t>
            </a:r>
          </a:p>
          <a:p>
            <a:pPr>
              <a:lnSpc>
                <a:spcPts val="2200"/>
              </a:lnSpc>
              <a:spcAft>
                <a:spcPts val="400"/>
              </a:spcAft>
            </a:pPr>
            <a:r>
              <a:rPr sz="2000" b="0">
                <a:solidFill>
                  <a:srgbClr val="333333"/>
                </a:solidFill>
                <a:latin typeface="Consolas"/>
              </a:rPr>
              <a:t>    "Proximity_to_Schools": "1.2 miles",</a:t>
            </a:r>
          </a:p>
          <a:p>
            <a:pPr>
              <a:lnSpc>
                <a:spcPts val="2200"/>
              </a:lnSpc>
              <a:spcAft>
                <a:spcPts val="400"/>
              </a:spcAft>
            </a:pPr>
            <a:r>
              <a:rPr sz="2000" b="0">
                <a:solidFill>
                  <a:srgbClr val="333333"/>
                </a:solidFill>
                <a:latin typeface="Consolas"/>
              </a:rPr>
              <a:t>    "Price": 720000</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Introduction To Datasets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dataset is prepared for a purpose</a:t>
            </a:r>
          </a:p>
          <a:p>
            <a:pPr lvl="0" marL="457200" indent="-228600">
              <a:buFont typeface="Calibri"/>
              <a:spcAft>
                <a:spcPts val="1000"/>
              </a:spcAft>
              <a:buSzPct val="100000"/>
              <a:buChar char="•"/>
              <a:lnSpc>
                <a:spcPts val="2200"/>
              </a:lnSpc>
            </a:pPr>
            <a:r>
              <a:rPr sz="2000" b="0">
                <a:solidFill>
                  <a:srgbClr val="333333"/>
                </a:solidFill>
                <a:latin typeface="Calibri"/>
              </a:rPr>
              <a:t>Records and attributes are the shared vocabulary</a:t>
            </a:r>
          </a:p>
          <a:p>
            <a:pPr lvl="0" marL="457200" indent="-228600">
              <a:buFont typeface="Calibri"/>
              <a:spcAft>
                <a:spcPts val="1000"/>
              </a:spcAft>
              <a:buSzPct val="100000"/>
              <a:buChar char="•"/>
              <a:lnSpc>
                <a:spcPts val="2200"/>
              </a:lnSpc>
            </a:pPr>
            <a:r>
              <a:rPr sz="2000" b="0">
                <a:solidFill>
                  <a:srgbClr val="333333"/>
                </a:solidFill>
                <a:latin typeface="Calibri"/>
              </a:rPr>
              <a:t>Formats and modalities vary widely, but the goal of interpretable, usable data does not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Introduction To Datasets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the next part on types of datasets, structured, unstructured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Introduction To Datasets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