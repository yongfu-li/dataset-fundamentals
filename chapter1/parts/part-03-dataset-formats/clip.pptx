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 tells you how records are organized; format tells you how they are stored. This part connects common on-disk formats to the types from the previous part.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should leave able to name formats for tabular, hierarchical, and geospatial data, explain when CSV, SQL, HDF5, or GeoJSON fits, and connect format choice to the tools that will consume the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Format is the serialization of structure. Matching format to structure, expected volume, and downstream tools reduces friction across collection and analysis. A mismatch—for example, forcing huge arrays through naive CSV—creates avoidable cost.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CSV remains the common language for simple tables. SQL tables add typed schemas and efficient queries. JSON and GeoJSON handle nested objects and spatial features. HDF5 targets large scientific or array-oriented datasets. Each aligns with a structural niche.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1.8 shows structured data in a relational form: typed columns and queries for filtering and joins. When attributes are stable and analysts need aggregations, SQL, or an equivalent relational store, is a natural fit. The example 8 module lets you explore this hands-on.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1.9 creates and reads an HDF5 file—a hierarchical binary format efficient for large numeric arrays. Scientific and machine-learning pipelines often prefer HDF5 when CSV becomes too slow or too large. Try the example 9 module to create and read one yourself.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structure, then consider size, update rate, and tooling. Prefer formats your team already supports, and document the choice so later consumers are not guessing. Metadata and documentation—covered next—make that choice durable.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Format serializes structure. Everyday tables lean on CSV and SQL; specialized shapes and scales use HDF5, GeoJSON, and related formats.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move to characteristics of good datasets—accuracy, completeness, and related quality dimensions.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 — Dataset formats</a:t>
            </a:r>
          </a:p>
          <a:p>
            <a:pPr algn="ctr">
              <a:lnSpc>
                <a:spcPts val="2200"/>
              </a:lnSpc>
              <a:spcBef>
                <a:spcPts val="1400"/>
              </a:spcBef>
            </a:pPr>
            <a:r>
              <a:rPr sz="2600" b="0">
                <a:solidFill>
                  <a:srgbClr val="333333"/>
                </a:solidFill>
                <a:latin typeface="Calibri"/>
              </a:rPr>
              <a:t>Structure tells you how records are organized; format tells you how they are stored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Formats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Leave able to name formats for tabular, hierarchical</a:t>
            </a:r>
          </a:p>
          <a:p>
            <a:pPr>
              <a:spcAft>
                <a:spcPts val="1000"/>
              </a:spcAft>
              <a:buChar char="•"/>
              <a:lnSpc>
                <a:spcPts val="2200"/>
              </a:lnSpc>
            </a:pPr>
            <a:r>
              <a:rPr sz="2000" b="0">
                <a:solidFill>
                  <a:srgbClr val="333333"/>
                </a:solidFill>
                <a:latin typeface="Calibri"/>
              </a:rPr>
              <a:t>Geospatial data, explain when CSV, SQL, HDF5, or GeoJSON fits</a:t>
            </a:r>
          </a:p>
          <a:p>
            <a:pPr>
              <a:spcAft>
                <a:spcPts val="1000"/>
              </a:spcAft>
              <a:buChar char="•"/>
              <a:lnSpc>
                <a:spcPts val="2200"/>
              </a:lnSpc>
            </a:pPr>
            <a:r>
              <a:rPr sz="2000" b="0">
                <a:solidFill>
                  <a:srgbClr val="333333"/>
                </a:solidFill>
                <a:latin typeface="Calibri"/>
              </a:rPr>
              <a:t>Connect format choice to the tools that will consume the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Formats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format matters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Format is the serialization of structure</a:t>
            </a:r>
          </a:p>
          <a:p>
            <a:pPr>
              <a:spcAft>
                <a:spcPts val="1000"/>
              </a:spcAft>
              <a:buChar char="•"/>
              <a:lnSpc>
                <a:spcPts val="2200"/>
              </a:lnSpc>
            </a:pPr>
            <a:r>
              <a:rPr sz="2000" b="0">
                <a:solidFill>
                  <a:srgbClr val="333333"/>
                </a:solidFill>
                <a:latin typeface="Calibri"/>
              </a:rPr>
              <a:t>Matching format to structure, expected volume</a:t>
            </a:r>
          </a:p>
          <a:p>
            <a:pPr>
              <a:spcAft>
                <a:spcPts val="1000"/>
              </a:spcAft>
              <a:buChar char="•"/>
              <a:lnSpc>
                <a:spcPts val="2200"/>
              </a:lnSpc>
            </a:pPr>
            <a:r>
              <a:rPr sz="2000" b="0">
                <a:solidFill>
                  <a:srgbClr val="333333"/>
                </a:solidFill>
                <a:latin typeface="Calibri"/>
              </a:rPr>
              <a:t>A mismatch, for example, forcing huge arrays through naive CSV, creates avoidable cost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Formats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Common formats at a glance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CSV remains the common language for simple tables</a:t>
            </a:r>
          </a:p>
          <a:p>
            <a:pPr>
              <a:spcAft>
                <a:spcPts val="1000"/>
              </a:spcAft>
              <a:buChar char="•"/>
              <a:lnSpc>
                <a:spcPts val="2200"/>
              </a:lnSpc>
            </a:pPr>
            <a:r>
              <a:rPr sz="2000" b="0">
                <a:solidFill>
                  <a:srgbClr val="333333"/>
                </a:solidFill>
                <a:latin typeface="Calibri"/>
              </a:rPr>
              <a:t>SQL tables add typed schemas and efficient queries</a:t>
            </a:r>
          </a:p>
          <a:p>
            <a:pPr>
              <a:spcAft>
                <a:spcPts val="1000"/>
              </a:spcAft>
              <a:buChar char="•"/>
              <a:lnSpc>
                <a:spcPts val="2200"/>
              </a:lnSpc>
            </a:pPr>
            <a:r>
              <a:rPr sz="2000" b="0">
                <a:solidFill>
                  <a:srgbClr val="333333"/>
                </a:solidFill>
                <a:latin typeface="Calibri"/>
              </a:rPr>
              <a:t>JSON and GeoJSON handle nested objects and spatial features</a:t>
            </a:r>
          </a:p>
          <a:p>
            <a:pPr>
              <a:spcAft>
                <a:spcPts val="1000"/>
              </a:spcAft>
              <a:buChar char="•"/>
              <a:lnSpc>
                <a:spcPts val="2200"/>
              </a:lnSpc>
            </a:pPr>
            <a:r>
              <a:rPr sz="2000" b="0">
                <a:solidFill>
                  <a:srgbClr val="333333"/>
                </a:solidFill>
                <a:latin typeface="Calibri"/>
              </a:rPr>
              <a:t>HDF5 targets large scientific or array-oriented datasets</a:t>
            </a:r>
          </a:p>
          <a:p>
            <a:pPr>
              <a:spcAft>
                <a:spcPts val="1000"/>
              </a:spcAft>
              <a:buChar char="•"/>
              <a:lnSpc>
                <a:spcPts val="2200"/>
              </a:lnSpc>
            </a:pPr>
            <a:r>
              <a:rPr sz="2000" b="0">
                <a:solidFill>
                  <a:srgbClr val="333333"/>
                </a:solidFill>
                <a:latin typeface="Calibri"/>
              </a:rPr>
              <a:t>Each aligns with a structural niche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Formats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1.8 — SQL format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1.8 — hands-on module</a:t>
            </a:r>
          </a:p>
          <a:p>
            <a:pPr>
              <a:spcAft>
                <a:spcPts val="1000"/>
              </a:spcAft>
              <a:buChar char="•"/>
              <a:lnSpc>
                <a:spcPts val="2200"/>
              </a:lnSpc>
            </a:pPr>
            <a:r>
              <a:rPr sz="2000" b="0">
                <a:solidFill>
                  <a:srgbClr val="333333"/>
                </a:solidFill>
                <a:latin typeface="Calibri"/>
              </a:rPr>
              <a:t>Example 1.8 shows structured data in a relational form</a:t>
            </a:r>
          </a:p>
          <a:p>
            <a:pPr>
              <a:spcAft>
                <a:spcPts val="1000"/>
              </a:spcAft>
              <a:buChar char="•"/>
              <a:lnSpc>
                <a:spcPts val="2200"/>
              </a:lnSpc>
            </a:pPr>
            <a:r>
              <a:rPr sz="2000" b="0">
                <a:solidFill>
                  <a:srgbClr val="333333"/>
                </a:solidFill>
                <a:latin typeface="Calibri"/>
              </a:rPr>
              <a:t>When attributes are stable and analysts need aggregations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Formats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CREATE TABLE Customers (</a:t>
            </a:r>
          </a:p>
          <a:p>
            <a:pPr>
              <a:lnSpc>
                <a:spcPts val="2200"/>
              </a:lnSpc>
              <a:spcAft>
                <a:spcPts val="400"/>
              </a:spcAft>
            </a:pPr>
            <a:r>
              <a:rPr sz="2000" b="0">
                <a:solidFill>
                  <a:srgbClr val="333333"/>
                </a:solidFill>
                <a:latin typeface="Consolas"/>
              </a:rPr>
              <a:t>    customer_id SERIAL PRIMARY KEY,</a:t>
            </a:r>
          </a:p>
          <a:p>
            <a:pPr>
              <a:lnSpc>
                <a:spcPts val="2200"/>
              </a:lnSpc>
              <a:spcAft>
                <a:spcPts val="400"/>
              </a:spcAft>
            </a:pPr>
            <a:r>
              <a:rPr sz="2000" b="0">
                <a:solidFill>
                  <a:srgbClr val="333333"/>
                </a:solidFill>
                <a:latin typeface="Consolas"/>
              </a:rPr>
              <a:t>    name VARCHAR(100) NOT NULL,</a:t>
            </a:r>
          </a:p>
          <a:p>
            <a:pPr>
              <a:lnSpc>
                <a:spcPts val="2200"/>
              </a:lnSpc>
              <a:spcAft>
                <a:spcPts val="400"/>
              </a:spcAft>
            </a:pPr>
            <a:r>
              <a:rPr sz="2000" b="0">
                <a:solidFill>
                  <a:srgbClr val="333333"/>
                </a:solidFill>
                <a:latin typeface="Consolas"/>
              </a:rPr>
              <a:t>    email VARCHAR(100) UNIQUE NOT NULL</a:t>
            </a:r>
          </a:p>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CREATE TABLE Orders (</a:t>
            </a:r>
          </a:p>
          <a:p>
            <a:pPr>
              <a:lnSpc>
                <a:spcPts val="2200"/>
              </a:lnSpc>
              <a:spcAft>
                <a:spcPts val="400"/>
              </a:spcAft>
            </a:pPr>
            <a:r>
              <a:rPr sz="2000" b="0">
                <a:solidFill>
                  <a:srgbClr val="333333"/>
                </a:solidFill>
                <a:latin typeface="Consolas"/>
              </a:rPr>
              <a:t>    order_id SERIAL PRIMARY KEY,</a:t>
            </a:r>
          </a:p>
          <a:p>
            <a:pPr>
              <a:lnSpc>
                <a:spcPts val="2200"/>
              </a:lnSpc>
              <a:spcAft>
                <a:spcPts val="400"/>
              </a:spcAft>
            </a:pPr>
            <a:r>
              <a:rPr sz="2000" b="0">
                <a:solidFill>
                  <a:srgbClr val="333333"/>
                </a:solidFill>
                <a:latin typeface="Consolas"/>
              </a:rPr>
              <a:t>    customer_id INT NOT NULL,</a:t>
            </a:r>
          </a:p>
          <a:p>
            <a:pPr>
              <a:lnSpc>
                <a:spcPts val="2200"/>
              </a:lnSpc>
              <a:spcAft>
                <a:spcPts val="400"/>
              </a:spcAft>
            </a:pPr>
            <a:r>
              <a:rPr sz="2000" b="0">
                <a:solidFill>
                  <a:srgbClr val="333333"/>
                </a:solidFill>
                <a:latin typeface="Consolas"/>
              </a:rPr>
              <a:t>    order_date TIMESTAMP DEFAULT CURRENT_TIMESTAMP,</a:t>
            </a:r>
          </a:p>
          <a:p>
            <a:pPr>
              <a:lnSpc>
                <a:spcPts val="2200"/>
              </a:lnSpc>
              <a:spcAft>
                <a:spcPts val="400"/>
              </a:spcAft>
            </a:pPr>
            <a:r>
              <a:rPr sz="2000" b="0">
                <a:solidFill>
                  <a:srgbClr val="333333"/>
                </a:solidFill>
                <a:latin typeface="Consolas"/>
              </a:rPr>
              <a:t>    total_amount DECIMAL(10,2),</a:t>
            </a:r>
          </a:p>
          <a:p>
            <a:pPr>
              <a:lnSpc>
                <a:spcPts val="2200"/>
              </a:lnSpc>
              <a:spcAft>
                <a:spcPts val="400"/>
              </a:spcAft>
            </a:pPr>
            <a:r>
              <a:rPr sz="2000" b="0">
                <a:solidFill>
                  <a:srgbClr val="333333"/>
                </a:solidFill>
                <a:latin typeface="Consolas"/>
              </a:rPr>
              <a:t>    FOREIGN KEY (customer_id) REFERENCES Customers(customer_id)</a:t>
            </a:r>
          </a:p>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CREATE TABLE Order_Items (</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Formats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1.9 — HDF5</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1.9 — hands-on module</a:t>
            </a:r>
          </a:p>
          <a:p>
            <a:pPr>
              <a:spcAft>
                <a:spcPts val="1000"/>
              </a:spcAft>
              <a:buChar char="•"/>
              <a:lnSpc>
                <a:spcPts val="2200"/>
              </a:lnSpc>
            </a:pPr>
            <a:r>
              <a:rPr sz="2000" b="0">
                <a:solidFill>
                  <a:srgbClr val="333333"/>
                </a:solidFill>
                <a:latin typeface="Calibri"/>
              </a:rPr>
              <a:t>Example 1.9 creates and reads an HDF5 file</a:t>
            </a:r>
          </a:p>
          <a:p>
            <a:pPr>
              <a:spcAft>
                <a:spcPts val="1000"/>
              </a:spcAft>
              <a:buChar char="•"/>
              <a:lnSpc>
                <a:spcPts val="2200"/>
              </a:lnSpc>
            </a:pPr>
            <a:r>
              <a:rPr sz="2000" b="0">
                <a:solidFill>
                  <a:srgbClr val="333333"/>
                </a:solidFill>
                <a:latin typeface="Calibri"/>
              </a:rPr>
              <a:t>Scientific and machine-learning pipelines often prefer HDF5 when CSV becomes too slow or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Formats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1.9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import h5py</a:t>
            </a:r>
          </a:p>
          <a:p>
            <a:pPr>
              <a:lnSpc>
                <a:spcPts val="2200"/>
              </a:lnSpc>
              <a:spcAft>
                <a:spcPts val="400"/>
              </a:spcAft>
            </a:pPr>
            <a:r>
              <a:rPr sz="2000" b="0">
                <a:solidFill>
                  <a:srgbClr val="333333"/>
                </a:solidFill>
                <a:latin typeface="Consolas"/>
              </a:rPr>
              <a:t>import numpy as np</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with h5py.File("example.h5", "w") as hdf:</a:t>
            </a:r>
          </a:p>
          <a:p>
            <a:pPr>
              <a:lnSpc>
                <a:spcPts val="2200"/>
              </a:lnSpc>
              <a:spcAft>
                <a:spcPts val="400"/>
              </a:spcAft>
            </a:pPr>
            <a:r>
              <a:rPr sz="2000" b="0">
                <a:solidFill>
                  <a:srgbClr val="333333"/>
                </a:solidFill>
                <a:latin typeface="Consolas"/>
              </a:rPr>
              <a:t>    data = np.random.rand(100, 100)</a:t>
            </a:r>
          </a:p>
          <a:p>
            <a:pPr>
              <a:lnSpc>
                <a:spcPts val="2200"/>
              </a:lnSpc>
              <a:spcAft>
                <a:spcPts val="400"/>
              </a:spcAft>
            </a:pPr>
            <a:r>
              <a:rPr sz="2000" b="0">
                <a:solidFill>
                  <a:srgbClr val="333333"/>
                </a:solidFill>
                <a:latin typeface="Consolas"/>
              </a:rPr>
              <a:t>    hdf.create_dataset("random_data", data=data)</a:t>
            </a:r>
          </a:p>
          <a:p>
            <a:pPr>
              <a:lnSpc>
                <a:spcPts val="2200"/>
              </a:lnSpc>
              <a:spcAft>
                <a:spcPts val="400"/>
              </a:spcAft>
            </a:pPr>
            <a:r>
              <a:rPr sz="2000" b="0">
                <a:solidFill>
                  <a:srgbClr val="333333"/>
                </a:solidFill>
                <a:latin typeface="Consolas"/>
              </a:rPr>
              <a:t>    group = hdf.create_group("experiment")</a:t>
            </a:r>
          </a:p>
          <a:p>
            <a:pPr>
              <a:lnSpc>
                <a:spcPts val="2200"/>
              </a:lnSpc>
              <a:spcAft>
                <a:spcPts val="400"/>
              </a:spcAft>
            </a:pPr>
            <a:r>
              <a:rPr sz="2000" b="0">
                <a:solidFill>
                  <a:srgbClr val="333333"/>
                </a:solidFill>
                <a:latin typeface="Consolas"/>
              </a:rPr>
              <a:t>    group.create_dataset("temperature", data=np.linspace(0, 100, 100))</a:t>
            </a:r>
          </a:p>
          <a:p>
            <a:pPr>
              <a:lnSpc>
                <a:spcPts val="2200"/>
              </a:lnSpc>
              <a:spcAft>
                <a:spcPts val="400"/>
              </a:spcAft>
            </a:pPr>
            <a:r>
              <a:rPr sz="2000" b="0">
                <a:solidFill>
                  <a:srgbClr val="333333"/>
                </a:solidFill>
                <a:latin typeface="Consolas"/>
              </a:rPr>
              <a:t>    group.create_dataset("pressure", data=np.linspace(1, 10, 100))</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with h5py.File("example.h5", "r") as hdf:</a:t>
            </a:r>
          </a:p>
          <a:p>
            <a:pPr>
              <a:lnSpc>
                <a:spcPts val="2200"/>
              </a:lnSpc>
              <a:spcAft>
                <a:spcPts val="400"/>
              </a:spcAft>
            </a:pPr>
            <a:r>
              <a:rPr sz="2000" b="0">
                <a:solidFill>
                  <a:srgbClr val="333333"/>
                </a:solidFill>
                <a:latin typeface="Consolas"/>
              </a:rPr>
              <a:t>    print("Datasets in root:", list(hdf.keys()))</a:t>
            </a:r>
          </a:p>
          <a:p>
            <a:pPr>
              <a:lnSpc>
                <a:spcPts val="2200"/>
              </a:lnSpc>
              <a:spcAft>
                <a:spcPts val="400"/>
              </a:spcAft>
            </a:pPr>
            <a:r>
              <a:rPr sz="2000" b="0">
                <a:solidFill>
                  <a:srgbClr val="333333"/>
                </a:solidFill>
                <a:latin typeface="Consolas"/>
              </a:rPr>
              <a:t>    random_data = hdf["random_data"][:]</a:t>
            </a:r>
          </a:p>
          <a:p>
            <a:pPr>
              <a:lnSpc>
                <a:spcPts val="2200"/>
              </a:lnSpc>
              <a:spcAft>
                <a:spcPts val="400"/>
              </a:spcAft>
            </a:pPr>
            <a:r>
              <a:rPr sz="2000" b="0">
                <a:solidFill>
                  <a:srgbClr val="333333"/>
                </a:solidFill>
                <a:latin typeface="Consolas"/>
              </a:rPr>
              <a:t>    print("Shape of 'random_data':", random_data.shape)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Formats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a format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Start from structure, then consider size, update rate, and tooling</a:t>
            </a:r>
          </a:p>
          <a:p>
            <a:pPr>
              <a:spcAft>
                <a:spcPts val="1000"/>
              </a:spcAft>
              <a:buChar char="•"/>
              <a:lnSpc>
                <a:spcPts val="2200"/>
              </a:lnSpc>
            </a:pPr>
            <a:r>
              <a:rPr sz="2000" b="0">
                <a:solidFill>
                  <a:srgbClr val="333333"/>
                </a:solidFill>
                <a:latin typeface="Calibri"/>
              </a:rPr>
              <a:t>Prefer formats your team already supports</a:t>
            </a:r>
          </a:p>
          <a:p>
            <a:pPr>
              <a:spcAft>
                <a:spcPts val="1000"/>
              </a:spcAft>
              <a:buChar char="•"/>
              <a:lnSpc>
                <a:spcPts val="2200"/>
              </a:lnSpc>
            </a:pPr>
            <a:r>
              <a:rPr sz="2000" b="0">
                <a:solidFill>
                  <a:srgbClr val="333333"/>
                </a:solidFill>
                <a:latin typeface="Calibri"/>
              </a:rPr>
              <a:t>Metadata and documentation, covered next, make that choice durable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Formats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Format serializes structure</a:t>
            </a:r>
          </a:p>
          <a:p>
            <a:pPr>
              <a:spcAft>
                <a:spcPts val="1000"/>
              </a:spcAft>
              <a:buChar char="•"/>
              <a:lnSpc>
                <a:spcPts val="2200"/>
              </a:lnSpc>
            </a:pPr>
            <a:r>
              <a:rPr sz="2000" b="0">
                <a:solidFill>
                  <a:srgbClr val="333333"/>
                </a:solidFill>
                <a:latin typeface="Calibri"/>
              </a:rPr>
              <a:t>Everyday tables lean on CSV and SQL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Formats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 then move to characteristics of good datasets, accuracy, completeness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Formats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