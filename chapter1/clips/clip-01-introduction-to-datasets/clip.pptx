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clip opens Chapter 1 by answering a deceptively simple question: what counts as a dataset? By the end, the vocabulary of records and attributes should feel concrete, whether the file is a spreadsheet or a JSON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goals guide this clip. First, define a dataset as something curated for analysis, not merely a raw stream of events. Second, separate records from attributes so every later example has a shared language. Third, see that the same idea appears in both flat CSV tables and nested 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a curated collection of data, often organized as records and attributes, that serves as input to analysis, modeling, or decision-making. Unlike raw operational logs, a dataset usually has defined scope, structure, and ideally documentation that makes it interpretable. In modern data work, the dataset is the basic unit—whether the task is machine learning, statistics, or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tabular data, each record is one observation—one sale, one patient, one sensor reading—and each attribute describes a property of that observation. The sales CSV uses Date, Product, Quantity, and Price as attributes; each row is one transaction. The same mapping appears in healthcare and sensor examples later in the section: change the domain, keep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 is the chapter's first concrete anchor: a small CSV of retail sales. Each row is one sale; columns detail product, date, quantity, and price. Open the example 1 module for this chapter to inspect the file and count rows and columns before moving on. Later examples change domain but keep this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not only tables. Example 1.4 stores housing listings as JSON with nested fields—still records with attributes, but in a flexible schema. The form changes; the objective stays the same: provide meaningful data that can be turned into insight. Try the example 4 module to see how keys and nested objects play the role of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 dataset is prepared for a purpose. Records and attributes are the shared vocabulary. Formats and modalities vary widely, but the goal of interpretable, usable data does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clip on types of datasets—structured, unstructured, and semi-structured.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Introduction to datasets</a:t>
            </a:r>
          </a:p>
          <a:p>
            <a:pPr algn="ctr">
              <a:lnSpc>
                <a:spcPts val="2200"/>
              </a:lnSpc>
              <a:spcBef>
                <a:spcPts val="1400"/>
              </a:spcBef>
            </a:pPr>
            <a:r>
              <a:rPr sz="2600" b="0">
                <a:solidFill>
                  <a:srgbClr val="333333"/>
                </a:solidFill>
                <a:latin typeface="Calibri"/>
              </a:rPr>
              <a:t>This clip opens Chapter 1 by answering a deceptively simple question: what counts as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a dataset as curated for analysis, not raw event streams</a:t>
            </a:r>
          </a:p>
          <a:p>
            <a:pPr>
              <a:spcAft>
                <a:spcPts val="1000"/>
              </a:spcAft>
              <a:buChar char="•"/>
              <a:lnSpc>
                <a:spcPts val="2200"/>
              </a:lnSpc>
            </a:pPr>
            <a:r>
              <a:rPr sz="2000" b="0">
                <a:solidFill>
                  <a:srgbClr val="333333"/>
                </a:solidFill>
                <a:latin typeface="Calibri"/>
              </a:rPr>
              <a:t>Distinguish records from attributes (shared vocabulary)</a:t>
            </a:r>
          </a:p>
          <a:p>
            <a:pPr>
              <a:spcAft>
                <a:spcPts val="1000"/>
              </a:spcAft>
              <a:buChar char="•"/>
              <a:lnSpc>
                <a:spcPts val="2200"/>
              </a:lnSpc>
            </a:pPr>
            <a:r>
              <a:rPr sz="2000" b="0">
                <a:solidFill>
                  <a:srgbClr val="333333"/>
                </a:solidFill>
                <a:latin typeface="Calibri"/>
              </a:rPr>
              <a:t>Same idea in CSV tables and nested JSON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a curated collection of data</a:t>
            </a:r>
          </a:p>
          <a:p>
            <a:pPr>
              <a:spcAft>
                <a:spcPts val="1000"/>
              </a:spcAft>
              <a:buChar char="•"/>
              <a:lnSpc>
                <a:spcPts val="2200"/>
              </a:lnSpc>
            </a:pPr>
            <a:r>
              <a:rPr sz="2000" b="0">
                <a:solidFill>
                  <a:srgbClr val="333333"/>
                </a:solidFill>
                <a:latin typeface="Calibri"/>
              </a:rPr>
              <a:t>Has scope, structure, and documentation</a:t>
            </a:r>
          </a:p>
          <a:p>
            <a:pPr>
              <a:spcAft>
                <a:spcPts val="1000"/>
              </a:spcAft>
              <a:buChar char="•"/>
              <a:lnSpc>
                <a:spcPts val="2200"/>
              </a:lnSpc>
            </a:pPr>
            <a:r>
              <a:rPr sz="2000" b="0">
                <a:solidFill>
                  <a:srgbClr val="333333"/>
                </a:solidFill>
                <a:latin typeface="Calibri"/>
              </a:rPr>
              <a:t>The dataset is the basic unit for ML, statistics, and BI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Records and attributes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Each record is one observation; each attribute describes it</a:t>
            </a:r>
          </a:p>
          <a:p>
            <a:pPr>
              <a:spcAft>
                <a:spcPts val="1000"/>
              </a:spcAft>
              <a:buChar char="•"/>
              <a:lnSpc>
                <a:spcPts val="2200"/>
              </a:lnSpc>
            </a:pPr>
            <a:r>
              <a:rPr sz="2000" b="0">
                <a:solidFill>
                  <a:srgbClr val="333333"/>
                </a:solidFill>
                <a:latin typeface="Calibri"/>
              </a:rPr>
              <a:t>The sales CSV uses Date, Product, Quantity, and Price as attributes</a:t>
            </a:r>
          </a:p>
          <a:p>
            <a:pPr>
              <a:spcAft>
                <a:spcPts val="1000"/>
              </a:spcAft>
              <a:buChar char="•"/>
              <a:lnSpc>
                <a:spcPts val="2200"/>
              </a:lnSpc>
            </a:pPr>
            <a:r>
              <a:rPr sz="2000" b="0">
                <a:solidFill>
                  <a:srgbClr val="333333"/>
                </a:solidFill>
                <a:latin typeface="Calibri"/>
              </a:rPr>
              <a:t>The same mapping appears in healthcare and sensor examples later in the section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Sample CSV sales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 — hands-on module</a:t>
            </a:r>
          </a:p>
          <a:p>
            <a:pPr>
              <a:spcAft>
                <a:spcPts val="1000"/>
              </a:spcAft>
              <a:buChar char="•"/>
              <a:lnSpc>
                <a:spcPts val="2200"/>
              </a:lnSpc>
            </a:pPr>
            <a:r>
              <a:rPr sz="2000" b="0">
                <a:solidFill>
                  <a:srgbClr val="333333"/>
                </a:solidFill>
                <a:latin typeface="Calibri"/>
              </a:rPr>
              <a:t>First concrete anchor: a small CSV of retail sales</a:t>
            </a:r>
          </a:p>
          <a:p>
            <a:pPr>
              <a:spcAft>
                <a:spcPts val="1000"/>
              </a:spcAft>
              <a:buChar char="•"/>
              <a:lnSpc>
                <a:spcPts val="2200"/>
              </a:lnSpc>
            </a:pPr>
            <a:r>
              <a:rPr sz="2000" b="0">
                <a:solidFill>
                  <a:srgbClr val="333333"/>
                </a:solidFill>
                <a:latin typeface="Calibri"/>
              </a:rPr>
              <a:t>Each row is one sale; columns detail product, date, quantity, and price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Date,Product,Quantity,Price,Total</a:t>
            </a:r>
          </a:p>
          <a:p>
            <a:pPr>
              <a:lnSpc>
                <a:spcPts val="2200"/>
              </a:lnSpc>
              <a:spcAft>
                <a:spcPts val="400"/>
              </a:spcAft>
            </a:pPr>
            <a:r>
              <a:rPr sz="2000" b="0">
                <a:solidFill>
                  <a:srgbClr val="333333"/>
                </a:solidFill>
                <a:latin typeface="Consolas"/>
              </a:rPr>
              <a:t>2024-01-01,Apple,3,0.5,1.5</a:t>
            </a:r>
          </a:p>
          <a:p>
            <a:pPr>
              <a:lnSpc>
                <a:spcPts val="2200"/>
              </a:lnSpc>
              <a:spcAft>
                <a:spcPts val="400"/>
              </a:spcAft>
            </a:pPr>
            <a:r>
              <a:rPr sz="2000" b="0">
                <a:solidFill>
                  <a:srgbClr val="333333"/>
                </a:solidFill>
                <a:latin typeface="Consolas"/>
              </a:rPr>
              <a:t>2024-01-01,Banana,2,0.3,0.6</a:t>
            </a:r>
          </a:p>
          <a:p>
            <a:pPr>
              <a:lnSpc>
                <a:spcPts val="2200"/>
              </a:lnSpc>
              <a:spcAft>
                <a:spcPts val="400"/>
              </a:spcAft>
            </a:pPr>
            <a:r>
              <a:rPr sz="2000" b="0">
                <a:solidFill>
                  <a:srgbClr val="333333"/>
                </a:solidFill>
                <a:latin typeface="Consolas"/>
              </a:rPr>
              <a:t>2024-01-02,Orange,5,0.7,3.5</a:t>
            </a:r>
          </a:p>
          <a:p>
            <a:pPr>
              <a:lnSpc>
                <a:spcPts val="2200"/>
              </a:lnSpc>
              <a:spcAft>
                <a:spcPts val="400"/>
              </a:spcAft>
            </a:pPr>
            <a:r>
              <a:rPr sz="2000" b="0">
                <a:solidFill>
                  <a:srgbClr val="333333"/>
                </a:solidFill>
                <a:latin typeface="Consolas"/>
              </a:rPr>
              <a:t>2024-01-02,Grapes,1,2.0,2.0</a:t>
            </a:r>
          </a:p>
          <a:p>
            <a:pPr>
              <a:lnSpc>
                <a:spcPts val="2200"/>
              </a:lnSpc>
              <a:spcAft>
                <a:spcPts val="400"/>
              </a:spcAft>
            </a:pPr>
            <a:r>
              <a:rPr sz="2000" b="0">
                <a:solidFill>
                  <a:srgbClr val="333333"/>
                </a:solidFill>
                <a:latin typeface="Consolas"/>
              </a:rPr>
              <a:t>2024-01-03,Mango,4,1.5,6.0</a:t>
            </a:r>
          </a:p>
          <a:p>
            <a:pPr>
              <a:lnSpc>
                <a:spcPts val="2200"/>
              </a:lnSpc>
              <a:spcAft>
                <a:spcPts val="400"/>
              </a:spcAft>
            </a:pPr>
            <a:r>
              <a:rPr sz="2000" b="0">
                <a:solidFill>
                  <a:srgbClr val="333333"/>
                </a:solidFill>
                <a:latin typeface="Consolas"/>
              </a:rPr>
              <a:t>2024-01-04,Apple,2,0.5,1.0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Housing prices in JSON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1.4 — hands-on module</a:t>
            </a:r>
          </a:p>
          <a:p>
            <a:pPr>
              <a:spcAft>
                <a:spcPts val="1000"/>
              </a:spcAft>
              <a:buChar char="•"/>
              <a:lnSpc>
                <a:spcPts val="2200"/>
              </a:lnSpc>
            </a:pPr>
            <a:r>
              <a:rPr sz="2000" b="0">
                <a:solidFill>
                  <a:srgbClr val="333333"/>
                </a:solidFill>
                <a:latin typeface="Calibri"/>
              </a:rPr>
              <a:t>Example 1.4 JSON listings with nested fields (flexible schema)</a:t>
            </a:r>
          </a:p>
          <a:p>
            <a:pPr>
              <a:spcAft>
                <a:spcPts val="1000"/>
              </a:spcAft>
              <a:buChar char="•"/>
              <a:lnSpc>
                <a:spcPts val="2200"/>
              </a:lnSpc>
            </a:pPr>
            <a:r>
              <a:rPr sz="2000" b="0">
                <a:solidFill>
                  <a:srgbClr val="333333"/>
                </a:solidFill>
                <a:latin typeface="Calibri"/>
              </a:rPr>
              <a:t>The form changes; the objective stays the same: meaningful, analyzable data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101,</a:t>
            </a:r>
          </a:p>
          <a:p>
            <a:pPr>
              <a:lnSpc>
                <a:spcPts val="2200"/>
              </a:lnSpc>
              <a:spcAft>
                <a:spcPts val="400"/>
              </a:spcAft>
            </a:pPr>
            <a:r>
              <a:rPr sz="2000" b="0">
                <a:solidFill>
                  <a:srgbClr val="333333"/>
                </a:solidFill>
                <a:latin typeface="Consolas"/>
              </a:rPr>
              <a:t>    "Location": "New York",</a:t>
            </a:r>
          </a:p>
          <a:p>
            <a:pPr>
              <a:lnSpc>
                <a:spcPts val="2200"/>
              </a:lnSpc>
              <a:spcAft>
                <a:spcPts val="400"/>
              </a:spcAft>
            </a:pPr>
            <a:r>
              <a:rPr sz="2000" b="0">
                <a:solidFill>
                  <a:srgbClr val="333333"/>
                </a:solidFill>
                <a:latin typeface="Consolas"/>
              </a:rPr>
              <a:t>    "Square_Footage": 2000,</a:t>
            </a:r>
          </a:p>
          <a:p>
            <a:pPr>
              <a:lnSpc>
                <a:spcPts val="2200"/>
              </a:lnSpc>
              <a:spcAft>
                <a:spcPts val="400"/>
              </a:spcAft>
            </a:pPr>
            <a:r>
              <a:rPr sz="2000" b="0">
                <a:solidFill>
                  <a:srgbClr val="333333"/>
                </a:solidFill>
                <a:latin typeface="Consolas"/>
              </a:rPr>
              <a:t>    "Bedrooms": 3,</a:t>
            </a:r>
          </a:p>
          <a:p>
            <a:pPr>
              <a:lnSpc>
                <a:spcPts val="2200"/>
              </a:lnSpc>
              <a:spcAft>
                <a:spcPts val="400"/>
              </a:spcAft>
            </a:pPr>
            <a:r>
              <a:rPr sz="2000" b="0">
                <a:solidFill>
                  <a:srgbClr val="333333"/>
                </a:solidFill>
                <a:latin typeface="Consolas"/>
              </a:rPr>
              <a:t>    "Proximity_to_Schools": "0.5 miles",</a:t>
            </a:r>
          </a:p>
          <a:p>
            <a:pPr>
              <a:lnSpc>
                <a:spcPts val="2200"/>
              </a:lnSpc>
              <a:spcAft>
                <a:spcPts val="400"/>
              </a:spcAft>
            </a:pPr>
            <a:r>
              <a:rPr sz="2000" b="0">
                <a:solidFill>
                  <a:srgbClr val="333333"/>
                </a:solidFill>
                <a:latin typeface="Consolas"/>
              </a:rPr>
              <a:t>    "Price": 850000</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"House_ID": 102,</a:t>
            </a:r>
          </a:p>
          <a:p>
            <a:pPr>
              <a:lnSpc>
                <a:spcPts val="2200"/>
              </a:lnSpc>
              <a:spcAft>
                <a:spcPts val="400"/>
              </a:spcAft>
            </a:pPr>
            <a:r>
              <a:rPr sz="2000" b="0">
                <a:solidFill>
                  <a:srgbClr val="333333"/>
                </a:solidFill>
                <a:latin typeface="Consolas"/>
              </a:rPr>
              <a:t>    "Location": "Los Angeles",</a:t>
            </a:r>
          </a:p>
          <a:p>
            <a:pPr>
              <a:lnSpc>
                <a:spcPts val="2200"/>
              </a:lnSpc>
              <a:spcAft>
                <a:spcPts val="400"/>
              </a:spcAft>
            </a:pPr>
            <a:r>
              <a:rPr sz="2000" b="0">
                <a:solidFill>
                  <a:srgbClr val="333333"/>
                </a:solidFill>
                <a:latin typeface="Consolas"/>
              </a:rPr>
              <a:t>    "Square_Footage": 1800,</a:t>
            </a:r>
          </a:p>
          <a:p>
            <a:pPr>
              <a:lnSpc>
                <a:spcPts val="2200"/>
              </a:lnSpc>
              <a:spcAft>
                <a:spcPts val="400"/>
              </a:spcAft>
            </a:pPr>
            <a:r>
              <a:rPr sz="2000" b="0">
                <a:solidFill>
                  <a:srgbClr val="333333"/>
                </a:solidFill>
                <a:latin typeface="Consolas"/>
              </a:rPr>
              <a:t>    "Bedrooms": 4,</a:t>
            </a:r>
          </a:p>
          <a:p>
            <a:pPr>
              <a:lnSpc>
                <a:spcPts val="2200"/>
              </a:lnSpc>
              <a:spcAft>
                <a:spcPts val="400"/>
              </a:spcAft>
            </a:pPr>
            <a:r>
              <a:rPr sz="2000" b="0">
                <a:solidFill>
                  <a:srgbClr val="333333"/>
                </a:solidFill>
                <a:latin typeface="Consolas"/>
              </a:rPr>
              <a:t>    "Proximity_to_Schools": "1.2 miles",</a:t>
            </a:r>
          </a:p>
          <a:p>
            <a:pPr>
              <a:lnSpc>
                <a:spcPts val="2200"/>
              </a:lnSpc>
              <a:spcAft>
                <a:spcPts val="400"/>
              </a:spcAft>
            </a:pPr>
            <a:r>
              <a:rPr sz="2000" b="0">
                <a:solidFill>
                  <a:srgbClr val="333333"/>
                </a:solidFill>
                <a:latin typeface="Consolas"/>
              </a:rPr>
              <a:t>    "Price": 720000</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prepared for a purpose</a:t>
            </a:r>
          </a:p>
          <a:p>
            <a:pPr>
              <a:spcAft>
                <a:spcPts val="1000"/>
              </a:spcAft>
              <a:buChar char="•"/>
              <a:lnSpc>
                <a:spcPts val="2200"/>
              </a:lnSpc>
            </a:pPr>
            <a:r>
              <a:rPr sz="2000" b="0">
                <a:solidFill>
                  <a:srgbClr val="333333"/>
                </a:solidFill>
                <a:latin typeface="Calibri"/>
              </a:rPr>
              <a:t>Records and attributes are the shared vocabulary</a:t>
            </a:r>
          </a:p>
          <a:p>
            <a:pPr>
              <a:spcAft>
                <a:spcPts val="1000"/>
              </a:spcAft>
              <a:buChar char="•"/>
              <a:lnSpc>
                <a:spcPts val="2200"/>
              </a:lnSpc>
            </a:pPr>
            <a:r>
              <a:rPr sz="2000" b="0">
                <a:solidFill>
                  <a:srgbClr val="333333"/>
                </a:solidFill>
                <a:latin typeface="Calibri"/>
              </a:rPr>
              <a:t>Formats and modalities vary widely, but the goal of interpretable, usable data does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Continue to the next clip on types of datasets, structured, unstructured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01 Introduction To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