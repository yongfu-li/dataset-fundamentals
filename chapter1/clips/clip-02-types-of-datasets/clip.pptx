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records and attributes defined, this clip classifies how datasets are organized. The taxonomy—structure and temporal behavior—appears throughout the rest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you should contrast the three structural types, name a typical format for each, and explain when a dataset is static versus dynamic.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are commonly classified along two axes. Structure covers structured, unstructured, and semi-structured forms. Temporal behavior covers static snapshots versus continuously updating streams. Selecting an appropriate representation is a prerequisite for reliable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datasets follow a fixed schema: rows and columns with consistent types. They live comfortably in spreadsheets and relational databases and are generally the easiest to query and aggregate. A retail customer table—one row per customer, typed columns for email and purchase history—is the textbook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Unstructured data has no predefined row–column model. Text, images, audio, and video fall here. Valuable insights often require NLP or image recognition rather than a simple SQL filter. Social media feedback and medical images are common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Semi-structured data uses tags or keys—JSON, XML, YAML—without requiring every record to share the same flat columns. Example 1.7 shows JSON objects where optional fields appear when relevant. Open the example 7 module to inspect a concrete sample.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datasets change rarely—an archived extract. Dynamic datasets update continuously—sensor streams or click logs. The same entity can move between forms over its lifecycle. Temporal behavior shapes how often you refresh, version, and monitor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and time are independent. Structured data is easiest to query; unstructured data needs extraction pipelines; semi-structured data offers flexible keys that remain machine-readable.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dataset formats—how these types are stored on disk.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 — Types of datasets</a:t>
            </a:r>
          </a:p>
          <a:p>
            <a:pPr algn="ctr">
              <a:lnSpc>
                <a:spcPts val="2200"/>
              </a:lnSpc>
              <a:spcBef>
                <a:spcPts val="1400"/>
              </a:spcBef>
            </a:pPr>
            <a:r>
              <a:rPr sz="2600" b="0">
                <a:solidFill>
                  <a:srgbClr val="333333"/>
                </a:solidFill>
                <a:latin typeface="Calibri"/>
              </a:rPr>
              <a:t>This clip classifies how datasets are organized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Contrast the three structural types, name a typical format for each</a:t>
            </a:r>
          </a:p>
          <a:p>
            <a:pPr>
              <a:spcAft>
                <a:spcPts val="1000"/>
              </a:spcAft>
              <a:buChar char="•"/>
              <a:lnSpc>
                <a:spcPts val="2200"/>
              </a:lnSpc>
            </a:pPr>
            <a:r>
              <a:rPr sz="2000" b="0">
                <a:solidFill>
                  <a:srgbClr val="333333"/>
                </a:solidFill>
                <a:latin typeface="Calibri"/>
              </a:rPr>
              <a:t>Explain when a dataset is static versus dynamic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classification axes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Datasets are commonly classified along two axes</a:t>
            </a:r>
          </a:p>
          <a:p>
            <a:pPr>
              <a:spcAft>
                <a:spcPts val="1000"/>
              </a:spcAft>
              <a:buChar char="•"/>
              <a:lnSpc>
                <a:spcPts val="2200"/>
              </a:lnSpc>
            </a:pPr>
            <a:r>
              <a:rPr sz="2000" b="0">
                <a:solidFill>
                  <a:srgbClr val="333333"/>
                </a:solidFill>
                <a:latin typeface="Calibri"/>
              </a:rPr>
              <a:t>Structure covers structured, unstructured, and semi-structured forms</a:t>
            </a:r>
          </a:p>
          <a:p>
            <a:pPr>
              <a:spcAft>
                <a:spcPts val="1000"/>
              </a:spcAft>
              <a:buChar char="•"/>
              <a:lnSpc>
                <a:spcPts val="2200"/>
              </a:lnSpc>
            </a:pPr>
            <a:r>
              <a:rPr sz="2000" b="0">
                <a:solidFill>
                  <a:srgbClr val="333333"/>
                </a:solidFill>
                <a:latin typeface="Calibri"/>
              </a:rPr>
              <a:t>Temporal behavior covers static snapshots versus continuously updating streams</a:t>
            </a:r>
          </a:p>
          <a:p>
            <a:pPr>
              <a:spcAft>
                <a:spcPts val="1000"/>
              </a:spcAft>
              <a:buChar char="•"/>
              <a:lnSpc>
                <a:spcPts val="2200"/>
              </a:lnSpc>
            </a:pPr>
            <a:r>
              <a:rPr sz="2000" b="0">
                <a:solidFill>
                  <a:srgbClr val="333333"/>
                </a:solidFill>
                <a:latin typeface="Calibri"/>
              </a:rPr>
              <a:t>Selecting an appropriate representation is a prerequisite for reliable analysis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Structured datasets follow a fixed schema: rows and columns with consistent types</a:t>
            </a:r>
          </a:p>
          <a:p>
            <a:pPr>
              <a:spcAft>
                <a:spcPts val="1000"/>
              </a:spcAft>
              <a:buChar char="•"/>
              <a:lnSpc>
                <a:spcPts val="2200"/>
              </a:lnSpc>
            </a:pPr>
            <a:r>
              <a:rPr sz="2000" b="0">
                <a:solidFill>
                  <a:srgbClr val="333333"/>
                </a:solidFill>
                <a:latin typeface="Calibri"/>
              </a:rPr>
              <a:t>They live comfortably in spreadsheets and relational databases and are generally the</a:t>
            </a:r>
          </a:p>
          <a:p>
            <a:pPr>
              <a:spcAft>
                <a:spcPts val="1000"/>
              </a:spcAft>
              <a:buChar char="•"/>
              <a:lnSpc>
                <a:spcPts val="2200"/>
              </a:lnSpc>
            </a:pPr>
            <a:r>
              <a:rPr sz="2000" b="0">
                <a:solidFill>
                  <a:srgbClr val="333333"/>
                </a:solidFill>
                <a:latin typeface="Calibri"/>
              </a:rPr>
              <a:t>A retail customer 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Unstructured data has no predefined row–column model</a:t>
            </a:r>
          </a:p>
          <a:p>
            <a:pPr>
              <a:spcAft>
                <a:spcPts val="1000"/>
              </a:spcAft>
              <a:buChar char="•"/>
              <a:lnSpc>
                <a:spcPts val="2200"/>
              </a:lnSpc>
            </a:pPr>
            <a:r>
              <a:rPr sz="2000" b="0">
                <a:solidFill>
                  <a:srgbClr val="333333"/>
                </a:solidFill>
                <a:latin typeface="Calibri"/>
              </a:rPr>
              <a:t>Text, images, audio, and video fall here</a:t>
            </a:r>
          </a:p>
          <a:p>
            <a:pPr>
              <a:spcAft>
                <a:spcPts val="1000"/>
              </a:spcAft>
              <a:buChar char="•"/>
              <a:lnSpc>
                <a:spcPts val="2200"/>
              </a:lnSpc>
            </a:pPr>
            <a:r>
              <a:rPr sz="2000" b="0">
                <a:solidFill>
                  <a:srgbClr val="333333"/>
                </a:solidFill>
                <a:latin typeface="Calibri"/>
              </a:rPr>
              <a:t>Valuable insights often require NLP or image recognition rather than a simple SQL filter</a:t>
            </a:r>
          </a:p>
          <a:p>
            <a:pPr>
              <a:spcAft>
                <a:spcPts val="1000"/>
              </a:spcAft>
              <a:buChar char="•"/>
              <a:lnSpc>
                <a:spcPts val="2200"/>
              </a:lnSpc>
            </a:pPr>
            <a:r>
              <a:rPr sz="2000" b="0">
                <a:solidFill>
                  <a:srgbClr val="333333"/>
                </a:solidFill>
                <a:latin typeface="Calibri"/>
              </a:rPr>
              <a:t>Social media feedback and medical images are common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Semi-structured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Semi-structured data uses tags or keys</a:t>
            </a:r>
          </a:p>
          <a:p>
            <a:pPr>
              <a:spcAft>
                <a:spcPts val="1000"/>
              </a:spcAft>
              <a:buChar char="•"/>
              <a:lnSpc>
                <a:spcPts val="2200"/>
              </a:lnSpc>
            </a:pPr>
            <a:r>
              <a:rPr sz="2000" b="0">
                <a:solidFill>
                  <a:srgbClr val="333333"/>
                </a:solidFill>
                <a:latin typeface="Calibri"/>
              </a:rPr>
              <a:t>Example 1.7 shows JSON objects where optional fields appear when relevant</a:t>
            </a:r>
          </a:p>
          <a:p>
            <a:pPr>
              <a:spcAft>
                <a:spcPts val="1000"/>
              </a:spcAft>
              <a:buChar char="•"/>
              <a:lnSpc>
                <a:spcPts val="2200"/>
              </a:lnSpc>
            </a:pPr>
            <a:r>
              <a:rPr sz="2000" b="0">
                <a:solidFill>
                  <a:srgbClr val="333333"/>
                </a:solidFill>
                <a:latin typeface="Calibri"/>
              </a:rPr>
              <a:t>Open the example 7 module to inspect a concrete sample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Static vs dynamic</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Static datasets change rarely, an archived extract</a:t>
            </a:r>
          </a:p>
          <a:p>
            <a:pPr>
              <a:spcAft>
                <a:spcPts val="1000"/>
              </a:spcAft>
              <a:buChar char="•"/>
              <a:lnSpc>
                <a:spcPts val="2200"/>
              </a:lnSpc>
            </a:pPr>
            <a:r>
              <a:rPr sz="2000" b="0">
                <a:solidFill>
                  <a:srgbClr val="333333"/>
                </a:solidFill>
                <a:latin typeface="Calibri"/>
              </a:rPr>
              <a:t>Dynamic datasets update continuously, sensor streams or click logs</a:t>
            </a:r>
          </a:p>
          <a:p>
            <a:pPr>
              <a:spcAft>
                <a:spcPts val="1000"/>
              </a:spcAft>
              <a:buChar char="•"/>
              <a:lnSpc>
                <a:spcPts val="2200"/>
              </a:lnSpc>
            </a:pPr>
            <a:r>
              <a:rPr sz="2000" b="0">
                <a:solidFill>
                  <a:srgbClr val="333333"/>
                </a:solidFill>
                <a:latin typeface="Calibri"/>
              </a:rPr>
              <a:t>The same entity can move between forms over its lifecycle</a:t>
            </a:r>
          </a:p>
          <a:p>
            <a:pPr>
              <a:spcAft>
                <a:spcPts val="1000"/>
              </a:spcAft>
              <a:buChar char="•"/>
              <a:lnSpc>
                <a:spcPts val="2200"/>
              </a:lnSpc>
            </a:pPr>
            <a:r>
              <a:rPr sz="2000" b="0">
                <a:solidFill>
                  <a:srgbClr val="333333"/>
                </a:solidFill>
                <a:latin typeface="Calibri"/>
              </a:rPr>
              <a:t>Temporal behavior shapes how often you refresh, version, and monitor the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Structure and time are independent</a:t>
            </a:r>
          </a:p>
          <a:p>
            <a:pPr>
              <a:spcAft>
                <a:spcPts val="1000"/>
              </a:spcAft>
              <a:buChar char="•"/>
              <a:lnSpc>
                <a:spcPts val="2200"/>
              </a:lnSpc>
            </a:pPr>
            <a:r>
              <a:rPr sz="2000" b="0">
                <a:solidFill>
                  <a:srgbClr val="333333"/>
                </a:solidFill>
                <a:latin typeface="Calibri"/>
              </a:rPr>
              <a:t>Structured data is easiest to query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clip</a:t>
            </a:r>
          </a:p>
          <a:p>
            <a:pPr>
              <a:spcAft>
                <a:spcPts val="1000"/>
              </a:spcAft>
              <a:buChar char="•"/>
              <a:lnSpc>
                <a:spcPts val="2200"/>
              </a:lnSpc>
            </a:pPr>
            <a:r>
              <a:rPr sz="2000" b="0">
                <a:solidFill>
                  <a:srgbClr val="333333"/>
                </a:solidFill>
                <a:latin typeface="Calibri"/>
              </a:rPr>
              <a:t>Complete the quiz, then continue to dataset formats, how these types are stored on disk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 — 02 Types Of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