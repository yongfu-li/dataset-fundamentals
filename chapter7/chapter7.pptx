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chapters established how datasets are collected, labeled, cleaned, and explored. This chapter adds a necessary question: do the resulting data and systems distribute errors and opportunities justly? The answer affects technical quality, public trust, and whether an organization can defend its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define dataset bias and fairness, explain why subgroup performance matters even when average accuracy appears strong, connect fairness to trust and accountability, and identify policy and governance pressures that make fairness an operational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bias is a systematic error or imbalance that skews training or evaluation data toward particular groups or outcomes. Fairness is the operational goal of selecting, measuring, and documenting criteria so that such skews do not create unjust allocations of error or opportunity. Fairness is therefore a measurable design constraint, not a vague claim that a system has good intentions.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declines when people cannot determine whether a recommendation, hiring decision, diagnosis, or risk score treats comparable cases consistently. Accountability requires named owners, documented data and metrics, mechanisms for review, and a practical route for correction. Fairness audits and impact assessments make these responsibilities visible throughout design, deployment,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 shows that fairness has a policy context. European data protection rules place duties around consequential automated decisions, while United States fair-lending rules prohibit discrimination against protected groups in credit decisions. A technically impressive model can still create legal, financial, and reputational exposure when its data or outcomes produce unjustified disparities.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7.6 records subgroup evidence from commercial facial analysis systems. Error rates were substantially higher for darker-skinned and female faces than for lighter-skinned and male faces, with underrepresentation in training data identified as an important cause. The practical lesson is to report disaggregated errors before deployment rather than relying on one overall accuracy value.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7.9 places fairness within a broader governance framework. The OECD principles emphasize transparent, fair, inclusive, and accountable artificial intelligence while seeking to minimize harm. Such principles become useful only when organizations translate them into concrete practices, including representative data, subgroup evaluation, documentation, human oversight, and corrective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can enter through collection, measurement, historical records, annotation, aggregation, or human assumptions. It can then be amplified during model training and deployment. Fairness work must therefore span the lifecycle: define affected groups and harms, inspect the data, choose suitable metrics, test interventions, document trade-offs, and monitor outcomes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bias describes systematic skew, while fairness describes the criteria and controls used to prevent unjust consequences. Average performance can conceal serious subgroup failures. Trust depends on transparency and consistent treatment, and accountability depends on review, ownership, and correction. Policy principles and legal duties make these concerns part of routine engineering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moves from the general definition to a practical taxonomy. It distinguishes sampling, measurement, historical, label, aggregation, and confirmation bias so that an observed problem can be traced to a specific mechanism.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sampling, measurement, historical, label, aggregation, and confirmation bias; recognize each form in a practical setting; and explain why collecting more data does not automatically correct every type of bias.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bias occurs when collected records do not represent the population or conditions in which a model will operate. Measurement bias occurs when instruments, surveys, sensors, or observation procedures systematically distort what is recorded. Sampling changes who or what is observed; measurement changes the accuracy or meaning of the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7.12 illustrates sampling bias. A facial recognition dataset dominated by light-skinned faces gives a model too little evidence about darker-skinned faces. Performance can therefore vary sharply across groups. Adding more images from the already dominant group increases dataset size without correcting the missing representation.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7.14 illustrates measurement bias through self-reported income. Respondents may overstate or withhold information because of privacy concerns or social desirability. The resulting values are not merely noisy if the error follows a systematic pattern across groups. Audit work must examine how a variable was produced, not only whether its column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7.17 shows historical bias. Hiring, lending, judicial, and policing records may accurately document decisions that were themselves inequitable. A model can reproduce those patterns even when collection and measurement are technically correct. Historical data describes what happened, but it does not automatically define what should happen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7.21 shows label bias. Annotators may interpret tone differently because of cultural background, ambiguous guidelines, or inconsistent handling of edge cases. If these disagreements systematically affect some dialects or groups, the target labels teach the model an unfair pattern. Clear guidance, diverse annotators, agreement checks, and adjudication reduce this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Aggregation bias appears when diverse subgroups are treated as homogeneous and important differences are hidden by an overall average. Confirmation bias appears when data is selected or interpreted to support an existing belief while contradictory evidence is neglected. One masks variation through pooling; the other narrows evidence through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system may combine several mechanisms. Historical policing records may reflect unequal enforcement, oversample heavily policed areas, use subjective labels, and encourage confirmation of an assumed crime pattern. Diagnosis should trace the chain from population and collection through measurement, labeling, aggregation, and analyst decisions rather than assigning one convenient label.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bias concerns representation, measurement bias concerns capture, historical bias concerns inherited inequity, and label bias concerns target construction. Aggregation bias hides subgroup differences, while confirmation bias filters evidence through prior beliefs. Precise diagnosis guides intervention and prevents the mistaken assumption that more data alone will solve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turns this taxonomy into measurable evidence. It introduces distribution comparisons, statistical tests, proxy correlations, and disparate-impact ratios for screening datasets and model outcomes.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a disaggregated bias screen, compare subgroup distributions, interpret the role of statistical tests, identify proxy relationships with sensitive attributes, and calculate and cautiously interpret a disparate-impact ratio using the eighty-percent rule.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7.27 establishes why one metric is insufficient. Bias may appear in demographic representation, processing, labels, aggregation, or outcomes. An audit should therefore inspect both inputs and decisions, compare several subgroups, and preserve context about how each variable was created. A flag is evidence for investigation, not a complete causal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7.28 compares features such as age, gender, and race across groups and against the intended population. Differences in counts, proportions, ranges, or missingness can reveal underrepresentation and uneven data quality. Learners can inspect the runnable example 19 module for this chapter to see a compact distribution check and its output.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tests can assess whether observed distribution differences are unlikely under a stated null hypothesis. A chi-squared test is suitable for categorical counts, while other tests may compare continuous distributions. Statistical significance does not establish harm or practical importance, and very large samples can make small differences significant. Effect size and context remain essential.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7.30 asks whether gender distribution differs across outcome categories, such as high-performing and low-performing candidates. The test compares observed counts with counts expected under independence. Learners can inspect the runnable example 21 module for this chapter to follow the calculation, assumptions, and interpretation without treating the result as proof of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analysis can reveal features that encode sensitive attributes indirectly. Names, neighborhoods, schools, or purchasing patterns may act as proxies even after race or gender is removed. Correlation is a screening tool rather than a causal verdict, but a strong relationship warrants closer examination of feature necessity, historical context, and subgroup outcomes.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7.33 calculates a disparate-impact ratio by dividing one group's selection rate by the comparison group's rate. A ratio below zero point eight is commonly used as a screening threshold for potential adverse impact. Learners can inspect the runnable example 24 module for this chapter to compute the rates and see why the threshold prompts review rather than automatically proving illegality.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defensible statistical audit records the target population, protected or otherwise relevant groups, outcome definitions, sample sizes, uncertainty, and chosen reference group. It reports both absolute rates and relative ratios, checks small groups carefully, and tests multiple plausible explanations. Results should be repeatable and linked to a decision about further analysis or mitigation.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checks reveal representation and data-quality gaps. Statistical tests formalize comparisons but must be paired with effect size and context. Correlation can uncover proxy pathways. Disparate-impact ratios summarize unequal selection rates, and the eighty-percent rule is a screening convention rather than a universal fairness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makes these findings easier to inspect and communicate. It combines dashboards, heatmaps, bar charts, and scatter plots, then introduces toolkits that support repeatable fairness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select suitable charts for representation, correlation, and outcome gaps; explain how several views can triangulate a concern; avoid common visual interpretation errors; and describe how AI Fairness 360 and Fairlearn support repeatable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7.34 combines a correlation heatmap, approval bars by race, and a scatter plot of income against approval probability. No single view answers the fairness question. Together they show where imbalance is concentrated and which formal tests should follow. A dashboard should organize this sequence rather than display unrelated charts.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compactly display correlations or a matrix of subgroup metrics. They can expose proxy relationships and clusters of uneven error, but color scales must be consistent and values should remain visible. Dashboards add filters, reference rates, sample sizes, and time trends so users can distinguish a stable disparity from noise or a temporary data shift.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7.36 uses bars to compare predictions or selection rates across demographic groups. Rates are usually more informative than raw counts when group sizes differ. Learners can inspect the runnable example 27 module for this chapter to see how disaggregated values are prepared for a visual screen before deeper statistical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7.37 uses a scatter plot to inspect how income values and group membership align. Clustering or separation can suggest historical or measurement patterns, but categorical group encoding must be presented carefully and overplotting can hide density. Faceting, transparency, and clear annotations often produce a more honest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AI Fairness 360 provides datasets, fairness metrics, and mitigation algorithms across data, training, and prediction stages. It supports measures such as demographic parity and equal opportunity and offers methods including reweighting and adversarial debiasing. Its breadth is useful when teams need to compare several definitions and interventions within one workflow.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supports disaggregated model assessment and fairness-aware mitigation in the Python machine learning ecosystem. Its metric framing approach reports performance by sensitive group, while mitigation components explore constraints such as demographic parity or equalized odds. The toolkit does not choose the ethically appropriate metric; that decision still requires domain and stakeholder judgment.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reveal relationships, bar charts compare group rates, scatter plots expose continuous patterns, and dashboards connect these views with context. Visual differences are screening evidence rather than causal conclusions. AI Fairness 360 and Fairlearn make metrics and interventions repeatable, but responsible metric selection remains a human governance task.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why these disparities matter. It connects dataset bias to ethical harm, social amplification, legal exposure, business cost, and the accountability lessons of high-stakes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four impact dimensions, trace how biased data can amplify existing inequities, explain why intent is not required for harmful impact, and identify the subgroup evidence and accountability records needed for high-stakes deployment.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7.38 illustrates the ethical impact of unequal treatment. Biased credit data may deny loans for demographic reasons rather than genuine creditworthiness, while biased justice data may produce unfair risk assessments. Such errors affect opportunities and liberty, so fairness cannot be treated as optional polish added after average accuracy is maximized.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7.40 shows social amplification. Historical over-policing can generate more recorded incidents in already monitored communities, which then directs still more policing there. Historical hiring patterns can similarly teach a ranking system to favor men. Repeated automated decisions scale and reinforce the pattern, creating a feedback loop that appears data-driven.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7.42 connects unfair outcomes with legal and regulatory exposure. Recruitment and credit systems must comply with anti-discrimination duties, while privacy frameworks require fair and transparent processing of personal data. Organizations need more than a claim of neutral intent; they need documented data provenance, subgroup testing, explanations, and corrective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7.45 presents the business consequences. Biased systems can generate fines, lawsuits, project cancellations, remediation costs, customer loss, and lasting reputational damage. Fairness investment can therefore reduce risk and protect market legitimacy. Delayed mitigation is often more expensive because deployed decisions and public harms are difficult to reverse.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Recidivism risk assessment provides a bridge across all four dimensions. Unequal error rates can change detention or parole exposure, reproduce historical arrest disparities, raise due-process and discrimination concerns, and weaken institutional legitimacy. Overall accuracy does not settle these issues because false positives and false negatives carry different consequences for different groups.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High-stakes systems require documented subgroup error rates, known limitations, decision owners, appeal mechanisms, and monitoring after deployment. Impact assessments should ask who can be harmed, how severe and reversible the harm is, and whether a less risky alternative exists. These questions connect technical metrics to organizational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impacts concern justice and individual treatment. Social impacts concern stereotypes, feedback loops, and unequal access. Legal impacts concern rights, discrimination, privacy, and explainability. Business impacts include cost, reputation, and legitimacy. A single disparity can cross all four dimensions, especially in consequential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asks what fairness should mean in measurable terms. It compares procedural and outcome fairness, examines accuracy trade-offs, and introduces equalized odds, calibration, transparency, accountability, and inclusivity.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procedural from outcome fairness, explain why accuracy and fairness can conflict, compare equalized odds with calibration, and connect metric choices to transparency, accountability, and inclusivity.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7.47 illustrates procedural fairness. Every candidate should be evaluated with consistent, relevant criteria, and the process should be understandable and non-discriminatory. Procedural fairness concerns how a decision is made, including data use, rules, explanations, and opportunities to challenge an error, even before group outcome rates are compared.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7.48 illustrates outcome fairness. A predictive policing system should not disproportionately target minority communities or produce unequal consequences without justification. Outcome fairness compares results across groups, but equal rates alone do not guarantee a sound process. Procedural and outcome evidence should therefore be examined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accuracy-maximizing threshold may distribute false positives and false negatives unevenly. Adding a fairness constraint or changing thresholds can reduce that disparity while lowering aggregate accuracy. This is not evidence that fairness is a defect. It reveals that optimization has multiple objectives and that error costs, rights, and social consequences must be stated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7.50 shows a loan system adjusted toward equal approval rates across racial groups. The adjustment may reduce default-prediction accuracy, exposing a trade-off between demographic parity and predictive precision. Learners can inspect the runnable example 38 module for this chapter to compare candidate thresholds and see how fairness and utility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Equalized odds seeks comparable false-positive and true-positive rates across groups, thereby balancing error behavior conditional on the actual outcome. It is especially relevant when both kinds of error carry serious consequences. Achieving it may require group-aware constraints or post-processing, and it can conflict with calibration when underlying outcome rates differ.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asks whether a predicted probability has the same empirical meaning across groups. If a system assigns a seventy-percent probability, roughly seventy percent of comparable cases should experience the event in each group. Calibration supports interpretable risk scores, but it does not by itself guarantee equal selection rates or equal error rates.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explains the data, criteria, limitations, and trade-offs. Accountability assigns responsibility for audits, complaints, and correction. Inclusivity brings affected groups into design and evaluation, particularly groups that have been underrepresented. These principles prevent metric selection from becoming a purely technical exercise detached from lived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Procedural fairness evaluates the decision process, while outcome fairness evaluates results. Aggregate accuracy can conflict with group fairness because errors and opportunities are distributed, not abstract. Equalized odds compares error rates, calibration compares probability meaning, and no criterion should be selected without transparent, accountable, and inclusive justification.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turns fairness definitions into interventions. It separates changes to data, training, and outputs and explains reweighting, feature treatment, fairness constraints, adversarial debiasing, equalized-odds post-processing, and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classify mitigation methods by pipeline stage, explain reweighting and feature treatment, describe fairness-constrained learning and adversarial debiasing, compare equalized-odds post-processing with calibration, and select an intervention using evidence rather than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Reweighting changes how strongly training instances influence learning. Underrepresented groups can receive greater weight so that the majority group does not dominate the objective. This approach preserves records while changing their contribution, but extreme weights can increase variance and cannot repair labels or measurements that are fundamentally invalid.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Sensitive or strongly biased features may be removed, transformed, or replaced with less harmful representations. Simple removal is not a guarantee of fairness because names, neighborhoods, schools, and other variables can act as proxies. Feature treatment should be followed by proxy analysis and subgroup evaluation, while sensitive attributes may still be retained securely for auditing.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Fairness-constrained learning modifies the training objective by adding a constraint or penalty for disparities such as unequal selection or error rates. The model then optimizes predictive performance and the selected fairness criterion together. This makes the trade-off explicit, but the result depends heavily on the criterion, tolerance, group definitions, and quality of outcome labels.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debiasing trains a predictor alongside an adversary that tries to infer a sensitive attribute from the predictor's representation or output. The predictor is penalized when the adversary succeeds, encouraging less sensitive information to remain. The method can reduce proxy leakage, but it adds training complexity and still requires downstream fairness testing.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Equalized-odds post-processing adjusts decisions or thresholds from an already trained model so that error rates become more comparable across groups. It is useful when retraining is impossible, but group-specific adjustments require careful legal, ethical, and operational review. They can also change accuracy and may become unstable when group samples are small.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adjusts predicted probabilities so that a score has a consistent empirical meaning for each group. It is valuable when scores guide human decisions or resource allocation. Calibration does not guarantee equal selection or error rates, and it can conflict with equalized odds when base rates differ, so the deployment purpose must determine priority.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Intervention begins with a diagnosed mechanism and a stated fairness target. Teams should compare a baseline with candidate methods, report group performance and uncertainty, inspect utility costs, test on representative holdout data, document residual harms, and monitor drift after deployment. Mitigation is an iterative control process rather than a one-time repair.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Pre-processing changes data, in-processing changes learning, and post-processing changes outputs. Reweighting addresses influence, feature treatment reduces direct or proxy pathways, fairness constraints and adversaries reshape training, and output adjustment targets decision behavior or probability meaning. Every method must be validated against the intended fairness objective.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moves from individual techniques to operating practice. It explains how representative collection, labeling governance, human oversight, validation, audits, and impact assessments make fairness routine rather than reactive.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fairer data collection, write and govern labeling guidelines, explain the value and limits of diverse annotators and human-in-the-loop review, design subgroup validation, and distinguish a technical audit from a broader impact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should reflect the population, environments, and conditions in which a system will operate. Teams should sample across relevant demographic, geographic, socioeconomic, age, and ability dimensions and use multiple sources when one source offers a narrow view. Representation targets and missing groups should be monitored throughout collection, not only after the dataset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Labeling guidance should define categories, decision rules, edge cases, abstention options, and escalation procedures. Pilot rounds can reveal ambiguity before large-scale annotation begins. Agreement measures identify unstable tasks, but high agreement alone does not prove fairness if all annotators share the same blind spot or the target concept is itself problematic.</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Diverse annotators contribute different cultural and experiential perspectives, helping teams recognize assumptions that a homogeneous group may miss. Human-in-the-loop review supports adjudication, correction, and continuous refinement. Diversity should not be treated as a substitute for training, fair working conditions, clear authority, or systematic quality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data should cover the groups and operating conditions the system will encounter. Overall accuracy must be disaggregated into suitable performance and fairness metrics, with sample sizes and uncertainty reported. External or shifted datasets can reveal whether a model that appears fair in development fails when language, equipment, geography, or population composition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Audits should occur before release, after retraining or major data changes, and periodically during deployment. They compare subgroup outcomes and errors, inspect drift, review complaints, verify documentation, and assign corrective actions. A useful audit has an owner, a schedule, reproducible evidence, decision thresholds, and a process for escalation.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assessments extend beyond metric checks. They identify affected stakeholders, plausible harms and benefits, severity, reversibility, alternatives, human oversight, appeal routes, and accountability. They also examine how an ostensibly accurate tool may change institutional behavior, such as increasing surveillance or restricting access to essential services.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practices form a loop: define intended use and affected groups, collect representative data, label with governed procedures, validate disaggregated performance, assess wider impacts, deploy with oversight, monitor outcomes, and correct emerging problems. Documentation connects each stage so later reviewers can understand decisions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begins with representative collection and explicit labeling rules. Diverse participation and human oversight improve judgment but require supporting controls. Validation must be disaggregated and realistic, audits must recur as systems change, and impact assessments must connect technical evidence with real-world consequences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tooling that can make these practices repeatable. It compares AI Fairness 360 and Fairlearn and then follows a case study on reducing gender stereotypes in text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describe the main capabilities of AI Fairness 360 and Fairlearn, select a toolkit according to workflow needs, explain how gender stereotypes enter text representations, and design evaluation that checks whether a debiasing intervention actually improves downstream behavior.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AI Fairness 360 offers a broad collection of dataset and model metrics, reference datasets, and mitigation algorithms. Its methods span pre-processing, in-processing, and post-processing, including reweighting and adversarial approaches. This breadth supports experimentation across several fairness definitions, especially when a team needs to compare interventions at different pipeline stages.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emphasizes disaggregated assessment and fairness-aware mitigation within common Python model workflows. Grouped metric reporting exposes performance gaps that an average conceals, while reduction and threshold methods can impose constraints such as demographic parity or equalized odds. It is particularly convenient when models already use the scikit-learn ecosystem.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defensible workflow first states the decision context, affected groups, harms, labels, and desired fairness criterion. The toolkit then computes evidence and tests candidate interventions. Teams must report uncertainty, utility changes, and unresolved harms. Default settings and benchmark datasets are starting points, not substitutes for domain judgment or stakeholder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text corpora can associate occupations and social roles with gender stereotypes, such as linking doctors and engineers with men while linking nurses and teachers with women. Models learn these associations and may reproduce them in generation, translation, sentiment analysis, recommendation, or hiring applications, even when gender is not an explicit input field.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mitigation strategy identifies a gender direction in a word-embedding space and reduces unwanted associations by projecting selected representations toward a more neutral space. Data balancing and fairness-aware training provide alternatives. Any intervention must distinguish harmful stereotypes from legitimate linguistic information and avoid erasing identities or masking bias that persists elsewhere.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should compare association tests before and after intervention and then examine downstream tasks, subgroup errors, generated content, and realistic prompts. Human review by affected communities can identify harms that a numeric score misses. Because language and usage evolve, the evaluation should recur after data updates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Fairness 360 provides broad metrics and interventions across pipeline stages, while Fairlearn integrates disaggregated assessment and constrained mitigation into familiar model workflows. Toolkits make analysis repeatable but cannot choose the ethical objective. Text debiasing requires both representation-level tests and downstream, human-centered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clip looks ahead to generative artificial intelligence, decentralized training, evolving regulation, and deployment governance. These settings extend the same core principles while introducing new sources of scale, opacity, and distribution shift.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identify distinctive fairness risks in generative and federated learning, outline suitable monitoring and mitigation approaches, explain how regulation shapes deployment obligations, and connect future methods with the lifecycle practices developed throughout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systems learn associations from large web-scale corpora that contain stereotypes, exclusions, and uneven representation. A text-to-image model may repeatedly depict leaders or doctors from one demographic group, while a language model may generate demeaning or exclusionary descriptions. Open-ended outputs make fairness evaluation broader than checking one fixed classification label.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should use diverse prompts, repeated samples, intersectional groups, and both quantitative and human review. Mitigation can include better data curation, balanced augmentation, filtering, representation debiasing, training constraints, and deployment safeguards. Because interventions can shift or conceal harms, generated outputs must be monitored over time and across languages and cultures.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trains across decentralized devices or organizations without centralizing raw records. Privacy benefits do not guarantee fairness. Participants may contribute very different amounts and distributions of data, connectivity can determine who influences training, and a global model may work well for common urban users while failing for smaller rural or clinical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responses include group-aware sampling, robust aggregation, personalized models, explicit fairness objectives, and reporting performance for each participating population. Teams must also examine which clients are repeatedly excluded and whether privacy protections limit subgroup auditing. The objective should balance global utility with acceptable performance for less represented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anti-discrimination, consumer protection, and artificial-intelligence-specific rules increasingly require documentation, transparency, bias testing, human oversight, and routes for appeal in high-risk settings. Compliance should be built into system design through data records, impact assessments, audit trails, assigned responsibility, and deployment controls rather than assembled after a complaint.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Bias-aware datasets, causal methods, fairness-aware optimization, explainability, and participatory evaluation can strengthen future systems. Their value depends on clear problem definitions and real-world validation. More complex algorithms do not remove the need for representative data, stakeholder input, understandable evidence, and ongoing monitoring.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systems expand fairness evaluation to open-ended content and intersectional representation. Federated systems introduce uneven participation and local performance concerns. Regulation makes documentation, testing, oversight, and accountability deployment requirements. Across all settings, fairness remains a lifecycle practice rather than a one-time metric.</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has moved from bias definitions through diagnosis, impacts, fairness criteria, mitigation, operating practice, and emerging challenges. The next stage of the book carries this fairness lens into later modeling and governance decisions, where dataset choices continue to shape performance, risk, and accountability.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Introduction to bias and fairness</a:t>
            </a:r>
          </a:p>
          <a:p>
            <a:pPr algn="ctr">
              <a:lnSpc>
                <a:spcPts val="2200"/>
              </a:lnSpc>
              <a:spcBef>
                <a:spcPts val="1400"/>
              </a:spcBef>
            </a:pPr>
            <a:r>
              <a:rPr sz="2600" b="0">
                <a:solidFill>
                  <a:srgbClr val="333333"/>
                </a:solidFill>
                <a:latin typeface="Calibri"/>
              </a:rPr>
              <a:t>Earlier chapters established how datasets are collected, labeled, cleaned, and explored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Identify policy and governance pressures that make fairness an operational requirement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Dataset bias and fairness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bias is a systematic error or imbalance that skews training or evaluation data</a:t>
            </a:r>
          </a:p>
          <a:p>
            <a:pPr lvl="0" marL="457200" indent="-228600">
              <a:buFont typeface="Calibri"/>
              <a:spcAft>
                <a:spcPts val="1000"/>
              </a:spcAft>
              <a:buSzPct val="100000"/>
              <a:buChar char="•"/>
              <a:lnSpc>
                <a:spcPts val="2200"/>
              </a:lnSpc>
            </a:pPr>
            <a:r>
              <a:rPr sz="2000" b="0">
                <a:solidFill>
                  <a:srgbClr val="333333"/>
                </a:solidFill>
                <a:latin typeface="Calibri"/>
              </a:rPr>
              <a:t>Fairness is the operational goal of selecting, measuring</a:t>
            </a:r>
          </a:p>
          <a:p>
            <a:pPr lvl="0" marL="457200" indent="-228600">
              <a:buFont typeface="Calibri"/>
              <a:spcAft>
                <a:spcPts val="1000"/>
              </a:spcAft>
              <a:buSzPct val="100000"/>
              <a:buChar char="•"/>
              <a:lnSpc>
                <a:spcPts val="2200"/>
              </a:lnSpc>
            </a:pPr>
            <a:r>
              <a:rPr sz="2000" b="0">
                <a:solidFill>
                  <a:srgbClr val="333333"/>
                </a:solidFill>
                <a:latin typeface="Calibri"/>
              </a:rPr>
              <a:t>Fairness is therefore a measurable design constraint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Trust and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Trust declines when people cannot determine whether a recommendation</a:t>
            </a:r>
          </a:p>
          <a:p>
            <a:pPr lvl="0" marL="457200" indent="-228600">
              <a:buFont typeface="Calibri"/>
              <a:spcAft>
                <a:spcPts val="1000"/>
              </a:spcAft>
              <a:buSzPct val="100000"/>
              <a:buChar char="•"/>
              <a:lnSpc>
                <a:spcPts val="2200"/>
              </a:lnSpc>
            </a:pPr>
            <a:r>
              <a:rPr sz="2000" b="0">
                <a:solidFill>
                  <a:srgbClr val="333333"/>
                </a:solidFill>
                <a:latin typeface="Calibri"/>
              </a:rPr>
              <a:t>Accountability requires named owners, documented data and metrics, mechanisms for review</a:t>
            </a:r>
          </a:p>
          <a:p>
            <a:pPr lvl="0" marL="457200" indent="-228600">
              <a:buFont typeface="Calibri"/>
              <a:spcAft>
                <a:spcPts val="1000"/>
              </a:spcAft>
              <a:buSzPct val="100000"/>
              <a:buChar char="•"/>
              <a:lnSpc>
                <a:spcPts val="2200"/>
              </a:lnSpc>
            </a:pPr>
            <a:r>
              <a:rPr sz="2000" b="0">
                <a:solidFill>
                  <a:srgbClr val="333333"/>
                </a:solidFill>
                <a:latin typeface="Calibri"/>
              </a:rPr>
              <a:t>Deployment, and monitoring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 — GDPR &amp; ECOA Policies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 shows that fairness has a policy context</a:t>
            </a:r>
          </a:p>
          <a:p>
            <a:pPr lvl="0" marL="457200" indent="-228600">
              <a:buFont typeface="Calibri"/>
              <a:spcAft>
                <a:spcPts val="1000"/>
              </a:spcAft>
              <a:buSzPct val="100000"/>
              <a:buChar char="•"/>
              <a:lnSpc>
                <a:spcPts val="2200"/>
              </a:lnSpc>
            </a:pPr>
            <a:r>
              <a:rPr sz="2000" b="0">
                <a:solidFill>
                  <a:srgbClr val="333333"/>
                </a:solidFill>
                <a:latin typeface="Calibri"/>
              </a:rPr>
              <a:t>European data protection rules place duties around consequential automated decisions</a:t>
            </a:r>
          </a:p>
          <a:p>
            <a:pPr lvl="0" marL="457200" indent="-228600">
              <a:buFont typeface="Calibri"/>
              <a:spcAft>
                <a:spcPts val="1000"/>
              </a:spcAft>
              <a:buSzPct val="100000"/>
              <a:buChar char="•"/>
              <a:lnSpc>
                <a:spcPts val="2200"/>
              </a:lnSpc>
            </a:pPr>
            <a:r>
              <a:rPr sz="2000" b="0">
                <a:solidFill>
                  <a:srgbClr val="333333"/>
                </a:solidFill>
                <a:latin typeface="Calibri"/>
              </a:rPr>
              <a:t>A technically impressive model can still create legal, financial</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7.6 — Gender Shades Project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7.6 records subgroup evidence from commercial facial analysis systems</a:t>
            </a:r>
          </a:p>
          <a:p>
            <a:pPr lvl="0" marL="457200" indent="-228600">
              <a:buFont typeface="Calibri"/>
              <a:spcAft>
                <a:spcPts val="1000"/>
              </a:spcAft>
              <a:buSzPct val="100000"/>
              <a:buChar char="•"/>
              <a:lnSpc>
                <a:spcPts val="2200"/>
              </a:lnSpc>
            </a:pPr>
            <a:r>
              <a:rPr sz="2000" b="0">
                <a:solidFill>
                  <a:srgbClr val="333333"/>
                </a:solidFill>
                <a:latin typeface="Calibri"/>
              </a:rPr>
              <a:t>With underrepresentation in training data identified as an important cause</a:t>
            </a:r>
          </a:p>
          <a:p>
            <a:pPr lvl="0" marL="457200" indent="-228600">
              <a:buFont typeface="Calibri"/>
              <a:spcAft>
                <a:spcPts val="1000"/>
              </a:spcAft>
              <a:buSzPct val="100000"/>
              <a:buChar char="•"/>
              <a:lnSpc>
                <a:spcPts val="2200"/>
              </a:lnSpc>
            </a:pPr>
            <a:r>
              <a:rPr sz="2000" b="0">
                <a:solidFill>
                  <a:srgbClr val="333333"/>
                </a:solidFill>
                <a:latin typeface="Calibri"/>
              </a:rPr>
              <a:t>The practical lesson is to report disaggregated errors before deployment rather than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7.9 — OECD AI Principles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7.9 places fairness within a broader governance framework</a:t>
            </a:r>
          </a:p>
          <a:p>
            <a:pPr lvl="0" marL="457200" indent="-228600">
              <a:buFont typeface="Calibri"/>
              <a:spcAft>
                <a:spcPts val="1000"/>
              </a:spcAft>
              <a:buSzPct val="100000"/>
              <a:buChar char="•"/>
              <a:lnSpc>
                <a:spcPts val="2200"/>
              </a:lnSpc>
            </a:pPr>
            <a:r>
              <a:rPr sz="2000" b="0">
                <a:solidFill>
                  <a:srgbClr val="333333"/>
                </a:solidFill>
                <a:latin typeface="Calibri"/>
              </a:rPr>
              <a:t>The OECD principles emphasize transparent, fair, inclusive</a:t>
            </a:r>
          </a:p>
          <a:p>
            <a:pPr lvl="0" marL="457200" indent="-228600">
              <a:buFont typeface="Calibri"/>
              <a:spcAft>
                <a:spcPts val="1000"/>
              </a:spcAft>
              <a:buSzPct val="100000"/>
              <a:buChar char="•"/>
              <a:lnSpc>
                <a:spcPts val="2200"/>
              </a:lnSpc>
            </a:pPr>
            <a:r>
              <a:rPr sz="2000" b="0">
                <a:solidFill>
                  <a:srgbClr val="333333"/>
                </a:solidFill>
                <a:latin typeface="Calibri"/>
              </a:rPr>
              <a:t>Corrective action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 across the lifecycle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Bias can enter through collection</a:t>
            </a:r>
          </a:p>
          <a:p>
            <a:pPr lvl="0" marL="457200" indent="-228600">
              <a:buFont typeface="Calibri"/>
              <a:spcAft>
                <a:spcPts val="1000"/>
              </a:spcAft>
              <a:buSzPct val="100000"/>
              <a:buChar char="•"/>
              <a:lnSpc>
                <a:spcPts val="2200"/>
              </a:lnSpc>
            </a:pPr>
            <a:r>
              <a:rPr sz="2000" b="0">
                <a:solidFill>
                  <a:srgbClr val="333333"/>
                </a:solidFill>
                <a:latin typeface="Calibri"/>
              </a:rPr>
              <a:t>It can then be amplified during model training and deployment</a:t>
            </a:r>
          </a:p>
          <a:p>
            <a:pPr lvl="0" marL="457200" indent="-228600">
              <a:buFont typeface="Calibri"/>
              <a:spcAft>
                <a:spcPts val="1000"/>
              </a:spcAft>
              <a:buSzPct val="100000"/>
              <a:buChar char="•"/>
              <a:lnSpc>
                <a:spcPts val="2200"/>
              </a:lnSpc>
            </a:pPr>
            <a:r>
              <a:rPr sz="2000" b="0">
                <a:solidFill>
                  <a:srgbClr val="333333"/>
                </a:solidFill>
                <a:latin typeface="Calibri"/>
              </a:rPr>
              <a:t>Fairness work must therefore span the lifecycle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bias describes systematic skew</a:t>
            </a:r>
          </a:p>
          <a:p>
            <a:pPr lvl="0" marL="457200" indent="-228600">
              <a:buFont typeface="Calibri"/>
              <a:spcAft>
                <a:spcPts val="1000"/>
              </a:spcAft>
              <a:buSzPct val="100000"/>
              <a:buChar char="•"/>
              <a:lnSpc>
                <a:spcPts val="2200"/>
              </a:lnSpc>
            </a:pPr>
            <a:r>
              <a:rPr sz="2000" b="0">
                <a:solidFill>
                  <a:srgbClr val="333333"/>
                </a:solidFill>
                <a:latin typeface="Calibri"/>
              </a:rPr>
              <a:t>Average performance can conceal serious subgroup failures</a:t>
            </a:r>
          </a:p>
          <a:p>
            <a:pPr lvl="0" marL="457200" indent="-228600">
              <a:buFont typeface="Calibri"/>
              <a:spcAft>
                <a:spcPts val="1000"/>
              </a:spcAft>
              <a:buSzPct val="100000"/>
              <a:buChar char="•"/>
              <a:lnSpc>
                <a:spcPts val="2200"/>
              </a:lnSpc>
            </a:pPr>
            <a:r>
              <a:rPr sz="2000" b="0">
                <a:solidFill>
                  <a:srgbClr val="333333"/>
                </a:solidFill>
                <a:latin typeface="Calibri"/>
              </a:rPr>
              <a:t>Trust depends on transparency and consistent treatment</a:t>
            </a:r>
          </a:p>
          <a:p>
            <a:pPr lvl="0" marL="457200" indent="-228600">
              <a:buFont typeface="Calibri"/>
              <a:spcAft>
                <a:spcPts val="1000"/>
              </a:spcAft>
              <a:buSzPct val="100000"/>
              <a:buChar char="•"/>
              <a:lnSpc>
                <a:spcPts val="2200"/>
              </a:lnSpc>
            </a:pPr>
            <a:r>
              <a:rPr sz="2000" b="0">
                <a:solidFill>
                  <a:srgbClr val="333333"/>
                </a:solidFill>
                <a:latin typeface="Calibri"/>
              </a:rPr>
              <a:t>Policy principles and legal duties make these concerns part of routine engineering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moves from the general definition to a practical taxonomy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Sampling and measurement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Sampling bias occurs when collected records do not represent the population or conditions</a:t>
            </a:r>
          </a:p>
          <a:p>
            <a:pPr lvl="0" marL="457200" indent="-228600">
              <a:buFont typeface="Calibri"/>
              <a:spcAft>
                <a:spcPts val="1000"/>
              </a:spcAft>
              <a:buSzPct val="100000"/>
              <a:buChar char="•"/>
              <a:lnSpc>
                <a:spcPts val="2200"/>
              </a:lnSpc>
            </a:pPr>
            <a:r>
              <a:rPr sz="2000" b="0">
                <a:solidFill>
                  <a:srgbClr val="333333"/>
                </a:solidFill>
                <a:latin typeface="Calibri"/>
              </a:rPr>
              <a:t>Measurement bias occurs when instruments</a:t>
            </a:r>
          </a:p>
          <a:p>
            <a:pPr lvl="0" marL="457200" indent="-228600">
              <a:buFont typeface="Calibri"/>
              <a:spcAft>
                <a:spcPts val="1000"/>
              </a:spcAft>
              <a:buSzPct val="100000"/>
              <a:buChar char="•"/>
              <a:lnSpc>
                <a:spcPts val="2200"/>
              </a:lnSpc>
            </a:pPr>
            <a:r>
              <a:rPr sz="2000" b="0">
                <a:solidFill>
                  <a:srgbClr val="333333"/>
                </a:solidFill>
                <a:latin typeface="Calibri"/>
              </a:rPr>
              <a:t>Sampling changes who or what is observed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7.12 — Facial Recognition System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7.12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7.12 illustrates sampling bias</a:t>
            </a:r>
          </a:p>
          <a:p>
            <a:pPr lvl="0" marL="457200" indent="-228600">
              <a:buFont typeface="Calibri"/>
              <a:spcAft>
                <a:spcPts val="1000"/>
              </a:spcAft>
              <a:buSzPct val="100000"/>
              <a:buChar char="•"/>
              <a:lnSpc>
                <a:spcPts val="2200"/>
              </a:lnSpc>
            </a:pPr>
            <a:r>
              <a:rPr sz="2000" b="0">
                <a:solidFill>
                  <a:srgbClr val="333333"/>
                </a:solidFill>
                <a:latin typeface="Calibri"/>
              </a:rPr>
              <a:t>A facial recognition dataset dominated by light-skinned faces gives a model too little</a:t>
            </a:r>
          </a:p>
          <a:p>
            <a:pPr lvl="0" marL="457200" indent="-228600">
              <a:buFont typeface="Calibri"/>
              <a:spcAft>
                <a:spcPts val="1000"/>
              </a:spcAft>
              <a:buSzPct val="100000"/>
              <a:buChar char="•"/>
              <a:lnSpc>
                <a:spcPts val="2200"/>
              </a:lnSpc>
            </a:pPr>
            <a:r>
              <a:rPr sz="2000" b="0">
                <a:solidFill>
                  <a:srgbClr val="333333"/>
                </a:solidFill>
                <a:latin typeface="Calibri"/>
              </a:rPr>
              <a:t>Performance can therefore vary sharply across groups</a:t>
            </a:r>
          </a:p>
          <a:p>
            <a:pPr lvl="0" marL="457200" indent="-228600">
              <a:buFont typeface="Calibri"/>
              <a:spcAft>
                <a:spcPts val="1000"/>
              </a:spcAft>
              <a:buSzPct val="100000"/>
              <a:buChar char="•"/>
              <a:lnSpc>
                <a:spcPts val="2200"/>
              </a:lnSpc>
            </a:pPr>
            <a:r>
              <a:rPr sz="2000" b="0">
                <a:solidFill>
                  <a:srgbClr val="333333"/>
                </a:solidFill>
                <a:latin typeface="Calibri"/>
              </a:rPr>
              <a:t>Adding more images from the already dominant group increases dataset size without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7.14 — Creditworthiness System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7.14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7.14 illustrates measurement bias through self-reported income</a:t>
            </a:r>
          </a:p>
          <a:p>
            <a:pPr lvl="0" marL="457200" indent="-228600">
              <a:buFont typeface="Calibri"/>
              <a:spcAft>
                <a:spcPts val="1000"/>
              </a:spcAft>
              <a:buSzPct val="100000"/>
              <a:buChar char="•"/>
              <a:lnSpc>
                <a:spcPts val="2200"/>
              </a:lnSpc>
            </a:pPr>
            <a:r>
              <a:rPr sz="2000" b="0">
                <a:solidFill>
                  <a:srgbClr val="333333"/>
                </a:solidFill>
                <a:latin typeface="Calibri"/>
              </a:rPr>
              <a:t>Respondents may overstate or withhold information because of privacy concerns or social</a:t>
            </a:r>
          </a:p>
          <a:p>
            <a:pPr lvl="0" marL="457200" indent="-228600">
              <a:buFont typeface="Calibri"/>
              <a:spcAft>
                <a:spcPts val="1000"/>
              </a:spcAft>
              <a:buSzPct val="100000"/>
              <a:buChar char="•"/>
              <a:lnSpc>
                <a:spcPts val="2200"/>
              </a:lnSpc>
            </a:pPr>
            <a:r>
              <a:rPr sz="2000" b="0">
                <a:solidFill>
                  <a:srgbClr val="333333"/>
                </a:solidFill>
                <a:latin typeface="Calibri"/>
              </a:rPr>
              <a:t>The resulting values are not merely noisy if the error follows a systematic pattern across</a:t>
            </a:r>
          </a:p>
          <a:p>
            <a:pPr lvl="0" marL="457200" indent="-228600">
              <a:buFont typeface="Calibri"/>
              <a:spcAft>
                <a:spcPts val="1000"/>
              </a:spcAft>
              <a:buSzPct val="100000"/>
              <a:buChar char="•"/>
              <a:lnSpc>
                <a:spcPts val="2200"/>
              </a:lnSpc>
            </a:pPr>
            <a:r>
              <a:rPr sz="2000" b="0">
                <a:solidFill>
                  <a:srgbClr val="333333"/>
                </a:solidFill>
                <a:latin typeface="Calibri"/>
              </a:rPr>
              <a:t>Audit work must examine how a variable was produced</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7.17 — Entrenched Societal Biases in Historical Records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7.17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7.17 shows historical bias</a:t>
            </a:r>
          </a:p>
          <a:p>
            <a:pPr lvl="0" marL="457200" indent="-228600">
              <a:buFont typeface="Calibri"/>
              <a:spcAft>
                <a:spcPts val="1000"/>
              </a:spcAft>
              <a:buSzPct val="100000"/>
              <a:buChar char="•"/>
              <a:lnSpc>
                <a:spcPts val="2200"/>
              </a:lnSpc>
            </a:pPr>
            <a:r>
              <a:rPr sz="2000" b="0">
                <a:solidFill>
                  <a:srgbClr val="333333"/>
                </a:solidFill>
                <a:latin typeface="Calibri"/>
              </a:rPr>
              <a:t>Hiring, lending, judicial</a:t>
            </a:r>
          </a:p>
          <a:p>
            <a:pPr lvl="0" marL="457200" indent="-228600">
              <a:buFont typeface="Calibri"/>
              <a:spcAft>
                <a:spcPts val="1000"/>
              </a:spcAft>
              <a:buSzPct val="100000"/>
              <a:buChar char="•"/>
              <a:lnSpc>
                <a:spcPts val="2200"/>
              </a:lnSpc>
            </a:pPr>
            <a:r>
              <a:rPr sz="2000" b="0">
                <a:solidFill>
                  <a:srgbClr val="333333"/>
                </a:solidFill>
                <a:latin typeface="Calibri"/>
              </a:rPr>
              <a:t>A model can reproduce those patterns even when collection and measurement are technically</a:t>
            </a:r>
          </a:p>
          <a:p>
            <a:pPr lvl="0" marL="457200" indent="-228600">
              <a:buFont typeface="Calibri"/>
              <a:spcAft>
                <a:spcPts val="1000"/>
              </a:spcAft>
              <a:buSzPct val="100000"/>
              <a:buChar char="•"/>
              <a:lnSpc>
                <a:spcPts val="2200"/>
              </a:lnSpc>
            </a:pPr>
            <a:r>
              <a:rPr sz="2000" b="0">
                <a:solidFill>
                  <a:srgbClr val="333333"/>
                </a:solidFill>
                <a:latin typeface="Calibri"/>
              </a:rPr>
              <a:t>Historical data describes what happened</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7.21 — Labeling Bias in Sentiment Annotation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7.21 shows label bias</a:t>
            </a:r>
          </a:p>
          <a:p>
            <a:pPr lvl="0" marL="457200" indent="-228600">
              <a:buFont typeface="Calibri"/>
              <a:spcAft>
                <a:spcPts val="1000"/>
              </a:spcAft>
              <a:buSzPct val="100000"/>
              <a:buChar char="•"/>
              <a:lnSpc>
                <a:spcPts val="2200"/>
              </a:lnSpc>
            </a:pPr>
            <a:r>
              <a:rPr sz="2000" b="0">
                <a:solidFill>
                  <a:srgbClr val="333333"/>
                </a:solidFill>
                <a:latin typeface="Calibri"/>
              </a:rPr>
              <a:t>Annotators may interpret tone differently because of cultural background</a:t>
            </a:r>
          </a:p>
          <a:p>
            <a:pPr lvl="0" marL="457200" indent="-228600">
              <a:buFont typeface="Calibri"/>
              <a:spcAft>
                <a:spcPts val="1000"/>
              </a:spcAft>
              <a:buSzPct val="100000"/>
              <a:buChar char="•"/>
              <a:lnSpc>
                <a:spcPts val="2200"/>
              </a:lnSpc>
            </a:pPr>
            <a:r>
              <a:rPr sz="2000" b="0">
                <a:solidFill>
                  <a:srgbClr val="333333"/>
                </a:solidFill>
                <a:latin typeface="Calibri"/>
              </a:rPr>
              <a:t>If these disagreements systematically affect some dialects or groups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7.21 — chi-squared test of gender distribution across</a:t>
            </a:r>
          </a:p>
          <a:p>
            <a:pPr>
              <a:lnSpc>
                <a:spcPts val="2200"/>
              </a:lnSpc>
              <a:spcAft>
                <a:spcPts val="400"/>
              </a:spcAft>
            </a:pPr>
            <a:r>
              <a:rPr sz="2000" b="0">
                <a:solidFill>
                  <a:srgbClr val="333333"/>
                </a:solidFill>
                <a:latin typeface="Consolas"/>
              </a:rPr>
              <a:t>performance categories."""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"""Run a 2x2 chi-squared test on gender vs performance category."""</a:t>
            </a:r>
          </a:p>
          <a:p>
            <a:pPr>
              <a:lnSpc>
                <a:spcPts val="2200"/>
              </a:lnSpc>
              <a:spcAft>
                <a:spcPts val="400"/>
              </a:spcAft>
            </a:pPr>
            <a:r>
              <a:rPr sz="2000" b="0">
                <a:solidFill>
                  <a:srgbClr val="333333"/>
                </a:solidFill>
                <a:latin typeface="Consolas"/>
              </a:rPr>
              <a:t>    # Observed contingency table: rows = gender, cols = (high, low)</a:t>
            </a:r>
          </a:p>
          <a:p>
            <a:pPr>
              <a:lnSpc>
                <a:spcPts val="2200"/>
              </a:lnSpc>
              <a:spcAft>
                <a:spcPts val="400"/>
              </a:spcAft>
            </a:pPr>
            <a:r>
              <a:rPr sz="2000" b="0">
                <a:solidFill>
                  <a:srgbClr val="333333"/>
                </a:solidFill>
                <a:latin typeface="Consolas"/>
              </a:rPr>
              <a:t>performers.</a:t>
            </a:r>
          </a:p>
          <a:p>
            <a:pPr>
              <a:lnSpc>
                <a:spcPts val="2200"/>
              </a:lnSpc>
              <a:spcAft>
                <a:spcPts val="400"/>
              </a:spcAft>
            </a:pPr>
            <a:r>
              <a:rPr sz="2000" b="0">
                <a:solidFill>
                  <a:srgbClr val="333333"/>
                </a:solidFill>
                <a:latin typeface="Consolas"/>
              </a:rPr>
              <a:t>    observed: dict[str, tuple[int, int]] = {"Male": (90, 210), "Female":</a:t>
            </a:r>
          </a:p>
          <a:p>
            <a:pPr>
              <a:lnSpc>
                <a:spcPts val="2200"/>
              </a:lnSpc>
              <a:spcAft>
                <a:spcPts val="400"/>
              </a:spcAft>
            </a:pPr>
            <a:r>
              <a:rPr sz="2000" b="0">
                <a:solidFill>
                  <a:srgbClr val="333333"/>
                </a:solidFill>
                <a:latin typeface="Consolas"/>
              </a:rPr>
              <a:t>(30, 170)}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row_totals = {g: sum(cells) for g, cells in observed.items()}</a:t>
            </a:r>
          </a:p>
          <a:p>
            <a:pPr>
              <a:lnSpc>
                <a:spcPts val="2200"/>
              </a:lnSpc>
              <a:spcAft>
                <a:spcPts val="400"/>
              </a:spcAft>
            </a:pPr>
            <a:r>
              <a:rPr sz="2000" b="0">
                <a:solidFill>
                  <a:srgbClr val="333333"/>
                </a:solidFill>
                <a:latin typeface="Consolas"/>
              </a:rPr>
              <a:t>    col_totals = (</a:t>
            </a:r>
          </a:p>
          <a:p>
            <a:pPr>
              <a:lnSpc>
                <a:spcPts val="2200"/>
              </a:lnSpc>
              <a:spcAft>
                <a:spcPts val="400"/>
              </a:spcAft>
            </a:pPr>
            <a:r>
              <a:rPr sz="2000" b="0">
                <a:solidFill>
                  <a:srgbClr val="333333"/>
                </a:solidFill>
                <a:latin typeface="Consolas"/>
              </a:rPr>
              <a:t>        sum(cells[0] for cells in observed.values()),</a:t>
            </a:r>
          </a:p>
          <a:p>
            <a:pPr>
              <a:lnSpc>
                <a:spcPts val="2200"/>
              </a:lnSpc>
              <a:spcAft>
                <a:spcPts val="400"/>
              </a:spcAft>
            </a:pPr>
            <a:r>
              <a:rPr sz="2000" b="0">
                <a:solidFill>
                  <a:srgbClr val="333333"/>
                </a:solidFill>
                <a:latin typeface="Consolas"/>
              </a:rPr>
              <a:t>        sum(cells[1] for cells in observed.values()),</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Aggregation and confirmation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Aggregation bias appears when diverse subgroups are treated as homogeneous and important</a:t>
            </a:r>
          </a:p>
          <a:p>
            <a:pPr lvl="0" marL="457200" indent="-228600">
              <a:buFont typeface="Calibri"/>
              <a:spcAft>
                <a:spcPts val="1000"/>
              </a:spcAft>
              <a:buSzPct val="100000"/>
              <a:buChar char="•"/>
              <a:lnSpc>
                <a:spcPts val="2200"/>
              </a:lnSpc>
            </a:pPr>
            <a:r>
              <a:rPr sz="2000" b="0">
                <a:solidFill>
                  <a:srgbClr val="333333"/>
                </a:solidFill>
                <a:latin typeface="Calibri"/>
              </a:rPr>
              <a:t>Confirmation bias appears when data is selected or interpreted to support an existing</a:t>
            </a:r>
          </a:p>
          <a:p>
            <a:pPr lvl="0" marL="457200" indent="-228600">
              <a:buFont typeface="Calibri"/>
              <a:spcAft>
                <a:spcPts val="1000"/>
              </a:spcAft>
              <a:buSzPct val="100000"/>
              <a:buChar char="•"/>
              <a:lnSpc>
                <a:spcPts val="2200"/>
              </a:lnSpc>
            </a:pPr>
            <a:r>
              <a:rPr sz="2000" b="0">
                <a:solidFill>
                  <a:srgbClr val="333333"/>
                </a:solidFill>
                <a:latin typeface="Calibri"/>
              </a:rPr>
              <a:t>One masks variation through pooling; the other narrows evidence through expectation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Diagnosing overlapping mechanisms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single system may combine several mechanisms</a:t>
            </a:r>
          </a:p>
          <a:p>
            <a:pPr lvl="0" marL="457200" indent="-228600">
              <a:buFont typeface="Calibri"/>
              <a:spcAft>
                <a:spcPts val="1000"/>
              </a:spcAft>
              <a:buSzPct val="100000"/>
              <a:buChar char="•"/>
              <a:lnSpc>
                <a:spcPts val="2200"/>
              </a:lnSpc>
            </a:pPr>
            <a:r>
              <a:rPr sz="2000" b="0">
                <a:solidFill>
                  <a:srgbClr val="333333"/>
                </a:solidFill>
                <a:latin typeface="Calibri"/>
              </a:rPr>
              <a:t>Encourage confirmation of an assumed crime pattern</a:t>
            </a:r>
          </a:p>
          <a:p>
            <a:pPr lvl="0" marL="457200" indent="-228600">
              <a:buFont typeface="Calibri"/>
              <a:spcAft>
                <a:spcPts val="1000"/>
              </a:spcAft>
              <a:buSzPct val="100000"/>
              <a:buChar char="•"/>
              <a:lnSpc>
                <a:spcPts val="2200"/>
              </a:lnSpc>
            </a:pPr>
            <a:r>
              <a:rPr sz="2000" b="0">
                <a:solidFill>
                  <a:srgbClr val="333333"/>
                </a:solidFill>
                <a:latin typeface="Calibri"/>
              </a:rPr>
              <a:t>Analyst decisions rather than assigning one convenient label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Label bias concerns target construction</a:t>
            </a:r>
          </a:p>
          <a:p>
            <a:pPr lvl="0" marL="457200" indent="-228600">
              <a:buFont typeface="Calibri"/>
              <a:spcAft>
                <a:spcPts val="1000"/>
              </a:spcAft>
              <a:buSzPct val="100000"/>
              <a:buChar char="•"/>
              <a:lnSpc>
                <a:spcPts val="2200"/>
              </a:lnSpc>
            </a:pPr>
            <a:r>
              <a:rPr sz="2000" b="0">
                <a:solidFill>
                  <a:srgbClr val="333333"/>
                </a:solidFill>
                <a:latin typeface="Calibri"/>
              </a:rPr>
              <a:t>Aggregation bias hides subgroup differences</a:t>
            </a:r>
          </a:p>
          <a:p>
            <a:pPr lvl="0" marL="457200" indent="-228600">
              <a:buFont typeface="Calibri"/>
              <a:spcAft>
                <a:spcPts val="1000"/>
              </a:spcAft>
              <a:buSzPct val="100000"/>
              <a:buChar char="•"/>
              <a:lnSpc>
                <a:spcPts val="2200"/>
              </a:lnSpc>
            </a:pPr>
            <a:r>
              <a:rPr sz="2000" b="0">
                <a:solidFill>
                  <a:srgbClr val="333333"/>
                </a:solidFill>
                <a:latin typeface="Calibri"/>
              </a:rPr>
              <a:t>Precise diagnosis guides intervention and prevents the mistaken assumption that more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turns this taxonomy into measurable evidence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Calculate and cautiously interpret a disparate-impact ratio using the eighty-percent rule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Multiple Manifestations of Dataset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7.27 establishes why one metric is insufficient</a:t>
            </a:r>
          </a:p>
          <a:p>
            <a:pPr lvl="0" marL="457200" indent="-228600">
              <a:buFont typeface="Calibri"/>
              <a:spcAft>
                <a:spcPts val="1000"/>
              </a:spcAft>
              <a:buSzPct val="100000"/>
              <a:buChar char="•"/>
              <a:lnSpc>
                <a:spcPts val="2200"/>
              </a:lnSpc>
            </a:pPr>
            <a:r>
              <a:rPr sz="2000" b="0">
                <a:solidFill>
                  <a:srgbClr val="333333"/>
                </a:solidFill>
                <a:latin typeface="Calibri"/>
              </a:rPr>
              <a:t>Bias may appear in demographic representation</a:t>
            </a:r>
          </a:p>
          <a:p>
            <a:pPr lvl="0" marL="457200" indent="-228600">
              <a:buFont typeface="Calibri"/>
              <a:spcAft>
                <a:spcPts val="1000"/>
              </a:spcAft>
              <a:buSzPct val="100000"/>
              <a:buChar char="•"/>
              <a:lnSpc>
                <a:spcPts val="2200"/>
              </a:lnSpc>
            </a:pPr>
            <a:r>
              <a:rPr sz="2000" b="0">
                <a:solidFill>
                  <a:srgbClr val="333333"/>
                </a:solidFill>
                <a:latin typeface="Calibri"/>
              </a:rPr>
              <a:t>An audit should therefore inspect both inputs and decisions, compare several subgroups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7.27 — bar chart of favorable predictions by demographic</a:t>
            </a:r>
          </a:p>
          <a:p>
            <a:pPr>
              <a:lnSpc>
                <a:spcPts val="2200"/>
              </a:lnSpc>
              <a:spcAft>
                <a:spcPts val="400"/>
              </a:spcAft>
            </a:pPr>
            <a:r>
              <a:rPr sz="2000" b="0">
                <a:solidFill>
                  <a:srgbClr val="333333"/>
                </a:solidFill>
                <a:latin typeface="Consolas"/>
              </a:rPr>
              <a:t>group (ASCII)."""</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"""Draw an ASCII bar chart of selection rates per subgroup."""</a:t>
            </a:r>
          </a:p>
          <a:p>
            <a:pPr>
              <a:lnSpc>
                <a:spcPts val="2200"/>
              </a:lnSpc>
              <a:spcAft>
                <a:spcPts val="400"/>
              </a:spcAft>
            </a:pPr>
            <a:r>
              <a:rPr sz="2000" b="0">
                <a:solidFill>
                  <a:srgbClr val="333333"/>
                </a:solidFill>
                <a:latin typeface="Consolas"/>
              </a:rPr>
              <a:t>    selection_rate: dict[str, float] = {</a:t>
            </a:r>
          </a:p>
          <a:p>
            <a:pPr>
              <a:lnSpc>
                <a:spcPts val="2200"/>
              </a:lnSpc>
              <a:spcAft>
                <a:spcPts val="400"/>
              </a:spcAft>
            </a:pPr>
            <a:r>
              <a:rPr sz="2000" b="0">
                <a:solidFill>
                  <a:srgbClr val="333333"/>
                </a:solidFill>
                <a:latin typeface="Consolas"/>
              </a:rPr>
              <a:t>        "Group A": 0.42,</a:t>
            </a:r>
          </a:p>
          <a:p>
            <a:pPr>
              <a:lnSpc>
                <a:spcPts val="2200"/>
              </a:lnSpc>
              <a:spcAft>
                <a:spcPts val="400"/>
              </a:spcAft>
            </a:pPr>
            <a:r>
              <a:rPr sz="2000" b="0">
                <a:solidFill>
                  <a:srgbClr val="333333"/>
                </a:solidFill>
                <a:latin typeface="Consolas"/>
              </a:rPr>
              <a:t>        "Group B": 0.35,</a:t>
            </a:r>
          </a:p>
          <a:p>
            <a:pPr>
              <a:lnSpc>
                <a:spcPts val="2200"/>
              </a:lnSpc>
              <a:spcAft>
                <a:spcPts val="400"/>
              </a:spcAft>
            </a:pPr>
            <a:r>
              <a:rPr sz="2000" b="0">
                <a:solidFill>
                  <a:srgbClr val="333333"/>
                </a:solidFill>
                <a:latin typeface="Consolas"/>
              </a:rPr>
              <a:t>        "Group C": 0.19,</a:t>
            </a:r>
          </a:p>
          <a:p>
            <a:pPr>
              <a:lnSpc>
                <a:spcPts val="2200"/>
              </a:lnSpc>
              <a:spcAft>
                <a:spcPts val="400"/>
              </a:spcAft>
            </a:pPr>
            <a:r>
              <a:rPr sz="2000" b="0">
                <a:solidFill>
                  <a:srgbClr val="333333"/>
                </a:solidFill>
                <a:latin typeface="Consolas"/>
              </a:rPr>
              <a:t>        "Group D": 0.15,</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print("Selection rate by demographic subgroup (each # = 2 percentage</a:t>
            </a:r>
          </a:p>
          <a:p>
            <a:pPr>
              <a:lnSpc>
                <a:spcPts val="2200"/>
              </a:lnSpc>
              <a:spcAft>
                <a:spcPts val="400"/>
              </a:spcAft>
            </a:pPr>
            <a:r>
              <a:rPr sz="2000" b="0">
                <a:solidFill>
                  <a:srgbClr val="333333"/>
                </a:solidFill>
                <a:latin typeface="Consolas"/>
              </a:rPr>
              <a:t>points):\n")</a:t>
            </a:r>
          </a:p>
          <a:p>
            <a:pPr>
              <a:lnSpc>
                <a:spcPts val="2200"/>
              </a:lnSpc>
              <a:spcAft>
                <a:spcPts val="400"/>
              </a:spcAft>
            </a:pPr>
            <a:r>
              <a:rPr sz="2000" b="0">
                <a:solidFill>
                  <a:srgbClr val="333333"/>
                </a:solidFill>
                <a:latin typeface="Consolas"/>
              </a:rPr>
              <a:t>    for group, rate in selection_rate.items():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7.28 — Distribution Comparison Across Demographics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7.28 compares features such as age, gender</a:t>
            </a:r>
          </a:p>
          <a:p>
            <a:pPr lvl="0" marL="457200" indent="-228600">
              <a:buFont typeface="Calibri"/>
              <a:spcAft>
                <a:spcPts val="1000"/>
              </a:spcAft>
              <a:buSzPct val="100000"/>
              <a:buChar char="•"/>
              <a:lnSpc>
                <a:spcPts val="2200"/>
              </a:lnSpc>
            </a:pPr>
            <a:r>
              <a:rPr sz="2000" b="0">
                <a:solidFill>
                  <a:srgbClr val="333333"/>
                </a:solidFill>
                <a:latin typeface="Calibri"/>
              </a:rPr>
              <a:t>Differences in counts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Statistical tests and practical significance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Formal tests can assess whether observed distribution differences are unlikely under a</a:t>
            </a:r>
          </a:p>
          <a:p>
            <a:pPr lvl="0" marL="457200" indent="-228600">
              <a:buFont typeface="Calibri"/>
              <a:spcAft>
                <a:spcPts val="1000"/>
              </a:spcAft>
              <a:buSzPct val="100000"/>
              <a:buChar char="•"/>
              <a:lnSpc>
                <a:spcPts val="2200"/>
              </a:lnSpc>
            </a:pPr>
            <a:r>
              <a:rPr sz="2000" b="0">
                <a:solidFill>
                  <a:srgbClr val="333333"/>
                </a:solidFill>
                <a:latin typeface="Calibri"/>
              </a:rPr>
              <a:t>A chi-squared test is suitable for categorical counts</a:t>
            </a:r>
          </a:p>
          <a:p>
            <a:pPr lvl="0" marL="457200" indent="-228600">
              <a:buFont typeface="Calibri"/>
              <a:spcAft>
                <a:spcPts val="1000"/>
              </a:spcAft>
              <a:buSzPct val="100000"/>
              <a:buChar char="•"/>
              <a:lnSpc>
                <a:spcPts val="2200"/>
              </a:lnSpc>
            </a:pPr>
            <a:r>
              <a:rPr sz="2000" b="0">
                <a:solidFill>
                  <a:srgbClr val="333333"/>
                </a:solidFill>
                <a:latin typeface="Calibri"/>
              </a:rPr>
              <a:t>Statistical significance does not establish harm or practical importance</a:t>
            </a:r>
          </a:p>
          <a:p>
            <a:pPr lvl="0" marL="457200" indent="-228600">
              <a:buFont typeface="Calibri"/>
              <a:spcAft>
                <a:spcPts val="1000"/>
              </a:spcAft>
              <a:buSzPct val="100000"/>
              <a:buChar char="•"/>
              <a:lnSpc>
                <a:spcPts val="2200"/>
              </a:lnSpc>
            </a:pPr>
            <a:r>
              <a:rPr sz="2000" b="0">
                <a:solidFill>
                  <a:srgbClr val="333333"/>
                </a:solidFill>
                <a:latin typeface="Calibri"/>
              </a:rPr>
              <a:t>Effect size and context remain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7.30 — Chi-Squared Test for Gender Distribution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7.30 asks whether gender distribution differs across outcome categories</a:t>
            </a:r>
          </a:p>
          <a:p>
            <a:pPr lvl="0" marL="457200" indent="-228600">
              <a:buFont typeface="Calibri"/>
              <a:spcAft>
                <a:spcPts val="1000"/>
              </a:spcAft>
              <a:buSzPct val="100000"/>
              <a:buChar char="•"/>
              <a:lnSpc>
                <a:spcPts val="2200"/>
              </a:lnSpc>
            </a:pPr>
            <a:r>
              <a:rPr sz="2000" b="0">
                <a:solidFill>
                  <a:srgbClr val="333333"/>
                </a:solidFill>
                <a:latin typeface="Calibri"/>
              </a:rPr>
              <a:t>The test compares observed counts with counts expected under independence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Correlations and proxy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Correlation analysis can reveal features that encode sensitive attributes indirectly</a:t>
            </a:r>
          </a:p>
          <a:p>
            <a:pPr lvl="0" marL="457200" indent="-228600">
              <a:buFont typeface="Calibri"/>
              <a:spcAft>
                <a:spcPts val="1000"/>
              </a:spcAft>
              <a:buSzPct val="100000"/>
              <a:buChar char="•"/>
              <a:lnSpc>
                <a:spcPts val="2200"/>
              </a:lnSpc>
            </a:pPr>
            <a:r>
              <a:rPr sz="2000" b="0">
                <a:solidFill>
                  <a:srgbClr val="333333"/>
                </a:solidFill>
                <a:latin typeface="Calibri"/>
              </a:rPr>
              <a:t>Names, neighborhoods, schools, or purchasing patterns may act as proxies even after race</a:t>
            </a:r>
          </a:p>
          <a:p>
            <a:pPr lvl="0" marL="457200" indent="-228600">
              <a:buFont typeface="Calibri"/>
              <a:spcAft>
                <a:spcPts val="1000"/>
              </a:spcAft>
              <a:buSzPct val="100000"/>
              <a:buChar char="•"/>
              <a:lnSpc>
                <a:spcPts val="2200"/>
              </a:lnSpc>
            </a:pPr>
            <a:r>
              <a:rPr sz="2000" b="0">
                <a:solidFill>
                  <a:srgbClr val="333333"/>
                </a:solidFill>
                <a:latin typeface="Calibri"/>
              </a:rPr>
              <a:t>Subgroup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7.33 — The 80% Rule in Hiring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7.33 calculates a disparate-impact ratio by dividing one group's selection rate by</a:t>
            </a:r>
          </a:p>
          <a:p>
            <a:pPr lvl="0" marL="457200" indent="-228600">
              <a:buFont typeface="Calibri"/>
              <a:spcAft>
                <a:spcPts val="1000"/>
              </a:spcAft>
              <a:buSzPct val="100000"/>
              <a:buChar char="•"/>
              <a:lnSpc>
                <a:spcPts val="2200"/>
              </a:lnSpc>
            </a:pPr>
            <a:r>
              <a:rPr sz="2000" b="0">
                <a:solidFill>
                  <a:srgbClr val="333333"/>
                </a:solidFill>
                <a:latin typeface="Calibri"/>
              </a:rPr>
              <a:t>A ratio below zero point eight is commonly used as a screening threshold for potential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Building a defensible audit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Chosen reference group</a:t>
            </a:r>
          </a:p>
          <a:p>
            <a:pPr lvl="0" marL="457200" indent="-228600">
              <a:buFont typeface="Calibri"/>
              <a:spcAft>
                <a:spcPts val="1000"/>
              </a:spcAft>
              <a:buSzPct val="100000"/>
              <a:buChar char="•"/>
              <a:lnSpc>
                <a:spcPts val="2200"/>
              </a:lnSpc>
            </a:pPr>
            <a:r>
              <a:rPr sz="2000" b="0">
                <a:solidFill>
                  <a:srgbClr val="333333"/>
                </a:solidFill>
                <a:latin typeface="Calibri"/>
              </a:rPr>
              <a:t>It reports both absolute rates and relative ratios, checks small groups carefully</a:t>
            </a:r>
          </a:p>
          <a:p>
            <a:pPr lvl="0" marL="457200" indent="-228600">
              <a:buFont typeface="Calibri"/>
              <a:spcAft>
                <a:spcPts val="1000"/>
              </a:spcAft>
              <a:buSzPct val="100000"/>
              <a:buChar char="•"/>
              <a:lnSpc>
                <a:spcPts val="2200"/>
              </a:lnSpc>
            </a:pPr>
            <a:r>
              <a:rPr sz="2000" b="0">
                <a:solidFill>
                  <a:srgbClr val="333333"/>
                </a:solidFill>
                <a:latin typeface="Calibri"/>
              </a:rPr>
              <a:t>Results should be repeatable and linked to a decision about further analysis or mitigation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Distribution checks reveal representation and data-quality gaps</a:t>
            </a:r>
          </a:p>
          <a:p>
            <a:pPr lvl="0" marL="457200" indent="-228600">
              <a:buFont typeface="Calibri"/>
              <a:spcAft>
                <a:spcPts val="1000"/>
              </a:spcAft>
              <a:buSzPct val="100000"/>
              <a:buChar char="•"/>
              <a:lnSpc>
                <a:spcPts val="2200"/>
              </a:lnSpc>
            </a:pPr>
            <a:r>
              <a:rPr sz="2000" b="0">
                <a:solidFill>
                  <a:srgbClr val="333333"/>
                </a:solidFill>
                <a:latin typeface="Calibri"/>
              </a:rPr>
              <a:t>Statistical tests formalize comparisons but must be paired with effect size and context</a:t>
            </a:r>
          </a:p>
          <a:p>
            <a:pPr lvl="0" marL="457200" indent="-228600">
              <a:buFont typeface="Calibri"/>
              <a:spcAft>
                <a:spcPts val="1000"/>
              </a:spcAft>
              <a:buSzPct val="100000"/>
              <a:buChar char="•"/>
              <a:lnSpc>
                <a:spcPts val="2200"/>
              </a:lnSpc>
            </a:pPr>
            <a:r>
              <a:rPr sz="2000" b="0">
                <a:solidFill>
                  <a:srgbClr val="333333"/>
                </a:solidFill>
                <a:latin typeface="Calibri"/>
              </a:rPr>
              <a:t>Correlation can uncover proxy pathways</a:t>
            </a:r>
          </a:p>
          <a:p>
            <a:pPr lvl="0" marL="457200" indent="-228600">
              <a:buFont typeface="Calibri"/>
              <a:spcAft>
                <a:spcPts val="1000"/>
              </a:spcAft>
              <a:buSzPct val="100000"/>
              <a:buChar char="•"/>
              <a:lnSpc>
                <a:spcPts val="2200"/>
              </a:lnSpc>
            </a:pPr>
            <a:r>
              <a:rPr sz="2000" b="0">
                <a:solidFill>
                  <a:srgbClr val="333333"/>
                </a:solidFill>
                <a:latin typeface="Calibri"/>
              </a:rPr>
              <a:t>Disparate-impact ratios summarize unequal selection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makes these findings easier to inspect and communicate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7.34 — Combining Views for Bias Screening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7.34 combines a correlation heatmap, approval bars by race</a:t>
            </a:r>
          </a:p>
          <a:p>
            <a:pPr lvl="0" marL="457200" indent="-228600">
              <a:buFont typeface="Calibri"/>
              <a:spcAft>
                <a:spcPts val="1000"/>
              </a:spcAft>
              <a:buSzPct val="100000"/>
              <a:buChar char="•"/>
              <a:lnSpc>
                <a:spcPts val="2200"/>
              </a:lnSpc>
            </a:pPr>
            <a:r>
              <a:rPr sz="2000" b="0">
                <a:solidFill>
                  <a:srgbClr val="333333"/>
                </a:solidFill>
                <a:latin typeface="Calibri"/>
              </a:rPr>
              <a:t>No single view answers the fairness question</a:t>
            </a:r>
          </a:p>
          <a:p>
            <a:pPr lvl="0" marL="457200" indent="-228600">
              <a:buFont typeface="Calibri"/>
              <a:spcAft>
                <a:spcPts val="1000"/>
              </a:spcAft>
              <a:buSzPct val="100000"/>
              <a:buChar char="•"/>
              <a:lnSpc>
                <a:spcPts val="2200"/>
              </a:lnSpc>
            </a:pPr>
            <a:r>
              <a:rPr sz="2000" b="0">
                <a:solidFill>
                  <a:srgbClr val="333333"/>
                </a:solidFill>
                <a:latin typeface="Calibri"/>
              </a:rPr>
              <a:t>Together they show where imbalance is concentrated and which formal tests should follow</a:t>
            </a:r>
          </a:p>
          <a:p>
            <a:pPr lvl="0" marL="457200" indent="-228600">
              <a:buFont typeface="Calibri"/>
              <a:spcAft>
                <a:spcPts val="1000"/>
              </a:spcAft>
              <a:buSzPct val="100000"/>
              <a:buChar char="•"/>
              <a:lnSpc>
                <a:spcPts val="2200"/>
              </a:lnSpc>
            </a:pPr>
            <a:r>
              <a:rPr sz="2000" b="0">
                <a:solidFill>
                  <a:srgbClr val="333333"/>
                </a:solidFill>
                <a:latin typeface="Calibri"/>
              </a:rPr>
              <a:t>A dashboard should organize this sequence rather than display unrelated charts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Heatmaps and dashboards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Heatmaps compactly display correlations or a matrix of subgroup metrics</a:t>
            </a:r>
          </a:p>
          <a:p>
            <a:pPr lvl="0" marL="457200" indent="-228600">
              <a:buFont typeface="Calibri"/>
              <a:spcAft>
                <a:spcPts val="1000"/>
              </a:spcAft>
              <a:buSzPct val="100000"/>
              <a:buChar char="•"/>
              <a:lnSpc>
                <a:spcPts val="2200"/>
              </a:lnSpc>
            </a:pPr>
            <a:r>
              <a:rPr sz="2000" b="0">
                <a:solidFill>
                  <a:srgbClr val="333333"/>
                </a:solidFill>
                <a:latin typeface="Calibri"/>
              </a:rPr>
              <a:t>They can expose proxy relationships and clusters of uneven error</a:t>
            </a:r>
          </a:p>
          <a:p>
            <a:pPr lvl="0" marL="457200" indent="-228600">
              <a:buFont typeface="Calibri"/>
              <a:spcAft>
                <a:spcPts val="1000"/>
              </a:spcAft>
              <a:buSzPct val="100000"/>
              <a:buChar char="•"/>
              <a:lnSpc>
                <a:spcPts val="2200"/>
              </a:lnSpc>
            </a:pPr>
            <a:r>
              <a:rPr sz="2000" b="0">
                <a:solidFill>
                  <a:srgbClr val="333333"/>
                </a:solidFill>
                <a:latin typeface="Calibri"/>
              </a:rPr>
              <a:t>Dashboards add filters, reference rates, sample sizes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7.36 — Bar Chart of Predictions by Demographic Group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7.36 uses bars to compare predictions or selection rates across demographic groups</a:t>
            </a:r>
          </a:p>
          <a:p>
            <a:pPr lvl="0" marL="457200" indent="-228600">
              <a:buFont typeface="Calibri"/>
              <a:spcAft>
                <a:spcPts val="1000"/>
              </a:spcAft>
              <a:buSzPct val="100000"/>
              <a:buChar char="•"/>
              <a:lnSpc>
                <a:spcPts val="2200"/>
              </a:lnSpc>
            </a:pPr>
            <a:r>
              <a:rPr sz="2000" b="0">
                <a:solidFill>
                  <a:srgbClr val="333333"/>
                </a:solidFill>
                <a:latin typeface="Calibri"/>
              </a:rPr>
              <a:t>Rates are usually more informative than raw counts when group sizes differ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7.37 — Income-Race Scatter Plot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7.37 uses a scatter plot to inspect how income values and group membership align</a:t>
            </a:r>
          </a:p>
          <a:p>
            <a:pPr lvl="0" marL="457200" indent="-228600">
              <a:buFont typeface="Calibri"/>
              <a:spcAft>
                <a:spcPts val="1000"/>
              </a:spcAft>
              <a:buSzPct val="100000"/>
              <a:buChar char="•"/>
              <a:lnSpc>
                <a:spcPts val="2200"/>
              </a:lnSpc>
            </a:pPr>
            <a:r>
              <a:rPr sz="2000" b="0">
                <a:solidFill>
                  <a:srgbClr val="333333"/>
                </a:solidFill>
                <a:latin typeface="Calibri"/>
              </a:rPr>
              <a:t>Clustering or separation can suggest historical or measurement patterns</a:t>
            </a:r>
          </a:p>
          <a:p>
            <a:pPr lvl="0" marL="457200" indent="-228600">
              <a:buFont typeface="Calibri"/>
              <a:spcAft>
                <a:spcPts val="1000"/>
              </a:spcAft>
              <a:buSzPct val="100000"/>
              <a:buChar char="•"/>
              <a:lnSpc>
                <a:spcPts val="2200"/>
              </a:lnSpc>
            </a:pPr>
            <a:r>
              <a:rPr sz="2000" b="0">
                <a:solidFill>
                  <a:srgbClr val="333333"/>
                </a:solidFill>
                <a:latin typeface="Calibri"/>
              </a:rPr>
              <a:t>Faceting, transparency, and clear annotations often produce a more honest comparison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Fairness 360</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IBM AI Fairness 360 provides datasets, fairness metrics</a:t>
            </a:r>
          </a:p>
          <a:p>
            <a:pPr lvl="0" marL="457200" indent="-228600">
              <a:buFont typeface="Calibri"/>
              <a:spcAft>
                <a:spcPts val="1000"/>
              </a:spcAft>
              <a:buSzPct val="100000"/>
              <a:buChar char="•"/>
              <a:lnSpc>
                <a:spcPts val="2200"/>
              </a:lnSpc>
            </a:pPr>
            <a:r>
              <a:rPr sz="2000" b="0">
                <a:solidFill>
                  <a:srgbClr val="333333"/>
                </a:solidFill>
                <a:latin typeface="Calibri"/>
              </a:rPr>
              <a:t>It supports measures such as demographic parity and equal opportunity and offers methods</a:t>
            </a:r>
          </a:p>
          <a:p>
            <a:pPr lvl="0" marL="457200" indent="-228600">
              <a:buFont typeface="Calibri"/>
              <a:spcAft>
                <a:spcPts val="1000"/>
              </a:spcAft>
              <a:buSzPct val="100000"/>
              <a:buChar char="•"/>
              <a:lnSpc>
                <a:spcPts val="2200"/>
              </a:lnSpc>
            </a:pPr>
            <a:r>
              <a:rPr sz="2000" b="0">
                <a:solidFill>
                  <a:srgbClr val="333333"/>
                </a:solidFill>
                <a:latin typeface="Calibri"/>
              </a:rPr>
              <a:t>Its breadth is useful when teams need to compare several definitions and interventions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Fairlearn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Fairlearn supports disaggregated model assessment and fairness-aware mitigation in the</a:t>
            </a:r>
          </a:p>
          <a:p>
            <a:pPr lvl="0" marL="457200" indent="-228600">
              <a:buFont typeface="Calibri"/>
              <a:spcAft>
                <a:spcPts val="1000"/>
              </a:spcAft>
              <a:buSzPct val="100000"/>
              <a:buChar char="•"/>
              <a:lnSpc>
                <a:spcPts val="2200"/>
              </a:lnSpc>
            </a:pPr>
            <a:r>
              <a:rPr sz="2000" b="0">
                <a:solidFill>
                  <a:srgbClr val="333333"/>
                </a:solidFill>
                <a:latin typeface="Calibri"/>
              </a:rPr>
              <a:t>Its metric framing approach reports performance by sensitive group</a:t>
            </a:r>
          </a:p>
          <a:p>
            <a:pPr lvl="0" marL="457200" indent="-228600">
              <a:buFont typeface="Calibri"/>
              <a:spcAft>
                <a:spcPts val="1000"/>
              </a:spcAft>
              <a:buSzPct val="100000"/>
              <a:buChar char="•"/>
              <a:lnSpc>
                <a:spcPts val="2200"/>
              </a:lnSpc>
            </a:pPr>
            <a:r>
              <a:rPr sz="2000" b="0">
                <a:solidFill>
                  <a:srgbClr val="333333"/>
                </a:solidFill>
                <a:latin typeface="Calibri"/>
              </a:rPr>
              <a:t>The toolkit does not choose the ethically appropriate metric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Dashboards connect these views with context</a:t>
            </a:r>
          </a:p>
          <a:p>
            <a:pPr lvl="0" marL="457200" indent="-228600">
              <a:buFont typeface="Calibri"/>
              <a:spcAft>
                <a:spcPts val="1000"/>
              </a:spcAft>
              <a:buSzPct val="100000"/>
              <a:buChar char="•"/>
              <a:lnSpc>
                <a:spcPts val="2200"/>
              </a:lnSpc>
            </a:pPr>
            <a:r>
              <a:rPr sz="2000" b="0">
                <a:solidFill>
                  <a:srgbClr val="333333"/>
                </a:solidFill>
                <a:latin typeface="Calibri"/>
              </a:rPr>
              <a:t>Visual differences are screening evidence rather than causal conclusions</a:t>
            </a:r>
          </a:p>
          <a:p>
            <a:pPr lvl="0" marL="457200" indent="-228600">
              <a:buFont typeface="Calibri"/>
              <a:spcAft>
                <a:spcPts val="1000"/>
              </a:spcAft>
              <a:buSzPct val="100000"/>
              <a:buChar char="•"/>
              <a:lnSpc>
                <a:spcPts val="2200"/>
              </a:lnSpc>
            </a:pPr>
            <a:r>
              <a:rPr sz="2000" b="0">
                <a:solidFill>
                  <a:srgbClr val="333333"/>
                </a:solidFill>
                <a:latin typeface="Calibri"/>
              </a:rPr>
              <a:t>AI Fairness 360 and Fairlearn make metrics and interventions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examines why these disparities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Inequitable Treatment in Credit and Justice Decisions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7.38 illustrates the ethical impact of unequal treatment</a:t>
            </a:r>
          </a:p>
          <a:p>
            <a:pPr lvl="0" marL="457200" indent="-228600">
              <a:buFont typeface="Calibri"/>
              <a:spcAft>
                <a:spcPts val="1000"/>
              </a:spcAft>
              <a:buSzPct val="100000"/>
              <a:buChar char="•"/>
              <a:lnSpc>
                <a:spcPts val="2200"/>
              </a:lnSpc>
            </a:pPr>
            <a:r>
              <a:rPr sz="2000" b="0">
                <a:solidFill>
                  <a:srgbClr val="333333"/>
                </a:solidFill>
                <a:latin typeface="Calibri"/>
              </a:rPr>
              <a:t>While biased justice data may produce unfair risk assessments</a:t>
            </a:r>
          </a:p>
          <a:p>
            <a:pPr lvl="0" marL="457200" indent="-228600">
              <a:buFont typeface="Calibri"/>
              <a:spcAft>
                <a:spcPts val="1000"/>
              </a:spcAft>
              <a:buSzPct val="100000"/>
              <a:buChar char="•"/>
              <a:lnSpc>
                <a:spcPts val="2200"/>
              </a:lnSpc>
            </a:pPr>
            <a:r>
              <a:rPr sz="2000" b="0">
                <a:solidFill>
                  <a:srgbClr val="333333"/>
                </a:solidFill>
                <a:latin typeface="Calibri"/>
              </a:rPr>
              <a:t>Such errors affect opportunities and liberty</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7.38 — enforcing demographic parity on loan approvals and its</a:t>
            </a:r>
          </a:p>
          <a:p>
            <a:pPr>
              <a:lnSpc>
                <a:spcPts val="2200"/>
              </a:lnSpc>
              <a:spcAft>
                <a:spcPts val="400"/>
              </a:spcAft>
            </a:pPr>
            <a:r>
              <a:rPr sz="2000" b="0">
                <a:solidFill>
                  <a:srgbClr val="333333"/>
                </a:solidFill>
                <a:latin typeface="Consolas"/>
              </a:rPr>
              <a:t>accuracy cost."""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Applicant = tuple[str, float, int]  # (group, score, actually_repays)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approve(data: list[Applicant], thresholds: dict[str, float]) -&gt;</a:t>
            </a:r>
          </a:p>
          <a:p>
            <a:pPr>
              <a:lnSpc>
                <a:spcPts val="2200"/>
              </a:lnSpc>
              <a:spcAft>
                <a:spcPts val="400"/>
              </a:spcAft>
            </a:pPr>
            <a:r>
              <a:rPr sz="2000" b="0">
                <a:solidFill>
                  <a:srgbClr val="333333"/>
                </a:solidFill>
                <a:latin typeface="Consolas"/>
              </a:rPr>
              <a:t>tuple[float, dict[str, float], float]:</a:t>
            </a:r>
          </a:p>
          <a:p>
            <a:pPr>
              <a:lnSpc>
                <a:spcPts val="2200"/>
              </a:lnSpc>
              <a:spcAft>
                <a:spcPts val="400"/>
              </a:spcAft>
            </a:pPr>
            <a:r>
              <a:rPr sz="2000" b="0">
                <a:solidFill>
                  <a:srgbClr val="333333"/>
                </a:solidFill>
                <a:latin typeface="Consolas"/>
              </a:rPr>
              <a:t>    """Return (accuracy, approval rate per group, default rate among</a:t>
            </a:r>
          </a:p>
          <a:p>
            <a:pPr>
              <a:lnSpc>
                <a:spcPts val="2200"/>
              </a:lnSpc>
              <a:spcAft>
                <a:spcPts val="400"/>
              </a:spcAft>
            </a:pPr>
            <a:r>
              <a:rPr sz="2000" b="0">
                <a:solidFill>
                  <a:srgbClr val="333333"/>
                </a:solidFill>
                <a:latin typeface="Consolas"/>
              </a:rPr>
              <a:t>approved)."""</a:t>
            </a:r>
          </a:p>
          <a:p>
            <a:pPr>
              <a:lnSpc>
                <a:spcPts val="2200"/>
              </a:lnSpc>
              <a:spcAft>
                <a:spcPts val="400"/>
              </a:spcAft>
            </a:pPr>
            <a:r>
              <a:rPr sz="2000" b="0">
                <a:solidFill>
                  <a:srgbClr val="333333"/>
                </a:solidFill>
                <a:latin typeface="Consolas"/>
              </a:rPr>
              <a:t>    correct = 0</a:t>
            </a:r>
          </a:p>
          <a:p>
            <a:pPr>
              <a:lnSpc>
                <a:spcPts val="2200"/>
              </a:lnSpc>
              <a:spcAft>
                <a:spcPts val="400"/>
              </a:spcAft>
            </a:pPr>
            <a:r>
              <a:rPr sz="2000" b="0">
                <a:solidFill>
                  <a:srgbClr val="333333"/>
                </a:solidFill>
                <a:latin typeface="Consolas"/>
              </a:rPr>
              <a:t>    approved: dict[str, int] = {"A": 0, "B": 0}</a:t>
            </a:r>
          </a:p>
          <a:p>
            <a:pPr>
              <a:lnSpc>
                <a:spcPts val="2200"/>
              </a:lnSpc>
              <a:spcAft>
                <a:spcPts val="400"/>
              </a:spcAft>
            </a:pPr>
            <a:r>
              <a:rPr sz="2000" b="0">
                <a:solidFill>
                  <a:srgbClr val="333333"/>
                </a:solidFill>
                <a:latin typeface="Consolas"/>
              </a:rPr>
              <a:t>    counts: dict[str, int] = {"A": 0, "B": 0}</a:t>
            </a:r>
          </a:p>
          <a:p>
            <a:pPr>
              <a:lnSpc>
                <a:spcPts val="2200"/>
              </a:lnSpc>
              <a:spcAft>
                <a:spcPts val="400"/>
              </a:spcAft>
            </a:pPr>
            <a:r>
              <a:rPr sz="2000" b="0">
                <a:solidFill>
                  <a:srgbClr val="333333"/>
                </a:solidFill>
                <a:latin typeface="Consolas"/>
              </a:rPr>
              <a:t>    approved_total = 0</a:t>
            </a:r>
          </a:p>
          <a:p>
            <a:pPr>
              <a:lnSpc>
                <a:spcPts val="2200"/>
              </a:lnSpc>
              <a:spcAft>
                <a:spcPts val="400"/>
              </a:spcAft>
            </a:pPr>
            <a:r>
              <a:rPr sz="2000" b="0">
                <a:solidFill>
                  <a:srgbClr val="333333"/>
                </a:solidFill>
                <a:latin typeface="Consolas"/>
              </a:rPr>
              <a:t>    approved_defaults = 0</a:t>
            </a:r>
          </a:p>
          <a:p>
            <a:pPr>
              <a:lnSpc>
                <a:spcPts val="2200"/>
              </a:lnSpc>
              <a:spcAft>
                <a:spcPts val="400"/>
              </a:spcAft>
            </a:pPr>
            <a:r>
              <a:rPr sz="2000" b="0">
                <a:solidFill>
                  <a:srgbClr val="333333"/>
                </a:solidFill>
                <a:latin typeface="Consolas"/>
              </a:rPr>
              <a:t>    for group, score, repays in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7.40 — Amplification of Policing and Hiring Disparities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7.40 shows social amplification</a:t>
            </a:r>
          </a:p>
          <a:p>
            <a:pPr lvl="0" marL="457200" indent="-228600">
              <a:buFont typeface="Calibri"/>
              <a:spcAft>
                <a:spcPts val="1000"/>
              </a:spcAft>
              <a:buSzPct val="100000"/>
              <a:buChar char="•"/>
              <a:lnSpc>
                <a:spcPts val="2200"/>
              </a:lnSpc>
            </a:pPr>
            <a:r>
              <a:rPr sz="2000" b="0">
                <a:solidFill>
                  <a:srgbClr val="333333"/>
                </a:solidFill>
                <a:latin typeface="Calibri"/>
              </a:rPr>
              <a:t>Which then directs still more policing there</a:t>
            </a:r>
          </a:p>
          <a:p>
            <a:pPr lvl="0" marL="457200" indent="-228600">
              <a:buFont typeface="Calibri"/>
              <a:spcAft>
                <a:spcPts val="1000"/>
              </a:spcAft>
              <a:buSzPct val="100000"/>
              <a:buChar char="•"/>
              <a:lnSpc>
                <a:spcPts val="2200"/>
              </a:lnSpc>
            </a:pPr>
            <a:r>
              <a:rPr sz="2000" b="0">
                <a:solidFill>
                  <a:srgbClr val="333333"/>
                </a:solidFill>
                <a:latin typeface="Calibri"/>
              </a:rPr>
              <a:t>Historical hiring patterns can similarly teach a ranking system to favor men</a:t>
            </a:r>
          </a:p>
          <a:p>
            <a:pPr lvl="0" marL="457200" indent="-228600">
              <a:buFont typeface="Calibri"/>
              <a:spcAft>
                <a:spcPts val="1000"/>
              </a:spcAft>
              <a:buSzPct val="100000"/>
              <a:buChar char="•"/>
              <a:lnSpc>
                <a:spcPts val="2200"/>
              </a:lnSpc>
            </a:pPr>
            <a:r>
              <a:rPr sz="2000" b="0">
                <a:solidFill>
                  <a:srgbClr val="333333"/>
                </a:solidFill>
                <a:latin typeface="Calibri"/>
              </a:rPr>
              <a:t>Repeated automated decisions scale and reinforce the pattern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7.42 — Compliance Exposure Under GDPR and CCPA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7.42 connects unfair outcomes with legal and regulatory exposure</a:t>
            </a:r>
          </a:p>
          <a:p>
            <a:pPr lvl="0" marL="457200" indent="-228600">
              <a:buFont typeface="Calibri"/>
              <a:spcAft>
                <a:spcPts val="1000"/>
              </a:spcAft>
              <a:buSzPct val="100000"/>
              <a:buChar char="•"/>
              <a:lnSpc>
                <a:spcPts val="2200"/>
              </a:lnSpc>
            </a:pPr>
            <a:r>
              <a:rPr sz="2000" b="0">
                <a:solidFill>
                  <a:srgbClr val="333333"/>
                </a:solidFill>
                <a:latin typeface="Calibri"/>
              </a:rPr>
              <a:t>Recruitment and credit systems must comply with anti-discrimination duties</a:t>
            </a:r>
          </a:p>
          <a:p>
            <a:pPr lvl="0" marL="457200" indent="-228600">
              <a:buFont typeface="Calibri"/>
              <a:spcAft>
                <a:spcPts val="1000"/>
              </a:spcAft>
              <a:buSzPct val="100000"/>
              <a:buChar char="•"/>
              <a:lnSpc>
                <a:spcPts val="2200"/>
              </a:lnSpc>
            </a:pPr>
            <a:r>
              <a:rPr sz="2000" b="0">
                <a:solidFill>
                  <a:srgbClr val="333333"/>
                </a:solidFill>
                <a:latin typeface="Calibri"/>
              </a:rPr>
              <a:t>Organizations need more than a claim of neutral intent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7.45 — Financial Penalties from Biased Hiring and Credit Syst…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7.45 presents the business consequences</a:t>
            </a:r>
          </a:p>
          <a:p>
            <a:pPr lvl="0" marL="457200" indent="-228600">
              <a:buFont typeface="Calibri"/>
              <a:spcAft>
                <a:spcPts val="1000"/>
              </a:spcAft>
              <a:buSzPct val="100000"/>
              <a:buChar char="•"/>
              <a:lnSpc>
                <a:spcPts val="2200"/>
              </a:lnSpc>
            </a:pPr>
            <a:r>
              <a:rPr sz="2000" b="0">
                <a:solidFill>
                  <a:srgbClr val="333333"/>
                </a:solidFill>
                <a:latin typeface="Calibri"/>
              </a:rPr>
              <a:t>Lasting reputational damage</a:t>
            </a:r>
          </a:p>
          <a:p>
            <a:pPr lvl="0" marL="457200" indent="-228600">
              <a:buFont typeface="Calibri"/>
              <a:spcAft>
                <a:spcPts val="1000"/>
              </a:spcAft>
              <a:buSzPct val="100000"/>
              <a:buChar char="•"/>
              <a:lnSpc>
                <a:spcPts val="2200"/>
              </a:lnSpc>
            </a:pPr>
            <a:r>
              <a:rPr sz="2000" b="0">
                <a:solidFill>
                  <a:srgbClr val="333333"/>
                </a:solidFill>
                <a:latin typeface="Calibri"/>
              </a:rPr>
              <a:t>Fairness investment can therefore reduce risk and protect market legitimacy</a:t>
            </a:r>
          </a:p>
          <a:p>
            <a:pPr lvl="0" marL="457200" indent="-228600">
              <a:buFont typeface="Calibri"/>
              <a:spcAft>
                <a:spcPts val="1000"/>
              </a:spcAft>
              <a:buSzPct val="100000"/>
              <a:buChar char="•"/>
              <a:lnSpc>
                <a:spcPts val="2200"/>
              </a:lnSpc>
            </a:pPr>
            <a:r>
              <a:rPr sz="2000" b="0">
                <a:solidFill>
                  <a:srgbClr val="333333"/>
                </a:solidFill>
                <a:latin typeface="Calibri"/>
              </a:rPr>
              <a:t>Delayed mitigation is often more expensive because deployed decisions and public harms are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COMPAS bridge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Recidivism risk assessment provides a bridge across all four dimensions</a:t>
            </a:r>
          </a:p>
          <a:p>
            <a:pPr lvl="0" marL="457200" indent="-228600">
              <a:buFont typeface="Calibri"/>
              <a:spcAft>
                <a:spcPts val="1000"/>
              </a:spcAft>
              <a:buSzPct val="100000"/>
              <a:buChar char="•"/>
              <a:lnSpc>
                <a:spcPts val="2200"/>
              </a:lnSpc>
            </a:pPr>
            <a:r>
              <a:rPr sz="2000" b="0">
                <a:solidFill>
                  <a:srgbClr val="333333"/>
                </a:solidFill>
                <a:latin typeface="Calibri"/>
              </a:rPr>
              <a:t>Weaken institutional legitimacy</a:t>
            </a:r>
          </a:p>
          <a:p>
            <a:pPr lvl="0" marL="457200" indent="-228600">
              <a:buFont typeface="Calibri"/>
              <a:spcAft>
                <a:spcPts val="1000"/>
              </a:spcAft>
              <a:buSzPct val="100000"/>
              <a:buChar char="•"/>
              <a:lnSpc>
                <a:spcPts val="2200"/>
              </a:lnSpc>
            </a:pPr>
            <a:r>
              <a:rPr sz="2000" b="0">
                <a:solidFill>
                  <a:srgbClr val="333333"/>
                </a:solidFill>
                <a:latin typeface="Calibri"/>
              </a:rPr>
              <a:t>Overall accuracy does not settle these issues because false positives and false negatives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impact to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Monitoring after deployment</a:t>
            </a:r>
          </a:p>
          <a:p>
            <a:pPr lvl="0" marL="457200" indent="-228600">
              <a:buFont typeface="Calibri"/>
              <a:spcAft>
                <a:spcPts val="1000"/>
              </a:spcAft>
              <a:buSzPct val="100000"/>
              <a:buChar char="•"/>
              <a:lnSpc>
                <a:spcPts val="2200"/>
              </a:lnSpc>
            </a:pPr>
            <a:r>
              <a:rPr sz="2000" b="0">
                <a:solidFill>
                  <a:srgbClr val="333333"/>
                </a:solidFill>
                <a:latin typeface="Calibri"/>
              </a:rPr>
              <a:t>Impact assessments should ask who can be harmed, how severe and reversible the harm is</a:t>
            </a:r>
          </a:p>
          <a:p>
            <a:pPr lvl="0" marL="457200" indent="-228600">
              <a:buFont typeface="Calibri"/>
              <a:spcAft>
                <a:spcPts val="1000"/>
              </a:spcAft>
              <a:buSzPct val="100000"/>
              <a:buChar char="•"/>
              <a:lnSpc>
                <a:spcPts val="2200"/>
              </a:lnSpc>
            </a:pPr>
            <a:r>
              <a:rPr sz="2000" b="0">
                <a:solidFill>
                  <a:srgbClr val="333333"/>
                </a:solidFill>
                <a:latin typeface="Calibri"/>
              </a:rPr>
              <a:t>These questions connect technical metrics to organizational responsibility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Ethical impacts concern justice and individual treatment</a:t>
            </a:r>
          </a:p>
          <a:p>
            <a:pPr lvl="0" marL="457200" indent="-228600">
              <a:buFont typeface="Calibri"/>
              <a:spcAft>
                <a:spcPts val="1000"/>
              </a:spcAft>
              <a:buSzPct val="100000"/>
              <a:buChar char="•"/>
              <a:lnSpc>
                <a:spcPts val="2200"/>
              </a:lnSpc>
            </a:pPr>
            <a:r>
              <a:rPr sz="2000" b="0">
                <a:solidFill>
                  <a:srgbClr val="333333"/>
                </a:solidFill>
                <a:latin typeface="Calibri"/>
              </a:rPr>
              <a:t>Social impacts concern stereotypes, feedback loops, and unequal access</a:t>
            </a:r>
          </a:p>
          <a:p>
            <a:pPr lvl="0" marL="457200" indent="-228600">
              <a:buFont typeface="Calibri"/>
              <a:spcAft>
                <a:spcPts val="1000"/>
              </a:spcAft>
              <a:buSzPct val="100000"/>
              <a:buChar char="•"/>
              <a:lnSpc>
                <a:spcPts val="2200"/>
              </a:lnSpc>
            </a:pPr>
            <a:r>
              <a:rPr sz="2000" b="0">
                <a:solidFill>
                  <a:srgbClr val="333333"/>
                </a:solidFill>
                <a:latin typeface="Calibri"/>
              </a:rPr>
              <a:t>Legal impacts concern rights, discrimination, privacy, and explainability</a:t>
            </a:r>
          </a:p>
          <a:p>
            <a:pPr lvl="0" marL="457200" indent="-228600">
              <a:buFont typeface="Calibri"/>
              <a:spcAft>
                <a:spcPts val="1000"/>
              </a:spcAft>
              <a:buSzPct val="100000"/>
              <a:buChar char="•"/>
              <a:lnSpc>
                <a:spcPts val="2200"/>
              </a:lnSpc>
            </a:pPr>
            <a:r>
              <a:rPr sz="2000" b="0">
                <a:solidFill>
                  <a:srgbClr val="333333"/>
                </a:solidFill>
                <a:latin typeface="Calibri"/>
              </a:rPr>
              <a:t>Business impacts include cost, reputation, and legitimacy</a:t>
            </a:r>
          </a:p>
          <a:p>
            <a:pPr lvl="0" marL="457200" indent="-228600">
              <a:buFont typeface="Calibri"/>
              <a:spcAft>
                <a:spcPts val="1000"/>
              </a:spcAft>
              <a:buSzPct val="100000"/>
              <a:buChar char="•"/>
              <a:lnSpc>
                <a:spcPts val="2200"/>
              </a:lnSpc>
            </a:pPr>
            <a:r>
              <a:rPr sz="2000" b="0">
                <a:solidFill>
                  <a:srgbClr val="333333"/>
                </a:solidFill>
                <a:latin typeface="Calibri"/>
              </a:rPr>
              <a:t>A single disparity can cross all four dimensions, especially in consequential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asks what fairness should mean in measurable terms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Connect metric choices to transparency, accountability, and inclusivity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7.47 — Consistent Criteria in Hiring Decisions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7.47 illustrates procedural fairness</a:t>
            </a:r>
          </a:p>
          <a:p>
            <a:pPr lvl="0" marL="457200" indent="-228600">
              <a:buFont typeface="Calibri"/>
              <a:spcAft>
                <a:spcPts val="1000"/>
              </a:spcAft>
              <a:buSzPct val="100000"/>
              <a:buChar char="•"/>
              <a:lnSpc>
                <a:spcPts val="2200"/>
              </a:lnSpc>
            </a:pPr>
            <a:r>
              <a:rPr sz="2000" b="0">
                <a:solidFill>
                  <a:srgbClr val="333333"/>
                </a:solidFill>
                <a:latin typeface="Calibri"/>
              </a:rPr>
              <a:t>Every candidate should be evaluated with consistent, relevant criteria</a:t>
            </a:r>
          </a:p>
          <a:p>
            <a:pPr lvl="0" marL="457200" indent="-228600">
              <a:buFont typeface="Calibri"/>
              <a:spcAft>
                <a:spcPts val="1000"/>
              </a:spcAft>
              <a:buSzPct val="100000"/>
              <a:buChar char="•"/>
              <a:lnSpc>
                <a:spcPts val="2200"/>
              </a:lnSpc>
            </a:pPr>
            <a:r>
              <a:rPr sz="2000" b="0">
                <a:solidFill>
                  <a:srgbClr val="333333"/>
                </a:solidFill>
                <a:latin typeface="Calibri"/>
              </a:rPr>
              <a:t>Opportunities to challenge an error, even before group outcome rates are compared</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7.48 — Outcome Fairness in Predictive Policing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7.48 illustrates outcome fairness</a:t>
            </a:r>
          </a:p>
          <a:p>
            <a:pPr lvl="0" marL="457200" indent="-228600">
              <a:buFont typeface="Calibri"/>
              <a:spcAft>
                <a:spcPts val="1000"/>
              </a:spcAft>
              <a:buSzPct val="100000"/>
              <a:buChar char="•"/>
              <a:lnSpc>
                <a:spcPts val="2200"/>
              </a:lnSpc>
            </a:pPr>
            <a:r>
              <a:rPr sz="2000" b="0">
                <a:solidFill>
                  <a:srgbClr val="333333"/>
                </a:solidFill>
                <a:latin typeface="Calibri"/>
              </a:rPr>
              <a:t>A predictive policing system should not disproportionately target minority communities or</a:t>
            </a:r>
          </a:p>
          <a:p>
            <a:pPr lvl="0" marL="457200" indent="-228600">
              <a:buFont typeface="Calibri"/>
              <a:spcAft>
                <a:spcPts val="1000"/>
              </a:spcAft>
              <a:buSzPct val="100000"/>
              <a:buChar char="•"/>
              <a:lnSpc>
                <a:spcPts val="2200"/>
              </a:lnSpc>
            </a:pPr>
            <a:r>
              <a:rPr sz="2000" b="0">
                <a:solidFill>
                  <a:srgbClr val="333333"/>
                </a:solidFill>
                <a:latin typeface="Calibri"/>
              </a:rPr>
              <a:t>Outcome fairness compares results across groups</a:t>
            </a:r>
          </a:p>
          <a:p>
            <a:pPr lvl="0" marL="457200" indent="-228600">
              <a:buFont typeface="Calibri"/>
              <a:spcAft>
                <a:spcPts val="1000"/>
              </a:spcAft>
              <a:buSzPct val="100000"/>
              <a:buChar char="•"/>
              <a:lnSpc>
                <a:spcPts val="2200"/>
              </a:lnSpc>
            </a:pPr>
            <a:r>
              <a:rPr sz="2000" b="0">
                <a:solidFill>
                  <a:srgbClr val="333333"/>
                </a:solidFill>
                <a:latin typeface="Calibri"/>
              </a:rPr>
              <a:t>Procedural and outcome evidence should therefore be examined together</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Accuracy and fairness trade-offs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 accuracy-maximizing threshold may distribute false positives and false negatives</a:t>
            </a:r>
          </a:p>
          <a:p>
            <a:pPr lvl="0" marL="457200" indent="-228600">
              <a:buFont typeface="Calibri"/>
              <a:spcAft>
                <a:spcPts val="1000"/>
              </a:spcAft>
              <a:buSzPct val="100000"/>
              <a:buChar char="•"/>
              <a:lnSpc>
                <a:spcPts val="2200"/>
              </a:lnSpc>
            </a:pPr>
            <a:r>
              <a:rPr sz="2000" b="0">
                <a:solidFill>
                  <a:srgbClr val="333333"/>
                </a:solidFill>
                <a:latin typeface="Calibri"/>
              </a:rPr>
              <a:t>Adding a fairness constraint or changing thresholds can reduce that disparity while</a:t>
            </a:r>
          </a:p>
          <a:p>
            <a:pPr lvl="0" marL="457200" indent="-228600">
              <a:buFont typeface="Calibri"/>
              <a:spcAft>
                <a:spcPts val="1000"/>
              </a:spcAft>
              <a:buSzPct val="100000"/>
              <a:buChar char="•"/>
              <a:lnSpc>
                <a:spcPts val="2200"/>
              </a:lnSpc>
            </a:pPr>
            <a:r>
              <a:rPr sz="2000" b="0">
                <a:solidFill>
                  <a:srgbClr val="333333"/>
                </a:solidFill>
                <a:latin typeface="Calibri"/>
              </a:rPr>
              <a:t>This is not evidence that fairness is a defect</a:t>
            </a:r>
          </a:p>
          <a:p>
            <a:pPr lvl="0" marL="457200" indent="-228600">
              <a:buFont typeface="Calibri"/>
              <a:spcAft>
                <a:spcPts val="1000"/>
              </a:spcAft>
              <a:buSzPct val="100000"/>
              <a:buChar char="•"/>
              <a:lnSpc>
                <a:spcPts val="2200"/>
              </a:lnSpc>
            </a:pPr>
            <a:r>
              <a:rPr sz="2000" b="0">
                <a:solidFill>
                  <a:srgbClr val="333333"/>
                </a:solidFill>
                <a:latin typeface="Calibri"/>
              </a:rPr>
              <a:t>It reveals that optimization has multiple objectives and that error costs, rights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7.50 — Demographic Parity Reducing Loan Default Prediction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7.50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7.50 shows a loan system adjusted toward equal approval rates across racial groups</a:t>
            </a:r>
          </a:p>
          <a:p>
            <a:pPr lvl="0" marL="457200" indent="-228600">
              <a:buFont typeface="Calibri"/>
              <a:spcAft>
                <a:spcPts val="1000"/>
              </a:spcAft>
              <a:buSzPct val="100000"/>
              <a:buChar char="•"/>
              <a:lnSpc>
                <a:spcPts val="2200"/>
              </a:lnSpc>
            </a:pPr>
            <a:r>
              <a:rPr sz="2000" b="0">
                <a:solidFill>
                  <a:srgbClr val="333333"/>
                </a:solidFill>
                <a:latin typeface="Calibri"/>
              </a:rPr>
              <a:t>The adjustment may reduce default-prediction accuracy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`modules/chapter7/example50/`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Equalized odds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Equalized odds seeks comparable false-positive and true-positive rates across groups</a:t>
            </a:r>
          </a:p>
          <a:p>
            <a:pPr lvl="0" marL="457200" indent="-228600">
              <a:buFont typeface="Calibri"/>
              <a:spcAft>
                <a:spcPts val="1000"/>
              </a:spcAft>
              <a:buSzPct val="100000"/>
              <a:buChar char="•"/>
              <a:lnSpc>
                <a:spcPts val="2200"/>
              </a:lnSpc>
            </a:pPr>
            <a:r>
              <a:rPr sz="2000" b="0">
                <a:solidFill>
                  <a:srgbClr val="333333"/>
                </a:solidFill>
                <a:latin typeface="Calibri"/>
              </a:rPr>
              <a:t>It is especially relevant when both kinds of error carry serious consequences</a:t>
            </a:r>
          </a:p>
          <a:p>
            <a:pPr lvl="0" marL="457200" indent="-228600">
              <a:buFont typeface="Calibri"/>
              <a:spcAft>
                <a:spcPts val="1000"/>
              </a:spcAft>
              <a:buSzPct val="100000"/>
              <a:buChar char="•"/>
              <a:lnSpc>
                <a:spcPts val="2200"/>
              </a:lnSpc>
            </a:pPr>
            <a:r>
              <a:rPr sz="2000" b="0">
                <a:solidFill>
                  <a:srgbClr val="333333"/>
                </a:solidFill>
                <a:latin typeface="Calibri"/>
              </a:rPr>
              <a:t>Achieving it may require group-aware constraints or post-processing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Calibration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Calibration asks whether a predicted probability has the same empirical meaning across</a:t>
            </a:r>
          </a:p>
          <a:p>
            <a:pPr lvl="0" marL="457200" indent="-228600">
              <a:buFont typeface="Calibri"/>
              <a:spcAft>
                <a:spcPts val="1000"/>
              </a:spcAft>
              <a:buSzPct val="100000"/>
              <a:buChar char="•"/>
              <a:lnSpc>
                <a:spcPts val="2200"/>
              </a:lnSpc>
            </a:pPr>
            <a:r>
              <a:rPr sz="2000" b="0">
                <a:solidFill>
                  <a:srgbClr val="333333"/>
                </a:solidFill>
                <a:latin typeface="Calibri"/>
              </a:rPr>
              <a:t>If a system assigns a seventy-percent probability</a:t>
            </a:r>
          </a:p>
          <a:p>
            <a:pPr lvl="0" marL="457200" indent="-228600">
              <a:buFont typeface="Calibri"/>
              <a:spcAft>
                <a:spcPts val="1000"/>
              </a:spcAft>
              <a:buSzPct val="100000"/>
              <a:buChar char="•"/>
              <a:lnSpc>
                <a:spcPts val="2200"/>
              </a:lnSpc>
            </a:pPr>
            <a:r>
              <a:rPr sz="2000" b="0">
                <a:solidFill>
                  <a:srgbClr val="333333"/>
                </a:solidFill>
                <a:latin typeface="Calibri"/>
              </a:rPr>
              <a:t>Calibration supports interpretable risk scores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principles around metrics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Transparency explains the data, criteria, limitations, and trade-offs</a:t>
            </a:r>
          </a:p>
          <a:p>
            <a:pPr lvl="0" marL="457200" indent="-228600">
              <a:buFont typeface="Calibri"/>
              <a:spcAft>
                <a:spcPts val="1000"/>
              </a:spcAft>
              <a:buSzPct val="100000"/>
              <a:buChar char="•"/>
              <a:lnSpc>
                <a:spcPts val="2200"/>
              </a:lnSpc>
            </a:pPr>
            <a:r>
              <a:rPr sz="2000" b="0">
                <a:solidFill>
                  <a:srgbClr val="333333"/>
                </a:solidFill>
                <a:latin typeface="Calibri"/>
              </a:rPr>
              <a:t>Accountability assigns responsibility for audits, complaints, and correction</a:t>
            </a:r>
          </a:p>
          <a:p>
            <a:pPr lvl="0" marL="457200" indent="-228600">
              <a:buFont typeface="Calibri"/>
              <a:spcAft>
                <a:spcPts val="1000"/>
              </a:spcAft>
              <a:buSzPct val="100000"/>
              <a:buChar char="•"/>
              <a:lnSpc>
                <a:spcPts val="2200"/>
              </a:lnSpc>
            </a:pPr>
            <a:r>
              <a:rPr sz="2000" b="0">
                <a:solidFill>
                  <a:srgbClr val="333333"/>
                </a:solidFill>
                <a:latin typeface="Calibri"/>
              </a:rPr>
              <a:t>Inclusivity brings affected groups into design and evaluation</a:t>
            </a:r>
          </a:p>
          <a:p>
            <a:pPr lvl="0" marL="457200" indent="-228600">
              <a:buFont typeface="Calibri"/>
              <a:spcAft>
                <a:spcPts val="1000"/>
              </a:spcAft>
              <a:buSzPct val="100000"/>
              <a:buChar char="•"/>
              <a:lnSpc>
                <a:spcPts val="2200"/>
              </a:lnSpc>
            </a:pPr>
            <a:r>
              <a:rPr sz="2000" b="0">
                <a:solidFill>
                  <a:srgbClr val="333333"/>
                </a:solidFill>
                <a:latin typeface="Calibri"/>
              </a:rPr>
              <a:t>These principles prevent metric selection from becoming a purely technical exercise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Procedural fairness evaluates the decision process</a:t>
            </a:r>
          </a:p>
          <a:p>
            <a:pPr lvl="0" marL="457200" indent="-228600">
              <a:buFont typeface="Calibri"/>
              <a:spcAft>
                <a:spcPts val="1000"/>
              </a:spcAft>
              <a:buSzPct val="100000"/>
              <a:buChar char="•"/>
              <a:lnSpc>
                <a:spcPts val="2200"/>
              </a:lnSpc>
            </a:pPr>
            <a:r>
              <a:rPr sz="2000" b="0">
                <a:solidFill>
                  <a:srgbClr val="333333"/>
                </a:solidFill>
                <a:latin typeface="Calibri"/>
              </a:rPr>
              <a:t>Not abstract</a:t>
            </a:r>
          </a:p>
          <a:p>
            <a:pPr lvl="0" marL="457200" indent="-228600">
              <a:buFont typeface="Calibri"/>
              <a:spcAft>
                <a:spcPts val="1000"/>
              </a:spcAft>
              <a:buSzPct val="100000"/>
              <a:buChar char="•"/>
              <a:lnSpc>
                <a:spcPts val="2200"/>
              </a:lnSpc>
            </a:pPr>
            <a:r>
              <a:rPr sz="2000" b="0">
                <a:solidFill>
                  <a:srgbClr val="333333"/>
                </a:solidFill>
                <a:latin typeface="Calibri"/>
              </a:rPr>
              <a:t>Equalized odds compares error rates, calibration compares probability meaning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turns fairness definitions into interventions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Select an intervention using evidence rather than convenience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reweighting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Reweighting changes how strongly training instances influence learning</a:t>
            </a:r>
          </a:p>
          <a:p>
            <a:pPr lvl="0" marL="457200" indent="-228600">
              <a:buFont typeface="Calibri"/>
              <a:spcAft>
                <a:spcPts val="1000"/>
              </a:spcAft>
              <a:buSzPct val="100000"/>
              <a:buChar char="•"/>
              <a:lnSpc>
                <a:spcPts val="2200"/>
              </a:lnSpc>
            </a:pPr>
            <a:r>
              <a:rPr sz="2000" b="0">
                <a:solidFill>
                  <a:srgbClr val="333333"/>
                </a:solidFill>
                <a:latin typeface="Calibri"/>
              </a:rPr>
              <a:t>Underrepresented groups can receive greater weight so that the majority group does not</a:t>
            </a:r>
          </a:p>
          <a:p>
            <a:pPr lvl="0" marL="457200" indent="-228600">
              <a:buFont typeface="Calibri"/>
              <a:spcAft>
                <a:spcPts val="1000"/>
              </a:spcAft>
              <a:buSzPct val="100000"/>
              <a:buChar char="•"/>
              <a:lnSpc>
                <a:spcPts val="2200"/>
              </a:lnSpc>
            </a:pPr>
            <a:r>
              <a:rPr sz="2000" b="0">
                <a:solidFill>
                  <a:srgbClr val="333333"/>
                </a:solidFill>
                <a:latin typeface="Calibri"/>
              </a:rPr>
              <a:t>This approach preserves records while changing their contribution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feature treatment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Sensitive or strongly biased features may be removed</a:t>
            </a:r>
          </a:p>
          <a:p>
            <a:pPr lvl="0" marL="457200" indent="-228600">
              <a:buFont typeface="Calibri"/>
              <a:spcAft>
                <a:spcPts val="1000"/>
              </a:spcAft>
              <a:buSzPct val="100000"/>
              <a:buChar char="•"/>
              <a:lnSpc>
                <a:spcPts val="2200"/>
              </a:lnSpc>
            </a:pPr>
            <a:r>
              <a:rPr sz="2000" b="0">
                <a:solidFill>
                  <a:srgbClr val="333333"/>
                </a:solidFill>
                <a:latin typeface="Calibri"/>
              </a:rPr>
              <a:t>Simple removal is not a guarantee of fairness because names, neighborhoods, schools</a:t>
            </a:r>
          </a:p>
          <a:p>
            <a:pPr lvl="0" marL="457200" indent="-228600">
              <a:buFont typeface="Calibri"/>
              <a:spcAft>
                <a:spcPts val="1000"/>
              </a:spcAft>
              <a:buSzPct val="100000"/>
              <a:buChar char="•"/>
              <a:lnSpc>
                <a:spcPts val="2200"/>
              </a:lnSpc>
            </a:pPr>
            <a:r>
              <a:rPr sz="2000" b="0">
                <a:solidFill>
                  <a:srgbClr val="333333"/>
                </a:solidFill>
                <a:latin typeface="Calibri"/>
              </a:rPr>
              <a:t>Feature treatment should be followed by proxy analysis and subgroup evaluation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fairness constraints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Fairness-constrained learning modifies the training objective by adding a constraint or</a:t>
            </a:r>
          </a:p>
          <a:p>
            <a:pPr lvl="0" marL="457200" indent="-228600">
              <a:buFont typeface="Calibri"/>
              <a:spcAft>
                <a:spcPts val="1000"/>
              </a:spcAft>
              <a:buSzPct val="100000"/>
              <a:buChar char="•"/>
              <a:lnSpc>
                <a:spcPts val="2200"/>
              </a:lnSpc>
            </a:pPr>
            <a:r>
              <a:rPr sz="2000" b="0">
                <a:solidFill>
                  <a:srgbClr val="333333"/>
                </a:solidFill>
                <a:latin typeface="Calibri"/>
              </a:rPr>
              <a:t>The model then optimizes predictive performance and the selected fairness criterion</a:t>
            </a:r>
          </a:p>
          <a:p>
            <a:pPr lvl="0" marL="457200" indent="-228600">
              <a:buFont typeface="Calibri"/>
              <a:spcAft>
                <a:spcPts val="1000"/>
              </a:spcAft>
              <a:buSzPct val="100000"/>
              <a:buChar char="•"/>
              <a:lnSpc>
                <a:spcPts val="2200"/>
              </a:lnSpc>
            </a:pPr>
            <a:r>
              <a:rPr sz="2000" b="0">
                <a:solidFill>
                  <a:srgbClr val="333333"/>
                </a:solidFill>
                <a:latin typeface="Calibri"/>
              </a:rPr>
              <a:t>Quality of outcome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adversarial debiasing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Adversarial debiasing trains a predictor alongside an adversary that tries to infer a</a:t>
            </a:r>
          </a:p>
          <a:p>
            <a:pPr lvl="0" marL="457200" indent="-228600">
              <a:buFont typeface="Calibri"/>
              <a:spcAft>
                <a:spcPts val="1000"/>
              </a:spcAft>
              <a:buSzPct val="100000"/>
              <a:buChar char="•"/>
              <a:lnSpc>
                <a:spcPts val="2200"/>
              </a:lnSpc>
            </a:pPr>
            <a:r>
              <a:rPr sz="2000" b="0">
                <a:solidFill>
                  <a:srgbClr val="333333"/>
                </a:solidFill>
                <a:latin typeface="Calibri"/>
              </a:rPr>
              <a:t>The predictor is penalized when the adversary succeeds</a:t>
            </a:r>
          </a:p>
          <a:p>
            <a:pPr lvl="0" marL="457200" indent="-228600">
              <a:buFont typeface="Calibri"/>
              <a:spcAft>
                <a:spcPts val="1000"/>
              </a:spcAft>
              <a:buSzPct val="100000"/>
              <a:buChar char="•"/>
              <a:lnSpc>
                <a:spcPts val="2200"/>
              </a:lnSpc>
            </a:pPr>
            <a:r>
              <a:rPr sz="2000" b="0">
                <a:solidFill>
                  <a:srgbClr val="333333"/>
                </a:solidFill>
                <a:latin typeface="Calibri"/>
              </a:rPr>
              <a:t>The method can reduce proxy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equalized odds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Equalized-odds post-processing adjusts decisions or thresholds from an already trained</a:t>
            </a:r>
          </a:p>
          <a:p>
            <a:pPr lvl="0" marL="457200" indent="-228600">
              <a:buFont typeface="Calibri"/>
              <a:spcAft>
                <a:spcPts val="1000"/>
              </a:spcAft>
              <a:buSzPct val="100000"/>
              <a:buChar char="•"/>
              <a:lnSpc>
                <a:spcPts val="2200"/>
              </a:lnSpc>
            </a:pPr>
            <a:r>
              <a:rPr sz="2000" b="0">
                <a:solidFill>
                  <a:srgbClr val="333333"/>
                </a:solidFill>
                <a:latin typeface="Calibri"/>
              </a:rPr>
              <a:t>Operational review</a:t>
            </a:r>
          </a:p>
          <a:p>
            <a:pPr lvl="0" marL="457200" indent="-228600">
              <a:buFont typeface="Calibri"/>
              <a:spcAft>
                <a:spcPts val="1000"/>
              </a:spcAft>
              <a:buSzPct val="100000"/>
              <a:buChar char="•"/>
              <a:lnSpc>
                <a:spcPts val="2200"/>
              </a:lnSpc>
            </a:pPr>
            <a:r>
              <a:rPr sz="2000" b="0">
                <a:solidFill>
                  <a:srgbClr val="333333"/>
                </a:solidFill>
                <a:latin typeface="Calibri"/>
              </a:rPr>
              <a:t>They can also change accuracy and may become unstable when group samples are small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calibration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Calibration adjusts predicted probabilities so that a score has a consistent empirical</a:t>
            </a:r>
          </a:p>
          <a:p>
            <a:pPr lvl="0" marL="457200" indent="-228600">
              <a:buFont typeface="Calibri"/>
              <a:spcAft>
                <a:spcPts val="1000"/>
              </a:spcAft>
              <a:buSzPct val="100000"/>
              <a:buChar char="•"/>
              <a:lnSpc>
                <a:spcPts val="2200"/>
              </a:lnSpc>
            </a:pPr>
            <a:r>
              <a:rPr sz="2000" b="0">
                <a:solidFill>
                  <a:srgbClr val="333333"/>
                </a:solidFill>
                <a:latin typeface="Calibri"/>
              </a:rPr>
              <a:t>It is valuable when scores guide human decisions or resource allocation</a:t>
            </a:r>
          </a:p>
          <a:p>
            <a:pPr lvl="0" marL="457200" indent="-228600">
              <a:buFont typeface="Calibri"/>
              <a:spcAft>
                <a:spcPts val="1000"/>
              </a:spcAft>
              <a:buSzPct val="100000"/>
              <a:buChar char="•"/>
              <a:lnSpc>
                <a:spcPts val="2200"/>
              </a:lnSpc>
            </a:pPr>
            <a:r>
              <a:rPr sz="2000" b="0">
                <a:solidFill>
                  <a:srgbClr val="333333"/>
                </a:solidFill>
                <a:latin typeface="Calibri"/>
              </a:rPr>
              <a:t>Calibration does not guarantee equal selection or error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and validating an intervention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Intervention begins with a diagnosed mechanism and a stated fairness target</a:t>
            </a:r>
          </a:p>
          <a:p>
            <a:pPr lvl="0" marL="457200" indent="-228600">
              <a:buFont typeface="Calibri"/>
              <a:spcAft>
                <a:spcPts val="1000"/>
              </a:spcAft>
              <a:buSzPct val="100000"/>
              <a:buChar char="•"/>
              <a:lnSpc>
                <a:spcPts val="2200"/>
              </a:lnSpc>
            </a:pPr>
            <a:r>
              <a:rPr sz="2000" b="0">
                <a:solidFill>
                  <a:srgbClr val="333333"/>
                </a:solidFill>
                <a:latin typeface="Calibri"/>
              </a:rPr>
              <a:t>Monitor drift after deployment</a:t>
            </a:r>
          </a:p>
          <a:p>
            <a:pPr lvl="0" marL="457200" indent="-228600">
              <a:buFont typeface="Calibri"/>
              <a:spcAft>
                <a:spcPts val="1000"/>
              </a:spcAft>
              <a:buSzPct val="100000"/>
              <a:buChar char="•"/>
              <a:lnSpc>
                <a:spcPts val="2200"/>
              </a:lnSpc>
            </a:pPr>
            <a:r>
              <a:rPr sz="2000" b="0">
                <a:solidFill>
                  <a:srgbClr val="333333"/>
                </a:solidFill>
                <a:latin typeface="Calibri"/>
              </a:rPr>
              <a:t>Mitigation is an iterative control process rather than a one-time repair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Pre-processing changes data, in-processing changes learning</a:t>
            </a:r>
          </a:p>
          <a:p>
            <a:pPr lvl="0" marL="457200" indent="-228600">
              <a:buFont typeface="Calibri"/>
              <a:spcAft>
                <a:spcPts val="1000"/>
              </a:spcAft>
              <a:buSzPct val="100000"/>
              <a:buChar char="•"/>
              <a:lnSpc>
                <a:spcPts val="2200"/>
              </a:lnSpc>
            </a:pPr>
            <a:r>
              <a:rPr sz="2000" b="0">
                <a:solidFill>
                  <a:srgbClr val="333333"/>
                </a:solidFill>
                <a:latin typeface="Calibri"/>
              </a:rPr>
              <a:t>Output adjustment targets decision behavior or probability meaning</a:t>
            </a:r>
          </a:p>
          <a:p>
            <a:pPr lvl="0" marL="457200" indent="-228600">
              <a:buFont typeface="Calibri"/>
              <a:spcAft>
                <a:spcPts val="1000"/>
              </a:spcAft>
              <a:buSzPct val="100000"/>
              <a:buChar char="•"/>
              <a:lnSpc>
                <a:spcPts val="2200"/>
              </a:lnSpc>
            </a:pPr>
            <a:r>
              <a:rPr sz="2000" b="0">
                <a:solidFill>
                  <a:srgbClr val="333333"/>
                </a:solidFill>
                <a:latin typeface="Calibri"/>
              </a:rPr>
              <a:t>Every method must be validated against the intended fairness objective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moves from individual techniques to operating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a technical audit from a broader impact assessment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Representative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Collection should reflect the population, environments</a:t>
            </a:r>
          </a:p>
          <a:p>
            <a:pPr lvl="0" marL="457200" indent="-228600">
              <a:buFont typeface="Calibri"/>
              <a:spcAft>
                <a:spcPts val="1000"/>
              </a:spcAft>
              <a:buSzPct val="100000"/>
              <a:buChar char="•"/>
              <a:lnSpc>
                <a:spcPts val="2200"/>
              </a:lnSpc>
            </a:pPr>
            <a:r>
              <a:rPr sz="2000" b="0">
                <a:solidFill>
                  <a:srgbClr val="333333"/>
                </a:solidFill>
                <a:latin typeface="Calibri"/>
              </a:rPr>
              <a:t>Teams should sample across relevant demographic, geographic, socioeconomic, age</a:t>
            </a:r>
          </a:p>
          <a:p>
            <a:pPr lvl="0" marL="457200" indent="-228600">
              <a:buFont typeface="Calibri"/>
              <a:spcAft>
                <a:spcPts val="1000"/>
              </a:spcAft>
              <a:buSzPct val="100000"/>
              <a:buChar char="•"/>
              <a:lnSpc>
                <a:spcPts val="2200"/>
              </a:lnSpc>
            </a:pPr>
            <a:r>
              <a:rPr sz="2000" b="0">
                <a:solidFill>
                  <a:srgbClr val="333333"/>
                </a:solidFill>
                <a:latin typeface="Calibri"/>
              </a:rPr>
              <a:t>Representation targets and missing groups should be monitored throughout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Clear labeling guidelines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Labeling guidance should define categories, decision rules, edge cases, abstention options</a:t>
            </a:r>
          </a:p>
          <a:p>
            <a:pPr lvl="0" marL="457200" indent="-228600">
              <a:buFont typeface="Calibri"/>
              <a:spcAft>
                <a:spcPts val="1000"/>
              </a:spcAft>
              <a:buSzPct val="100000"/>
              <a:buChar char="•"/>
              <a:lnSpc>
                <a:spcPts val="2200"/>
              </a:lnSpc>
            </a:pPr>
            <a:r>
              <a:rPr sz="2000" b="0">
                <a:solidFill>
                  <a:srgbClr val="333333"/>
                </a:solidFill>
                <a:latin typeface="Calibri"/>
              </a:rPr>
              <a:t>Pilot rounds can reveal ambiguity before large-scale annotation begins</a:t>
            </a:r>
          </a:p>
          <a:p>
            <a:pPr lvl="0" marL="457200" indent="-228600">
              <a:buFont typeface="Calibri"/>
              <a:spcAft>
                <a:spcPts val="1000"/>
              </a:spcAft>
              <a:buSzPct val="100000"/>
              <a:buChar char="•"/>
              <a:lnSpc>
                <a:spcPts val="2200"/>
              </a:lnSpc>
            </a:pPr>
            <a:r>
              <a:rPr sz="2000" b="0">
                <a:solidFill>
                  <a:srgbClr val="333333"/>
                </a:solidFill>
                <a:latin typeface="Calibri"/>
              </a:rPr>
              <a:t>Agreement measures identify unstable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Diverse annotators and human oversight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Diverse annotators contribute different cultural and experiential perspectives</a:t>
            </a:r>
          </a:p>
          <a:p>
            <a:pPr lvl="0" marL="457200" indent="-228600">
              <a:buFont typeface="Calibri"/>
              <a:spcAft>
                <a:spcPts val="1000"/>
              </a:spcAft>
              <a:buSzPct val="100000"/>
              <a:buChar char="•"/>
              <a:lnSpc>
                <a:spcPts val="2200"/>
              </a:lnSpc>
            </a:pPr>
            <a:r>
              <a:rPr sz="2000" b="0">
                <a:solidFill>
                  <a:srgbClr val="333333"/>
                </a:solidFill>
                <a:latin typeface="Calibri"/>
              </a:rPr>
              <a:t>Human-in-the-loop review supports adjudication, correction, and continuous refinement</a:t>
            </a:r>
          </a:p>
          <a:p>
            <a:pPr lvl="0" marL="457200" indent="-228600">
              <a:buFont typeface="Calibri"/>
              <a:spcAft>
                <a:spcPts val="1000"/>
              </a:spcAft>
              <a:buSzPct val="100000"/>
              <a:buChar char="•"/>
              <a:lnSpc>
                <a:spcPts val="2200"/>
              </a:lnSpc>
            </a:pPr>
            <a:r>
              <a:rPr sz="2000" b="0">
                <a:solidFill>
                  <a:srgbClr val="333333"/>
                </a:solidFill>
                <a:latin typeface="Calibri"/>
              </a:rPr>
              <a:t>Diversity should not be treated as a substitute for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on diverse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Evaluation data should cover the groups and operating conditions the system will encounter</a:t>
            </a:r>
          </a:p>
          <a:p>
            <a:pPr lvl="0" marL="457200" indent="-228600">
              <a:buFont typeface="Calibri"/>
              <a:spcAft>
                <a:spcPts val="1000"/>
              </a:spcAft>
              <a:buSzPct val="100000"/>
              <a:buChar char="•"/>
              <a:lnSpc>
                <a:spcPts val="2200"/>
              </a:lnSpc>
            </a:pPr>
            <a:r>
              <a:rPr sz="2000" b="0">
                <a:solidFill>
                  <a:srgbClr val="333333"/>
                </a:solidFill>
                <a:latin typeface="Calibri"/>
              </a:rPr>
              <a:t>Overall accuracy must be disaggregated into suitable performance and fairness metrics</a:t>
            </a:r>
          </a:p>
          <a:p>
            <a:pPr lvl="0" marL="457200" indent="-228600">
              <a:buFont typeface="Calibri"/>
              <a:spcAft>
                <a:spcPts val="1000"/>
              </a:spcAft>
              <a:buSzPct val="100000"/>
              <a:buChar char="•"/>
              <a:lnSpc>
                <a:spcPts val="2200"/>
              </a:lnSpc>
            </a:pPr>
            <a:r>
              <a:rPr sz="2000" b="0">
                <a:solidFill>
                  <a:srgbClr val="333333"/>
                </a:solidFill>
                <a:latin typeface="Calibri"/>
              </a:rPr>
              <a:t>Equipment, geography, or population composition changes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Regular fairness audits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Audits should occur before release, after retraining or major data changes</a:t>
            </a:r>
          </a:p>
          <a:p>
            <a:pPr lvl="0" marL="457200" indent="-228600">
              <a:buFont typeface="Calibri"/>
              <a:spcAft>
                <a:spcPts val="1000"/>
              </a:spcAft>
              <a:buSzPct val="100000"/>
              <a:buChar char="•"/>
              <a:lnSpc>
                <a:spcPts val="2200"/>
              </a:lnSpc>
            </a:pPr>
            <a:r>
              <a:rPr sz="2000" b="0">
                <a:solidFill>
                  <a:srgbClr val="333333"/>
                </a:solidFill>
                <a:latin typeface="Calibri"/>
              </a:rPr>
              <a:t>Assign corrective actions</a:t>
            </a:r>
          </a:p>
          <a:p>
            <a:pPr lvl="0" marL="457200" indent="-228600">
              <a:buFont typeface="Calibri"/>
              <a:spcAft>
                <a:spcPts val="1000"/>
              </a:spcAft>
              <a:buSzPct val="100000"/>
              <a:buChar char="•"/>
              <a:lnSpc>
                <a:spcPts val="2200"/>
              </a:lnSpc>
            </a:pPr>
            <a:r>
              <a:rPr sz="2000" b="0">
                <a:solidFill>
                  <a:srgbClr val="333333"/>
                </a:solidFill>
                <a:latin typeface="Calibri"/>
              </a:rPr>
              <a:t>A useful audit has an owner, a schedule, reproducible evidence, decision thresholds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Impact assessments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Impact assessments extend beyond metric checks</a:t>
            </a:r>
          </a:p>
          <a:p>
            <a:pPr lvl="0" marL="457200" indent="-228600">
              <a:buFont typeface="Calibri"/>
              <a:spcAft>
                <a:spcPts val="1000"/>
              </a:spcAft>
              <a:buSzPct val="100000"/>
              <a:buChar char="•"/>
              <a:lnSpc>
                <a:spcPts val="2200"/>
              </a:lnSpc>
            </a:pPr>
            <a:r>
              <a:rPr sz="2000" b="0">
                <a:solidFill>
                  <a:srgbClr val="333333"/>
                </a:solidFill>
                <a:latin typeface="Calibri"/>
              </a:rPr>
              <a:t>Accountability</a:t>
            </a:r>
          </a:p>
          <a:p>
            <a:pPr lvl="0" marL="457200" indent="-228600">
              <a:buFont typeface="Calibri"/>
              <a:spcAft>
                <a:spcPts val="1000"/>
              </a:spcAft>
              <a:buSzPct val="100000"/>
              <a:buChar char="•"/>
              <a:lnSpc>
                <a:spcPts val="2200"/>
              </a:lnSpc>
            </a:pPr>
            <a:r>
              <a:rPr sz="2000" b="0">
                <a:solidFill>
                  <a:srgbClr val="333333"/>
                </a:solidFill>
                <a:latin typeface="Calibri"/>
              </a:rPr>
              <a:t>They also examine how an ostensibly accurate tool may change institutional behavior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continuous fairness loop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practices form a loop</a:t>
            </a:r>
          </a:p>
          <a:p>
            <a:pPr lvl="0" marL="457200" indent="-228600">
              <a:buFont typeface="Calibri"/>
              <a:spcAft>
                <a:spcPts val="1000"/>
              </a:spcAft>
              <a:buSzPct val="100000"/>
              <a:buChar char="•"/>
              <a:lnSpc>
                <a:spcPts val="2200"/>
              </a:lnSpc>
            </a:pPr>
            <a:r>
              <a:rPr sz="2000" b="0">
                <a:solidFill>
                  <a:srgbClr val="333333"/>
                </a:solidFill>
                <a:latin typeface="Calibri"/>
              </a:rPr>
              <a:t>Documentation connects each stage so later reviewers can understand decisions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 begins with representative collection and explicit labeling rules</a:t>
            </a:r>
          </a:p>
          <a:p>
            <a:pPr lvl="0" marL="457200" indent="-228600">
              <a:buFont typeface="Calibri"/>
              <a:spcAft>
                <a:spcPts val="1000"/>
              </a:spcAft>
              <a:buSzPct val="100000"/>
              <a:buChar char="•"/>
              <a:lnSpc>
                <a:spcPts val="2200"/>
              </a:lnSpc>
            </a:pPr>
            <a:r>
              <a:rPr sz="2000" b="0">
                <a:solidFill>
                  <a:srgbClr val="333333"/>
                </a:solidFill>
                <a:latin typeface="Calibri"/>
              </a:rPr>
              <a:t>Diverse participation and human oversight improve judgment but require supporting controls</a:t>
            </a:r>
          </a:p>
          <a:p>
            <a:pPr lvl="0" marL="457200" indent="-228600">
              <a:buFont typeface="Calibri"/>
              <a:spcAft>
                <a:spcPts val="1000"/>
              </a:spcAft>
              <a:buSzPct val="100000"/>
              <a:buChar char="•"/>
              <a:lnSpc>
                <a:spcPts val="2200"/>
              </a:lnSpc>
            </a:pPr>
            <a:r>
              <a:rPr sz="2000" b="0">
                <a:solidFill>
                  <a:srgbClr val="333333"/>
                </a:solidFill>
                <a:latin typeface="Calibri"/>
              </a:rPr>
              <a:t>Validation must be disaggregated and realistic, audits must recur as systems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examines tooling that can make these practices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IBM AI Fairness 360</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Mitigation algorithms</a:t>
            </a:r>
          </a:p>
          <a:p>
            <a:pPr lvl="0" marL="457200" indent="-228600">
              <a:buFont typeface="Calibri"/>
              <a:spcAft>
                <a:spcPts val="1000"/>
              </a:spcAft>
              <a:buSzPct val="100000"/>
              <a:buChar char="•"/>
              <a:lnSpc>
                <a:spcPts val="2200"/>
              </a:lnSpc>
            </a:pPr>
            <a:r>
              <a:rPr sz="2000" b="0">
                <a:solidFill>
                  <a:srgbClr val="333333"/>
                </a:solidFill>
                <a:latin typeface="Calibri"/>
              </a:rPr>
              <a:t>Its methods span pre-processing, in-processing</a:t>
            </a:r>
          </a:p>
          <a:p>
            <a:pPr lvl="0" marL="457200" indent="-228600">
              <a:buFont typeface="Calibri"/>
              <a:spcAft>
                <a:spcPts val="1000"/>
              </a:spcAft>
              <a:buSzPct val="100000"/>
              <a:buChar char="•"/>
              <a:lnSpc>
                <a:spcPts val="2200"/>
              </a:lnSpc>
            </a:pPr>
            <a:r>
              <a:rPr sz="2000" b="0">
                <a:solidFill>
                  <a:srgbClr val="333333"/>
                </a:solidFill>
                <a:latin typeface="Calibri"/>
              </a:rPr>
              <a:t>This breadth supports experimentation across several fairness definitions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Microsoft Fairlearn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Fairlearn emphasizes disaggregated assessment and fairness-aware mitigation within common</a:t>
            </a:r>
          </a:p>
          <a:p>
            <a:pPr lvl="0" marL="457200" indent="-228600">
              <a:buFont typeface="Calibri"/>
              <a:spcAft>
                <a:spcPts val="1000"/>
              </a:spcAft>
              <a:buSzPct val="100000"/>
              <a:buChar char="•"/>
              <a:lnSpc>
                <a:spcPts val="2200"/>
              </a:lnSpc>
            </a:pPr>
            <a:r>
              <a:rPr sz="2000" b="0">
                <a:solidFill>
                  <a:srgbClr val="333333"/>
                </a:solidFill>
                <a:latin typeface="Calibri"/>
              </a:rPr>
              <a:t>Grouped metric reporting exposes performance gaps that an average conceals</a:t>
            </a:r>
          </a:p>
          <a:p>
            <a:pPr lvl="0" marL="457200" indent="-228600">
              <a:buFont typeface="Calibri"/>
              <a:spcAft>
                <a:spcPts val="1000"/>
              </a:spcAft>
              <a:buSzPct val="100000"/>
              <a:buChar char="•"/>
              <a:lnSpc>
                <a:spcPts val="2200"/>
              </a:lnSpc>
            </a:pPr>
            <a:r>
              <a:rPr sz="2000" b="0">
                <a:solidFill>
                  <a:srgbClr val="333333"/>
                </a:solidFill>
                <a:latin typeface="Calibri"/>
              </a:rPr>
              <a:t>It is particularly convenient when models already use the scikit-learn ecosystem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Using tools responsibly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defensible workflow first states the decision context, affected groups, harms, labels</a:t>
            </a:r>
          </a:p>
          <a:p>
            <a:pPr lvl="0" marL="457200" indent="-228600">
              <a:buFont typeface="Calibri"/>
              <a:spcAft>
                <a:spcPts val="1000"/>
              </a:spcAft>
              <a:buSzPct val="100000"/>
              <a:buChar char="•"/>
              <a:lnSpc>
                <a:spcPts val="2200"/>
              </a:lnSpc>
            </a:pPr>
            <a:r>
              <a:rPr sz="2000" b="0">
                <a:solidFill>
                  <a:srgbClr val="333333"/>
                </a:solidFill>
                <a:latin typeface="Calibri"/>
              </a:rPr>
              <a:t>The toolkit then computes evidence and tests candidate interventions</a:t>
            </a:r>
          </a:p>
          <a:p>
            <a:pPr lvl="0" marL="457200" indent="-228600">
              <a:buFont typeface="Calibri"/>
              <a:spcAft>
                <a:spcPts val="1000"/>
              </a:spcAft>
              <a:buSzPct val="100000"/>
              <a:buChar char="•"/>
              <a:lnSpc>
                <a:spcPts val="2200"/>
              </a:lnSpc>
            </a:pPr>
            <a:r>
              <a:rPr sz="2000" b="0">
                <a:solidFill>
                  <a:srgbClr val="333333"/>
                </a:solidFill>
                <a:latin typeface="Calibri"/>
              </a:rPr>
              <a:t>Teams must report uncertainty, utility changes, and unresolved harms</a:t>
            </a:r>
          </a:p>
          <a:p>
            <a:pPr lvl="0" marL="457200" indent="-228600">
              <a:buFont typeface="Calibri"/>
              <a:spcAft>
                <a:spcPts val="1000"/>
              </a:spcAft>
              <a:buSzPct val="100000"/>
              <a:buChar char="•"/>
              <a:lnSpc>
                <a:spcPts val="2200"/>
              </a:lnSpc>
            </a:pPr>
            <a:r>
              <a:rPr sz="2000" b="0">
                <a:solidFill>
                  <a:srgbClr val="333333"/>
                </a:solidFill>
                <a:latin typeface="Calibri"/>
              </a:rPr>
              <a:t>Default settings and benchmark datasets are starting points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Gender bias in text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 text corpora can associate occupations and social roles with gender stereotypes</a:t>
            </a:r>
          </a:p>
          <a:p>
            <a:pPr lvl="0" marL="457200" indent="-228600">
              <a:buFont typeface="Calibri"/>
              <a:spcAft>
                <a:spcPts val="1000"/>
              </a:spcAft>
              <a:buSzPct val="100000"/>
              <a:buChar char="•"/>
              <a:lnSpc>
                <a:spcPts val="2200"/>
              </a:lnSpc>
            </a:pPr>
            <a:r>
              <a:rPr sz="2000" b="0">
                <a:solidFill>
                  <a:srgbClr val="333333"/>
                </a:solidFill>
                <a:latin typeface="Calibri"/>
              </a:rPr>
              <a:t>Models learn these associations and may reproduce them in generation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Debiasing representations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One mitigation strategy identifies a gender direction in a word-embedding space and</a:t>
            </a:r>
          </a:p>
          <a:p>
            <a:pPr lvl="0" marL="457200" indent="-228600">
              <a:buFont typeface="Calibri"/>
              <a:spcAft>
                <a:spcPts val="1000"/>
              </a:spcAft>
              <a:buSzPct val="100000"/>
              <a:buChar char="•"/>
              <a:lnSpc>
                <a:spcPts val="2200"/>
              </a:lnSpc>
            </a:pPr>
            <a:r>
              <a:rPr sz="2000" b="0">
                <a:solidFill>
                  <a:srgbClr val="333333"/>
                </a:solidFill>
                <a:latin typeface="Calibri"/>
              </a:rPr>
              <a:t>Data balancing and fairness-aware training provide alternatives</a:t>
            </a:r>
          </a:p>
          <a:p>
            <a:pPr lvl="0" marL="457200" indent="-228600">
              <a:buFont typeface="Calibri"/>
              <a:spcAft>
                <a:spcPts val="1000"/>
              </a:spcAft>
              <a:buSzPct val="100000"/>
              <a:buChar char="•"/>
              <a:lnSpc>
                <a:spcPts val="2200"/>
              </a:lnSpc>
            </a:pPr>
            <a:r>
              <a:rPr sz="2000" b="0">
                <a:solidFill>
                  <a:srgbClr val="333333"/>
                </a:solidFill>
                <a:latin typeface="Calibri"/>
              </a:rPr>
              <a:t>Any intervention must distinguish harmful stereotypes from legitimate linguistic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Evaluating the outcome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Realistic prompts</a:t>
            </a:r>
          </a:p>
          <a:p>
            <a:pPr lvl="0" marL="457200" indent="-228600">
              <a:buFont typeface="Calibri"/>
              <a:spcAft>
                <a:spcPts val="1000"/>
              </a:spcAft>
              <a:buSzPct val="100000"/>
              <a:buChar char="•"/>
              <a:lnSpc>
                <a:spcPts val="2200"/>
              </a:lnSpc>
            </a:pPr>
            <a:r>
              <a:rPr sz="2000" b="0">
                <a:solidFill>
                  <a:srgbClr val="333333"/>
                </a:solidFill>
                <a:latin typeface="Calibri"/>
              </a:rPr>
              <a:t>Human review by affected communities can identify harms that a numeric score misses</a:t>
            </a:r>
          </a:p>
          <a:p>
            <a:pPr lvl="0" marL="457200" indent="-228600">
              <a:buFont typeface="Calibri"/>
              <a:spcAft>
                <a:spcPts val="1000"/>
              </a:spcAft>
              <a:buSzPct val="100000"/>
              <a:buChar char="•"/>
              <a:lnSpc>
                <a:spcPts val="2200"/>
              </a:lnSpc>
            </a:pPr>
            <a:r>
              <a:rPr sz="2000" b="0">
                <a:solidFill>
                  <a:srgbClr val="333333"/>
                </a:solidFill>
                <a:latin typeface="Calibri"/>
              </a:rPr>
              <a:t>Because language and usage evolve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AI Fairness 360 provides broad metrics and interventions across pipeline stages</a:t>
            </a:r>
          </a:p>
          <a:p>
            <a:pPr lvl="0" marL="457200" indent="-228600">
              <a:buFont typeface="Calibri"/>
              <a:spcAft>
                <a:spcPts val="1000"/>
              </a:spcAft>
              <a:buSzPct val="100000"/>
              <a:buChar char="•"/>
              <a:lnSpc>
                <a:spcPts val="2200"/>
              </a:lnSpc>
            </a:pPr>
            <a:r>
              <a:rPr sz="2000" b="0">
                <a:solidFill>
                  <a:srgbClr val="333333"/>
                </a:solidFill>
                <a:latin typeface="Calibri"/>
              </a:rPr>
              <a:t>Toolkits make analysis repeatable but cannot choose the ethical objective</a:t>
            </a:r>
          </a:p>
          <a:p>
            <a:pPr lvl="0" marL="457200" indent="-228600">
              <a:buFont typeface="Calibri"/>
              <a:spcAft>
                <a:spcPts val="1000"/>
              </a:spcAft>
              <a:buSzPct val="100000"/>
              <a:buChar char="•"/>
              <a:lnSpc>
                <a:spcPts val="2200"/>
              </a:lnSpc>
            </a:pPr>
            <a:r>
              <a:rPr sz="2000" b="0">
                <a:solidFill>
                  <a:srgbClr val="333333"/>
                </a:solidFill>
                <a:latin typeface="Calibri"/>
              </a:rPr>
              <a:t>Text debiasing requires both representation-level tests and downstream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Deployment governance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Connect future methods with the lifecycle practices developed throughout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in generative AI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Uneven representation</a:t>
            </a:r>
          </a:p>
          <a:p>
            <a:pPr lvl="0" marL="457200" indent="-228600">
              <a:buFont typeface="Calibri"/>
              <a:spcAft>
                <a:spcPts val="1000"/>
              </a:spcAft>
              <a:buSzPct val="100000"/>
              <a:buChar char="•"/>
              <a:lnSpc>
                <a:spcPts val="2200"/>
              </a:lnSpc>
            </a:pPr>
            <a:r>
              <a:rPr sz="2000" b="0">
                <a:solidFill>
                  <a:srgbClr val="333333"/>
                </a:solidFill>
                <a:latin typeface="Calibri"/>
              </a:rPr>
              <a:t>A text-to-image model may repeatedly depict leaders or doctors from one demographic group</a:t>
            </a:r>
          </a:p>
          <a:p>
            <a:pPr lvl="0" marL="457200" indent="-228600">
              <a:buFont typeface="Calibri"/>
              <a:spcAft>
                <a:spcPts val="1000"/>
              </a:spcAft>
              <a:buSzPct val="100000"/>
              <a:buChar char="•"/>
              <a:lnSpc>
                <a:spcPts val="2200"/>
              </a:lnSpc>
            </a:pPr>
            <a:r>
              <a:rPr sz="2000" b="0">
                <a:solidFill>
                  <a:srgbClr val="333333"/>
                </a:solidFill>
                <a:latin typeface="Calibri"/>
              </a:rPr>
              <a:t>Open-ended outputs make fairness evaluation broader than checking one fixed classification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Evaluating and mitigating generative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Evaluation should use diverse prompts, repeated samples, intersectional groups</a:t>
            </a:r>
          </a:p>
          <a:p>
            <a:pPr lvl="0" marL="457200" indent="-228600">
              <a:buFont typeface="Calibri"/>
              <a:spcAft>
                <a:spcPts val="1000"/>
              </a:spcAft>
              <a:buSzPct val="100000"/>
              <a:buChar char="•"/>
              <a:lnSpc>
                <a:spcPts val="2200"/>
              </a:lnSpc>
            </a:pPr>
            <a:r>
              <a:rPr sz="2000" b="0">
                <a:solidFill>
                  <a:srgbClr val="333333"/>
                </a:solidFill>
                <a:latin typeface="Calibri"/>
              </a:rPr>
              <a:t>Deployment safeguards</a:t>
            </a:r>
          </a:p>
          <a:p>
            <a:pPr lvl="0" marL="457200" indent="-228600">
              <a:buFont typeface="Calibri"/>
              <a:spcAft>
                <a:spcPts val="1000"/>
              </a:spcAft>
              <a:buSzPct val="100000"/>
              <a:buChar char="•"/>
              <a:lnSpc>
                <a:spcPts val="2200"/>
              </a:lnSpc>
            </a:pPr>
            <a:r>
              <a:rPr sz="2000" b="0">
                <a:solidFill>
                  <a:srgbClr val="333333"/>
                </a:solidFill>
                <a:latin typeface="Calibri"/>
              </a:rPr>
              <a:t>Because interventions can shift or conceal harms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 in federated learning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Federated learning trains across decentralized devices or organizations without</a:t>
            </a:r>
          </a:p>
          <a:p>
            <a:pPr lvl="0" marL="457200" indent="-228600">
              <a:buFont typeface="Calibri"/>
              <a:spcAft>
                <a:spcPts val="1000"/>
              </a:spcAft>
              <a:buSzPct val="100000"/>
              <a:buChar char="•"/>
              <a:lnSpc>
                <a:spcPts val="2200"/>
              </a:lnSpc>
            </a:pPr>
            <a:r>
              <a:rPr sz="2000" b="0">
                <a:solidFill>
                  <a:srgbClr val="333333"/>
                </a:solidFill>
                <a:latin typeface="Calibri"/>
              </a:rPr>
              <a:t>Privacy benefits do not guarantee fairness</a:t>
            </a:r>
          </a:p>
          <a:p>
            <a:pPr lvl="0" marL="457200" indent="-228600">
              <a:buFont typeface="Calibri"/>
              <a:spcAft>
                <a:spcPts val="1000"/>
              </a:spcAft>
              <a:buSzPct val="100000"/>
              <a:buChar char="•"/>
              <a:lnSpc>
                <a:spcPts val="2200"/>
              </a:lnSpc>
            </a:pPr>
            <a:r>
              <a:rPr sz="2000" b="0">
                <a:solidFill>
                  <a:srgbClr val="333333"/>
                </a:solidFill>
                <a:latin typeface="Calibri"/>
              </a:rPr>
              <a:t>Participants may contribute very different amounts and distributions of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Fairness-aware federation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Reporting performance for each participating population</a:t>
            </a:r>
          </a:p>
          <a:p>
            <a:pPr lvl="0" marL="457200" indent="-228600">
              <a:buFont typeface="Calibri"/>
              <a:spcAft>
                <a:spcPts val="1000"/>
              </a:spcAft>
              <a:buSzPct val="100000"/>
              <a:buChar char="•"/>
              <a:lnSpc>
                <a:spcPts val="2200"/>
              </a:lnSpc>
            </a:pPr>
            <a:r>
              <a:rPr sz="2000" b="0">
                <a:solidFill>
                  <a:srgbClr val="333333"/>
                </a:solidFill>
                <a:latin typeface="Calibri"/>
              </a:rPr>
              <a:t>Teams must also examine which clients are repeatedly excluded and whether privacy</a:t>
            </a:r>
          </a:p>
          <a:p>
            <a:pPr lvl="0" marL="457200" indent="-228600">
              <a:buFont typeface="Calibri"/>
              <a:spcAft>
                <a:spcPts val="1000"/>
              </a:spcAft>
              <a:buSzPct val="100000"/>
              <a:buChar char="•"/>
              <a:lnSpc>
                <a:spcPts val="2200"/>
              </a:lnSpc>
            </a:pPr>
            <a:r>
              <a:rPr sz="2000" b="0">
                <a:solidFill>
                  <a:srgbClr val="333333"/>
                </a:solidFill>
                <a:latin typeface="Calibri"/>
              </a:rPr>
              <a:t>The objective should balance global utility with acceptable performance for less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Regulation and deployment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Privacy, anti-discrimination, consumer protection</a:t>
            </a:r>
          </a:p>
          <a:p>
            <a:pPr lvl="0" marL="457200" indent="-228600">
              <a:buFont typeface="Calibri"/>
              <a:spcAft>
                <a:spcPts val="1000"/>
              </a:spcAft>
              <a:buSzPct val="100000"/>
              <a:buChar char="•"/>
              <a:lnSpc>
                <a:spcPts val="2200"/>
              </a:lnSpc>
            </a:pPr>
            <a:r>
              <a:rPr sz="2000" b="0">
                <a:solidFill>
                  <a:srgbClr val="333333"/>
                </a:solidFill>
                <a:latin typeface="Calibri"/>
              </a:rPr>
              <a:t>Deployment controls rather than assembled after a complaint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Future directions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Bias-aware datasets, causal methods, fairness-aware optimization, explainability</a:t>
            </a:r>
          </a:p>
          <a:p>
            <a:pPr lvl="0" marL="457200" indent="-228600">
              <a:buFont typeface="Calibri"/>
              <a:spcAft>
                <a:spcPts val="1000"/>
              </a:spcAft>
              <a:buSzPct val="100000"/>
              <a:buChar char="•"/>
              <a:lnSpc>
                <a:spcPts val="2200"/>
              </a:lnSpc>
            </a:pPr>
            <a:r>
              <a:rPr sz="2000" b="0">
                <a:solidFill>
                  <a:srgbClr val="333333"/>
                </a:solidFill>
                <a:latin typeface="Calibri"/>
              </a:rPr>
              <a:t>Their value depends on clear problem definitions and real-world validation</a:t>
            </a:r>
          </a:p>
          <a:p>
            <a:pPr lvl="0" marL="457200" indent="-228600">
              <a:buFont typeface="Calibri"/>
              <a:spcAft>
                <a:spcPts val="1000"/>
              </a:spcAft>
              <a:buSzPct val="100000"/>
              <a:buChar char="•"/>
              <a:lnSpc>
                <a:spcPts val="2200"/>
              </a:lnSpc>
            </a:pPr>
            <a:r>
              <a:rPr sz="2000" b="0">
                <a:solidFill>
                  <a:srgbClr val="333333"/>
                </a:solidFill>
                <a:latin typeface="Calibri"/>
              </a:rPr>
              <a:t>Ongoing monitoring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Generative systems expand fairness evaluation to open-ended content and intersectional</a:t>
            </a:r>
          </a:p>
          <a:p>
            <a:pPr lvl="0" marL="457200" indent="-228600">
              <a:buFont typeface="Calibri"/>
              <a:spcAft>
                <a:spcPts val="1000"/>
              </a:spcAft>
              <a:buSzPct val="100000"/>
              <a:buChar char="•"/>
              <a:lnSpc>
                <a:spcPts val="2200"/>
              </a:lnSpc>
            </a:pPr>
            <a:r>
              <a:rPr sz="2000" b="0">
                <a:solidFill>
                  <a:srgbClr val="333333"/>
                </a:solidFill>
                <a:latin typeface="Calibri"/>
              </a:rPr>
              <a:t>Federated systems introduce uneven participation and local performance concerns</a:t>
            </a:r>
          </a:p>
          <a:p>
            <a:pPr lvl="0" marL="457200" indent="-228600">
              <a:buFont typeface="Calibri"/>
              <a:spcAft>
                <a:spcPts val="1000"/>
              </a:spcAft>
              <a:buSzPct val="100000"/>
              <a:buChar char="•"/>
              <a:lnSpc>
                <a:spcPts val="2200"/>
              </a:lnSpc>
            </a:pPr>
            <a:r>
              <a:rPr sz="2000" b="0">
                <a:solidFill>
                  <a:srgbClr val="333333"/>
                </a:solidFill>
                <a:latin typeface="Calibri"/>
              </a:rPr>
              <a:t>Regulation makes documentation, testing, oversight</a:t>
            </a:r>
          </a:p>
          <a:p>
            <a:pPr lvl="0" marL="457200" indent="-228600">
              <a:buFont typeface="Calibri"/>
              <a:spcAft>
                <a:spcPts val="1000"/>
              </a:spcAft>
              <a:buSzPct val="100000"/>
              <a:buChar char="•"/>
              <a:lnSpc>
                <a:spcPts val="2200"/>
              </a:lnSpc>
            </a:pPr>
            <a:r>
              <a:rPr sz="2000" b="0">
                <a:solidFill>
                  <a:srgbClr val="333333"/>
                </a:solidFill>
                <a:latin typeface="Calibri"/>
              </a:rPr>
              <a:t>Across all settings, fairness remains a lifecycle practice rather than a one-time metric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Emerging challenges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Dataset Bias and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