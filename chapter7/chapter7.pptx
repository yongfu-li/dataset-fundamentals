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Earlier chapters established how datasets are collected, labeled, cleaned, and explored. This chapter adds a necessary question: do the resulting data and systems distribute errors and opportunities justly? The answer affects technical quality, public trust, and whether an organization can defend its decisions.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clip, learners should be able to define dataset bias and fairness, explain why subgroup performance matters even when average accuracy appears strong, connect fairness to trust and accountability, and identify policy and governance pressures that make fairness an operational requirement.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Dataset bias is a systematic error or imbalance that skews training or evaluation data toward particular groups or outcomes. Fairness is the operational goal of selecting, measuring, and documenting criteria so that such skews do not create unjust allocations of error or opportunity. Fairness is therefore a measurable design constraint, not a vague claim that a system has good intentions.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Trust declines when people cannot determine whether a recommendation, hiring decision, diagnosis, or risk score treats comparable cases consistently. Accountability requires named owners, documented data and metrics, mechanisms for review, and a practical route for correction. Fairness audits and impact assessments make these responsibilities visible throughout design, deployment, and monitoring.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7.4 shows that fairness has a policy context. European data protection rules place duties around consequential automated decisions, while United States fair-lending rules prohibit discrimination against protected groups in credit decisions. A technically impressive model can still create legal, financial, and reputational exposure when its data or outcomes produce unjustified disparities.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7.6 records subgroup evidence from commercial facial analysis systems. Error rates were substantially higher for darker-skinned and female faces than for lighter-skinned and male faces, with underrepresentation in training data identified as an important cause. The practical lesson is to report disaggregated errors before deployment rather than relying on one overall accuracy value.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7.9 places fairness within a broader governance framework. The OECD principles emphasize transparent, fair, inclusive, and accountable artificial intelligence while seeking to minimize harm. Such principles become useful only when organizations translate them into concrete practices, including representative data, subgroup evaluation, documentation, human oversight, and corrective action.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Bias can enter through collection, measurement, historical records, annotation, aggregation, or human assumptions. It can then be amplified during model training and deployment. Fairness work must therefore span the lifecycle: define affected groups and harms, inspect the data, choose suitable metrics, test interventions, document trade-offs, and monitor outcomes after release.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Dataset bias describes systematic skew, while fairness describes the criteria and controls used to prevent unjust consequences. Average performance can conceal serious subgroup failures. Trust depends on transparency and consistent treatment, and accountability depends on review, ownership, and correction. Policy principles and legal duties make these concerns part of routine engineering practice.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clip moves from the general definition to a practical taxonomy. It distinguishes sampling, measurement, historical, label, aggregation, and confirmation bias so that an observed problem can be traced to a specific mechanism.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clip, learners should distinguish sampling, measurement, historical, label, aggregation, and confirmation bias; recognize each form in a practical setting; and explain why collecting more data does not automatically correct every type of bias.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Sampling bias occurs when collected records do not represent the population or conditions in which a model will operate. Measurement bias occurs when instruments, surveys, sensors, or observation procedures systematically distort what is recorded. Sampling changes who or what is observed; measurement changes the accuracy or meaning of the observation.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7.12 illustrates sampling bias. A facial recognition dataset dominated by light-skinned faces gives a model too little evidence about darker-skinned faces. Performance can therefore vary sharply across groups. Adding more images from the already dominant group increases dataset size without correcting the missing representation.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7.14 illustrates measurement bias through self-reported income. Respondents may overstate or withhold information because of privacy concerns or social desirability. The resulting values are not merely noisy if the error follows a systematic pattern across groups. Audit work must examine how a variable was produced, not only whether its column is complete.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7.17 shows historical bias. Hiring, lending, judicial, and policing records may accurately document decisions that were themselves inequitable. A model can reproduce those patterns even when collection and measurement are technically correct. Historical data describes what happened, but it does not automatically define what should happen next.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7.21 shows label bias. Annotators may interpret tone differently because of cultural background, ambiguous guidelines, or inconsistent handling of edge cases. If these disagreements systematically affect some dialects or groups, the target labels teach the model an unfair pattern. Clear guidance, diverse annotators, agreement checks, and adjudication reduce this risk.</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Aggregation bias appears when diverse subgroups are treated as homogeneous and important differences are hidden by an overall average. Confirmation bias appears when data is selected or interpreted to support an existing belief while contradictory evidence is neglected. One masks variation through pooling; the other narrows evidence through expectation.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single system may combine several mechanisms. Historical policing records may reflect unequal enforcement, oversample heavily policed areas, use subjective labels, and encourage confirmation of an assumed crime pattern. Diagnosis should trace the chain from population and collection through measurement, labeling, aggregation, and analyst decisions rather than assigning one convenient label.</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Sampling bias concerns representation, measurement bias concerns capture, historical bias concerns inherited inequity, and label bias concerns target construction. Aggregation bias hides subgroup differences, while confirmation bias filters evidence through prior beliefs. Precise diagnosis guides intervention and prevents the mistaken assumption that more data alone will solve the problem.</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clip turns this taxonomy into measurable evidence. It introduces distribution comparisons, statistical tests, proxy correlations, and disparate-impact ratios for screening datasets and model outcomes.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clip, learners should be able to plan a disaggregated bias screen, compare subgroup distributions, interpret the role of statistical tests, identify proxy relationships with sensitive attributes, and calculate and cautiously interpret a disparate-impact ratio using the eighty-percent rule.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7.27 establishes why one metric is insufficient. Bias may appear in demographic representation, processing, labels, aggregation, or outcomes. An audit should therefore inspect both inputs and decisions, compare several subgroups, and preserve context about how each variable was created. A flag is evidence for investigation, not a complete causal explanation.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7.28 compares features such as age, gender, and race across groups and against the intended population. Differences in counts, proportions, ranges, or missingness can reveal underrepresentation and uneven data quality. Learners can inspect the runnable example 19 module for this chapter to see a compact distribution check and its output.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Formal tests can assess whether observed distribution differences are unlikely under a stated null hypothesis. A chi-squared test is suitable for categorical counts, while other tests may compare continuous distributions. Statistical significance does not establish harm or practical importance, and very large samples can make small differences significant. Effect size and context remain essential.</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7.30 asks whether gender distribution differs across outcome categories, such as high-performing and low-performing candidates. The test compares observed counts with counts expected under independence. Learners can inspect the runnable example 21 module for this chapter to follow the calculation, assumptions, and interpretation without treating the result as proof of discrimination.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Correlation analysis can reveal features that encode sensitive attributes indirectly. Names, neighborhoods, schools, or purchasing patterns may act as proxies even after race or gender is removed. Correlation is a screening tool rather than a causal verdict, but a strong relationship warrants closer examination of feature necessity, historical context, and subgroup outcomes.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7.33 calculates a disparate-impact ratio by dividing one group's selection rate by the comparison group's rate. A ratio below zero point eight is commonly used as a screening threshold for potential adverse impact. Learners can inspect the runnable example 24 module for this chapter to compute the rates and see why the threshold prompts review rather than automatically proving illegality.</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defensible statistical audit records the target population, protected or otherwise relevant groups, outcome definitions, sample sizes, uncertainty, and chosen reference group. It reports both absolute rates and relative ratios, checks small groups carefully, and tests multiple plausible explanations. Results should be repeatable and linked to a decision about further analysis or mitigation.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Distribution checks reveal representation and data-quality gaps. Statistical tests formalize comparisons but must be paired with effect size and context. Correlation can uncover proxy pathways. Disparate-impact ratios summarize unequal selection rates, and the eighty-percent rule is a screening convention rather than a universal fairness certificate.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clip makes these findings easier to inspect and communicate. It combines dashboards, heatmaps, bar charts, and scatter plots, then introduces toolkits that support repeatable fairness assessment.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clip, learners should select suitable charts for representation, correlation, and outcome gaps; explain how several views can triangulate a concern; avoid common visual interpretation errors; and describe how AI Fairness 360 and Fairlearn support repeatable assessment.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7.34 combines a correlation heatmap, approval bars by race, and a scatter plot of income against approval probability. No single view answers the fairness question. Together they show where imbalance is concentrated and which formal tests should follow. A dashboard should organize this sequence rather than display unrelated charts.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Heatmaps compactly display correlations or a matrix of subgroup metrics. They can expose proxy relationships and clusters of uneven error, but color scales must be consistent and values should remain visible. Dashboards add filters, reference rates, sample sizes, and time trends so users can distinguish a stable disparity from noise or a temporary data shift.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7.36 uses bars to compare predictions or selection rates across demographic groups. Rates are usually more informative than raw counts when group sizes differ. Learners can inspect the runnable example 27 module for this chapter to see how disaggregated values are prepared for a visual screen before deeper statistical analysis.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7.37 uses a scatter plot to inspect how income values and group membership align. Clustering or separation can suggest historical or measurement patterns, but categorical group encoding must be presented carefully and overplotting can hide density. Faceting, transparency, and clear annotations often produce a more honest comparison.</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IBM AI Fairness 360 provides datasets, fairness metrics, and mitigation algorithms across data, training, and prediction stages. It supports measures such as demographic parity and equal opportunity and offers methods including reweighting and adversarial debiasing. Its breadth is useful when teams need to compare several definitions and interventions within one workflow.</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Fairlearn supports disaggregated model assessment and fairness-aware mitigation in the Python machine learning ecosystem. Its metric framing approach reports performance by sensitive group, while mitigation components explore constraints such as demographic parity or equalized odds. The toolkit does not choose the ethically appropriate metric; that decision still requires domain and stakeholder judgment.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Heatmaps reveal relationships, bar charts compare group rates, scatter plots expose continuous patterns, and dashboards connect these views with context. Visual differences are screening evidence rather than causal conclusions. AI Fairness 360 and Fairlearn make metrics and interventions repeatable, but responsible metric selection remains a human governance task.</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clip examines why these disparities matter. It connects dataset bias to ethical harm, social amplification, legal exposure, business cost, and the accountability lessons of high-stakes risk assessment.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clip, learners should distinguish four impact dimensions, trace how biased data can amplify existing inequities, explain why intent is not required for harmful impact, and identify the subgroup evidence and accountability records needed for high-stakes deployment.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7.38 illustrates the ethical impact of unequal treatment. Biased credit data may deny loans for demographic reasons rather than genuine creditworthiness, while biased justice data may produce unfair risk assessments. Such errors affect opportunities and liberty, so fairness cannot be treated as optional polish added after average accuracy is maximized.</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7.40 shows social amplification. Historical over-policing can generate more recorded incidents in already monitored communities, which then directs still more policing there. Historical hiring patterns can similarly teach a ranking system to favor men. Repeated automated decisions scale and reinforce the pattern, creating a feedback loop that appears data-driven.</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7.42 connects unfair outcomes with legal and regulatory exposure. Recruitment and credit systems must comply with anti-discrimination duties, while privacy frameworks require fair and transparent processing of personal data. Organizations need more than a claim of neutral intent; they need documented data provenance, subgroup testing, explanations, and corrective procedures.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7.45 presents the business consequences. Biased systems can generate fines, lawsuits, project cancellations, remediation costs, customer loss, and lasting reputational damage. Fairness investment can therefore reduce risk and protect market legitimacy. Delayed mitigation is often more expensive because deployed decisions and public harms are difficult to reverse.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Recidivism risk assessment provides a bridge across all four dimensions. Unequal error rates can change detention or parole exposure, reproduce historical arrest disparities, raise due-process and discrimination concerns, and weaken institutional legitimacy. Overall accuracy does not settle these issues because false positives and false negatives carry different consequences for different groups.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High-stakes systems require documented subgroup error rates, known limitations, decision owners, appeal mechanisms, and monitoring after deployment. Impact assessments should ask who can be harmed, how severe and reversible the harm is, and whether a less risky alternative exists. These questions connect technical metrics to organizational responsibility.</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Ethical impacts concern justice and individual treatment. Social impacts concern stereotypes, feedback loops, and unequal access. Legal impacts concern rights, discrimination, privacy, and explainability. Business impacts include cost, reputation, and legitimacy. A single disparity can cross all four dimensions, especially in consequential decisions.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clip asks what fairness should mean in measurable terms. It compares procedural and outcome fairness, examines accuracy trade-offs, and introduces equalized odds, calibration, transparency, accountability, and inclusivity.</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clip, learners should distinguish procedural from outcome fairness, explain why accuracy and fairness can conflict, compare equalized odds with calibration, and connect metric choices to transparency, accountability, and inclusivity.</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7.47 illustrates procedural fairness. Every candidate should be evaluated with consistent, relevant criteria, and the process should be understandable and non-discriminatory. Procedural fairness concerns how a decision is made, including data use, rules, explanations, and opportunities to challenge an error, even before group outcome rates are compared.</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7.48 illustrates outcome fairness. A predictive policing system should not disproportionately target minority communities or produce unequal consequences without justification. Outcome fairness compares results across groups, but equal rates alone do not guarantee a sound process. Procedural and outcome evidence should therefore be examined together.</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accuracy-maximizing threshold may distribute false positives and false negatives unevenly. Adding a fairness constraint or changing thresholds can reduce that disparity while lowering aggregate accuracy. This is not evidence that fairness is a defect. It reveals that optimization has multiple objectives and that error costs, rights, and social consequences must be stated explicitly.</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7.50 shows a loan system adjusted toward equal approval rates across racial groups. The adjustment may reduce default-prediction accuracy, exposing a trade-off between demographic parity and predictive precision. Learners can inspect the runnable example 38 module for this chapter to compare candidate thresholds and see how fairness and utility change together.</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Equalized odds seeks comparable false-positive and true-positive rates across groups, thereby balancing error behavior conditional on the actual outcome. It is especially relevant when both kinds of error carry serious consequences. Achieving it may require group-aware constraints or post-processing, and it can conflict with calibration when underlying outcome rates differ.</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Calibration asks whether a predicted probability has the same empirical meaning across groups. If a system assigns a seventy-percent probability, roughly seventy percent of comparable cases should experience the event in each group. Calibration supports interpretable risk scores, but it does not by itself guarantee equal selection rates or equal error rates.</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Transparency explains the data, criteria, limitations, and trade-offs. Accountability assigns responsibility for audits, complaints, and correction. Inclusivity brings affected groups into design and evaluation, particularly groups that have been underrepresented. These principles prevent metric selection from becoming a purely technical exercise detached from lived consequences.</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Procedural fairness evaluates the decision process, while outcome fairness evaluates results. Aggregate accuracy can conflict with group fairness because errors and opportunities are distributed, not abstract. Equalized odds compares error rates, calibration compares probability meaning, and no criterion should be selected without transparent, accountable, and inclusive justification.</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clip turns fairness definitions into interventions. It separates changes to data, training, and outputs and explains reweighting, feature treatment, fairness constraints, adversarial debiasing, equalized-odds post-processing, and calibration.</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clip, learners should classify mitigation methods by pipeline stage, explain reweighting and feature treatment, describe fairness-constrained learning and adversarial debiasing, compare equalized-odds post-processing with calibration, and select an intervention using evidence rather than convenience.</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Reweighting changes how strongly training instances influence learning. Underrepresented groups can receive greater weight so that the majority group does not dominate the objective. This approach preserves records while changing their contribution, but extreme weights can increase variance and cannot repair labels or measurements that are fundamentally invalid.</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Sensitive or strongly biased features may be removed, transformed, or replaced with less harmful representations. Simple removal is not a guarantee of fairness because names, neighborhoods, schools, and other variables can act as proxies. Feature treatment should be followed by proxy analysis and subgroup evaluation, while sensitive attributes may still be retained securely for auditing.</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Fairness-constrained learning modifies the training objective by adding a constraint or penalty for disparities such as unequal selection or error rates. The model then optimizes predictive performance and the selected fairness criterion together. This makes the trade-off explicit, but the result depends heavily on the criterion, tolerance, group definitions, and quality of outcome labels.</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Adversarial debiasing trains a predictor alongside an adversary that tries to infer a sensitive attribute from the predictor's representation or output. The predictor is penalized when the adversary succeeds, encouraging less sensitive information to remain. The method can reduce proxy leakage, but it adds training complexity and still requires downstream fairness testing.</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Equalized-odds post-processing adjusts decisions or thresholds from an already trained model so that error rates become more comparable across groups. It is useful when retraining is impossible, but group-specific adjustments require careful legal, ethical, and operational review. They can also change accuracy and may become unstable when group samples are small.</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Calibration adjusts predicted probabilities so that a score has a consistent empirical meaning for each group. It is valuable when scores guide human decisions or resource allocation. Calibration does not guarantee equal selection or error rates, and it can conflict with equalized odds when base rates differ, so the deployment purpose must determine priority.</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Intervention begins with a diagnosed mechanism and a stated fairness target. Teams should compare a baseline with candidate methods, report group performance and uncertainty, inspect utility costs, test on representative holdout data, document residual harms, and monitor drift after deployment. Mitigation is an iterative control process rather than a one-time repair.</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Pre-processing changes data, in-processing changes learning, and post-processing changes outputs. Reweighting addresses influence, feature treatment reduces direct or proxy pathways, fairness constraints and adversaries reshape training, and output adjustment targets decision behavior or probability meaning. Every method must be validated against the intended fairness objective.</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clip moves from individual techniques to operating practice. It explains how representative collection, labeling governance, human oversight, validation, audits, and impact assessments make fairness routine rather than reactive.</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clip, learners should be able to plan fairer data collection, write and govern labeling guidelines, explain the value and limits of diverse annotators and human-in-the-loop review, design subgroup validation, and distinguish a technical audit from a broader impact assessment.</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Collection should reflect the population, environments, and conditions in which a system will operate. Teams should sample across relevant demographic, geographic, socioeconomic, age, and ability dimensions and use multiple sources when one source offers a narrow view. Representation targets and missing groups should be monitored throughout collection, not only after the dataset is frozen.</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Labeling guidance should define categories, decision rules, edge cases, abstention options, and escalation procedures. Pilot rounds can reveal ambiguity before large-scale annotation begins. Agreement measures identify unstable tasks, but high agreement alone does not prove fairness if all annotators share the same blind spot or the target concept is itself problematic.</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Diverse annotators contribute different cultural and experiential perspectives, helping teams recognize assumptions that a homogeneous group may miss. Human-in-the-loop review supports adjudication, correction, and continuous refinement. Diversity should not be treated as a substitute for training, fair working conditions, clear authority, or systematic quality controls.</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Evaluation data should cover the groups and operating conditions the system will encounter. Overall accuracy must be disaggregated into suitable performance and fairness metrics, with sample sizes and uncertainty reported. External or shifted datasets can reveal whether a model that appears fair in development fails when language, equipment, geography, or population composition changes.</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Audits should occur before release, after retraining or major data changes, and periodically during deployment. They compare subgroup outcomes and errors, inspect drift, review complaints, verify documentation, and assign corrective actions. A useful audit has an owner, a schedule, reproducible evidence, decision thresholds, and a process for escalation.</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Impact assessments extend beyond metric checks. They identify affected stakeholders, plausible harms and benefits, severity, reversibility, alternatives, human oversight, appeal routes, and accountability. They also examine how an ostensibly accurate tool may change institutional behavior, such as increasing surveillance or restricting access to essential services.</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practices form a loop: define intended use and affected groups, collect representative data, label with governed procedures, validate disaggregated performance, assess wider impacts, deploy with oversight, monitor outcomes, and correct emerging problems. Documentation connects each stage so later reviewers can understand decisions and limitations.</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Fairness begins with representative collection and explicit labeling rules. Diverse participation and human oversight improve judgment but require supporting controls. Validation must be disaggregated and realistic, audits must recur as systems change, and impact assessments must connect technical evidence with real-world consequences and accountability.</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clip examines tooling that can make these practices repeatable. It compares AI Fairness 360 and Fairlearn and then follows a case study on reducing gender stereotypes in text representations.</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clip, learners should describe the main capabilities of AI Fairness 360 and Fairlearn, select a toolkit according to workflow needs, explain how gender stereotypes enter text representations, and design evaluation that checks whether a debiasing intervention actually improves downstream behavior.</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IBM AI Fairness 360 offers a broad collection of dataset and model metrics, reference datasets, and mitigation algorithms. Its methods span pre-processing, in-processing, and post-processing, including reweighting and adversarial approaches. This breadth supports experimentation across several fairness definitions, especially when a team needs to compare interventions at different pipeline stages.</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Fairlearn emphasizes disaggregated assessment and fairness-aware mitigation within common Python model workflows. Grouped metric reporting exposes performance gaps that an average conceals, while reduction and threshold methods can impose constraints such as demographic parity or equalized odds. It is particularly convenient when models already use the scikit-learn ecosystem.</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defensible workflow first states the decision context, affected groups, harms, labels, and desired fairness criterion. The toolkit then computes evidence and tests candidate interventions. Teams must report uncertainty, utility changes, and unresolved harms. Default settings and benchmark datasets are starting points, not substitutes for domain judgment or stakeholder participation.</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Large text corpora can associate occupations and social roles with gender stereotypes, such as linking doctors and engineers with men while linking nurses and teachers with women. Models learn these associations and may reproduce them in generation, translation, sentiment analysis, recommendation, or hiring applications, even when gender is not an explicit input field.</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mitigation strategy identifies a gender direction in a word-embedding space and reduces unwanted associations by projecting selected representations toward a more neutral space. Data balancing and fairness-aware training provide alternatives. Any intervention must distinguish harmful stereotypes from legitimate linguistic information and avoid erasing identities or masking bias that persists elsewhere.</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Evaluation should compare association tests before and after intervention and then examine downstream tasks, subgroup errors, generated content, and realistic prompts. Human review by affected communities can identify harms that a numeric score misses. Because language and usage evolve, the evaluation should recur after data updates and deployment.</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Fairness 360 provides broad metrics and interventions across pipeline stages, while Fairlearn integrates disaggregated assessment and constrained mitigation into familiar model workflows. Toolkits make analysis repeatable but cannot choose the ethical objective. Text debiasing requires both representation-level tests and downstream, human-centered evaluation.</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final clip looks ahead to generative artificial intelligence, decentralized training, evolving regulation, and deployment governance. These settings extend the same core principles while introducing new sources of scale, opacity, and distribution shift.</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clip, learners should identify distinctive fairness risks in generative and federated learning, outline suitable monitoring and mitigation approaches, explain how regulation shapes deployment obligations, and connect future methods with the lifecycle practices developed throughout the chapter.</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Generative systems learn associations from large web-scale corpora that contain stereotypes, exclusions, and uneven representation. A text-to-image model may repeatedly depict leaders or doctors from one demographic group, while a language model may generate demeaning or exclusionary descriptions. Open-ended outputs make fairness evaluation broader than checking one fixed classification label.</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Evaluation should use diverse prompts, repeated samples, intersectional groups, and both quantitative and human review. Mitigation can include better data curation, balanced augmentation, filtering, representation debiasing, training constraints, and deployment safeguards. Because interventions can shift or conceal harms, generated outputs must be monitored over time and across languages and cultures.</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Federated learning trains across decentralized devices or organizations without centralizing raw records. Privacy benefits do not guarantee fairness. Participants may contribute very different amounts and distributions of data, connectivity can determine who influences training, and a global model may work well for common urban users while failing for smaller rural or clinical populations.</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Possible responses include group-aware sampling, robust aggregation, personalized models, explicit fairness objectives, and reporting performance for each participating population. Teams must also examine which clients are repeatedly excluded and whether privacy protections limit subgroup auditing. The objective should balance global utility with acceptable performance for less represented participants.</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Privacy, anti-discrimination, consumer protection, and artificial-intelligence-specific rules increasingly require documentation, transparency, bias testing, human oversight, and routes for appeal in high-risk settings. Compliance should be built into system design through data records, impact assessments, audit trails, assigned responsibility, and deployment controls rather than assembled after a complaint.</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Bias-aware datasets, causal methods, fairness-aware optimization, explainability, and participatory evaluation can strengthen future systems. Their value depends on clear problem definitions and real-world validation. More complex algorithms do not remove the need for representative data, stakeholder input, understandable evidence, and ongoing monitoring.</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Generative systems expand fairness evaluation to open-ended content and intersectional representation. Federated systems introduce uneven participation and local performance concerns. Regulation makes documentation, testing, oversight, and accountability deployment requirements. Across all settings, fairness remains a lifecycle practice rather than a one-time metric.</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chapter has moved from bias definitions through diagnosis, impacts, fairness criteria, mitigation, operating practice, and emerging challenges. The next stage of the book carries this fairness lens into later modeling and governance decisions, where dataset choices continue to shape performance, risk, and accountability.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3.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4.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5.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7 — Introduction to bias and fairness</a:t>
            </a:r>
          </a:p>
          <a:p>
            <a:pPr algn="ctr">
              <a:lnSpc>
                <a:spcPts val="2200"/>
              </a:lnSpc>
              <a:spcBef>
                <a:spcPts val="1400"/>
              </a:spcBef>
            </a:pPr>
            <a:r>
              <a:rPr sz="2600" b="0">
                <a:solidFill>
                  <a:srgbClr val="333333"/>
                </a:solidFill>
                <a:latin typeface="Calibri"/>
              </a:rPr>
              <a:t>Earlier chapters established how datasets are collected, labeled, cleaned, and explored</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Dataset Bias and Fairness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Identify policy and governance pressures that make fairness an operational requirement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Dataset Bias and Fairness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Dataset bias and fairness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Dataset bias is a systematic error or imbalance that skews training or evaluation data</a:t>
            </a:r>
          </a:p>
          <a:p>
            <a:pPr>
              <a:spcAft>
                <a:spcPts val="1000"/>
              </a:spcAft>
              <a:buChar char="•"/>
              <a:lnSpc>
                <a:spcPts val="2200"/>
              </a:lnSpc>
            </a:pPr>
            <a:r>
              <a:rPr sz="2000" b="0">
                <a:solidFill>
                  <a:srgbClr val="333333"/>
                </a:solidFill>
                <a:latin typeface="Calibri"/>
              </a:rPr>
              <a:t>Fairness is the operational goal of selecting, measuring</a:t>
            </a:r>
          </a:p>
          <a:p>
            <a:pPr>
              <a:spcAft>
                <a:spcPts val="1000"/>
              </a:spcAft>
              <a:buChar char="•"/>
              <a:lnSpc>
                <a:spcPts val="2200"/>
              </a:lnSpc>
            </a:pPr>
            <a:r>
              <a:rPr sz="2000" b="0">
                <a:solidFill>
                  <a:srgbClr val="333333"/>
                </a:solidFill>
                <a:latin typeface="Calibri"/>
              </a:rPr>
              <a:t>Fairness is therefore a measurable design constraint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Dataset Bias and Fairness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Trust and accountability</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Trust declines when people cannot determine whether a recommendation</a:t>
            </a:r>
          </a:p>
          <a:p>
            <a:pPr>
              <a:spcAft>
                <a:spcPts val="1000"/>
              </a:spcAft>
              <a:buChar char="•"/>
              <a:lnSpc>
                <a:spcPts val="2200"/>
              </a:lnSpc>
            </a:pPr>
            <a:r>
              <a:rPr sz="2000" b="0">
                <a:solidFill>
                  <a:srgbClr val="333333"/>
                </a:solidFill>
                <a:latin typeface="Calibri"/>
              </a:rPr>
              <a:t>Accountability requires named owners, documented data and metrics, mechanisms for review</a:t>
            </a:r>
          </a:p>
          <a:p>
            <a:pPr>
              <a:spcAft>
                <a:spcPts val="1000"/>
              </a:spcAft>
              <a:buChar char="•"/>
              <a:lnSpc>
                <a:spcPts val="2200"/>
              </a:lnSpc>
            </a:pPr>
            <a:r>
              <a:rPr sz="2000" b="0">
                <a:solidFill>
                  <a:srgbClr val="333333"/>
                </a:solidFill>
                <a:latin typeface="Calibri"/>
              </a:rPr>
              <a:t>Deployment, and monitoring</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Dataset Bias and Fairness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7.4 — GDPR &amp; ECOA Policies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7.4 — hands-on module</a:t>
            </a:r>
          </a:p>
          <a:p>
            <a:pPr>
              <a:spcAft>
                <a:spcPts val="1000"/>
              </a:spcAft>
              <a:buChar char="•"/>
              <a:lnSpc>
                <a:spcPts val="2200"/>
              </a:lnSpc>
            </a:pPr>
            <a:r>
              <a:rPr sz="2000" b="0">
                <a:solidFill>
                  <a:srgbClr val="333333"/>
                </a:solidFill>
                <a:latin typeface="Calibri"/>
              </a:rPr>
              <a:t>Example 7.4 shows that fairness has a policy context</a:t>
            </a:r>
          </a:p>
          <a:p>
            <a:pPr>
              <a:spcAft>
                <a:spcPts val="1000"/>
              </a:spcAft>
              <a:buChar char="•"/>
              <a:lnSpc>
                <a:spcPts val="2200"/>
              </a:lnSpc>
            </a:pPr>
            <a:r>
              <a:rPr sz="2000" b="0">
                <a:solidFill>
                  <a:srgbClr val="333333"/>
                </a:solidFill>
                <a:latin typeface="Calibri"/>
              </a:rPr>
              <a:t>European data protection rules place duties around consequential automated decisions</a:t>
            </a:r>
          </a:p>
          <a:p>
            <a:pPr>
              <a:spcAft>
                <a:spcPts val="1000"/>
              </a:spcAft>
              <a:buChar char="•"/>
              <a:lnSpc>
                <a:spcPts val="2200"/>
              </a:lnSpc>
            </a:pPr>
            <a:r>
              <a:rPr sz="2000" b="0">
                <a:solidFill>
                  <a:srgbClr val="333333"/>
                </a:solidFill>
                <a:latin typeface="Calibri"/>
              </a:rPr>
              <a:t>A technically impressive model can still create legal, financial</a:t>
            </a:r>
          </a:p>
          <a:p>
            <a:pPr>
              <a:spcAft>
                <a:spcPts val="1000"/>
              </a:spcAft>
              <a:buChar char="•"/>
              <a:lnSpc>
                <a:spcPts val="2200"/>
              </a:lnSpc>
            </a:pPr>
            <a:r>
              <a:rPr sz="2000" b="0">
                <a:solidFill>
                  <a:srgbClr val="333333"/>
                </a:solidFill>
                <a:latin typeface="Calibri"/>
              </a:rPr>
              <a:t>View files: `modules/chapter7/example4/`</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Dataset Bias and Fairness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7.6 — Gender Shades Project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7.6 — hands-on module</a:t>
            </a:r>
          </a:p>
          <a:p>
            <a:pPr>
              <a:spcAft>
                <a:spcPts val="1000"/>
              </a:spcAft>
              <a:buChar char="•"/>
              <a:lnSpc>
                <a:spcPts val="2200"/>
              </a:lnSpc>
            </a:pPr>
            <a:r>
              <a:rPr sz="2000" b="0">
                <a:solidFill>
                  <a:srgbClr val="333333"/>
                </a:solidFill>
                <a:latin typeface="Calibri"/>
              </a:rPr>
              <a:t>Example 7.6 records subgroup evidence from commercial facial analysis systems</a:t>
            </a:r>
          </a:p>
          <a:p>
            <a:pPr>
              <a:spcAft>
                <a:spcPts val="1000"/>
              </a:spcAft>
              <a:buChar char="•"/>
              <a:lnSpc>
                <a:spcPts val="2200"/>
              </a:lnSpc>
            </a:pPr>
            <a:r>
              <a:rPr sz="2000" b="0">
                <a:solidFill>
                  <a:srgbClr val="333333"/>
                </a:solidFill>
                <a:latin typeface="Calibri"/>
              </a:rPr>
              <a:t>With underrepresentation in training data identified as an important cause</a:t>
            </a:r>
          </a:p>
          <a:p>
            <a:pPr>
              <a:spcAft>
                <a:spcPts val="1000"/>
              </a:spcAft>
              <a:buChar char="•"/>
              <a:lnSpc>
                <a:spcPts val="2200"/>
              </a:lnSpc>
            </a:pPr>
            <a:r>
              <a:rPr sz="2000" b="0">
                <a:solidFill>
                  <a:srgbClr val="333333"/>
                </a:solidFill>
                <a:latin typeface="Calibri"/>
              </a:rPr>
              <a:t>The practical lesson is to report disaggregated errors before deployment rather than</a:t>
            </a:r>
          </a:p>
          <a:p>
            <a:pPr>
              <a:spcAft>
                <a:spcPts val="1000"/>
              </a:spcAft>
              <a:buChar char="•"/>
              <a:lnSpc>
                <a:spcPts val="2200"/>
              </a:lnSpc>
            </a:pPr>
            <a:r>
              <a:rPr sz="2000" b="0">
                <a:solidFill>
                  <a:srgbClr val="333333"/>
                </a:solidFill>
                <a:latin typeface="Calibri"/>
              </a:rPr>
              <a:t>View files: `modules/chapter7/example6/`</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Dataset Bias and Fairness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7.9 — OECD AI Principles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7.9 — hands-on module</a:t>
            </a:r>
          </a:p>
          <a:p>
            <a:pPr>
              <a:spcAft>
                <a:spcPts val="1000"/>
              </a:spcAft>
              <a:buChar char="•"/>
              <a:lnSpc>
                <a:spcPts val="2200"/>
              </a:lnSpc>
            </a:pPr>
            <a:r>
              <a:rPr sz="2000" b="0">
                <a:solidFill>
                  <a:srgbClr val="333333"/>
                </a:solidFill>
                <a:latin typeface="Calibri"/>
              </a:rPr>
              <a:t>Example 7.9 places fairness within a broader governance framework</a:t>
            </a:r>
          </a:p>
          <a:p>
            <a:pPr>
              <a:spcAft>
                <a:spcPts val="1000"/>
              </a:spcAft>
              <a:buChar char="•"/>
              <a:lnSpc>
                <a:spcPts val="2200"/>
              </a:lnSpc>
            </a:pPr>
            <a:r>
              <a:rPr sz="2000" b="0">
                <a:solidFill>
                  <a:srgbClr val="333333"/>
                </a:solidFill>
                <a:latin typeface="Calibri"/>
              </a:rPr>
              <a:t>The OECD principles emphasize transparent, fair, inclusive</a:t>
            </a:r>
          </a:p>
          <a:p>
            <a:pPr>
              <a:spcAft>
                <a:spcPts val="1000"/>
              </a:spcAft>
              <a:buChar char="•"/>
              <a:lnSpc>
                <a:spcPts val="2200"/>
              </a:lnSpc>
            </a:pPr>
            <a:r>
              <a:rPr sz="2000" b="0">
                <a:solidFill>
                  <a:srgbClr val="333333"/>
                </a:solidFill>
                <a:latin typeface="Calibri"/>
              </a:rPr>
              <a:t>Corrective action</a:t>
            </a:r>
          </a:p>
          <a:p>
            <a:pPr>
              <a:spcAft>
                <a:spcPts val="1000"/>
              </a:spcAft>
              <a:buChar char="•"/>
              <a:lnSpc>
                <a:spcPts val="2200"/>
              </a:lnSpc>
            </a:pPr>
            <a:r>
              <a:rPr sz="2000" b="0">
                <a:solidFill>
                  <a:srgbClr val="333333"/>
                </a:solidFill>
                <a:latin typeface="Calibri"/>
              </a:rPr>
              <a:t>View files: `modules/chapter7/example9/`</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Dataset Bias and Fairness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Fairness across the lifecycle</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Bias can enter through collection</a:t>
            </a:r>
          </a:p>
          <a:p>
            <a:pPr>
              <a:spcAft>
                <a:spcPts val="1000"/>
              </a:spcAft>
              <a:buChar char="•"/>
              <a:lnSpc>
                <a:spcPts val="2200"/>
              </a:lnSpc>
            </a:pPr>
            <a:r>
              <a:rPr sz="2000" b="0">
                <a:solidFill>
                  <a:srgbClr val="333333"/>
                </a:solidFill>
                <a:latin typeface="Calibri"/>
              </a:rPr>
              <a:t>It can then be amplified during model training and deployment</a:t>
            </a:r>
          </a:p>
          <a:p>
            <a:pPr>
              <a:spcAft>
                <a:spcPts val="1000"/>
              </a:spcAft>
              <a:buChar char="•"/>
              <a:lnSpc>
                <a:spcPts val="2200"/>
              </a:lnSpc>
            </a:pPr>
            <a:r>
              <a:rPr sz="2000" b="0">
                <a:solidFill>
                  <a:srgbClr val="333333"/>
                </a:solidFill>
                <a:latin typeface="Calibri"/>
              </a:rPr>
              <a:t>Fairness work must therefore span the lifecycle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Dataset Bias and Fairness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Dataset bias describes systematic skew</a:t>
            </a:r>
          </a:p>
          <a:p>
            <a:pPr>
              <a:spcAft>
                <a:spcPts val="1000"/>
              </a:spcAft>
              <a:buChar char="•"/>
              <a:lnSpc>
                <a:spcPts val="2200"/>
              </a:lnSpc>
            </a:pPr>
            <a:r>
              <a:rPr sz="2000" b="0">
                <a:solidFill>
                  <a:srgbClr val="333333"/>
                </a:solidFill>
                <a:latin typeface="Calibri"/>
              </a:rPr>
              <a:t>Average performance can conceal serious subgroup failures</a:t>
            </a:r>
          </a:p>
          <a:p>
            <a:pPr>
              <a:spcAft>
                <a:spcPts val="1000"/>
              </a:spcAft>
              <a:buChar char="•"/>
              <a:lnSpc>
                <a:spcPts val="2200"/>
              </a:lnSpc>
            </a:pPr>
            <a:r>
              <a:rPr sz="2000" b="0">
                <a:solidFill>
                  <a:srgbClr val="333333"/>
                </a:solidFill>
                <a:latin typeface="Calibri"/>
              </a:rPr>
              <a:t>Trust depends on transparency and consistent treatment</a:t>
            </a:r>
          </a:p>
          <a:p>
            <a:pPr>
              <a:spcAft>
                <a:spcPts val="1000"/>
              </a:spcAft>
              <a:buChar char="•"/>
              <a:lnSpc>
                <a:spcPts val="2200"/>
              </a:lnSpc>
            </a:pPr>
            <a:r>
              <a:rPr sz="2000" b="0">
                <a:solidFill>
                  <a:srgbClr val="333333"/>
                </a:solidFill>
                <a:latin typeface="Calibri"/>
              </a:rPr>
              <a:t>Policy principles and legal duties make these concerns part of routine engineering</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Dataset Bias and Fairness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The next clip moves from the general definition to a practical taxonomy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Dataset Bias and Fairness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By the end of this clip</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Dataset Bias and Fairness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Sampling and measurement bias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Sampling bias occurs when collected records do not represent the population or conditions</a:t>
            </a:r>
          </a:p>
          <a:p>
            <a:pPr>
              <a:spcAft>
                <a:spcPts val="1000"/>
              </a:spcAft>
              <a:buChar char="•"/>
              <a:lnSpc>
                <a:spcPts val="2200"/>
              </a:lnSpc>
            </a:pPr>
            <a:r>
              <a:rPr sz="2000" b="0">
                <a:solidFill>
                  <a:srgbClr val="333333"/>
                </a:solidFill>
                <a:latin typeface="Calibri"/>
              </a:rPr>
              <a:t>Measurement bias occurs when instruments</a:t>
            </a:r>
          </a:p>
          <a:p>
            <a:pPr>
              <a:spcAft>
                <a:spcPts val="1000"/>
              </a:spcAft>
              <a:buChar char="•"/>
              <a:lnSpc>
                <a:spcPts val="2200"/>
              </a:lnSpc>
            </a:pPr>
            <a:r>
              <a:rPr sz="2000" b="0">
                <a:solidFill>
                  <a:srgbClr val="333333"/>
                </a:solidFill>
                <a:latin typeface="Calibri"/>
              </a:rPr>
              <a:t>Sampling changes who or what is observed</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Dataset Bias and Fairness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7.12 — Facial Recognition System</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7.12 — hands-on module</a:t>
            </a:r>
          </a:p>
          <a:p>
            <a:pPr>
              <a:spcAft>
                <a:spcPts val="1000"/>
              </a:spcAft>
              <a:buChar char="•"/>
              <a:lnSpc>
                <a:spcPts val="2200"/>
              </a:lnSpc>
            </a:pPr>
            <a:r>
              <a:rPr sz="2000" b="0">
                <a:solidFill>
                  <a:srgbClr val="333333"/>
                </a:solidFill>
                <a:latin typeface="Calibri"/>
              </a:rPr>
              <a:t>Example 7.12 illustrates sampling bias</a:t>
            </a:r>
          </a:p>
          <a:p>
            <a:pPr>
              <a:spcAft>
                <a:spcPts val="1000"/>
              </a:spcAft>
              <a:buChar char="•"/>
              <a:lnSpc>
                <a:spcPts val="2200"/>
              </a:lnSpc>
            </a:pPr>
            <a:r>
              <a:rPr sz="2000" b="0">
                <a:solidFill>
                  <a:srgbClr val="333333"/>
                </a:solidFill>
                <a:latin typeface="Calibri"/>
              </a:rPr>
              <a:t>A facial recognition dataset dominated by light-skinned faces gives a model too little</a:t>
            </a:r>
          </a:p>
          <a:p>
            <a:pPr>
              <a:spcAft>
                <a:spcPts val="1000"/>
              </a:spcAft>
              <a:buChar char="•"/>
              <a:lnSpc>
                <a:spcPts val="2200"/>
              </a:lnSpc>
            </a:pPr>
            <a:r>
              <a:rPr sz="2000" b="0">
                <a:solidFill>
                  <a:srgbClr val="333333"/>
                </a:solidFill>
                <a:latin typeface="Calibri"/>
              </a:rPr>
              <a:t>Performance can therefore vary sharply across groups</a:t>
            </a:r>
          </a:p>
          <a:p>
            <a:pPr>
              <a:spcAft>
                <a:spcPts val="1000"/>
              </a:spcAft>
              <a:buChar char="•"/>
              <a:lnSpc>
                <a:spcPts val="2200"/>
              </a:lnSpc>
            </a:pPr>
            <a:r>
              <a:rPr sz="2000" b="0">
                <a:solidFill>
                  <a:srgbClr val="333333"/>
                </a:solidFill>
                <a:latin typeface="Calibri"/>
              </a:rPr>
              <a:t>Adding more images from the already dominant group increases dataset size without</a:t>
            </a:r>
          </a:p>
          <a:p>
            <a:pPr>
              <a:spcAft>
                <a:spcPts val="1000"/>
              </a:spcAft>
              <a:buChar char="•"/>
              <a:lnSpc>
                <a:spcPts val="2200"/>
              </a:lnSpc>
            </a:pPr>
            <a:r>
              <a:rPr sz="2000" b="0">
                <a:solidFill>
                  <a:srgbClr val="333333"/>
                </a:solidFill>
                <a:latin typeface="Calibri"/>
              </a:rPr>
              <a:t>View files: `modules/chapter7/example12/`</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Dataset Bias and Fairness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7.14 — Creditworthiness System</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7.14 — hands-on module</a:t>
            </a:r>
          </a:p>
          <a:p>
            <a:pPr>
              <a:spcAft>
                <a:spcPts val="1000"/>
              </a:spcAft>
              <a:buChar char="•"/>
              <a:lnSpc>
                <a:spcPts val="2200"/>
              </a:lnSpc>
            </a:pPr>
            <a:r>
              <a:rPr sz="2000" b="0">
                <a:solidFill>
                  <a:srgbClr val="333333"/>
                </a:solidFill>
                <a:latin typeface="Calibri"/>
              </a:rPr>
              <a:t>Example 7.14 illustrates measurement bias through self-reported income</a:t>
            </a:r>
          </a:p>
          <a:p>
            <a:pPr>
              <a:spcAft>
                <a:spcPts val="1000"/>
              </a:spcAft>
              <a:buChar char="•"/>
              <a:lnSpc>
                <a:spcPts val="2200"/>
              </a:lnSpc>
            </a:pPr>
            <a:r>
              <a:rPr sz="2000" b="0">
                <a:solidFill>
                  <a:srgbClr val="333333"/>
                </a:solidFill>
                <a:latin typeface="Calibri"/>
              </a:rPr>
              <a:t>Respondents may overstate or withhold information because of privacy concerns or social</a:t>
            </a:r>
          </a:p>
          <a:p>
            <a:pPr>
              <a:spcAft>
                <a:spcPts val="1000"/>
              </a:spcAft>
              <a:buChar char="•"/>
              <a:lnSpc>
                <a:spcPts val="2200"/>
              </a:lnSpc>
            </a:pPr>
            <a:r>
              <a:rPr sz="2000" b="0">
                <a:solidFill>
                  <a:srgbClr val="333333"/>
                </a:solidFill>
                <a:latin typeface="Calibri"/>
              </a:rPr>
              <a:t>The resulting values are not merely noisy if the error follows a systematic pattern across</a:t>
            </a:r>
          </a:p>
          <a:p>
            <a:pPr>
              <a:spcAft>
                <a:spcPts val="1000"/>
              </a:spcAft>
              <a:buChar char="•"/>
              <a:lnSpc>
                <a:spcPts val="2200"/>
              </a:lnSpc>
            </a:pPr>
            <a:r>
              <a:rPr sz="2000" b="0">
                <a:solidFill>
                  <a:srgbClr val="333333"/>
                </a:solidFill>
                <a:latin typeface="Calibri"/>
              </a:rPr>
              <a:t>Audit work must examine how a variable was produced</a:t>
            </a:r>
          </a:p>
          <a:p>
            <a:pPr>
              <a:spcAft>
                <a:spcPts val="1000"/>
              </a:spcAft>
              <a:buChar char="•"/>
              <a:lnSpc>
                <a:spcPts val="2200"/>
              </a:lnSpc>
            </a:pPr>
            <a:r>
              <a:rPr sz="2000" b="0">
                <a:solidFill>
                  <a:srgbClr val="333333"/>
                </a:solidFill>
                <a:latin typeface="Calibri"/>
              </a:rPr>
              <a:t>View files: `modules/chapter7/example14/`</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Dataset Bias and Fairness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7.17 — Entrenched Societal Biases in Historical Records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7.17 — hands-on module</a:t>
            </a:r>
          </a:p>
          <a:p>
            <a:pPr>
              <a:spcAft>
                <a:spcPts val="1000"/>
              </a:spcAft>
              <a:buChar char="•"/>
              <a:lnSpc>
                <a:spcPts val="2200"/>
              </a:lnSpc>
            </a:pPr>
            <a:r>
              <a:rPr sz="2000" b="0">
                <a:solidFill>
                  <a:srgbClr val="333333"/>
                </a:solidFill>
                <a:latin typeface="Calibri"/>
              </a:rPr>
              <a:t>Example 7.17 shows historical bias</a:t>
            </a:r>
          </a:p>
          <a:p>
            <a:pPr>
              <a:spcAft>
                <a:spcPts val="1000"/>
              </a:spcAft>
              <a:buChar char="•"/>
              <a:lnSpc>
                <a:spcPts val="2200"/>
              </a:lnSpc>
            </a:pPr>
            <a:r>
              <a:rPr sz="2000" b="0">
                <a:solidFill>
                  <a:srgbClr val="333333"/>
                </a:solidFill>
                <a:latin typeface="Calibri"/>
              </a:rPr>
              <a:t>Hiring, lending, judicial</a:t>
            </a:r>
          </a:p>
          <a:p>
            <a:pPr>
              <a:spcAft>
                <a:spcPts val="1000"/>
              </a:spcAft>
              <a:buChar char="•"/>
              <a:lnSpc>
                <a:spcPts val="2200"/>
              </a:lnSpc>
            </a:pPr>
            <a:r>
              <a:rPr sz="2000" b="0">
                <a:solidFill>
                  <a:srgbClr val="333333"/>
                </a:solidFill>
                <a:latin typeface="Calibri"/>
              </a:rPr>
              <a:t>A model can reproduce those patterns even when collection and measurement are technically</a:t>
            </a:r>
          </a:p>
          <a:p>
            <a:pPr>
              <a:spcAft>
                <a:spcPts val="1000"/>
              </a:spcAft>
              <a:buChar char="•"/>
              <a:lnSpc>
                <a:spcPts val="2200"/>
              </a:lnSpc>
            </a:pPr>
            <a:r>
              <a:rPr sz="2000" b="0">
                <a:solidFill>
                  <a:srgbClr val="333333"/>
                </a:solidFill>
                <a:latin typeface="Calibri"/>
              </a:rPr>
              <a:t>Historical data describes what happened</a:t>
            </a:r>
          </a:p>
          <a:p>
            <a:pPr>
              <a:spcAft>
                <a:spcPts val="1000"/>
              </a:spcAft>
              <a:buChar char="•"/>
              <a:lnSpc>
                <a:spcPts val="2200"/>
              </a:lnSpc>
            </a:pPr>
            <a:r>
              <a:rPr sz="2000" b="0">
                <a:solidFill>
                  <a:srgbClr val="333333"/>
                </a:solidFill>
                <a:latin typeface="Calibri"/>
              </a:rPr>
              <a:t>View files: `modules/chapter7/example17/`</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Dataset Bias and Fairness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7.21 — Labeling Bias in Sentiment Annotation</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7.21 — hands-on module</a:t>
            </a:r>
          </a:p>
          <a:p>
            <a:pPr>
              <a:spcAft>
                <a:spcPts val="1000"/>
              </a:spcAft>
              <a:buChar char="•"/>
              <a:lnSpc>
                <a:spcPts val="2200"/>
              </a:lnSpc>
            </a:pPr>
            <a:r>
              <a:rPr sz="2000" b="0">
                <a:solidFill>
                  <a:srgbClr val="333333"/>
                </a:solidFill>
                <a:latin typeface="Calibri"/>
              </a:rPr>
              <a:t>Example 7.21 shows label bias</a:t>
            </a:r>
          </a:p>
          <a:p>
            <a:pPr>
              <a:spcAft>
                <a:spcPts val="1000"/>
              </a:spcAft>
              <a:buChar char="•"/>
              <a:lnSpc>
                <a:spcPts val="2200"/>
              </a:lnSpc>
            </a:pPr>
            <a:r>
              <a:rPr sz="2000" b="0">
                <a:solidFill>
                  <a:srgbClr val="333333"/>
                </a:solidFill>
                <a:latin typeface="Calibri"/>
              </a:rPr>
              <a:t>Annotators may interpret tone differently because of cultural background</a:t>
            </a:r>
          </a:p>
          <a:p>
            <a:pPr>
              <a:spcAft>
                <a:spcPts val="1000"/>
              </a:spcAft>
              <a:buChar char="•"/>
              <a:lnSpc>
                <a:spcPts val="2200"/>
              </a:lnSpc>
            </a:pPr>
            <a:r>
              <a:rPr sz="2000" b="0">
                <a:solidFill>
                  <a:srgbClr val="333333"/>
                </a:solidFill>
                <a:latin typeface="Calibri"/>
              </a:rPr>
              <a:t>If these disagreements systematically affect some dialects or groups</a:t>
            </a:r>
          </a:p>
          <a:p>
            <a:pPr>
              <a:spcAft>
                <a:spcPts val="1000"/>
              </a:spcAft>
              <a:buChar char="•"/>
              <a:lnSpc>
                <a:spcPts val="2200"/>
              </a:lnSpc>
            </a:pPr>
            <a:r>
              <a:rPr sz="2000" b="0">
                <a:solidFill>
                  <a:srgbClr val="333333"/>
                </a:solidFill>
                <a:latin typeface="Calibri"/>
              </a:rPr>
              <a:t>View files: `modules/chapter7/example21/`</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Dataset Bias and Fairness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7.21 — listing</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400"/>
              </a:spcAft>
            </a:pPr>
            <a:r>
              <a:rPr sz="2000" b="0">
                <a:solidFill>
                  <a:srgbClr val="333333"/>
                </a:solidFill>
                <a:latin typeface="Consolas"/>
              </a:rPr>
              <a:t>"""Example 7.21 — chi-squared test of gender distribution across</a:t>
            </a:r>
          </a:p>
          <a:p>
            <a:pPr>
              <a:lnSpc>
                <a:spcPts val="2200"/>
              </a:lnSpc>
              <a:spcAft>
                <a:spcPts val="400"/>
              </a:spcAft>
            </a:pPr>
            <a:r>
              <a:rPr sz="2000" b="0">
                <a:solidFill>
                  <a:srgbClr val="333333"/>
                </a:solidFill>
                <a:latin typeface="Consolas"/>
              </a:rPr>
              <a:t>performance categories."""</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from __future__ import annotations</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def main() -&gt; None:</a:t>
            </a:r>
          </a:p>
          <a:p>
            <a:pPr>
              <a:lnSpc>
                <a:spcPts val="2200"/>
              </a:lnSpc>
              <a:spcAft>
                <a:spcPts val="400"/>
              </a:spcAft>
            </a:pPr>
            <a:r>
              <a:rPr sz="2000" b="0">
                <a:solidFill>
                  <a:srgbClr val="333333"/>
                </a:solidFill>
                <a:latin typeface="Consolas"/>
              </a:rPr>
              <a:t>    """Run a 2x2 chi-squared test on gender vs performance category."""</a:t>
            </a:r>
          </a:p>
          <a:p>
            <a:pPr>
              <a:lnSpc>
                <a:spcPts val="2200"/>
              </a:lnSpc>
              <a:spcAft>
                <a:spcPts val="400"/>
              </a:spcAft>
            </a:pPr>
            <a:r>
              <a:rPr sz="2000" b="0">
                <a:solidFill>
                  <a:srgbClr val="333333"/>
                </a:solidFill>
                <a:latin typeface="Consolas"/>
              </a:rPr>
              <a:t>    # Observed contingency table: rows = gender, cols = (high, low)</a:t>
            </a:r>
          </a:p>
          <a:p>
            <a:pPr>
              <a:lnSpc>
                <a:spcPts val="2200"/>
              </a:lnSpc>
              <a:spcAft>
                <a:spcPts val="400"/>
              </a:spcAft>
            </a:pPr>
            <a:r>
              <a:rPr sz="2000" b="0">
                <a:solidFill>
                  <a:srgbClr val="333333"/>
                </a:solidFill>
                <a:latin typeface="Consolas"/>
              </a:rPr>
              <a:t>performers.</a:t>
            </a:r>
          </a:p>
          <a:p>
            <a:pPr>
              <a:lnSpc>
                <a:spcPts val="2200"/>
              </a:lnSpc>
              <a:spcAft>
                <a:spcPts val="400"/>
              </a:spcAft>
            </a:pPr>
            <a:r>
              <a:rPr sz="2000" b="0">
                <a:solidFill>
                  <a:srgbClr val="333333"/>
                </a:solidFill>
                <a:latin typeface="Consolas"/>
              </a:rPr>
              <a:t>    observed: dict[str, tuple[int, int]] = {"Male": (90, 210), "Female":</a:t>
            </a:r>
          </a:p>
          <a:p>
            <a:pPr>
              <a:lnSpc>
                <a:spcPts val="2200"/>
              </a:lnSpc>
              <a:spcAft>
                <a:spcPts val="400"/>
              </a:spcAft>
            </a:pPr>
            <a:r>
              <a:rPr sz="2000" b="0">
                <a:solidFill>
                  <a:srgbClr val="333333"/>
                </a:solidFill>
                <a:latin typeface="Consolas"/>
              </a:rPr>
              <a:t>(30, 170)}</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    row_totals = {g: sum(cells) for g, cells in observed.items()}</a:t>
            </a:r>
          </a:p>
          <a:p>
            <a:pPr>
              <a:lnSpc>
                <a:spcPts val="2200"/>
              </a:lnSpc>
              <a:spcAft>
                <a:spcPts val="400"/>
              </a:spcAft>
            </a:pPr>
            <a:r>
              <a:rPr sz="2000" b="0">
                <a:solidFill>
                  <a:srgbClr val="333333"/>
                </a:solidFill>
                <a:latin typeface="Consolas"/>
              </a:rPr>
              <a:t>    col_totals = (</a:t>
            </a:r>
          </a:p>
          <a:p>
            <a:pPr>
              <a:lnSpc>
                <a:spcPts val="2200"/>
              </a:lnSpc>
              <a:spcAft>
                <a:spcPts val="400"/>
              </a:spcAft>
            </a:pPr>
            <a:r>
              <a:rPr sz="2000" b="0">
                <a:solidFill>
                  <a:srgbClr val="333333"/>
                </a:solidFill>
                <a:latin typeface="Consolas"/>
              </a:rPr>
              <a:t>        sum(cells[0] for cells in observed.values()),</a:t>
            </a:r>
          </a:p>
          <a:p>
            <a:pPr>
              <a:lnSpc>
                <a:spcPts val="2200"/>
              </a:lnSpc>
              <a:spcAft>
                <a:spcPts val="400"/>
              </a:spcAft>
            </a:pPr>
            <a:r>
              <a:rPr sz="2000" b="0">
                <a:solidFill>
                  <a:srgbClr val="333333"/>
                </a:solidFill>
                <a:latin typeface="Consolas"/>
              </a:rPr>
              <a:t>        sum(cells[1] for cells in observed.values()),</a:t>
            </a:r>
          </a:p>
          <a:p>
            <a:pPr>
              <a:lnSpc>
                <a:spcPts val="2200"/>
              </a:lnSpc>
              <a:spcAft>
                <a:spcPts val="400"/>
              </a:spcAft>
            </a:pPr>
            <a:r>
              <a:rPr sz="2000" b="0">
                <a:solidFill>
                  <a:srgbClr val="333333"/>
                </a:solidFill>
                <a:latin typeface="Consolas"/>
              </a:rPr>
              <a:t>    )</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Dataset Bias and Fairness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Aggregation and confirmation bias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Aggregation bias appears when diverse subgroups are treated as homogeneous and important</a:t>
            </a:r>
          </a:p>
          <a:p>
            <a:pPr>
              <a:spcAft>
                <a:spcPts val="1000"/>
              </a:spcAft>
              <a:buChar char="•"/>
              <a:lnSpc>
                <a:spcPts val="2200"/>
              </a:lnSpc>
            </a:pPr>
            <a:r>
              <a:rPr sz="2000" b="0">
                <a:solidFill>
                  <a:srgbClr val="333333"/>
                </a:solidFill>
                <a:latin typeface="Calibri"/>
              </a:rPr>
              <a:t>Confirmation bias appears when data is selected or interpreted to support an existing</a:t>
            </a:r>
          </a:p>
          <a:p>
            <a:pPr>
              <a:spcAft>
                <a:spcPts val="1000"/>
              </a:spcAft>
              <a:buChar char="•"/>
              <a:lnSpc>
                <a:spcPts val="2200"/>
              </a:lnSpc>
            </a:pPr>
            <a:r>
              <a:rPr sz="2000" b="0">
                <a:solidFill>
                  <a:srgbClr val="333333"/>
                </a:solidFill>
                <a:latin typeface="Calibri"/>
              </a:rPr>
              <a:t>One masks variation through pooling; the other narrows evidence through expectation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Dataset Bias and Fairness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Diagnosing overlapping mechanisms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A single system may combine several mechanisms</a:t>
            </a:r>
          </a:p>
          <a:p>
            <a:pPr>
              <a:spcAft>
                <a:spcPts val="1000"/>
              </a:spcAft>
              <a:buChar char="•"/>
              <a:lnSpc>
                <a:spcPts val="2200"/>
              </a:lnSpc>
            </a:pPr>
            <a:r>
              <a:rPr sz="2000" b="0">
                <a:solidFill>
                  <a:srgbClr val="333333"/>
                </a:solidFill>
                <a:latin typeface="Calibri"/>
              </a:rPr>
              <a:t>Encourage confirmation of an assumed crime pattern</a:t>
            </a:r>
          </a:p>
          <a:p>
            <a:pPr>
              <a:spcAft>
                <a:spcPts val="1000"/>
              </a:spcAft>
              <a:buChar char="•"/>
              <a:lnSpc>
                <a:spcPts val="2200"/>
              </a:lnSpc>
            </a:pPr>
            <a:r>
              <a:rPr sz="2000" b="0">
                <a:solidFill>
                  <a:srgbClr val="333333"/>
                </a:solidFill>
                <a:latin typeface="Calibri"/>
              </a:rPr>
              <a:t>Analyst decisions rather than assigning one convenient label</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Dataset Bias and Fairness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Label bias concerns target construction</a:t>
            </a:r>
          </a:p>
          <a:p>
            <a:pPr>
              <a:spcAft>
                <a:spcPts val="1000"/>
              </a:spcAft>
              <a:buChar char="•"/>
              <a:lnSpc>
                <a:spcPts val="2200"/>
              </a:lnSpc>
            </a:pPr>
            <a:r>
              <a:rPr sz="2000" b="0">
                <a:solidFill>
                  <a:srgbClr val="333333"/>
                </a:solidFill>
                <a:latin typeface="Calibri"/>
              </a:rPr>
              <a:t>Aggregation bias hides subgroup differences</a:t>
            </a:r>
          </a:p>
          <a:p>
            <a:pPr>
              <a:spcAft>
                <a:spcPts val="1000"/>
              </a:spcAft>
              <a:buChar char="•"/>
              <a:lnSpc>
                <a:spcPts val="2200"/>
              </a:lnSpc>
            </a:pPr>
            <a:r>
              <a:rPr sz="2000" b="0">
                <a:solidFill>
                  <a:srgbClr val="333333"/>
                </a:solidFill>
                <a:latin typeface="Calibri"/>
              </a:rPr>
              <a:t>Precise diagnosis guides intervention and prevents the mistaken assumption that more data</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Dataset Bias and Fairness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The next clip turns this taxonomy into measurable evidence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Dataset Bias and Fairness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Calculate and cautiously interpret a disparate-impact ratio using the eighty-percent rule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Dataset Bias and Fairness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7.27 — Multiple Manifestations of Dataset Bias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7.27 — hands-on module</a:t>
            </a:r>
          </a:p>
          <a:p>
            <a:pPr>
              <a:spcAft>
                <a:spcPts val="1000"/>
              </a:spcAft>
              <a:buChar char="•"/>
              <a:lnSpc>
                <a:spcPts val="2200"/>
              </a:lnSpc>
            </a:pPr>
            <a:r>
              <a:rPr sz="2000" b="0">
                <a:solidFill>
                  <a:srgbClr val="333333"/>
                </a:solidFill>
                <a:latin typeface="Calibri"/>
              </a:rPr>
              <a:t>Example 7.27 establishes why one metric is insufficient</a:t>
            </a:r>
          </a:p>
          <a:p>
            <a:pPr>
              <a:spcAft>
                <a:spcPts val="1000"/>
              </a:spcAft>
              <a:buChar char="•"/>
              <a:lnSpc>
                <a:spcPts val="2200"/>
              </a:lnSpc>
            </a:pPr>
            <a:r>
              <a:rPr sz="2000" b="0">
                <a:solidFill>
                  <a:srgbClr val="333333"/>
                </a:solidFill>
                <a:latin typeface="Calibri"/>
              </a:rPr>
              <a:t>Bias may appear in demographic representation</a:t>
            </a:r>
          </a:p>
          <a:p>
            <a:pPr>
              <a:spcAft>
                <a:spcPts val="1000"/>
              </a:spcAft>
              <a:buChar char="•"/>
              <a:lnSpc>
                <a:spcPts val="2200"/>
              </a:lnSpc>
            </a:pPr>
            <a:r>
              <a:rPr sz="2000" b="0">
                <a:solidFill>
                  <a:srgbClr val="333333"/>
                </a:solidFill>
                <a:latin typeface="Calibri"/>
              </a:rPr>
              <a:t>An audit should therefore inspect both inputs and decisions, compare several subgroups</a:t>
            </a:r>
          </a:p>
          <a:p>
            <a:pPr>
              <a:spcAft>
                <a:spcPts val="1000"/>
              </a:spcAft>
              <a:buChar char="•"/>
              <a:lnSpc>
                <a:spcPts val="2200"/>
              </a:lnSpc>
            </a:pPr>
            <a:r>
              <a:rPr sz="2000" b="0">
                <a:solidFill>
                  <a:srgbClr val="333333"/>
                </a:solidFill>
                <a:latin typeface="Calibri"/>
              </a:rPr>
              <a:t>View files: `modules/chapter7/example27/`</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Dataset Bias and Fairness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7.27 — listing</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400"/>
              </a:spcAft>
            </a:pPr>
            <a:r>
              <a:rPr sz="2000" b="0">
                <a:solidFill>
                  <a:srgbClr val="333333"/>
                </a:solidFill>
                <a:latin typeface="Consolas"/>
              </a:rPr>
              <a:t>"""Example 7.27 — bar chart of favorable predictions by demographic</a:t>
            </a:r>
          </a:p>
          <a:p>
            <a:pPr>
              <a:lnSpc>
                <a:spcPts val="2200"/>
              </a:lnSpc>
              <a:spcAft>
                <a:spcPts val="400"/>
              </a:spcAft>
            </a:pPr>
            <a:r>
              <a:rPr sz="2000" b="0">
                <a:solidFill>
                  <a:srgbClr val="333333"/>
                </a:solidFill>
                <a:latin typeface="Consolas"/>
              </a:rPr>
              <a:t>group (ASCII)."""</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from __future__ import annotations</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def main() -&gt; None:</a:t>
            </a:r>
          </a:p>
          <a:p>
            <a:pPr>
              <a:lnSpc>
                <a:spcPts val="2200"/>
              </a:lnSpc>
              <a:spcAft>
                <a:spcPts val="400"/>
              </a:spcAft>
            </a:pPr>
            <a:r>
              <a:rPr sz="2000" b="0">
                <a:solidFill>
                  <a:srgbClr val="333333"/>
                </a:solidFill>
                <a:latin typeface="Consolas"/>
              </a:rPr>
              <a:t>    """Draw an ASCII bar chart of selection rates per subgroup."""</a:t>
            </a:r>
          </a:p>
          <a:p>
            <a:pPr>
              <a:lnSpc>
                <a:spcPts val="2200"/>
              </a:lnSpc>
              <a:spcAft>
                <a:spcPts val="400"/>
              </a:spcAft>
            </a:pPr>
            <a:r>
              <a:rPr sz="2000" b="0">
                <a:solidFill>
                  <a:srgbClr val="333333"/>
                </a:solidFill>
                <a:latin typeface="Consolas"/>
              </a:rPr>
              <a:t>    selection_rate: dict[str, float] = {</a:t>
            </a:r>
          </a:p>
          <a:p>
            <a:pPr>
              <a:lnSpc>
                <a:spcPts val="2200"/>
              </a:lnSpc>
              <a:spcAft>
                <a:spcPts val="400"/>
              </a:spcAft>
            </a:pPr>
            <a:r>
              <a:rPr sz="2000" b="0">
                <a:solidFill>
                  <a:srgbClr val="333333"/>
                </a:solidFill>
                <a:latin typeface="Consolas"/>
              </a:rPr>
              <a:t>        "Group A": 0.42,</a:t>
            </a:r>
          </a:p>
          <a:p>
            <a:pPr>
              <a:lnSpc>
                <a:spcPts val="2200"/>
              </a:lnSpc>
              <a:spcAft>
                <a:spcPts val="400"/>
              </a:spcAft>
            </a:pPr>
            <a:r>
              <a:rPr sz="2000" b="0">
                <a:solidFill>
                  <a:srgbClr val="333333"/>
                </a:solidFill>
                <a:latin typeface="Consolas"/>
              </a:rPr>
              <a:t>        "Group B": 0.35,</a:t>
            </a:r>
          </a:p>
          <a:p>
            <a:pPr>
              <a:lnSpc>
                <a:spcPts val="2200"/>
              </a:lnSpc>
              <a:spcAft>
                <a:spcPts val="400"/>
              </a:spcAft>
            </a:pPr>
            <a:r>
              <a:rPr sz="2000" b="0">
                <a:solidFill>
                  <a:srgbClr val="333333"/>
                </a:solidFill>
                <a:latin typeface="Consolas"/>
              </a:rPr>
              <a:t>        "Group C": 0.19,</a:t>
            </a:r>
          </a:p>
          <a:p>
            <a:pPr>
              <a:lnSpc>
                <a:spcPts val="2200"/>
              </a:lnSpc>
              <a:spcAft>
                <a:spcPts val="400"/>
              </a:spcAft>
            </a:pPr>
            <a:r>
              <a:rPr sz="2000" b="0">
                <a:solidFill>
                  <a:srgbClr val="333333"/>
                </a:solidFill>
                <a:latin typeface="Consolas"/>
              </a:rPr>
              <a:t>        "Group D": 0.15,</a:t>
            </a:r>
          </a:p>
          <a:p>
            <a:pPr>
              <a:lnSpc>
                <a:spcPts val="2200"/>
              </a:lnSpc>
              <a:spcAft>
                <a:spcPts val="400"/>
              </a:spcAft>
            </a:pPr>
            <a:r>
              <a:rPr sz="2000" b="0">
                <a:solidFill>
                  <a:srgbClr val="333333"/>
                </a:solidFill>
                <a:latin typeface="Consolas"/>
              </a:rPr>
              <a:t>    }</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    print("Selection rate by demographic subgroup (each # = 2 percentage</a:t>
            </a:r>
          </a:p>
          <a:p>
            <a:pPr>
              <a:lnSpc>
                <a:spcPts val="2200"/>
              </a:lnSpc>
              <a:spcAft>
                <a:spcPts val="400"/>
              </a:spcAft>
            </a:pPr>
            <a:r>
              <a:rPr sz="2000" b="0">
                <a:solidFill>
                  <a:srgbClr val="333333"/>
                </a:solidFill>
                <a:latin typeface="Consolas"/>
              </a:rPr>
              <a:t>points):\n")</a:t>
            </a:r>
          </a:p>
          <a:p>
            <a:pPr>
              <a:lnSpc>
                <a:spcPts val="2200"/>
              </a:lnSpc>
              <a:spcAft>
                <a:spcPts val="400"/>
              </a:spcAft>
            </a:pPr>
            <a:r>
              <a:rPr sz="2000" b="0">
                <a:solidFill>
                  <a:srgbClr val="333333"/>
                </a:solidFill>
                <a:latin typeface="Consolas"/>
              </a:rPr>
              <a:t>    for group, rate in selection_rate.items():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Dataset Bias and Fairness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7.28 — Distribution Comparison Across Demographics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7.28 — hands-on module</a:t>
            </a:r>
          </a:p>
          <a:p>
            <a:pPr>
              <a:spcAft>
                <a:spcPts val="1000"/>
              </a:spcAft>
              <a:buChar char="•"/>
              <a:lnSpc>
                <a:spcPts val="2200"/>
              </a:lnSpc>
            </a:pPr>
            <a:r>
              <a:rPr sz="2000" b="0">
                <a:solidFill>
                  <a:srgbClr val="333333"/>
                </a:solidFill>
                <a:latin typeface="Calibri"/>
              </a:rPr>
              <a:t>Example 7.28 compares features such as age, gender</a:t>
            </a:r>
          </a:p>
          <a:p>
            <a:pPr>
              <a:spcAft>
                <a:spcPts val="1000"/>
              </a:spcAft>
              <a:buChar char="•"/>
              <a:lnSpc>
                <a:spcPts val="2200"/>
              </a:lnSpc>
            </a:pPr>
            <a:r>
              <a:rPr sz="2000" b="0">
                <a:solidFill>
                  <a:srgbClr val="333333"/>
                </a:solidFill>
                <a:latin typeface="Calibri"/>
              </a:rPr>
              <a:t>Differences in counts</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`modules/chapter7/example28/`</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Dataset Bias and Fairness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Statistical tests and practical significance</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Formal tests can assess whether observed distribution differences are unlikely under a</a:t>
            </a:r>
          </a:p>
          <a:p>
            <a:pPr>
              <a:spcAft>
                <a:spcPts val="1000"/>
              </a:spcAft>
              <a:buChar char="•"/>
              <a:lnSpc>
                <a:spcPts val="2200"/>
              </a:lnSpc>
            </a:pPr>
            <a:r>
              <a:rPr sz="2000" b="0">
                <a:solidFill>
                  <a:srgbClr val="333333"/>
                </a:solidFill>
                <a:latin typeface="Calibri"/>
              </a:rPr>
              <a:t>A chi-squared test is suitable for categorical counts</a:t>
            </a:r>
          </a:p>
          <a:p>
            <a:pPr>
              <a:spcAft>
                <a:spcPts val="1000"/>
              </a:spcAft>
              <a:buChar char="•"/>
              <a:lnSpc>
                <a:spcPts val="2200"/>
              </a:lnSpc>
            </a:pPr>
            <a:r>
              <a:rPr sz="2000" b="0">
                <a:solidFill>
                  <a:srgbClr val="333333"/>
                </a:solidFill>
                <a:latin typeface="Calibri"/>
              </a:rPr>
              <a:t>Statistical significance does not establish harm or practical importance</a:t>
            </a:r>
          </a:p>
          <a:p>
            <a:pPr>
              <a:spcAft>
                <a:spcPts val="1000"/>
              </a:spcAft>
              <a:buChar char="•"/>
              <a:lnSpc>
                <a:spcPts val="2200"/>
              </a:lnSpc>
            </a:pPr>
            <a:r>
              <a:rPr sz="2000" b="0">
                <a:solidFill>
                  <a:srgbClr val="333333"/>
                </a:solidFill>
                <a:latin typeface="Calibri"/>
              </a:rPr>
              <a:t>Effect size and context remain essential</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Dataset Bias and Fairness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7.30 — Chi-Squared Test for Gender Distribution</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7.30 — hands-on module</a:t>
            </a:r>
          </a:p>
          <a:p>
            <a:pPr>
              <a:spcAft>
                <a:spcPts val="1000"/>
              </a:spcAft>
              <a:buChar char="•"/>
              <a:lnSpc>
                <a:spcPts val="2200"/>
              </a:lnSpc>
            </a:pPr>
            <a:r>
              <a:rPr sz="2000" b="0">
                <a:solidFill>
                  <a:srgbClr val="333333"/>
                </a:solidFill>
                <a:latin typeface="Calibri"/>
              </a:rPr>
              <a:t>Example 7.30 asks whether gender distribution differs across outcome categories</a:t>
            </a:r>
          </a:p>
          <a:p>
            <a:pPr>
              <a:spcAft>
                <a:spcPts val="1000"/>
              </a:spcAft>
              <a:buChar char="•"/>
              <a:lnSpc>
                <a:spcPts val="2200"/>
              </a:lnSpc>
            </a:pPr>
            <a:r>
              <a:rPr sz="2000" b="0">
                <a:solidFill>
                  <a:srgbClr val="333333"/>
                </a:solidFill>
                <a:latin typeface="Calibri"/>
              </a:rPr>
              <a:t>The test compares observed counts with counts expected under independence</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`modules/chapter7/example30/`</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Dataset Bias and Fairness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Correlations and proxy features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Correlation analysis can reveal features that encode sensitive attributes indirectly</a:t>
            </a:r>
          </a:p>
          <a:p>
            <a:pPr>
              <a:spcAft>
                <a:spcPts val="1000"/>
              </a:spcAft>
              <a:buChar char="•"/>
              <a:lnSpc>
                <a:spcPts val="2200"/>
              </a:lnSpc>
            </a:pPr>
            <a:r>
              <a:rPr sz="2000" b="0">
                <a:solidFill>
                  <a:srgbClr val="333333"/>
                </a:solidFill>
                <a:latin typeface="Calibri"/>
              </a:rPr>
              <a:t>Names, neighborhoods, schools, or purchasing patterns may act as proxies even after race</a:t>
            </a:r>
          </a:p>
          <a:p>
            <a:pPr>
              <a:spcAft>
                <a:spcPts val="1000"/>
              </a:spcAft>
              <a:buChar char="•"/>
              <a:lnSpc>
                <a:spcPts val="2200"/>
              </a:lnSpc>
            </a:pPr>
            <a:r>
              <a:rPr sz="2000" b="0">
                <a:solidFill>
                  <a:srgbClr val="333333"/>
                </a:solidFill>
                <a:latin typeface="Calibri"/>
              </a:rPr>
              <a:t>Subgroup outcomes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Dataset Bias and Fairness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7.33 — The 80% Rule in Hiring</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7.33 — hands-on module</a:t>
            </a:r>
          </a:p>
          <a:p>
            <a:pPr>
              <a:spcAft>
                <a:spcPts val="1000"/>
              </a:spcAft>
              <a:buChar char="•"/>
              <a:lnSpc>
                <a:spcPts val="2200"/>
              </a:lnSpc>
            </a:pPr>
            <a:r>
              <a:rPr sz="2000" b="0">
                <a:solidFill>
                  <a:srgbClr val="333333"/>
                </a:solidFill>
                <a:latin typeface="Calibri"/>
              </a:rPr>
              <a:t>Example 7.33 calculates a disparate-impact ratio by dividing one group's selection rate by</a:t>
            </a:r>
          </a:p>
          <a:p>
            <a:pPr>
              <a:spcAft>
                <a:spcPts val="1000"/>
              </a:spcAft>
              <a:buChar char="•"/>
              <a:lnSpc>
                <a:spcPts val="2200"/>
              </a:lnSpc>
            </a:pPr>
            <a:r>
              <a:rPr sz="2000" b="0">
                <a:solidFill>
                  <a:srgbClr val="333333"/>
                </a:solidFill>
                <a:latin typeface="Calibri"/>
              </a:rPr>
              <a:t>A ratio below zero point eight is commonly used as a screening threshold for potential</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`modules/chapter7/example33/`</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Dataset Bias and Fairness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Building a defensible audit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Chosen reference group</a:t>
            </a:r>
          </a:p>
          <a:p>
            <a:pPr>
              <a:spcAft>
                <a:spcPts val="1000"/>
              </a:spcAft>
              <a:buChar char="•"/>
              <a:lnSpc>
                <a:spcPts val="2200"/>
              </a:lnSpc>
            </a:pPr>
            <a:r>
              <a:rPr sz="2000" b="0">
                <a:solidFill>
                  <a:srgbClr val="333333"/>
                </a:solidFill>
                <a:latin typeface="Calibri"/>
              </a:rPr>
              <a:t>It reports both absolute rates and relative ratios, checks small groups carefully</a:t>
            </a:r>
          </a:p>
          <a:p>
            <a:pPr>
              <a:spcAft>
                <a:spcPts val="1000"/>
              </a:spcAft>
              <a:buChar char="•"/>
              <a:lnSpc>
                <a:spcPts val="2200"/>
              </a:lnSpc>
            </a:pPr>
            <a:r>
              <a:rPr sz="2000" b="0">
                <a:solidFill>
                  <a:srgbClr val="333333"/>
                </a:solidFill>
                <a:latin typeface="Calibri"/>
              </a:rPr>
              <a:t>Results should be repeatable and linked to a decision about further analysis or mitigation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Dataset Bias and Fairness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Distribution checks reveal representation and data-quality gaps</a:t>
            </a:r>
          </a:p>
          <a:p>
            <a:pPr>
              <a:spcAft>
                <a:spcPts val="1000"/>
              </a:spcAft>
              <a:buChar char="•"/>
              <a:lnSpc>
                <a:spcPts val="2200"/>
              </a:lnSpc>
            </a:pPr>
            <a:r>
              <a:rPr sz="2000" b="0">
                <a:solidFill>
                  <a:srgbClr val="333333"/>
                </a:solidFill>
                <a:latin typeface="Calibri"/>
              </a:rPr>
              <a:t>Statistical tests formalize comparisons but must be paired with effect size and context</a:t>
            </a:r>
          </a:p>
          <a:p>
            <a:pPr>
              <a:spcAft>
                <a:spcPts val="1000"/>
              </a:spcAft>
              <a:buChar char="•"/>
              <a:lnSpc>
                <a:spcPts val="2200"/>
              </a:lnSpc>
            </a:pPr>
            <a:r>
              <a:rPr sz="2000" b="0">
                <a:solidFill>
                  <a:srgbClr val="333333"/>
                </a:solidFill>
                <a:latin typeface="Calibri"/>
              </a:rPr>
              <a:t>Correlation can uncover proxy pathways</a:t>
            </a:r>
          </a:p>
          <a:p>
            <a:pPr>
              <a:spcAft>
                <a:spcPts val="1000"/>
              </a:spcAft>
              <a:buChar char="•"/>
              <a:lnSpc>
                <a:spcPts val="2200"/>
              </a:lnSpc>
            </a:pPr>
            <a:r>
              <a:rPr sz="2000" b="0">
                <a:solidFill>
                  <a:srgbClr val="333333"/>
                </a:solidFill>
                <a:latin typeface="Calibri"/>
              </a:rPr>
              <a:t>Disparate-impact ratios summarize unequal selection rates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Dataset Bias and Fairness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The next clip makes these findings easier to inspect and communicate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Dataset Bias and Fairness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By the end of this clip</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Dataset Bias and Fairness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7.34 — Combining Views for Bias Screening</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7.34 — hands-on module</a:t>
            </a:r>
          </a:p>
          <a:p>
            <a:pPr>
              <a:spcAft>
                <a:spcPts val="1000"/>
              </a:spcAft>
              <a:buChar char="•"/>
              <a:lnSpc>
                <a:spcPts val="2200"/>
              </a:lnSpc>
            </a:pPr>
            <a:r>
              <a:rPr sz="2000" b="0">
                <a:solidFill>
                  <a:srgbClr val="333333"/>
                </a:solidFill>
                <a:latin typeface="Calibri"/>
              </a:rPr>
              <a:t>Example 7.34 combines a correlation heatmap, approval bars by race</a:t>
            </a:r>
          </a:p>
          <a:p>
            <a:pPr>
              <a:spcAft>
                <a:spcPts val="1000"/>
              </a:spcAft>
              <a:buChar char="•"/>
              <a:lnSpc>
                <a:spcPts val="2200"/>
              </a:lnSpc>
            </a:pPr>
            <a:r>
              <a:rPr sz="2000" b="0">
                <a:solidFill>
                  <a:srgbClr val="333333"/>
                </a:solidFill>
                <a:latin typeface="Calibri"/>
              </a:rPr>
              <a:t>No single view answers the fairness question</a:t>
            </a:r>
          </a:p>
          <a:p>
            <a:pPr>
              <a:spcAft>
                <a:spcPts val="1000"/>
              </a:spcAft>
              <a:buChar char="•"/>
              <a:lnSpc>
                <a:spcPts val="2200"/>
              </a:lnSpc>
            </a:pPr>
            <a:r>
              <a:rPr sz="2000" b="0">
                <a:solidFill>
                  <a:srgbClr val="333333"/>
                </a:solidFill>
                <a:latin typeface="Calibri"/>
              </a:rPr>
              <a:t>Together they show where imbalance is concentrated and which formal tests should follow</a:t>
            </a:r>
          </a:p>
          <a:p>
            <a:pPr>
              <a:spcAft>
                <a:spcPts val="1000"/>
              </a:spcAft>
              <a:buChar char="•"/>
              <a:lnSpc>
                <a:spcPts val="2200"/>
              </a:lnSpc>
            </a:pPr>
            <a:r>
              <a:rPr sz="2000" b="0">
                <a:solidFill>
                  <a:srgbClr val="333333"/>
                </a:solidFill>
                <a:latin typeface="Calibri"/>
              </a:rPr>
              <a:t>A dashboard should organize this sequence rather than display unrelated charts</a:t>
            </a:r>
          </a:p>
          <a:p>
            <a:pPr>
              <a:spcAft>
                <a:spcPts val="1000"/>
              </a:spcAft>
              <a:buChar char="•"/>
              <a:lnSpc>
                <a:spcPts val="2200"/>
              </a:lnSpc>
            </a:pPr>
            <a:r>
              <a:rPr sz="2000" b="0">
                <a:solidFill>
                  <a:srgbClr val="333333"/>
                </a:solidFill>
                <a:latin typeface="Calibri"/>
              </a:rPr>
              <a:t>View files: `modules/chapter7/example34/`</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Dataset Bias and Fairness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Heatmaps and dashboards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Heatmaps compactly display correlations or a matrix of subgroup metrics</a:t>
            </a:r>
          </a:p>
          <a:p>
            <a:pPr>
              <a:spcAft>
                <a:spcPts val="1000"/>
              </a:spcAft>
              <a:buChar char="•"/>
              <a:lnSpc>
                <a:spcPts val="2200"/>
              </a:lnSpc>
            </a:pPr>
            <a:r>
              <a:rPr sz="2000" b="0">
                <a:solidFill>
                  <a:srgbClr val="333333"/>
                </a:solidFill>
                <a:latin typeface="Calibri"/>
              </a:rPr>
              <a:t>They can expose proxy relationships and clusters of uneven error</a:t>
            </a:r>
          </a:p>
          <a:p>
            <a:pPr>
              <a:spcAft>
                <a:spcPts val="1000"/>
              </a:spcAft>
              <a:buChar char="•"/>
              <a:lnSpc>
                <a:spcPts val="2200"/>
              </a:lnSpc>
            </a:pPr>
            <a:r>
              <a:rPr sz="2000" b="0">
                <a:solidFill>
                  <a:srgbClr val="333333"/>
                </a:solidFill>
                <a:latin typeface="Calibri"/>
              </a:rPr>
              <a:t>Dashboards add filters, reference rates, sample sizes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Dataset Bias and Fairness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7.36 — Bar Chart of Predictions by Demographic Group</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7.36 — hands-on module</a:t>
            </a:r>
          </a:p>
          <a:p>
            <a:pPr>
              <a:spcAft>
                <a:spcPts val="1000"/>
              </a:spcAft>
              <a:buChar char="•"/>
              <a:lnSpc>
                <a:spcPts val="2200"/>
              </a:lnSpc>
            </a:pPr>
            <a:r>
              <a:rPr sz="2000" b="0">
                <a:solidFill>
                  <a:srgbClr val="333333"/>
                </a:solidFill>
                <a:latin typeface="Calibri"/>
              </a:rPr>
              <a:t>Example 7.36 uses bars to compare predictions or selection rates across demographic groups</a:t>
            </a:r>
          </a:p>
          <a:p>
            <a:pPr>
              <a:spcAft>
                <a:spcPts val="1000"/>
              </a:spcAft>
              <a:buChar char="•"/>
              <a:lnSpc>
                <a:spcPts val="2200"/>
              </a:lnSpc>
            </a:pPr>
            <a:r>
              <a:rPr sz="2000" b="0">
                <a:solidFill>
                  <a:srgbClr val="333333"/>
                </a:solidFill>
                <a:latin typeface="Calibri"/>
              </a:rPr>
              <a:t>Rates are usually more informative than raw counts when group sizes differ</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`modules/chapter7/example36/`</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Dataset Bias and Fairness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7.37 — Income-Race Scatter Plot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7.37 — hands-on module</a:t>
            </a:r>
          </a:p>
          <a:p>
            <a:pPr>
              <a:spcAft>
                <a:spcPts val="1000"/>
              </a:spcAft>
              <a:buChar char="•"/>
              <a:lnSpc>
                <a:spcPts val="2200"/>
              </a:lnSpc>
            </a:pPr>
            <a:r>
              <a:rPr sz="2000" b="0">
                <a:solidFill>
                  <a:srgbClr val="333333"/>
                </a:solidFill>
                <a:latin typeface="Calibri"/>
              </a:rPr>
              <a:t>Example 7.37 uses a scatter plot to inspect how income values and group membership align</a:t>
            </a:r>
          </a:p>
          <a:p>
            <a:pPr>
              <a:spcAft>
                <a:spcPts val="1000"/>
              </a:spcAft>
              <a:buChar char="•"/>
              <a:lnSpc>
                <a:spcPts val="2200"/>
              </a:lnSpc>
            </a:pPr>
            <a:r>
              <a:rPr sz="2000" b="0">
                <a:solidFill>
                  <a:srgbClr val="333333"/>
                </a:solidFill>
                <a:latin typeface="Calibri"/>
              </a:rPr>
              <a:t>Clustering or separation can suggest historical or measurement patterns</a:t>
            </a:r>
          </a:p>
          <a:p>
            <a:pPr>
              <a:spcAft>
                <a:spcPts val="1000"/>
              </a:spcAft>
              <a:buChar char="•"/>
              <a:lnSpc>
                <a:spcPts val="2200"/>
              </a:lnSpc>
            </a:pPr>
            <a:r>
              <a:rPr sz="2000" b="0">
                <a:solidFill>
                  <a:srgbClr val="333333"/>
                </a:solidFill>
                <a:latin typeface="Calibri"/>
              </a:rPr>
              <a:t>Faceting, transparency, and clear annotations often produce a more honest comparison</a:t>
            </a:r>
          </a:p>
          <a:p>
            <a:pPr>
              <a:spcAft>
                <a:spcPts val="1000"/>
              </a:spcAft>
              <a:buChar char="•"/>
              <a:lnSpc>
                <a:spcPts val="2200"/>
              </a:lnSpc>
            </a:pPr>
            <a:r>
              <a:rPr sz="2000" b="0">
                <a:solidFill>
                  <a:srgbClr val="333333"/>
                </a:solidFill>
                <a:latin typeface="Calibri"/>
              </a:rPr>
              <a:t>View files: `modules/chapter7/example37/`</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Dataset Bias and Fairness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AI Fairness 360</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IBM AI Fairness 360 provides datasets, fairness metrics</a:t>
            </a:r>
          </a:p>
          <a:p>
            <a:pPr>
              <a:spcAft>
                <a:spcPts val="1000"/>
              </a:spcAft>
              <a:buChar char="•"/>
              <a:lnSpc>
                <a:spcPts val="2200"/>
              </a:lnSpc>
            </a:pPr>
            <a:r>
              <a:rPr sz="2000" b="0">
                <a:solidFill>
                  <a:srgbClr val="333333"/>
                </a:solidFill>
                <a:latin typeface="Calibri"/>
              </a:rPr>
              <a:t>It supports measures such as demographic parity and equal opportunity and offers methods</a:t>
            </a:r>
          </a:p>
          <a:p>
            <a:pPr>
              <a:spcAft>
                <a:spcPts val="1000"/>
              </a:spcAft>
              <a:buChar char="•"/>
              <a:lnSpc>
                <a:spcPts val="2200"/>
              </a:lnSpc>
            </a:pPr>
            <a:r>
              <a:rPr sz="2000" b="0">
                <a:solidFill>
                  <a:srgbClr val="333333"/>
                </a:solidFill>
                <a:latin typeface="Calibri"/>
              </a:rPr>
              <a:t>Its breadth is useful when teams need to compare several definitions and interventions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Dataset Bias and Fairness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Fairlearn</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Fairlearn supports disaggregated model assessment and fairness-aware mitigation in the</a:t>
            </a:r>
          </a:p>
          <a:p>
            <a:pPr>
              <a:spcAft>
                <a:spcPts val="1000"/>
              </a:spcAft>
              <a:buChar char="•"/>
              <a:lnSpc>
                <a:spcPts val="2200"/>
              </a:lnSpc>
            </a:pPr>
            <a:r>
              <a:rPr sz="2000" b="0">
                <a:solidFill>
                  <a:srgbClr val="333333"/>
                </a:solidFill>
                <a:latin typeface="Calibri"/>
              </a:rPr>
              <a:t>Its metric framing approach reports performance by sensitive group</a:t>
            </a:r>
          </a:p>
          <a:p>
            <a:pPr>
              <a:spcAft>
                <a:spcPts val="1000"/>
              </a:spcAft>
              <a:buChar char="•"/>
              <a:lnSpc>
                <a:spcPts val="2200"/>
              </a:lnSpc>
            </a:pPr>
            <a:r>
              <a:rPr sz="2000" b="0">
                <a:solidFill>
                  <a:srgbClr val="333333"/>
                </a:solidFill>
                <a:latin typeface="Calibri"/>
              </a:rPr>
              <a:t>The toolkit does not choose the ethically appropriate metric</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Dataset Bias and Fairness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Dashboards connect these views with context</a:t>
            </a:r>
          </a:p>
          <a:p>
            <a:pPr>
              <a:spcAft>
                <a:spcPts val="1000"/>
              </a:spcAft>
              <a:buChar char="•"/>
              <a:lnSpc>
                <a:spcPts val="2200"/>
              </a:lnSpc>
            </a:pPr>
            <a:r>
              <a:rPr sz="2000" b="0">
                <a:solidFill>
                  <a:srgbClr val="333333"/>
                </a:solidFill>
                <a:latin typeface="Calibri"/>
              </a:rPr>
              <a:t>Visual differences are screening evidence rather than causal conclusions</a:t>
            </a:r>
          </a:p>
          <a:p>
            <a:pPr>
              <a:spcAft>
                <a:spcPts val="1000"/>
              </a:spcAft>
              <a:buChar char="•"/>
              <a:lnSpc>
                <a:spcPts val="2200"/>
              </a:lnSpc>
            </a:pPr>
            <a:r>
              <a:rPr sz="2000" b="0">
                <a:solidFill>
                  <a:srgbClr val="333333"/>
                </a:solidFill>
                <a:latin typeface="Calibri"/>
              </a:rPr>
              <a:t>AI Fairness 360 and Fairlearn make metrics and interventions repeatable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Dataset Bias and Fairness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The next clip examines why these disparities matter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Dataset Bias and Fairness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By the end of this clip</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Dataset Bias and Fairness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7.38 — Inequitable Treatment in Credit and Justice Decisions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7.38 — hands-on module</a:t>
            </a:r>
          </a:p>
          <a:p>
            <a:pPr>
              <a:spcAft>
                <a:spcPts val="1000"/>
              </a:spcAft>
              <a:buChar char="•"/>
              <a:lnSpc>
                <a:spcPts val="2200"/>
              </a:lnSpc>
            </a:pPr>
            <a:r>
              <a:rPr sz="2000" b="0">
                <a:solidFill>
                  <a:srgbClr val="333333"/>
                </a:solidFill>
                <a:latin typeface="Calibri"/>
              </a:rPr>
              <a:t>Example 7.38 illustrates the ethical impact of unequal treatment</a:t>
            </a:r>
          </a:p>
          <a:p>
            <a:pPr>
              <a:spcAft>
                <a:spcPts val="1000"/>
              </a:spcAft>
              <a:buChar char="•"/>
              <a:lnSpc>
                <a:spcPts val="2200"/>
              </a:lnSpc>
            </a:pPr>
            <a:r>
              <a:rPr sz="2000" b="0">
                <a:solidFill>
                  <a:srgbClr val="333333"/>
                </a:solidFill>
                <a:latin typeface="Calibri"/>
              </a:rPr>
              <a:t>While biased justice data may produce unfair risk assessments</a:t>
            </a:r>
          </a:p>
          <a:p>
            <a:pPr>
              <a:spcAft>
                <a:spcPts val="1000"/>
              </a:spcAft>
              <a:buChar char="•"/>
              <a:lnSpc>
                <a:spcPts val="2200"/>
              </a:lnSpc>
            </a:pPr>
            <a:r>
              <a:rPr sz="2000" b="0">
                <a:solidFill>
                  <a:srgbClr val="333333"/>
                </a:solidFill>
                <a:latin typeface="Calibri"/>
              </a:rPr>
              <a:t>Such errors affect opportunities and liberty</a:t>
            </a:r>
          </a:p>
          <a:p>
            <a:pPr>
              <a:spcAft>
                <a:spcPts val="1000"/>
              </a:spcAft>
              <a:buChar char="•"/>
              <a:lnSpc>
                <a:spcPts val="2200"/>
              </a:lnSpc>
            </a:pPr>
            <a:r>
              <a:rPr sz="2000" b="0">
                <a:solidFill>
                  <a:srgbClr val="333333"/>
                </a:solidFill>
                <a:latin typeface="Calibri"/>
              </a:rPr>
              <a:t>View files: `modules/chapter7/example38/`</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Dataset Bias and Fairness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7.38 — listing</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400"/>
              </a:spcAft>
            </a:pPr>
            <a:r>
              <a:rPr sz="2000" b="0">
                <a:solidFill>
                  <a:srgbClr val="333333"/>
                </a:solidFill>
                <a:latin typeface="Consolas"/>
              </a:rPr>
              <a:t>"""Example 7.38 — enforcing demographic parity on loan approvals and its</a:t>
            </a:r>
          </a:p>
          <a:p>
            <a:pPr>
              <a:lnSpc>
                <a:spcPts val="2200"/>
              </a:lnSpc>
              <a:spcAft>
                <a:spcPts val="400"/>
              </a:spcAft>
            </a:pPr>
            <a:r>
              <a:rPr sz="2000" b="0">
                <a:solidFill>
                  <a:srgbClr val="333333"/>
                </a:solidFill>
                <a:latin typeface="Consolas"/>
              </a:rPr>
              <a:t>accuracy cost."""</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from __future__ import annotations</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Applicant = tuple[str, float, int]  # (group, score, actually_repays)</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def approve(data: list[Applicant], thresholds: dict[str, float]) -&gt;</a:t>
            </a:r>
          </a:p>
          <a:p>
            <a:pPr>
              <a:lnSpc>
                <a:spcPts val="2200"/>
              </a:lnSpc>
              <a:spcAft>
                <a:spcPts val="400"/>
              </a:spcAft>
            </a:pPr>
            <a:r>
              <a:rPr sz="2000" b="0">
                <a:solidFill>
                  <a:srgbClr val="333333"/>
                </a:solidFill>
                <a:latin typeface="Consolas"/>
              </a:rPr>
              <a:t>tuple[float, dict[str, float], float]:</a:t>
            </a:r>
          </a:p>
          <a:p>
            <a:pPr>
              <a:lnSpc>
                <a:spcPts val="2200"/>
              </a:lnSpc>
              <a:spcAft>
                <a:spcPts val="400"/>
              </a:spcAft>
            </a:pPr>
            <a:r>
              <a:rPr sz="2000" b="0">
                <a:solidFill>
                  <a:srgbClr val="333333"/>
                </a:solidFill>
                <a:latin typeface="Consolas"/>
              </a:rPr>
              <a:t>    """Return (accuracy, approval rate per group, default rate among</a:t>
            </a:r>
          </a:p>
          <a:p>
            <a:pPr>
              <a:lnSpc>
                <a:spcPts val="2200"/>
              </a:lnSpc>
              <a:spcAft>
                <a:spcPts val="400"/>
              </a:spcAft>
            </a:pPr>
            <a:r>
              <a:rPr sz="2000" b="0">
                <a:solidFill>
                  <a:srgbClr val="333333"/>
                </a:solidFill>
                <a:latin typeface="Consolas"/>
              </a:rPr>
              <a:t>approved)."""</a:t>
            </a:r>
          </a:p>
          <a:p>
            <a:pPr>
              <a:lnSpc>
                <a:spcPts val="2200"/>
              </a:lnSpc>
              <a:spcAft>
                <a:spcPts val="400"/>
              </a:spcAft>
            </a:pPr>
            <a:r>
              <a:rPr sz="2000" b="0">
                <a:solidFill>
                  <a:srgbClr val="333333"/>
                </a:solidFill>
                <a:latin typeface="Consolas"/>
              </a:rPr>
              <a:t>    correct = 0</a:t>
            </a:r>
          </a:p>
          <a:p>
            <a:pPr>
              <a:lnSpc>
                <a:spcPts val="2200"/>
              </a:lnSpc>
              <a:spcAft>
                <a:spcPts val="400"/>
              </a:spcAft>
            </a:pPr>
            <a:r>
              <a:rPr sz="2000" b="0">
                <a:solidFill>
                  <a:srgbClr val="333333"/>
                </a:solidFill>
                <a:latin typeface="Consolas"/>
              </a:rPr>
              <a:t>    approved: dict[str, int] = {"A": 0, "B": 0}</a:t>
            </a:r>
          </a:p>
          <a:p>
            <a:pPr>
              <a:lnSpc>
                <a:spcPts val="2200"/>
              </a:lnSpc>
              <a:spcAft>
                <a:spcPts val="400"/>
              </a:spcAft>
            </a:pPr>
            <a:r>
              <a:rPr sz="2000" b="0">
                <a:solidFill>
                  <a:srgbClr val="333333"/>
                </a:solidFill>
                <a:latin typeface="Consolas"/>
              </a:rPr>
              <a:t>    counts: dict[str, int] = {"A": 0, "B": 0}</a:t>
            </a:r>
          </a:p>
          <a:p>
            <a:pPr>
              <a:lnSpc>
                <a:spcPts val="2200"/>
              </a:lnSpc>
              <a:spcAft>
                <a:spcPts val="400"/>
              </a:spcAft>
            </a:pPr>
            <a:r>
              <a:rPr sz="2000" b="0">
                <a:solidFill>
                  <a:srgbClr val="333333"/>
                </a:solidFill>
                <a:latin typeface="Consolas"/>
              </a:rPr>
              <a:t>    approved_total = 0</a:t>
            </a:r>
          </a:p>
          <a:p>
            <a:pPr>
              <a:lnSpc>
                <a:spcPts val="2200"/>
              </a:lnSpc>
              <a:spcAft>
                <a:spcPts val="400"/>
              </a:spcAft>
            </a:pPr>
            <a:r>
              <a:rPr sz="2000" b="0">
                <a:solidFill>
                  <a:srgbClr val="333333"/>
                </a:solidFill>
                <a:latin typeface="Consolas"/>
              </a:rPr>
              <a:t>    approved_defaults = 0</a:t>
            </a:r>
          </a:p>
          <a:p>
            <a:pPr>
              <a:lnSpc>
                <a:spcPts val="2200"/>
              </a:lnSpc>
              <a:spcAft>
                <a:spcPts val="400"/>
              </a:spcAft>
            </a:pPr>
            <a:r>
              <a:rPr sz="2000" b="0">
                <a:solidFill>
                  <a:srgbClr val="333333"/>
                </a:solidFill>
                <a:latin typeface="Consolas"/>
              </a:rPr>
              <a:t>    for group, score, repays in data:</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Dataset Bias and Fairness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7.40 — Amplification of Policing and Hiring Disparities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7.40 — hands-on module</a:t>
            </a:r>
          </a:p>
          <a:p>
            <a:pPr>
              <a:spcAft>
                <a:spcPts val="1000"/>
              </a:spcAft>
              <a:buChar char="•"/>
              <a:lnSpc>
                <a:spcPts val="2200"/>
              </a:lnSpc>
            </a:pPr>
            <a:r>
              <a:rPr sz="2000" b="0">
                <a:solidFill>
                  <a:srgbClr val="333333"/>
                </a:solidFill>
                <a:latin typeface="Calibri"/>
              </a:rPr>
              <a:t>Example 7.40 shows social amplification</a:t>
            </a:r>
          </a:p>
          <a:p>
            <a:pPr>
              <a:spcAft>
                <a:spcPts val="1000"/>
              </a:spcAft>
              <a:buChar char="•"/>
              <a:lnSpc>
                <a:spcPts val="2200"/>
              </a:lnSpc>
            </a:pPr>
            <a:r>
              <a:rPr sz="2000" b="0">
                <a:solidFill>
                  <a:srgbClr val="333333"/>
                </a:solidFill>
                <a:latin typeface="Calibri"/>
              </a:rPr>
              <a:t>Which then directs still more policing there</a:t>
            </a:r>
          </a:p>
          <a:p>
            <a:pPr>
              <a:spcAft>
                <a:spcPts val="1000"/>
              </a:spcAft>
              <a:buChar char="•"/>
              <a:lnSpc>
                <a:spcPts val="2200"/>
              </a:lnSpc>
            </a:pPr>
            <a:r>
              <a:rPr sz="2000" b="0">
                <a:solidFill>
                  <a:srgbClr val="333333"/>
                </a:solidFill>
                <a:latin typeface="Calibri"/>
              </a:rPr>
              <a:t>Historical hiring patterns can similarly teach a ranking system to favor men</a:t>
            </a:r>
          </a:p>
          <a:p>
            <a:pPr>
              <a:spcAft>
                <a:spcPts val="1000"/>
              </a:spcAft>
              <a:buChar char="•"/>
              <a:lnSpc>
                <a:spcPts val="2200"/>
              </a:lnSpc>
            </a:pPr>
            <a:r>
              <a:rPr sz="2000" b="0">
                <a:solidFill>
                  <a:srgbClr val="333333"/>
                </a:solidFill>
                <a:latin typeface="Calibri"/>
              </a:rPr>
              <a:t>Repeated automated decisions scale and reinforce the pattern</a:t>
            </a:r>
          </a:p>
          <a:p>
            <a:pPr>
              <a:spcAft>
                <a:spcPts val="1000"/>
              </a:spcAft>
              <a:buChar char="•"/>
              <a:lnSpc>
                <a:spcPts val="2200"/>
              </a:lnSpc>
            </a:pPr>
            <a:r>
              <a:rPr sz="2000" b="0">
                <a:solidFill>
                  <a:srgbClr val="333333"/>
                </a:solidFill>
                <a:latin typeface="Calibri"/>
              </a:rPr>
              <a:t>View files: `modules/chapter7/example40/`</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Dataset Bias and Fairness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7.42 — Compliance Exposure Under GDPR and CCPA</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7.42 — hands-on module</a:t>
            </a:r>
          </a:p>
          <a:p>
            <a:pPr>
              <a:spcAft>
                <a:spcPts val="1000"/>
              </a:spcAft>
              <a:buChar char="•"/>
              <a:lnSpc>
                <a:spcPts val="2200"/>
              </a:lnSpc>
            </a:pPr>
            <a:r>
              <a:rPr sz="2000" b="0">
                <a:solidFill>
                  <a:srgbClr val="333333"/>
                </a:solidFill>
                <a:latin typeface="Calibri"/>
              </a:rPr>
              <a:t>Example 7.42 connects unfair outcomes with legal and regulatory exposure</a:t>
            </a:r>
          </a:p>
          <a:p>
            <a:pPr>
              <a:spcAft>
                <a:spcPts val="1000"/>
              </a:spcAft>
              <a:buChar char="•"/>
              <a:lnSpc>
                <a:spcPts val="2200"/>
              </a:lnSpc>
            </a:pPr>
            <a:r>
              <a:rPr sz="2000" b="0">
                <a:solidFill>
                  <a:srgbClr val="333333"/>
                </a:solidFill>
                <a:latin typeface="Calibri"/>
              </a:rPr>
              <a:t>Recruitment and credit systems must comply with anti-discrimination duties</a:t>
            </a:r>
          </a:p>
          <a:p>
            <a:pPr>
              <a:spcAft>
                <a:spcPts val="1000"/>
              </a:spcAft>
              <a:buChar char="•"/>
              <a:lnSpc>
                <a:spcPts val="2200"/>
              </a:lnSpc>
            </a:pPr>
            <a:r>
              <a:rPr sz="2000" b="0">
                <a:solidFill>
                  <a:srgbClr val="333333"/>
                </a:solidFill>
                <a:latin typeface="Calibri"/>
              </a:rPr>
              <a:t>Organizations need more than a claim of neutral intent</a:t>
            </a:r>
          </a:p>
          <a:p>
            <a:pPr>
              <a:spcAft>
                <a:spcPts val="1000"/>
              </a:spcAft>
              <a:buChar char="•"/>
              <a:lnSpc>
                <a:spcPts val="2200"/>
              </a:lnSpc>
            </a:pPr>
            <a:r>
              <a:rPr sz="2000" b="0">
                <a:solidFill>
                  <a:srgbClr val="333333"/>
                </a:solidFill>
                <a:latin typeface="Calibri"/>
              </a:rPr>
              <a:t>View files: `modules/chapter7/example42/`</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Dataset Bias and Fairness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7.45 — Financial Penalties from Biased Hiring and Credit Syst…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7.45 — hands-on module</a:t>
            </a:r>
          </a:p>
          <a:p>
            <a:pPr>
              <a:spcAft>
                <a:spcPts val="1000"/>
              </a:spcAft>
              <a:buChar char="•"/>
              <a:lnSpc>
                <a:spcPts val="2200"/>
              </a:lnSpc>
            </a:pPr>
            <a:r>
              <a:rPr sz="2000" b="0">
                <a:solidFill>
                  <a:srgbClr val="333333"/>
                </a:solidFill>
                <a:latin typeface="Calibri"/>
              </a:rPr>
              <a:t>Example 7.45 presents the business consequences</a:t>
            </a:r>
          </a:p>
          <a:p>
            <a:pPr>
              <a:spcAft>
                <a:spcPts val="1000"/>
              </a:spcAft>
              <a:buChar char="•"/>
              <a:lnSpc>
                <a:spcPts val="2200"/>
              </a:lnSpc>
            </a:pPr>
            <a:r>
              <a:rPr sz="2000" b="0">
                <a:solidFill>
                  <a:srgbClr val="333333"/>
                </a:solidFill>
                <a:latin typeface="Calibri"/>
              </a:rPr>
              <a:t>Lasting reputational damage</a:t>
            </a:r>
          </a:p>
          <a:p>
            <a:pPr>
              <a:spcAft>
                <a:spcPts val="1000"/>
              </a:spcAft>
              <a:buChar char="•"/>
              <a:lnSpc>
                <a:spcPts val="2200"/>
              </a:lnSpc>
            </a:pPr>
            <a:r>
              <a:rPr sz="2000" b="0">
                <a:solidFill>
                  <a:srgbClr val="333333"/>
                </a:solidFill>
                <a:latin typeface="Calibri"/>
              </a:rPr>
              <a:t>Fairness investment can therefore reduce risk and protect market legitimacy</a:t>
            </a:r>
          </a:p>
          <a:p>
            <a:pPr>
              <a:spcAft>
                <a:spcPts val="1000"/>
              </a:spcAft>
              <a:buChar char="•"/>
              <a:lnSpc>
                <a:spcPts val="2200"/>
              </a:lnSpc>
            </a:pPr>
            <a:r>
              <a:rPr sz="2000" b="0">
                <a:solidFill>
                  <a:srgbClr val="333333"/>
                </a:solidFill>
                <a:latin typeface="Calibri"/>
              </a:rPr>
              <a:t>Delayed mitigation is often more expensive because deployed decisions and public harms are</a:t>
            </a:r>
          </a:p>
          <a:p>
            <a:pPr>
              <a:spcAft>
                <a:spcPts val="1000"/>
              </a:spcAft>
              <a:buChar char="•"/>
              <a:lnSpc>
                <a:spcPts val="2200"/>
              </a:lnSpc>
            </a:pPr>
            <a:r>
              <a:rPr sz="2000" b="0">
                <a:solidFill>
                  <a:srgbClr val="333333"/>
                </a:solidFill>
                <a:latin typeface="Calibri"/>
              </a:rPr>
              <a:t>View files: `modules/chapter7/example45/`</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Dataset Bias and Fairness</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The COMPAS bridge</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Recidivism risk assessment provides a bridge across all four dimensions</a:t>
            </a:r>
          </a:p>
          <a:p>
            <a:pPr>
              <a:spcAft>
                <a:spcPts val="1000"/>
              </a:spcAft>
              <a:buChar char="•"/>
              <a:lnSpc>
                <a:spcPts val="2200"/>
              </a:lnSpc>
            </a:pPr>
            <a:r>
              <a:rPr sz="2000" b="0">
                <a:solidFill>
                  <a:srgbClr val="333333"/>
                </a:solidFill>
                <a:latin typeface="Calibri"/>
              </a:rPr>
              <a:t>Weaken institutional legitimacy</a:t>
            </a:r>
          </a:p>
          <a:p>
            <a:pPr>
              <a:spcAft>
                <a:spcPts val="1000"/>
              </a:spcAft>
              <a:buChar char="•"/>
              <a:lnSpc>
                <a:spcPts val="2200"/>
              </a:lnSpc>
            </a:pPr>
            <a:r>
              <a:rPr sz="2000" b="0">
                <a:solidFill>
                  <a:srgbClr val="333333"/>
                </a:solidFill>
                <a:latin typeface="Calibri"/>
              </a:rPr>
              <a:t>Overall accuracy does not settle these issues because false positives and false negatives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Dataset Bias and Fairness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From impact to accountability</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Monitoring after deployment</a:t>
            </a:r>
          </a:p>
          <a:p>
            <a:pPr>
              <a:spcAft>
                <a:spcPts val="1000"/>
              </a:spcAft>
              <a:buChar char="•"/>
              <a:lnSpc>
                <a:spcPts val="2200"/>
              </a:lnSpc>
            </a:pPr>
            <a:r>
              <a:rPr sz="2000" b="0">
                <a:solidFill>
                  <a:srgbClr val="333333"/>
                </a:solidFill>
                <a:latin typeface="Calibri"/>
              </a:rPr>
              <a:t>Impact assessments should ask who can be harmed, how severe and reversible the harm is</a:t>
            </a:r>
          </a:p>
          <a:p>
            <a:pPr>
              <a:spcAft>
                <a:spcPts val="1000"/>
              </a:spcAft>
              <a:buChar char="•"/>
              <a:lnSpc>
                <a:spcPts val="2200"/>
              </a:lnSpc>
            </a:pPr>
            <a:r>
              <a:rPr sz="2000" b="0">
                <a:solidFill>
                  <a:srgbClr val="333333"/>
                </a:solidFill>
                <a:latin typeface="Calibri"/>
              </a:rPr>
              <a:t>These questions connect technical metrics to organizational responsibility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Dataset Bias and Fairness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Ethical impacts concern justice and individual treatment</a:t>
            </a:r>
          </a:p>
          <a:p>
            <a:pPr>
              <a:spcAft>
                <a:spcPts val="1000"/>
              </a:spcAft>
              <a:buChar char="•"/>
              <a:lnSpc>
                <a:spcPts val="2200"/>
              </a:lnSpc>
            </a:pPr>
            <a:r>
              <a:rPr sz="2000" b="0">
                <a:solidFill>
                  <a:srgbClr val="333333"/>
                </a:solidFill>
                <a:latin typeface="Calibri"/>
              </a:rPr>
              <a:t>Social impacts concern stereotypes, feedback loops, and unequal access</a:t>
            </a:r>
          </a:p>
          <a:p>
            <a:pPr>
              <a:spcAft>
                <a:spcPts val="1000"/>
              </a:spcAft>
              <a:buChar char="•"/>
              <a:lnSpc>
                <a:spcPts val="2200"/>
              </a:lnSpc>
            </a:pPr>
            <a:r>
              <a:rPr sz="2000" b="0">
                <a:solidFill>
                  <a:srgbClr val="333333"/>
                </a:solidFill>
                <a:latin typeface="Calibri"/>
              </a:rPr>
              <a:t>Legal impacts concern rights, discrimination, privacy, and explainability</a:t>
            </a:r>
          </a:p>
          <a:p>
            <a:pPr>
              <a:spcAft>
                <a:spcPts val="1000"/>
              </a:spcAft>
              <a:buChar char="•"/>
              <a:lnSpc>
                <a:spcPts val="2200"/>
              </a:lnSpc>
            </a:pPr>
            <a:r>
              <a:rPr sz="2000" b="0">
                <a:solidFill>
                  <a:srgbClr val="333333"/>
                </a:solidFill>
                <a:latin typeface="Calibri"/>
              </a:rPr>
              <a:t>Business impacts include cost, reputation, and legitimacy</a:t>
            </a:r>
          </a:p>
          <a:p>
            <a:pPr>
              <a:spcAft>
                <a:spcPts val="1000"/>
              </a:spcAft>
              <a:buChar char="•"/>
              <a:lnSpc>
                <a:spcPts val="2200"/>
              </a:lnSpc>
            </a:pPr>
            <a:r>
              <a:rPr sz="2000" b="0">
                <a:solidFill>
                  <a:srgbClr val="333333"/>
                </a:solidFill>
                <a:latin typeface="Calibri"/>
              </a:rPr>
              <a:t>A single disparity can cross all four dimensions, especially in consequential decisions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Dataset Bias and Fairness</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The next clip asks what fairness should mean in measurable terms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Dataset Bias and Fairness</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Connect metric choices to transparency, accountability, and inclusivity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Dataset Bias and Fairness</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7.47 — Consistent Criteria in Hiring Decisions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7.47 — hands-on module</a:t>
            </a:r>
          </a:p>
          <a:p>
            <a:pPr>
              <a:spcAft>
                <a:spcPts val="1000"/>
              </a:spcAft>
              <a:buChar char="•"/>
              <a:lnSpc>
                <a:spcPts val="2200"/>
              </a:lnSpc>
            </a:pPr>
            <a:r>
              <a:rPr sz="2000" b="0">
                <a:solidFill>
                  <a:srgbClr val="333333"/>
                </a:solidFill>
                <a:latin typeface="Calibri"/>
              </a:rPr>
              <a:t>Example 7.47 illustrates procedural fairness</a:t>
            </a:r>
          </a:p>
          <a:p>
            <a:pPr>
              <a:spcAft>
                <a:spcPts val="1000"/>
              </a:spcAft>
              <a:buChar char="•"/>
              <a:lnSpc>
                <a:spcPts val="2200"/>
              </a:lnSpc>
            </a:pPr>
            <a:r>
              <a:rPr sz="2000" b="0">
                <a:solidFill>
                  <a:srgbClr val="333333"/>
                </a:solidFill>
                <a:latin typeface="Calibri"/>
              </a:rPr>
              <a:t>Every candidate should be evaluated with consistent, relevant criteria</a:t>
            </a:r>
          </a:p>
          <a:p>
            <a:pPr>
              <a:spcAft>
                <a:spcPts val="1000"/>
              </a:spcAft>
              <a:buChar char="•"/>
              <a:lnSpc>
                <a:spcPts val="2200"/>
              </a:lnSpc>
            </a:pPr>
            <a:r>
              <a:rPr sz="2000" b="0">
                <a:solidFill>
                  <a:srgbClr val="333333"/>
                </a:solidFill>
                <a:latin typeface="Calibri"/>
              </a:rPr>
              <a:t>Opportunities to challenge an error, even before group outcome rates are compared</a:t>
            </a:r>
          </a:p>
          <a:p>
            <a:pPr>
              <a:spcAft>
                <a:spcPts val="1000"/>
              </a:spcAft>
              <a:buChar char="•"/>
              <a:lnSpc>
                <a:spcPts val="2200"/>
              </a:lnSpc>
            </a:pPr>
            <a:r>
              <a:rPr sz="2000" b="0">
                <a:solidFill>
                  <a:srgbClr val="333333"/>
                </a:solidFill>
                <a:latin typeface="Calibri"/>
              </a:rPr>
              <a:t>View files: `modules/chapter7/example47/`</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Dataset Bias and Fairness</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7.48 — Outcome Fairness in Predictive Policing</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7.48 — hands-on module</a:t>
            </a:r>
          </a:p>
          <a:p>
            <a:pPr>
              <a:spcAft>
                <a:spcPts val="1000"/>
              </a:spcAft>
              <a:buChar char="•"/>
              <a:lnSpc>
                <a:spcPts val="2200"/>
              </a:lnSpc>
            </a:pPr>
            <a:r>
              <a:rPr sz="2000" b="0">
                <a:solidFill>
                  <a:srgbClr val="333333"/>
                </a:solidFill>
                <a:latin typeface="Calibri"/>
              </a:rPr>
              <a:t>Example 7.48 illustrates outcome fairness</a:t>
            </a:r>
          </a:p>
          <a:p>
            <a:pPr>
              <a:spcAft>
                <a:spcPts val="1000"/>
              </a:spcAft>
              <a:buChar char="•"/>
              <a:lnSpc>
                <a:spcPts val="2200"/>
              </a:lnSpc>
            </a:pPr>
            <a:r>
              <a:rPr sz="2000" b="0">
                <a:solidFill>
                  <a:srgbClr val="333333"/>
                </a:solidFill>
                <a:latin typeface="Calibri"/>
              </a:rPr>
              <a:t>A predictive policing system should not disproportionately target minority communities or</a:t>
            </a:r>
          </a:p>
          <a:p>
            <a:pPr>
              <a:spcAft>
                <a:spcPts val="1000"/>
              </a:spcAft>
              <a:buChar char="•"/>
              <a:lnSpc>
                <a:spcPts val="2200"/>
              </a:lnSpc>
            </a:pPr>
            <a:r>
              <a:rPr sz="2000" b="0">
                <a:solidFill>
                  <a:srgbClr val="333333"/>
                </a:solidFill>
                <a:latin typeface="Calibri"/>
              </a:rPr>
              <a:t>Outcome fairness compares results across groups</a:t>
            </a:r>
          </a:p>
          <a:p>
            <a:pPr>
              <a:spcAft>
                <a:spcPts val="1000"/>
              </a:spcAft>
              <a:buChar char="•"/>
              <a:lnSpc>
                <a:spcPts val="2200"/>
              </a:lnSpc>
            </a:pPr>
            <a:r>
              <a:rPr sz="2000" b="0">
                <a:solidFill>
                  <a:srgbClr val="333333"/>
                </a:solidFill>
                <a:latin typeface="Calibri"/>
              </a:rPr>
              <a:t>Procedural and outcome evidence should therefore be examined together</a:t>
            </a:r>
          </a:p>
          <a:p>
            <a:pPr>
              <a:spcAft>
                <a:spcPts val="1000"/>
              </a:spcAft>
              <a:buChar char="•"/>
              <a:lnSpc>
                <a:spcPts val="2200"/>
              </a:lnSpc>
            </a:pPr>
            <a:r>
              <a:rPr sz="2000" b="0">
                <a:solidFill>
                  <a:srgbClr val="333333"/>
                </a:solidFill>
                <a:latin typeface="Calibri"/>
              </a:rPr>
              <a:t>View files: `modules/chapter7/example48/`</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Dataset Bias and Fairness</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Accuracy and fairness trade-offs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An accuracy-maximizing threshold may distribute false positives and false negatives</a:t>
            </a:r>
          </a:p>
          <a:p>
            <a:pPr>
              <a:spcAft>
                <a:spcPts val="1000"/>
              </a:spcAft>
              <a:buChar char="•"/>
              <a:lnSpc>
                <a:spcPts val="2200"/>
              </a:lnSpc>
            </a:pPr>
            <a:r>
              <a:rPr sz="2000" b="0">
                <a:solidFill>
                  <a:srgbClr val="333333"/>
                </a:solidFill>
                <a:latin typeface="Calibri"/>
              </a:rPr>
              <a:t>Adding a fairness constraint or changing thresholds can reduce that disparity while</a:t>
            </a:r>
          </a:p>
          <a:p>
            <a:pPr>
              <a:spcAft>
                <a:spcPts val="1000"/>
              </a:spcAft>
              <a:buChar char="•"/>
              <a:lnSpc>
                <a:spcPts val="2200"/>
              </a:lnSpc>
            </a:pPr>
            <a:r>
              <a:rPr sz="2000" b="0">
                <a:solidFill>
                  <a:srgbClr val="333333"/>
                </a:solidFill>
                <a:latin typeface="Calibri"/>
              </a:rPr>
              <a:t>This is not evidence that fairness is a defect</a:t>
            </a:r>
          </a:p>
          <a:p>
            <a:pPr>
              <a:spcAft>
                <a:spcPts val="1000"/>
              </a:spcAft>
              <a:buChar char="•"/>
              <a:lnSpc>
                <a:spcPts val="2200"/>
              </a:lnSpc>
            </a:pPr>
            <a:r>
              <a:rPr sz="2000" b="0">
                <a:solidFill>
                  <a:srgbClr val="333333"/>
                </a:solidFill>
                <a:latin typeface="Calibri"/>
              </a:rPr>
              <a:t>It reveals that optimization has multiple objectives and that error costs, rights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Dataset Bias and Fairness</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7.50 — Demographic Parity Reducing Loan Default Prediction</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7.50 — hands-on module</a:t>
            </a:r>
          </a:p>
          <a:p>
            <a:pPr>
              <a:spcAft>
                <a:spcPts val="1000"/>
              </a:spcAft>
              <a:buChar char="•"/>
              <a:lnSpc>
                <a:spcPts val="2200"/>
              </a:lnSpc>
            </a:pPr>
            <a:r>
              <a:rPr sz="2000" b="0">
                <a:solidFill>
                  <a:srgbClr val="333333"/>
                </a:solidFill>
                <a:latin typeface="Calibri"/>
              </a:rPr>
              <a:t>Example 7.50 shows a loan system adjusted toward equal approval rates across racial groups</a:t>
            </a:r>
          </a:p>
          <a:p>
            <a:pPr>
              <a:spcAft>
                <a:spcPts val="1000"/>
              </a:spcAft>
              <a:buChar char="•"/>
              <a:lnSpc>
                <a:spcPts val="2200"/>
              </a:lnSpc>
            </a:pPr>
            <a:r>
              <a:rPr sz="2000" b="0">
                <a:solidFill>
                  <a:srgbClr val="333333"/>
                </a:solidFill>
                <a:latin typeface="Calibri"/>
              </a:rPr>
              <a:t>The adjustment may reduce default-prediction accuracy</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`modules/chapter7/example50/`</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Dataset Bias and Fairness</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Equalized odds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Equalized odds seeks comparable false-positive and true-positive rates across groups</a:t>
            </a:r>
          </a:p>
          <a:p>
            <a:pPr>
              <a:spcAft>
                <a:spcPts val="1000"/>
              </a:spcAft>
              <a:buChar char="•"/>
              <a:lnSpc>
                <a:spcPts val="2200"/>
              </a:lnSpc>
            </a:pPr>
            <a:r>
              <a:rPr sz="2000" b="0">
                <a:solidFill>
                  <a:srgbClr val="333333"/>
                </a:solidFill>
                <a:latin typeface="Calibri"/>
              </a:rPr>
              <a:t>It is especially relevant when both kinds of error carry serious consequences</a:t>
            </a:r>
          </a:p>
          <a:p>
            <a:pPr>
              <a:spcAft>
                <a:spcPts val="1000"/>
              </a:spcAft>
              <a:buChar char="•"/>
              <a:lnSpc>
                <a:spcPts val="2200"/>
              </a:lnSpc>
            </a:pPr>
            <a:r>
              <a:rPr sz="2000" b="0">
                <a:solidFill>
                  <a:srgbClr val="333333"/>
                </a:solidFill>
                <a:latin typeface="Calibri"/>
              </a:rPr>
              <a:t>Achieving it may require group-aware constraints or post-processing</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Dataset Bias and Fairness</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Calibration</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Calibration asks whether a predicted probability has the same empirical meaning across</a:t>
            </a:r>
          </a:p>
          <a:p>
            <a:pPr>
              <a:spcAft>
                <a:spcPts val="1000"/>
              </a:spcAft>
              <a:buChar char="•"/>
              <a:lnSpc>
                <a:spcPts val="2200"/>
              </a:lnSpc>
            </a:pPr>
            <a:r>
              <a:rPr sz="2000" b="0">
                <a:solidFill>
                  <a:srgbClr val="333333"/>
                </a:solidFill>
                <a:latin typeface="Calibri"/>
              </a:rPr>
              <a:t>If a system assigns a seventy-percent probability</a:t>
            </a:r>
          </a:p>
          <a:p>
            <a:pPr>
              <a:spcAft>
                <a:spcPts val="1000"/>
              </a:spcAft>
              <a:buChar char="•"/>
              <a:lnSpc>
                <a:spcPts val="2200"/>
              </a:lnSpc>
            </a:pPr>
            <a:r>
              <a:rPr sz="2000" b="0">
                <a:solidFill>
                  <a:srgbClr val="333333"/>
                </a:solidFill>
                <a:latin typeface="Calibri"/>
              </a:rPr>
              <a:t>Calibration supports interpretable risk scores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Dataset Bias and Fairness</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Ethical principles around metrics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Transparency explains the data, criteria, limitations, and trade-offs</a:t>
            </a:r>
          </a:p>
          <a:p>
            <a:pPr>
              <a:spcAft>
                <a:spcPts val="1000"/>
              </a:spcAft>
              <a:buChar char="•"/>
              <a:lnSpc>
                <a:spcPts val="2200"/>
              </a:lnSpc>
            </a:pPr>
            <a:r>
              <a:rPr sz="2000" b="0">
                <a:solidFill>
                  <a:srgbClr val="333333"/>
                </a:solidFill>
                <a:latin typeface="Calibri"/>
              </a:rPr>
              <a:t>Accountability assigns responsibility for audits, complaints, and correction</a:t>
            </a:r>
          </a:p>
          <a:p>
            <a:pPr>
              <a:spcAft>
                <a:spcPts val="1000"/>
              </a:spcAft>
              <a:buChar char="•"/>
              <a:lnSpc>
                <a:spcPts val="2200"/>
              </a:lnSpc>
            </a:pPr>
            <a:r>
              <a:rPr sz="2000" b="0">
                <a:solidFill>
                  <a:srgbClr val="333333"/>
                </a:solidFill>
                <a:latin typeface="Calibri"/>
              </a:rPr>
              <a:t>Inclusivity brings affected groups into design and evaluation</a:t>
            </a:r>
          </a:p>
          <a:p>
            <a:pPr>
              <a:spcAft>
                <a:spcPts val="1000"/>
              </a:spcAft>
              <a:buChar char="•"/>
              <a:lnSpc>
                <a:spcPts val="2200"/>
              </a:lnSpc>
            </a:pPr>
            <a:r>
              <a:rPr sz="2000" b="0">
                <a:solidFill>
                  <a:srgbClr val="333333"/>
                </a:solidFill>
                <a:latin typeface="Calibri"/>
              </a:rPr>
              <a:t>These principles prevent metric selection from becoming a purely technical exercise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Dataset Bias and Fairness</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Procedural fairness evaluates the decision process</a:t>
            </a:r>
          </a:p>
          <a:p>
            <a:pPr>
              <a:spcAft>
                <a:spcPts val="1000"/>
              </a:spcAft>
              <a:buChar char="•"/>
              <a:lnSpc>
                <a:spcPts val="2200"/>
              </a:lnSpc>
            </a:pPr>
            <a:r>
              <a:rPr sz="2000" b="0">
                <a:solidFill>
                  <a:srgbClr val="333333"/>
                </a:solidFill>
                <a:latin typeface="Calibri"/>
              </a:rPr>
              <a:t>Not abstract</a:t>
            </a:r>
          </a:p>
          <a:p>
            <a:pPr>
              <a:spcAft>
                <a:spcPts val="1000"/>
              </a:spcAft>
              <a:buChar char="•"/>
              <a:lnSpc>
                <a:spcPts val="2200"/>
              </a:lnSpc>
            </a:pPr>
            <a:r>
              <a:rPr sz="2000" b="0">
                <a:solidFill>
                  <a:srgbClr val="333333"/>
                </a:solidFill>
                <a:latin typeface="Calibri"/>
              </a:rPr>
              <a:t>Equalized odds compares error rates, calibration compares probability meaning</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Dataset Bias and Fairness</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The next clip turns fairness definitions into interventions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Dataset Bias and Fairness</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Select an intervention using evidence rather than convenience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Dataset Bias and Fairness</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Pre-processing through reweighting</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Reweighting changes how strongly training instances influence learning</a:t>
            </a:r>
          </a:p>
          <a:p>
            <a:pPr>
              <a:spcAft>
                <a:spcPts val="1000"/>
              </a:spcAft>
              <a:buChar char="•"/>
              <a:lnSpc>
                <a:spcPts val="2200"/>
              </a:lnSpc>
            </a:pPr>
            <a:r>
              <a:rPr sz="2000" b="0">
                <a:solidFill>
                  <a:srgbClr val="333333"/>
                </a:solidFill>
                <a:latin typeface="Calibri"/>
              </a:rPr>
              <a:t>Underrepresented groups can receive greater weight so that the majority group does not</a:t>
            </a:r>
          </a:p>
          <a:p>
            <a:pPr>
              <a:spcAft>
                <a:spcPts val="1000"/>
              </a:spcAft>
              <a:buChar char="•"/>
              <a:lnSpc>
                <a:spcPts val="2200"/>
              </a:lnSpc>
            </a:pPr>
            <a:r>
              <a:rPr sz="2000" b="0">
                <a:solidFill>
                  <a:srgbClr val="333333"/>
                </a:solidFill>
                <a:latin typeface="Calibri"/>
              </a:rPr>
              <a:t>This approach preserves records while changing their contribution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Dataset Bias and Fairness</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Pre-processing through feature treatment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Sensitive or strongly biased features may be removed</a:t>
            </a:r>
          </a:p>
          <a:p>
            <a:pPr>
              <a:spcAft>
                <a:spcPts val="1000"/>
              </a:spcAft>
              <a:buChar char="•"/>
              <a:lnSpc>
                <a:spcPts val="2200"/>
              </a:lnSpc>
            </a:pPr>
            <a:r>
              <a:rPr sz="2000" b="0">
                <a:solidFill>
                  <a:srgbClr val="333333"/>
                </a:solidFill>
                <a:latin typeface="Calibri"/>
              </a:rPr>
              <a:t>Simple removal is not a guarantee of fairness because names, neighborhoods, schools</a:t>
            </a:r>
          </a:p>
          <a:p>
            <a:pPr>
              <a:spcAft>
                <a:spcPts val="1000"/>
              </a:spcAft>
              <a:buChar char="•"/>
              <a:lnSpc>
                <a:spcPts val="2200"/>
              </a:lnSpc>
            </a:pPr>
            <a:r>
              <a:rPr sz="2000" b="0">
                <a:solidFill>
                  <a:srgbClr val="333333"/>
                </a:solidFill>
                <a:latin typeface="Calibri"/>
              </a:rPr>
              <a:t>Feature treatment should be followed by proxy analysis and subgroup evaluation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Dataset Bias and Fairness</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In-processing with fairness constraints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Fairness-constrained learning modifies the training objective by adding a constraint or</a:t>
            </a:r>
          </a:p>
          <a:p>
            <a:pPr>
              <a:spcAft>
                <a:spcPts val="1000"/>
              </a:spcAft>
              <a:buChar char="•"/>
              <a:lnSpc>
                <a:spcPts val="2200"/>
              </a:lnSpc>
            </a:pPr>
            <a:r>
              <a:rPr sz="2000" b="0">
                <a:solidFill>
                  <a:srgbClr val="333333"/>
                </a:solidFill>
                <a:latin typeface="Calibri"/>
              </a:rPr>
              <a:t>The model then optimizes predictive performance and the selected fairness criterion</a:t>
            </a:r>
          </a:p>
          <a:p>
            <a:pPr>
              <a:spcAft>
                <a:spcPts val="1000"/>
              </a:spcAft>
              <a:buChar char="•"/>
              <a:lnSpc>
                <a:spcPts val="2200"/>
              </a:lnSpc>
            </a:pPr>
            <a:r>
              <a:rPr sz="2000" b="0">
                <a:solidFill>
                  <a:srgbClr val="333333"/>
                </a:solidFill>
                <a:latin typeface="Calibri"/>
              </a:rPr>
              <a:t>Quality of outcome labels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Dataset Bias and Fairness</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In-processing with adversarial debiasing</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Adversarial debiasing trains a predictor alongside an adversary that tries to infer a</a:t>
            </a:r>
          </a:p>
          <a:p>
            <a:pPr>
              <a:spcAft>
                <a:spcPts val="1000"/>
              </a:spcAft>
              <a:buChar char="•"/>
              <a:lnSpc>
                <a:spcPts val="2200"/>
              </a:lnSpc>
            </a:pPr>
            <a:r>
              <a:rPr sz="2000" b="0">
                <a:solidFill>
                  <a:srgbClr val="333333"/>
                </a:solidFill>
                <a:latin typeface="Calibri"/>
              </a:rPr>
              <a:t>The predictor is penalized when the adversary succeeds</a:t>
            </a:r>
          </a:p>
          <a:p>
            <a:pPr>
              <a:spcAft>
                <a:spcPts val="1000"/>
              </a:spcAft>
              <a:buChar char="•"/>
              <a:lnSpc>
                <a:spcPts val="2200"/>
              </a:lnSpc>
            </a:pPr>
            <a:r>
              <a:rPr sz="2000" b="0">
                <a:solidFill>
                  <a:srgbClr val="333333"/>
                </a:solidFill>
                <a:latin typeface="Calibri"/>
              </a:rPr>
              <a:t>The method can reduce proxy leakage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Dataset Bias and Fairness</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Post-processing with equalized odds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Equalized-odds post-processing adjusts decisions or thresholds from an already trained</a:t>
            </a:r>
          </a:p>
          <a:p>
            <a:pPr>
              <a:spcAft>
                <a:spcPts val="1000"/>
              </a:spcAft>
              <a:buChar char="•"/>
              <a:lnSpc>
                <a:spcPts val="2200"/>
              </a:lnSpc>
            </a:pPr>
            <a:r>
              <a:rPr sz="2000" b="0">
                <a:solidFill>
                  <a:srgbClr val="333333"/>
                </a:solidFill>
                <a:latin typeface="Calibri"/>
              </a:rPr>
              <a:t>Operational review</a:t>
            </a:r>
          </a:p>
          <a:p>
            <a:pPr>
              <a:spcAft>
                <a:spcPts val="1000"/>
              </a:spcAft>
              <a:buChar char="•"/>
              <a:lnSpc>
                <a:spcPts val="2200"/>
              </a:lnSpc>
            </a:pPr>
            <a:r>
              <a:rPr sz="2000" b="0">
                <a:solidFill>
                  <a:srgbClr val="333333"/>
                </a:solidFill>
                <a:latin typeface="Calibri"/>
              </a:rPr>
              <a:t>They can also change accuracy and may become unstable when group samples are small</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Dataset Bias and Fairness</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Post-processing with calibration</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Calibration adjusts predicted probabilities so that a score has a consistent empirical</a:t>
            </a:r>
          </a:p>
          <a:p>
            <a:pPr>
              <a:spcAft>
                <a:spcPts val="1000"/>
              </a:spcAft>
              <a:buChar char="•"/>
              <a:lnSpc>
                <a:spcPts val="2200"/>
              </a:lnSpc>
            </a:pPr>
            <a:r>
              <a:rPr sz="2000" b="0">
                <a:solidFill>
                  <a:srgbClr val="333333"/>
                </a:solidFill>
                <a:latin typeface="Calibri"/>
              </a:rPr>
              <a:t>It is valuable when scores guide human decisions or resource allocation</a:t>
            </a:r>
          </a:p>
          <a:p>
            <a:pPr>
              <a:spcAft>
                <a:spcPts val="1000"/>
              </a:spcAft>
              <a:buChar char="•"/>
              <a:lnSpc>
                <a:spcPts val="2200"/>
              </a:lnSpc>
            </a:pPr>
            <a:r>
              <a:rPr sz="2000" b="0">
                <a:solidFill>
                  <a:srgbClr val="333333"/>
                </a:solidFill>
                <a:latin typeface="Calibri"/>
              </a:rPr>
              <a:t>Calibration does not guarantee equal selection or error rates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Dataset Bias and Fairness</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Choosing and validating an intervention</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Intervention begins with a diagnosed mechanism and a stated fairness target</a:t>
            </a:r>
          </a:p>
          <a:p>
            <a:pPr>
              <a:spcAft>
                <a:spcPts val="1000"/>
              </a:spcAft>
              <a:buChar char="•"/>
              <a:lnSpc>
                <a:spcPts val="2200"/>
              </a:lnSpc>
            </a:pPr>
            <a:r>
              <a:rPr sz="2000" b="0">
                <a:solidFill>
                  <a:srgbClr val="333333"/>
                </a:solidFill>
                <a:latin typeface="Calibri"/>
              </a:rPr>
              <a:t>Monitor drift after deployment</a:t>
            </a:r>
          </a:p>
          <a:p>
            <a:pPr>
              <a:spcAft>
                <a:spcPts val="1000"/>
              </a:spcAft>
              <a:buChar char="•"/>
              <a:lnSpc>
                <a:spcPts val="2200"/>
              </a:lnSpc>
            </a:pPr>
            <a:r>
              <a:rPr sz="2000" b="0">
                <a:solidFill>
                  <a:srgbClr val="333333"/>
                </a:solidFill>
                <a:latin typeface="Calibri"/>
              </a:rPr>
              <a:t>Mitigation is an iterative control process rather than a one-time repair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Dataset Bias and Fairness</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Pre-processing changes data, in-processing changes learning</a:t>
            </a:r>
          </a:p>
          <a:p>
            <a:pPr>
              <a:spcAft>
                <a:spcPts val="1000"/>
              </a:spcAft>
              <a:buChar char="•"/>
              <a:lnSpc>
                <a:spcPts val="2200"/>
              </a:lnSpc>
            </a:pPr>
            <a:r>
              <a:rPr sz="2000" b="0">
                <a:solidFill>
                  <a:srgbClr val="333333"/>
                </a:solidFill>
                <a:latin typeface="Calibri"/>
              </a:rPr>
              <a:t>Output adjustment targets decision behavior or probability meaning</a:t>
            </a:r>
          </a:p>
          <a:p>
            <a:pPr>
              <a:spcAft>
                <a:spcPts val="1000"/>
              </a:spcAft>
              <a:buChar char="•"/>
              <a:lnSpc>
                <a:spcPts val="2200"/>
              </a:lnSpc>
            </a:pPr>
            <a:r>
              <a:rPr sz="2000" b="0">
                <a:solidFill>
                  <a:srgbClr val="333333"/>
                </a:solidFill>
                <a:latin typeface="Calibri"/>
              </a:rPr>
              <a:t>Every method must be validated against the intended fairness objective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Dataset Bias and Fairness</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The next clip moves from individual techniques to operating practice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Dataset Bias and Fairness</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Distinguish a technical audit from a broader impact assessment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Dataset Bias and Fairness</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Representative data collection</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Collection should reflect the population, environments</a:t>
            </a:r>
          </a:p>
          <a:p>
            <a:pPr>
              <a:spcAft>
                <a:spcPts val="1000"/>
              </a:spcAft>
              <a:buChar char="•"/>
              <a:lnSpc>
                <a:spcPts val="2200"/>
              </a:lnSpc>
            </a:pPr>
            <a:r>
              <a:rPr sz="2000" b="0">
                <a:solidFill>
                  <a:srgbClr val="333333"/>
                </a:solidFill>
                <a:latin typeface="Calibri"/>
              </a:rPr>
              <a:t>Teams should sample across relevant demographic, geographic, socioeconomic, age</a:t>
            </a:r>
          </a:p>
          <a:p>
            <a:pPr>
              <a:spcAft>
                <a:spcPts val="1000"/>
              </a:spcAft>
              <a:buChar char="•"/>
              <a:lnSpc>
                <a:spcPts val="2200"/>
              </a:lnSpc>
            </a:pPr>
            <a:r>
              <a:rPr sz="2000" b="0">
                <a:solidFill>
                  <a:srgbClr val="333333"/>
                </a:solidFill>
                <a:latin typeface="Calibri"/>
              </a:rPr>
              <a:t>Representation targets and missing groups should be monitored throughout collection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Dataset Bias and Fairness</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Clear labeling guidelines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Labeling guidance should define categories, decision rules, edge cases, abstention options</a:t>
            </a:r>
          </a:p>
          <a:p>
            <a:pPr>
              <a:spcAft>
                <a:spcPts val="1000"/>
              </a:spcAft>
              <a:buChar char="•"/>
              <a:lnSpc>
                <a:spcPts val="2200"/>
              </a:lnSpc>
            </a:pPr>
            <a:r>
              <a:rPr sz="2000" b="0">
                <a:solidFill>
                  <a:srgbClr val="333333"/>
                </a:solidFill>
                <a:latin typeface="Calibri"/>
              </a:rPr>
              <a:t>Pilot rounds can reveal ambiguity before large-scale annotation begins</a:t>
            </a:r>
          </a:p>
          <a:p>
            <a:pPr>
              <a:spcAft>
                <a:spcPts val="1000"/>
              </a:spcAft>
              <a:buChar char="•"/>
              <a:lnSpc>
                <a:spcPts val="2200"/>
              </a:lnSpc>
            </a:pPr>
            <a:r>
              <a:rPr sz="2000" b="0">
                <a:solidFill>
                  <a:srgbClr val="333333"/>
                </a:solidFill>
                <a:latin typeface="Calibri"/>
              </a:rPr>
              <a:t>Agreement measures identify unstable tasks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Dataset Bias and Fairness</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Diverse annotators and human oversight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Diverse annotators contribute different cultural and experiential perspectives</a:t>
            </a:r>
          </a:p>
          <a:p>
            <a:pPr>
              <a:spcAft>
                <a:spcPts val="1000"/>
              </a:spcAft>
              <a:buChar char="•"/>
              <a:lnSpc>
                <a:spcPts val="2200"/>
              </a:lnSpc>
            </a:pPr>
            <a:r>
              <a:rPr sz="2000" b="0">
                <a:solidFill>
                  <a:srgbClr val="333333"/>
                </a:solidFill>
                <a:latin typeface="Calibri"/>
              </a:rPr>
              <a:t>Human-in-the-loop review supports adjudication, correction, and continuous refinement</a:t>
            </a:r>
          </a:p>
          <a:p>
            <a:pPr>
              <a:spcAft>
                <a:spcPts val="1000"/>
              </a:spcAft>
              <a:buChar char="•"/>
              <a:lnSpc>
                <a:spcPts val="2200"/>
              </a:lnSpc>
            </a:pPr>
            <a:r>
              <a:rPr sz="2000" b="0">
                <a:solidFill>
                  <a:srgbClr val="333333"/>
                </a:solidFill>
                <a:latin typeface="Calibri"/>
              </a:rPr>
              <a:t>Diversity should not be treated as a substitute for training</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Dataset Bias and Fairness</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Validation on diverse datasets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Evaluation data should cover the groups and operating conditions the system will encounter</a:t>
            </a:r>
          </a:p>
          <a:p>
            <a:pPr>
              <a:spcAft>
                <a:spcPts val="1000"/>
              </a:spcAft>
              <a:buChar char="•"/>
              <a:lnSpc>
                <a:spcPts val="2200"/>
              </a:lnSpc>
            </a:pPr>
            <a:r>
              <a:rPr sz="2000" b="0">
                <a:solidFill>
                  <a:srgbClr val="333333"/>
                </a:solidFill>
                <a:latin typeface="Calibri"/>
              </a:rPr>
              <a:t>Overall accuracy must be disaggregated into suitable performance and fairness metrics</a:t>
            </a:r>
          </a:p>
          <a:p>
            <a:pPr>
              <a:spcAft>
                <a:spcPts val="1000"/>
              </a:spcAft>
              <a:buChar char="•"/>
              <a:lnSpc>
                <a:spcPts val="2200"/>
              </a:lnSpc>
            </a:pPr>
            <a:r>
              <a:rPr sz="2000" b="0">
                <a:solidFill>
                  <a:srgbClr val="333333"/>
                </a:solidFill>
                <a:latin typeface="Calibri"/>
              </a:rPr>
              <a:t>Equipment, geography, or population composition changes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Dataset Bias and Fairness</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Regular fairness audits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Audits should occur before release, after retraining or major data changes</a:t>
            </a:r>
          </a:p>
          <a:p>
            <a:pPr>
              <a:spcAft>
                <a:spcPts val="1000"/>
              </a:spcAft>
              <a:buChar char="•"/>
              <a:lnSpc>
                <a:spcPts val="2200"/>
              </a:lnSpc>
            </a:pPr>
            <a:r>
              <a:rPr sz="2000" b="0">
                <a:solidFill>
                  <a:srgbClr val="333333"/>
                </a:solidFill>
                <a:latin typeface="Calibri"/>
              </a:rPr>
              <a:t>Assign corrective actions</a:t>
            </a:r>
          </a:p>
          <a:p>
            <a:pPr>
              <a:spcAft>
                <a:spcPts val="1000"/>
              </a:spcAft>
              <a:buChar char="•"/>
              <a:lnSpc>
                <a:spcPts val="2200"/>
              </a:lnSpc>
            </a:pPr>
            <a:r>
              <a:rPr sz="2000" b="0">
                <a:solidFill>
                  <a:srgbClr val="333333"/>
                </a:solidFill>
                <a:latin typeface="Calibri"/>
              </a:rPr>
              <a:t>A useful audit has an owner, a schedule, reproducible evidence, decision thresholds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Dataset Bias and Fairness</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Impact assessments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Impact assessments extend beyond metric checks</a:t>
            </a:r>
          </a:p>
          <a:p>
            <a:pPr>
              <a:spcAft>
                <a:spcPts val="1000"/>
              </a:spcAft>
              <a:buChar char="•"/>
              <a:lnSpc>
                <a:spcPts val="2200"/>
              </a:lnSpc>
            </a:pPr>
            <a:r>
              <a:rPr sz="2000" b="0">
                <a:solidFill>
                  <a:srgbClr val="333333"/>
                </a:solidFill>
                <a:latin typeface="Calibri"/>
              </a:rPr>
              <a:t>Accountability</a:t>
            </a:r>
          </a:p>
          <a:p>
            <a:pPr>
              <a:spcAft>
                <a:spcPts val="1000"/>
              </a:spcAft>
              <a:buChar char="•"/>
              <a:lnSpc>
                <a:spcPts val="2200"/>
              </a:lnSpc>
            </a:pPr>
            <a:r>
              <a:rPr sz="2000" b="0">
                <a:solidFill>
                  <a:srgbClr val="333333"/>
                </a:solidFill>
                <a:latin typeface="Calibri"/>
              </a:rPr>
              <a:t>They also examine how an ostensibly accurate tool may change institutional behavior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Dataset Bias and Fairness</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 continuous fairness loop</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The practices form a loop</a:t>
            </a:r>
          </a:p>
          <a:p>
            <a:pPr>
              <a:spcAft>
                <a:spcPts val="1000"/>
              </a:spcAft>
              <a:buChar char="•"/>
              <a:lnSpc>
                <a:spcPts val="2200"/>
              </a:lnSpc>
            </a:pPr>
            <a:r>
              <a:rPr sz="2000" b="0">
                <a:solidFill>
                  <a:srgbClr val="333333"/>
                </a:solidFill>
                <a:latin typeface="Calibri"/>
              </a:rPr>
              <a:t>Documentation connects each stage so later reviewers can understand decisions and</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Dataset Bias and Fairness</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Fairness begins with representative collection and explicit labeling rules</a:t>
            </a:r>
          </a:p>
          <a:p>
            <a:pPr>
              <a:spcAft>
                <a:spcPts val="1000"/>
              </a:spcAft>
              <a:buChar char="•"/>
              <a:lnSpc>
                <a:spcPts val="2200"/>
              </a:lnSpc>
            </a:pPr>
            <a:r>
              <a:rPr sz="2000" b="0">
                <a:solidFill>
                  <a:srgbClr val="333333"/>
                </a:solidFill>
                <a:latin typeface="Calibri"/>
              </a:rPr>
              <a:t>Diverse participation and human oversight improve judgment but require supporting controls</a:t>
            </a:r>
          </a:p>
          <a:p>
            <a:pPr>
              <a:spcAft>
                <a:spcPts val="1000"/>
              </a:spcAft>
              <a:buChar char="•"/>
              <a:lnSpc>
                <a:spcPts val="2200"/>
              </a:lnSpc>
            </a:pPr>
            <a:r>
              <a:rPr sz="2000" b="0">
                <a:solidFill>
                  <a:srgbClr val="333333"/>
                </a:solidFill>
                <a:latin typeface="Calibri"/>
              </a:rPr>
              <a:t>Validation must be disaggregated and realistic, audits must recur as systems change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Dataset Bias and Fairness</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The next clip examines tooling that can make these practices repeatable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Dataset Bias and Fairness</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By the end of this clip</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Dataset Bias and Fairness</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IBM AI Fairness 360</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Mitigation algorithms</a:t>
            </a:r>
          </a:p>
          <a:p>
            <a:pPr>
              <a:spcAft>
                <a:spcPts val="1000"/>
              </a:spcAft>
              <a:buChar char="•"/>
              <a:lnSpc>
                <a:spcPts val="2200"/>
              </a:lnSpc>
            </a:pPr>
            <a:r>
              <a:rPr sz="2000" b="0">
                <a:solidFill>
                  <a:srgbClr val="333333"/>
                </a:solidFill>
                <a:latin typeface="Calibri"/>
              </a:rPr>
              <a:t>Its methods span pre-processing, in-processing</a:t>
            </a:r>
          </a:p>
          <a:p>
            <a:pPr>
              <a:spcAft>
                <a:spcPts val="1000"/>
              </a:spcAft>
              <a:buChar char="•"/>
              <a:lnSpc>
                <a:spcPts val="2200"/>
              </a:lnSpc>
            </a:pPr>
            <a:r>
              <a:rPr sz="2000" b="0">
                <a:solidFill>
                  <a:srgbClr val="333333"/>
                </a:solidFill>
                <a:latin typeface="Calibri"/>
              </a:rPr>
              <a:t>This breadth supports experimentation across several fairness definitions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Dataset Bias and Fairness</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Microsoft Fairlearn</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Fairlearn emphasizes disaggregated assessment and fairness-aware mitigation within common</a:t>
            </a:r>
          </a:p>
          <a:p>
            <a:pPr>
              <a:spcAft>
                <a:spcPts val="1000"/>
              </a:spcAft>
              <a:buChar char="•"/>
              <a:lnSpc>
                <a:spcPts val="2200"/>
              </a:lnSpc>
            </a:pPr>
            <a:r>
              <a:rPr sz="2000" b="0">
                <a:solidFill>
                  <a:srgbClr val="333333"/>
                </a:solidFill>
                <a:latin typeface="Calibri"/>
              </a:rPr>
              <a:t>Grouped metric reporting exposes performance gaps that an average conceals</a:t>
            </a:r>
          </a:p>
          <a:p>
            <a:pPr>
              <a:spcAft>
                <a:spcPts val="1000"/>
              </a:spcAft>
              <a:buChar char="•"/>
              <a:lnSpc>
                <a:spcPts val="2200"/>
              </a:lnSpc>
            </a:pPr>
            <a:r>
              <a:rPr sz="2000" b="0">
                <a:solidFill>
                  <a:srgbClr val="333333"/>
                </a:solidFill>
                <a:latin typeface="Calibri"/>
              </a:rPr>
              <a:t>It is particularly convenient when models already use the scikit-learn ecosystem</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Dataset Bias and Fairness</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Using tools responsibly</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A defensible workflow first states the decision context, affected groups, harms, labels</a:t>
            </a:r>
          </a:p>
          <a:p>
            <a:pPr>
              <a:spcAft>
                <a:spcPts val="1000"/>
              </a:spcAft>
              <a:buChar char="•"/>
              <a:lnSpc>
                <a:spcPts val="2200"/>
              </a:lnSpc>
            </a:pPr>
            <a:r>
              <a:rPr sz="2000" b="0">
                <a:solidFill>
                  <a:srgbClr val="333333"/>
                </a:solidFill>
                <a:latin typeface="Calibri"/>
              </a:rPr>
              <a:t>The toolkit then computes evidence and tests candidate interventions</a:t>
            </a:r>
          </a:p>
          <a:p>
            <a:pPr>
              <a:spcAft>
                <a:spcPts val="1000"/>
              </a:spcAft>
              <a:buChar char="•"/>
              <a:lnSpc>
                <a:spcPts val="2200"/>
              </a:lnSpc>
            </a:pPr>
            <a:r>
              <a:rPr sz="2000" b="0">
                <a:solidFill>
                  <a:srgbClr val="333333"/>
                </a:solidFill>
                <a:latin typeface="Calibri"/>
              </a:rPr>
              <a:t>Teams must report uncertainty, utility changes, and unresolved harms</a:t>
            </a:r>
          </a:p>
          <a:p>
            <a:pPr>
              <a:spcAft>
                <a:spcPts val="1000"/>
              </a:spcAft>
              <a:buChar char="•"/>
              <a:lnSpc>
                <a:spcPts val="2200"/>
              </a:lnSpc>
            </a:pPr>
            <a:r>
              <a:rPr sz="2000" b="0">
                <a:solidFill>
                  <a:srgbClr val="333333"/>
                </a:solidFill>
                <a:latin typeface="Calibri"/>
              </a:rPr>
              <a:t>Default settings and benchmark datasets are starting points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Dataset Bias and Fairness</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Case study — Gender bias in text data</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Large text corpora can associate occupations and social roles with gender stereotypes</a:t>
            </a:r>
          </a:p>
          <a:p>
            <a:pPr>
              <a:spcAft>
                <a:spcPts val="1000"/>
              </a:spcAft>
              <a:buChar char="•"/>
              <a:lnSpc>
                <a:spcPts val="2200"/>
              </a:lnSpc>
            </a:pPr>
            <a:r>
              <a:rPr sz="2000" b="0">
                <a:solidFill>
                  <a:srgbClr val="333333"/>
                </a:solidFill>
                <a:latin typeface="Calibri"/>
              </a:rPr>
              <a:t>Models learn these associations and may reproduce them in generation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Dataset Bias and Fairness</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Debiasing representations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One mitigation strategy identifies a gender direction in a word-embedding space and</a:t>
            </a:r>
          </a:p>
          <a:p>
            <a:pPr>
              <a:spcAft>
                <a:spcPts val="1000"/>
              </a:spcAft>
              <a:buChar char="•"/>
              <a:lnSpc>
                <a:spcPts val="2200"/>
              </a:lnSpc>
            </a:pPr>
            <a:r>
              <a:rPr sz="2000" b="0">
                <a:solidFill>
                  <a:srgbClr val="333333"/>
                </a:solidFill>
                <a:latin typeface="Calibri"/>
              </a:rPr>
              <a:t>Data balancing and fairness-aware training provide alternatives</a:t>
            </a:r>
          </a:p>
          <a:p>
            <a:pPr>
              <a:spcAft>
                <a:spcPts val="1000"/>
              </a:spcAft>
              <a:buChar char="•"/>
              <a:lnSpc>
                <a:spcPts val="2200"/>
              </a:lnSpc>
            </a:pPr>
            <a:r>
              <a:rPr sz="2000" b="0">
                <a:solidFill>
                  <a:srgbClr val="333333"/>
                </a:solidFill>
                <a:latin typeface="Calibri"/>
              </a:rPr>
              <a:t>Any intervention must distinguish harmful stereotypes from legitimate linguistic</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Dataset Bias and Fairness</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Evaluating the outcome</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Realistic prompts</a:t>
            </a:r>
          </a:p>
          <a:p>
            <a:pPr>
              <a:spcAft>
                <a:spcPts val="1000"/>
              </a:spcAft>
              <a:buChar char="•"/>
              <a:lnSpc>
                <a:spcPts val="2200"/>
              </a:lnSpc>
            </a:pPr>
            <a:r>
              <a:rPr sz="2000" b="0">
                <a:solidFill>
                  <a:srgbClr val="333333"/>
                </a:solidFill>
                <a:latin typeface="Calibri"/>
              </a:rPr>
              <a:t>Human review by affected communities can identify harms that a numeric score misses</a:t>
            </a:r>
          </a:p>
          <a:p>
            <a:pPr>
              <a:spcAft>
                <a:spcPts val="1000"/>
              </a:spcAft>
              <a:buChar char="•"/>
              <a:lnSpc>
                <a:spcPts val="2200"/>
              </a:lnSpc>
            </a:pPr>
            <a:r>
              <a:rPr sz="2000" b="0">
                <a:solidFill>
                  <a:srgbClr val="333333"/>
                </a:solidFill>
                <a:latin typeface="Calibri"/>
              </a:rPr>
              <a:t>Because language and usage evolve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Dataset Bias and Fairness</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AI Fairness 360 provides broad metrics and interventions across pipeline stages</a:t>
            </a:r>
          </a:p>
          <a:p>
            <a:pPr>
              <a:spcAft>
                <a:spcPts val="1000"/>
              </a:spcAft>
              <a:buChar char="•"/>
              <a:lnSpc>
                <a:spcPts val="2200"/>
              </a:lnSpc>
            </a:pPr>
            <a:r>
              <a:rPr sz="2000" b="0">
                <a:solidFill>
                  <a:srgbClr val="333333"/>
                </a:solidFill>
                <a:latin typeface="Calibri"/>
              </a:rPr>
              <a:t>Toolkits make analysis repeatable but cannot choose the ethical objective</a:t>
            </a:r>
          </a:p>
          <a:p>
            <a:pPr>
              <a:spcAft>
                <a:spcPts val="1000"/>
              </a:spcAft>
              <a:buChar char="•"/>
              <a:lnSpc>
                <a:spcPts val="2200"/>
              </a:lnSpc>
            </a:pPr>
            <a:r>
              <a:rPr sz="2000" b="0">
                <a:solidFill>
                  <a:srgbClr val="333333"/>
                </a:solidFill>
                <a:latin typeface="Calibri"/>
              </a:rPr>
              <a:t>Text debiasing requires both representation-level tests and downstream</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Dataset Bias and Fairness</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Deployment governance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Dataset Bias and Fairness</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Connect future methods with the lifecycle practices developed throughout the chapter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Dataset Bias and Fairness</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Bias in generative AI</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Uneven representation</a:t>
            </a:r>
          </a:p>
          <a:p>
            <a:pPr>
              <a:spcAft>
                <a:spcPts val="1000"/>
              </a:spcAft>
              <a:buChar char="•"/>
              <a:lnSpc>
                <a:spcPts val="2200"/>
              </a:lnSpc>
            </a:pPr>
            <a:r>
              <a:rPr sz="2000" b="0">
                <a:solidFill>
                  <a:srgbClr val="333333"/>
                </a:solidFill>
                <a:latin typeface="Calibri"/>
              </a:rPr>
              <a:t>A text-to-image model may repeatedly depict leaders or doctors from one demographic group</a:t>
            </a:r>
          </a:p>
          <a:p>
            <a:pPr>
              <a:spcAft>
                <a:spcPts val="1000"/>
              </a:spcAft>
              <a:buChar char="•"/>
              <a:lnSpc>
                <a:spcPts val="2200"/>
              </a:lnSpc>
            </a:pPr>
            <a:r>
              <a:rPr sz="2000" b="0">
                <a:solidFill>
                  <a:srgbClr val="333333"/>
                </a:solidFill>
                <a:latin typeface="Calibri"/>
              </a:rPr>
              <a:t>Open-ended outputs make fairness evaluation broader than checking one fixed classification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Dataset Bias and Fairness</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Evaluating and mitigating generative bias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Evaluation should use diverse prompts, repeated samples, intersectional groups</a:t>
            </a:r>
          </a:p>
          <a:p>
            <a:pPr>
              <a:spcAft>
                <a:spcPts val="1000"/>
              </a:spcAft>
              <a:buChar char="•"/>
              <a:lnSpc>
                <a:spcPts val="2200"/>
              </a:lnSpc>
            </a:pPr>
            <a:r>
              <a:rPr sz="2000" b="0">
                <a:solidFill>
                  <a:srgbClr val="333333"/>
                </a:solidFill>
                <a:latin typeface="Calibri"/>
              </a:rPr>
              <a:t>Deployment safeguards</a:t>
            </a:r>
          </a:p>
          <a:p>
            <a:pPr>
              <a:spcAft>
                <a:spcPts val="1000"/>
              </a:spcAft>
              <a:buChar char="•"/>
              <a:lnSpc>
                <a:spcPts val="2200"/>
              </a:lnSpc>
            </a:pPr>
            <a:r>
              <a:rPr sz="2000" b="0">
                <a:solidFill>
                  <a:srgbClr val="333333"/>
                </a:solidFill>
                <a:latin typeface="Calibri"/>
              </a:rPr>
              <a:t>Because interventions can shift or conceal harms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Dataset Bias and Fairness</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Fairness in federated learning</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Federated learning trains across decentralized devices or organizations without</a:t>
            </a:r>
          </a:p>
          <a:p>
            <a:pPr>
              <a:spcAft>
                <a:spcPts val="1000"/>
              </a:spcAft>
              <a:buChar char="•"/>
              <a:lnSpc>
                <a:spcPts val="2200"/>
              </a:lnSpc>
            </a:pPr>
            <a:r>
              <a:rPr sz="2000" b="0">
                <a:solidFill>
                  <a:srgbClr val="333333"/>
                </a:solidFill>
                <a:latin typeface="Calibri"/>
              </a:rPr>
              <a:t>Privacy benefits do not guarantee fairness</a:t>
            </a:r>
          </a:p>
          <a:p>
            <a:pPr>
              <a:spcAft>
                <a:spcPts val="1000"/>
              </a:spcAft>
              <a:buChar char="•"/>
              <a:lnSpc>
                <a:spcPts val="2200"/>
              </a:lnSpc>
            </a:pPr>
            <a:r>
              <a:rPr sz="2000" b="0">
                <a:solidFill>
                  <a:srgbClr val="333333"/>
                </a:solidFill>
                <a:latin typeface="Calibri"/>
              </a:rPr>
              <a:t>Participants may contribute very different amounts and distributions of data</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Dataset Bias and Fairness</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Fairness-aware federation</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Reporting performance for each participating population</a:t>
            </a:r>
          </a:p>
          <a:p>
            <a:pPr>
              <a:spcAft>
                <a:spcPts val="1000"/>
              </a:spcAft>
              <a:buChar char="•"/>
              <a:lnSpc>
                <a:spcPts val="2200"/>
              </a:lnSpc>
            </a:pPr>
            <a:r>
              <a:rPr sz="2000" b="0">
                <a:solidFill>
                  <a:srgbClr val="333333"/>
                </a:solidFill>
                <a:latin typeface="Calibri"/>
              </a:rPr>
              <a:t>Teams must also examine which clients are repeatedly excluded and whether privacy</a:t>
            </a:r>
          </a:p>
          <a:p>
            <a:pPr>
              <a:spcAft>
                <a:spcPts val="1000"/>
              </a:spcAft>
              <a:buChar char="•"/>
              <a:lnSpc>
                <a:spcPts val="2200"/>
              </a:lnSpc>
            </a:pPr>
            <a:r>
              <a:rPr sz="2000" b="0">
                <a:solidFill>
                  <a:srgbClr val="333333"/>
                </a:solidFill>
                <a:latin typeface="Calibri"/>
              </a:rPr>
              <a:t>The objective should balance global utility with acceptable performance for less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Dataset Bias and Fairness</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Regulation and deployment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Privacy, anti-discrimination, consumer protection</a:t>
            </a:r>
          </a:p>
          <a:p>
            <a:pPr>
              <a:spcAft>
                <a:spcPts val="1000"/>
              </a:spcAft>
              <a:buChar char="•"/>
              <a:lnSpc>
                <a:spcPts val="2200"/>
              </a:lnSpc>
            </a:pPr>
            <a:r>
              <a:rPr sz="2000" b="0">
                <a:solidFill>
                  <a:srgbClr val="333333"/>
                </a:solidFill>
                <a:latin typeface="Calibri"/>
              </a:rPr>
              <a:t>Deployment controls rather than assembled after a complaint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Dataset Bias and Fairness</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Future directions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Bias-aware datasets, causal methods, fairness-aware optimization, explainability</a:t>
            </a:r>
          </a:p>
          <a:p>
            <a:pPr>
              <a:spcAft>
                <a:spcPts val="1000"/>
              </a:spcAft>
              <a:buChar char="•"/>
              <a:lnSpc>
                <a:spcPts val="2200"/>
              </a:lnSpc>
            </a:pPr>
            <a:r>
              <a:rPr sz="2000" b="0">
                <a:solidFill>
                  <a:srgbClr val="333333"/>
                </a:solidFill>
                <a:latin typeface="Calibri"/>
              </a:rPr>
              <a:t>Their value depends on clear problem definitions and real-world validation</a:t>
            </a:r>
          </a:p>
          <a:p>
            <a:pPr>
              <a:spcAft>
                <a:spcPts val="1000"/>
              </a:spcAft>
              <a:buChar char="•"/>
              <a:lnSpc>
                <a:spcPts val="2200"/>
              </a:lnSpc>
            </a:pPr>
            <a:r>
              <a:rPr sz="2000" b="0">
                <a:solidFill>
                  <a:srgbClr val="333333"/>
                </a:solidFill>
                <a:latin typeface="Calibri"/>
              </a:rPr>
              <a:t>Ongoing monitoring</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Dataset Bias and Fairness</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Generative systems expand fairness evaluation to open-ended content and intersectional</a:t>
            </a:r>
          </a:p>
          <a:p>
            <a:pPr>
              <a:spcAft>
                <a:spcPts val="1000"/>
              </a:spcAft>
              <a:buChar char="•"/>
              <a:lnSpc>
                <a:spcPts val="2200"/>
              </a:lnSpc>
            </a:pPr>
            <a:r>
              <a:rPr sz="2000" b="0">
                <a:solidFill>
                  <a:srgbClr val="333333"/>
                </a:solidFill>
                <a:latin typeface="Calibri"/>
              </a:rPr>
              <a:t>Federated systems introduce uneven participation and local performance concerns</a:t>
            </a:r>
          </a:p>
          <a:p>
            <a:pPr>
              <a:spcAft>
                <a:spcPts val="1000"/>
              </a:spcAft>
              <a:buChar char="•"/>
              <a:lnSpc>
                <a:spcPts val="2200"/>
              </a:lnSpc>
            </a:pPr>
            <a:r>
              <a:rPr sz="2000" b="0">
                <a:solidFill>
                  <a:srgbClr val="333333"/>
                </a:solidFill>
                <a:latin typeface="Calibri"/>
              </a:rPr>
              <a:t>Regulation makes documentation, testing, oversight</a:t>
            </a:r>
          </a:p>
          <a:p>
            <a:pPr>
              <a:spcAft>
                <a:spcPts val="1000"/>
              </a:spcAft>
              <a:buChar char="•"/>
              <a:lnSpc>
                <a:spcPts val="2200"/>
              </a:lnSpc>
            </a:pPr>
            <a:r>
              <a:rPr sz="2000" b="0">
                <a:solidFill>
                  <a:srgbClr val="333333"/>
                </a:solidFill>
                <a:latin typeface="Calibri"/>
              </a:rPr>
              <a:t>Across all settings, fairness remains a lifecycle practice rather than a one-time metric</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Dataset Bias and Fairness</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Emerging challenges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7 — Dataset Bias and Fairness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