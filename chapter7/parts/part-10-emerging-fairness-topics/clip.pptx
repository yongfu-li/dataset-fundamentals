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challenges evolve as models become generative, training becomes decentralized, and regulation becomes more specific. The technical settings change, but the central questions remain: whose data is represented, whose outcomes are measured, which harms matter, who can inspect the system, and who is responsible for correction.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identify distinctive fairness risks in generative and federated learning, outline suitable monitoring and mitigation approaches, explain how regulation shapes deployment obligations, and connect future methods with the lifecycle practices developed throughout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systems learn associations from large web-scale corpora that contain stereotypes, exclusions, and uneven representation. A text-to-image model may repeatedly depict leaders or doctors from one demographic group, while a language model may generate demeaning or exclusionary descriptions. Open-ended outputs make fairness evaluation broader than checking one fixed classification label.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should use diverse prompts, repeated samples, intersectional groups, and both quantitative and human review. Mitigation can include better data curation, balanced augmentation, filtering, representation debiasing, training constraints, and deployment safeguards. Because interventions can shift or conceal harms, generated outputs must be monitored over time and across languages and cultures.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Federated learning trains across decentralized devices or organizations without centralizing raw records. Privacy benefits do not guarantee fairness. Participants may contribute very different amounts and distributions of data, connectivity can determine who influences training, and a global model may work well for common urban users while failing for smaller rural or clinical populations.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Possible responses include group-aware sampling, robust aggregation, personalized models, explicit fairness objectives, and reporting performance for each participating population. Teams must also examine which clients are repeatedly excluded and whether privacy protections limit subgroup auditing. The objective should balance global utility with acceptable performance for less represented participants.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anti-discrimination, consumer protection, and artificial-intelligence-specific rules increasingly require documentation, transparency, bias testing, human oversight, and routes for appeal in high-risk settings. Compliance should be built into system design through data records, impact assessments, audit trails, assigned responsibility, and deployment controls rather than assembled after a complaint.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Bias-aware datasets, causal methods, fairness-aware optimization, explainability, and participatory evaluation can strengthen future systems. Their value depends on clear problem definitions and real-world validation. More complex algorithms do not remove the need for representative data, stakeholder input, understandable evidence, and ongoing monitoring.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systems expand fairness evaluation to open-ended content and intersectional representation. Federated systems introduce uneven participation and local performance concerns. Regulation makes documentation, testing, oversight, and accountability deployment requirements. Across all settings, fairness remains a lifecycle practice rather than a one-time metric.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has moved from bias definitions through diagnosis, impacts, fairness criteria, mitigation, operating practice, and emerging challenges. The next stage of the book carries this fairness lens into later modeling and governance decisions, where dataset choices continue to shape performance, risk, and accountability.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7 — Emerging fairness topics</a:t>
            </a:r>
          </a:p>
          <a:p>
            <a:pPr algn="ctr">
              <a:lnSpc>
                <a:spcPts val="2200"/>
              </a:lnSpc>
              <a:spcBef>
                <a:spcPts val="1400"/>
              </a:spcBef>
            </a:pPr>
            <a:r>
              <a:rPr sz="2600" b="0">
                <a:solidFill>
                  <a:srgbClr val="333333"/>
                </a:solidFill>
                <a:latin typeface="Calibri"/>
              </a:rPr>
              <a:t>Fairness challenges evolve as models become generative, training becomes decentralized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Emerging Fairness Topics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Connect future methods with the lifecycle practices developed throughout the chapter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Emerging Fairness Topics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Bias in generative AI</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Uneven representation</a:t>
            </a:r>
          </a:p>
          <a:p>
            <a:pPr lvl="0" marL="457200" indent="-228600">
              <a:buFont typeface="Calibri"/>
              <a:spcAft>
                <a:spcPts val="1000"/>
              </a:spcAft>
              <a:buSzPct val="100000"/>
              <a:buChar char="•"/>
              <a:lnSpc>
                <a:spcPts val="2200"/>
              </a:lnSpc>
            </a:pPr>
            <a:r>
              <a:rPr sz="2000" b="0">
                <a:solidFill>
                  <a:srgbClr val="333333"/>
                </a:solidFill>
                <a:latin typeface="Calibri"/>
              </a:rPr>
              <a:t>A text-to-image model may repeatedly depict leaders or doctors from one demographic group</a:t>
            </a:r>
          </a:p>
          <a:p>
            <a:pPr lvl="0" marL="457200" indent="-228600">
              <a:buFont typeface="Calibri"/>
              <a:spcAft>
                <a:spcPts val="1000"/>
              </a:spcAft>
              <a:buSzPct val="100000"/>
              <a:buChar char="•"/>
              <a:lnSpc>
                <a:spcPts val="2200"/>
              </a:lnSpc>
            </a:pPr>
            <a:r>
              <a:rPr sz="2000" b="0">
                <a:solidFill>
                  <a:srgbClr val="333333"/>
                </a:solidFill>
                <a:latin typeface="Calibri"/>
              </a:rPr>
              <a:t>Open-ended outputs make fairness evaluation broader than checking one fixed classification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Emerging Fairness Topics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Evaluating and mitigating generative bias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Evaluation should use diverse prompts, repeated samples, intersectional groups</a:t>
            </a:r>
          </a:p>
          <a:p>
            <a:pPr lvl="0" marL="457200" indent="-228600">
              <a:buFont typeface="Calibri"/>
              <a:spcAft>
                <a:spcPts val="1000"/>
              </a:spcAft>
              <a:buSzPct val="100000"/>
              <a:buChar char="•"/>
              <a:lnSpc>
                <a:spcPts val="2200"/>
              </a:lnSpc>
            </a:pPr>
            <a:r>
              <a:rPr sz="2000" b="0">
                <a:solidFill>
                  <a:srgbClr val="333333"/>
                </a:solidFill>
                <a:latin typeface="Calibri"/>
              </a:rPr>
              <a:t>Deployment safeguards</a:t>
            </a:r>
          </a:p>
          <a:p>
            <a:pPr lvl="0" marL="457200" indent="-228600">
              <a:buFont typeface="Calibri"/>
              <a:spcAft>
                <a:spcPts val="1000"/>
              </a:spcAft>
              <a:buSzPct val="100000"/>
              <a:buChar char="•"/>
              <a:lnSpc>
                <a:spcPts val="2200"/>
              </a:lnSpc>
            </a:pPr>
            <a:r>
              <a:rPr sz="2000" b="0">
                <a:solidFill>
                  <a:srgbClr val="333333"/>
                </a:solidFill>
                <a:latin typeface="Calibri"/>
              </a:rPr>
              <a:t>Because interventions can shift or conceal harms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Emerging Fairness Topics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Fairness in federated learning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Federated learning trains across decentralized devices or organizations without</a:t>
            </a:r>
          </a:p>
          <a:p>
            <a:pPr lvl="0" marL="457200" indent="-228600">
              <a:buFont typeface="Calibri"/>
              <a:spcAft>
                <a:spcPts val="1000"/>
              </a:spcAft>
              <a:buSzPct val="100000"/>
              <a:buChar char="•"/>
              <a:lnSpc>
                <a:spcPts val="2200"/>
              </a:lnSpc>
            </a:pPr>
            <a:r>
              <a:rPr sz="2000" b="0">
                <a:solidFill>
                  <a:srgbClr val="333333"/>
                </a:solidFill>
                <a:latin typeface="Calibri"/>
              </a:rPr>
              <a:t>Privacy benefits do not guarantee fairness</a:t>
            </a:r>
          </a:p>
          <a:p>
            <a:pPr lvl="0" marL="457200" indent="-228600">
              <a:buFont typeface="Calibri"/>
              <a:spcAft>
                <a:spcPts val="1000"/>
              </a:spcAft>
              <a:buSzPct val="100000"/>
              <a:buChar char="•"/>
              <a:lnSpc>
                <a:spcPts val="2200"/>
              </a:lnSpc>
            </a:pPr>
            <a:r>
              <a:rPr sz="2000" b="0">
                <a:solidFill>
                  <a:srgbClr val="333333"/>
                </a:solidFill>
                <a:latin typeface="Calibri"/>
              </a:rPr>
              <a:t>Participants may contribute very different amounts and distributions of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Emerging Fairness Topics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Fairness-aware federation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Reporting performance for each participating population</a:t>
            </a:r>
          </a:p>
          <a:p>
            <a:pPr lvl="0" marL="457200" indent="-228600">
              <a:buFont typeface="Calibri"/>
              <a:spcAft>
                <a:spcPts val="1000"/>
              </a:spcAft>
              <a:buSzPct val="100000"/>
              <a:buChar char="•"/>
              <a:lnSpc>
                <a:spcPts val="2200"/>
              </a:lnSpc>
            </a:pPr>
            <a:r>
              <a:rPr sz="2000" b="0">
                <a:solidFill>
                  <a:srgbClr val="333333"/>
                </a:solidFill>
                <a:latin typeface="Calibri"/>
              </a:rPr>
              <a:t>Teams must also examine which clients are repeatedly excluded and whether privacy</a:t>
            </a:r>
          </a:p>
          <a:p>
            <a:pPr lvl="0" marL="457200" indent="-228600">
              <a:buFont typeface="Calibri"/>
              <a:spcAft>
                <a:spcPts val="1000"/>
              </a:spcAft>
              <a:buSzPct val="100000"/>
              <a:buChar char="•"/>
              <a:lnSpc>
                <a:spcPts val="2200"/>
              </a:lnSpc>
            </a:pPr>
            <a:r>
              <a:rPr sz="2000" b="0">
                <a:solidFill>
                  <a:srgbClr val="333333"/>
                </a:solidFill>
                <a:latin typeface="Calibri"/>
              </a:rPr>
              <a:t>The objective should balance global utility with acceptable performance for less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Emerging Fairness Topics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Regulation and deployment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Privacy, anti-discrimination, consumer protection</a:t>
            </a:r>
          </a:p>
          <a:p>
            <a:pPr lvl="0" marL="457200" indent="-228600">
              <a:buFont typeface="Calibri"/>
              <a:spcAft>
                <a:spcPts val="1000"/>
              </a:spcAft>
              <a:buSzPct val="100000"/>
              <a:buChar char="•"/>
              <a:lnSpc>
                <a:spcPts val="2200"/>
              </a:lnSpc>
            </a:pPr>
            <a:r>
              <a:rPr sz="2000" b="0">
                <a:solidFill>
                  <a:srgbClr val="333333"/>
                </a:solidFill>
                <a:latin typeface="Calibri"/>
              </a:rPr>
              <a:t>Deployment controls rather than assembled after a complaint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Emerging Fairness Topics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Future directions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Bias-aware datasets, causal methods, fairness-aware optimization, explainability</a:t>
            </a:r>
          </a:p>
          <a:p>
            <a:pPr lvl="0" marL="457200" indent="-228600">
              <a:buFont typeface="Calibri"/>
              <a:spcAft>
                <a:spcPts val="1000"/>
              </a:spcAft>
              <a:buSzPct val="100000"/>
              <a:buChar char="•"/>
              <a:lnSpc>
                <a:spcPts val="2200"/>
              </a:lnSpc>
            </a:pPr>
            <a:r>
              <a:rPr sz="2000" b="0">
                <a:solidFill>
                  <a:srgbClr val="333333"/>
                </a:solidFill>
                <a:latin typeface="Calibri"/>
              </a:rPr>
              <a:t>Their value depends on clear problem definitions and real-world validation</a:t>
            </a:r>
          </a:p>
          <a:p>
            <a:pPr lvl="0" marL="457200" indent="-228600">
              <a:buFont typeface="Calibri"/>
              <a:spcAft>
                <a:spcPts val="1000"/>
              </a:spcAft>
              <a:buSzPct val="100000"/>
              <a:buChar char="•"/>
              <a:lnSpc>
                <a:spcPts val="2200"/>
              </a:lnSpc>
            </a:pPr>
            <a:r>
              <a:rPr sz="2000" b="0">
                <a:solidFill>
                  <a:srgbClr val="333333"/>
                </a:solidFill>
                <a:latin typeface="Calibri"/>
              </a:rPr>
              <a:t>Ongoing monitoring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Emerging Fairness Topics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Generative systems expand fairness evaluation to open-ended content and intersectional</a:t>
            </a:r>
          </a:p>
          <a:p>
            <a:pPr lvl="0" marL="457200" indent="-228600">
              <a:buFont typeface="Calibri"/>
              <a:spcAft>
                <a:spcPts val="1000"/>
              </a:spcAft>
              <a:buSzPct val="100000"/>
              <a:buChar char="•"/>
              <a:lnSpc>
                <a:spcPts val="2200"/>
              </a:lnSpc>
            </a:pPr>
            <a:r>
              <a:rPr sz="2000" b="0">
                <a:solidFill>
                  <a:srgbClr val="333333"/>
                </a:solidFill>
                <a:latin typeface="Calibri"/>
              </a:rPr>
              <a:t>Federated systems introduce uneven participation and local performance concerns</a:t>
            </a:r>
          </a:p>
          <a:p>
            <a:pPr lvl="0" marL="457200" indent="-228600">
              <a:buFont typeface="Calibri"/>
              <a:spcAft>
                <a:spcPts val="1000"/>
              </a:spcAft>
              <a:buSzPct val="100000"/>
              <a:buChar char="•"/>
              <a:lnSpc>
                <a:spcPts val="2200"/>
              </a:lnSpc>
            </a:pPr>
            <a:r>
              <a:rPr sz="2000" b="0">
                <a:solidFill>
                  <a:srgbClr val="333333"/>
                </a:solidFill>
                <a:latin typeface="Calibri"/>
              </a:rPr>
              <a:t>Regulation makes documentation, testing, oversight</a:t>
            </a:r>
          </a:p>
          <a:p>
            <a:pPr lvl="0" marL="457200" indent="-228600">
              <a:buFont typeface="Calibri"/>
              <a:spcAft>
                <a:spcPts val="1000"/>
              </a:spcAft>
              <a:buSzPct val="100000"/>
              <a:buChar char="•"/>
              <a:lnSpc>
                <a:spcPts val="2200"/>
              </a:lnSpc>
            </a:pPr>
            <a:r>
              <a:rPr sz="2000" b="0">
                <a:solidFill>
                  <a:srgbClr val="333333"/>
                </a:solidFill>
                <a:latin typeface="Calibri"/>
              </a:rPr>
              <a:t>Across all settings, fairness remains a lifecycle practice rather than a one-time metric</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Emerging Fairness Topics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Emerging challenges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Emerging Fairness Topics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