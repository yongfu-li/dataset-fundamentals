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detection is not merely a technical quality exercise. Disparities can change access to employment, credit, healthcare, liberty, and public services. This clip organizes those consequences into ethical, social, legal, and business dimensions while showing how one high-stakes system can create several forms of harm at once.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distinguish four impact dimensions, trace how biased data can amplify existing inequities, explain why intent is not required for harmful impact, and identify the subgroup evidence and accountability records needed for high-stakes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7.38 illustrates the ethical impact of unequal treatment. Biased credit data may deny loans for demographic reasons rather than genuine creditworthiness, while biased justice data may produce unfair risk assessments. Such errors affect opportunities and liberty, so fairness cannot be treated as optional polish added after average accuracy is maximized.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7.40 shows social amplification. Historical over-policing can generate more recorded incidents in already monitored communities, which then directs still more policing there. Historical hiring patterns can similarly teach a ranking system to favor men. Repeated automated decisions scale and reinforce the pattern, creating a feedback loop that appears data-driven.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7.42 connects unfair outcomes with legal and regulatory exposure. Recruitment and credit systems must comply with anti-discrimination duties, while privacy frameworks require fair and transparent processing of personal data. Organizations need more than a claim of neutral intent; they need documented data provenance, subgroup testing, explanations, and corrective procedures.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7.45 presents the business consequences. Biased systems can generate fines, lawsuits, project cancellations, remediation costs, customer loss, and lasting reputational damage. Fairness investment can therefore reduce risk and protect market legitimacy. Delayed mitigation is often more expensive because deployed decisions and public harms are difficult to reverse.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Recidivism risk assessment provides a bridge across all four dimensions. Unequal error rates can change detention or parole exposure, reproduce historical arrest disparities, raise due-process and discrimination concerns, and weaken institutional legitimacy. Overall accuracy does not settle these issues because false positives and false negatives carry different consequences for different groups.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High-stakes systems require documented subgroup error rates, known limitations, decision owners, appeal mechanisms, and monitoring after deployment. Impact assessments should ask who can be harmed, how severe and reversible the harm is, and whether a less risky alternative exists. These questions connect technical metrics to organizational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Ethical impacts concern justice and individual treatment. Social impacts concern stereotypes, feedback loops, and unequal access. Legal impacts concern rights, discrimination, privacy, and explainability. Business impacts include cost, reputation, and legitimacy. A single disparity can cross all four dimensions, especially in consequential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asks what fairness should mean in measurable terms. It compares procedural and outcome fairness, examines accuracy trade-offs, and introduces equalized odds, calibration, transparency, accountability, and inclusivity.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Impacts of dataset bias</a:t>
            </a:r>
          </a:p>
          <a:p>
            <a:pPr algn="ctr">
              <a:lnSpc>
                <a:spcPts val="2200"/>
              </a:lnSpc>
              <a:spcBef>
                <a:spcPts val="1400"/>
              </a:spcBef>
            </a:pPr>
            <a:r>
              <a:rPr sz="2600" b="0">
                <a:solidFill>
                  <a:srgbClr val="333333"/>
                </a:solidFill>
                <a:latin typeface="Calibri"/>
              </a:rPr>
              <a:t>Bias detection is not merely a technical quality exercise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7.38 — Inequitable Treatment in Credit and Justice Decisions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7.38 — hands-on module</a:t>
            </a:r>
          </a:p>
          <a:p>
            <a:pPr>
              <a:spcAft>
                <a:spcPts val="1000"/>
              </a:spcAft>
              <a:buChar char="•"/>
              <a:lnSpc>
                <a:spcPts val="2200"/>
              </a:lnSpc>
            </a:pPr>
            <a:r>
              <a:rPr sz="2000" b="0">
                <a:solidFill>
                  <a:srgbClr val="333333"/>
                </a:solidFill>
                <a:latin typeface="Calibri"/>
              </a:rPr>
              <a:t>Example 7.38 illustrates the ethical impact of unequal treatment</a:t>
            </a:r>
          </a:p>
          <a:p>
            <a:pPr>
              <a:spcAft>
                <a:spcPts val="1000"/>
              </a:spcAft>
              <a:buChar char="•"/>
              <a:lnSpc>
                <a:spcPts val="2200"/>
              </a:lnSpc>
            </a:pPr>
            <a:r>
              <a:rPr sz="2000" b="0">
                <a:solidFill>
                  <a:srgbClr val="333333"/>
                </a:solidFill>
                <a:latin typeface="Calibri"/>
              </a:rPr>
              <a:t>While biased justice data may produce unfair risk assessments</a:t>
            </a:r>
          </a:p>
          <a:p>
            <a:pPr>
              <a:spcAft>
                <a:spcPts val="1000"/>
              </a:spcAft>
              <a:buChar char="•"/>
              <a:lnSpc>
                <a:spcPts val="2200"/>
              </a:lnSpc>
            </a:pPr>
            <a:r>
              <a:rPr sz="2000" b="0">
                <a:solidFill>
                  <a:srgbClr val="333333"/>
                </a:solidFill>
                <a:latin typeface="Calibri"/>
              </a:rPr>
              <a:t>Such errors affect opportunities and liberty</a:t>
            </a:r>
          </a:p>
          <a:p>
            <a:pPr>
              <a:spcAft>
                <a:spcPts val="1000"/>
              </a:spcAft>
              <a:buChar char="•"/>
              <a:lnSpc>
                <a:spcPts val="2200"/>
              </a:lnSpc>
            </a:pPr>
            <a:r>
              <a:rPr sz="2000" b="0">
                <a:solidFill>
                  <a:srgbClr val="333333"/>
                </a:solidFill>
                <a:latin typeface="Calibri"/>
              </a:rPr>
              <a:t>View files: `modules/chapter7/example38/`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7.38 — enforcing demographic parity on loan approvals and its</a:t>
            </a:r>
          </a:p>
          <a:p>
            <a:pPr>
              <a:lnSpc>
                <a:spcPts val="2200"/>
              </a:lnSpc>
              <a:spcAft>
                <a:spcPts val="400"/>
              </a:spcAft>
            </a:pPr>
            <a:r>
              <a:rPr sz="2000" b="0">
                <a:solidFill>
                  <a:srgbClr val="333333"/>
                </a:solidFill>
                <a:latin typeface="Consolas"/>
              </a:rPr>
              <a:t>accuracy cost."""</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Applicant = tuple[str, float, int]  # (group, score, actually_repays)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approve(data: list[Applicant], thresholds: dict[str, float]) -&gt;</a:t>
            </a:r>
          </a:p>
          <a:p>
            <a:pPr>
              <a:lnSpc>
                <a:spcPts val="2200"/>
              </a:lnSpc>
              <a:spcAft>
                <a:spcPts val="400"/>
              </a:spcAft>
            </a:pPr>
            <a:r>
              <a:rPr sz="2000" b="0">
                <a:solidFill>
                  <a:srgbClr val="333333"/>
                </a:solidFill>
                <a:latin typeface="Consolas"/>
              </a:rPr>
              <a:t>tuple[float, dict[str, float], float]:</a:t>
            </a:r>
          </a:p>
          <a:p>
            <a:pPr>
              <a:lnSpc>
                <a:spcPts val="2200"/>
              </a:lnSpc>
              <a:spcAft>
                <a:spcPts val="400"/>
              </a:spcAft>
            </a:pPr>
            <a:r>
              <a:rPr sz="2000" b="0">
                <a:solidFill>
                  <a:srgbClr val="333333"/>
                </a:solidFill>
                <a:latin typeface="Consolas"/>
              </a:rPr>
              <a:t>    """Return (accuracy, approval rate per group, default rate among</a:t>
            </a:r>
          </a:p>
          <a:p>
            <a:pPr>
              <a:lnSpc>
                <a:spcPts val="2200"/>
              </a:lnSpc>
              <a:spcAft>
                <a:spcPts val="400"/>
              </a:spcAft>
            </a:pPr>
            <a:r>
              <a:rPr sz="2000" b="0">
                <a:solidFill>
                  <a:srgbClr val="333333"/>
                </a:solidFill>
                <a:latin typeface="Consolas"/>
              </a:rPr>
              <a:t>approved)."""</a:t>
            </a:r>
          </a:p>
          <a:p>
            <a:pPr>
              <a:lnSpc>
                <a:spcPts val="2200"/>
              </a:lnSpc>
              <a:spcAft>
                <a:spcPts val="400"/>
              </a:spcAft>
            </a:pPr>
            <a:r>
              <a:rPr sz="2000" b="0">
                <a:solidFill>
                  <a:srgbClr val="333333"/>
                </a:solidFill>
                <a:latin typeface="Consolas"/>
              </a:rPr>
              <a:t>    correct = 0</a:t>
            </a:r>
          </a:p>
          <a:p>
            <a:pPr>
              <a:lnSpc>
                <a:spcPts val="2200"/>
              </a:lnSpc>
              <a:spcAft>
                <a:spcPts val="400"/>
              </a:spcAft>
            </a:pPr>
            <a:r>
              <a:rPr sz="2000" b="0">
                <a:solidFill>
                  <a:srgbClr val="333333"/>
                </a:solidFill>
                <a:latin typeface="Consolas"/>
              </a:rPr>
              <a:t>    approved: dict[str, int] = {"A": 0, "B": 0}</a:t>
            </a:r>
          </a:p>
          <a:p>
            <a:pPr>
              <a:lnSpc>
                <a:spcPts val="2200"/>
              </a:lnSpc>
              <a:spcAft>
                <a:spcPts val="400"/>
              </a:spcAft>
            </a:pPr>
            <a:r>
              <a:rPr sz="2000" b="0">
                <a:solidFill>
                  <a:srgbClr val="333333"/>
                </a:solidFill>
                <a:latin typeface="Consolas"/>
              </a:rPr>
              <a:t>    counts: dict[str, int] = {"A": 0, "B": 0}</a:t>
            </a:r>
          </a:p>
          <a:p>
            <a:pPr>
              <a:lnSpc>
                <a:spcPts val="2200"/>
              </a:lnSpc>
              <a:spcAft>
                <a:spcPts val="400"/>
              </a:spcAft>
            </a:pPr>
            <a:r>
              <a:rPr sz="2000" b="0">
                <a:solidFill>
                  <a:srgbClr val="333333"/>
                </a:solidFill>
                <a:latin typeface="Consolas"/>
              </a:rPr>
              <a:t>    approved_total = 0</a:t>
            </a:r>
          </a:p>
          <a:p>
            <a:pPr>
              <a:lnSpc>
                <a:spcPts val="2200"/>
              </a:lnSpc>
              <a:spcAft>
                <a:spcPts val="400"/>
              </a:spcAft>
            </a:pPr>
            <a:r>
              <a:rPr sz="2000" b="0">
                <a:solidFill>
                  <a:srgbClr val="333333"/>
                </a:solidFill>
                <a:latin typeface="Consolas"/>
              </a:rPr>
              <a:t>    approved_defaults = 0</a:t>
            </a:r>
          </a:p>
          <a:p>
            <a:pPr>
              <a:lnSpc>
                <a:spcPts val="2200"/>
              </a:lnSpc>
              <a:spcAft>
                <a:spcPts val="400"/>
              </a:spcAft>
            </a:pPr>
            <a:r>
              <a:rPr sz="2000" b="0">
                <a:solidFill>
                  <a:srgbClr val="333333"/>
                </a:solidFill>
                <a:latin typeface="Consolas"/>
              </a:rPr>
              <a:t>    for group, score, repays in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7.40 — Amplification of Policing and Hiring Disparities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7.40 — hands-on module</a:t>
            </a:r>
          </a:p>
          <a:p>
            <a:pPr>
              <a:spcAft>
                <a:spcPts val="1000"/>
              </a:spcAft>
              <a:buChar char="•"/>
              <a:lnSpc>
                <a:spcPts val="2200"/>
              </a:lnSpc>
            </a:pPr>
            <a:r>
              <a:rPr sz="2000" b="0">
                <a:solidFill>
                  <a:srgbClr val="333333"/>
                </a:solidFill>
                <a:latin typeface="Calibri"/>
              </a:rPr>
              <a:t>Example 7.40 shows social amplification</a:t>
            </a:r>
          </a:p>
          <a:p>
            <a:pPr>
              <a:spcAft>
                <a:spcPts val="1000"/>
              </a:spcAft>
              <a:buChar char="•"/>
              <a:lnSpc>
                <a:spcPts val="2200"/>
              </a:lnSpc>
            </a:pPr>
            <a:r>
              <a:rPr sz="2000" b="0">
                <a:solidFill>
                  <a:srgbClr val="333333"/>
                </a:solidFill>
                <a:latin typeface="Calibri"/>
              </a:rPr>
              <a:t>Which then directs still more policing there</a:t>
            </a:r>
          </a:p>
          <a:p>
            <a:pPr>
              <a:spcAft>
                <a:spcPts val="1000"/>
              </a:spcAft>
              <a:buChar char="•"/>
              <a:lnSpc>
                <a:spcPts val="2200"/>
              </a:lnSpc>
            </a:pPr>
            <a:r>
              <a:rPr sz="2000" b="0">
                <a:solidFill>
                  <a:srgbClr val="333333"/>
                </a:solidFill>
                <a:latin typeface="Calibri"/>
              </a:rPr>
              <a:t>Historical hiring patterns can similarly teach a ranking system to favor men</a:t>
            </a:r>
          </a:p>
          <a:p>
            <a:pPr>
              <a:spcAft>
                <a:spcPts val="1000"/>
              </a:spcAft>
              <a:buChar char="•"/>
              <a:lnSpc>
                <a:spcPts val="2200"/>
              </a:lnSpc>
            </a:pPr>
            <a:r>
              <a:rPr sz="2000" b="0">
                <a:solidFill>
                  <a:srgbClr val="333333"/>
                </a:solidFill>
                <a:latin typeface="Calibri"/>
              </a:rPr>
              <a:t>Repeated automated decisions scale and reinforce the pattern</a:t>
            </a:r>
          </a:p>
          <a:p>
            <a:pPr>
              <a:spcAft>
                <a:spcPts val="1000"/>
              </a:spcAft>
              <a:buChar char="•"/>
              <a:lnSpc>
                <a:spcPts val="2200"/>
              </a:lnSpc>
            </a:pPr>
            <a:r>
              <a:rPr sz="2000" b="0">
                <a:solidFill>
                  <a:srgbClr val="333333"/>
                </a:solidFill>
                <a:latin typeface="Calibri"/>
              </a:rPr>
              <a:t>View files: `modules/chapter7/example40/`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7.42 — Compliance Exposure Under GDPR and CCPA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7.42 — hands-on module</a:t>
            </a:r>
          </a:p>
          <a:p>
            <a:pPr>
              <a:spcAft>
                <a:spcPts val="1000"/>
              </a:spcAft>
              <a:buChar char="•"/>
              <a:lnSpc>
                <a:spcPts val="2200"/>
              </a:lnSpc>
            </a:pPr>
            <a:r>
              <a:rPr sz="2000" b="0">
                <a:solidFill>
                  <a:srgbClr val="333333"/>
                </a:solidFill>
                <a:latin typeface="Calibri"/>
              </a:rPr>
              <a:t>Example 7.42 connects unfair outcomes with legal and regulatory exposure</a:t>
            </a:r>
          </a:p>
          <a:p>
            <a:pPr>
              <a:spcAft>
                <a:spcPts val="1000"/>
              </a:spcAft>
              <a:buChar char="•"/>
              <a:lnSpc>
                <a:spcPts val="2200"/>
              </a:lnSpc>
            </a:pPr>
            <a:r>
              <a:rPr sz="2000" b="0">
                <a:solidFill>
                  <a:srgbClr val="333333"/>
                </a:solidFill>
                <a:latin typeface="Calibri"/>
              </a:rPr>
              <a:t>Recruitment and credit systems must comply with anti-discrimination duties</a:t>
            </a:r>
          </a:p>
          <a:p>
            <a:pPr>
              <a:spcAft>
                <a:spcPts val="1000"/>
              </a:spcAft>
              <a:buChar char="•"/>
              <a:lnSpc>
                <a:spcPts val="2200"/>
              </a:lnSpc>
            </a:pPr>
            <a:r>
              <a:rPr sz="2000" b="0">
                <a:solidFill>
                  <a:srgbClr val="333333"/>
                </a:solidFill>
                <a:latin typeface="Calibri"/>
              </a:rPr>
              <a:t>Organizations need more than a claim of neutral intent</a:t>
            </a:r>
          </a:p>
          <a:p>
            <a:pPr>
              <a:spcAft>
                <a:spcPts val="1000"/>
              </a:spcAft>
              <a:buChar char="•"/>
              <a:lnSpc>
                <a:spcPts val="2200"/>
              </a:lnSpc>
            </a:pPr>
            <a:r>
              <a:rPr sz="2000" b="0">
                <a:solidFill>
                  <a:srgbClr val="333333"/>
                </a:solidFill>
                <a:latin typeface="Calibri"/>
              </a:rPr>
              <a:t>View files: `modules/chapter7/example42/`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7.45 — Financial Penalties from Biased Hiring and Credit Syst…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7.45 — hands-on module</a:t>
            </a:r>
          </a:p>
          <a:p>
            <a:pPr>
              <a:spcAft>
                <a:spcPts val="1000"/>
              </a:spcAft>
              <a:buChar char="•"/>
              <a:lnSpc>
                <a:spcPts val="2200"/>
              </a:lnSpc>
            </a:pPr>
            <a:r>
              <a:rPr sz="2000" b="0">
                <a:solidFill>
                  <a:srgbClr val="333333"/>
                </a:solidFill>
                <a:latin typeface="Calibri"/>
              </a:rPr>
              <a:t>Example 7.45 presents the business consequences</a:t>
            </a:r>
          </a:p>
          <a:p>
            <a:pPr>
              <a:spcAft>
                <a:spcPts val="1000"/>
              </a:spcAft>
              <a:buChar char="•"/>
              <a:lnSpc>
                <a:spcPts val="2200"/>
              </a:lnSpc>
            </a:pPr>
            <a:r>
              <a:rPr sz="2000" b="0">
                <a:solidFill>
                  <a:srgbClr val="333333"/>
                </a:solidFill>
                <a:latin typeface="Calibri"/>
              </a:rPr>
              <a:t>Lasting reputational damage</a:t>
            </a:r>
          </a:p>
          <a:p>
            <a:pPr>
              <a:spcAft>
                <a:spcPts val="1000"/>
              </a:spcAft>
              <a:buChar char="•"/>
              <a:lnSpc>
                <a:spcPts val="2200"/>
              </a:lnSpc>
            </a:pPr>
            <a:r>
              <a:rPr sz="2000" b="0">
                <a:solidFill>
                  <a:srgbClr val="333333"/>
                </a:solidFill>
                <a:latin typeface="Calibri"/>
              </a:rPr>
              <a:t>Fairness investment can therefore reduce risk and protect market legitimacy</a:t>
            </a:r>
          </a:p>
          <a:p>
            <a:pPr>
              <a:spcAft>
                <a:spcPts val="1000"/>
              </a:spcAft>
              <a:buChar char="•"/>
              <a:lnSpc>
                <a:spcPts val="2200"/>
              </a:lnSpc>
            </a:pPr>
            <a:r>
              <a:rPr sz="2000" b="0">
                <a:solidFill>
                  <a:srgbClr val="333333"/>
                </a:solidFill>
                <a:latin typeface="Calibri"/>
              </a:rPr>
              <a:t>Delayed mitigation is often more expensive because deployed decisions and public harms are</a:t>
            </a:r>
          </a:p>
          <a:p>
            <a:pPr>
              <a:spcAft>
                <a:spcPts val="1000"/>
              </a:spcAft>
              <a:buChar char="•"/>
              <a:lnSpc>
                <a:spcPts val="2200"/>
              </a:lnSpc>
            </a:pPr>
            <a:r>
              <a:rPr sz="2000" b="0">
                <a:solidFill>
                  <a:srgbClr val="333333"/>
                </a:solidFill>
                <a:latin typeface="Calibri"/>
              </a:rPr>
              <a:t>View files: `modules/chapter7/example45/`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COMPAS bridge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Recidivism risk assessment provides a bridge across all four dimensions</a:t>
            </a:r>
          </a:p>
          <a:p>
            <a:pPr>
              <a:spcAft>
                <a:spcPts val="1000"/>
              </a:spcAft>
              <a:buChar char="•"/>
              <a:lnSpc>
                <a:spcPts val="2200"/>
              </a:lnSpc>
            </a:pPr>
            <a:r>
              <a:rPr sz="2000" b="0">
                <a:solidFill>
                  <a:srgbClr val="333333"/>
                </a:solidFill>
                <a:latin typeface="Calibri"/>
              </a:rPr>
              <a:t>Weaken institutional legitimacy</a:t>
            </a:r>
          </a:p>
          <a:p>
            <a:pPr>
              <a:spcAft>
                <a:spcPts val="1000"/>
              </a:spcAft>
              <a:buChar char="•"/>
              <a:lnSpc>
                <a:spcPts val="2200"/>
              </a:lnSpc>
            </a:pPr>
            <a:r>
              <a:rPr sz="2000" b="0">
                <a:solidFill>
                  <a:srgbClr val="333333"/>
                </a:solidFill>
                <a:latin typeface="Calibri"/>
              </a:rPr>
              <a:t>Overall accuracy does not settle these issues because false positives and false negatives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impact to accountability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Monitoring after deployment</a:t>
            </a:r>
          </a:p>
          <a:p>
            <a:pPr>
              <a:spcAft>
                <a:spcPts val="1000"/>
              </a:spcAft>
              <a:buChar char="•"/>
              <a:lnSpc>
                <a:spcPts val="2200"/>
              </a:lnSpc>
            </a:pPr>
            <a:r>
              <a:rPr sz="2000" b="0">
                <a:solidFill>
                  <a:srgbClr val="333333"/>
                </a:solidFill>
                <a:latin typeface="Calibri"/>
              </a:rPr>
              <a:t>Impact assessments should ask who can be harmed, how severe and reversible the harm is</a:t>
            </a:r>
          </a:p>
          <a:p>
            <a:pPr>
              <a:spcAft>
                <a:spcPts val="1000"/>
              </a:spcAft>
              <a:buChar char="•"/>
              <a:lnSpc>
                <a:spcPts val="2200"/>
              </a:lnSpc>
            </a:pPr>
            <a:r>
              <a:rPr sz="2000" b="0">
                <a:solidFill>
                  <a:srgbClr val="333333"/>
                </a:solidFill>
                <a:latin typeface="Calibri"/>
              </a:rPr>
              <a:t>These questions connect technical metrics to organizational responsibility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Ethical impacts concern justice and individual treatment</a:t>
            </a:r>
          </a:p>
          <a:p>
            <a:pPr>
              <a:spcAft>
                <a:spcPts val="1000"/>
              </a:spcAft>
              <a:buChar char="•"/>
              <a:lnSpc>
                <a:spcPts val="2200"/>
              </a:lnSpc>
            </a:pPr>
            <a:r>
              <a:rPr sz="2000" b="0">
                <a:solidFill>
                  <a:srgbClr val="333333"/>
                </a:solidFill>
                <a:latin typeface="Calibri"/>
              </a:rPr>
              <a:t>Social impacts concern stereotypes, feedback loops, and unequal access</a:t>
            </a:r>
          </a:p>
          <a:p>
            <a:pPr>
              <a:spcAft>
                <a:spcPts val="1000"/>
              </a:spcAft>
              <a:buChar char="•"/>
              <a:lnSpc>
                <a:spcPts val="2200"/>
              </a:lnSpc>
            </a:pPr>
            <a:r>
              <a:rPr sz="2000" b="0">
                <a:solidFill>
                  <a:srgbClr val="333333"/>
                </a:solidFill>
                <a:latin typeface="Calibri"/>
              </a:rPr>
              <a:t>Legal impacts concern rights, discrimination, privacy, and explainability</a:t>
            </a:r>
          </a:p>
          <a:p>
            <a:pPr>
              <a:spcAft>
                <a:spcPts val="1000"/>
              </a:spcAft>
              <a:buChar char="•"/>
              <a:lnSpc>
                <a:spcPts val="2200"/>
              </a:lnSpc>
            </a:pPr>
            <a:r>
              <a:rPr sz="2000" b="0">
                <a:solidFill>
                  <a:srgbClr val="333333"/>
                </a:solidFill>
                <a:latin typeface="Calibri"/>
              </a:rPr>
              <a:t>Business impacts include cost, reputation, and legitimacy</a:t>
            </a:r>
          </a:p>
          <a:p>
            <a:pPr>
              <a:spcAft>
                <a:spcPts val="1000"/>
              </a:spcAft>
              <a:buChar char="•"/>
              <a:lnSpc>
                <a:spcPts val="2200"/>
              </a:lnSpc>
            </a:pPr>
            <a:r>
              <a:rPr sz="2000" b="0">
                <a:solidFill>
                  <a:srgbClr val="333333"/>
                </a:solidFill>
                <a:latin typeface="Calibri"/>
              </a:rPr>
              <a:t>A single disparity can cross all four dimensions, especially in consequential decisions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asks what fairness should mean in measurable terms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Impacts Of Dataset Bias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