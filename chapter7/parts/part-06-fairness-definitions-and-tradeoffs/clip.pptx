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is not one universal statistic. Different definitions protect different values and can recommend different interventions. A responsible system states which harms matter, which groups are compared, and why a selected criterion fits the decision context rather than presenting fairness as a single score.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distinguish procedural from outcome fairness, explain why accuracy and fairness can conflict, compare equalized odds with calibration, and connect metric choices to transparency, accountability, and inclusivity.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7.47 illustrates procedural fairness. Every candidate should be evaluated with consistent, relevant criteria, and the process should be understandable and non-discriminatory. Procedural fairness concerns how a decision is made, including data use, rules, explanations, and opportunities to challenge an error, even before group outcome rates are compared.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7.48 illustrates outcome fairness. A predictive policing system should not disproportionately target minority communities or produce unequal consequences without justification. Outcome fairness compares results across groups, but equal rates alone do not guarantee a sound process. Procedural and outcome evidence should therefore be examined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accuracy-maximizing threshold may distribute false positives and false negatives unevenly. Adding a fairness constraint or changing thresholds can reduce that disparity while lowering aggregate accuracy. This is not evidence that fairness is a defect. It reveals that optimization has multiple objectives and that error costs, rights, and social consequences must be stated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7.50 shows a loan system adjusted toward equal approval rates across racial groups. The adjustment may reduce default-prediction accuracy, exposing a trade-off between demographic parity and predictive precision. Learners can inspect the runnable example 38 module for this chapter to compare candidate thresholds and see how fairness and utility change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Equalized odds seeks comparable false-positive and true-positive rates across groups, thereby balancing error behavior conditional on the actual outcome. It is especially relevant when both kinds of error carry serious consequences. Achieving it may require group-aware constraints or post-processing, and it can conflict with calibration when underlying outcome rates differ.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asks whether a predicted probability has the same empirical meaning across groups. If a system assigns a seventy-percent probability, roughly seventy percent of comparable cases should experience the event in each group. Calibration supports interpretable risk scores, but it does not by itself guarantee equal selection rates or equal error rates.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explains the data, criteria, limitations, and trade-offs. Accountability assigns responsibility for audits, complaints, and correction. Inclusivity brings affected groups into design and evaluation, particularly groups that have been underrepresented. These principles prevent metric selection from becoming a purely technical exercise detached from lived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Procedural fairness evaluates the decision process, while outcome fairness evaluates results. Aggregate accuracy can conflict with group fairness because errors and opportunities are distributed, not abstract. Equalized odds compares error rates, calibration compares probability meaning, and no criterion should be selected without transparent, accountable, and inclusive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turns fairness definitions into interventions. It separates changes to data, training, and outputs and explains reweighting, feature treatment, fairness constraints, adversarial debiasing, equalized-odds post-processing, and calibration.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Fairness definitions and trade-offs</a:t>
            </a:r>
          </a:p>
          <a:p>
            <a:pPr algn="ctr">
              <a:lnSpc>
                <a:spcPts val="2200"/>
              </a:lnSpc>
              <a:spcBef>
                <a:spcPts val="1400"/>
              </a:spcBef>
            </a:pPr>
            <a:r>
              <a:rPr sz="2600" b="0">
                <a:solidFill>
                  <a:srgbClr val="333333"/>
                </a:solidFill>
                <a:latin typeface="Calibri"/>
              </a:rPr>
              <a:t>Fairness is not one universal statistic</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Connect metric choices to transparency, accountability, and inclusivity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7.47 — Consistent Criteria in Hiring Decisions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7.47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7.47 illustrates procedural fairness</a:t>
            </a:r>
          </a:p>
          <a:p>
            <a:pPr lvl="0" marL="457200" indent="-228600">
              <a:buFont typeface="Calibri"/>
              <a:spcAft>
                <a:spcPts val="1000"/>
              </a:spcAft>
              <a:buSzPct val="100000"/>
              <a:buChar char="•"/>
              <a:lnSpc>
                <a:spcPts val="2200"/>
              </a:lnSpc>
            </a:pPr>
            <a:r>
              <a:rPr sz="2000" b="0">
                <a:solidFill>
                  <a:srgbClr val="333333"/>
                </a:solidFill>
                <a:latin typeface="Calibri"/>
              </a:rPr>
              <a:t>Every candidate should be evaluated with consistent, relevant criteria</a:t>
            </a:r>
          </a:p>
          <a:p>
            <a:pPr lvl="0" marL="457200" indent="-228600">
              <a:buFont typeface="Calibri"/>
              <a:spcAft>
                <a:spcPts val="1000"/>
              </a:spcAft>
              <a:buSzPct val="100000"/>
              <a:buChar char="•"/>
              <a:lnSpc>
                <a:spcPts val="2200"/>
              </a:lnSpc>
            </a:pPr>
            <a:r>
              <a:rPr sz="2000" b="0">
                <a:solidFill>
                  <a:srgbClr val="333333"/>
                </a:solidFill>
                <a:latin typeface="Calibri"/>
              </a:rPr>
              <a:t>Opportunities to challenge an error, even before group outcome rates are compared</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`modules/chapter7/example47/`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7.48 — Outcome Fairness in Predictive Policing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7.48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7.48 illustrates outcome fairness</a:t>
            </a:r>
          </a:p>
          <a:p>
            <a:pPr lvl="0" marL="457200" indent="-228600">
              <a:buFont typeface="Calibri"/>
              <a:spcAft>
                <a:spcPts val="1000"/>
              </a:spcAft>
              <a:buSzPct val="100000"/>
              <a:buChar char="•"/>
              <a:lnSpc>
                <a:spcPts val="2200"/>
              </a:lnSpc>
            </a:pPr>
            <a:r>
              <a:rPr sz="2000" b="0">
                <a:solidFill>
                  <a:srgbClr val="333333"/>
                </a:solidFill>
                <a:latin typeface="Calibri"/>
              </a:rPr>
              <a:t>A predictive policing system should not disproportionately target minority communities or</a:t>
            </a:r>
          </a:p>
          <a:p>
            <a:pPr lvl="0" marL="457200" indent="-228600">
              <a:buFont typeface="Calibri"/>
              <a:spcAft>
                <a:spcPts val="1000"/>
              </a:spcAft>
              <a:buSzPct val="100000"/>
              <a:buChar char="•"/>
              <a:lnSpc>
                <a:spcPts val="2200"/>
              </a:lnSpc>
            </a:pPr>
            <a:r>
              <a:rPr sz="2000" b="0">
                <a:solidFill>
                  <a:srgbClr val="333333"/>
                </a:solidFill>
                <a:latin typeface="Calibri"/>
              </a:rPr>
              <a:t>Outcome fairness compares results across groups</a:t>
            </a:r>
          </a:p>
          <a:p>
            <a:pPr lvl="0" marL="457200" indent="-228600">
              <a:buFont typeface="Calibri"/>
              <a:spcAft>
                <a:spcPts val="1000"/>
              </a:spcAft>
              <a:buSzPct val="100000"/>
              <a:buChar char="•"/>
              <a:lnSpc>
                <a:spcPts val="2200"/>
              </a:lnSpc>
            </a:pPr>
            <a:r>
              <a:rPr sz="2000" b="0">
                <a:solidFill>
                  <a:srgbClr val="333333"/>
                </a:solidFill>
                <a:latin typeface="Calibri"/>
              </a:rPr>
              <a:t>Procedural and outcome evidence should therefore be examined together</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`modules/chapter7/example48/`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Accuracy and fairness trade-offs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 accuracy-maximizing threshold may distribute false positives and false negatives</a:t>
            </a:r>
          </a:p>
          <a:p>
            <a:pPr lvl="0" marL="457200" indent="-228600">
              <a:buFont typeface="Calibri"/>
              <a:spcAft>
                <a:spcPts val="1000"/>
              </a:spcAft>
              <a:buSzPct val="100000"/>
              <a:buChar char="•"/>
              <a:lnSpc>
                <a:spcPts val="2200"/>
              </a:lnSpc>
            </a:pPr>
            <a:r>
              <a:rPr sz="2000" b="0">
                <a:solidFill>
                  <a:srgbClr val="333333"/>
                </a:solidFill>
                <a:latin typeface="Calibri"/>
              </a:rPr>
              <a:t>Adding a fairness constraint or changing thresholds can reduce that disparity while</a:t>
            </a:r>
          </a:p>
          <a:p>
            <a:pPr lvl="0" marL="457200" indent="-228600">
              <a:buFont typeface="Calibri"/>
              <a:spcAft>
                <a:spcPts val="1000"/>
              </a:spcAft>
              <a:buSzPct val="100000"/>
              <a:buChar char="•"/>
              <a:lnSpc>
                <a:spcPts val="2200"/>
              </a:lnSpc>
            </a:pPr>
            <a:r>
              <a:rPr sz="2000" b="0">
                <a:solidFill>
                  <a:srgbClr val="333333"/>
                </a:solidFill>
                <a:latin typeface="Calibri"/>
              </a:rPr>
              <a:t>This is not evidence that fairness is a defect</a:t>
            </a:r>
          </a:p>
          <a:p>
            <a:pPr lvl="0" marL="457200" indent="-228600">
              <a:buFont typeface="Calibri"/>
              <a:spcAft>
                <a:spcPts val="1000"/>
              </a:spcAft>
              <a:buSzPct val="100000"/>
              <a:buChar char="•"/>
              <a:lnSpc>
                <a:spcPts val="2200"/>
              </a:lnSpc>
            </a:pPr>
            <a:r>
              <a:rPr sz="2000" b="0">
                <a:solidFill>
                  <a:srgbClr val="333333"/>
                </a:solidFill>
                <a:latin typeface="Calibri"/>
              </a:rPr>
              <a:t>It reveals that optimization has multiple objectives and that error costs, rights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7.50 — Demographic Parity Reducing Loan Default Prediction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7.50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7.50 shows a loan system adjusted toward equal approval rates across racial groups</a:t>
            </a:r>
          </a:p>
          <a:p>
            <a:pPr lvl="0" marL="457200" indent="-228600">
              <a:buFont typeface="Calibri"/>
              <a:spcAft>
                <a:spcPts val="1000"/>
              </a:spcAft>
              <a:buSzPct val="100000"/>
              <a:buChar char="•"/>
              <a:lnSpc>
                <a:spcPts val="2200"/>
              </a:lnSpc>
            </a:pPr>
            <a:r>
              <a:rPr sz="2000" b="0">
                <a:solidFill>
                  <a:srgbClr val="333333"/>
                </a:solidFill>
                <a:latin typeface="Calibri"/>
              </a:rPr>
              <a:t>The adjustment may reduce default-prediction accuracy</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`modules/chapter7/example50/`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Equalized odds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Equalized odds seeks comparable false-positive and true-positive rates across groups</a:t>
            </a:r>
          </a:p>
          <a:p>
            <a:pPr lvl="0" marL="457200" indent="-228600">
              <a:buFont typeface="Calibri"/>
              <a:spcAft>
                <a:spcPts val="1000"/>
              </a:spcAft>
              <a:buSzPct val="100000"/>
              <a:buChar char="•"/>
              <a:lnSpc>
                <a:spcPts val="2200"/>
              </a:lnSpc>
            </a:pPr>
            <a:r>
              <a:rPr sz="2000" b="0">
                <a:solidFill>
                  <a:srgbClr val="333333"/>
                </a:solidFill>
                <a:latin typeface="Calibri"/>
              </a:rPr>
              <a:t>It is especially relevant when both kinds of error carry serious consequences</a:t>
            </a:r>
          </a:p>
          <a:p>
            <a:pPr lvl="0" marL="457200" indent="-228600">
              <a:buFont typeface="Calibri"/>
              <a:spcAft>
                <a:spcPts val="1000"/>
              </a:spcAft>
              <a:buSzPct val="100000"/>
              <a:buChar char="•"/>
              <a:lnSpc>
                <a:spcPts val="2200"/>
              </a:lnSpc>
            </a:pPr>
            <a:r>
              <a:rPr sz="2000" b="0">
                <a:solidFill>
                  <a:srgbClr val="333333"/>
                </a:solidFill>
                <a:latin typeface="Calibri"/>
              </a:rPr>
              <a:t>Achieving it may require group-aware constraints or post-processing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Calibration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Calibration asks whether a predicted probability has the same empirical meaning across</a:t>
            </a:r>
          </a:p>
          <a:p>
            <a:pPr lvl="0" marL="457200" indent="-228600">
              <a:buFont typeface="Calibri"/>
              <a:spcAft>
                <a:spcPts val="1000"/>
              </a:spcAft>
              <a:buSzPct val="100000"/>
              <a:buChar char="•"/>
              <a:lnSpc>
                <a:spcPts val="2200"/>
              </a:lnSpc>
            </a:pPr>
            <a:r>
              <a:rPr sz="2000" b="0">
                <a:solidFill>
                  <a:srgbClr val="333333"/>
                </a:solidFill>
                <a:latin typeface="Calibri"/>
              </a:rPr>
              <a:t>If a system assigns a seventy-percent probability</a:t>
            </a:r>
          </a:p>
          <a:p>
            <a:pPr lvl="0" marL="457200" indent="-228600">
              <a:buFont typeface="Calibri"/>
              <a:spcAft>
                <a:spcPts val="1000"/>
              </a:spcAft>
              <a:buSzPct val="100000"/>
              <a:buChar char="•"/>
              <a:lnSpc>
                <a:spcPts val="2200"/>
              </a:lnSpc>
            </a:pPr>
            <a:r>
              <a:rPr sz="2000" b="0">
                <a:solidFill>
                  <a:srgbClr val="333333"/>
                </a:solidFill>
                <a:latin typeface="Calibri"/>
              </a:rPr>
              <a:t>Calibration supports interpretable risk scores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principles around metrics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Transparency explains the data, criteria, limitations, and trade-offs</a:t>
            </a:r>
          </a:p>
          <a:p>
            <a:pPr lvl="0" marL="457200" indent="-228600">
              <a:buFont typeface="Calibri"/>
              <a:spcAft>
                <a:spcPts val="1000"/>
              </a:spcAft>
              <a:buSzPct val="100000"/>
              <a:buChar char="•"/>
              <a:lnSpc>
                <a:spcPts val="2200"/>
              </a:lnSpc>
            </a:pPr>
            <a:r>
              <a:rPr sz="2000" b="0">
                <a:solidFill>
                  <a:srgbClr val="333333"/>
                </a:solidFill>
                <a:latin typeface="Calibri"/>
              </a:rPr>
              <a:t>Accountability assigns responsibility for audits, complaints, and correction</a:t>
            </a:r>
          </a:p>
          <a:p>
            <a:pPr lvl="0" marL="457200" indent="-228600">
              <a:buFont typeface="Calibri"/>
              <a:spcAft>
                <a:spcPts val="1000"/>
              </a:spcAft>
              <a:buSzPct val="100000"/>
              <a:buChar char="•"/>
              <a:lnSpc>
                <a:spcPts val="2200"/>
              </a:lnSpc>
            </a:pPr>
            <a:r>
              <a:rPr sz="2000" b="0">
                <a:solidFill>
                  <a:srgbClr val="333333"/>
                </a:solidFill>
                <a:latin typeface="Calibri"/>
              </a:rPr>
              <a:t>Inclusivity brings affected groups into design and evaluation</a:t>
            </a:r>
          </a:p>
          <a:p>
            <a:pPr lvl="0" marL="457200" indent="-228600">
              <a:buFont typeface="Calibri"/>
              <a:spcAft>
                <a:spcPts val="1000"/>
              </a:spcAft>
              <a:buSzPct val="100000"/>
              <a:buChar char="•"/>
              <a:lnSpc>
                <a:spcPts val="2200"/>
              </a:lnSpc>
            </a:pPr>
            <a:r>
              <a:rPr sz="2000" b="0">
                <a:solidFill>
                  <a:srgbClr val="333333"/>
                </a:solidFill>
                <a:latin typeface="Calibri"/>
              </a:rPr>
              <a:t>These principles prevent metric selection from becoming a purely technical exercise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Procedural fairness evaluates the decision process</a:t>
            </a:r>
          </a:p>
          <a:p>
            <a:pPr lvl="0" marL="457200" indent="-228600">
              <a:buFont typeface="Calibri"/>
              <a:spcAft>
                <a:spcPts val="1000"/>
              </a:spcAft>
              <a:buSzPct val="100000"/>
              <a:buChar char="•"/>
              <a:lnSpc>
                <a:spcPts val="2200"/>
              </a:lnSpc>
            </a:pPr>
            <a:r>
              <a:rPr sz="2000" b="0">
                <a:solidFill>
                  <a:srgbClr val="333333"/>
                </a:solidFill>
                <a:latin typeface="Calibri"/>
              </a:rPr>
              <a:t>Not abstract</a:t>
            </a:r>
          </a:p>
          <a:p>
            <a:pPr lvl="0" marL="457200" indent="-228600">
              <a:buFont typeface="Calibri"/>
              <a:spcAft>
                <a:spcPts val="1000"/>
              </a:spcAft>
              <a:buSzPct val="100000"/>
              <a:buChar char="•"/>
              <a:lnSpc>
                <a:spcPts val="2200"/>
              </a:lnSpc>
            </a:pPr>
            <a:r>
              <a:rPr sz="2000" b="0">
                <a:solidFill>
                  <a:srgbClr val="333333"/>
                </a:solidFill>
                <a:latin typeface="Calibri"/>
              </a:rPr>
              <a:t>Equalized odds compares error rates, calibration compares probability meaning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clip turns fairness definitions into interventions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Definitions And Tradeoffs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