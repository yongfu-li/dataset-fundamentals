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 disparity and a fairness objective are defined, intervention can occur before training, during learning, or after a model produces outputs. These stages correspond to pre-processing, in-processing, and post-processing. The best choice depends on the diagnosed bias, access to the model, governance constraints, and the harms the intervention is intended to reduce.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classify mitigation methods by pipeline stage, explain reweighting and feature treatment, describe fairness-constrained learning and adversarial debiasing, compare equalized-odds post-processing with calibration, and select an intervention using evidence rather than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Reweighting changes how strongly training instances influence learning. Underrepresented groups can receive greater weight so that the majority group does not dominate the objective. This approach preserves records while changing their contribution, but extreme weights can increase variance and cannot repair labels or measurements that are fundamentally invalid.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Sensitive or strongly biased features may be removed, transformed, or replaced with less harmful representations. Simple removal is not a guarantee of fairness because names, neighborhoods, schools, and other variables can act as proxies. Feature treatment should be followed by proxy analysis and subgroup evaluation, while sensitive attributes may still be retained securely for auditing.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Fairness-constrained learning modifies the training objective by adding a constraint or penalty for disparities such as unequal selection or error rates. The model then optimizes predictive performance and the selected fairness criterion together. This makes the trade-off explicit, but the result depends heavily on the criterion, tolerance, group definitions, and quality of outcome labels.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Adversarial debiasing trains a predictor alongside an adversary that tries to infer a sensitive attribute from the predictor's representation or output. The predictor is penalized when the adversary succeeds, encouraging less sensitive information to remain. The method can reduce proxy leakage, but it adds training complexity and still requires downstream fairness testing.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Equalized-odds post-processing adjusts decisions or thresholds from an already trained model so that error rates become more comparable across groups. It is useful when retraining is impossible, but group-specific adjustments require careful legal, ethical, and operational review. They can also change accuracy and may become unstable when group samples are small.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adjusts predicted probabilities so that a score has a consistent empirical meaning for each group. It is valuable when scores guide human decisions or resource allocation. Calibration does not guarantee equal selection or error rates, and it can conflict with equalized odds when base rates differ, so the deployment purpose must determine priority.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Intervention begins with a diagnosed mechanism and a stated fairness target. Teams should compare a baseline with candidate methods, report group performance and uncertainty, inspect utility costs, test on representative holdout data, document residual harms, and monitor drift after deployment. Mitigation is an iterative control process rather than a one-time repair.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changes data, in-processing changes learning, and post-processing changes outputs. Reweighting addresses influence, feature treatment reduces direct or proxy pathways, fairness constraints and adversaries reshape training, and output adjustment targets decision behavior or probability meaning. Every method must be validated against the intended fairness objective.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moves from individual techniques to operating practice. It explains how representative collection, labeling governance, human oversight, validation, audits, and impact assessments make fairness routine rather than reactive.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Mitigating bias in datasets</a:t>
            </a:r>
          </a:p>
          <a:p>
            <a:pPr algn="ctr">
              <a:lnSpc>
                <a:spcPts val="2200"/>
              </a:lnSpc>
              <a:spcBef>
                <a:spcPts val="1400"/>
              </a:spcBef>
            </a:pPr>
            <a:r>
              <a:rPr sz="2600" b="0">
                <a:solidFill>
                  <a:srgbClr val="333333"/>
                </a:solidFill>
                <a:latin typeface="Calibri"/>
              </a:rPr>
              <a:t>Once a disparity and a fairness objective are defined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Select an intervention using evidence rather than convenience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Pre-processing through reweighting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Reweighting changes how strongly training instances influence learning</a:t>
            </a:r>
          </a:p>
          <a:p>
            <a:pPr>
              <a:spcAft>
                <a:spcPts val="1000"/>
              </a:spcAft>
              <a:buChar char="•"/>
              <a:lnSpc>
                <a:spcPts val="2200"/>
              </a:lnSpc>
            </a:pPr>
            <a:r>
              <a:rPr sz="2000" b="0">
                <a:solidFill>
                  <a:srgbClr val="333333"/>
                </a:solidFill>
                <a:latin typeface="Calibri"/>
              </a:rPr>
              <a:t>Underrepresented groups can receive greater weight so that the majority group does not</a:t>
            </a:r>
          </a:p>
          <a:p>
            <a:pPr>
              <a:spcAft>
                <a:spcPts val="1000"/>
              </a:spcAft>
              <a:buChar char="•"/>
              <a:lnSpc>
                <a:spcPts val="2200"/>
              </a:lnSpc>
            </a:pPr>
            <a:r>
              <a:rPr sz="2000" b="0">
                <a:solidFill>
                  <a:srgbClr val="333333"/>
                </a:solidFill>
                <a:latin typeface="Calibri"/>
              </a:rPr>
              <a:t>This approach preserves records while changing their contribution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Pre-processing through feature treatment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Sensitive or strongly biased features may be removed</a:t>
            </a:r>
          </a:p>
          <a:p>
            <a:pPr>
              <a:spcAft>
                <a:spcPts val="1000"/>
              </a:spcAft>
              <a:buChar char="•"/>
              <a:lnSpc>
                <a:spcPts val="2200"/>
              </a:lnSpc>
            </a:pPr>
            <a:r>
              <a:rPr sz="2000" b="0">
                <a:solidFill>
                  <a:srgbClr val="333333"/>
                </a:solidFill>
                <a:latin typeface="Calibri"/>
              </a:rPr>
              <a:t>Simple removal is not a guarantee of fairness because names, neighborhoods, schools</a:t>
            </a:r>
          </a:p>
          <a:p>
            <a:pPr>
              <a:spcAft>
                <a:spcPts val="1000"/>
              </a:spcAft>
              <a:buChar char="•"/>
              <a:lnSpc>
                <a:spcPts val="2200"/>
              </a:lnSpc>
            </a:pPr>
            <a:r>
              <a:rPr sz="2000" b="0">
                <a:solidFill>
                  <a:srgbClr val="333333"/>
                </a:solidFill>
                <a:latin typeface="Calibri"/>
              </a:rPr>
              <a:t>Feature treatment should be followed by proxy analysis and subgroup evaluation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In-processing with fairness constraints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Fairness-constrained learning modifies the training objective by adding a constraint or</a:t>
            </a:r>
          </a:p>
          <a:p>
            <a:pPr>
              <a:spcAft>
                <a:spcPts val="1000"/>
              </a:spcAft>
              <a:buChar char="•"/>
              <a:lnSpc>
                <a:spcPts val="2200"/>
              </a:lnSpc>
            </a:pPr>
            <a:r>
              <a:rPr sz="2000" b="0">
                <a:solidFill>
                  <a:srgbClr val="333333"/>
                </a:solidFill>
                <a:latin typeface="Calibri"/>
              </a:rPr>
              <a:t>The model then optimizes predictive performance and the selected fairness criterion</a:t>
            </a:r>
          </a:p>
          <a:p>
            <a:pPr>
              <a:spcAft>
                <a:spcPts val="1000"/>
              </a:spcAft>
              <a:buChar char="•"/>
              <a:lnSpc>
                <a:spcPts val="2200"/>
              </a:lnSpc>
            </a:pPr>
            <a:r>
              <a:rPr sz="2000" b="0">
                <a:solidFill>
                  <a:srgbClr val="333333"/>
                </a:solidFill>
                <a:latin typeface="Calibri"/>
              </a:rPr>
              <a:t>Quality of outcome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In-processing with adversarial debiasing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Adversarial debiasing trains a predictor alongside an adversary that tries to infer a</a:t>
            </a:r>
          </a:p>
          <a:p>
            <a:pPr>
              <a:spcAft>
                <a:spcPts val="1000"/>
              </a:spcAft>
              <a:buChar char="•"/>
              <a:lnSpc>
                <a:spcPts val="2200"/>
              </a:lnSpc>
            </a:pPr>
            <a:r>
              <a:rPr sz="2000" b="0">
                <a:solidFill>
                  <a:srgbClr val="333333"/>
                </a:solidFill>
                <a:latin typeface="Calibri"/>
              </a:rPr>
              <a:t>The predictor is penalized when the adversary succeeds</a:t>
            </a:r>
          </a:p>
          <a:p>
            <a:pPr>
              <a:spcAft>
                <a:spcPts val="1000"/>
              </a:spcAft>
              <a:buChar char="•"/>
              <a:lnSpc>
                <a:spcPts val="2200"/>
              </a:lnSpc>
            </a:pPr>
            <a:r>
              <a:rPr sz="2000" b="0">
                <a:solidFill>
                  <a:srgbClr val="333333"/>
                </a:solidFill>
                <a:latin typeface="Calibri"/>
              </a:rPr>
              <a:t>The method can reduce proxy leakage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Post-processing with equalized odds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Equalized-odds post-processing adjusts decisions or thresholds from an already trained</a:t>
            </a:r>
          </a:p>
          <a:p>
            <a:pPr>
              <a:spcAft>
                <a:spcPts val="1000"/>
              </a:spcAft>
              <a:buChar char="•"/>
              <a:lnSpc>
                <a:spcPts val="2200"/>
              </a:lnSpc>
            </a:pPr>
            <a:r>
              <a:rPr sz="2000" b="0">
                <a:solidFill>
                  <a:srgbClr val="333333"/>
                </a:solidFill>
                <a:latin typeface="Calibri"/>
              </a:rPr>
              <a:t>Operational review</a:t>
            </a:r>
          </a:p>
          <a:p>
            <a:pPr>
              <a:spcAft>
                <a:spcPts val="1000"/>
              </a:spcAft>
              <a:buChar char="•"/>
              <a:lnSpc>
                <a:spcPts val="2200"/>
              </a:lnSpc>
            </a:pPr>
            <a:r>
              <a:rPr sz="2000" b="0">
                <a:solidFill>
                  <a:srgbClr val="333333"/>
                </a:solidFill>
                <a:latin typeface="Calibri"/>
              </a:rPr>
              <a:t>They can also change accuracy and may become unstable when group samples are small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Post-processing with calibration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Calibration adjusts predicted probabilities so that a score has a consistent empirical</a:t>
            </a:r>
          </a:p>
          <a:p>
            <a:pPr>
              <a:spcAft>
                <a:spcPts val="1000"/>
              </a:spcAft>
              <a:buChar char="•"/>
              <a:lnSpc>
                <a:spcPts val="2200"/>
              </a:lnSpc>
            </a:pPr>
            <a:r>
              <a:rPr sz="2000" b="0">
                <a:solidFill>
                  <a:srgbClr val="333333"/>
                </a:solidFill>
                <a:latin typeface="Calibri"/>
              </a:rPr>
              <a:t>It is valuable when scores guide human decisions or resource allocation</a:t>
            </a:r>
          </a:p>
          <a:p>
            <a:pPr>
              <a:spcAft>
                <a:spcPts val="1000"/>
              </a:spcAft>
              <a:buChar char="•"/>
              <a:lnSpc>
                <a:spcPts val="2200"/>
              </a:lnSpc>
            </a:pPr>
            <a:r>
              <a:rPr sz="2000" b="0">
                <a:solidFill>
                  <a:srgbClr val="333333"/>
                </a:solidFill>
                <a:latin typeface="Calibri"/>
              </a:rPr>
              <a:t>Calibration does not guarantee equal selection or error rates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and validating an intervention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Intervention begins with a diagnosed mechanism and a stated fairness target</a:t>
            </a:r>
          </a:p>
          <a:p>
            <a:pPr>
              <a:spcAft>
                <a:spcPts val="1000"/>
              </a:spcAft>
              <a:buChar char="•"/>
              <a:lnSpc>
                <a:spcPts val="2200"/>
              </a:lnSpc>
            </a:pPr>
            <a:r>
              <a:rPr sz="2000" b="0">
                <a:solidFill>
                  <a:srgbClr val="333333"/>
                </a:solidFill>
                <a:latin typeface="Calibri"/>
              </a:rPr>
              <a:t>Monitor drift after deployment</a:t>
            </a:r>
          </a:p>
          <a:p>
            <a:pPr>
              <a:spcAft>
                <a:spcPts val="1000"/>
              </a:spcAft>
              <a:buChar char="•"/>
              <a:lnSpc>
                <a:spcPts val="2200"/>
              </a:lnSpc>
            </a:pPr>
            <a:r>
              <a:rPr sz="2000" b="0">
                <a:solidFill>
                  <a:srgbClr val="333333"/>
                </a:solidFill>
                <a:latin typeface="Calibri"/>
              </a:rPr>
              <a:t>Mitigation is an iterative control process rather than a one-time repair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Pre-processing changes data, in-processing changes learning</a:t>
            </a:r>
          </a:p>
          <a:p>
            <a:pPr>
              <a:spcAft>
                <a:spcPts val="1000"/>
              </a:spcAft>
              <a:buChar char="•"/>
              <a:lnSpc>
                <a:spcPts val="2200"/>
              </a:lnSpc>
            </a:pPr>
            <a:r>
              <a:rPr sz="2000" b="0">
                <a:solidFill>
                  <a:srgbClr val="333333"/>
                </a:solidFill>
                <a:latin typeface="Calibri"/>
              </a:rPr>
              <a:t>Output adjustment targets decision behavior or probability meaning</a:t>
            </a:r>
          </a:p>
          <a:p>
            <a:pPr>
              <a:spcAft>
                <a:spcPts val="1000"/>
              </a:spcAft>
              <a:buChar char="•"/>
              <a:lnSpc>
                <a:spcPts val="2200"/>
              </a:lnSpc>
            </a:pPr>
            <a:r>
              <a:rPr sz="2000" b="0">
                <a:solidFill>
                  <a:srgbClr val="333333"/>
                </a:solidFill>
                <a:latin typeface="Calibri"/>
              </a:rPr>
              <a:t>Every method must be validated against the intended fairness objective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moves from individual techniques to operating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Mitigating Bias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