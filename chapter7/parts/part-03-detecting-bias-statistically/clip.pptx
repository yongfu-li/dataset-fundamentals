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bias taxonomy identifies possible mechanisms, but an audit needs measurable evidence. Statistical detection begins by defining relevant groups, outcomes, and deployment populations. It then compares representation, distributions, relationships, and decision rates to locate disparities that require explanation or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plan a disaggregated bias screen, compare subgroup distributions, interpret the role of statistical tests, identify proxy relationships with sensitive attributes, and calculate and cautiously interpret a disparate-impact ratio using the eighty-percent rule.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7.27 establishes why one metric is insufficient. Bias may appear in demographic representation, processing, labels, aggregation, or outcomes. An audit should therefore inspect both inputs and decisions, compare several subgroups, and preserve context about how each variable was created. A flag is evidence for investigation, not a complete causal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7.28 compares features such as age, gender, and race across groups and against the intended population. Differences in counts, proportions, ranges, or missingness can reveal underrepresentation and uneven data quality. Learners can inspect the runnable example 19 module for this chapter to see a compact distribution check and its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tests can assess whether observed distribution differences are unlikely under a stated null hypothesis. A chi-squared test is suitable for categorical counts, while other tests may compare continuous distributions. Statistical significance does not establish harm or practical importance, and very large samples can make small differences significant. Effect size and context remain essential.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7.30 asks whether gender distribution differs across outcome categories, such as high-performing and low-performing candidates. The test compares observed counts with counts expected under independence. Learners can inspect the runnable example 21 module for this chapter to follow the calculation, assumptions, and interpretation without treating the result as proof of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analysis can reveal features that encode sensitive attributes indirectly. Names, neighborhoods, schools, or purchasing patterns may act as proxies even after race or gender is removed. Correlation is a screening tool rather than a causal verdict, but a strong relationship warrants closer examination of feature necessity, historical context, and subgroup outcomes.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7.33 calculates a disparate-impact ratio by dividing one group's selection rate by the comparison group's rate. A ratio below zero point eight is commonly used as a screening threshold for potential adverse impact. Learners can inspect the runnable example 24 module for this chapter to compute the rates and see why the threshold prompts review rather than automatically proving illegality.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statistical audit records the target population, protected or otherwise relevant groups, outcome definitions, sample sizes, uncertainty, and chosen reference group. It reports both absolute rates and relative ratios, checks small groups carefully, and tests multiple plausible explanations. Results should be repeatable and linked to a decision about further analysis or mitigation.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checks reveal representation and data-quality gaps. Statistical tests formalize comparisons but must be paired with effect size and context. Correlation can uncover proxy pathways. Disparate-impact ratios summarize unequal selection rates, and the eighty-percent rule is a screening convention rather than a universal fairness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makes these findings easier to inspect and communicate. It combines dashboards, heatmaps, bar charts, and scatter plots, then introduces toolkits that support repeatable fairness assessment.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Detecting bias statistically</a:t>
            </a:r>
          </a:p>
          <a:p>
            <a:pPr algn="ctr">
              <a:lnSpc>
                <a:spcPts val="2200"/>
              </a:lnSpc>
              <a:spcBef>
                <a:spcPts val="1400"/>
              </a:spcBef>
            </a:pPr>
            <a:r>
              <a:rPr sz="2600" b="0">
                <a:solidFill>
                  <a:srgbClr val="333333"/>
                </a:solidFill>
                <a:latin typeface="Calibri"/>
              </a:rPr>
              <a:t>A bias taxonomy identifies possible mechanisms, but an audit needs measurable evidence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Calculate and cautiously interpret a disparate-impact ratio using the eighty-percent rule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7.27 — Multiple Manifestations of Dataset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7.27 — hands-on module</a:t>
            </a:r>
          </a:p>
          <a:p>
            <a:pPr>
              <a:spcAft>
                <a:spcPts val="1000"/>
              </a:spcAft>
              <a:buChar char="•"/>
              <a:lnSpc>
                <a:spcPts val="2200"/>
              </a:lnSpc>
            </a:pPr>
            <a:r>
              <a:rPr sz="2000" b="0">
                <a:solidFill>
                  <a:srgbClr val="333333"/>
                </a:solidFill>
                <a:latin typeface="Calibri"/>
              </a:rPr>
              <a:t>Example 7.27 establishes why one metric is insufficient</a:t>
            </a:r>
          </a:p>
          <a:p>
            <a:pPr>
              <a:spcAft>
                <a:spcPts val="1000"/>
              </a:spcAft>
              <a:buChar char="•"/>
              <a:lnSpc>
                <a:spcPts val="2200"/>
              </a:lnSpc>
            </a:pPr>
            <a:r>
              <a:rPr sz="2000" b="0">
                <a:solidFill>
                  <a:srgbClr val="333333"/>
                </a:solidFill>
                <a:latin typeface="Calibri"/>
              </a:rPr>
              <a:t>Bias may appear in demographic representation</a:t>
            </a:r>
          </a:p>
          <a:p>
            <a:pPr>
              <a:spcAft>
                <a:spcPts val="1000"/>
              </a:spcAft>
              <a:buChar char="•"/>
              <a:lnSpc>
                <a:spcPts val="2200"/>
              </a:lnSpc>
            </a:pPr>
            <a:r>
              <a:rPr sz="2000" b="0">
                <a:solidFill>
                  <a:srgbClr val="333333"/>
                </a:solidFill>
                <a:latin typeface="Calibri"/>
              </a:rPr>
              <a:t>An audit should therefore inspect both inputs and decisions, compare several subgroups</a:t>
            </a:r>
          </a:p>
          <a:p>
            <a:pPr>
              <a:spcAft>
                <a:spcPts val="1000"/>
              </a:spcAft>
              <a:buChar char="•"/>
              <a:lnSpc>
                <a:spcPts val="2200"/>
              </a:lnSpc>
            </a:pPr>
            <a:r>
              <a:rPr sz="2000" b="0">
                <a:solidFill>
                  <a:srgbClr val="333333"/>
                </a:solidFill>
                <a:latin typeface="Calibri"/>
              </a:rPr>
              <a:t>View files: `modules/chapter7/example27/`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7.27 — bar chart of favorable predictions by demographic</a:t>
            </a:r>
          </a:p>
          <a:p>
            <a:pPr>
              <a:lnSpc>
                <a:spcPts val="2200"/>
              </a:lnSpc>
              <a:spcAft>
                <a:spcPts val="400"/>
              </a:spcAft>
            </a:pPr>
            <a:r>
              <a:rPr sz="2000" b="0">
                <a:solidFill>
                  <a:srgbClr val="333333"/>
                </a:solidFill>
                <a:latin typeface="Consolas"/>
              </a:rPr>
              <a:t>group (ASCII)."""</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"""Draw an ASCII bar chart of selection rates per subgroup."""</a:t>
            </a:r>
          </a:p>
          <a:p>
            <a:pPr>
              <a:lnSpc>
                <a:spcPts val="2200"/>
              </a:lnSpc>
              <a:spcAft>
                <a:spcPts val="400"/>
              </a:spcAft>
            </a:pPr>
            <a:r>
              <a:rPr sz="2000" b="0">
                <a:solidFill>
                  <a:srgbClr val="333333"/>
                </a:solidFill>
                <a:latin typeface="Consolas"/>
              </a:rPr>
              <a:t>    selection_rate: dict[str, float] = {</a:t>
            </a:r>
          </a:p>
          <a:p>
            <a:pPr>
              <a:lnSpc>
                <a:spcPts val="2200"/>
              </a:lnSpc>
              <a:spcAft>
                <a:spcPts val="400"/>
              </a:spcAft>
            </a:pPr>
            <a:r>
              <a:rPr sz="2000" b="0">
                <a:solidFill>
                  <a:srgbClr val="333333"/>
                </a:solidFill>
                <a:latin typeface="Consolas"/>
              </a:rPr>
              <a:t>        "Group A": 0.42,</a:t>
            </a:r>
          </a:p>
          <a:p>
            <a:pPr>
              <a:lnSpc>
                <a:spcPts val="2200"/>
              </a:lnSpc>
              <a:spcAft>
                <a:spcPts val="400"/>
              </a:spcAft>
            </a:pPr>
            <a:r>
              <a:rPr sz="2000" b="0">
                <a:solidFill>
                  <a:srgbClr val="333333"/>
                </a:solidFill>
                <a:latin typeface="Consolas"/>
              </a:rPr>
              <a:t>        "Group B": 0.35,</a:t>
            </a:r>
          </a:p>
          <a:p>
            <a:pPr>
              <a:lnSpc>
                <a:spcPts val="2200"/>
              </a:lnSpc>
              <a:spcAft>
                <a:spcPts val="400"/>
              </a:spcAft>
            </a:pPr>
            <a:r>
              <a:rPr sz="2000" b="0">
                <a:solidFill>
                  <a:srgbClr val="333333"/>
                </a:solidFill>
                <a:latin typeface="Consolas"/>
              </a:rPr>
              <a:t>        "Group C": 0.19,</a:t>
            </a:r>
          </a:p>
          <a:p>
            <a:pPr>
              <a:lnSpc>
                <a:spcPts val="2200"/>
              </a:lnSpc>
              <a:spcAft>
                <a:spcPts val="400"/>
              </a:spcAft>
            </a:pPr>
            <a:r>
              <a:rPr sz="2000" b="0">
                <a:solidFill>
                  <a:srgbClr val="333333"/>
                </a:solidFill>
                <a:latin typeface="Consolas"/>
              </a:rPr>
              <a:t>        "Group D": 0.15,</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print("Selection rate by demographic subgroup (each # = 2 percentage</a:t>
            </a:r>
          </a:p>
          <a:p>
            <a:pPr>
              <a:lnSpc>
                <a:spcPts val="2200"/>
              </a:lnSpc>
              <a:spcAft>
                <a:spcPts val="400"/>
              </a:spcAft>
            </a:pPr>
            <a:r>
              <a:rPr sz="2000" b="0">
                <a:solidFill>
                  <a:srgbClr val="333333"/>
                </a:solidFill>
                <a:latin typeface="Consolas"/>
              </a:rPr>
              <a:t>points):\n")</a:t>
            </a:r>
          </a:p>
          <a:p>
            <a:pPr>
              <a:lnSpc>
                <a:spcPts val="2200"/>
              </a:lnSpc>
              <a:spcAft>
                <a:spcPts val="400"/>
              </a:spcAft>
            </a:pPr>
            <a:r>
              <a:rPr sz="2000" b="0">
                <a:solidFill>
                  <a:srgbClr val="333333"/>
                </a:solidFill>
                <a:latin typeface="Consolas"/>
              </a:rPr>
              <a:t>    for group, rate in selection_rate.items():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7.28 — Distribution Comparison Across Demographics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7.28 — hands-on module</a:t>
            </a:r>
          </a:p>
          <a:p>
            <a:pPr>
              <a:spcAft>
                <a:spcPts val="1000"/>
              </a:spcAft>
              <a:buChar char="•"/>
              <a:lnSpc>
                <a:spcPts val="2200"/>
              </a:lnSpc>
            </a:pPr>
            <a:r>
              <a:rPr sz="2000" b="0">
                <a:solidFill>
                  <a:srgbClr val="333333"/>
                </a:solidFill>
                <a:latin typeface="Calibri"/>
              </a:rPr>
              <a:t>Example 7.28 compares features such as age, gender</a:t>
            </a:r>
          </a:p>
          <a:p>
            <a:pPr>
              <a:spcAft>
                <a:spcPts val="1000"/>
              </a:spcAft>
              <a:buChar char="•"/>
              <a:lnSpc>
                <a:spcPts val="2200"/>
              </a:lnSpc>
            </a:pPr>
            <a:r>
              <a:rPr sz="2000" b="0">
                <a:solidFill>
                  <a:srgbClr val="333333"/>
                </a:solidFill>
                <a:latin typeface="Calibri"/>
              </a:rPr>
              <a:t>Differences in counts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Statistical tests and practical significance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Formal tests can assess whether observed distribution differences are unlikely under a</a:t>
            </a:r>
          </a:p>
          <a:p>
            <a:pPr>
              <a:spcAft>
                <a:spcPts val="1000"/>
              </a:spcAft>
              <a:buChar char="•"/>
              <a:lnSpc>
                <a:spcPts val="2200"/>
              </a:lnSpc>
            </a:pPr>
            <a:r>
              <a:rPr sz="2000" b="0">
                <a:solidFill>
                  <a:srgbClr val="333333"/>
                </a:solidFill>
                <a:latin typeface="Calibri"/>
              </a:rPr>
              <a:t>A chi-squared test is suitable for categorical counts</a:t>
            </a:r>
          </a:p>
          <a:p>
            <a:pPr>
              <a:spcAft>
                <a:spcPts val="1000"/>
              </a:spcAft>
              <a:buChar char="•"/>
              <a:lnSpc>
                <a:spcPts val="2200"/>
              </a:lnSpc>
            </a:pPr>
            <a:r>
              <a:rPr sz="2000" b="0">
                <a:solidFill>
                  <a:srgbClr val="333333"/>
                </a:solidFill>
                <a:latin typeface="Calibri"/>
              </a:rPr>
              <a:t>Statistical significance does not establish harm or practical importance</a:t>
            </a:r>
          </a:p>
          <a:p>
            <a:pPr>
              <a:spcAft>
                <a:spcPts val="1000"/>
              </a:spcAft>
              <a:buChar char="•"/>
              <a:lnSpc>
                <a:spcPts val="2200"/>
              </a:lnSpc>
            </a:pPr>
            <a:r>
              <a:rPr sz="2000" b="0">
                <a:solidFill>
                  <a:srgbClr val="333333"/>
                </a:solidFill>
                <a:latin typeface="Calibri"/>
              </a:rPr>
              <a:t>Effect size and context remain essential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7.30 — Chi-Squared Test for Gender Distribution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7.30 — hands-on module</a:t>
            </a:r>
          </a:p>
          <a:p>
            <a:pPr>
              <a:spcAft>
                <a:spcPts val="1000"/>
              </a:spcAft>
              <a:buChar char="•"/>
              <a:lnSpc>
                <a:spcPts val="2200"/>
              </a:lnSpc>
            </a:pPr>
            <a:r>
              <a:rPr sz="2000" b="0">
                <a:solidFill>
                  <a:srgbClr val="333333"/>
                </a:solidFill>
                <a:latin typeface="Calibri"/>
              </a:rPr>
              <a:t>Example 7.30 asks whether gender distribution differs across outcome categories</a:t>
            </a:r>
          </a:p>
          <a:p>
            <a:pPr>
              <a:spcAft>
                <a:spcPts val="1000"/>
              </a:spcAft>
              <a:buChar char="•"/>
              <a:lnSpc>
                <a:spcPts val="2200"/>
              </a:lnSpc>
            </a:pPr>
            <a:r>
              <a:rPr sz="2000" b="0">
                <a:solidFill>
                  <a:srgbClr val="333333"/>
                </a:solidFill>
                <a:latin typeface="Calibri"/>
              </a:rPr>
              <a:t>The test compares observed counts with counts expected under independence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Correlations and proxy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Correlation analysis can reveal features that encode sensitive attributes indirectly</a:t>
            </a:r>
          </a:p>
          <a:p>
            <a:pPr>
              <a:spcAft>
                <a:spcPts val="1000"/>
              </a:spcAft>
              <a:buChar char="•"/>
              <a:lnSpc>
                <a:spcPts val="2200"/>
              </a:lnSpc>
            </a:pPr>
            <a:r>
              <a:rPr sz="2000" b="0">
                <a:solidFill>
                  <a:srgbClr val="333333"/>
                </a:solidFill>
                <a:latin typeface="Calibri"/>
              </a:rPr>
              <a:t>Names, neighborhoods, schools, or purchasing patterns may act as proxies even after race</a:t>
            </a:r>
          </a:p>
          <a:p>
            <a:pPr>
              <a:spcAft>
                <a:spcPts val="1000"/>
              </a:spcAft>
              <a:buChar char="•"/>
              <a:lnSpc>
                <a:spcPts val="2200"/>
              </a:lnSpc>
            </a:pPr>
            <a:r>
              <a:rPr sz="2000" b="0">
                <a:solidFill>
                  <a:srgbClr val="333333"/>
                </a:solidFill>
                <a:latin typeface="Calibri"/>
              </a:rPr>
              <a:t>Subgroup outcomes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7.33 — The 80% Rule in Hiring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7.33 — hands-on module</a:t>
            </a:r>
          </a:p>
          <a:p>
            <a:pPr>
              <a:spcAft>
                <a:spcPts val="1000"/>
              </a:spcAft>
              <a:buChar char="•"/>
              <a:lnSpc>
                <a:spcPts val="2200"/>
              </a:lnSpc>
            </a:pPr>
            <a:r>
              <a:rPr sz="2000" b="0">
                <a:solidFill>
                  <a:srgbClr val="333333"/>
                </a:solidFill>
                <a:latin typeface="Calibri"/>
              </a:rPr>
              <a:t>Example 7.33 calculates a disparate-impact ratio by dividing one group's selection rate by</a:t>
            </a:r>
          </a:p>
          <a:p>
            <a:pPr>
              <a:spcAft>
                <a:spcPts val="1000"/>
              </a:spcAft>
              <a:buChar char="•"/>
              <a:lnSpc>
                <a:spcPts val="2200"/>
              </a:lnSpc>
            </a:pPr>
            <a:r>
              <a:rPr sz="2000" b="0">
                <a:solidFill>
                  <a:srgbClr val="333333"/>
                </a:solidFill>
                <a:latin typeface="Calibri"/>
              </a:rPr>
              <a:t>A ratio below zero point eight is commonly used as a screening threshold for potential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Building a defensible audit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Chosen reference group</a:t>
            </a:r>
          </a:p>
          <a:p>
            <a:pPr>
              <a:spcAft>
                <a:spcPts val="1000"/>
              </a:spcAft>
              <a:buChar char="•"/>
              <a:lnSpc>
                <a:spcPts val="2200"/>
              </a:lnSpc>
            </a:pPr>
            <a:r>
              <a:rPr sz="2000" b="0">
                <a:solidFill>
                  <a:srgbClr val="333333"/>
                </a:solidFill>
                <a:latin typeface="Calibri"/>
              </a:rPr>
              <a:t>It reports both absolute rates and relative ratios, checks small groups carefully</a:t>
            </a:r>
          </a:p>
          <a:p>
            <a:pPr>
              <a:spcAft>
                <a:spcPts val="1000"/>
              </a:spcAft>
              <a:buChar char="•"/>
              <a:lnSpc>
                <a:spcPts val="2200"/>
              </a:lnSpc>
            </a:pPr>
            <a:r>
              <a:rPr sz="2000" b="0">
                <a:solidFill>
                  <a:srgbClr val="333333"/>
                </a:solidFill>
                <a:latin typeface="Calibri"/>
              </a:rPr>
              <a:t>Results should be repeatable and linked to a decision about further analysis or mitigation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Distribution checks reveal representation and data-quality gaps</a:t>
            </a:r>
          </a:p>
          <a:p>
            <a:pPr>
              <a:spcAft>
                <a:spcPts val="1000"/>
              </a:spcAft>
              <a:buChar char="•"/>
              <a:lnSpc>
                <a:spcPts val="2200"/>
              </a:lnSpc>
            </a:pPr>
            <a:r>
              <a:rPr sz="2000" b="0">
                <a:solidFill>
                  <a:srgbClr val="333333"/>
                </a:solidFill>
                <a:latin typeface="Calibri"/>
              </a:rPr>
              <a:t>Statistical tests formalize comparisons but must be paired with effect size and context</a:t>
            </a:r>
          </a:p>
          <a:p>
            <a:pPr>
              <a:spcAft>
                <a:spcPts val="1000"/>
              </a:spcAft>
              <a:buChar char="•"/>
              <a:lnSpc>
                <a:spcPts val="2200"/>
              </a:lnSpc>
            </a:pPr>
            <a:r>
              <a:rPr sz="2000" b="0">
                <a:solidFill>
                  <a:srgbClr val="333333"/>
                </a:solidFill>
                <a:latin typeface="Calibri"/>
              </a:rPr>
              <a:t>Correlation can uncover proxy pathways</a:t>
            </a:r>
          </a:p>
          <a:p>
            <a:pPr>
              <a:spcAft>
                <a:spcPts val="1000"/>
              </a:spcAft>
              <a:buChar char="•"/>
              <a:lnSpc>
                <a:spcPts val="2200"/>
              </a:lnSpc>
            </a:pPr>
            <a:r>
              <a:rPr sz="2000" b="0">
                <a:solidFill>
                  <a:srgbClr val="333333"/>
                </a:solidFill>
                <a:latin typeface="Calibri"/>
              </a:rPr>
              <a:t>Disparate-impact ratios summarize unequal selection rates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makes these findings easier to inspect and communicate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Detecting Bias Statistically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