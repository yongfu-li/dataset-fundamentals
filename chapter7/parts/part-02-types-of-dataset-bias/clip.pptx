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is easier to detect and mitigate when its mechanism is named precisely. This clip separates six common forms of dataset bias. Several can occur together, so the taxonomy is not a set of mutually exclusive boxes. It is a diagnostic vocabulary for asking where distortion entered and which intervention is likely to help.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distinguish sampling, measurement, historical, label, aggregation, and confirmation bias; recognize each form in a practical setting; and explain why collecting more data does not automatically correct every type of bias.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Sampling bias occurs when collected records do not represent the population or conditions in which a model will operate. Measurement bias occurs when instruments, surveys, sensors, or observation procedures systematically distort what is recorded. Sampling changes who or what is observed; measurement changes the accuracy or meaning of the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7.12 illustrates sampling bias. A facial recognition dataset dominated by light-skinned faces gives a model too little evidence about darker-skinned faces. Performance can therefore vary sharply across groups. Adding more images from the already dominant group increases dataset size without correcting the missing representation.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7.14 illustrates measurement bias through self-reported income. Respondents may overstate or withhold information because of privacy concerns or social desirability. The resulting values are not merely noisy if the error follows a systematic pattern across groups. Audit work must examine how a variable was produced, not only whether its column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7.17 shows historical bias. Hiring, lending, judicial, and policing records may accurately document decisions that were themselves inequitable. A model can reproduce those patterns even when collection and measurement are technically correct. Historical data describes what happened, but it does not automatically define what should happen 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7.21 shows label bias. Annotators may interpret tone differently because of cultural background, ambiguous guidelines, or inconsistent handling of edge cases. If these disagreements systematically affect some dialects or groups, the target labels teach the model an unfair pattern. Clear guidance, diverse annotators, agreement checks, and adjudication reduce this risk.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Aggregation bias appears when diverse subgroups are treated as homogeneous and important differences are hidden by an overall average. Confirmation bias appears when data is selected or interpreted to support an existing belief while contradictory evidence is neglected. One masks variation through pooling; the other narrows evidence through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system may combine several mechanisms. Historical policing records may reflect unequal enforcement, oversample heavily policed areas, use subjective labels, and encourage confirmation of an assumed crime pattern. Diagnosis should trace the chain from population and collection through measurement, labeling, aggregation, and analyst decisions rather than assigning one convenient label.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Sampling bias concerns representation, measurement bias concerns capture, historical bias concerns inherited inequity, and label bias concerns target construction. Aggregation bias hides subgroup differences, while confirmation bias filters evidence through prior beliefs. Precise diagnosis guides intervention and prevents the mistaken assumption that more data alone will solve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turns this taxonomy into measurable evidence. It introduces distribution comparisons, statistical tests, proxy correlations, and disparate-impact ratios for screening datasets and model outcomes.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7 — Types of dataset bias</a:t>
            </a:r>
          </a:p>
          <a:p>
            <a:pPr algn="ctr">
              <a:lnSpc>
                <a:spcPts val="2200"/>
              </a:lnSpc>
              <a:spcBef>
                <a:spcPts val="1400"/>
              </a:spcBef>
            </a:pPr>
            <a:r>
              <a:rPr sz="2600" b="0">
                <a:solidFill>
                  <a:srgbClr val="333333"/>
                </a:solidFill>
                <a:latin typeface="Calibri"/>
              </a:rPr>
              <a:t>Bias is easier to detect and mitigate when its mechanism is named precisely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Types Of Dataset Bias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clip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Types Of Dataset Bias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Sampling and measurement bias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Sampling bias occurs when collected records do not represent the population or conditions</a:t>
            </a:r>
          </a:p>
          <a:p>
            <a:pPr lvl="0" marL="457200" indent="-228600">
              <a:buFont typeface="Calibri"/>
              <a:spcAft>
                <a:spcPts val="1000"/>
              </a:spcAft>
              <a:buSzPct val="100000"/>
              <a:buChar char="•"/>
              <a:lnSpc>
                <a:spcPts val="2200"/>
              </a:lnSpc>
            </a:pPr>
            <a:r>
              <a:rPr sz="2000" b="0">
                <a:solidFill>
                  <a:srgbClr val="333333"/>
                </a:solidFill>
                <a:latin typeface="Calibri"/>
              </a:rPr>
              <a:t>Measurement bias occurs when instruments</a:t>
            </a:r>
          </a:p>
          <a:p>
            <a:pPr lvl="0" marL="457200" indent="-228600">
              <a:buFont typeface="Calibri"/>
              <a:spcAft>
                <a:spcPts val="1000"/>
              </a:spcAft>
              <a:buSzPct val="100000"/>
              <a:buChar char="•"/>
              <a:lnSpc>
                <a:spcPts val="2200"/>
              </a:lnSpc>
            </a:pPr>
            <a:r>
              <a:rPr sz="2000" b="0">
                <a:solidFill>
                  <a:srgbClr val="333333"/>
                </a:solidFill>
                <a:latin typeface="Calibri"/>
              </a:rPr>
              <a:t>Sampling changes who or what is observed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Types Of Dataset Bias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7.12 — Facial Recognition System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7.12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7.12 illustrates sampling bias</a:t>
            </a:r>
          </a:p>
          <a:p>
            <a:pPr lvl="0" marL="457200" indent="-228600">
              <a:buFont typeface="Calibri"/>
              <a:spcAft>
                <a:spcPts val="1000"/>
              </a:spcAft>
              <a:buSzPct val="100000"/>
              <a:buChar char="•"/>
              <a:lnSpc>
                <a:spcPts val="2200"/>
              </a:lnSpc>
            </a:pPr>
            <a:r>
              <a:rPr sz="2000" b="0">
                <a:solidFill>
                  <a:srgbClr val="333333"/>
                </a:solidFill>
                <a:latin typeface="Calibri"/>
              </a:rPr>
              <a:t>A facial recognition dataset dominated by light-skinned faces gives a model too little</a:t>
            </a:r>
          </a:p>
          <a:p>
            <a:pPr lvl="0" marL="457200" indent="-228600">
              <a:buFont typeface="Calibri"/>
              <a:spcAft>
                <a:spcPts val="1000"/>
              </a:spcAft>
              <a:buSzPct val="100000"/>
              <a:buChar char="•"/>
              <a:lnSpc>
                <a:spcPts val="2200"/>
              </a:lnSpc>
            </a:pPr>
            <a:r>
              <a:rPr sz="2000" b="0">
                <a:solidFill>
                  <a:srgbClr val="333333"/>
                </a:solidFill>
                <a:latin typeface="Calibri"/>
              </a:rPr>
              <a:t>Performance can therefore vary sharply across groups</a:t>
            </a:r>
          </a:p>
          <a:p>
            <a:pPr lvl="0" marL="457200" indent="-228600">
              <a:buFont typeface="Calibri"/>
              <a:spcAft>
                <a:spcPts val="1000"/>
              </a:spcAft>
              <a:buSzPct val="100000"/>
              <a:buChar char="•"/>
              <a:lnSpc>
                <a:spcPts val="2200"/>
              </a:lnSpc>
            </a:pPr>
            <a:r>
              <a:rPr sz="2000" b="0">
                <a:solidFill>
                  <a:srgbClr val="333333"/>
                </a:solidFill>
                <a:latin typeface="Calibri"/>
              </a:rPr>
              <a:t>Adding more images from the already dominant group increases dataset size without</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`modules/chapter7/example12/`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Types Of Dataset Bias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7.14 — Creditworthiness System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7.14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7.14 illustrates measurement bias through self-reported income</a:t>
            </a:r>
          </a:p>
          <a:p>
            <a:pPr lvl="0" marL="457200" indent="-228600">
              <a:buFont typeface="Calibri"/>
              <a:spcAft>
                <a:spcPts val="1000"/>
              </a:spcAft>
              <a:buSzPct val="100000"/>
              <a:buChar char="•"/>
              <a:lnSpc>
                <a:spcPts val="2200"/>
              </a:lnSpc>
            </a:pPr>
            <a:r>
              <a:rPr sz="2000" b="0">
                <a:solidFill>
                  <a:srgbClr val="333333"/>
                </a:solidFill>
                <a:latin typeface="Calibri"/>
              </a:rPr>
              <a:t>Respondents may overstate or withhold information because of privacy concerns or social</a:t>
            </a:r>
          </a:p>
          <a:p>
            <a:pPr lvl="0" marL="457200" indent="-228600">
              <a:buFont typeface="Calibri"/>
              <a:spcAft>
                <a:spcPts val="1000"/>
              </a:spcAft>
              <a:buSzPct val="100000"/>
              <a:buChar char="•"/>
              <a:lnSpc>
                <a:spcPts val="2200"/>
              </a:lnSpc>
            </a:pPr>
            <a:r>
              <a:rPr sz="2000" b="0">
                <a:solidFill>
                  <a:srgbClr val="333333"/>
                </a:solidFill>
                <a:latin typeface="Calibri"/>
              </a:rPr>
              <a:t>The resulting values are not merely noisy if the error follows a systematic pattern across</a:t>
            </a:r>
          </a:p>
          <a:p>
            <a:pPr lvl="0" marL="457200" indent="-228600">
              <a:buFont typeface="Calibri"/>
              <a:spcAft>
                <a:spcPts val="1000"/>
              </a:spcAft>
              <a:buSzPct val="100000"/>
              <a:buChar char="•"/>
              <a:lnSpc>
                <a:spcPts val="2200"/>
              </a:lnSpc>
            </a:pPr>
            <a:r>
              <a:rPr sz="2000" b="0">
                <a:solidFill>
                  <a:srgbClr val="333333"/>
                </a:solidFill>
                <a:latin typeface="Calibri"/>
              </a:rPr>
              <a:t>Audit work must examine how a variable was produced</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`modules/chapter7/example14/`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Types Of Dataset Bias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7.17 — Entrenched Societal Biases in Historical Records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7.17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7.17 shows historical bias</a:t>
            </a:r>
          </a:p>
          <a:p>
            <a:pPr lvl="0" marL="457200" indent="-228600">
              <a:buFont typeface="Calibri"/>
              <a:spcAft>
                <a:spcPts val="1000"/>
              </a:spcAft>
              <a:buSzPct val="100000"/>
              <a:buChar char="•"/>
              <a:lnSpc>
                <a:spcPts val="2200"/>
              </a:lnSpc>
            </a:pPr>
            <a:r>
              <a:rPr sz="2000" b="0">
                <a:solidFill>
                  <a:srgbClr val="333333"/>
                </a:solidFill>
                <a:latin typeface="Calibri"/>
              </a:rPr>
              <a:t>Hiring, lending, judicial</a:t>
            </a:r>
          </a:p>
          <a:p>
            <a:pPr lvl="0" marL="457200" indent="-228600">
              <a:buFont typeface="Calibri"/>
              <a:spcAft>
                <a:spcPts val="1000"/>
              </a:spcAft>
              <a:buSzPct val="100000"/>
              <a:buChar char="•"/>
              <a:lnSpc>
                <a:spcPts val="2200"/>
              </a:lnSpc>
            </a:pPr>
            <a:r>
              <a:rPr sz="2000" b="0">
                <a:solidFill>
                  <a:srgbClr val="333333"/>
                </a:solidFill>
                <a:latin typeface="Calibri"/>
              </a:rPr>
              <a:t>A model can reproduce those patterns even when collection and measurement are technically</a:t>
            </a:r>
          </a:p>
          <a:p>
            <a:pPr lvl="0" marL="457200" indent="-228600">
              <a:buFont typeface="Calibri"/>
              <a:spcAft>
                <a:spcPts val="1000"/>
              </a:spcAft>
              <a:buSzPct val="100000"/>
              <a:buChar char="•"/>
              <a:lnSpc>
                <a:spcPts val="2200"/>
              </a:lnSpc>
            </a:pPr>
            <a:r>
              <a:rPr sz="2000" b="0">
                <a:solidFill>
                  <a:srgbClr val="333333"/>
                </a:solidFill>
                <a:latin typeface="Calibri"/>
              </a:rPr>
              <a:t>Historical data describes what happened</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`modules/chapter7/example17/`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Types Of Dataset Bias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7.21 — Labeling Bias in Sentiment Annotation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7.21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7.21 shows label bias</a:t>
            </a:r>
          </a:p>
          <a:p>
            <a:pPr lvl="0" marL="457200" indent="-228600">
              <a:buFont typeface="Calibri"/>
              <a:spcAft>
                <a:spcPts val="1000"/>
              </a:spcAft>
              <a:buSzPct val="100000"/>
              <a:buChar char="•"/>
              <a:lnSpc>
                <a:spcPts val="2200"/>
              </a:lnSpc>
            </a:pPr>
            <a:r>
              <a:rPr sz="2000" b="0">
                <a:solidFill>
                  <a:srgbClr val="333333"/>
                </a:solidFill>
                <a:latin typeface="Calibri"/>
              </a:rPr>
              <a:t>Annotators may interpret tone differently because of cultural background</a:t>
            </a:r>
          </a:p>
          <a:p>
            <a:pPr lvl="0" marL="457200" indent="-228600">
              <a:buFont typeface="Calibri"/>
              <a:spcAft>
                <a:spcPts val="1000"/>
              </a:spcAft>
              <a:buSzPct val="100000"/>
              <a:buChar char="•"/>
              <a:lnSpc>
                <a:spcPts val="2200"/>
              </a:lnSpc>
            </a:pPr>
            <a:r>
              <a:rPr sz="2000" b="0">
                <a:solidFill>
                  <a:srgbClr val="333333"/>
                </a:solidFill>
                <a:latin typeface="Calibri"/>
              </a:rPr>
              <a:t>If these disagreements systematically affect some dialects or groups</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`modules/chapter7/example21/`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Types Of Dataset Bias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7.21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7.21 — chi-squared test of gender distribution across</a:t>
            </a:r>
          </a:p>
          <a:p>
            <a:pPr>
              <a:lnSpc>
                <a:spcPts val="2200"/>
              </a:lnSpc>
              <a:spcAft>
                <a:spcPts val="400"/>
              </a:spcAft>
            </a:pPr>
            <a:r>
              <a:rPr sz="2000" b="0">
                <a:solidFill>
                  <a:srgbClr val="333333"/>
                </a:solidFill>
                <a:latin typeface="Consolas"/>
              </a:rPr>
              <a:t>performance categories."""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"""Run a 2x2 chi-squared test on gender vs performance category."""</a:t>
            </a:r>
          </a:p>
          <a:p>
            <a:pPr>
              <a:lnSpc>
                <a:spcPts val="2200"/>
              </a:lnSpc>
              <a:spcAft>
                <a:spcPts val="400"/>
              </a:spcAft>
            </a:pPr>
            <a:r>
              <a:rPr sz="2000" b="0">
                <a:solidFill>
                  <a:srgbClr val="333333"/>
                </a:solidFill>
                <a:latin typeface="Consolas"/>
              </a:rPr>
              <a:t>    # Observed contingency table: rows = gender, cols = (high, low)</a:t>
            </a:r>
          </a:p>
          <a:p>
            <a:pPr>
              <a:lnSpc>
                <a:spcPts val="2200"/>
              </a:lnSpc>
              <a:spcAft>
                <a:spcPts val="400"/>
              </a:spcAft>
            </a:pPr>
            <a:r>
              <a:rPr sz="2000" b="0">
                <a:solidFill>
                  <a:srgbClr val="333333"/>
                </a:solidFill>
                <a:latin typeface="Consolas"/>
              </a:rPr>
              <a:t>performers.</a:t>
            </a:r>
          </a:p>
          <a:p>
            <a:pPr>
              <a:lnSpc>
                <a:spcPts val="2200"/>
              </a:lnSpc>
              <a:spcAft>
                <a:spcPts val="400"/>
              </a:spcAft>
            </a:pPr>
            <a:r>
              <a:rPr sz="2000" b="0">
                <a:solidFill>
                  <a:srgbClr val="333333"/>
                </a:solidFill>
                <a:latin typeface="Consolas"/>
              </a:rPr>
              <a:t>    observed: dict[str, tuple[int, int]] = {"Male": (90, 210), "Female":</a:t>
            </a:r>
          </a:p>
          <a:p>
            <a:pPr>
              <a:lnSpc>
                <a:spcPts val="2200"/>
              </a:lnSpc>
              <a:spcAft>
                <a:spcPts val="400"/>
              </a:spcAft>
            </a:pPr>
            <a:r>
              <a:rPr sz="2000" b="0">
                <a:solidFill>
                  <a:srgbClr val="333333"/>
                </a:solidFill>
                <a:latin typeface="Consolas"/>
              </a:rPr>
              <a:t>(30, 170)}</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row_totals = {g: sum(cells) for g, cells in observed.items()}</a:t>
            </a:r>
          </a:p>
          <a:p>
            <a:pPr>
              <a:lnSpc>
                <a:spcPts val="2200"/>
              </a:lnSpc>
              <a:spcAft>
                <a:spcPts val="400"/>
              </a:spcAft>
            </a:pPr>
            <a:r>
              <a:rPr sz="2000" b="0">
                <a:solidFill>
                  <a:srgbClr val="333333"/>
                </a:solidFill>
                <a:latin typeface="Consolas"/>
              </a:rPr>
              <a:t>    col_totals = (</a:t>
            </a:r>
          </a:p>
          <a:p>
            <a:pPr>
              <a:lnSpc>
                <a:spcPts val="2200"/>
              </a:lnSpc>
              <a:spcAft>
                <a:spcPts val="400"/>
              </a:spcAft>
            </a:pPr>
            <a:r>
              <a:rPr sz="2000" b="0">
                <a:solidFill>
                  <a:srgbClr val="333333"/>
                </a:solidFill>
                <a:latin typeface="Consolas"/>
              </a:rPr>
              <a:t>        sum(cells[0] for cells in observed.values()),</a:t>
            </a:r>
          </a:p>
          <a:p>
            <a:pPr>
              <a:lnSpc>
                <a:spcPts val="2200"/>
              </a:lnSpc>
              <a:spcAft>
                <a:spcPts val="400"/>
              </a:spcAft>
            </a:pPr>
            <a:r>
              <a:rPr sz="2000" b="0">
                <a:solidFill>
                  <a:srgbClr val="333333"/>
                </a:solidFill>
                <a:latin typeface="Consolas"/>
              </a:rPr>
              <a:t>        sum(cells[1] for cells in observed.values()),</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Types Of Dataset Bias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Aggregation and confirmation bias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Aggregation bias appears when diverse subgroups are treated as homogeneous and important</a:t>
            </a:r>
          </a:p>
          <a:p>
            <a:pPr lvl="0" marL="457200" indent="-228600">
              <a:buFont typeface="Calibri"/>
              <a:spcAft>
                <a:spcPts val="1000"/>
              </a:spcAft>
              <a:buSzPct val="100000"/>
              <a:buChar char="•"/>
              <a:lnSpc>
                <a:spcPts val="2200"/>
              </a:lnSpc>
            </a:pPr>
            <a:r>
              <a:rPr sz="2000" b="0">
                <a:solidFill>
                  <a:srgbClr val="333333"/>
                </a:solidFill>
                <a:latin typeface="Calibri"/>
              </a:rPr>
              <a:t>Confirmation bias appears when data is selected or interpreted to support an existing</a:t>
            </a:r>
          </a:p>
          <a:p>
            <a:pPr lvl="0" marL="457200" indent="-228600">
              <a:buFont typeface="Calibri"/>
              <a:spcAft>
                <a:spcPts val="1000"/>
              </a:spcAft>
              <a:buSzPct val="100000"/>
              <a:buChar char="•"/>
              <a:lnSpc>
                <a:spcPts val="2200"/>
              </a:lnSpc>
            </a:pPr>
            <a:r>
              <a:rPr sz="2000" b="0">
                <a:solidFill>
                  <a:srgbClr val="333333"/>
                </a:solidFill>
                <a:latin typeface="Calibri"/>
              </a:rPr>
              <a:t>One masks variation through pooling; the other narrows evidence through expectation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Types Of Dataset Bias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Diagnosing overlapping mechanisms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single system may combine several mechanisms</a:t>
            </a:r>
          </a:p>
          <a:p>
            <a:pPr lvl="0" marL="457200" indent="-228600">
              <a:buFont typeface="Calibri"/>
              <a:spcAft>
                <a:spcPts val="1000"/>
              </a:spcAft>
              <a:buSzPct val="100000"/>
              <a:buChar char="•"/>
              <a:lnSpc>
                <a:spcPts val="2200"/>
              </a:lnSpc>
            </a:pPr>
            <a:r>
              <a:rPr sz="2000" b="0">
                <a:solidFill>
                  <a:srgbClr val="333333"/>
                </a:solidFill>
                <a:latin typeface="Calibri"/>
              </a:rPr>
              <a:t>Encourage confirmation of an assumed crime pattern</a:t>
            </a:r>
          </a:p>
          <a:p>
            <a:pPr lvl="0" marL="457200" indent="-228600">
              <a:buFont typeface="Calibri"/>
              <a:spcAft>
                <a:spcPts val="1000"/>
              </a:spcAft>
              <a:buSzPct val="100000"/>
              <a:buChar char="•"/>
              <a:lnSpc>
                <a:spcPts val="2200"/>
              </a:lnSpc>
            </a:pPr>
            <a:r>
              <a:rPr sz="2000" b="0">
                <a:solidFill>
                  <a:srgbClr val="333333"/>
                </a:solidFill>
                <a:latin typeface="Calibri"/>
              </a:rPr>
              <a:t>Analyst decisions rather than assigning one convenient label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Types Of Dataset Bias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Label bias concerns target construction</a:t>
            </a:r>
          </a:p>
          <a:p>
            <a:pPr lvl="0" marL="457200" indent="-228600">
              <a:buFont typeface="Calibri"/>
              <a:spcAft>
                <a:spcPts val="1000"/>
              </a:spcAft>
              <a:buSzPct val="100000"/>
              <a:buChar char="•"/>
              <a:lnSpc>
                <a:spcPts val="2200"/>
              </a:lnSpc>
            </a:pPr>
            <a:r>
              <a:rPr sz="2000" b="0">
                <a:solidFill>
                  <a:srgbClr val="333333"/>
                </a:solidFill>
                <a:latin typeface="Calibri"/>
              </a:rPr>
              <a:t>Aggregation bias hides subgroup differences</a:t>
            </a:r>
          </a:p>
          <a:p>
            <a:pPr lvl="0" marL="457200" indent="-228600">
              <a:buFont typeface="Calibri"/>
              <a:spcAft>
                <a:spcPts val="1000"/>
              </a:spcAft>
              <a:buSzPct val="100000"/>
              <a:buChar char="•"/>
              <a:lnSpc>
                <a:spcPts val="2200"/>
              </a:lnSpc>
            </a:pPr>
            <a:r>
              <a:rPr sz="2000" b="0">
                <a:solidFill>
                  <a:srgbClr val="333333"/>
                </a:solidFill>
                <a:latin typeface="Calibri"/>
              </a:rPr>
              <a:t>Precise diagnosis guides intervention and prevents the mistaken assumption that more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Types Of Dataset Bias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clip turns this taxonomy into measurable evidence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Types Of Dataset Bias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