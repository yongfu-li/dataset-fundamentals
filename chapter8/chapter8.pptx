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Chapters 5 through 7 made datasets cleaner, better understood, and fairer to evaluate. This chapter asks how those assets stay usable over time. Documentation records meaning; version control records change. Together they support reproducibility, collaboration, and compliance when data evolve.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why undocumented datasets undermine reuse, state how version history supports collaboration and rollback, and connect change tracking to regulated settings such as clinical research.</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Reproducibility requires more than a table of numbers. Others need the context of collection, processing, and intended use. Documentation captures metadata—structure, content, and rationale—so a dataset is not left as an opaque collection of observations. Without that context, even the original creators may forget decisions that later analyses depend 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multi-person projects, documentation is a shared communication layer. Clear notes let collaborators grasp structure, content, and ongoing changes without reconstructing tribal knowledge. Handoffs to new members or external partners become safer when each release explains how it differs from earlier versions and what those differences imply for models and analyses.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 considers an animal image classification corpus without documentation. A new user may not know whether labels distinguish dog from puppy, which preprocessing steps such as resizing or normalization were applied, or whether images came from a web scrape or public libraries. The lesson is that missing context blocks reuse and invites inconsistent future work. Open the example 1 module for this chapter to review the scenario takeaways.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Datasets evolve through cleaning, enrichment, and transformation just as code evolves through edits. Version control maintains a historical record so teams can track what changed, revert when a change harms performance, and avoid overwriting one another’s work. Tools that combine Git with large-file or data-aware layers help when binaries and shared remotes are involved.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 shows a modeling dataset that gains or modifies features during development. If a new feature later hurts model quality, version history lets analysts inspect when it entered and what motivated the change. Without that trail, feature drift is hard to diagnose. The example 2 module for this chapter summarizes the same rollback rationale.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 highlights regulated clinical research, where changes may need to be tracked for bodies such as the FDA. Accountability requires linking each modification to an author and a clear explanation. Version control therefore supports both scientific reproducibility and compliance evidence. Inspect the example 3 module for this chapter for the compliance framing.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turns raw observations into interpretable assets; version control turns evolving tables into recoverable histories. Collaboration depends on shared context and merge-safe change tracking. Regulated domains add auditability requirements on top of everyday engineering needs.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moves from why documentation matters to concrete components: metadata fields and data-dictionary entries that describe what each variable means, including units, types, and allowed values.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list core metadata fields, explain what a data dictionary records for each variable, and recognize a structured dictionary entry that includes type, description, allowed values, and units.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documentation functions as a blueprint or user manual. It describes what the dataset represents, how it was collected or generated, and how it should be used. A self-sufficient package lets a newcomer apply the data correctly even without talking to the creators, reducing misuse in collaborative settings.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is data about data. Typical fields include creators for authorship and accountability, creation date for relevance, update frequency for freshness, and data sources for authenticity and quality assessment. Version information adds release numbers and change notes so users can track how the corpus evolved.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8.5 lists metadata for an air-quality monitoring corpus: the collecting organization, the time period of measurements, hourly sampling frequency, and external sources such as satellite products. Those fields tell a user whether the release fits a modeling or reporting task. The example 5 module for this chapter restates the same field checklist.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data dictionary explains each variable: name, type, description, allowed values for categories, and units for continuous measures. Consistent entries prevent misinterpretation of columns and reduce errors when analysts join tables or write feature pipelines. Completeness of the dictionary is as important as completeness of the data rows.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8.6 shows a concise dictionary description: for a variable named age, the text might read that it is the age of the individual in years. Short, unambiguous phrasing beats vague labels that leave units or populations unspecified. Review the example 6 module for this chapter to see how a single-field description should read.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8.8 records a structured entry for purchase amount: float type, monthly spend description, positive values allowed, and units in United States dollars. Learners can inspect the listing and module files for this example to see how a machine-readable dictionary row is organized. Structured entries scale better than informal notes when many variables must stay consistent.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Metadata situates the whole dataset; the data dictionary situates each variable. Creators, dates, sources, and versions answer who and when; names, types, descriptions, allowed values, and units answer what each column means. Structured dictionary entries reduce ambiguity for both humans and automated consumers.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continues the documentation stack with codebooks for encoded categories, provenance trails for sources and transforms, and annotations that capture sampling limits and known faults.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when a codebook is required, list elements of a provenance trail, and write annotation notes that expose sampling limits or known data-quality issues.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codebook maps numeric or abbreviated codes to full categorical meanings. Healthcare, government, and business tables often store integers for efficiency or standards compliance. Without a codebook, those codes are opaque and analyses risk silent mislabeling of classes.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8.9 maps disease codes to readable names: one for hypertension, two for diabetes, three for asthma, and four for chronic obstructive pulmonary disease. Learners can inspect the listing and module files for this example to see a compact code-to-label table. The same pattern applies to regions, product types, or any encoded taxonomy.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also called data lineage, records where data came from and what operations followed. Typical elements include the original source, cleaning or normalization steps, format conversions, and links to other datasets that were merged or joined. Provenance supports integrity checks and explains how validity may have changed.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8.10 summarizes a retail trail: data originate in a point-of-sale system, duplicates are removed, and demographics are added from an external application programming interface. That short narrative lets auditors reconstruct the processing path. The example 10 module for this chapter restates the same three-stage trail.</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Annotations capture context that structured metadata cannot easily hold: collection challenges, known quality issues, modeling assumptions, and limitations. They warn users about sampling bias, instrument faults, incomplete surveys, or decisions such as assuming normality for a statistical test.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8.11 records a critical sampling limit: the dataset includes only urban areas and may not represent rural populations. Without that note, downstream users might treat results as nationally generalizable. Open the example 11 module for this chapter to review how a short caveat should be phrased.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Codebooks unlock encoded categories; provenance unlocks history; annotations unlock caveats. Together with metadata and dictionaries from the previous part, these components make a documentation package sufficient for accurate reuse. Omissions in any layer create silent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turns components into practice: how deep documentation should go for different uses, Markdown and structured formats, and FAIR principles for findable, accessible, interoperable, and reusable data.</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match documentation depth to intended use, outline Markdown and structured documentation formats, apply FAIR principles to a release, and recognize a compact multi-section documentation template.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Effective documentation is iterative across the dataset lifecycle. Four moves organize the work: define purpose and audience, instantiate metadata, dictionary, codebook, provenance, annotations, and version history as a checklist, choose a format users can maintain, and review with someone who did not create the data before release.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8.13 contrasts depth for machine learning training versus exploratory analysis. Training releases typically need richer preprocessing, label, and split notes; exploratory releases may emphasize overview and caveats. Purpose decisions drive how much detail each component receives. The example 13 module for this chapter restates that contrast.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smaller projects, Markdown or plain text is easy to create, share, and version alongside code. Spreadsheets and templates help standardize metadata tables across many datasets. Larger programs may add automated metadata generation from tools that already track versions and lineage.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8.15 sketches a Markdown layout with overview, table of contents, data dictionary, and per-variable descriptions. Learners can inspect the module files and listing for this example to see a readable human-facing skeleton. Markdown converts cleanly to HTML and sits naturally in Git-based workflows.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Structured metadata such as JSON-LD, XML, or Schema.org terms supports consistent exchange with repositories and pipelines. FAIR principles require datasets to be findable with persistent identifiers and rich metadata, accessible with clear rights and retrieval paths, interoperable via standard formats, and reusable with sufficient methodology, limitations, and licensing detail.</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8.19 assembles a compact template: overview with creator and version, metadata with sources and license, a data dictionary table, provenance of cleaning and merges, and notes on urban sampling and missing categories. Inspect the listing and module files for this example to see how sections fit together in one release package.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Teams struggle with time cost, inconsistent local standards, stale docs after data changes, complex metadata for large schemas, and weak organizational buy-in. Treating documentation as a release gate—reviewed and versioned with the data—reduces these failure modes more effectively than ad hoc notes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depth follows intended use. Maintainable formats range from Markdown to structured Schema.org-style metadata. FAIR criteria turn completeness into discoverability and reuse. Templates like the retail example show how overview, dictionary, provenance, and notes belong in one package.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Documentation freezes meaning at a point in time; the next part introduces dataset version control, contrasts traditional and automated approaches, and lays Git and DVC foundations for tracking evolving assets.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define dataset version control and its goals, contrast traditional versus automated approaches, explain when plain Git commits suffice for small tables, and describe how DVC tracks large datasets stored outside Git.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 version control tracks and manages evolving releases so changes from cleaning, transformation, or augmentation remain recorded and reversible. It supports knowing what changed and by whom, recovering from mistakes, reproducing prior experiments with exact data, and collaborating without silent overwrites.</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Traditional practice relies on manual names such as versioned filenames or dated folders. It is simple for tiny projects but lacks granularity, automation, and reliable history. Automated systems such as Git with large-file support and DVC record changes systematically, integrate with code history, and scale better for frequent updates and multi-user work—at the cost of a learning curve.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is a distributed system designed for source code. Combined with careful file choices, it can track small CSV or schema-like artifacts whose changes sit beside code. Each update becomes a commit with an author and message, forming an auditable timeline for lightweight data assets.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8.20 stores a CSV dataset in a Git repository and creates a new commit whenever rows are added or updated. That pattern works when files stay modest in size and change alongside analysis code. The example 20 module for this chapter restates the commit-on-update habit for small tables.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 extends Git-centered workflows for large datasets and models. Data files live in local or cloud storage while lightweight references remain in the repository. Collaborators can pull a specific dataset version so training and analysis use the same bytes that earlier experiments recorded.</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8.21 places a large corpus in cloud object storage while DVC tracks versions. Analysts keep history and collaboration benefits without stuffing binaries into Git itself. Open the example 21 module for this chapter to review the remote-backed tracking idea.</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control preserves change history for datasets, not only for code. Manual folder naming does not scale; automated tools do, with some training cost. Git fits small text-like tables; DVC fits large assets whose content belongs in remotes with pointers in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compares additional tools—Quilt and DataHub for package-style and streaming catalogs—and shows when Git LFS is the right layer for large training artifacts.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Quilt’s package-style sharing, explain DataHub’s role for metadata and feed versions, state when Git LFS fits large files, and choose among tools using size, collaboration, and metadata needs.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Practical choice depends on file size, collaboration model, metadata depth, and whether executable pipelines are required. Git suits small text-like assets; Git LFS keeps large files as pointers; DVC adds remotes and pipelines; Quilt emphasizes package catalogs; DataHub emphasizes discovery, ownership, and lineage across platforms.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8.22 uses Quilt so a genomics team can manage multiple annotated and preprocessed versions, browse packages, and select the correct release for each analysis. Package-style sharing helps distributed collaborators avoid informal file copies. The example 22 module for this chapter summarizes that catalog workflow.</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8.23 shows a data engineering team using DataHub to track evolving real-time feeds so each version is documented and discoverable by downstream analysts. Catalog and lineage features matter when many producers and consumers share enterprise data platforms. Review the example 23 module for this chapter for the feed-versioning framing.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Git Large File Storage stores heavy binaries outside the main repository while keeping lightweight pointers and familiar Git commands. It is a strong fit when models or datasets must version with code but would bloat an ordinary Git history. It tracks files rather than full data pipelines or rich dataset catalogs.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8.24 applies Git LFS when training datasets and model files exceed ordinary Git limits. Pointers stay in Git while content lives in LFS storage, preserving history without an oversized clone. Learners can inspect the module files and listing for this example to see how LFS tracking is described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Prefer Quilt when teams need browsable package catalogs; DataHub when governance and discovery across platforms dominate; Git LFS when large artifacts must sit beside code without pipeline orchestration; DVC when remotes plus reproducible stages are central. Many organizations combine tools rather than forcing one system to do every job.</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choice follows workload shape. Quilt and DataHub strengthen sharing and discovery; Git LFS strengthens large-file versioning beside Git; DVC remains the pipeline-oriented companion introduced earlier. Misalignment—such as stuffing giant binaries into plain Git—creates the pain these tools were built to avoid.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makes tool choice operational: DVC in machine learning pipelines, stage definitions in pipeline YAML, and live automation patterns including continuous-integration updates.</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how DVC tracks data and models beside code, read a multi-stage pipeline definition, describe continuous-integration dataset updates, and outline a live DVC workflow from init through pull for collaborators.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 records data and model changes alongside the code repository, supports remote storage backends, and encodes transformation and training steps so experiments remain reproducible. Teams share references rather than duplicating large files, while still retrieving the exact bytes an earlier run used.</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8.25 embeds DVC in a machine learning pipeline so data and model versions travel with code, workflows automate, and storage burden stays on remotes. Inspect the module files and listing for this example to see how pipeline-oriented tracking is summarized for learners.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DVC pipeline declares stages with commands, dependencies, and outputs—from raw download through preprocessing and training to evaluation. When inputs or code change, the system can re-run affected stages so results stay tied to the versions that produced them. That dependency graph is the operational heart of reproducibility.</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8.28 defines preprocessing, training, and evaluating stages with explicit dependencies and outputs. Learners can inspect the YAML listing and module files for this example to see how commands, inputs, and artifacts are declared. The structure makes it clear which files regenerate when upstream data changes.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Continuous integration systems can stage new data, commit lightweight references, push remotes, and trigger training when code or data lands on a protected branch. Automation reduces forgotten manual steps and keeps shared remotes current for the team’s experiments and validations.</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8.29 outlines a live walkthrough: initialize Git and DVC, configure remote storage, add and push a dataset, define preprocess and train stages, then show collaborators pulling matching code and data. Inspect the module files and command listings for this example to follow the end-to-end sequence without inventing steps.</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DVC pipelines turn versioned data into reproducible workflows. Stage YAML records commands, dependencies, and outputs; continuous integration keeps updates automatic; live init-add-push-pull loops make collaboration concrete. Together they close the gap between “we have a dataset” and “we can retrain from the same snapshot.”</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turns documentation and versioning into day-to-day operating practice: living codebooks, provenance habits, descriptive commits, naming conventions, and realistic handling of large binaries and access control.</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maintain documentation as a living checklist, write descriptive dataset commit messages, apply naming and folder conventions for collaboration, and choose Git LFS or DVC when plain Git cannot hold large binaries.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release should carry the same minimum set: metadata, variable definitions, codebooks, provenance, limitations, and license or access terms. Update the checklist whenever the data change rather than rewriting definitions from scratch. Consistency across releases matters more than occasional long essays.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8.30 reminds teams to keep a codebook for categorical encodings, including ranges and allowed values such as age units and gender categories. Learners can inspect the JSON listing and module files for this example to see a compact, maintainable codebook shape. Encoded regions and demographics especially need this habit.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Provenance should record sources, instruments, cleaning scripts, transforms, joins, and the commit or tag for each release. Dataset changes should be committed as logical units. Git suits scripts and small text artifacts; Git LFS or DVC should manage large files; DVC pipelines should track dependencies when preprocessing must be reproduced.</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8.33 shows a useful commit message: cleaned training data with missing values imputed using the median. Messages should explain what changed and why, not merely say “update.” The example 33 module for this chapter restates that descriptive standard.</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Clear names encode project, version, date, and processing state—prefer structured filenames over labels like final new. Separate raw, processed, intermediate, model, and output folders. Use branches or separate experimental versions, sync regularly, and require review before primary releases, including access and privacy checks when data are sensitive.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8.34 explains why plain Git is inefficient for large binaries and recommends Git LFS or DVC to store content externally while tracking metadata in Git. That pattern keeps repositories performant. Open the example 34 module for this chapter to review the recommended solution framing.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Best practice is operational consistency: living documentation checklists, provenance tied to commits, descriptive messages, predictable naming, and the right storage layer for large files. Collaboration and compliance rest on review, sync habits, and access controls—not on tools alone.</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part shows these practices in domain settings: climate-agriculture research, predictive maintenance, and clinical-trial collaboration.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describe how research multi-source datasets use shared templates and version tags, explain DVC pinning for industrial sensor retraining, and outline governed package sharing for clinical collaboration with role-based access.</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Research reuse fails when undocumented transforms hide in informal notes. Industrial retraining fails when two runs use different sensor snapshots under the same code checkout. Clinical collaboration fails when sensitive releases lack auditability and access control. The case studies map practices to those failure modes.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8.38 follows a multi-year climate agriculture corpus combining satellite imagery, weather, yields, and socioeconomic indicators across teams. One metadata template, one dictionary, and one provenance record per release—with version tags—let external collaborators interpret and audit without reconstructing history. Inspect the JSON listing and module files for this example to see a variable-level documentation fragment.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8.39 centers on daily factory sensor feeds and failure-prediction retraining. DVC tracks each raw batch, preprocessing output, and model artifact, pairing dataset tags with model tags so April failures can recover the matching snapshot and pipeline. Learners can inspect the command listing and module files for this example to see the add-commit-push pattern in context.</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8.40 involves clinical data managers, statisticians, regulators, and machine learning engineers sharing sensitive patient data. A governed catalog, release notes, role-restricted access, and links from package versions to analyses support compliance across time zones. Review the module files for this example for the package-push collaboration pattern.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Shared templates and provenance scale multi-collector research. Pinning data to models stabilizes industrial retraining. Governed catalogs with audit logs stabilize regulated collaboration. Across domains, documentation and version control succeed only when they are release habits, not after-the-fact essays.</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Climate research needs coherent multi-source documentation; predictive maintenance needs DVC-style pins from sensors to models; clinical trials need access-controlled, auditable package versions. The same chapter principles adapt to each constraint without requiring identical tooling.</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part looks beyond static README files and manual commits toward auto-generated metadata, lineage-aware pipelines, and emerging ideas such as auditability mechanisms and edge-sensor version sync.</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learners should be able to explain automated metadata capture after training, describe DVC stages embedded in sensor pipelines, recognize lineage and privacy pressures on documentation, and outline emerging trends including auditability ledgers and real-time or edge versioning.</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Manual documentation drifts when datasets update frequently or many teams contribute. Integrating metadata extraction into processing pipelines reduces error and lag. Tools that already version data can emit creation dates, sources, transforms, and related fields whenever a new release appears.</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8.41 shows JSON metadata emitted after model training: dataset version, creators, dates, transformation notes, and source links. Learners can inspect the listing and module files for this example to see a standardized machine-readable documentation fragment produced by the workflow rather than rewritten by hand.</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Version control should travel with pipeline stages from ingestion through cleaning to training. Lineage platforms help demonstrate where data came from, how they were transformed, and who accessed them—important under privacy regimes. Sensitive assets may further require encryption and restricted remotes alongside ordinary version pointers.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8.43 wires ingest, clean, and train stages so each sensor transformation links to the models it feeds. Inspect the YAML listing and module files for this example to see how stage names, commands, and dependencies keep pipeline history executable. Monitoring systems can log which dataset version ran at each stage.</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Trends include AI-assisted documentation and anomaly detection, decentralized or blockchain-inspired immutable audit ideas, real-time versioning for streaming data, stronger metadata standards, and version sync across cloud and edge devices. Not every idea is production-ready, but each responds to scale, trust, or latency pressures already visible today.</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8.47 sketches blockchain-style ledgers as an emerging approach to auditable dataset update history, aiming for verifiable authenticity and integrity among stakeholders. The example 47 module for this chapter frames the idea as a trend, not a required textbook default. Practical teams should weigh maturity, cost, and governance fit before adoption.</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practice automates metadata, embeds versioning in pipelines, and connects lineage to compliance. Emerging ideas push toward continuous, distributed, and highly auditable histories. The durable lesson of the chapter remains: document meaning, version change, and keep both synchronized as data move through real systems.</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quiz for this part, then return to the chapter path or continue to the full chapter deck. Later study can revisit modules and listings for any example that needs a deeper inspection.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8 — Introduction to documentation and version control</a:t>
            </a:r>
          </a:p>
          <a:p>
            <a:pPr algn="ctr">
              <a:lnSpc>
                <a:spcPts val="2200"/>
              </a:lnSpc>
              <a:spcBef>
                <a:spcPts val="1400"/>
              </a:spcBef>
            </a:pPr>
            <a:r>
              <a:rPr sz="2600" b="0">
                <a:solidFill>
                  <a:srgbClr val="333333"/>
                </a:solidFill>
                <a:latin typeface="Calibri"/>
              </a:rPr>
              <a:t>Chapters 5 through 7 made datasets cleaner, better understood, and fairer to evaluate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Connect change tracking to regulated settings such as clinical research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documentation enables reproducibility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Reproducibility requires more than a table of numbers</a:t>
            </a:r>
          </a:p>
          <a:p>
            <a:pPr>
              <a:spcAft>
                <a:spcPts val="1000"/>
              </a:spcAft>
              <a:buChar char="•"/>
              <a:lnSpc>
                <a:spcPts val="2200"/>
              </a:lnSpc>
            </a:pPr>
            <a:r>
              <a:rPr sz="2000" b="0">
                <a:solidFill>
                  <a:srgbClr val="333333"/>
                </a:solidFill>
                <a:latin typeface="Calibri"/>
              </a:rPr>
              <a:t>Others need the context of collection, processing, and intended use</a:t>
            </a:r>
          </a:p>
          <a:p>
            <a:pPr>
              <a:spcAft>
                <a:spcPts val="1000"/>
              </a:spcAft>
              <a:buChar char="•"/>
              <a:lnSpc>
                <a:spcPts val="2200"/>
              </a:lnSpc>
            </a:pPr>
            <a:r>
              <a:rPr sz="2000" b="0">
                <a:solidFill>
                  <a:srgbClr val="333333"/>
                </a:solidFill>
                <a:latin typeface="Calibri"/>
              </a:rPr>
              <a:t>Documentation captures metadata, structure, content</a:t>
            </a:r>
          </a:p>
          <a:p>
            <a:pPr>
              <a:spcAft>
                <a:spcPts val="1000"/>
              </a:spcAft>
              <a:buChar char="•"/>
              <a:lnSpc>
                <a:spcPts val="2200"/>
              </a:lnSpc>
            </a:pPr>
            <a:r>
              <a:rPr sz="2000" b="0">
                <a:solidFill>
                  <a:srgbClr val="333333"/>
                </a:solidFill>
                <a:latin typeface="Calibri"/>
              </a:rPr>
              <a:t>Without that context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Documentation as collaboration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In multi-person projects, documentation is a shared communication layer</a:t>
            </a:r>
          </a:p>
          <a:p>
            <a:pPr>
              <a:spcAft>
                <a:spcPts val="1000"/>
              </a:spcAft>
              <a:buChar char="•"/>
              <a:lnSpc>
                <a:spcPts val="2200"/>
              </a:lnSpc>
            </a:pPr>
            <a:r>
              <a:rPr sz="2000" b="0">
                <a:solidFill>
                  <a:srgbClr val="333333"/>
                </a:solidFill>
                <a:latin typeface="Calibri"/>
              </a:rPr>
              <a:t>Clear notes let collaborators grasp structure, content</a:t>
            </a:r>
          </a:p>
          <a:p>
            <a:pPr>
              <a:spcAft>
                <a:spcPts val="1000"/>
              </a:spcAft>
              <a:buChar char="•"/>
              <a:lnSpc>
                <a:spcPts val="2200"/>
              </a:lnSpc>
            </a:pPr>
            <a:r>
              <a:rPr sz="2000" b="0">
                <a:solidFill>
                  <a:srgbClr val="333333"/>
                </a:solidFill>
                <a:latin typeface="Calibri"/>
              </a:rPr>
              <a:t>Handoffs to new members or external partners become safer when each release explains how</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 — Undocumented Image Classification Dataset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8.1 — hands-on module</a:t>
            </a:r>
          </a:p>
          <a:p>
            <a:pPr>
              <a:spcAft>
                <a:spcPts val="1000"/>
              </a:spcAft>
              <a:buChar char="•"/>
              <a:lnSpc>
                <a:spcPts val="2200"/>
              </a:lnSpc>
            </a:pPr>
            <a:r>
              <a:rPr sz="2000" b="0">
                <a:solidFill>
                  <a:srgbClr val="333333"/>
                </a:solidFill>
                <a:latin typeface="Calibri"/>
              </a:rPr>
              <a:t>Example 8.1 considers an animal image classification corpus without documentation</a:t>
            </a:r>
          </a:p>
          <a:p>
            <a:pPr>
              <a:spcAft>
                <a:spcPts val="1000"/>
              </a:spcAft>
              <a:buChar char="•"/>
              <a:lnSpc>
                <a:spcPts val="2200"/>
              </a:lnSpc>
            </a:pPr>
            <a:r>
              <a:rPr sz="2000" b="0">
                <a:solidFill>
                  <a:srgbClr val="333333"/>
                </a:solidFill>
                <a:latin typeface="Calibri"/>
              </a:rPr>
              <a:t>A new user may not know whether labels distinguish dog from puppy</a:t>
            </a:r>
          </a:p>
          <a:p>
            <a:pPr>
              <a:spcAft>
                <a:spcPts val="1000"/>
              </a:spcAft>
              <a:buChar char="•"/>
              <a:lnSpc>
                <a:spcPts val="2200"/>
              </a:lnSpc>
            </a:pPr>
            <a:r>
              <a:rPr sz="2000" b="0">
                <a:solidFill>
                  <a:srgbClr val="333333"/>
                </a:solidFill>
                <a:latin typeface="Calibri"/>
              </a:rPr>
              <a:t>The lesson is that missing context blocks reuse and invites inconsistent future work</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datasets need version control</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Datasets evolve through cleaning, enrichment</a:t>
            </a:r>
          </a:p>
          <a:p>
            <a:pPr>
              <a:spcAft>
                <a:spcPts val="1000"/>
              </a:spcAft>
              <a:buChar char="•"/>
              <a:lnSpc>
                <a:spcPts val="2200"/>
              </a:lnSpc>
            </a:pPr>
            <a:r>
              <a:rPr sz="2000" b="0">
                <a:solidFill>
                  <a:srgbClr val="333333"/>
                </a:solidFill>
                <a:latin typeface="Calibri"/>
              </a:rPr>
              <a:t>Avoid overwriting one another’s work</a:t>
            </a:r>
          </a:p>
          <a:p>
            <a:pPr>
              <a:spcAft>
                <a:spcPts val="1000"/>
              </a:spcAft>
              <a:buChar char="•"/>
              <a:lnSpc>
                <a:spcPts val="2200"/>
              </a:lnSpc>
            </a:pPr>
            <a:r>
              <a:rPr sz="2000" b="0">
                <a:solidFill>
                  <a:srgbClr val="333333"/>
                </a:solidFill>
                <a:latin typeface="Calibri"/>
              </a:rPr>
              <a:t>Tools that combine Git with large-file or data-aware layers help when binaries and shared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 — Feature Drift Across Dataset Versions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 — hands-on module</a:t>
            </a:r>
          </a:p>
          <a:p>
            <a:pPr>
              <a:spcAft>
                <a:spcPts val="1000"/>
              </a:spcAft>
              <a:buChar char="•"/>
              <a:lnSpc>
                <a:spcPts val="2200"/>
              </a:lnSpc>
            </a:pPr>
            <a:r>
              <a:rPr sz="2000" b="0">
                <a:solidFill>
                  <a:srgbClr val="333333"/>
                </a:solidFill>
                <a:latin typeface="Calibri"/>
              </a:rPr>
              <a:t>Example 8.2 shows a modeling dataset that gains or modifies features during development</a:t>
            </a:r>
          </a:p>
          <a:p>
            <a:pPr>
              <a:spcAft>
                <a:spcPts val="1000"/>
              </a:spcAft>
              <a:buChar char="•"/>
              <a:lnSpc>
                <a:spcPts val="2200"/>
              </a:lnSpc>
            </a:pPr>
            <a:r>
              <a:rPr sz="2000" b="0">
                <a:solidFill>
                  <a:srgbClr val="333333"/>
                </a:solidFill>
                <a:latin typeface="Calibri"/>
              </a:rPr>
              <a:t>If a new feature later hurts model quality</a:t>
            </a:r>
          </a:p>
          <a:p>
            <a:pPr>
              <a:spcAft>
                <a:spcPts val="1000"/>
              </a:spcAft>
              <a:buChar char="•"/>
              <a:lnSpc>
                <a:spcPts val="2200"/>
              </a:lnSpc>
            </a:pPr>
            <a:r>
              <a:rPr sz="2000" b="0">
                <a:solidFill>
                  <a:srgbClr val="333333"/>
                </a:solidFill>
                <a:latin typeface="Calibri"/>
              </a:rPr>
              <a:t>Without that trail, feature drift is hard to diagnose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 — Clinical Dataset Change Tracking for Compliance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 — hands-on module</a:t>
            </a:r>
          </a:p>
          <a:p>
            <a:pPr>
              <a:spcAft>
                <a:spcPts val="1000"/>
              </a:spcAft>
              <a:buChar char="•"/>
              <a:lnSpc>
                <a:spcPts val="2200"/>
              </a:lnSpc>
            </a:pPr>
            <a:r>
              <a:rPr sz="2000" b="0">
                <a:solidFill>
                  <a:srgbClr val="333333"/>
                </a:solidFill>
                <a:latin typeface="Calibri"/>
              </a:rPr>
              <a:t>Example 8.3 highlights regulated clinical research</a:t>
            </a:r>
          </a:p>
          <a:p>
            <a:pPr>
              <a:spcAft>
                <a:spcPts val="1000"/>
              </a:spcAft>
              <a:buChar char="•"/>
              <a:lnSpc>
                <a:spcPts val="2200"/>
              </a:lnSpc>
            </a:pPr>
            <a:r>
              <a:rPr sz="2000" b="0">
                <a:solidFill>
                  <a:srgbClr val="333333"/>
                </a:solidFill>
                <a:latin typeface="Calibri"/>
              </a:rPr>
              <a:t>Accountability requires linking each modification to an author and a clear explanation</a:t>
            </a:r>
          </a:p>
          <a:p>
            <a:pPr>
              <a:spcAft>
                <a:spcPts val="1000"/>
              </a:spcAft>
              <a:buChar char="•"/>
              <a:lnSpc>
                <a:spcPts val="2200"/>
              </a:lnSpc>
            </a:pPr>
            <a:r>
              <a:rPr sz="2000" b="0">
                <a:solidFill>
                  <a:srgbClr val="333333"/>
                </a:solidFill>
                <a:latin typeface="Calibri"/>
              </a:rPr>
              <a:t>Version control therefore supports both scientific reproducibility and compliance evidence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Documentation turns raw observations into interpretable assets</a:t>
            </a:r>
          </a:p>
          <a:p>
            <a:pPr>
              <a:spcAft>
                <a:spcPts val="1000"/>
              </a:spcAft>
              <a:buChar char="•"/>
              <a:lnSpc>
                <a:spcPts val="2200"/>
              </a:lnSpc>
            </a:pPr>
            <a:r>
              <a:rPr sz="2000" b="0">
                <a:solidFill>
                  <a:srgbClr val="333333"/>
                </a:solidFill>
                <a:latin typeface="Calibri"/>
              </a:rPr>
              <a:t>Collaboration depends on shared context and merge-safe change tracking</a:t>
            </a:r>
          </a:p>
          <a:p>
            <a:pPr>
              <a:spcAft>
                <a:spcPts val="1000"/>
              </a:spcAft>
              <a:buChar char="•"/>
              <a:lnSpc>
                <a:spcPts val="2200"/>
              </a:lnSpc>
            </a:pPr>
            <a:r>
              <a:rPr sz="2000" b="0">
                <a:solidFill>
                  <a:srgbClr val="333333"/>
                </a:solidFill>
                <a:latin typeface="Calibri"/>
              </a:rPr>
              <a:t>Regulated domains add auditability requirements on top of everyday engineering needs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moves from why documentation matters to concrete components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By the end of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Documentation as a user manual</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Dataset documentation functions as a blueprint or user manual</a:t>
            </a:r>
          </a:p>
          <a:p>
            <a:pPr>
              <a:spcAft>
                <a:spcPts val="1000"/>
              </a:spcAft>
              <a:buChar char="•"/>
              <a:lnSpc>
                <a:spcPts val="2200"/>
              </a:lnSpc>
            </a:pPr>
            <a:r>
              <a:rPr sz="2000" b="0">
                <a:solidFill>
                  <a:srgbClr val="333333"/>
                </a:solidFill>
                <a:latin typeface="Calibri"/>
              </a:rPr>
              <a:t>It describes what the dataset represents, how it was collected or generated</a:t>
            </a:r>
          </a:p>
          <a:p>
            <a:pPr>
              <a:spcAft>
                <a:spcPts val="1000"/>
              </a:spcAft>
              <a:buChar char="•"/>
              <a:lnSpc>
                <a:spcPts val="2200"/>
              </a:lnSpc>
            </a:pPr>
            <a:r>
              <a:rPr sz="2000" b="0">
                <a:solidFill>
                  <a:srgbClr val="333333"/>
                </a:solidFill>
                <a:latin typeface="Calibri"/>
              </a:rPr>
              <a:t>Reducing misuse in collaborative settings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Core metadata fields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Metadata is data about data</a:t>
            </a:r>
          </a:p>
          <a:p>
            <a:pPr>
              <a:spcAft>
                <a:spcPts val="1000"/>
              </a:spcAft>
              <a:buChar char="•"/>
              <a:lnSpc>
                <a:spcPts val="2200"/>
              </a:lnSpc>
            </a:pPr>
            <a:r>
              <a:rPr sz="2000" b="0">
                <a:solidFill>
                  <a:srgbClr val="333333"/>
                </a:solidFill>
                <a:latin typeface="Calibri"/>
              </a:rPr>
              <a:t>Data sources for authenticity and quality assessment</a:t>
            </a:r>
          </a:p>
          <a:p>
            <a:pPr>
              <a:spcAft>
                <a:spcPts val="1000"/>
              </a:spcAft>
              <a:buChar char="•"/>
              <a:lnSpc>
                <a:spcPts val="2200"/>
              </a:lnSpc>
            </a:pPr>
            <a:r>
              <a:rPr sz="2000" b="0">
                <a:solidFill>
                  <a:srgbClr val="333333"/>
                </a:solidFill>
                <a:latin typeface="Calibri"/>
              </a:rPr>
              <a:t>Version information adds release numbers and change notes so users can track how the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8.5 — Air-Quality Metadata Fields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8.5 — hands-on module</a:t>
            </a:r>
          </a:p>
          <a:p>
            <a:pPr>
              <a:spcAft>
                <a:spcPts val="1000"/>
              </a:spcAft>
              <a:buChar char="•"/>
              <a:lnSpc>
                <a:spcPts val="2200"/>
              </a:lnSpc>
            </a:pPr>
            <a:r>
              <a:rPr sz="2000" b="0">
                <a:solidFill>
                  <a:srgbClr val="333333"/>
                </a:solidFill>
                <a:latin typeface="Calibri"/>
              </a:rPr>
              <a:t>Example 8.5 lists metadata for an air-quality monitoring corpus</a:t>
            </a:r>
          </a:p>
          <a:p>
            <a:pPr>
              <a:spcAft>
                <a:spcPts val="1000"/>
              </a:spcAft>
              <a:buChar char="•"/>
              <a:lnSpc>
                <a:spcPts val="2200"/>
              </a:lnSpc>
            </a:pPr>
            <a:r>
              <a:rPr sz="2000" b="0">
                <a:solidFill>
                  <a:srgbClr val="333333"/>
                </a:solidFill>
                <a:latin typeface="Calibri"/>
              </a:rPr>
              <a:t>Those fields tell a user whether the release fits a modeling or reporting task</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a data dictionary records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data dictionary explains each variable</a:t>
            </a:r>
          </a:p>
          <a:p>
            <a:pPr>
              <a:spcAft>
                <a:spcPts val="1000"/>
              </a:spcAft>
              <a:buChar char="•"/>
              <a:lnSpc>
                <a:spcPts val="2200"/>
              </a:lnSpc>
            </a:pPr>
            <a:r>
              <a:rPr sz="2000" b="0">
                <a:solidFill>
                  <a:srgbClr val="333333"/>
                </a:solidFill>
                <a:latin typeface="Calibri"/>
              </a:rPr>
              <a:t>Consistent entries prevent misinterpretation of columns and reduce errors when analysts</a:t>
            </a:r>
          </a:p>
          <a:p>
            <a:pPr>
              <a:spcAft>
                <a:spcPts val="1000"/>
              </a:spcAft>
              <a:buChar char="•"/>
              <a:lnSpc>
                <a:spcPts val="2200"/>
              </a:lnSpc>
            </a:pPr>
            <a:r>
              <a:rPr sz="2000" b="0">
                <a:solidFill>
                  <a:srgbClr val="333333"/>
                </a:solidFill>
                <a:latin typeface="Calibri"/>
              </a:rPr>
              <a:t>Completeness of the dictionary is as important as completeness of the data rows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8.6 — Age Variable Description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8.6 — hands-on module</a:t>
            </a:r>
          </a:p>
          <a:p>
            <a:pPr>
              <a:spcAft>
                <a:spcPts val="1000"/>
              </a:spcAft>
              <a:buChar char="•"/>
              <a:lnSpc>
                <a:spcPts val="2200"/>
              </a:lnSpc>
            </a:pPr>
            <a:r>
              <a:rPr sz="2000" b="0">
                <a:solidFill>
                  <a:srgbClr val="333333"/>
                </a:solidFill>
                <a:latin typeface="Calibri"/>
              </a:rPr>
              <a:t>Example 8.6 shows a concise dictionary description</a:t>
            </a:r>
          </a:p>
          <a:p>
            <a:pPr>
              <a:spcAft>
                <a:spcPts val="1000"/>
              </a:spcAft>
              <a:buChar char="•"/>
              <a:lnSpc>
                <a:spcPts val="2200"/>
              </a:lnSpc>
            </a:pPr>
            <a:r>
              <a:rPr sz="2000" b="0">
                <a:solidFill>
                  <a:srgbClr val="333333"/>
                </a:solidFill>
                <a:latin typeface="Calibri"/>
              </a:rPr>
              <a:t>Short, unambiguous phrasing beats vague labels that leave units or populations unspecified</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`modules/chapter8/example6/`</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8.8 — Purchase Amount Data-Dictionary Entry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8.8 — hands-on module</a:t>
            </a:r>
          </a:p>
          <a:p>
            <a:pPr>
              <a:spcAft>
                <a:spcPts val="1000"/>
              </a:spcAft>
              <a:buChar char="•"/>
              <a:lnSpc>
                <a:spcPts val="2200"/>
              </a:lnSpc>
            </a:pPr>
            <a:r>
              <a:rPr sz="2000" b="0">
                <a:solidFill>
                  <a:srgbClr val="333333"/>
                </a:solidFill>
                <a:latin typeface="Calibri"/>
              </a:rPr>
              <a:t>Example 8.8 records a structured entry for purchase amount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"Variable Name": "purchase_amount",</a:t>
            </a:r>
          </a:p>
          <a:p>
            <a:pPr>
              <a:lnSpc>
                <a:spcPts val="2200"/>
              </a:lnSpc>
              <a:spcAft>
                <a:spcPts val="400"/>
              </a:spcAft>
            </a:pPr>
            <a:r>
              <a:rPr sz="2000" b="0">
                <a:solidFill>
                  <a:srgbClr val="333333"/>
                </a:solidFill>
                <a:latin typeface="Consolas"/>
              </a:rPr>
              <a:t>    "Data Type": "float",</a:t>
            </a:r>
          </a:p>
          <a:p>
            <a:pPr>
              <a:lnSpc>
                <a:spcPts val="2200"/>
              </a:lnSpc>
              <a:spcAft>
                <a:spcPts val="400"/>
              </a:spcAft>
            </a:pPr>
            <a:r>
              <a:rPr sz="2000" b="0">
                <a:solidFill>
                  <a:srgbClr val="333333"/>
                </a:solidFill>
                <a:latin typeface="Consolas"/>
              </a:rPr>
              <a:t>    "Description": "Total amount spent by the customer in the month",</a:t>
            </a:r>
          </a:p>
          <a:p>
            <a:pPr>
              <a:lnSpc>
                <a:spcPts val="2200"/>
              </a:lnSpc>
              <a:spcAft>
                <a:spcPts val="400"/>
              </a:spcAft>
            </a:pPr>
            <a:r>
              <a:rPr sz="2000" b="0">
                <a:solidFill>
                  <a:srgbClr val="333333"/>
                </a:solidFill>
                <a:latin typeface="Consolas"/>
              </a:rPr>
              <a:t>    "Allowed Values": "Any positive number",</a:t>
            </a:r>
          </a:p>
          <a:p>
            <a:pPr>
              <a:lnSpc>
                <a:spcPts val="2200"/>
              </a:lnSpc>
              <a:spcAft>
                <a:spcPts val="400"/>
              </a:spcAft>
            </a:pPr>
            <a:r>
              <a:rPr sz="2000" b="0">
                <a:solidFill>
                  <a:srgbClr val="333333"/>
                </a:solidFill>
                <a:latin typeface="Consolas"/>
              </a:rPr>
              <a:t>    "Units": "USD"</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Metadata situates the whole dataset; the data dictionary situates each variable</a:t>
            </a:r>
          </a:p>
          <a:p>
            <a:pPr>
              <a:spcAft>
                <a:spcPts val="1000"/>
              </a:spcAft>
              <a:buChar char="•"/>
              <a:lnSpc>
                <a:spcPts val="2200"/>
              </a:lnSpc>
            </a:pPr>
            <a:r>
              <a:rPr sz="2000" b="0">
                <a:solidFill>
                  <a:srgbClr val="333333"/>
                </a:solidFill>
                <a:latin typeface="Calibri"/>
              </a:rPr>
              <a:t>Creators, dates, sources, and versions answer who and when</a:t>
            </a:r>
          </a:p>
          <a:p>
            <a:pPr>
              <a:spcAft>
                <a:spcPts val="1000"/>
              </a:spcAft>
              <a:buChar char="•"/>
              <a:lnSpc>
                <a:spcPts val="2200"/>
              </a:lnSpc>
            </a:pPr>
            <a:r>
              <a:rPr sz="2000" b="0">
                <a:solidFill>
                  <a:srgbClr val="333333"/>
                </a:solidFill>
                <a:latin typeface="Calibri"/>
              </a:rPr>
              <a:t>Structured dictionary entries reduce ambiguity for both humans and automated consumers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Annotations that capture sampling limits and known faults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Write annotation notes that expose sampling limits or known data-quality issues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Codebooks for encoded categories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codebook maps numeric or abbreviated codes to full categorical meanings</a:t>
            </a:r>
          </a:p>
          <a:p>
            <a:pPr>
              <a:spcAft>
                <a:spcPts val="1000"/>
              </a:spcAft>
              <a:buChar char="•"/>
              <a:lnSpc>
                <a:spcPts val="2200"/>
              </a:lnSpc>
            </a:pPr>
            <a:r>
              <a:rPr sz="2000" b="0">
                <a:solidFill>
                  <a:srgbClr val="333333"/>
                </a:solidFill>
                <a:latin typeface="Calibri"/>
              </a:rPr>
              <a:t>Healthcare, government</a:t>
            </a:r>
          </a:p>
          <a:p>
            <a:pPr>
              <a:spcAft>
                <a:spcPts val="1000"/>
              </a:spcAft>
              <a:buChar char="•"/>
              <a:lnSpc>
                <a:spcPts val="2200"/>
              </a:lnSpc>
            </a:pPr>
            <a:r>
              <a:rPr sz="2000" b="0">
                <a:solidFill>
                  <a:srgbClr val="333333"/>
                </a:solidFill>
                <a:latin typeface="Calibri"/>
              </a:rPr>
              <a:t>Without a codebook, those codes are opaque and analyses risk silent mislabeling of classes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8.9 — Medical Condition Codebook</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8.9 — hands-on module</a:t>
            </a:r>
          </a:p>
          <a:p>
            <a:pPr>
              <a:spcAft>
                <a:spcPts val="1000"/>
              </a:spcAft>
              <a:buChar char="•"/>
              <a:lnSpc>
                <a:spcPts val="2200"/>
              </a:lnSpc>
            </a:pPr>
            <a:r>
              <a:rPr sz="2000" b="0">
                <a:solidFill>
                  <a:srgbClr val="333333"/>
                </a:solidFill>
                <a:latin typeface="Calibri"/>
              </a:rPr>
              <a:t>Example 8.9 maps disease codes to readable names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Code,Disease Name</a:t>
            </a:r>
          </a:p>
          <a:p>
            <a:pPr>
              <a:lnSpc>
                <a:spcPts val="2200"/>
              </a:lnSpc>
              <a:spcAft>
                <a:spcPts val="400"/>
              </a:spcAft>
            </a:pPr>
            <a:r>
              <a:rPr sz="2000" b="0">
                <a:solidFill>
                  <a:srgbClr val="333333"/>
                </a:solidFill>
                <a:latin typeface="Consolas"/>
              </a:rPr>
              <a:t>1,Hypertension</a:t>
            </a:r>
          </a:p>
          <a:p>
            <a:pPr>
              <a:lnSpc>
                <a:spcPts val="2200"/>
              </a:lnSpc>
              <a:spcAft>
                <a:spcPts val="400"/>
              </a:spcAft>
            </a:pPr>
            <a:r>
              <a:rPr sz="2000" b="0">
                <a:solidFill>
                  <a:srgbClr val="333333"/>
                </a:solidFill>
                <a:latin typeface="Consolas"/>
              </a:rPr>
              <a:t>2,Diabetes</a:t>
            </a:r>
          </a:p>
          <a:p>
            <a:pPr>
              <a:lnSpc>
                <a:spcPts val="2200"/>
              </a:lnSpc>
              <a:spcAft>
                <a:spcPts val="400"/>
              </a:spcAft>
            </a:pPr>
            <a:r>
              <a:rPr sz="2000" b="0">
                <a:solidFill>
                  <a:srgbClr val="333333"/>
                </a:solidFill>
                <a:latin typeface="Consolas"/>
              </a:rPr>
              <a:t>3,Asthma</a:t>
            </a:r>
          </a:p>
          <a:p>
            <a:pPr>
              <a:lnSpc>
                <a:spcPts val="2200"/>
              </a:lnSpc>
              <a:spcAft>
                <a:spcPts val="400"/>
              </a:spcAft>
            </a:pPr>
            <a:r>
              <a:rPr sz="2000" b="0">
                <a:solidFill>
                  <a:srgbClr val="333333"/>
                </a:solidFill>
                <a:latin typeface="Consolas"/>
              </a:rPr>
              <a:t>4,Chronic Obstructive Pulmonary Disease (COPD)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Provenance as data lineage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Also called data lineage, records where data came from and what operations followed</a:t>
            </a:r>
          </a:p>
          <a:p>
            <a:pPr>
              <a:spcAft>
                <a:spcPts val="1000"/>
              </a:spcAft>
              <a:buChar char="•"/>
              <a:lnSpc>
                <a:spcPts val="2200"/>
              </a:lnSpc>
            </a:pPr>
            <a:r>
              <a:rPr sz="2000" b="0">
                <a:solidFill>
                  <a:srgbClr val="333333"/>
                </a:solidFill>
                <a:latin typeface="Calibri"/>
              </a:rPr>
              <a:t>Links to other datasets that were merged or joined</a:t>
            </a:r>
          </a:p>
          <a:p>
            <a:pPr>
              <a:spcAft>
                <a:spcPts val="1000"/>
              </a:spcAft>
              <a:buChar char="•"/>
              <a:lnSpc>
                <a:spcPts val="2200"/>
              </a:lnSpc>
            </a:pPr>
            <a:r>
              <a:rPr sz="2000" b="0">
                <a:solidFill>
                  <a:srgbClr val="333333"/>
                </a:solidFill>
                <a:latin typeface="Calibri"/>
              </a:rPr>
              <a:t>Provenance supports integrity checks and explains how validity may have changed</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8.10 — Retail Transaction Provenance Trail</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8.10 — hands-on module</a:t>
            </a:r>
          </a:p>
          <a:p>
            <a:pPr>
              <a:spcAft>
                <a:spcPts val="1000"/>
              </a:spcAft>
              <a:buChar char="•"/>
              <a:lnSpc>
                <a:spcPts val="2200"/>
              </a:lnSpc>
            </a:pPr>
            <a:r>
              <a:rPr sz="2000" b="0">
                <a:solidFill>
                  <a:srgbClr val="333333"/>
                </a:solidFill>
                <a:latin typeface="Calibri"/>
              </a:rPr>
              <a:t>Example 8.10 summarizes a retail trail</a:t>
            </a:r>
          </a:p>
          <a:p>
            <a:pPr>
              <a:spcAft>
                <a:spcPts val="1000"/>
              </a:spcAft>
              <a:buChar char="•"/>
              <a:lnSpc>
                <a:spcPts val="2200"/>
              </a:lnSpc>
            </a:pPr>
            <a:r>
              <a:rPr sz="2000" b="0">
                <a:solidFill>
                  <a:srgbClr val="333333"/>
                </a:solidFill>
                <a:latin typeface="Calibri"/>
              </a:rPr>
              <a:t>That short narrative lets auditors reconstruct the processing path</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`modules/chapter8/example10/`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Annotations and qualitative notes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Annotations capture context that structured metadata cannot easily hold</a:t>
            </a:r>
          </a:p>
          <a:p>
            <a:pPr>
              <a:spcAft>
                <a:spcPts val="1000"/>
              </a:spcAft>
              <a:buChar char="•"/>
              <a:lnSpc>
                <a:spcPts val="2200"/>
              </a:lnSpc>
            </a:pPr>
            <a:r>
              <a:rPr sz="2000" b="0">
                <a:solidFill>
                  <a:srgbClr val="333333"/>
                </a:solidFill>
                <a:latin typeface="Calibri"/>
              </a:rPr>
              <a:t>They warn users about sampling bias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8.11 — Urban-Only Sampling Note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8.11 — hands-on module</a:t>
            </a:r>
          </a:p>
          <a:p>
            <a:pPr>
              <a:spcAft>
                <a:spcPts val="1000"/>
              </a:spcAft>
              <a:buChar char="•"/>
              <a:lnSpc>
                <a:spcPts val="2200"/>
              </a:lnSpc>
            </a:pPr>
            <a:r>
              <a:rPr sz="2000" b="0">
                <a:solidFill>
                  <a:srgbClr val="333333"/>
                </a:solidFill>
                <a:latin typeface="Calibri"/>
              </a:rPr>
              <a:t>Example 8.11 records a critical sampling limit</a:t>
            </a:r>
          </a:p>
          <a:p>
            <a:pPr>
              <a:spcAft>
                <a:spcPts val="1000"/>
              </a:spcAft>
              <a:buChar char="•"/>
              <a:lnSpc>
                <a:spcPts val="2200"/>
              </a:lnSpc>
            </a:pPr>
            <a:r>
              <a:rPr sz="2000" b="0">
                <a:solidFill>
                  <a:srgbClr val="333333"/>
                </a:solidFill>
                <a:latin typeface="Calibri"/>
              </a:rPr>
              <a:t>Without that note, downstream users might treat results as nationally generalizable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`modules/chapter8/example11/`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Codebooks unlock encoded categories</a:t>
            </a:r>
          </a:p>
          <a:p>
            <a:pPr>
              <a:spcAft>
                <a:spcPts val="1000"/>
              </a:spcAft>
              <a:buChar char="•"/>
              <a:lnSpc>
                <a:spcPts val="2200"/>
              </a:lnSpc>
            </a:pPr>
            <a:r>
              <a:rPr sz="2000" b="0">
                <a:solidFill>
                  <a:srgbClr val="333333"/>
                </a:solidFill>
                <a:latin typeface="Calibri"/>
              </a:rPr>
              <a:t>Together with metadata and dictionaries from the previous part</a:t>
            </a:r>
          </a:p>
          <a:p>
            <a:pPr>
              <a:spcAft>
                <a:spcPts val="1000"/>
              </a:spcAft>
              <a:buChar char="•"/>
              <a:lnSpc>
                <a:spcPts val="2200"/>
              </a:lnSpc>
            </a:pPr>
            <a:r>
              <a:rPr sz="2000" b="0">
                <a:solidFill>
                  <a:srgbClr val="333333"/>
                </a:solidFill>
                <a:latin typeface="Calibri"/>
              </a:rPr>
              <a:t>Omissions in any layer create silent failure modes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turns components into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Recognize a compact multi-section documentation template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 four-move documentation workflow</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Effective documentation is iterative across the dataset lifecycle</a:t>
            </a:r>
          </a:p>
          <a:p>
            <a:pPr>
              <a:spcAft>
                <a:spcPts val="1000"/>
              </a:spcAft>
              <a:buChar char="•"/>
              <a:lnSpc>
                <a:spcPts val="2200"/>
              </a:lnSpc>
            </a:pPr>
            <a:r>
              <a:rPr sz="2000" b="0">
                <a:solidFill>
                  <a:srgbClr val="333333"/>
                </a:solidFill>
                <a:latin typeface="Calibri"/>
              </a:rPr>
              <a:t>Four moves organize the work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8.13 — Documentation Depth by Intended Use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8.13 — hands-on module</a:t>
            </a:r>
          </a:p>
          <a:p>
            <a:pPr>
              <a:spcAft>
                <a:spcPts val="1000"/>
              </a:spcAft>
              <a:buChar char="•"/>
              <a:lnSpc>
                <a:spcPts val="2200"/>
              </a:lnSpc>
            </a:pPr>
            <a:r>
              <a:rPr sz="2000" b="0">
                <a:solidFill>
                  <a:srgbClr val="333333"/>
                </a:solidFill>
                <a:latin typeface="Calibri"/>
              </a:rPr>
              <a:t>Example 8.13 contrasts depth for machine learning training versus exploratory analysis</a:t>
            </a:r>
          </a:p>
          <a:p>
            <a:pPr>
              <a:spcAft>
                <a:spcPts val="1000"/>
              </a:spcAft>
              <a:buChar char="•"/>
              <a:lnSpc>
                <a:spcPts val="2200"/>
              </a:lnSpc>
            </a:pPr>
            <a:r>
              <a:rPr sz="2000" b="0">
                <a:solidFill>
                  <a:srgbClr val="333333"/>
                </a:solidFill>
                <a:latin typeface="Calibri"/>
              </a:rPr>
              <a:t>Training releases typically need richer preprocessing, label, and split notes</a:t>
            </a:r>
          </a:p>
          <a:p>
            <a:pPr>
              <a:spcAft>
                <a:spcPts val="1000"/>
              </a:spcAft>
              <a:buChar char="•"/>
              <a:lnSpc>
                <a:spcPts val="2200"/>
              </a:lnSpc>
            </a:pPr>
            <a:r>
              <a:rPr sz="2000" b="0">
                <a:solidFill>
                  <a:srgbClr val="333333"/>
                </a:solidFill>
                <a:latin typeface="Calibri"/>
              </a:rPr>
              <a:t>Purpose decisions drive how much detail each component receives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`modules/chapter8/example13/`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Markdown and everyday formats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For smaller projects, Markdown or plain text is easy to create, share</a:t>
            </a:r>
          </a:p>
          <a:p>
            <a:pPr>
              <a:spcAft>
                <a:spcPts val="1000"/>
              </a:spcAft>
              <a:buChar char="•"/>
              <a:lnSpc>
                <a:spcPts val="2200"/>
              </a:lnSpc>
            </a:pPr>
            <a:r>
              <a:rPr sz="2000" b="0">
                <a:solidFill>
                  <a:srgbClr val="333333"/>
                </a:solidFill>
                <a:latin typeface="Calibri"/>
              </a:rPr>
              <a:t>Spreadsheets and templates help standardize metadata tables across many datasets</a:t>
            </a:r>
          </a:p>
          <a:p>
            <a:pPr>
              <a:spcAft>
                <a:spcPts val="1000"/>
              </a:spcAft>
              <a:buChar char="•"/>
              <a:lnSpc>
                <a:spcPts val="2200"/>
              </a:lnSpc>
            </a:pPr>
            <a:r>
              <a:rPr sz="2000" b="0">
                <a:solidFill>
                  <a:srgbClr val="333333"/>
                </a:solidFill>
                <a:latin typeface="Calibri"/>
              </a:rPr>
              <a:t>Larger programs may add automated metadata generation from tools that already track</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8.15 — Markdown Documentation Outline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8.15 — hands-on module</a:t>
            </a:r>
          </a:p>
          <a:p>
            <a:pPr>
              <a:spcAft>
                <a:spcPts val="1000"/>
              </a:spcAft>
              <a:buChar char="•"/>
              <a:lnSpc>
                <a:spcPts val="2200"/>
              </a:lnSpc>
            </a:pPr>
            <a:r>
              <a:rPr sz="2000" b="0">
                <a:solidFill>
                  <a:srgbClr val="333333"/>
                </a:solidFill>
                <a:latin typeface="Calibri"/>
              </a:rPr>
              <a:t>Example 8.15 sketches a Markdown layout with overview, table of contents, data dictionary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`modules/chapter8/example15/`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Structured formats and FAIR principles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Structured metadata such as JSON-LD</a:t>
            </a:r>
          </a:p>
          <a:p>
            <a:pPr>
              <a:spcAft>
                <a:spcPts val="1000"/>
              </a:spcAft>
              <a:buChar char="•"/>
              <a:lnSpc>
                <a:spcPts val="2200"/>
              </a:lnSpc>
            </a:pPr>
            <a:r>
              <a:rPr sz="2000" b="0">
                <a:solidFill>
                  <a:srgbClr val="333333"/>
                </a:solidFill>
                <a:latin typeface="Calibri"/>
              </a:rPr>
              <a:t>Reusable with sufficient methodology, limitations, and licensing detail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8.19 — Retail Transaction Documentation Template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8.19 — hands-on module</a:t>
            </a:r>
          </a:p>
          <a:p>
            <a:pPr>
              <a:spcAft>
                <a:spcPts val="1000"/>
              </a:spcAft>
              <a:buChar char="•"/>
              <a:lnSpc>
                <a:spcPts val="2200"/>
              </a:lnSpc>
            </a:pPr>
            <a:r>
              <a:rPr sz="2000" b="0">
                <a:solidFill>
                  <a:srgbClr val="333333"/>
                </a:solidFill>
                <a:latin typeface="Calibri"/>
              </a:rPr>
              <a:t>Example 8.19 assembles a compact template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`modules/chapter8/example19/`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Common documentation challenges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Weak organizational buy-in</a:t>
            </a:r>
          </a:p>
          <a:p>
            <a:pPr>
              <a:spcAft>
                <a:spcPts val="1000"/>
              </a:spcAft>
              <a:buChar char="•"/>
              <a:lnSpc>
                <a:spcPts val="2200"/>
              </a:lnSpc>
            </a:pPr>
            <a:r>
              <a:rPr sz="2000" b="0">
                <a:solidFill>
                  <a:srgbClr val="333333"/>
                </a:solidFill>
                <a:latin typeface="Calibri"/>
              </a:rPr>
              <a:t>Treating documentation as a release gate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Documentation depth follows intended use</a:t>
            </a:r>
          </a:p>
          <a:p>
            <a:pPr>
              <a:spcAft>
                <a:spcPts val="1000"/>
              </a:spcAft>
              <a:buChar char="•"/>
              <a:lnSpc>
                <a:spcPts val="2200"/>
              </a:lnSpc>
            </a:pPr>
            <a:r>
              <a:rPr sz="2000" b="0">
                <a:solidFill>
                  <a:srgbClr val="333333"/>
                </a:solidFill>
                <a:latin typeface="Calibri"/>
              </a:rPr>
              <a:t>Maintainable formats range from Markdown to structured Schema.org-style metadata</a:t>
            </a:r>
          </a:p>
          <a:p>
            <a:pPr>
              <a:spcAft>
                <a:spcPts val="1000"/>
              </a:spcAft>
              <a:buChar char="•"/>
              <a:lnSpc>
                <a:spcPts val="2200"/>
              </a:lnSpc>
            </a:pPr>
            <a:r>
              <a:rPr sz="2000" b="0">
                <a:solidFill>
                  <a:srgbClr val="333333"/>
                </a:solidFill>
                <a:latin typeface="Calibri"/>
              </a:rPr>
              <a:t>FAIR criteria turn completeness into discoverability and reuse</a:t>
            </a:r>
          </a:p>
          <a:p>
            <a:pPr>
              <a:spcAft>
                <a:spcPts val="1000"/>
              </a:spcAft>
              <a:buChar char="•"/>
              <a:lnSpc>
                <a:spcPts val="2200"/>
              </a:lnSpc>
            </a:pPr>
            <a:r>
              <a:rPr sz="2000" b="0">
                <a:solidFill>
                  <a:srgbClr val="333333"/>
                </a:solidFill>
                <a:latin typeface="Calibri"/>
              </a:rPr>
              <a:t>Templates like the retail example show how overview, dictionary, provenance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Documentation freezes meaning at a point in time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Describe how DVC tracks large datasets stored outside Git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What dataset version control provides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Dataset version control tracks and manages evolving releases so changes from cleaning</a:t>
            </a:r>
          </a:p>
          <a:p>
            <a:pPr>
              <a:spcAft>
                <a:spcPts val="1000"/>
              </a:spcAft>
              <a:buChar char="•"/>
              <a:lnSpc>
                <a:spcPts val="2200"/>
              </a:lnSpc>
            </a:pPr>
            <a:r>
              <a:rPr sz="2000" b="0">
                <a:solidFill>
                  <a:srgbClr val="333333"/>
                </a:solidFill>
                <a:latin typeface="Calibri"/>
              </a:rPr>
              <a:t>Collaborating without silent overwrites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Traditional versus automated approaches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Traditional practice relies on manual names such as versioned filenames or dated folders</a:t>
            </a:r>
          </a:p>
          <a:p>
            <a:pPr>
              <a:spcAft>
                <a:spcPts val="1000"/>
              </a:spcAft>
              <a:buChar char="•"/>
              <a:lnSpc>
                <a:spcPts val="2200"/>
              </a:lnSpc>
            </a:pPr>
            <a:r>
              <a:rPr sz="2000" b="0">
                <a:solidFill>
                  <a:srgbClr val="333333"/>
                </a:solidFill>
                <a:latin typeface="Calibri"/>
              </a:rPr>
              <a:t>It is simple for tiny projects but lacks granularity, automation, and reliable history</a:t>
            </a:r>
          </a:p>
          <a:p>
            <a:pPr>
              <a:spcAft>
                <a:spcPts val="1000"/>
              </a:spcAft>
              <a:buChar char="•"/>
              <a:lnSpc>
                <a:spcPts val="2200"/>
              </a:lnSpc>
            </a:pPr>
            <a:r>
              <a:rPr sz="2000" b="0">
                <a:solidFill>
                  <a:srgbClr val="333333"/>
                </a:solidFill>
                <a:latin typeface="Calibri"/>
              </a:rPr>
              <a:t>Scale better for frequent updates and multi-user work, at the cost of a learning curve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Git for small, text-like datasets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Git is a distributed system designed for source code</a:t>
            </a:r>
          </a:p>
          <a:p>
            <a:pPr>
              <a:spcAft>
                <a:spcPts val="1000"/>
              </a:spcAft>
              <a:buChar char="•"/>
              <a:lnSpc>
                <a:spcPts val="2200"/>
              </a:lnSpc>
            </a:pPr>
            <a:r>
              <a:rPr sz="2000" b="0">
                <a:solidFill>
                  <a:srgbClr val="333333"/>
                </a:solidFill>
                <a:latin typeface="Calibri"/>
              </a:rPr>
              <a:t>Combined with careful file choices</a:t>
            </a:r>
          </a:p>
          <a:p>
            <a:pPr>
              <a:spcAft>
                <a:spcPts val="1000"/>
              </a:spcAft>
              <a:buChar char="•"/>
              <a:lnSpc>
                <a:spcPts val="2200"/>
              </a:lnSpc>
            </a:pPr>
            <a:r>
              <a:rPr sz="2000" b="0">
                <a:solidFill>
                  <a:srgbClr val="333333"/>
                </a:solidFill>
                <a:latin typeface="Calibri"/>
              </a:rPr>
              <a:t>Each update becomes a commit with an author and message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8.20 — CSV Dataset Commits in Git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8.20 — hands-on module</a:t>
            </a:r>
          </a:p>
          <a:p>
            <a:pPr>
              <a:spcAft>
                <a:spcPts val="1000"/>
              </a:spcAft>
              <a:buChar char="•"/>
              <a:lnSpc>
                <a:spcPts val="2200"/>
              </a:lnSpc>
            </a:pPr>
            <a:r>
              <a:rPr sz="2000" b="0">
                <a:solidFill>
                  <a:srgbClr val="333333"/>
                </a:solidFill>
                <a:latin typeface="Calibri"/>
              </a:rPr>
              <a:t>Example 8.20 stores a CSV dataset in a Git repository and creates a new commit whenever</a:t>
            </a:r>
          </a:p>
          <a:p>
            <a:pPr>
              <a:spcAft>
                <a:spcPts val="1000"/>
              </a:spcAft>
              <a:buChar char="•"/>
              <a:lnSpc>
                <a:spcPts val="2200"/>
              </a:lnSpc>
            </a:pPr>
            <a:r>
              <a:rPr sz="2000" b="0">
                <a:solidFill>
                  <a:srgbClr val="333333"/>
                </a:solidFill>
                <a:latin typeface="Calibri"/>
              </a:rPr>
              <a:t>That pattern works when files stay modest in size and change alongside analysis code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DVC for large remote-backed 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DVC extends Git-centered workflows for large datasets and models</a:t>
            </a:r>
          </a:p>
          <a:p>
            <a:pPr>
              <a:spcAft>
                <a:spcPts val="1000"/>
              </a:spcAft>
              <a:buChar char="•"/>
              <a:lnSpc>
                <a:spcPts val="2200"/>
              </a:lnSpc>
            </a:pPr>
            <a:r>
              <a:rPr sz="2000" b="0">
                <a:solidFill>
                  <a:srgbClr val="333333"/>
                </a:solidFill>
                <a:latin typeface="Calibri"/>
              </a:rPr>
              <a:t>Data files live in local or cloud storage while lightweight references remain in the</a:t>
            </a:r>
          </a:p>
          <a:p>
            <a:pPr>
              <a:spcAft>
                <a:spcPts val="1000"/>
              </a:spcAft>
              <a:buChar char="•"/>
              <a:lnSpc>
                <a:spcPts val="2200"/>
              </a:lnSpc>
            </a:pPr>
            <a:r>
              <a:rPr sz="2000" b="0">
                <a:solidFill>
                  <a:srgbClr val="333333"/>
                </a:solidFill>
                <a:latin typeface="Calibri"/>
              </a:rPr>
              <a:t>Collaborators can pull a specific dataset version so training and analysis use the same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8.21 — DVC Tracking of Cloud-Stored Datasets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8.21 — hands-on module</a:t>
            </a:r>
          </a:p>
          <a:p>
            <a:pPr>
              <a:spcAft>
                <a:spcPts val="1000"/>
              </a:spcAft>
              <a:buChar char="•"/>
              <a:lnSpc>
                <a:spcPts val="2200"/>
              </a:lnSpc>
            </a:pPr>
            <a:r>
              <a:rPr sz="2000" b="0">
                <a:solidFill>
                  <a:srgbClr val="333333"/>
                </a:solidFill>
                <a:latin typeface="Calibri"/>
              </a:rPr>
              <a:t>Example 8.21 places a large corpus in cloud object storage while DVC tracks versions</a:t>
            </a:r>
          </a:p>
          <a:p>
            <a:pPr>
              <a:spcAft>
                <a:spcPts val="1000"/>
              </a:spcAft>
              <a:buChar char="•"/>
              <a:lnSpc>
                <a:spcPts val="2200"/>
              </a:lnSpc>
            </a:pPr>
            <a:r>
              <a:rPr sz="2000" b="0">
                <a:solidFill>
                  <a:srgbClr val="333333"/>
                </a:solidFill>
                <a:latin typeface="Calibri"/>
              </a:rPr>
              <a:t>Analysts keep history and collaboration benefits without stuffing binaries into Git itself</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Version control preserves change history for datasets, not only for code</a:t>
            </a:r>
          </a:p>
          <a:p>
            <a:pPr>
              <a:spcAft>
                <a:spcPts val="1000"/>
              </a:spcAft>
              <a:buChar char="•"/>
              <a:lnSpc>
                <a:spcPts val="2200"/>
              </a:lnSpc>
            </a:pPr>
            <a:r>
              <a:rPr sz="2000" b="0">
                <a:solidFill>
                  <a:srgbClr val="333333"/>
                </a:solidFill>
                <a:latin typeface="Calibri"/>
              </a:rPr>
              <a:t>Manual folder naming does not scale; automated tools do, with some training cost</a:t>
            </a:r>
          </a:p>
          <a:p>
            <a:pPr>
              <a:spcAft>
                <a:spcPts val="1000"/>
              </a:spcAft>
              <a:buChar char="•"/>
              <a:lnSpc>
                <a:spcPts val="2200"/>
              </a:lnSpc>
            </a:pPr>
            <a:r>
              <a:rPr sz="2000" b="0">
                <a:solidFill>
                  <a:srgbClr val="333333"/>
                </a:solidFill>
                <a:latin typeface="Calibri"/>
              </a:rPr>
              <a:t>Git fits small text-like tables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Shows when Git LFS is the right layer for large training artifacts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Choose among tools using size, collaboration, and metadata needs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Choosing among versioning tools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Practical choice depends on file size, collaboration model, metadata depth</a:t>
            </a:r>
          </a:p>
          <a:p>
            <a:pPr>
              <a:spcAft>
                <a:spcPts val="1000"/>
              </a:spcAft>
              <a:buChar char="•"/>
              <a:lnSpc>
                <a:spcPts val="2200"/>
              </a:lnSpc>
            </a:pPr>
            <a:r>
              <a:rPr sz="2000" b="0">
                <a:solidFill>
                  <a:srgbClr val="333333"/>
                </a:solidFill>
                <a:latin typeface="Calibri"/>
              </a:rPr>
              <a:t>Git suits small text-like assets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8.22 — Quilt for Genomic Dataset Versions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8.22 — hands-on module</a:t>
            </a:r>
          </a:p>
          <a:p>
            <a:pPr>
              <a:spcAft>
                <a:spcPts val="1000"/>
              </a:spcAft>
              <a:buChar char="•"/>
              <a:lnSpc>
                <a:spcPts val="2200"/>
              </a:lnSpc>
            </a:pPr>
            <a:r>
              <a:rPr sz="2000" b="0">
                <a:solidFill>
                  <a:srgbClr val="333333"/>
                </a:solidFill>
                <a:latin typeface="Calibri"/>
              </a:rPr>
              <a:t>Select the correct release for each analysis</a:t>
            </a:r>
          </a:p>
          <a:p>
            <a:pPr>
              <a:spcAft>
                <a:spcPts val="1000"/>
              </a:spcAft>
              <a:buChar char="•"/>
              <a:lnSpc>
                <a:spcPts val="2200"/>
              </a:lnSpc>
            </a:pPr>
            <a:r>
              <a:rPr sz="2000" b="0">
                <a:solidFill>
                  <a:srgbClr val="333333"/>
                </a:solidFill>
                <a:latin typeface="Calibri"/>
              </a:rPr>
              <a:t>Package-style sharing helps distributed collaborators avoid informal file copies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8.23 — DataHub for Real-Time Feed Versions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8.23 — hands-on module</a:t>
            </a:r>
          </a:p>
          <a:p>
            <a:pPr>
              <a:spcAft>
                <a:spcPts val="1000"/>
              </a:spcAft>
              <a:buChar char="•"/>
              <a:lnSpc>
                <a:spcPts val="2200"/>
              </a:lnSpc>
            </a:pPr>
            <a:r>
              <a:rPr sz="2000" b="0">
                <a:solidFill>
                  <a:srgbClr val="333333"/>
                </a:solidFill>
                <a:latin typeface="Calibri"/>
              </a:rPr>
              <a:t>Example 8.23 shows a data engineering team using DataHub to track evolving real-time feeds</a:t>
            </a:r>
          </a:p>
          <a:p>
            <a:pPr>
              <a:spcAft>
                <a:spcPts val="1000"/>
              </a:spcAft>
              <a:buChar char="•"/>
              <a:lnSpc>
                <a:spcPts val="2200"/>
              </a:lnSpc>
            </a:pPr>
            <a:r>
              <a:rPr sz="2000" b="0">
                <a:solidFill>
                  <a:srgbClr val="333333"/>
                </a:solidFill>
                <a:latin typeface="Calibri"/>
              </a:rPr>
              <a:t>Catalog and lineage features matter when many producers and consumers share enterprise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Git LFS for large binaries beside Git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Git Large File Storage stores heavy binaries outside the main repository while keeping</a:t>
            </a:r>
          </a:p>
          <a:p>
            <a:pPr>
              <a:spcAft>
                <a:spcPts val="1000"/>
              </a:spcAft>
              <a:buChar char="•"/>
              <a:lnSpc>
                <a:spcPts val="2200"/>
              </a:lnSpc>
            </a:pPr>
            <a:r>
              <a:rPr sz="2000" b="0">
                <a:solidFill>
                  <a:srgbClr val="333333"/>
                </a:solidFill>
                <a:latin typeface="Calibri"/>
              </a:rPr>
              <a:t>It is a strong fit when models or datasets must version with code but would bloat an</a:t>
            </a:r>
          </a:p>
          <a:p>
            <a:pPr>
              <a:spcAft>
                <a:spcPts val="1000"/>
              </a:spcAft>
              <a:buChar char="•"/>
              <a:lnSpc>
                <a:spcPts val="2200"/>
              </a:lnSpc>
            </a:pPr>
            <a:r>
              <a:rPr sz="2000" b="0">
                <a:solidFill>
                  <a:srgbClr val="333333"/>
                </a:solidFill>
                <a:latin typeface="Calibri"/>
              </a:rPr>
              <a:t>It tracks files rather than full data pipelines or rich dataset catalogs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8.24 — Git LFS for Large Training Artifacts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8.24 — hands-on module</a:t>
            </a:r>
          </a:p>
          <a:p>
            <a:pPr>
              <a:spcAft>
                <a:spcPts val="1000"/>
              </a:spcAft>
              <a:buChar char="•"/>
              <a:lnSpc>
                <a:spcPts val="2200"/>
              </a:lnSpc>
            </a:pPr>
            <a:r>
              <a:rPr sz="2000" b="0">
                <a:solidFill>
                  <a:srgbClr val="333333"/>
                </a:solidFill>
                <a:latin typeface="Calibri"/>
              </a:rPr>
              <a:t>Example 8.24 applies Git LFS when training datasets and model files exceed ordinary Git</a:t>
            </a:r>
          </a:p>
          <a:p>
            <a:pPr>
              <a:spcAft>
                <a:spcPts val="1000"/>
              </a:spcAft>
              <a:buChar char="•"/>
              <a:lnSpc>
                <a:spcPts val="2200"/>
              </a:lnSpc>
            </a:pPr>
            <a:r>
              <a:rPr sz="2000" b="0">
                <a:solidFill>
                  <a:srgbClr val="333333"/>
                </a:solidFill>
                <a:latin typeface="Calibri"/>
              </a:rPr>
              <a:t>Pointers stay in Git while content lives in LFS storage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Matching tool to job</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Prefer Quilt when teams need browsable package catalogs</a:t>
            </a:r>
          </a:p>
          <a:p>
            <a:pPr>
              <a:spcAft>
                <a:spcPts val="1000"/>
              </a:spcAft>
              <a:buChar char="•"/>
              <a:lnSpc>
                <a:spcPts val="2200"/>
              </a:lnSpc>
            </a:pPr>
            <a:r>
              <a:rPr sz="2000" b="0">
                <a:solidFill>
                  <a:srgbClr val="333333"/>
                </a:solidFill>
                <a:latin typeface="Calibri"/>
              </a:rPr>
              <a:t>Many organizations combine tools rather than forcing one system to do every job</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Tool choice follows workload shape</a:t>
            </a:r>
          </a:p>
          <a:p>
            <a:pPr>
              <a:spcAft>
                <a:spcPts val="1000"/>
              </a:spcAft>
              <a:buChar char="•"/>
              <a:lnSpc>
                <a:spcPts val="2200"/>
              </a:lnSpc>
            </a:pPr>
            <a:r>
              <a:rPr sz="2000" b="0">
                <a:solidFill>
                  <a:srgbClr val="333333"/>
                </a:solidFill>
                <a:latin typeface="Calibri"/>
              </a:rPr>
              <a:t>Quilt and DataHub strengthen sharing and discovery</a:t>
            </a:r>
          </a:p>
          <a:p>
            <a:pPr>
              <a:spcAft>
                <a:spcPts val="1000"/>
              </a:spcAft>
              <a:buChar char="•"/>
              <a:lnSpc>
                <a:spcPts val="2200"/>
              </a:lnSpc>
            </a:pPr>
            <a:r>
              <a:rPr sz="2000" b="0">
                <a:solidFill>
                  <a:srgbClr val="333333"/>
                </a:solidFill>
                <a:latin typeface="Calibri"/>
              </a:rPr>
              <a:t>Misalignment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makes tool choice operational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Outline a live DVC workflow from init through pull for collaborators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DVC inside machine learning workflows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Encodes transformation and training steps so experiments remain reproducible</a:t>
            </a:r>
          </a:p>
          <a:p>
            <a:pPr>
              <a:spcAft>
                <a:spcPts val="1000"/>
              </a:spcAft>
              <a:buChar char="•"/>
              <a:lnSpc>
                <a:spcPts val="2200"/>
              </a:lnSpc>
            </a:pPr>
            <a:r>
              <a:rPr sz="2000" b="0">
                <a:solidFill>
                  <a:srgbClr val="333333"/>
                </a:solidFill>
                <a:latin typeface="Calibri"/>
              </a:rPr>
              <a:t>Teams share references rather than duplicating large files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8.25 — DVC in an ML Pipeline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8.25 — hands-on module</a:t>
            </a:r>
          </a:p>
          <a:p>
            <a:pPr>
              <a:spcAft>
                <a:spcPts val="1000"/>
              </a:spcAft>
              <a:buChar char="•"/>
              <a:lnSpc>
                <a:spcPts val="2200"/>
              </a:lnSpc>
            </a:pPr>
            <a:r>
              <a:rPr sz="2000" b="0">
                <a:solidFill>
                  <a:srgbClr val="333333"/>
                </a:solidFill>
                <a:latin typeface="Calibri"/>
              </a:rPr>
              <a:t>Storage burden stays on remotes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Pipeline stages as executable history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 DVC pipeline declares stages with commands, dependencies</a:t>
            </a:r>
          </a:p>
          <a:p>
            <a:pPr>
              <a:spcAft>
                <a:spcPts val="1000"/>
              </a:spcAft>
              <a:buChar char="•"/>
              <a:lnSpc>
                <a:spcPts val="2200"/>
              </a:lnSpc>
            </a:pPr>
            <a:r>
              <a:rPr sz="2000" b="0">
                <a:solidFill>
                  <a:srgbClr val="333333"/>
                </a:solidFill>
                <a:latin typeface="Calibri"/>
              </a:rPr>
              <a:t>When inputs or code change</a:t>
            </a:r>
          </a:p>
          <a:p>
            <a:pPr>
              <a:spcAft>
                <a:spcPts val="1000"/>
              </a:spcAft>
              <a:buChar char="•"/>
              <a:lnSpc>
                <a:spcPts val="2200"/>
              </a:lnSpc>
            </a:pPr>
            <a:r>
              <a:rPr sz="2000" b="0">
                <a:solidFill>
                  <a:srgbClr val="333333"/>
                </a:solidFill>
                <a:latin typeface="Calibri"/>
              </a:rPr>
              <a:t>That dependency graph is the operational heart of reproducibility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8.28 — DVC Pipeline Stages for Training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8.28 — hands-on module</a:t>
            </a:r>
          </a:p>
          <a:p>
            <a:pPr>
              <a:spcAft>
                <a:spcPts val="1000"/>
              </a:spcAft>
              <a:buChar char="•"/>
              <a:lnSpc>
                <a:spcPts val="2200"/>
              </a:lnSpc>
            </a:pPr>
            <a:r>
              <a:rPr sz="2000" b="0">
                <a:solidFill>
                  <a:srgbClr val="333333"/>
                </a:solidFill>
                <a:latin typeface="Calibri"/>
              </a:rPr>
              <a:t>Example 8.28 defines preprocessing, training</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stages:</a:t>
            </a:r>
          </a:p>
          <a:p>
            <a:pPr>
              <a:lnSpc>
                <a:spcPts val="2200"/>
              </a:lnSpc>
              <a:spcAft>
                <a:spcPts val="400"/>
              </a:spcAft>
            </a:pPr>
            <a:r>
              <a:rPr sz="2000" b="0">
                <a:solidFill>
                  <a:srgbClr val="333333"/>
                </a:solidFill>
                <a:latin typeface="Consolas"/>
              </a:rPr>
              <a:t>  preprocessing:</a:t>
            </a:r>
          </a:p>
          <a:p>
            <a:pPr>
              <a:lnSpc>
                <a:spcPts val="2200"/>
              </a:lnSpc>
              <a:spcAft>
                <a:spcPts val="400"/>
              </a:spcAft>
            </a:pPr>
            <a:r>
              <a:rPr sz="2000" b="0">
                <a:solidFill>
                  <a:srgbClr val="333333"/>
                </a:solidFill>
                <a:latin typeface="Consolas"/>
              </a:rPr>
              <a:t>    cmd: python preprocess.py data/raw_data.csv</a:t>
            </a:r>
          </a:p>
          <a:p>
            <a:pPr>
              <a:lnSpc>
                <a:spcPts val="2200"/>
              </a:lnSpc>
              <a:spcAft>
                <a:spcPts val="400"/>
              </a:spcAft>
            </a:pPr>
            <a:r>
              <a:rPr sz="2000" b="0">
                <a:solidFill>
                  <a:srgbClr val="333333"/>
                </a:solidFill>
                <a:latin typeface="Consolas"/>
              </a:rPr>
              <a:t>data/preprocessed_data.csv</a:t>
            </a:r>
          </a:p>
          <a:p>
            <a:pPr>
              <a:lnSpc>
                <a:spcPts val="2200"/>
              </a:lnSpc>
              <a:spcAft>
                <a:spcPts val="400"/>
              </a:spcAft>
            </a:pPr>
            <a:r>
              <a:rPr sz="2000" b="0">
                <a:solidFill>
                  <a:srgbClr val="333333"/>
                </a:solidFill>
                <a:latin typeface="Consolas"/>
              </a:rPr>
              <a:t>    deps:</a:t>
            </a:r>
          </a:p>
          <a:p>
            <a:pPr>
              <a:lnSpc>
                <a:spcPts val="2200"/>
              </a:lnSpc>
              <a:spcAft>
                <a:spcPts val="400"/>
              </a:spcAft>
            </a:pPr>
            <a:r>
              <a:rPr sz="2000" b="0">
                <a:solidFill>
                  <a:srgbClr val="333333"/>
                </a:solidFill>
                <a:latin typeface="Consolas"/>
              </a:rPr>
              <a:t>      - data/raw_data.csv</a:t>
            </a:r>
          </a:p>
          <a:p>
            <a:pPr>
              <a:lnSpc>
                <a:spcPts val="2200"/>
              </a:lnSpc>
              <a:spcAft>
                <a:spcPts val="400"/>
              </a:spcAft>
            </a:pPr>
            <a:r>
              <a:rPr sz="2000" b="0">
                <a:solidFill>
                  <a:srgbClr val="333333"/>
                </a:solidFill>
                <a:latin typeface="Consolas"/>
              </a:rPr>
              <a:t>    outs:</a:t>
            </a:r>
          </a:p>
          <a:p>
            <a:pPr>
              <a:lnSpc>
                <a:spcPts val="2200"/>
              </a:lnSpc>
              <a:spcAft>
                <a:spcPts val="400"/>
              </a:spcAft>
            </a:pPr>
            <a:r>
              <a:rPr sz="2000" b="0">
                <a:solidFill>
                  <a:srgbClr val="333333"/>
                </a:solidFill>
                <a:latin typeface="Consolas"/>
              </a:rPr>
              <a:t>      - data/preprocessed_data.csv</a:t>
            </a:r>
          </a:p>
          <a:p>
            <a:pPr>
              <a:lnSpc>
                <a:spcPts val="2200"/>
              </a:lnSpc>
              <a:spcAft>
                <a:spcPts val="400"/>
              </a:spcAft>
            </a:pPr>
            <a:r>
              <a:rPr sz="2000" b="0">
                <a:solidFill>
                  <a:srgbClr val="333333"/>
                </a:solidFill>
                <a:latin typeface="Consolas"/>
              </a:rPr>
              <a:t>  training:</a:t>
            </a:r>
          </a:p>
          <a:p>
            <a:pPr>
              <a:lnSpc>
                <a:spcPts val="2200"/>
              </a:lnSpc>
              <a:spcAft>
                <a:spcPts val="400"/>
              </a:spcAft>
            </a:pPr>
            <a:r>
              <a:rPr sz="2000" b="0">
                <a:solidFill>
                  <a:srgbClr val="333333"/>
                </a:solidFill>
                <a:latin typeface="Consolas"/>
              </a:rPr>
              <a:t>    cmd: python train_model.py data/preprocessed_data.csv</a:t>
            </a:r>
          </a:p>
          <a:p>
            <a:pPr>
              <a:lnSpc>
                <a:spcPts val="2200"/>
              </a:lnSpc>
              <a:spcAft>
                <a:spcPts val="400"/>
              </a:spcAft>
            </a:pPr>
            <a:r>
              <a:rPr sz="2000" b="0">
                <a:solidFill>
                  <a:srgbClr val="333333"/>
                </a:solidFill>
                <a:latin typeface="Consolas"/>
              </a:rPr>
              <a:t>models/model.pkl</a:t>
            </a:r>
          </a:p>
          <a:p>
            <a:pPr>
              <a:lnSpc>
                <a:spcPts val="2200"/>
              </a:lnSpc>
              <a:spcAft>
                <a:spcPts val="400"/>
              </a:spcAft>
            </a:pPr>
            <a:r>
              <a:rPr sz="2000" b="0">
                <a:solidFill>
                  <a:srgbClr val="333333"/>
                </a:solidFill>
                <a:latin typeface="Consolas"/>
              </a:rPr>
              <a:t>    deps:</a:t>
            </a:r>
          </a:p>
          <a:p>
            <a:pPr>
              <a:lnSpc>
                <a:spcPts val="2200"/>
              </a:lnSpc>
              <a:spcAft>
                <a:spcPts val="400"/>
              </a:spcAft>
            </a:pPr>
            <a:r>
              <a:rPr sz="2000" b="0">
                <a:solidFill>
                  <a:srgbClr val="333333"/>
                </a:solidFill>
                <a:latin typeface="Consolas"/>
              </a:rPr>
              <a:t>      - data/preprocessed_data.csv</a:t>
            </a:r>
          </a:p>
          <a:p>
            <a:pPr>
              <a:lnSpc>
                <a:spcPts val="2200"/>
              </a:lnSpc>
              <a:spcAft>
                <a:spcPts val="400"/>
              </a:spcAft>
            </a:pPr>
            <a:r>
              <a:rPr sz="2000" b="0">
                <a:solidFill>
                  <a:srgbClr val="333333"/>
                </a:solidFill>
                <a:latin typeface="Consolas"/>
              </a:rPr>
              <a:t>    outs:</a:t>
            </a:r>
          </a:p>
          <a:p>
            <a:pPr>
              <a:lnSpc>
                <a:spcPts val="2200"/>
              </a:lnSpc>
              <a:spcAft>
                <a:spcPts val="400"/>
              </a:spcAft>
            </a:pPr>
            <a:r>
              <a:rPr sz="2000" b="0">
                <a:solidFill>
                  <a:srgbClr val="333333"/>
                </a:solidFill>
                <a:latin typeface="Consolas"/>
              </a:rPr>
              <a:t>      - models/model.pkl</a:t>
            </a:r>
          </a:p>
          <a:p>
            <a:pPr>
              <a:lnSpc>
                <a:spcPts val="2200"/>
              </a:lnSpc>
              <a:spcAft>
                <a:spcPts val="400"/>
              </a:spcAft>
            </a:pPr>
            <a:r>
              <a:rPr sz="2000" b="0">
                <a:solidFill>
                  <a:srgbClr val="333333"/>
                </a:solidFill>
                <a:latin typeface="Consolas"/>
              </a:rPr>
              <a:t>  evaluating:</a:t>
            </a:r>
          </a:p>
          <a:p>
            <a:pPr>
              <a:lnSpc>
                <a:spcPts val="2200"/>
              </a:lnSpc>
              <a:spcAft>
                <a:spcPts val="400"/>
              </a:spcAft>
            </a:pPr>
            <a:r>
              <a:rPr sz="2000" b="0">
                <a:solidFill>
                  <a:srgbClr val="333333"/>
                </a:solidFill>
                <a:latin typeface="Consolas"/>
              </a:rPr>
              <a:t>    cmd: python evaluate_model.py models/model.pkl</a:t>
            </a:r>
          </a:p>
          <a:p>
            <a:pPr>
              <a:lnSpc>
                <a:spcPts val="2200"/>
              </a:lnSpc>
              <a:spcAft>
                <a:spcPts val="400"/>
              </a:spcAft>
            </a:pPr>
            <a:r>
              <a:rPr sz="2000" b="0">
                <a:solidFill>
                  <a:srgbClr val="333333"/>
                </a:solidFill>
                <a:latin typeface="Consolas"/>
              </a:rPr>
              <a:t>    deps: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Continuous integration for dataset updates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Trigger training when code or data lands on a protected branch</a:t>
            </a:r>
          </a:p>
          <a:p>
            <a:pPr>
              <a:spcAft>
                <a:spcPts val="1000"/>
              </a:spcAft>
              <a:buChar char="•"/>
              <a:lnSpc>
                <a:spcPts val="2200"/>
              </a:lnSpc>
            </a:pPr>
            <a:r>
              <a:rPr sz="2000" b="0">
                <a:solidFill>
                  <a:srgbClr val="333333"/>
                </a:solidFill>
                <a:latin typeface="Calibri"/>
              </a:rPr>
              <a:t>Automation reduces forgotten manual steps and keeps shared remotes current for the team’s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8.29 — Live Demonstration of DVC Automation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8.29 — hands-on module</a:t>
            </a:r>
          </a:p>
          <a:p>
            <a:pPr>
              <a:spcAft>
                <a:spcPts val="1000"/>
              </a:spcAft>
              <a:buChar char="•"/>
              <a:lnSpc>
                <a:spcPts val="2200"/>
              </a:lnSpc>
            </a:pPr>
            <a:r>
              <a:rPr sz="2000" b="0">
                <a:solidFill>
                  <a:srgbClr val="333333"/>
                </a:solidFill>
                <a:latin typeface="Calibri"/>
              </a:rPr>
              <a:t>Example 8.29 outlines a live walkthrough</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`modules/chapter8/example29/`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8.29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git init</a:t>
            </a:r>
          </a:p>
          <a:p>
            <a:pPr>
              <a:lnSpc>
                <a:spcPts val="2200"/>
              </a:lnSpc>
              <a:spcAft>
                <a:spcPts val="400"/>
              </a:spcAft>
            </a:pPr>
            <a:r>
              <a:rPr sz="2000" b="0">
                <a:solidFill>
                  <a:srgbClr val="333333"/>
                </a:solidFill>
                <a:latin typeface="Consolas"/>
              </a:rPr>
              <a:t>dvc init</a:t>
            </a:r>
          </a:p>
          <a:p>
            <a:pPr>
              <a:lnSpc>
                <a:spcPts val="2200"/>
              </a:lnSpc>
              <a:spcAft>
                <a:spcPts val="400"/>
              </a:spcAft>
            </a:pPr>
            <a:r>
              <a:rPr sz="2000" b="0">
                <a:solidFill>
                  <a:srgbClr val="333333"/>
                </a:solidFill>
                <a:latin typeface="Consolas"/>
              </a:rPr>
              <a:t>dvc remote add -d myremote s3://mybucket/datasets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DVC pipelines turn versioned data into reproducible workflows</a:t>
            </a:r>
          </a:p>
          <a:p>
            <a:pPr>
              <a:spcAft>
                <a:spcPts val="1000"/>
              </a:spcAft>
              <a:buChar char="•"/>
              <a:lnSpc>
                <a:spcPts val="2200"/>
              </a:lnSpc>
            </a:pPr>
            <a:r>
              <a:rPr sz="2000" b="0">
                <a:solidFill>
                  <a:srgbClr val="333333"/>
                </a:solidFill>
                <a:latin typeface="Calibri"/>
              </a:rPr>
              <a:t>Stage YAML records commands, dependencies, and outputs</a:t>
            </a:r>
          </a:p>
          <a:p>
            <a:pPr>
              <a:spcAft>
                <a:spcPts val="1000"/>
              </a:spcAft>
              <a:buChar char="•"/>
              <a:lnSpc>
                <a:spcPts val="2200"/>
              </a:lnSpc>
            </a:pPr>
            <a:r>
              <a:rPr sz="2000" b="0">
                <a:solidFill>
                  <a:srgbClr val="333333"/>
                </a:solidFill>
                <a:latin typeface="Calibri"/>
              </a:rPr>
              <a:t>Together they close the gap between “we have a dataset” and “we can retrain from the same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turns documentation and versioning into day-to-day operating practice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Choose Git LFS or DVC when plain Git cannot hold large binaries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Documentation as a living checklist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Every release should carry the same minimum set</a:t>
            </a:r>
          </a:p>
          <a:p>
            <a:pPr>
              <a:spcAft>
                <a:spcPts val="1000"/>
              </a:spcAft>
              <a:buChar char="•"/>
              <a:lnSpc>
                <a:spcPts val="2200"/>
              </a:lnSpc>
            </a:pPr>
            <a:r>
              <a:rPr sz="2000" b="0">
                <a:solidFill>
                  <a:srgbClr val="333333"/>
                </a:solidFill>
                <a:latin typeface="Calibri"/>
              </a:rPr>
              <a:t>Update the checklist whenever the data change rather than rewriting definitions from</a:t>
            </a:r>
          </a:p>
          <a:p>
            <a:pPr>
              <a:spcAft>
                <a:spcPts val="1000"/>
              </a:spcAft>
              <a:buChar char="•"/>
              <a:lnSpc>
                <a:spcPts val="2200"/>
              </a:lnSpc>
            </a:pPr>
            <a:r>
              <a:rPr sz="2000" b="0">
                <a:solidFill>
                  <a:srgbClr val="333333"/>
                </a:solidFill>
                <a:latin typeface="Calibri"/>
              </a:rPr>
              <a:t>Consistency across releases matters more than occasional long essays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8.30 — Codebook for Categorical Labels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8.30 — hands-on module</a:t>
            </a:r>
          </a:p>
          <a:p>
            <a:pPr>
              <a:spcAft>
                <a:spcPts val="1000"/>
              </a:spcAft>
              <a:buChar char="•"/>
              <a:lnSpc>
                <a:spcPts val="2200"/>
              </a:lnSpc>
            </a:pPr>
            <a:r>
              <a:rPr sz="2000" b="0">
                <a:solidFill>
                  <a:srgbClr val="333333"/>
                </a:solidFill>
                <a:latin typeface="Calibri"/>
              </a:rPr>
              <a:t>Example 8.30 reminds teams to keep a codebook for categorical encodings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8.30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"age": {</a:t>
            </a:r>
          </a:p>
          <a:p>
            <a:pPr>
              <a:lnSpc>
                <a:spcPts val="2200"/>
              </a:lnSpc>
              <a:spcAft>
                <a:spcPts val="400"/>
              </a:spcAft>
            </a:pPr>
            <a:r>
              <a:rPr sz="2000" b="0">
                <a:solidFill>
                  <a:srgbClr val="333333"/>
                </a:solidFill>
                <a:latin typeface="Consolas"/>
              </a:rPr>
              <a:t>    "type": "integer",</a:t>
            </a:r>
          </a:p>
          <a:p>
            <a:pPr>
              <a:lnSpc>
                <a:spcPts val="2200"/>
              </a:lnSpc>
              <a:spcAft>
                <a:spcPts val="400"/>
              </a:spcAft>
            </a:pPr>
            <a:r>
              <a:rPr sz="2000" b="0">
                <a:solidFill>
                  <a:srgbClr val="333333"/>
                </a:solidFill>
                <a:latin typeface="Consolas"/>
              </a:rPr>
              <a:t>    "description": "Age of the individual in years",</a:t>
            </a:r>
          </a:p>
          <a:p>
            <a:pPr>
              <a:lnSpc>
                <a:spcPts val="2200"/>
              </a:lnSpc>
              <a:spcAft>
                <a:spcPts val="400"/>
              </a:spcAft>
            </a:pPr>
            <a:r>
              <a:rPr sz="2000" b="0">
                <a:solidFill>
                  <a:srgbClr val="333333"/>
                </a:solidFill>
                <a:latin typeface="Consolas"/>
              </a:rPr>
              <a:t>    "range": "0-120",</a:t>
            </a:r>
          </a:p>
          <a:p>
            <a:pPr>
              <a:lnSpc>
                <a:spcPts val="2200"/>
              </a:lnSpc>
              <a:spcAft>
                <a:spcPts val="400"/>
              </a:spcAft>
            </a:pPr>
            <a:r>
              <a:rPr sz="2000" b="0">
                <a:solidFill>
                  <a:srgbClr val="333333"/>
                </a:solidFill>
                <a:latin typeface="Consolas"/>
              </a:rPr>
              <a:t>    "unit": "years"</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  "gender": {</a:t>
            </a:r>
          </a:p>
          <a:p>
            <a:pPr>
              <a:lnSpc>
                <a:spcPts val="2200"/>
              </a:lnSpc>
              <a:spcAft>
                <a:spcPts val="400"/>
              </a:spcAft>
            </a:pPr>
            <a:r>
              <a:rPr sz="2000" b="0">
                <a:solidFill>
                  <a:srgbClr val="333333"/>
                </a:solidFill>
                <a:latin typeface="Consolas"/>
              </a:rPr>
              <a:t>    "type": "categorical",</a:t>
            </a:r>
          </a:p>
          <a:p>
            <a:pPr>
              <a:lnSpc>
                <a:spcPts val="2200"/>
              </a:lnSpc>
              <a:spcAft>
                <a:spcPts val="400"/>
              </a:spcAft>
            </a:pPr>
            <a:r>
              <a:rPr sz="2000" b="0">
                <a:solidFill>
                  <a:srgbClr val="333333"/>
                </a:solidFill>
                <a:latin typeface="Consolas"/>
              </a:rPr>
              <a:t>    "description": "Gender of the individual",</a:t>
            </a:r>
          </a:p>
          <a:p>
            <a:pPr>
              <a:lnSpc>
                <a:spcPts val="2200"/>
              </a:lnSpc>
              <a:spcAft>
                <a:spcPts val="400"/>
              </a:spcAft>
            </a:pPr>
            <a:r>
              <a:rPr sz="2000" b="0">
                <a:solidFill>
                  <a:srgbClr val="333333"/>
                </a:solidFill>
                <a:latin typeface="Consolas"/>
              </a:rPr>
              <a:t>    "values": ["male", "female", "non-binary"]</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Provenance and version-control habits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Provenance should record sources, instruments, cleaning scripts, transforms, joins</a:t>
            </a:r>
          </a:p>
          <a:p>
            <a:pPr>
              <a:spcAft>
                <a:spcPts val="1000"/>
              </a:spcAft>
              <a:buChar char="•"/>
              <a:lnSpc>
                <a:spcPts val="2200"/>
              </a:lnSpc>
            </a:pPr>
            <a:r>
              <a:rPr sz="2000" b="0">
                <a:solidFill>
                  <a:srgbClr val="333333"/>
                </a:solidFill>
                <a:latin typeface="Calibri"/>
              </a:rPr>
              <a:t>Dataset changes should be committed as logical units</a:t>
            </a:r>
          </a:p>
          <a:p>
            <a:pPr>
              <a:spcAft>
                <a:spcPts val="1000"/>
              </a:spcAft>
              <a:buChar char="•"/>
              <a:lnSpc>
                <a:spcPts val="2200"/>
              </a:lnSpc>
            </a:pPr>
            <a:r>
              <a:rPr sz="2000" b="0">
                <a:solidFill>
                  <a:srgbClr val="333333"/>
                </a:solidFill>
                <a:latin typeface="Calibri"/>
              </a:rPr>
              <a:t>Git suits scripts and small text artifacts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8.33 — Descriptive Dataset Commit Message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8.33 — hands-on module</a:t>
            </a:r>
          </a:p>
          <a:p>
            <a:pPr>
              <a:spcAft>
                <a:spcPts val="1000"/>
              </a:spcAft>
              <a:buChar char="•"/>
              <a:lnSpc>
                <a:spcPts val="2200"/>
              </a:lnSpc>
            </a:pPr>
            <a:r>
              <a:rPr sz="2000" b="0">
                <a:solidFill>
                  <a:srgbClr val="333333"/>
                </a:solidFill>
                <a:latin typeface="Calibri"/>
              </a:rPr>
              <a:t>Example 8.33 shows a useful commit message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Naming and collaborative practice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Clear names encode project, version, date</a:t>
            </a:r>
          </a:p>
          <a:p>
            <a:pPr>
              <a:spcAft>
                <a:spcPts val="1000"/>
              </a:spcAft>
              <a:buChar char="•"/>
              <a:lnSpc>
                <a:spcPts val="2200"/>
              </a:lnSpc>
            </a:pPr>
            <a:r>
              <a:rPr sz="2000" b="0">
                <a:solidFill>
                  <a:srgbClr val="333333"/>
                </a:solidFill>
                <a:latin typeface="Calibri"/>
              </a:rPr>
              <a:t>Separate raw, processed, intermediate, model, and output folders</a:t>
            </a:r>
          </a:p>
          <a:p>
            <a:pPr>
              <a:spcAft>
                <a:spcPts val="1000"/>
              </a:spcAft>
              <a:buChar char="•"/>
              <a:lnSpc>
                <a:spcPts val="2200"/>
              </a:lnSpc>
            </a:pPr>
            <a:r>
              <a:rPr sz="2000" b="0">
                <a:solidFill>
                  <a:srgbClr val="333333"/>
                </a:solidFill>
                <a:latin typeface="Calibri"/>
              </a:rPr>
              <a:t>Use branches or separate experimental versions, sync regularly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8.34 — Large Binary Files Beyond Plain Git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8.34 — hands-on module</a:t>
            </a:r>
          </a:p>
          <a:p>
            <a:pPr>
              <a:spcAft>
                <a:spcPts val="1000"/>
              </a:spcAft>
              <a:buChar char="•"/>
              <a:lnSpc>
                <a:spcPts val="2200"/>
              </a:lnSpc>
            </a:pPr>
            <a:r>
              <a:rPr sz="2000" b="0">
                <a:solidFill>
                  <a:srgbClr val="333333"/>
                </a:solidFill>
                <a:latin typeface="Calibri"/>
              </a:rPr>
              <a:t>Example 8.34 explains why plain Git is inefficient for large binaries and recommends Git</a:t>
            </a:r>
          </a:p>
          <a:p>
            <a:pPr>
              <a:spcAft>
                <a:spcPts val="1000"/>
              </a:spcAft>
              <a:buChar char="•"/>
              <a:lnSpc>
                <a:spcPts val="2200"/>
              </a:lnSpc>
            </a:pPr>
            <a:r>
              <a:rPr sz="2000" b="0">
                <a:solidFill>
                  <a:srgbClr val="333333"/>
                </a:solidFill>
                <a:latin typeface="Calibri"/>
              </a:rPr>
              <a:t>That pattern keeps repositories performant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`modules/chapter8/example34/`</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Best practice is operational consistency</a:t>
            </a:r>
          </a:p>
          <a:p>
            <a:pPr>
              <a:spcAft>
                <a:spcPts val="1000"/>
              </a:spcAft>
              <a:buChar char="•"/>
              <a:lnSpc>
                <a:spcPts val="2200"/>
              </a:lnSpc>
            </a:pPr>
            <a:r>
              <a:rPr sz="2000" b="0">
                <a:solidFill>
                  <a:srgbClr val="333333"/>
                </a:solidFill>
                <a:latin typeface="Calibri"/>
              </a:rPr>
              <a:t>Collaboration and compliance rest on review, sync habits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The next part shows these practices in domain settings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Outline governed package sharing for clinical collaboration with role-based access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Research, industry, and clinical stakes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Research reuse fails when undocumented transforms hide in informal notes</a:t>
            </a:r>
          </a:p>
          <a:p>
            <a:pPr>
              <a:spcAft>
                <a:spcPts val="1000"/>
              </a:spcAft>
              <a:buChar char="•"/>
              <a:lnSpc>
                <a:spcPts val="2200"/>
              </a:lnSpc>
            </a:pPr>
            <a:r>
              <a:rPr sz="2000" b="0">
                <a:solidFill>
                  <a:srgbClr val="333333"/>
                </a:solidFill>
                <a:latin typeface="Calibri"/>
              </a:rPr>
              <a:t>Industrial retraining fails when two runs use different sensor snapshots under the same</a:t>
            </a:r>
          </a:p>
          <a:p>
            <a:pPr>
              <a:spcAft>
                <a:spcPts val="1000"/>
              </a:spcAft>
              <a:buChar char="•"/>
              <a:lnSpc>
                <a:spcPts val="2200"/>
              </a:lnSpc>
            </a:pPr>
            <a:r>
              <a:rPr sz="2000" b="0">
                <a:solidFill>
                  <a:srgbClr val="333333"/>
                </a:solidFill>
                <a:latin typeface="Calibri"/>
              </a:rPr>
              <a:t>Clinical collaboration fails when sensitive releases lack auditability and access control</a:t>
            </a:r>
          </a:p>
          <a:p>
            <a:pPr>
              <a:spcAft>
                <a:spcPts val="1000"/>
              </a:spcAft>
              <a:buChar char="•"/>
              <a:lnSpc>
                <a:spcPts val="2200"/>
              </a:lnSpc>
            </a:pPr>
            <a:r>
              <a:rPr sz="2000" b="0">
                <a:solidFill>
                  <a:srgbClr val="333333"/>
                </a:solidFill>
                <a:latin typeface="Calibri"/>
              </a:rPr>
              <a:t>The case studies map practices to those failure modes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8.38 — Climate Agriculture Research Case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8.38 — hands-on module</a:t>
            </a:r>
          </a:p>
          <a:p>
            <a:pPr>
              <a:spcAft>
                <a:spcPts val="1000"/>
              </a:spcAft>
              <a:buChar char="•"/>
              <a:lnSpc>
                <a:spcPts val="2200"/>
              </a:lnSpc>
            </a:pPr>
            <a:r>
              <a:rPr sz="2000" b="0">
                <a:solidFill>
                  <a:srgbClr val="333333"/>
                </a:solidFill>
                <a:latin typeface="Calibri"/>
              </a:rPr>
              <a:t>Socioeconomic indicators across teams</a:t>
            </a:r>
          </a:p>
          <a:p>
            <a:pPr>
              <a:spcAft>
                <a:spcPts val="1000"/>
              </a:spcAft>
              <a:buChar char="•"/>
              <a:lnSpc>
                <a:spcPts val="2200"/>
              </a:lnSpc>
            </a:pPr>
            <a:r>
              <a:rPr sz="2000" b="0">
                <a:solidFill>
                  <a:srgbClr val="333333"/>
                </a:solidFill>
                <a:latin typeface="Calibri"/>
              </a:rPr>
              <a:t>One metadata template, one dictionary</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`modules/chapter8/example38/`</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8.38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"precipitation_mm": {</a:t>
            </a:r>
          </a:p>
          <a:p>
            <a:pPr>
              <a:lnSpc>
                <a:spcPts val="2200"/>
              </a:lnSpc>
              <a:spcAft>
                <a:spcPts val="400"/>
              </a:spcAft>
            </a:pPr>
            <a:r>
              <a:rPr sz="2000" b="0">
                <a:solidFill>
                  <a:srgbClr val="333333"/>
                </a:solidFill>
                <a:latin typeface="Consolas"/>
              </a:rPr>
              <a:t>    "description": "Monthly precipitation in millimeters",</a:t>
            </a:r>
          </a:p>
          <a:p>
            <a:pPr>
              <a:lnSpc>
                <a:spcPts val="2200"/>
              </a:lnSpc>
              <a:spcAft>
                <a:spcPts val="400"/>
              </a:spcAft>
            </a:pPr>
            <a:r>
              <a:rPr sz="2000" b="0">
                <a:solidFill>
                  <a:srgbClr val="333333"/>
                </a:solidFill>
                <a:latin typeface="Consolas"/>
              </a:rPr>
              <a:t>    "source": "Satellite-derived weather product",</a:t>
            </a:r>
          </a:p>
          <a:p>
            <a:pPr>
              <a:lnSpc>
                <a:spcPts val="2200"/>
              </a:lnSpc>
              <a:spcAft>
                <a:spcPts val="400"/>
              </a:spcAft>
            </a:pPr>
            <a:r>
              <a:rPr sz="2000" b="0">
                <a:solidFill>
                  <a:srgbClr val="333333"/>
                </a:solidFill>
                <a:latin typeface="Consolas"/>
              </a:rPr>
              <a:t>    "unit": "mm",</a:t>
            </a:r>
          </a:p>
          <a:p>
            <a:pPr>
              <a:lnSpc>
                <a:spcPts val="2200"/>
              </a:lnSpc>
              <a:spcAft>
                <a:spcPts val="400"/>
              </a:spcAft>
            </a:pPr>
            <a:r>
              <a:rPr sz="2000" b="0">
                <a:solidFill>
                  <a:srgbClr val="333333"/>
                </a:solidFill>
                <a:latin typeface="Consolas"/>
              </a:rPr>
              <a:t>    "method": "Interpolated before regional aggregation"</a:t>
            </a:r>
          </a:p>
          <a:p>
            <a:pPr>
              <a:lnSpc>
                <a:spcPts val="2200"/>
              </a:lnSpc>
              <a:spcAft>
                <a:spcPts val="400"/>
              </a:spcAft>
            </a:pPr>
            <a:r>
              <a:rPr sz="2000" b="0">
                <a:solidFill>
                  <a:srgbClr val="333333"/>
                </a:solidFill>
                <a:latin typeface="Consolas"/>
              </a:rPr>
              <a:t>  }</a:t>
            </a:r>
          </a:p>
          <a:p>
            <a:pPr>
              <a:lnSpc>
                <a:spcPts val="2200"/>
              </a:lnSpc>
              <a:spcAft>
                <a:spcPts val="400"/>
              </a:spcAft>
            </a:pPr>
            <a:r>
              <a:rPr sz="2000" b="0">
                <a:solidFill>
                  <a:srgbClr val="333333"/>
                </a:solidFill>
                <a:latin typeface="Consolas"/>
              </a:rPr>
              <a: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8.39 — Predictive Maintenance Versioning Case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8.39 — hands-on module</a:t>
            </a:r>
          </a:p>
          <a:p>
            <a:pPr>
              <a:spcAft>
                <a:spcPts val="1000"/>
              </a:spcAft>
              <a:buChar char="•"/>
              <a:lnSpc>
                <a:spcPts val="2200"/>
              </a:lnSpc>
            </a:pPr>
            <a:r>
              <a:rPr sz="2000" b="0">
                <a:solidFill>
                  <a:srgbClr val="333333"/>
                </a:solidFill>
                <a:latin typeface="Calibri"/>
              </a:rPr>
              <a:t>Example 8.39 centers on daily factory sensor feeds and failure-prediction retraining</a:t>
            </a:r>
          </a:p>
          <a:p>
            <a:pPr>
              <a:spcAft>
                <a:spcPts val="1000"/>
              </a:spcAft>
              <a:buChar char="•"/>
              <a:lnSpc>
                <a:spcPts val="2200"/>
              </a:lnSpc>
            </a:pPr>
            <a:r>
              <a:rPr sz="2000" b="0">
                <a:solidFill>
                  <a:srgbClr val="333333"/>
                </a:solidFill>
                <a:latin typeface="Calibri"/>
              </a:rPr>
              <a:t>DVC tracks each raw batch, preprocessing output</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`modules/chapter8/example39/`</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8.39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dvc add sensor_data/April_2024.csv</a:t>
            </a:r>
          </a:p>
          <a:p>
            <a:pPr>
              <a:lnSpc>
                <a:spcPts val="2200"/>
              </a:lnSpc>
              <a:spcAft>
                <a:spcPts val="400"/>
              </a:spcAft>
            </a:pPr>
            <a:r>
              <a:rPr sz="2000" b="0">
                <a:solidFill>
                  <a:srgbClr val="333333"/>
                </a:solidFill>
                <a:latin typeface="Consolas"/>
              </a:rPr>
              <a:t>git commit -m "Added April 2024 sensor data"</a:t>
            </a:r>
          </a:p>
          <a:p>
            <a:pPr>
              <a:lnSpc>
                <a:spcPts val="2200"/>
              </a:lnSpc>
              <a:spcAft>
                <a:spcPts val="400"/>
              </a:spcAft>
            </a:pPr>
            <a:r>
              <a:rPr sz="2000" b="0">
                <a:solidFill>
                  <a:srgbClr val="333333"/>
                </a:solidFill>
                <a:latin typeface="Consolas"/>
              </a:rPr>
              <a:t>dvc push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8.40 — Clinical Trial Collaboration Case Study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8.40 — hands-on module</a:t>
            </a:r>
          </a:p>
          <a:p>
            <a:pPr>
              <a:spcAft>
                <a:spcPts val="1000"/>
              </a:spcAft>
              <a:buChar char="•"/>
              <a:lnSpc>
                <a:spcPts val="2200"/>
              </a:lnSpc>
            </a:pPr>
            <a:r>
              <a:rPr sz="2000" b="0">
                <a:solidFill>
                  <a:srgbClr val="333333"/>
                </a:solidFill>
                <a:latin typeface="Calibri"/>
              </a:rPr>
              <a:t>Example 8.40 involves clinical data managers, statisticians, regulators</a:t>
            </a:r>
          </a:p>
          <a:p>
            <a:pPr>
              <a:spcAft>
                <a:spcPts val="1000"/>
              </a:spcAft>
              <a:buChar char="•"/>
              <a:lnSpc>
                <a:spcPts val="2200"/>
              </a:lnSpc>
            </a:pPr>
            <a:r>
              <a:rPr sz="2000" b="0">
                <a:solidFill>
                  <a:srgbClr val="333333"/>
                </a:solidFill>
                <a:latin typeface="Calibri"/>
              </a:rPr>
              <a:t>A governed catalog, release notes, role-restricted access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`modules/chapter8/example40/`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8.40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quilt push my_dataset_v1</a:t>
            </a:r>
          </a:p>
          <a:p>
            <a:pPr>
              <a:lnSpc>
                <a:spcPts val="2200"/>
              </a:lnSpc>
              <a:spcAft>
                <a:spcPts val="400"/>
              </a:spcAft>
            </a:pPr>
            <a:r>
              <a:rPr sz="2000" b="0">
                <a:solidFill>
                  <a:srgbClr val="333333"/>
                </a:solidFill>
                <a:latin typeface="Consolas"/>
              </a:rPr>
              <a:t>quilt push my_dataset_v2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Cross-case lessons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Shared templates and provenance scale multi-collector research</a:t>
            </a:r>
          </a:p>
          <a:p>
            <a:pPr>
              <a:spcAft>
                <a:spcPts val="1000"/>
              </a:spcAft>
              <a:buChar char="•"/>
              <a:lnSpc>
                <a:spcPts val="2200"/>
              </a:lnSpc>
            </a:pPr>
            <a:r>
              <a:rPr sz="2000" b="0">
                <a:solidFill>
                  <a:srgbClr val="333333"/>
                </a:solidFill>
                <a:latin typeface="Calibri"/>
              </a:rPr>
              <a:t>Pinning data to models stabilizes industrial retraining</a:t>
            </a:r>
          </a:p>
          <a:p>
            <a:pPr>
              <a:spcAft>
                <a:spcPts val="1000"/>
              </a:spcAft>
              <a:buChar char="•"/>
              <a:lnSpc>
                <a:spcPts val="2200"/>
              </a:lnSpc>
            </a:pPr>
            <a:r>
              <a:rPr sz="2000" b="0">
                <a:solidFill>
                  <a:srgbClr val="333333"/>
                </a:solidFill>
                <a:latin typeface="Calibri"/>
              </a:rPr>
              <a:t>Governed catalogs with audit logs stabilize regulated collaboration</a:t>
            </a:r>
          </a:p>
          <a:p>
            <a:pPr>
              <a:spcAft>
                <a:spcPts val="1000"/>
              </a:spcAft>
              <a:buChar char="•"/>
              <a:lnSpc>
                <a:spcPts val="2200"/>
              </a:lnSpc>
            </a:pPr>
            <a:r>
              <a:rPr sz="2000" b="0">
                <a:solidFill>
                  <a:srgbClr val="333333"/>
                </a:solidFill>
                <a:latin typeface="Calibri"/>
              </a:rPr>
              <a:t>Across domains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Climate research needs coherent multi-source documentation</a:t>
            </a:r>
          </a:p>
          <a:p>
            <a:pPr>
              <a:spcAft>
                <a:spcPts val="1000"/>
              </a:spcAft>
              <a:buChar char="•"/>
              <a:lnSpc>
                <a:spcPts val="2200"/>
              </a:lnSpc>
            </a:pPr>
            <a:r>
              <a:rPr sz="2000" b="0">
                <a:solidFill>
                  <a:srgbClr val="333333"/>
                </a:solidFill>
                <a:latin typeface="Calibri"/>
              </a:rPr>
              <a:t>The same chapter principles adapt to each constraint without requiring identical tooling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Emerging ideas such as auditability mechanisms and edge-sensor version sync</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Outline emerging trends including auditability ledgers and real-time or edge versioning</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Automating documentation updates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Manual documentation drifts when datasets update frequently or many teams contribute</a:t>
            </a:r>
          </a:p>
          <a:p>
            <a:pPr>
              <a:spcAft>
                <a:spcPts val="1000"/>
              </a:spcAft>
              <a:buChar char="•"/>
              <a:lnSpc>
                <a:spcPts val="2200"/>
              </a:lnSpc>
            </a:pPr>
            <a:r>
              <a:rPr sz="2000" b="0">
                <a:solidFill>
                  <a:srgbClr val="333333"/>
                </a:solidFill>
                <a:latin typeface="Calibri"/>
              </a:rPr>
              <a:t>Integrating metadata extraction into processing pipelines reduces error and lag</a:t>
            </a:r>
          </a:p>
          <a:p>
            <a:pPr>
              <a:spcAft>
                <a:spcPts val="1000"/>
              </a:spcAft>
              <a:buChar char="•"/>
              <a:lnSpc>
                <a:spcPts val="2200"/>
              </a:lnSpc>
            </a:pPr>
            <a:r>
              <a:rPr sz="2000" b="0">
                <a:solidFill>
                  <a:srgbClr val="333333"/>
                </a:solidFill>
                <a:latin typeface="Calibri"/>
              </a:rPr>
              <a:t>Tools that already version data can emit creation dates, sources, transforms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8.41 — Auto-Generated Training Metadata</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8.41 — hands-on module</a:t>
            </a:r>
          </a:p>
          <a:p>
            <a:pPr>
              <a:spcAft>
                <a:spcPts val="1000"/>
              </a:spcAft>
              <a:buChar char="•"/>
              <a:lnSpc>
                <a:spcPts val="2200"/>
              </a:lnSpc>
            </a:pPr>
            <a:r>
              <a:rPr sz="2000" b="0">
                <a:solidFill>
                  <a:srgbClr val="333333"/>
                </a:solidFill>
                <a:latin typeface="Calibri"/>
              </a:rPr>
              <a:t>Example 8.41 shows JSON metadata emitted after model training</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`modules/chapter8/example41/`</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8.41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a:t>
            </a:r>
          </a:p>
          <a:p>
            <a:pPr>
              <a:lnSpc>
                <a:spcPts val="2200"/>
              </a:lnSpc>
              <a:spcAft>
                <a:spcPts val="400"/>
              </a:spcAft>
            </a:pPr>
            <a:r>
              <a:rPr sz="2000" b="0">
                <a:solidFill>
                  <a:srgbClr val="333333"/>
                </a:solidFill>
                <a:latin typeface="Consolas"/>
              </a:rPr>
              <a:t>  "dataset_version": "v1.0",</a:t>
            </a:r>
          </a:p>
          <a:p>
            <a:pPr>
              <a:lnSpc>
                <a:spcPts val="2200"/>
              </a:lnSpc>
              <a:spcAft>
                <a:spcPts val="400"/>
              </a:spcAft>
            </a:pPr>
            <a:r>
              <a:rPr sz="2000" b="0">
                <a:solidFill>
                  <a:srgbClr val="333333"/>
                </a:solidFill>
                <a:latin typeface="Consolas"/>
              </a:rPr>
              <a:t>  "creator": "Data Science Team",</a:t>
            </a:r>
          </a:p>
          <a:p>
            <a:pPr>
              <a:lnSpc>
                <a:spcPts val="2200"/>
              </a:lnSpc>
              <a:spcAft>
                <a:spcPts val="400"/>
              </a:spcAft>
            </a:pPr>
            <a:r>
              <a:rPr sz="2000" b="0">
                <a:solidFill>
                  <a:srgbClr val="333333"/>
                </a:solidFill>
                <a:latin typeface="Consolas"/>
              </a:rPr>
              <a:t>  "creation_date": "2024-12-01",</a:t>
            </a:r>
          </a:p>
          <a:p>
            <a:pPr>
              <a:lnSpc>
                <a:spcPts val="2200"/>
              </a:lnSpc>
              <a:spcAft>
                <a:spcPts val="400"/>
              </a:spcAft>
            </a:pPr>
            <a:r>
              <a:rPr sz="2000" b="0">
                <a:solidFill>
                  <a:srgbClr val="333333"/>
                </a:solidFill>
                <a:latin typeface="Consolas"/>
              </a:rPr>
              <a:t>  "last_modified": "2024-12-02",</a:t>
            </a:r>
          </a:p>
          <a:p>
            <a:pPr>
              <a:lnSpc>
                <a:spcPts val="2200"/>
              </a:lnSpc>
              <a:spcAft>
                <a:spcPts val="400"/>
              </a:spcAft>
            </a:pPr>
            <a:r>
              <a:rPr sz="2000" b="0">
                <a:solidFill>
                  <a:srgbClr val="333333"/>
                </a:solidFill>
                <a:latin typeface="Consolas"/>
              </a:rPr>
              <a:t>  "transformation": "Missing values imputed using median",</a:t>
            </a:r>
          </a:p>
          <a:p>
            <a:pPr>
              <a:lnSpc>
                <a:spcPts val="2200"/>
              </a:lnSpc>
              <a:spcAft>
                <a:spcPts val="400"/>
              </a:spcAft>
            </a:pPr>
            <a:r>
              <a:rPr sz="2000" b="0">
                <a:solidFill>
                  <a:srgbClr val="333333"/>
                </a:solidFill>
                <a:latin typeface="Consolas"/>
              </a:rPr>
              <a:t>  "source": "Company internal database",</a:t>
            </a:r>
          </a:p>
          <a:p>
            <a:pPr>
              <a:lnSpc>
                <a:spcPts val="2200"/>
              </a:lnSpc>
              <a:spcAft>
                <a:spcPts val="400"/>
              </a:spcAft>
            </a:pPr>
            <a:r>
              <a:rPr sz="2000" b="0">
                <a:solidFill>
                  <a:srgbClr val="333333"/>
                </a:solidFill>
                <a:latin typeface="Consolas"/>
              </a:rPr>
              <a:t>  "data_source": "https://company.internal/data_source_v1"</a:t>
            </a:r>
          </a:p>
          <a:p>
            <a:pPr>
              <a:lnSpc>
                <a:spcPts val="2200"/>
              </a:lnSpc>
              <a:spcAft>
                <a:spcPts val="400"/>
              </a:spcAft>
            </a:pPr>
            <a:r>
              <a:rPr sz="2000" b="0">
                <a:solidFill>
                  <a:srgbClr val="333333"/>
                </a:solidFill>
                <a:latin typeface="Consolas"/>
              </a:rPr>
              <a: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Pipelines, lineage, and compliance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Version control should travel with pipeline stages from ingestion through cleaning to</a:t>
            </a:r>
          </a:p>
          <a:p>
            <a:pPr>
              <a:spcAft>
                <a:spcPts val="1000"/>
              </a:spcAft>
              <a:buChar char="•"/>
              <a:lnSpc>
                <a:spcPts val="2200"/>
              </a:lnSpc>
            </a:pPr>
            <a:r>
              <a:rPr sz="2000" b="0">
                <a:solidFill>
                  <a:srgbClr val="333333"/>
                </a:solidFill>
                <a:latin typeface="Calibri"/>
              </a:rPr>
              <a:t>Lineage platforms help demonstrate where data came from, how they were transformed</a:t>
            </a:r>
          </a:p>
          <a:p>
            <a:pPr>
              <a:spcAft>
                <a:spcPts val="1000"/>
              </a:spcAft>
              <a:buChar char="•"/>
              <a:lnSpc>
                <a:spcPts val="2200"/>
              </a:lnSpc>
            </a:pPr>
            <a:r>
              <a:rPr sz="2000" b="0">
                <a:solidFill>
                  <a:srgbClr val="333333"/>
                </a:solidFill>
                <a:latin typeface="Calibri"/>
              </a:rPr>
              <a:t>Sensitive assets may further require encryption and restricted remotes alongside ordinary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8.43 — DVC Stages in a Sensor Pipeline</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8.43 — hands-on module</a:t>
            </a:r>
          </a:p>
          <a:p>
            <a:pPr>
              <a:spcAft>
                <a:spcPts val="1000"/>
              </a:spcAft>
              <a:buChar char="•"/>
              <a:lnSpc>
                <a:spcPts val="2200"/>
              </a:lnSpc>
            </a:pPr>
            <a:r>
              <a:rPr sz="2000" b="0">
                <a:solidFill>
                  <a:srgbClr val="333333"/>
                </a:solidFill>
                <a:latin typeface="Calibri"/>
              </a:rPr>
              <a:t>Example 8.43 wires ingest, clean</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`modules/chapter8/example43/`</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8.43 — listing</a:t>
            </a:r>
          </a:p>
        </p:txBody>
      </p:sp>
      <p:sp>
        <p:nvSpPr>
          <p:cNvPr id="3" name="TextBox 2"/>
          <p:cNvSpPr txBox="1"/>
          <p:nvPr/>
        </p:nvSpPr>
        <p:spPr>
          <a:xfrm>
            <a:off x="548640" y="1143000"/>
            <a:ext cx="11064240" cy="5029200"/>
          </a:xfrm>
          <a:prstGeom prst="rect">
            <a:avLst/>
          </a:prstGeom>
          <a:solidFill>
            <a:srgbClr val="F4F4F4"/>
          </a:solidFill>
        </p:spPr>
        <p:txBody>
          <a:bodyPr wrap="square">
            <a:noAutofit/>
          </a:bodyPr>
          <a:lstStyle/>
          <a:p>
            <a:pPr>
              <a:lnSpc>
                <a:spcPts val="2200"/>
              </a:lnSpc>
              <a:spcAft>
                <a:spcPts val="400"/>
              </a:spcAft>
            </a:pPr>
            <a:r>
              <a:rPr sz="2000" b="0">
                <a:solidFill>
                  <a:srgbClr val="333333"/>
                </a:solidFill>
                <a:latin typeface="Consolas"/>
              </a:rPr>
              <a:t>version: "v1.0"</a:t>
            </a:r>
          </a:p>
          <a:p>
            <a:pPr>
              <a:lnSpc>
                <a:spcPts val="2200"/>
              </a:lnSpc>
              <a:spcAft>
                <a:spcPts val="400"/>
              </a:spcAft>
            </a:pPr>
            <a:r>
              <a:rPr sz="2000" b="0">
                <a:solidFill>
                  <a:srgbClr val="333333"/>
                </a:solidFill>
                <a:latin typeface="Consolas"/>
              </a:rPr>
              <a:t>stages:</a:t>
            </a:r>
          </a:p>
          <a:p>
            <a:pPr>
              <a:lnSpc>
                <a:spcPts val="2200"/>
              </a:lnSpc>
              <a:spcAft>
                <a:spcPts val="400"/>
              </a:spcAft>
            </a:pPr>
            <a:r>
              <a:rPr sz="2000" b="0">
                <a:solidFill>
                  <a:srgbClr val="333333"/>
                </a:solidFill>
                <a:latin typeface="Consolas"/>
              </a:rPr>
              <a:t>  - name: ingest_data</a:t>
            </a:r>
          </a:p>
          <a:p>
            <a:pPr>
              <a:lnSpc>
                <a:spcPts val="2200"/>
              </a:lnSpc>
              <a:spcAft>
                <a:spcPts val="400"/>
              </a:spcAft>
            </a:pPr>
            <a:r>
              <a:rPr sz="2000" b="0">
                <a:solidFill>
                  <a:srgbClr val="333333"/>
                </a:solidFill>
                <a:latin typeface="Consolas"/>
              </a:rPr>
              <a:t>    cmd: python ingest_data.py</a:t>
            </a:r>
          </a:p>
          <a:p>
            <a:pPr>
              <a:lnSpc>
                <a:spcPts val="2200"/>
              </a:lnSpc>
              <a:spcAft>
                <a:spcPts val="400"/>
              </a:spcAft>
            </a:pPr>
            <a:r>
              <a:rPr sz="2000" b="0">
                <a:solidFill>
                  <a:srgbClr val="333333"/>
                </a:solidFill>
                <a:latin typeface="Consolas"/>
              </a:rPr>
              <a:t>    deps:</a:t>
            </a:r>
          </a:p>
          <a:p>
            <a:pPr>
              <a:lnSpc>
                <a:spcPts val="2200"/>
              </a:lnSpc>
              <a:spcAft>
                <a:spcPts val="400"/>
              </a:spcAft>
            </a:pPr>
            <a:r>
              <a:rPr sz="2000" b="0">
                <a:solidFill>
                  <a:srgbClr val="333333"/>
                </a:solidFill>
                <a:latin typeface="Consolas"/>
              </a:rPr>
              <a:t>      - sensor_data/raw_data.csv</a:t>
            </a:r>
          </a:p>
          <a:p>
            <a:pPr>
              <a:lnSpc>
                <a:spcPts val="2200"/>
              </a:lnSpc>
              <a:spcAft>
                <a:spcPts val="400"/>
              </a:spcAft>
            </a:pPr>
            <a:r>
              <a:rPr sz="2000" b="0">
                <a:solidFill>
                  <a:srgbClr val="333333"/>
                </a:solidFill>
                <a:latin typeface="Consolas"/>
              </a:rPr>
              <a:t>  - name: clean_data</a:t>
            </a:r>
          </a:p>
          <a:p>
            <a:pPr>
              <a:lnSpc>
                <a:spcPts val="2200"/>
              </a:lnSpc>
              <a:spcAft>
                <a:spcPts val="400"/>
              </a:spcAft>
            </a:pPr>
            <a:r>
              <a:rPr sz="2000" b="0">
                <a:solidFill>
                  <a:srgbClr val="333333"/>
                </a:solidFill>
                <a:latin typeface="Consolas"/>
              </a:rPr>
              <a:t>    cmd: python clean_data.py</a:t>
            </a:r>
          </a:p>
          <a:p>
            <a:pPr>
              <a:lnSpc>
                <a:spcPts val="2200"/>
              </a:lnSpc>
              <a:spcAft>
                <a:spcPts val="400"/>
              </a:spcAft>
            </a:pPr>
            <a:r>
              <a:rPr sz="2000" b="0">
                <a:solidFill>
                  <a:srgbClr val="333333"/>
                </a:solidFill>
                <a:latin typeface="Consolas"/>
              </a:rPr>
              <a:t>    deps:</a:t>
            </a:r>
          </a:p>
          <a:p>
            <a:pPr>
              <a:lnSpc>
                <a:spcPts val="2200"/>
              </a:lnSpc>
              <a:spcAft>
                <a:spcPts val="400"/>
              </a:spcAft>
            </a:pPr>
            <a:r>
              <a:rPr sz="2000" b="0">
                <a:solidFill>
                  <a:srgbClr val="333333"/>
                </a:solidFill>
                <a:latin typeface="Consolas"/>
              </a:rPr>
              <a:t>      - sensor_data/raw_data.csv</a:t>
            </a:r>
          </a:p>
          <a:p>
            <a:pPr>
              <a:lnSpc>
                <a:spcPts val="2200"/>
              </a:lnSpc>
              <a:spcAft>
                <a:spcPts val="400"/>
              </a:spcAft>
            </a:pPr>
            <a:r>
              <a:rPr sz="2000" b="0">
                <a:solidFill>
                  <a:srgbClr val="333333"/>
                </a:solidFill>
                <a:latin typeface="Consolas"/>
              </a:rPr>
              <a:t>  - name: train_model</a:t>
            </a:r>
          </a:p>
          <a:p>
            <a:pPr>
              <a:lnSpc>
                <a:spcPts val="2200"/>
              </a:lnSpc>
              <a:spcAft>
                <a:spcPts val="400"/>
              </a:spcAft>
            </a:pPr>
            <a:r>
              <a:rPr sz="2000" b="0">
                <a:solidFill>
                  <a:srgbClr val="333333"/>
                </a:solidFill>
                <a:latin typeface="Consolas"/>
              </a:rPr>
              <a:t>    cmd: python train_model.py</a:t>
            </a:r>
          </a:p>
          <a:p>
            <a:pPr>
              <a:lnSpc>
                <a:spcPts val="2200"/>
              </a:lnSpc>
              <a:spcAft>
                <a:spcPts val="400"/>
              </a:spcAft>
            </a:pPr>
            <a:r>
              <a:rPr sz="2000" b="0">
                <a:solidFill>
                  <a:srgbClr val="333333"/>
                </a:solidFill>
                <a:latin typeface="Consolas"/>
              </a:rPr>
              <a:t>    deps:</a:t>
            </a:r>
          </a:p>
          <a:p>
            <a:pPr>
              <a:lnSpc>
                <a:spcPts val="2200"/>
              </a:lnSpc>
              <a:spcAft>
                <a:spcPts val="400"/>
              </a:spcAft>
            </a:pPr>
            <a:r>
              <a:rPr sz="2000" b="0">
                <a:solidFill>
                  <a:srgbClr val="333333"/>
                </a:solidFill>
                <a:latin typeface="Consolas"/>
              </a:rPr>
              <a:t>      - cleaned_data.csv</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Emerging trends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Version sync across cloud and edge devices</a:t>
            </a:r>
          </a:p>
          <a:p>
            <a:pPr>
              <a:spcAft>
                <a:spcPts val="1000"/>
              </a:spcAft>
              <a:buChar char="•"/>
              <a:lnSpc>
                <a:spcPts val="2200"/>
              </a:lnSpc>
            </a:pPr>
            <a:r>
              <a:rPr sz="2000" b="0">
                <a:solidFill>
                  <a:srgbClr val="333333"/>
                </a:solidFill>
                <a:latin typeface="Calibri"/>
              </a:rPr>
              <a:t>Not every idea is production-ready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8.47 — Blockchain Ideas for Version Auditability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8.47 — hands-on module</a:t>
            </a:r>
          </a:p>
          <a:p>
            <a:pPr>
              <a:spcAft>
                <a:spcPts val="1000"/>
              </a:spcAft>
              <a:buChar char="•"/>
              <a:lnSpc>
                <a:spcPts val="2200"/>
              </a:lnSpc>
            </a:pPr>
            <a:r>
              <a:rPr sz="2000" b="0">
                <a:solidFill>
                  <a:srgbClr val="333333"/>
                </a:solidFill>
                <a:latin typeface="Calibri"/>
              </a:rPr>
              <a:t>Aiming for verifiable authenticity and integrity among stakeholders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`modules/chapter8/example47/`</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Advanced practice automates metadata, embeds versioning in pipelines</a:t>
            </a:r>
          </a:p>
          <a:p>
            <a:pPr>
              <a:spcAft>
                <a:spcPts val="1000"/>
              </a:spcAft>
              <a:buChar char="•"/>
              <a:lnSpc>
                <a:spcPts val="2200"/>
              </a:lnSpc>
            </a:pPr>
            <a:r>
              <a:rPr sz="2000" b="0">
                <a:solidFill>
                  <a:srgbClr val="333333"/>
                </a:solidFill>
                <a:latin typeface="Calibri"/>
              </a:rPr>
              <a:t>Emerging ideas push toward continuous, distributed, and highly auditable histories</a:t>
            </a:r>
          </a:p>
          <a:p>
            <a:pPr>
              <a:spcAft>
                <a:spcPts val="1000"/>
              </a:spcAft>
              <a:buChar char="•"/>
              <a:lnSpc>
                <a:spcPts val="2200"/>
              </a:lnSpc>
            </a:pPr>
            <a:r>
              <a:rPr sz="2000" b="0">
                <a:solidFill>
                  <a:srgbClr val="333333"/>
                </a:solidFill>
                <a:latin typeface="Calibri"/>
              </a:rPr>
              <a:t>The durable lesson of the chapter remains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Complete the quiz for this part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8 — Dataset Documentation and Version Control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