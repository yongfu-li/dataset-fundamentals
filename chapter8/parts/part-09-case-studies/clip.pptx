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Abstract practices become concrete in domain settings. This part shows documentation and versioning at work in climate-agriculture research, predictive maintenance, and clinical-trial collaboration—each with different sharing, reproducibility, and compliance pressures.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how research multi-source datasets use shared templates and version tags, explain DVC pinning for industrial sensor retraining, and outline governed package sharing for clinical collaboration with role-based access.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reuse fails when undocumented transforms hide in informal notes. Industrial retraining fails when two runs use different sensor snapshots under the same code checkout. Clinical collaboration fails when sensitive releases lack auditability and access control. The case studies map practices to those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8.38 follows a multi-year climate agriculture corpus combining satellite imagery, weather, yields, and socioeconomic indicators across teams. One metadata template, one dictionary, and one provenance record per release—with version tags—let external collaborators interpret and audit without reconstructing history. Inspect the JSON listing and module files for this example to see a variable-level documentation fragment.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8.39 centers on daily factory sensor feeds and failure-prediction retraining. DVC tracks each raw batch, preprocessing output, and model artifact, pairing dataset tags with model tags so April failures can recover the matching snapshot and pipeline. Learners can inspect the command listing and module files for this example to see the add-commit-push pattern in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8.40 involves clinical data managers, statisticians, regulators, and machine learning engineers sharing sensitive patient data. A governed catalog, release notes, role-restricted access, and links from package versions to analyses support compliance across time zones. Review the module files for this example for the package-push collaboration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templates and provenance scale multi-collector research. Pinning data to models stabilizes industrial retraining. Governed catalogs with audit logs stabilize regulated collaboration. Across domains, documentation and version control succeed only when they are release habits, not after-the-fact essays.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research needs coherent multi-source documentation; predictive maintenance needs DVC-style pins from sensors to models; clinical trials need access-controlled, auditable package versions. The same chapter principles adapt to each constraint without requiring identical tooling.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looks beyond static README files and manual commits toward auto-generated metadata, lineage-aware pipelines, and emerging ideas such as auditability mechanisms and edge-sensor version sync.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Case studies</a:t>
            </a:r>
          </a:p>
          <a:p>
            <a:pPr algn="ctr">
              <a:lnSpc>
                <a:spcPts val="2200"/>
              </a:lnSpc>
              <a:spcBef>
                <a:spcPts val="1400"/>
              </a:spcBef>
            </a:pPr>
            <a:r>
              <a:rPr sz="2600" b="0">
                <a:solidFill>
                  <a:srgbClr val="333333"/>
                </a:solidFill>
                <a:latin typeface="Calibri"/>
              </a:rPr>
              <a:t>Abstract practices become concrete in domain settings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governed package sharing for clinical collaboration with role-based access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Research, industry, and clinical stakes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Research reuse fails when undocumented transforms hide in informal notes</a:t>
            </a:r>
          </a:p>
          <a:p>
            <a:pPr>
              <a:spcAft>
                <a:spcPts val="1000"/>
              </a:spcAft>
              <a:buChar char="•"/>
              <a:lnSpc>
                <a:spcPts val="2200"/>
              </a:lnSpc>
            </a:pPr>
            <a:r>
              <a:rPr sz="2000" b="0">
                <a:solidFill>
                  <a:srgbClr val="333333"/>
                </a:solidFill>
                <a:latin typeface="Calibri"/>
              </a:rPr>
              <a:t>Industrial retraining fails when two runs use different sensor snapshots under the same</a:t>
            </a:r>
          </a:p>
          <a:p>
            <a:pPr>
              <a:spcAft>
                <a:spcPts val="1000"/>
              </a:spcAft>
              <a:buChar char="•"/>
              <a:lnSpc>
                <a:spcPts val="2200"/>
              </a:lnSpc>
            </a:pPr>
            <a:r>
              <a:rPr sz="2000" b="0">
                <a:solidFill>
                  <a:srgbClr val="333333"/>
                </a:solidFill>
                <a:latin typeface="Calibri"/>
              </a:rPr>
              <a:t>Clinical collaboration fails when sensitive releases lack auditability and access control</a:t>
            </a:r>
          </a:p>
          <a:p>
            <a:pPr>
              <a:spcAft>
                <a:spcPts val="1000"/>
              </a:spcAft>
              <a:buChar char="•"/>
              <a:lnSpc>
                <a:spcPts val="2200"/>
              </a:lnSpc>
            </a:pPr>
            <a:r>
              <a:rPr sz="2000" b="0">
                <a:solidFill>
                  <a:srgbClr val="333333"/>
                </a:solidFill>
                <a:latin typeface="Calibri"/>
              </a:rPr>
              <a:t>The case studies map practices to those failure modes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8.38 — Climate Agriculture Research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8.38 — hands-on module</a:t>
            </a:r>
          </a:p>
          <a:p>
            <a:pPr>
              <a:spcAft>
                <a:spcPts val="1000"/>
              </a:spcAft>
              <a:buChar char="•"/>
              <a:lnSpc>
                <a:spcPts val="2200"/>
              </a:lnSpc>
            </a:pPr>
            <a:r>
              <a:rPr sz="2000" b="0">
                <a:solidFill>
                  <a:srgbClr val="333333"/>
                </a:solidFill>
                <a:latin typeface="Calibri"/>
              </a:rPr>
              <a:t>Socioeconomic indicators across teams</a:t>
            </a:r>
          </a:p>
          <a:p>
            <a:pPr>
              <a:spcAft>
                <a:spcPts val="1000"/>
              </a:spcAft>
              <a:buChar char="•"/>
              <a:lnSpc>
                <a:spcPts val="2200"/>
              </a:lnSpc>
            </a:pPr>
            <a:r>
              <a:rPr sz="2000" b="0">
                <a:solidFill>
                  <a:srgbClr val="333333"/>
                </a:solidFill>
                <a:latin typeface="Calibri"/>
              </a:rPr>
              <a:t>One metadata template, one dictionary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"precipitation_mm": {</a:t>
            </a:r>
          </a:p>
          <a:p>
            <a:pPr>
              <a:lnSpc>
                <a:spcPts val="2200"/>
              </a:lnSpc>
              <a:spcAft>
                <a:spcPts val="400"/>
              </a:spcAft>
            </a:pPr>
            <a:r>
              <a:rPr sz="2000" b="0">
                <a:solidFill>
                  <a:srgbClr val="333333"/>
                </a:solidFill>
                <a:latin typeface="Consolas"/>
              </a:rPr>
              <a:t>    "description": "Monthly precipitation in millimeters",</a:t>
            </a:r>
          </a:p>
          <a:p>
            <a:pPr>
              <a:lnSpc>
                <a:spcPts val="2200"/>
              </a:lnSpc>
              <a:spcAft>
                <a:spcPts val="400"/>
              </a:spcAft>
            </a:pPr>
            <a:r>
              <a:rPr sz="2000" b="0">
                <a:solidFill>
                  <a:srgbClr val="333333"/>
                </a:solidFill>
                <a:latin typeface="Consolas"/>
              </a:rPr>
              <a:t>    "source": "Satellite-derived weather product",</a:t>
            </a:r>
          </a:p>
          <a:p>
            <a:pPr>
              <a:lnSpc>
                <a:spcPts val="2200"/>
              </a:lnSpc>
              <a:spcAft>
                <a:spcPts val="400"/>
              </a:spcAft>
            </a:pPr>
            <a:r>
              <a:rPr sz="2000" b="0">
                <a:solidFill>
                  <a:srgbClr val="333333"/>
                </a:solidFill>
                <a:latin typeface="Consolas"/>
              </a:rPr>
              <a:t>    "unit": "mm",</a:t>
            </a:r>
          </a:p>
          <a:p>
            <a:pPr>
              <a:lnSpc>
                <a:spcPts val="2200"/>
              </a:lnSpc>
              <a:spcAft>
                <a:spcPts val="400"/>
              </a:spcAft>
            </a:pPr>
            <a:r>
              <a:rPr sz="2000" b="0">
                <a:solidFill>
                  <a:srgbClr val="333333"/>
                </a:solidFill>
                <a:latin typeface="Consolas"/>
              </a:rPr>
              <a:t>    "method": "Interpolated before regional aggregation"</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8.39 — Predictive Maintenance Versioning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8.39 — hands-on module</a:t>
            </a:r>
          </a:p>
          <a:p>
            <a:pPr>
              <a:spcAft>
                <a:spcPts val="1000"/>
              </a:spcAft>
              <a:buChar char="•"/>
              <a:lnSpc>
                <a:spcPts val="2200"/>
              </a:lnSpc>
            </a:pPr>
            <a:r>
              <a:rPr sz="2000" b="0">
                <a:solidFill>
                  <a:srgbClr val="333333"/>
                </a:solidFill>
                <a:latin typeface="Calibri"/>
              </a:rPr>
              <a:t>Example 8.39 centers on daily factory sensor feeds and failure-prediction retraining</a:t>
            </a:r>
          </a:p>
          <a:p>
            <a:pPr>
              <a:spcAft>
                <a:spcPts val="1000"/>
              </a:spcAft>
              <a:buChar char="•"/>
              <a:lnSpc>
                <a:spcPts val="2200"/>
              </a:lnSpc>
            </a:pPr>
            <a:r>
              <a:rPr sz="2000" b="0">
                <a:solidFill>
                  <a:srgbClr val="333333"/>
                </a:solidFill>
                <a:latin typeface="Calibri"/>
              </a:rPr>
              <a:t>DVC tracks each raw batch, preprocessing output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dvc add sensor_data/April_2024.csv</a:t>
            </a:r>
          </a:p>
          <a:p>
            <a:pPr>
              <a:lnSpc>
                <a:spcPts val="2200"/>
              </a:lnSpc>
              <a:spcAft>
                <a:spcPts val="400"/>
              </a:spcAft>
            </a:pPr>
            <a:r>
              <a:rPr sz="2000" b="0">
                <a:solidFill>
                  <a:srgbClr val="333333"/>
                </a:solidFill>
                <a:latin typeface="Consolas"/>
              </a:rPr>
              <a:t>git commit -m "Added April 2024 sensor data"</a:t>
            </a:r>
          </a:p>
          <a:p>
            <a:pPr>
              <a:lnSpc>
                <a:spcPts val="2200"/>
              </a:lnSpc>
              <a:spcAft>
                <a:spcPts val="400"/>
              </a:spcAft>
            </a:pPr>
            <a:r>
              <a:rPr sz="2000" b="0">
                <a:solidFill>
                  <a:srgbClr val="333333"/>
                </a:solidFill>
                <a:latin typeface="Consolas"/>
              </a:rPr>
              <a:t>dvc push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8.40 — Clinical Trial Collaboration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8.40 — hands-on module</a:t>
            </a:r>
          </a:p>
          <a:p>
            <a:pPr>
              <a:spcAft>
                <a:spcPts val="1000"/>
              </a:spcAft>
              <a:buChar char="•"/>
              <a:lnSpc>
                <a:spcPts val="2200"/>
              </a:lnSpc>
            </a:pPr>
            <a:r>
              <a:rPr sz="2000" b="0">
                <a:solidFill>
                  <a:srgbClr val="333333"/>
                </a:solidFill>
                <a:latin typeface="Calibri"/>
              </a:rPr>
              <a:t>Example 8.40 involves clinical data managers, statisticians, regulators</a:t>
            </a:r>
          </a:p>
          <a:p>
            <a:pPr>
              <a:spcAft>
                <a:spcPts val="1000"/>
              </a:spcAft>
              <a:buChar char="•"/>
              <a:lnSpc>
                <a:spcPts val="2200"/>
              </a:lnSpc>
            </a:pPr>
            <a:r>
              <a:rPr sz="2000" b="0">
                <a:solidFill>
                  <a:srgbClr val="333333"/>
                </a:solidFill>
                <a:latin typeface="Calibri"/>
              </a:rPr>
              <a:t>A governed catalog, release notes, role-restricted access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`modules/chapter8/example40/`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quilt push my_dataset_v1</a:t>
            </a:r>
          </a:p>
          <a:p>
            <a:pPr>
              <a:lnSpc>
                <a:spcPts val="2200"/>
              </a:lnSpc>
              <a:spcAft>
                <a:spcPts val="400"/>
              </a:spcAft>
            </a:pPr>
            <a:r>
              <a:rPr sz="2000" b="0">
                <a:solidFill>
                  <a:srgbClr val="333333"/>
                </a:solidFill>
                <a:latin typeface="Consolas"/>
              </a:rPr>
              <a:t>quilt push my_dataset_v2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Cross-case lessons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Shared templates and provenance scale multi-collector research</a:t>
            </a:r>
          </a:p>
          <a:p>
            <a:pPr>
              <a:spcAft>
                <a:spcPts val="1000"/>
              </a:spcAft>
              <a:buChar char="•"/>
              <a:lnSpc>
                <a:spcPts val="2200"/>
              </a:lnSpc>
            </a:pPr>
            <a:r>
              <a:rPr sz="2000" b="0">
                <a:solidFill>
                  <a:srgbClr val="333333"/>
                </a:solidFill>
                <a:latin typeface="Calibri"/>
              </a:rPr>
              <a:t>Pinning data to models stabilizes industrial retraining</a:t>
            </a:r>
          </a:p>
          <a:p>
            <a:pPr>
              <a:spcAft>
                <a:spcPts val="1000"/>
              </a:spcAft>
              <a:buChar char="•"/>
              <a:lnSpc>
                <a:spcPts val="2200"/>
              </a:lnSpc>
            </a:pPr>
            <a:r>
              <a:rPr sz="2000" b="0">
                <a:solidFill>
                  <a:srgbClr val="333333"/>
                </a:solidFill>
                <a:latin typeface="Calibri"/>
              </a:rPr>
              <a:t>Governed catalogs with audit logs stabilize regulated collaboration</a:t>
            </a:r>
          </a:p>
          <a:p>
            <a:pPr>
              <a:spcAft>
                <a:spcPts val="1000"/>
              </a:spcAft>
              <a:buChar char="•"/>
              <a:lnSpc>
                <a:spcPts val="2200"/>
              </a:lnSpc>
            </a:pPr>
            <a:r>
              <a:rPr sz="2000" b="0">
                <a:solidFill>
                  <a:srgbClr val="333333"/>
                </a:solidFill>
                <a:latin typeface="Calibri"/>
              </a:rPr>
              <a:t>Across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Climate research needs coherent multi-source documentation</a:t>
            </a:r>
          </a:p>
          <a:p>
            <a:pPr>
              <a:spcAft>
                <a:spcPts val="1000"/>
              </a:spcAft>
              <a:buChar char="•"/>
              <a:lnSpc>
                <a:spcPts val="2200"/>
              </a:lnSpc>
            </a:pPr>
            <a:r>
              <a:rPr sz="2000" b="0">
                <a:solidFill>
                  <a:srgbClr val="333333"/>
                </a:solidFill>
                <a:latin typeface="Calibri"/>
              </a:rPr>
              <a:t>The same chapter principles adapt to each constraint without requiring identical tooling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Emerging ideas such as auditability mechanisms and edge-sensor version sync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Case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