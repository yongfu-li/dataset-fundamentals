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chapter closes by looking beyond static README files and manual commits. This final part covers auto-generated metadata, lineage-aware pipeline stages, privacy-aware storage ideas, and emerging directions such as stronger auditability mechanisms and edge-sensor version sync.</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learners should be able to explain automated metadata capture after training, describe DVC stages embedded in sensor pipelines, recognize lineage and privacy pressures on documentation, and outline emerging trends including auditability ledgers and real-time or edge versioning.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Manual documentation drifts when datasets update frequently or many teams contribute. Integrating metadata extraction into processing pipelines reduces error and lag. Tools that already version data can emit creation dates, sources, transforms, and related fields whenever a new release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8.41 shows JSON metadata emitted after model training: dataset version, creators, dates, transformation notes, and source links. Learners can inspect the listing and module files for this example to see a standardized machine-readable documentation fragment produced by the workflow rather than rewritten by hand.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Version control should travel with pipeline stages from ingestion through cleaning to training. Lineage platforms help demonstrate where data came from, how they were transformed, and who accessed them—important under privacy regimes. Sensitive assets may further require encryption and restricted remotes alongside ordinary version pointers.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8.43 wires ingest, clean, and train stages so each sensor transformation links to the models it feeds. Inspect the YAML listing and module files for this example to see how stage names, commands, and dependencies keep pipeline history executable. Monitoring systems can log which dataset version ran at each stage.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Trends include AI-assisted documentation and anomaly detection, decentralized or blockchain-inspired immutable audit ideas, real-time versioning for streaming data, stronger metadata standards, and version sync across cloud and edge devices. Not every idea is production-ready, but each responds to scale, trust, or latency pressures already visible today.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8.47 sketches blockchain-style ledgers as an emerging approach to auditable dataset update history, aiming for verifiable authenticity and integrity among stakeholders. The example 47 module for this chapter frames the idea as a trend, not a required textbook default. Practical teams should weigh maturity, cost, and governance fit before adoption.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Advanced practice automates metadata, embeds versioning in pipelines, and connects lineage to compliance. Emerging ideas push toward continuous, distributed, and highly auditable histories. The durable lesson of the chapter remains: document meaning, version change, and keep both synchronized as data move through real systems.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Complete the quiz for this part, then return to the chapter path or continue to the full chapter deck. Later study can revisit modules and listings for any example that needs a deeper inspection.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8 — Advanced topics and emerging trends</a:t>
            </a:r>
          </a:p>
          <a:p>
            <a:pPr algn="ctr">
              <a:lnSpc>
                <a:spcPts val="2200"/>
              </a:lnSpc>
              <a:spcBef>
                <a:spcPts val="1400"/>
              </a:spcBef>
            </a:pPr>
            <a:r>
              <a:rPr sz="2600" b="0">
                <a:solidFill>
                  <a:srgbClr val="333333"/>
                </a:solidFill>
                <a:latin typeface="Calibri"/>
              </a:rPr>
              <a:t>The chapter closes by looking beyond static README files and manual commits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Outline emerging trends including auditability ledgers and real-time or edge versioning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Automating documentation updates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Manual documentation drifts when datasets update frequently or many teams contribute</a:t>
            </a:r>
          </a:p>
          <a:p>
            <a:pPr>
              <a:spcAft>
                <a:spcPts val="1000"/>
              </a:spcAft>
              <a:buChar char="•"/>
              <a:lnSpc>
                <a:spcPts val="2200"/>
              </a:lnSpc>
            </a:pPr>
            <a:r>
              <a:rPr sz="2000" b="0">
                <a:solidFill>
                  <a:srgbClr val="333333"/>
                </a:solidFill>
                <a:latin typeface="Calibri"/>
              </a:rPr>
              <a:t>Integrating metadata extraction into processing pipelines reduces error and lag</a:t>
            </a:r>
          </a:p>
          <a:p>
            <a:pPr>
              <a:spcAft>
                <a:spcPts val="1000"/>
              </a:spcAft>
              <a:buChar char="•"/>
              <a:lnSpc>
                <a:spcPts val="2200"/>
              </a:lnSpc>
            </a:pPr>
            <a:r>
              <a:rPr sz="2000" b="0">
                <a:solidFill>
                  <a:srgbClr val="333333"/>
                </a:solidFill>
                <a:latin typeface="Calibri"/>
              </a:rPr>
              <a:t>Tools that already version data can emit creation dates, sources, transforms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8.41 — Auto-Generated Training Metadata</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8.41 — hands-on module</a:t>
            </a:r>
          </a:p>
          <a:p>
            <a:pPr>
              <a:spcAft>
                <a:spcPts val="1000"/>
              </a:spcAft>
              <a:buChar char="•"/>
              <a:lnSpc>
                <a:spcPts val="2200"/>
              </a:lnSpc>
            </a:pPr>
            <a:r>
              <a:rPr sz="2000" b="0">
                <a:solidFill>
                  <a:srgbClr val="333333"/>
                </a:solidFill>
                <a:latin typeface="Calibri"/>
              </a:rPr>
              <a:t>Example 8.41 shows JSON metadata emitted after model training</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8.41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a:t>
            </a:r>
          </a:p>
          <a:p>
            <a:pPr>
              <a:lnSpc>
                <a:spcPts val="2200"/>
              </a:lnSpc>
              <a:spcAft>
                <a:spcPts val="400"/>
              </a:spcAft>
            </a:pPr>
            <a:r>
              <a:rPr sz="2000" b="0">
                <a:solidFill>
                  <a:srgbClr val="333333"/>
                </a:solidFill>
                <a:latin typeface="Consolas"/>
              </a:rPr>
              <a:t>  "dataset_version": "v1.0",</a:t>
            </a:r>
          </a:p>
          <a:p>
            <a:pPr>
              <a:lnSpc>
                <a:spcPts val="2200"/>
              </a:lnSpc>
              <a:spcAft>
                <a:spcPts val="400"/>
              </a:spcAft>
            </a:pPr>
            <a:r>
              <a:rPr sz="2000" b="0">
                <a:solidFill>
                  <a:srgbClr val="333333"/>
                </a:solidFill>
                <a:latin typeface="Consolas"/>
              </a:rPr>
              <a:t>  "creator": "Data Science Team",</a:t>
            </a:r>
          </a:p>
          <a:p>
            <a:pPr>
              <a:lnSpc>
                <a:spcPts val="2200"/>
              </a:lnSpc>
              <a:spcAft>
                <a:spcPts val="400"/>
              </a:spcAft>
            </a:pPr>
            <a:r>
              <a:rPr sz="2000" b="0">
                <a:solidFill>
                  <a:srgbClr val="333333"/>
                </a:solidFill>
                <a:latin typeface="Consolas"/>
              </a:rPr>
              <a:t>  "creation_date": "2024-12-01",</a:t>
            </a:r>
          </a:p>
          <a:p>
            <a:pPr>
              <a:lnSpc>
                <a:spcPts val="2200"/>
              </a:lnSpc>
              <a:spcAft>
                <a:spcPts val="400"/>
              </a:spcAft>
            </a:pPr>
            <a:r>
              <a:rPr sz="2000" b="0">
                <a:solidFill>
                  <a:srgbClr val="333333"/>
                </a:solidFill>
                <a:latin typeface="Consolas"/>
              </a:rPr>
              <a:t>  "last_modified": "2024-12-02",</a:t>
            </a:r>
          </a:p>
          <a:p>
            <a:pPr>
              <a:lnSpc>
                <a:spcPts val="2200"/>
              </a:lnSpc>
              <a:spcAft>
                <a:spcPts val="400"/>
              </a:spcAft>
            </a:pPr>
            <a:r>
              <a:rPr sz="2000" b="0">
                <a:solidFill>
                  <a:srgbClr val="333333"/>
                </a:solidFill>
                <a:latin typeface="Consolas"/>
              </a:rPr>
              <a:t>  "transformation": "Missing values imputed using median",</a:t>
            </a:r>
          </a:p>
          <a:p>
            <a:pPr>
              <a:lnSpc>
                <a:spcPts val="2200"/>
              </a:lnSpc>
              <a:spcAft>
                <a:spcPts val="400"/>
              </a:spcAft>
            </a:pPr>
            <a:r>
              <a:rPr sz="2000" b="0">
                <a:solidFill>
                  <a:srgbClr val="333333"/>
                </a:solidFill>
                <a:latin typeface="Consolas"/>
              </a:rPr>
              <a:t>  "source": "Company internal database",</a:t>
            </a:r>
          </a:p>
          <a:p>
            <a:pPr>
              <a:lnSpc>
                <a:spcPts val="2200"/>
              </a:lnSpc>
              <a:spcAft>
                <a:spcPts val="400"/>
              </a:spcAft>
            </a:pPr>
            <a:r>
              <a:rPr sz="2000" b="0">
                <a:solidFill>
                  <a:srgbClr val="333333"/>
                </a:solidFill>
                <a:latin typeface="Consolas"/>
              </a:rPr>
              <a:t>  "data_source": "https://company.internal/data_source_v1"</a:t>
            </a:r>
          </a:p>
          <a:p>
            <a:pPr>
              <a:lnSpc>
                <a:spcPts val="2200"/>
              </a:lnSpc>
              <a:spcAft>
                <a:spcPts val="400"/>
              </a:spcAft>
            </a:pPr>
            <a:r>
              <a:rPr sz="2000" b="0">
                <a:solidFill>
                  <a:srgbClr val="333333"/>
                </a:solidFill>
                <a:latin typeface="Consolas"/>
              </a:rPr>
              <a: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Pipelines, lineage, and compliance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Version control should travel with pipeline stages from ingestion through cleaning to</a:t>
            </a:r>
          </a:p>
          <a:p>
            <a:pPr>
              <a:spcAft>
                <a:spcPts val="1000"/>
              </a:spcAft>
              <a:buChar char="•"/>
              <a:lnSpc>
                <a:spcPts val="2200"/>
              </a:lnSpc>
            </a:pPr>
            <a:r>
              <a:rPr sz="2000" b="0">
                <a:solidFill>
                  <a:srgbClr val="333333"/>
                </a:solidFill>
                <a:latin typeface="Calibri"/>
              </a:rPr>
              <a:t>Lineage platforms help demonstrate where data came from, how they were transformed</a:t>
            </a:r>
          </a:p>
          <a:p>
            <a:pPr>
              <a:spcAft>
                <a:spcPts val="1000"/>
              </a:spcAft>
              <a:buChar char="•"/>
              <a:lnSpc>
                <a:spcPts val="2200"/>
              </a:lnSpc>
            </a:pPr>
            <a:r>
              <a:rPr sz="2000" b="0">
                <a:solidFill>
                  <a:srgbClr val="333333"/>
                </a:solidFill>
                <a:latin typeface="Calibri"/>
              </a:rPr>
              <a:t>Sensitive assets may further require encryption and restricted remotes alongside ordinary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8.43 — DVC Stages in a Sensor Pipeline</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8.43 — hands-on module</a:t>
            </a:r>
          </a:p>
          <a:p>
            <a:pPr>
              <a:spcAft>
                <a:spcPts val="1000"/>
              </a:spcAft>
              <a:buChar char="•"/>
              <a:lnSpc>
                <a:spcPts val="2200"/>
              </a:lnSpc>
            </a:pPr>
            <a:r>
              <a:rPr sz="2000" b="0">
                <a:solidFill>
                  <a:srgbClr val="333333"/>
                </a:solidFill>
                <a:latin typeface="Calibri"/>
              </a:rPr>
              <a:t>Example 8.43 wires ingest, clean</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`modules/chapter8/example43/`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8.43 — listing</a:t>
            </a:r>
          </a:p>
        </p:txBody>
      </p:sp>
      <p:sp>
        <p:nvSpPr>
          <p:cNvPr id="3" name="TextBox 2"/>
          <p:cNvSpPr txBox="1"/>
          <p:nvPr/>
        </p:nvSpPr>
        <p:spPr>
          <a:xfrm>
            <a:off x="548640" y="1143000"/>
            <a:ext cx="11064240" cy="5029200"/>
          </a:xfrm>
          <a:prstGeom prst="rect">
            <a:avLst/>
          </a:prstGeom>
          <a:solidFill>
            <a:srgbClr val="F4F4F4"/>
          </a:solidFill>
        </p:spPr>
        <p:txBody>
          <a:bodyPr wrap="square">
            <a:noAutofit/>
          </a:bodyPr>
          <a:lstStyle/>
          <a:p>
            <a:pPr>
              <a:lnSpc>
                <a:spcPts val="2200"/>
              </a:lnSpc>
              <a:spcAft>
                <a:spcPts val="400"/>
              </a:spcAft>
            </a:pPr>
            <a:r>
              <a:rPr sz="2000" b="0">
                <a:solidFill>
                  <a:srgbClr val="333333"/>
                </a:solidFill>
                <a:latin typeface="Consolas"/>
              </a:rPr>
              <a:t>version: "v1.0"</a:t>
            </a:r>
          </a:p>
          <a:p>
            <a:pPr>
              <a:lnSpc>
                <a:spcPts val="2200"/>
              </a:lnSpc>
              <a:spcAft>
                <a:spcPts val="400"/>
              </a:spcAft>
            </a:pPr>
            <a:r>
              <a:rPr sz="2000" b="0">
                <a:solidFill>
                  <a:srgbClr val="333333"/>
                </a:solidFill>
                <a:latin typeface="Consolas"/>
              </a:rPr>
              <a:t>stages:</a:t>
            </a:r>
          </a:p>
          <a:p>
            <a:pPr>
              <a:lnSpc>
                <a:spcPts val="2200"/>
              </a:lnSpc>
              <a:spcAft>
                <a:spcPts val="400"/>
              </a:spcAft>
            </a:pPr>
            <a:r>
              <a:rPr sz="2000" b="0">
                <a:solidFill>
                  <a:srgbClr val="333333"/>
                </a:solidFill>
                <a:latin typeface="Consolas"/>
              </a:rPr>
              <a:t>  - name: ingest_data</a:t>
            </a:r>
          </a:p>
          <a:p>
            <a:pPr>
              <a:lnSpc>
                <a:spcPts val="2200"/>
              </a:lnSpc>
              <a:spcAft>
                <a:spcPts val="400"/>
              </a:spcAft>
            </a:pPr>
            <a:r>
              <a:rPr sz="2000" b="0">
                <a:solidFill>
                  <a:srgbClr val="333333"/>
                </a:solidFill>
                <a:latin typeface="Consolas"/>
              </a:rPr>
              <a:t>    cmd: python ingest_data.py</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sensor_data/raw_data.csv</a:t>
            </a:r>
          </a:p>
          <a:p>
            <a:pPr>
              <a:lnSpc>
                <a:spcPts val="2200"/>
              </a:lnSpc>
              <a:spcAft>
                <a:spcPts val="400"/>
              </a:spcAft>
            </a:pPr>
            <a:r>
              <a:rPr sz="2000" b="0">
                <a:solidFill>
                  <a:srgbClr val="333333"/>
                </a:solidFill>
                <a:latin typeface="Consolas"/>
              </a:rPr>
              <a:t>  - name: clean_data</a:t>
            </a:r>
          </a:p>
          <a:p>
            <a:pPr>
              <a:lnSpc>
                <a:spcPts val="2200"/>
              </a:lnSpc>
              <a:spcAft>
                <a:spcPts val="400"/>
              </a:spcAft>
            </a:pPr>
            <a:r>
              <a:rPr sz="2000" b="0">
                <a:solidFill>
                  <a:srgbClr val="333333"/>
                </a:solidFill>
                <a:latin typeface="Consolas"/>
              </a:rPr>
              <a:t>    cmd: python clean_data.py</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sensor_data/raw_data.csv</a:t>
            </a:r>
          </a:p>
          <a:p>
            <a:pPr>
              <a:lnSpc>
                <a:spcPts val="2200"/>
              </a:lnSpc>
              <a:spcAft>
                <a:spcPts val="400"/>
              </a:spcAft>
            </a:pPr>
            <a:r>
              <a:rPr sz="2000" b="0">
                <a:solidFill>
                  <a:srgbClr val="333333"/>
                </a:solidFill>
                <a:latin typeface="Consolas"/>
              </a:rPr>
              <a:t>  - name: train_model</a:t>
            </a:r>
          </a:p>
          <a:p>
            <a:pPr>
              <a:lnSpc>
                <a:spcPts val="2200"/>
              </a:lnSpc>
              <a:spcAft>
                <a:spcPts val="400"/>
              </a:spcAft>
            </a:pPr>
            <a:r>
              <a:rPr sz="2000" b="0">
                <a:solidFill>
                  <a:srgbClr val="333333"/>
                </a:solidFill>
                <a:latin typeface="Consolas"/>
              </a:rPr>
              <a:t>    cmd: python train_model.py</a:t>
            </a:r>
          </a:p>
          <a:p>
            <a:pPr>
              <a:lnSpc>
                <a:spcPts val="2200"/>
              </a:lnSpc>
              <a:spcAft>
                <a:spcPts val="400"/>
              </a:spcAft>
            </a:pPr>
            <a:r>
              <a:rPr sz="2000" b="0">
                <a:solidFill>
                  <a:srgbClr val="333333"/>
                </a:solidFill>
                <a:latin typeface="Consolas"/>
              </a:rPr>
              <a:t>    deps:</a:t>
            </a:r>
          </a:p>
          <a:p>
            <a:pPr>
              <a:lnSpc>
                <a:spcPts val="2200"/>
              </a:lnSpc>
              <a:spcAft>
                <a:spcPts val="400"/>
              </a:spcAft>
            </a:pPr>
            <a:r>
              <a:rPr sz="2000" b="0">
                <a:solidFill>
                  <a:srgbClr val="333333"/>
                </a:solidFill>
                <a:latin typeface="Consolas"/>
              </a:rPr>
              <a:t>      - cleaned_data.csv</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Emerging trends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Version sync across cloud and edge devices</a:t>
            </a:r>
          </a:p>
          <a:p>
            <a:pPr>
              <a:spcAft>
                <a:spcPts val="1000"/>
              </a:spcAft>
              <a:buChar char="•"/>
              <a:lnSpc>
                <a:spcPts val="2200"/>
              </a:lnSpc>
            </a:pPr>
            <a:r>
              <a:rPr sz="2000" b="0">
                <a:solidFill>
                  <a:srgbClr val="333333"/>
                </a:solidFill>
                <a:latin typeface="Calibri"/>
              </a:rPr>
              <a:t>Not every idea is production-ready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8.47 — Blockchain Ideas for Version Auditability</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Example 8.47 — hands-on module</a:t>
            </a:r>
          </a:p>
          <a:p>
            <a:pPr>
              <a:spcAft>
                <a:spcPts val="1000"/>
              </a:spcAft>
              <a:buChar char="•"/>
              <a:lnSpc>
                <a:spcPts val="2200"/>
              </a:lnSpc>
            </a:pPr>
            <a:r>
              <a:rPr sz="2000" b="0">
                <a:solidFill>
                  <a:srgbClr val="333333"/>
                </a:solidFill>
                <a:latin typeface="Calibri"/>
              </a:rPr>
              <a:t>Aiming for verifiable authenticity and integrity among stakeholders</a:t>
            </a:r>
          </a:p>
          <a:p>
            <a:pPr>
              <a:spcAft>
                <a:spcPts val="1000"/>
              </a:spcAft>
              <a:buChar char="•"/>
              <a:lnSpc>
                <a:spcPts val="2200"/>
              </a:lnSpc>
            </a:pPr>
            <a:r>
              <a:rPr sz="2000" b="0">
                <a:solidFill>
                  <a:srgbClr val="333333"/>
                </a:solidFill>
                <a:latin typeface="Calibri"/>
              </a:rPr>
              <a:t>Explore the chapter example module</a:t>
            </a:r>
          </a:p>
          <a:p>
            <a:pPr>
              <a:spcAft>
                <a:spcPts val="1000"/>
              </a:spcAft>
              <a:buChar char="•"/>
              <a:lnSpc>
                <a:spcPts val="2200"/>
              </a:lnSpc>
            </a:pPr>
            <a:r>
              <a:rPr sz="2000" b="0">
                <a:solidFill>
                  <a:srgbClr val="333333"/>
                </a:solidFill>
                <a:latin typeface="Calibri"/>
              </a:rPr>
              <a:t>View files: `modules/chapter8/example47/`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Advanced practice automates metadata, embeds versioning in pipelines</a:t>
            </a:r>
          </a:p>
          <a:p>
            <a:pPr>
              <a:spcAft>
                <a:spcPts val="1000"/>
              </a:spcAft>
              <a:buChar char="•"/>
              <a:lnSpc>
                <a:spcPts val="2200"/>
              </a:lnSpc>
            </a:pPr>
            <a:r>
              <a:rPr sz="2000" b="0">
                <a:solidFill>
                  <a:srgbClr val="333333"/>
                </a:solidFill>
                <a:latin typeface="Calibri"/>
              </a:rPr>
              <a:t>Emerging ideas push toward continuous, distributed, and highly auditable histories</a:t>
            </a:r>
          </a:p>
          <a:p>
            <a:pPr>
              <a:spcAft>
                <a:spcPts val="1000"/>
              </a:spcAft>
              <a:buChar char="•"/>
              <a:lnSpc>
                <a:spcPts val="2200"/>
              </a:lnSpc>
            </a:pPr>
            <a:r>
              <a:rPr sz="2000" b="0">
                <a:solidFill>
                  <a:srgbClr val="333333"/>
                </a:solidFill>
                <a:latin typeface="Calibri"/>
              </a:rPr>
              <a:t>The durable lesson of the chapter remains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a:spcAft>
                <a:spcPts val="1000"/>
              </a:spcAft>
              <a:buChar char="•"/>
              <a:lnSpc>
                <a:spcPts val="2200"/>
              </a:lnSpc>
            </a:pPr>
            <a:r>
              <a:rPr sz="2000" b="0">
                <a:solidFill>
                  <a:srgbClr val="333333"/>
                </a:solidFill>
                <a:latin typeface="Calibri"/>
              </a:rPr>
              <a:t>Complete the quiz for this part</a:t>
            </a:r>
          </a:p>
          <a:p>
            <a:pPr>
              <a:spcAft>
                <a:spcPts val="1000"/>
              </a:spcAft>
              <a:buChar char="•"/>
              <a:lnSpc>
                <a:spcPts val="2200"/>
              </a:lnSpc>
            </a:pPr>
            <a:r>
              <a:rPr sz="2000" b="0">
                <a:solidFill>
                  <a:srgbClr val="333333"/>
                </a:solidFill>
                <a:latin typeface="Calibri"/>
              </a:rPr>
              <a:t>Complete the quiz for this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8 — Advanced And Emerging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