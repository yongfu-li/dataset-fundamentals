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closes by looking beyond static README files and manual commits. This final part covers auto-generated metadata, lineage-aware pipeline stages, privacy-aware storage ideas, and emerging directions such as stronger auditability mechanisms and edge-sensor version sync.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automated metadata capture after training, describe DVC stages embedded in sensor pipelines, recognize lineage and privacy pressures on documentation, and outline emerging trends including auditability ledgers and real-time or edge versioning.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documentation drifts when datasets update frequently or many teams contribute. Integrating metadata extraction into processing pipelines reduces error and lag. Tools that already version data can emit creation dates, sources, transforms, and related fields whenever a new release appears.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8.41 shows JSON metadata emitted after model training: dataset version, creators, dates, transformation notes, and source links. Learners can inspect the listing and module files for this example to see a standardized machine-readable documentation fragment produced by the workflow rather than rewritten by hand.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control should travel with pipeline stages from ingestion through cleaning to training. Lineage platforms help demonstrate where data came from, how they were transformed, and who accessed them—important under privacy regimes. Sensitive assets may further require encryption and restricted remotes alongside ordinary version pointers.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8.43 wires ingest, clean, and train stages so each sensor transformation links to the models it feeds. Inspect the YAML listing and module files for this example to see how stage names, commands, and dependencies keep pipeline history executable. Monitoring systems can log which dataset version ran at each stage.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Trends include AI-assisted documentation and anomaly detection, decentralized or blockchain-inspired immutable audit ideas, real-time versioning for streaming data, stronger metadata standards, and version sync across cloud and edge devices. Not every idea is production-ready, but each responds to scale, trust, or latency pressures already visible today.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8.47 sketches blockchain-style ledgers as an emerging approach to auditable dataset update history, aiming for verifiable authenticity and integrity among stakeholders. The example 47 module for this chapter frames the idea as a trend, not a required textbook default. Practical teams should weigh maturity, cost, and governance fit before adoption.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practice automates metadata, embeds versioning in pipelines, and connects lineage to compliance. Emerging ideas push toward continuous, distributed, and highly auditable histories. The durable lesson of the chapter remains: document meaning, version change, and keep both synchronized as data move through real systems.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for this part, then return to the chapter path or continue to the full chapter deck. Later study can revisit modules and listings for any example that needs a deeper inspection.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8 — Advanced topics and emerging trends</a:t>
            </a:r>
          </a:p>
          <a:p>
            <a:pPr algn="ctr">
              <a:lnSpc>
                <a:spcPts val="2200"/>
              </a:lnSpc>
              <a:spcBef>
                <a:spcPts val="1400"/>
              </a:spcBef>
            </a:pPr>
            <a:r>
              <a:rPr sz="2600" b="0">
                <a:solidFill>
                  <a:srgbClr val="333333"/>
                </a:solidFill>
                <a:latin typeface="Calibri"/>
              </a:rPr>
              <a:t>The chapter closes by looking beyond static README files and manual commits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Outline emerging trends including auditability ledgers and real-time or edge versioning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Automating documentation updates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Manual documentation drifts when datasets update frequently or many teams contribute</a:t>
            </a:r>
          </a:p>
          <a:p>
            <a:pPr lvl="0" marL="457200" indent="-228600">
              <a:buFont typeface="Calibri"/>
              <a:spcAft>
                <a:spcPts val="1000"/>
              </a:spcAft>
              <a:buSzPct val="100000"/>
              <a:buChar char="•"/>
              <a:lnSpc>
                <a:spcPts val="2200"/>
              </a:lnSpc>
            </a:pPr>
            <a:r>
              <a:rPr sz="2000" b="0">
                <a:solidFill>
                  <a:srgbClr val="333333"/>
                </a:solidFill>
                <a:latin typeface="Calibri"/>
              </a:rPr>
              <a:t>Integrating metadata extraction into processing pipelines reduces error and lag</a:t>
            </a:r>
          </a:p>
          <a:p>
            <a:pPr lvl="0" marL="457200" indent="-228600">
              <a:buFont typeface="Calibri"/>
              <a:spcAft>
                <a:spcPts val="1000"/>
              </a:spcAft>
              <a:buSzPct val="100000"/>
              <a:buChar char="•"/>
              <a:lnSpc>
                <a:spcPts val="2200"/>
              </a:lnSpc>
            </a:pPr>
            <a:r>
              <a:rPr sz="2000" b="0">
                <a:solidFill>
                  <a:srgbClr val="333333"/>
                </a:solidFill>
                <a:latin typeface="Calibri"/>
              </a:rPr>
              <a:t>Tools that already version data can emit creation dates, sources, transforms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8.41 — Auto-Generated Training Metadata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8.41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8.41 shows JSON metadata emitted after model training</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`modules/chapter8/example41/`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8.41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"dataset_version": "v1.0",</a:t>
            </a:r>
          </a:p>
          <a:p>
            <a:pPr>
              <a:lnSpc>
                <a:spcPts val="2200"/>
              </a:lnSpc>
              <a:spcAft>
                <a:spcPts val="400"/>
              </a:spcAft>
            </a:pPr>
            <a:r>
              <a:rPr sz="2000" b="0">
                <a:solidFill>
                  <a:srgbClr val="333333"/>
                </a:solidFill>
                <a:latin typeface="Consolas"/>
              </a:rPr>
              <a:t>  "creator": "Data Science Team",</a:t>
            </a:r>
          </a:p>
          <a:p>
            <a:pPr>
              <a:lnSpc>
                <a:spcPts val="2200"/>
              </a:lnSpc>
              <a:spcAft>
                <a:spcPts val="400"/>
              </a:spcAft>
            </a:pPr>
            <a:r>
              <a:rPr sz="2000" b="0">
                <a:solidFill>
                  <a:srgbClr val="333333"/>
                </a:solidFill>
                <a:latin typeface="Consolas"/>
              </a:rPr>
              <a:t>  "creation_date": "2024-12-01",</a:t>
            </a:r>
          </a:p>
          <a:p>
            <a:pPr>
              <a:lnSpc>
                <a:spcPts val="2200"/>
              </a:lnSpc>
              <a:spcAft>
                <a:spcPts val="400"/>
              </a:spcAft>
            </a:pPr>
            <a:r>
              <a:rPr sz="2000" b="0">
                <a:solidFill>
                  <a:srgbClr val="333333"/>
                </a:solidFill>
                <a:latin typeface="Consolas"/>
              </a:rPr>
              <a:t>  "last_modified": "2024-12-02",</a:t>
            </a:r>
          </a:p>
          <a:p>
            <a:pPr>
              <a:lnSpc>
                <a:spcPts val="2200"/>
              </a:lnSpc>
              <a:spcAft>
                <a:spcPts val="400"/>
              </a:spcAft>
            </a:pPr>
            <a:r>
              <a:rPr sz="2000" b="0">
                <a:solidFill>
                  <a:srgbClr val="333333"/>
                </a:solidFill>
                <a:latin typeface="Consolas"/>
              </a:rPr>
              <a:t>  "transformation": "Missing values imputed using median",</a:t>
            </a:r>
          </a:p>
          <a:p>
            <a:pPr>
              <a:lnSpc>
                <a:spcPts val="2200"/>
              </a:lnSpc>
              <a:spcAft>
                <a:spcPts val="400"/>
              </a:spcAft>
            </a:pPr>
            <a:r>
              <a:rPr sz="2000" b="0">
                <a:solidFill>
                  <a:srgbClr val="333333"/>
                </a:solidFill>
                <a:latin typeface="Consolas"/>
              </a:rPr>
              <a:t>  "source": "Company internal database",</a:t>
            </a:r>
          </a:p>
          <a:p>
            <a:pPr>
              <a:lnSpc>
                <a:spcPts val="2200"/>
              </a:lnSpc>
              <a:spcAft>
                <a:spcPts val="400"/>
              </a:spcAft>
            </a:pPr>
            <a:r>
              <a:rPr sz="2000" b="0">
                <a:solidFill>
                  <a:srgbClr val="333333"/>
                </a:solidFill>
                <a:latin typeface="Consolas"/>
              </a:rPr>
              <a:t>  "data_source": "https://company.internal/data_source_v1"</a:t>
            </a:r>
          </a:p>
          <a:p>
            <a:pPr>
              <a:lnSpc>
                <a:spcPts val="2200"/>
              </a:lnSpc>
              <a:spcAft>
                <a:spcPts val="400"/>
              </a:spcAft>
            </a:pPr>
            <a:r>
              <a:rPr sz="2000" b="0">
                <a:solidFill>
                  <a:srgbClr val="333333"/>
                </a:solidFill>
                <a:latin typeface="Consolas"/>
              </a:rPr>
              <a: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Pipelines, lineage, and compliance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Version control should travel with pipeline stages from ingestion through cleaning to</a:t>
            </a:r>
          </a:p>
          <a:p>
            <a:pPr lvl="0" marL="457200" indent="-228600">
              <a:buFont typeface="Calibri"/>
              <a:spcAft>
                <a:spcPts val="1000"/>
              </a:spcAft>
              <a:buSzPct val="100000"/>
              <a:buChar char="•"/>
              <a:lnSpc>
                <a:spcPts val="2200"/>
              </a:lnSpc>
            </a:pPr>
            <a:r>
              <a:rPr sz="2000" b="0">
                <a:solidFill>
                  <a:srgbClr val="333333"/>
                </a:solidFill>
                <a:latin typeface="Calibri"/>
              </a:rPr>
              <a:t>Lineage platforms help demonstrate where data came from, how they were transformed</a:t>
            </a:r>
          </a:p>
          <a:p>
            <a:pPr lvl="0" marL="457200" indent="-228600">
              <a:buFont typeface="Calibri"/>
              <a:spcAft>
                <a:spcPts val="1000"/>
              </a:spcAft>
              <a:buSzPct val="100000"/>
              <a:buChar char="•"/>
              <a:lnSpc>
                <a:spcPts val="2200"/>
              </a:lnSpc>
            </a:pPr>
            <a:r>
              <a:rPr sz="2000" b="0">
                <a:solidFill>
                  <a:srgbClr val="333333"/>
                </a:solidFill>
                <a:latin typeface="Calibri"/>
              </a:rPr>
              <a:t>Sensitive assets may further require encryption and restricted remotes alongside ordinary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8.43 — DVC Stages in a Sensor Pipeline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8.43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8.43 wires ingest, clean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`modules/chapter8/example43/`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8.43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version: "v1.0"</a:t>
            </a:r>
          </a:p>
          <a:p>
            <a:pPr>
              <a:lnSpc>
                <a:spcPts val="2200"/>
              </a:lnSpc>
              <a:spcAft>
                <a:spcPts val="400"/>
              </a:spcAft>
            </a:pPr>
            <a:r>
              <a:rPr sz="2000" b="0">
                <a:solidFill>
                  <a:srgbClr val="333333"/>
                </a:solidFill>
                <a:latin typeface="Consolas"/>
              </a:rPr>
              <a:t>stages:</a:t>
            </a:r>
          </a:p>
          <a:p>
            <a:pPr>
              <a:lnSpc>
                <a:spcPts val="2200"/>
              </a:lnSpc>
              <a:spcAft>
                <a:spcPts val="400"/>
              </a:spcAft>
            </a:pPr>
            <a:r>
              <a:rPr sz="2000" b="0">
                <a:solidFill>
                  <a:srgbClr val="333333"/>
                </a:solidFill>
                <a:latin typeface="Consolas"/>
              </a:rPr>
              <a:t>  - name: ingest_data</a:t>
            </a:r>
          </a:p>
          <a:p>
            <a:pPr>
              <a:lnSpc>
                <a:spcPts val="2200"/>
              </a:lnSpc>
              <a:spcAft>
                <a:spcPts val="400"/>
              </a:spcAft>
            </a:pPr>
            <a:r>
              <a:rPr sz="2000" b="0">
                <a:solidFill>
                  <a:srgbClr val="333333"/>
                </a:solidFill>
                <a:latin typeface="Consolas"/>
              </a:rPr>
              <a:t>    cmd: python ingest_data.py</a:t>
            </a:r>
          </a:p>
          <a:p>
            <a:pPr>
              <a:lnSpc>
                <a:spcPts val="2200"/>
              </a:lnSpc>
              <a:spcAft>
                <a:spcPts val="400"/>
              </a:spcAft>
            </a:pPr>
            <a:r>
              <a:rPr sz="2000" b="0">
                <a:solidFill>
                  <a:srgbClr val="333333"/>
                </a:solidFill>
                <a:latin typeface="Consolas"/>
              </a:rPr>
              <a:t>    deps:</a:t>
            </a:r>
          </a:p>
          <a:p>
            <a:pPr>
              <a:lnSpc>
                <a:spcPts val="2200"/>
              </a:lnSpc>
              <a:spcAft>
                <a:spcPts val="400"/>
              </a:spcAft>
            </a:pPr>
            <a:r>
              <a:rPr sz="2000" b="0">
                <a:solidFill>
                  <a:srgbClr val="333333"/>
                </a:solidFill>
                <a:latin typeface="Consolas"/>
              </a:rPr>
              <a:t>      - sensor_data/raw_data.csv</a:t>
            </a:r>
          </a:p>
          <a:p>
            <a:pPr>
              <a:lnSpc>
                <a:spcPts val="2200"/>
              </a:lnSpc>
              <a:spcAft>
                <a:spcPts val="400"/>
              </a:spcAft>
            </a:pPr>
            <a:r>
              <a:rPr sz="2000" b="0">
                <a:solidFill>
                  <a:srgbClr val="333333"/>
                </a:solidFill>
                <a:latin typeface="Consolas"/>
              </a:rPr>
              <a:t>  - name: clean_data</a:t>
            </a:r>
          </a:p>
          <a:p>
            <a:pPr>
              <a:lnSpc>
                <a:spcPts val="2200"/>
              </a:lnSpc>
              <a:spcAft>
                <a:spcPts val="400"/>
              </a:spcAft>
            </a:pPr>
            <a:r>
              <a:rPr sz="2000" b="0">
                <a:solidFill>
                  <a:srgbClr val="333333"/>
                </a:solidFill>
                <a:latin typeface="Consolas"/>
              </a:rPr>
              <a:t>    cmd: python clean_data.py</a:t>
            </a:r>
          </a:p>
          <a:p>
            <a:pPr>
              <a:lnSpc>
                <a:spcPts val="2200"/>
              </a:lnSpc>
              <a:spcAft>
                <a:spcPts val="400"/>
              </a:spcAft>
            </a:pPr>
            <a:r>
              <a:rPr sz="2000" b="0">
                <a:solidFill>
                  <a:srgbClr val="333333"/>
                </a:solidFill>
                <a:latin typeface="Consolas"/>
              </a:rPr>
              <a:t>    deps:</a:t>
            </a:r>
          </a:p>
          <a:p>
            <a:pPr>
              <a:lnSpc>
                <a:spcPts val="2200"/>
              </a:lnSpc>
              <a:spcAft>
                <a:spcPts val="400"/>
              </a:spcAft>
            </a:pPr>
            <a:r>
              <a:rPr sz="2000" b="0">
                <a:solidFill>
                  <a:srgbClr val="333333"/>
                </a:solidFill>
                <a:latin typeface="Consolas"/>
              </a:rPr>
              <a:t>      - sensor_data/raw_data.csv</a:t>
            </a:r>
          </a:p>
          <a:p>
            <a:pPr>
              <a:lnSpc>
                <a:spcPts val="2200"/>
              </a:lnSpc>
              <a:spcAft>
                <a:spcPts val="400"/>
              </a:spcAft>
            </a:pPr>
            <a:r>
              <a:rPr sz="2000" b="0">
                <a:solidFill>
                  <a:srgbClr val="333333"/>
                </a:solidFill>
                <a:latin typeface="Consolas"/>
              </a:rPr>
              <a:t>  - name: train_model</a:t>
            </a:r>
          </a:p>
          <a:p>
            <a:pPr>
              <a:lnSpc>
                <a:spcPts val="2200"/>
              </a:lnSpc>
              <a:spcAft>
                <a:spcPts val="400"/>
              </a:spcAft>
            </a:pPr>
            <a:r>
              <a:rPr sz="2000" b="0">
                <a:solidFill>
                  <a:srgbClr val="333333"/>
                </a:solidFill>
                <a:latin typeface="Consolas"/>
              </a:rPr>
              <a:t>    cmd: python train_model.py</a:t>
            </a:r>
          </a:p>
          <a:p>
            <a:pPr>
              <a:lnSpc>
                <a:spcPts val="2200"/>
              </a:lnSpc>
              <a:spcAft>
                <a:spcPts val="400"/>
              </a:spcAft>
            </a:pPr>
            <a:r>
              <a:rPr sz="2000" b="0">
                <a:solidFill>
                  <a:srgbClr val="333333"/>
                </a:solidFill>
                <a:latin typeface="Consolas"/>
              </a:rPr>
              <a:t>    deps:</a:t>
            </a:r>
          </a:p>
          <a:p>
            <a:pPr>
              <a:lnSpc>
                <a:spcPts val="2200"/>
              </a:lnSpc>
              <a:spcAft>
                <a:spcPts val="400"/>
              </a:spcAft>
            </a:pPr>
            <a:r>
              <a:rPr sz="2000" b="0">
                <a:solidFill>
                  <a:srgbClr val="333333"/>
                </a:solidFill>
                <a:latin typeface="Consolas"/>
              </a:rPr>
              <a:t>      - cleaned_data.csv</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Emerging trends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Version sync across cloud and edge devices</a:t>
            </a:r>
          </a:p>
          <a:p>
            <a:pPr lvl="0" marL="457200" indent="-228600">
              <a:buFont typeface="Calibri"/>
              <a:spcAft>
                <a:spcPts val="1000"/>
              </a:spcAft>
              <a:buSzPct val="100000"/>
              <a:buChar char="•"/>
              <a:lnSpc>
                <a:spcPts val="2200"/>
              </a:lnSpc>
            </a:pPr>
            <a:r>
              <a:rPr sz="2000" b="0">
                <a:solidFill>
                  <a:srgbClr val="333333"/>
                </a:solidFill>
                <a:latin typeface="Calibri"/>
              </a:rPr>
              <a:t>Not every idea is production-ready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8.47 — Blockchain Ideas for Version Auditability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8.47 — hands-on module</a:t>
            </a:r>
          </a:p>
          <a:p>
            <a:pPr lvl="0" marL="457200" indent="-228600">
              <a:buFont typeface="Calibri"/>
              <a:spcAft>
                <a:spcPts val="1000"/>
              </a:spcAft>
              <a:buSzPct val="100000"/>
              <a:buChar char="•"/>
              <a:lnSpc>
                <a:spcPts val="2200"/>
              </a:lnSpc>
            </a:pPr>
            <a:r>
              <a:rPr sz="2000" b="0">
                <a:solidFill>
                  <a:srgbClr val="333333"/>
                </a:solidFill>
                <a:latin typeface="Calibri"/>
              </a:rPr>
              <a:t>Aiming for verifiable authenticity and integrity among stakeholders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`modules/chapter8/example47/`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Advanced practice automates metadata, embeds versioning in pipelines</a:t>
            </a:r>
          </a:p>
          <a:p>
            <a:pPr lvl="0" marL="457200" indent="-228600">
              <a:buFont typeface="Calibri"/>
              <a:spcAft>
                <a:spcPts val="1000"/>
              </a:spcAft>
              <a:buSzPct val="100000"/>
              <a:buChar char="•"/>
              <a:lnSpc>
                <a:spcPts val="2200"/>
              </a:lnSpc>
            </a:pPr>
            <a:r>
              <a:rPr sz="2000" b="0">
                <a:solidFill>
                  <a:srgbClr val="333333"/>
                </a:solidFill>
                <a:latin typeface="Calibri"/>
              </a:rPr>
              <a:t>Emerging ideas push toward continuous, distributed, and highly auditable histories</a:t>
            </a:r>
          </a:p>
          <a:p>
            <a:pPr lvl="0" marL="457200" indent="-228600">
              <a:buFont typeface="Calibri"/>
              <a:spcAft>
                <a:spcPts val="1000"/>
              </a:spcAft>
              <a:buSzPct val="100000"/>
              <a:buChar char="•"/>
              <a:lnSpc>
                <a:spcPts val="2200"/>
              </a:lnSpc>
            </a:pPr>
            <a:r>
              <a:rPr sz="2000" b="0">
                <a:solidFill>
                  <a:srgbClr val="333333"/>
                </a:solidFill>
                <a:latin typeface="Calibri"/>
              </a:rPr>
              <a:t>The durable lesson of the chapter remains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Advanced And Emerging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