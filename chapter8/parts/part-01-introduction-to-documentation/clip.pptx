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Chapters 5 through 7 made datasets cleaner, better understood, and fairer to evaluate. This chapter asks how those assets stay usable over time. Documentation records meaning; version control records change. Together they support reproducibility, collaboration, and compliance when data evolve.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why undocumented datasets undermine reuse, state how version history supports collaboration and rollback, and connect change tracking to regulated settings such as clinical research.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requires more than a table of numbers. Others need the context of collection, processing, and intended use. Documentation captures metadata—structure, content, and rationale—so a dataset is not left as an opaque collection of observations. Without that context, even the original creators may forget decisions that later analyses depend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multi-person projects, documentation is a shared communication layer. Clear notes let collaborators grasp structure, content, and ongoing changes without reconstructing tribal knowledge. Handoffs to new members or external partners become safer when each release explains how it differs from earlier versions and what those differences imply for models and analyses.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8.1 considers an animal image classification corpus without documentation. A new user may not know whether labels distinguish dog from puppy, which preprocessing steps such as resizing or normalization were applied, or whether images came from a web scrape or public libraries. The lesson is that missing context blocks reuse and invites inconsistent future work. Open the example 1 module for this chapter to review the scenario takeaways.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Datasets evolve through cleaning, enrichment, and transformation just as code evolves through edits. Version control maintains a historical record so teams can track what changed, revert when a change harms performance, and avoid overwriting one another’s work. Tools that combine Git with large-file or data-aware layers help when binaries and shared remotes are involved.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8.2 shows a modeling dataset that gains or modifies features during development. If a new feature later hurts model quality, version history lets analysts inspect when it entered and what motivated the change. Without that trail, feature drift is hard to diagnose. The example 2 module for this chapter summarizes the same rollback rationale.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8.3 highlights regulated clinical research, where changes may need to be tracked for bodies such as the FDA. Accountability requires linking each modification to an author and a clear explanation. Version control therefore supports both scientific reproducibility and compliance evidence. Inspect the example 3 module for this chapter for the compliance framing.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Documentation turns raw observations into interpretable assets; version control turns evolving tables into recoverable histories. Collaboration depends on shared context and merge-safe change tracking. Regulated domains add auditability requirements on top of everyday engineering needs.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moves from why documentation matters to concrete components: metadata fields and data-dictionary entries that describe what each variable means, including units, types, and allowed values.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8 — Introduction to documentation and version control</a:t>
            </a:r>
          </a:p>
          <a:p>
            <a:pPr algn="ctr">
              <a:lnSpc>
                <a:spcPts val="2200"/>
              </a:lnSpc>
              <a:spcBef>
                <a:spcPts val="1400"/>
              </a:spcBef>
            </a:pPr>
            <a:r>
              <a:rPr sz="2600" b="0">
                <a:solidFill>
                  <a:srgbClr val="333333"/>
                </a:solidFill>
                <a:latin typeface="Calibri"/>
              </a:rPr>
              <a:t>Chapters 5 through 7 made datasets cleaner, better understood, and fairer to evaluate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Introduction To Documentation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Connect change tracking to regulated settings such as clinical research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Introduction To Documentation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documentation enables reproducibility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Reproducibility requires more than a table of numbers</a:t>
            </a:r>
          </a:p>
          <a:p>
            <a:pPr>
              <a:spcAft>
                <a:spcPts val="1000"/>
              </a:spcAft>
              <a:buChar char="•"/>
              <a:lnSpc>
                <a:spcPts val="2200"/>
              </a:lnSpc>
            </a:pPr>
            <a:r>
              <a:rPr sz="2000" b="0">
                <a:solidFill>
                  <a:srgbClr val="333333"/>
                </a:solidFill>
                <a:latin typeface="Calibri"/>
              </a:rPr>
              <a:t>Others need the context of collection, processing, and intended use</a:t>
            </a:r>
          </a:p>
          <a:p>
            <a:pPr>
              <a:spcAft>
                <a:spcPts val="1000"/>
              </a:spcAft>
              <a:buChar char="•"/>
              <a:lnSpc>
                <a:spcPts val="2200"/>
              </a:lnSpc>
            </a:pPr>
            <a:r>
              <a:rPr sz="2000" b="0">
                <a:solidFill>
                  <a:srgbClr val="333333"/>
                </a:solidFill>
                <a:latin typeface="Calibri"/>
              </a:rPr>
              <a:t>Documentation captures metadata, structure, content</a:t>
            </a:r>
          </a:p>
          <a:p>
            <a:pPr>
              <a:spcAft>
                <a:spcPts val="1000"/>
              </a:spcAft>
              <a:buChar char="•"/>
              <a:lnSpc>
                <a:spcPts val="2200"/>
              </a:lnSpc>
            </a:pPr>
            <a:r>
              <a:rPr sz="2000" b="0">
                <a:solidFill>
                  <a:srgbClr val="333333"/>
                </a:solidFill>
                <a:latin typeface="Calibri"/>
              </a:rPr>
              <a:t>Without that context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Introduction To Documentation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Documentation as collaboration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In multi-person projects, documentation is a shared communication layer</a:t>
            </a:r>
          </a:p>
          <a:p>
            <a:pPr>
              <a:spcAft>
                <a:spcPts val="1000"/>
              </a:spcAft>
              <a:buChar char="•"/>
              <a:lnSpc>
                <a:spcPts val="2200"/>
              </a:lnSpc>
            </a:pPr>
            <a:r>
              <a:rPr sz="2000" b="0">
                <a:solidFill>
                  <a:srgbClr val="333333"/>
                </a:solidFill>
                <a:latin typeface="Calibri"/>
              </a:rPr>
              <a:t>Clear notes let collaborators grasp structure, content</a:t>
            </a:r>
          </a:p>
          <a:p>
            <a:pPr>
              <a:spcAft>
                <a:spcPts val="1000"/>
              </a:spcAft>
              <a:buChar char="•"/>
              <a:lnSpc>
                <a:spcPts val="2200"/>
              </a:lnSpc>
            </a:pPr>
            <a:r>
              <a:rPr sz="2000" b="0">
                <a:solidFill>
                  <a:srgbClr val="333333"/>
                </a:solidFill>
                <a:latin typeface="Calibri"/>
              </a:rPr>
              <a:t>Handoffs to new members or external partners become safer when each release explains how</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Introduction To Documentation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8.1 — Undocumented Image Classification Dataset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8.1 — hands-on module</a:t>
            </a:r>
          </a:p>
          <a:p>
            <a:pPr>
              <a:spcAft>
                <a:spcPts val="1000"/>
              </a:spcAft>
              <a:buChar char="•"/>
              <a:lnSpc>
                <a:spcPts val="2200"/>
              </a:lnSpc>
            </a:pPr>
            <a:r>
              <a:rPr sz="2000" b="0">
                <a:solidFill>
                  <a:srgbClr val="333333"/>
                </a:solidFill>
                <a:latin typeface="Calibri"/>
              </a:rPr>
              <a:t>Example 8.1 considers an animal image classification corpus without documentation</a:t>
            </a:r>
          </a:p>
          <a:p>
            <a:pPr>
              <a:spcAft>
                <a:spcPts val="1000"/>
              </a:spcAft>
              <a:buChar char="•"/>
              <a:lnSpc>
                <a:spcPts val="2200"/>
              </a:lnSpc>
            </a:pPr>
            <a:r>
              <a:rPr sz="2000" b="0">
                <a:solidFill>
                  <a:srgbClr val="333333"/>
                </a:solidFill>
                <a:latin typeface="Calibri"/>
              </a:rPr>
              <a:t>A new user may not know whether labels distinguish dog from puppy</a:t>
            </a:r>
          </a:p>
          <a:p>
            <a:pPr>
              <a:spcAft>
                <a:spcPts val="1000"/>
              </a:spcAft>
              <a:buChar char="•"/>
              <a:lnSpc>
                <a:spcPts val="2200"/>
              </a:lnSpc>
            </a:pPr>
            <a:r>
              <a:rPr sz="2000" b="0">
                <a:solidFill>
                  <a:srgbClr val="333333"/>
                </a:solidFill>
                <a:latin typeface="Calibri"/>
              </a:rPr>
              <a:t>The lesson is that missing context blocks reuse and invites inconsistent future work</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Introduction To Documentation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datasets need version control</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Datasets evolve through cleaning, enrichment</a:t>
            </a:r>
          </a:p>
          <a:p>
            <a:pPr>
              <a:spcAft>
                <a:spcPts val="1000"/>
              </a:spcAft>
              <a:buChar char="•"/>
              <a:lnSpc>
                <a:spcPts val="2200"/>
              </a:lnSpc>
            </a:pPr>
            <a:r>
              <a:rPr sz="2000" b="0">
                <a:solidFill>
                  <a:srgbClr val="333333"/>
                </a:solidFill>
                <a:latin typeface="Calibri"/>
              </a:rPr>
              <a:t>Avoid overwriting one another’s work</a:t>
            </a:r>
          </a:p>
          <a:p>
            <a:pPr>
              <a:spcAft>
                <a:spcPts val="1000"/>
              </a:spcAft>
              <a:buChar char="•"/>
              <a:lnSpc>
                <a:spcPts val="2200"/>
              </a:lnSpc>
            </a:pPr>
            <a:r>
              <a:rPr sz="2000" b="0">
                <a:solidFill>
                  <a:srgbClr val="333333"/>
                </a:solidFill>
                <a:latin typeface="Calibri"/>
              </a:rPr>
              <a:t>Tools that combine Git with large-file or data-aware layers help when binaries and shared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Introduction To Documentation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8.2 — Feature Drift Across Dataset Versions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8.2 — hands-on module</a:t>
            </a:r>
          </a:p>
          <a:p>
            <a:pPr>
              <a:spcAft>
                <a:spcPts val="1000"/>
              </a:spcAft>
              <a:buChar char="•"/>
              <a:lnSpc>
                <a:spcPts val="2200"/>
              </a:lnSpc>
            </a:pPr>
            <a:r>
              <a:rPr sz="2000" b="0">
                <a:solidFill>
                  <a:srgbClr val="333333"/>
                </a:solidFill>
                <a:latin typeface="Calibri"/>
              </a:rPr>
              <a:t>Example 8.2 shows a modeling dataset that gains or modifies features during development</a:t>
            </a:r>
          </a:p>
          <a:p>
            <a:pPr>
              <a:spcAft>
                <a:spcPts val="1000"/>
              </a:spcAft>
              <a:buChar char="•"/>
              <a:lnSpc>
                <a:spcPts val="2200"/>
              </a:lnSpc>
            </a:pPr>
            <a:r>
              <a:rPr sz="2000" b="0">
                <a:solidFill>
                  <a:srgbClr val="333333"/>
                </a:solidFill>
                <a:latin typeface="Calibri"/>
              </a:rPr>
              <a:t>If a new feature later hurts model quality</a:t>
            </a:r>
          </a:p>
          <a:p>
            <a:pPr>
              <a:spcAft>
                <a:spcPts val="1000"/>
              </a:spcAft>
              <a:buChar char="•"/>
              <a:lnSpc>
                <a:spcPts val="2200"/>
              </a:lnSpc>
            </a:pPr>
            <a:r>
              <a:rPr sz="2000" b="0">
                <a:solidFill>
                  <a:srgbClr val="333333"/>
                </a:solidFill>
                <a:latin typeface="Calibri"/>
              </a:rPr>
              <a:t>Without that trail, feature drift is hard to diagnose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Introduction To Documentation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8.3 — Clinical Dataset Change Tracking for Compliance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8.3 — hands-on module</a:t>
            </a:r>
          </a:p>
          <a:p>
            <a:pPr>
              <a:spcAft>
                <a:spcPts val="1000"/>
              </a:spcAft>
              <a:buChar char="•"/>
              <a:lnSpc>
                <a:spcPts val="2200"/>
              </a:lnSpc>
            </a:pPr>
            <a:r>
              <a:rPr sz="2000" b="0">
                <a:solidFill>
                  <a:srgbClr val="333333"/>
                </a:solidFill>
                <a:latin typeface="Calibri"/>
              </a:rPr>
              <a:t>Example 8.3 highlights regulated clinical research</a:t>
            </a:r>
          </a:p>
          <a:p>
            <a:pPr>
              <a:spcAft>
                <a:spcPts val="1000"/>
              </a:spcAft>
              <a:buChar char="•"/>
              <a:lnSpc>
                <a:spcPts val="2200"/>
              </a:lnSpc>
            </a:pPr>
            <a:r>
              <a:rPr sz="2000" b="0">
                <a:solidFill>
                  <a:srgbClr val="333333"/>
                </a:solidFill>
                <a:latin typeface="Calibri"/>
              </a:rPr>
              <a:t>Accountability requires linking each modification to an author and a clear explanation</a:t>
            </a:r>
          </a:p>
          <a:p>
            <a:pPr>
              <a:spcAft>
                <a:spcPts val="1000"/>
              </a:spcAft>
              <a:buChar char="•"/>
              <a:lnSpc>
                <a:spcPts val="2200"/>
              </a:lnSpc>
            </a:pPr>
            <a:r>
              <a:rPr sz="2000" b="0">
                <a:solidFill>
                  <a:srgbClr val="333333"/>
                </a:solidFill>
                <a:latin typeface="Calibri"/>
              </a:rPr>
              <a:t>Version control therefore supports both scientific reproducibility and compliance evidence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Introduction To Documentation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Documentation turns raw observations into interpretable assets</a:t>
            </a:r>
          </a:p>
          <a:p>
            <a:pPr>
              <a:spcAft>
                <a:spcPts val="1000"/>
              </a:spcAft>
              <a:buChar char="•"/>
              <a:lnSpc>
                <a:spcPts val="2200"/>
              </a:lnSpc>
            </a:pPr>
            <a:r>
              <a:rPr sz="2000" b="0">
                <a:solidFill>
                  <a:srgbClr val="333333"/>
                </a:solidFill>
                <a:latin typeface="Calibri"/>
              </a:rPr>
              <a:t>Collaboration depends on shared context and merge-safe change tracking</a:t>
            </a:r>
          </a:p>
          <a:p>
            <a:pPr>
              <a:spcAft>
                <a:spcPts val="1000"/>
              </a:spcAft>
              <a:buChar char="•"/>
              <a:lnSpc>
                <a:spcPts val="2200"/>
              </a:lnSpc>
            </a:pPr>
            <a:r>
              <a:rPr sz="2000" b="0">
                <a:solidFill>
                  <a:srgbClr val="333333"/>
                </a:solidFill>
                <a:latin typeface="Calibri"/>
              </a:rPr>
              <a:t>Regulated domains add auditability requirements on top of everyday engineering needs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Introduction To Documentation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moves from why documentation matters to concrete components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Introduction To Documentation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