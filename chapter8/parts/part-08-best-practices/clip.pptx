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Pipelines fail when day-to-day habits are weak. This part turns documentation and versioning into operating practice: consistent release checklists, living codebooks, provenance notes, descriptive commits, clear naming, and realistic handling of large binaries, conflicts, and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maintain documentation as a living checklist, write descriptive dataset commit messages, apply naming and folder conventions for collaboration, and choose Git LFS or DVC when plain Git cannot hold large binaries.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release should carry the same minimum set: metadata, variable definitions, codebooks, provenance, limitations, and license or access terms. Update the checklist whenever the data change rather than rewriting definitions from scratch. Consistency across releases matters more than occasional long essays.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8.30 reminds teams to keep a codebook for categorical encodings, including ranges and allowed values such as age units and gender categories. Learners can inspect the JSON listing and module files for this example to see a compact, maintainable codebook shape. Encoded regions and demographics especially need this habit.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should record sources, instruments, cleaning scripts, transforms, joins, and the commit or tag for each release. Dataset changes should be committed as logical units. Git suits scripts and small text artifacts; Git LFS or DVC should manage large files; DVC pipelines should track dependencies when preprocessing must be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8.33 shows a useful commit message: cleaned training data with missing values imputed using the median. Messages should explain what changed and why, not merely say “update.” The example 33 module for this chapter restates that descriptive standard.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names encode project, version, date, and processing state—prefer structured filenames over labels like final new. Separate raw, processed, intermediate, model, and output folders. Use branches or separate experimental versions, sync regularly, and require review before primary releases, including access and privacy checks when data are sensitive.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8.34 explains why plain Git is inefficient for large binaries and recommends Git LFS or DVC to store content externally while tracking metadata in Git. That pattern keeps repositories performant. Open the example 34 module for this chapter to review the recommended solution framing.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 is operational consistency: living documentation checklists, provenance tied to commits, descriptive messages, predictable naming, and the right storage layer for large files. Collaboration and compliance rest on review, sync habits, and access controls—not on tools alone.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shows these practices in domain settings: climate-agriculture research, predictive maintenance, and clinical-trial collaboration.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Best practices</a:t>
            </a:r>
          </a:p>
          <a:p>
            <a:pPr algn="ctr">
              <a:lnSpc>
                <a:spcPts val="2200"/>
              </a:lnSpc>
              <a:spcBef>
                <a:spcPts val="1400"/>
              </a:spcBef>
            </a:pPr>
            <a:r>
              <a:rPr sz="2600" b="0">
                <a:solidFill>
                  <a:srgbClr val="333333"/>
                </a:solidFill>
                <a:latin typeface="Calibri"/>
              </a:rPr>
              <a:t>Pipelines fail when day-to-day habits are weak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Choose Git LFS or DVC when plain Git cannot hold large binaries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Documentation as a living checklist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Every release should carry the same minimum set</a:t>
            </a:r>
          </a:p>
          <a:p>
            <a:pPr>
              <a:spcAft>
                <a:spcPts val="1000"/>
              </a:spcAft>
              <a:buChar char="•"/>
              <a:lnSpc>
                <a:spcPts val="2200"/>
              </a:lnSpc>
            </a:pPr>
            <a:r>
              <a:rPr sz="2000" b="0">
                <a:solidFill>
                  <a:srgbClr val="333333"/>
                </a:solidFill>
                <a:latin typeface="Calibri"/>
              </a:rPr>
              <a:t>Update the checklist whenever the data change rather than rewriting definitions from</a:t>
            </a:r>
          </a:p>
          <a:p>
            <a:pPr>
              <a:spcAft>
                <a:spcPts val="1000"/>
              </a:spcAft>
              <a:buChar char="•"/>
              <a:lnSpc>
                <a:spcPts val="2200"/>
              </a:lnSpc>
            </a:pPr>
            <a:r>
              <a:rPr sz="2000" b="0">
                <a:solidFill>
                  <a:srgbClr val="333333"/>
                </a:solidFill>
                <a:latin typeface="Calibri"/>
              </a:rPr>
              <a:t>Consistency across releases matters more than occasional long essays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8.30 — Codebook for Categorical Labels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8.30 — hands-on module</a:t>
            </a:r>
          </a:p>
          <a:p>
            <a:pPr>
              <a:spcAft>
                <a:spcPts val="1000"/>
              </a:spcAft>
              <a:buChar char="•"/>
              <a:lnSpc>
                <a:spcPts val="2200"/>
              </a:lnSpc>
            </a:pPr>
            <a:r>
              <a:rPr sz="2000" b="0">
                <a:solidFill>
                  <a:srgbClr val="333333"/>
                </a:solidFill>
                <a:latin typeface="Calibri"/>
              </a:rPr>
              <a:t>Example 8.30 reminds teams to keep a codebook for categorical encodings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"age": {</a:t>
            </a:r>
          </a:p>
          <a:p>
            <a:pPr>
              <a:lnSpc>
                <a:spcPts val="2200"/>
              </a:lnSpc>
              <a:spcAft>
                <a:spcPts val="400"/>
              </a:spcAft>
            </a:pPr>
            <a:r>
              <a:rPr sz="2000" b="0">
                <a:solidFill>
                  <a:srgbClr val="333333"/>
                </a:solidFill>
                <a:latin typeface="Consolas"/>
              </a:rPr>
              <a:t>    "type": "integer",</a:t>
            </a:r>
          </a:p>
          <a:p>
            <a:pPr>
              <a:lnSpc>
                <a:spcPts val="2200"/>
              </a:lnSpc>
              <a:spcAft>
                <a:spcPts val="400"/>
              </a:spcAft>
            </a:pPr>
            <a:r>
              <a:rPr sz="2000" b="0">
                <a:solidFill>
                  <a:srgbClr val="333333"/>
                </a:solidFill>
                <a:latin typeface="Consolas"/>
              </a:rPr>
              <a:t>    "description": "Age of the individual in years",</a:t>
            </a:r>
          </a:p>
          <a:p>
            <a:pPr>
              <a:lnSpc>
                <a:spcPts val="2200"/>
              </a:lnSpc>
              <a:spcAft>
                <a:spcPts val="400"/>
              </a:spcAft>
            </a:pPr>
            <a:r>
              <a:rPr sz="2000" b="0">
                <a:solidFill>
                  <a:srgbClr val="333333"/>
                </a:solidFill>
                <a:latin typeface="Consolas"/>
              </a:rPr>
              <a:t>    "range": "0-120",</a:t>
            </a:r>
          </a:p>
          <a:p>
            <a:pPr>
              <a:lnSpc>
                <a:spcPts val="2200"/>
              </a:lnSpc>
              <a:spcAft>
                <a:spcPts val="400"/>
              </a:spcAft>
            </a:pPr>
            <a:r>
              <a:rPr sz="2000" b="0">
                <a:solidFill>
                  <a:srgbClr val="333333"/>
                </a:solidFill>
                <a:latin typeface="Consolas"/>
              </a:rPr>
              <a:t>    "unit": "years"</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"gender": {</a:t>
            </a:r>
          </a:p>
          <a:p>
            <a:pPr>
              <a:lnSpc>
                <a:spcPts val="2200"/>
              </a:lnSpc>
              <a:spcAft>
                <a:spcPts val="400"/>
              </a:spcAft>
            </a:pPr>
            <a:r>
              <a:rPr sz="2000" b="0">
                <a:solidFill>
                  <a:srgbClr val="333333"/>
                </a:solidFill>
                <a:latin typeface="Consolas"/>
              </a:rPr>
              <a:t>    "type": "categorical",</a:t>
            </a:r>
          </a:p>
          <a:p>
            <a:pPr>
              <a:lnSpc>
                <a:spcPts val="2200"/>
              </a:lnSpc>
              <a:spcAft>
                <a:spcPts val="400"/>
              </a:spcAft>
            </a:pPr>
            <a:r>
              <a:rPr sz="2000" b="0">
                <a:solidFill>
                  <a:srgbClr val="333333"/>
                </a:solidFill>
                <a:latin typeface="Consolas"/>
              </a:rPr>
              <a:t>    "description": "Gender of the individual",</a:t>
            </a:r>
          </a:p>
          <a:p>
            <a:pPr>
              <a:lnSpc>
                <a:spcPts val="2200"/>
              </a:lnSpc>
              <a:spcAft>
                <a:spcPts val="400"/>
              </a:spcAft>
            </a:pPr>
            <a:r>
              <a:rPr sz="2000" b="0">
                <a:solidFill>
                  <a:srgbClr val="333333"/>
                </a:solidFill>
                <a:latin typeface="Consolas"/>
              </a:rPr>
              <a:t>    "values": ["male", "female", "non-binary"]</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Provenance and version-control habits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Provenance should record sources, instruments, cleaning scripts, transforms, joins</a:t>
            </a:r>
          </a:p>
          <a:p>
            <a:pPr>
              <a:spcAft>
                <a:spcPts val="1000"/>
              </a:spcAft>
              <a:buChar char="•"/>
              <a:lnSpc>
                <a:spcPts val="2200"/>
              </a:lnSpc>
            </a:pPr>
            <a:r>
              <a:rPr sz="2000" b="0">
                <a:solidFill>
                  <a:srgbClr val="333333"/>
                </a:solidFill>
                <a:latin typeface="Calibri"/>
              </a:rPr>
              <a:t>Dataset changes should be committed as logical units</a:t>
            </a:r>
          </a:p>
          <a:p>
            <a:pPr>
              <a:spcAft>
                <a:spcPts val="1000"/>
              </a:spcAft>
              <a:buChar char="•"/>
              <a:lnSpc>
                <a:spcPts val="2200"/>
              </a:lnSpc>
            </a:pPr>
            <a:r>
              <a:rPr sz="2000" b="0">
                <a:solidFill>
                  <a:srgbClr val="333333"/>
                </a:solidFill>
                <a:latin typeface="Calibri"/>
              </a:rPr>
              <a:t>Git suits scripts and small text artifacts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8.33 — Descriptive Dataset Commit Message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8.33 — hands-on module</a:t>
            </a:r>
          </a:p>
          <a:p>
            <a:pPr>
              <a:spcAft>
                <a:spcPts val="1000"/>
              </a:spcAft>
              <a:buChar char="•"/>
              <a:lnSpc>
                <a:spcPts val="2200"/>
              </a:lnSpc>
            </a:pPr>
            <a:r>
              <a:rPr sz="2000" b="0">
                <a:solidFill>
                  <a:srgbClr val="333333"/>
                </a:solidFill>
                <a:latin typeface="Calibri"/>
              </a:rPr>
              <a:t>Example 8.33 shows a useful commit message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Naming and collaborative practice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Clear names encode project, version, date</a:t>
            </a:r>
          </a:p>
          <a:p>
            <a:pPr>
              <a:spcAft>
                <a:spcPts val="1000"/>
              </a:spcAft>
              <a:buChar char="•"/>
              <a:lnSpc>
                <a:spcPts val="2200"/>
              </a:lnSpc>
            </a:pPr>
            <a:r>
              <a:rPr sz="2000" b="0">
                <a:solidFill>
                  <a:srgbClr val="333333"/>
                </a:solidFill>
                <a:latin typeface="Calibri"/>
              </a:rPr>
              <a:t>Separate raw, processed, intermediate, model, and output folders</a:t>
            </a:r>
          </a:p>
          <a:p>
            <a:pPr>
              <a:spcAft>
                <a:spcPts val="1000"/>
              </a:spcAft>
              <a:buChar char="•"/>
              <a:lnSpc>
                <a:spcPts val="2200"/>
              </a:lnSpc>
            </a:pPr>
            <a:r>
              <a:rPr sz="2000" b="0">
                <a:solidFill>
                  <a:srgbClr val="333333"/>
                </a:solidFill>
                <a:latin typeface="Calibri"/>
              </a:rPr>
              <a:t>Use branches or separate experimental versions, sync regularly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8.34 — Large Binary Files Beyond Plain Git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8.34 — hands-on module</a:t>
            </a:r>
          </a:p>
          <a:p>
            <a:pPr>
              <a:spcAft>
                <a:spcPts val="1000"/>
              </a:spcAft>
              <a:buChar char="•"/>
              <a:lnSpc>
                <a:spcPts val="2200"/>
              </a:lnSpc>
            </a:pPr>
            <a:r>
              <a:rPr sz="2000" b="0">
                <a:solidFill>
                  <a:srgbClr val="333333"/>
                </a:solidFill>
                <a:latin typeface="Calibri"/>
              </a:rPr>
              <a:t>Example 8.34 explains why plain Git is inefficient for large binaries and recommends Git</a:t>
            </a:r>
          </a:p>
          <a:p>
            <a:pPr>
              <a:spcAft>
                <a:spcPts val="1000"/>
              </a:spcAft>
              <a:buChar char="•"/>
              <a:lnSpc>
                <a:spcPts val="2200"/>
              </a:lnSpc>
            </a:pPr>
            <a:r>
              <a:rPr sz="2000" b="0">
                <a:solidFill>
                  <a:srgbClr val="333333"/>
                </a:solidFill>
                <a:latin typeface="Calibri"/>
              </a:rPr>
              <a:t>That pattern keeps repositories performant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Best practice is operational consistency</a:t>
            </a:r>
          </a:p>
          <a:p>
            <a:pPr>
              <a:spcAft>
                <a:spcPts val="1000"/>
              </a:spcAft>
              <a:buChar char="•"/>
              <a:lnSpc>
                <a:spcPts val="2200"/>
              </a:lnSpc>
            </a:pPr>
            <a:r>
              <a:rPr sz="2000" b="0">
                <a:solidFill>
                  <a:srgbClr val="333333"/>
                </a:solidFill>
                <a:latin typeface="Calibri"/>
              </a:rPr>
              <a:t>Collaboration and compliance rest on review, sync habits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shows these practices in domain settings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Best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