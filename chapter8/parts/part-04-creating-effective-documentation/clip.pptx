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documentation components named, the next question is how to write them well. This part walks a practical workflow: clarify purpose and audience, fill the component checklist, choose maintainable formats, and validate before release. FAIR principles and structured templates keep releases findable and reusable.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match documentation depth to intended use, outline Markdown and structured documentation formats, apply FAIR principles to a release, and recognize a compact multi-section documentation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documentation is iterative across the dataset lifecycle. Four moves organize the work: define purpose and audience, instantiate metadata, dictionary, codebook, provenance, annotations, and version history as a checklist, choose a format users can maintain, and review with someone who did not create the data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8.13 contrasts depth for machine learning training versus exploratory analysis. Training releases typically need richer preprocessing, label, and split notes; exploratory releases may emphasize overview and caveats. Purpose decisions drive how much detail each component receives. The example 13 module for this chapter restates that contrast.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smaller projects, Markdown or plain text is easy to create, share, and version alongside code. Spreadsheets and templates help standardize metadata tables across many datasets. Larger programs may add automated metadata generation from tools that already track versions and lineage.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8.15 sketches a Markdown layout with overview, table of contents, data dictionary, and per-variable descriptions. Learners can inspect the module files and listing for this example to see a readable human-facing skeleton. Markdown converts cleanly to HTML and sits naturally in Git-based workflows.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metadata such as JSON-LD, XML, or Schema.org terms supports consistent exchange with repositories and pipelines. FAIR principles require datasets to be findable with persistent identifiers and rich metadata, accessible with clear rights and retrieval paths, interoperable via standard formats, and reusable with sufficient methodology, limitations, and licensing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8.19 assembles a compact template: overview with creator and version, metadata with sources and license, a data dictionary table, provenance of cleaning and merges, and notes on urban sampling and missing categories. Inspect the listing and module files for this example to see how sections fit together in one release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struggle with time cost, inconsistent local standards, stale docs after data changes, complex metadata for large schemas, and weak organizational buy-in. Treating documentation as a release gate—reviewed and versioned with the data—reduces these failure modes more effectively than ad hoc notes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depth follows intended use. Maintainable formats range from Markdown to structured Schema.org-style metadata. FAIR criteria turn completeness into discoverability and reuse. Templates like the retail example show how overview, dictionary, provenance, and notes belong in one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freezes meaning at a point in time; the next part introduces dataset version control, contrasts traditional and automated approaches, and lays Git and DVC foundations for tracking evolving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Creating effective documentation</a:t>
            </a:r>
          </a:p>
          <a:p>
            <a:pPr algn="ctr">
              <a:lnSpc>
                <a:spcPts val="2200"/>
              </a:lnSpc>
              <a:spcBef>
                <a:spcPts val="1400"/>
              </a:spcBef>
            </a:pPr>
            <a:r>
              <a:rPr sz="2600" b="0">
                <a:solidFill>
                  <a:srgbClr val="333333"/>
                </a:solidFill>
                <a:latin typeface="Calibri"/>
              </a:rPr>
              <a:t>With documentation components named, the next question is how to write them well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Recognize a compact multi-section documentation template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four-move documentation workflow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Effective documentation is iterative across the dataset lifecycle</a:t>
            </a:r>
          </a:p>
          <a:p>
            <a:pPr>
              <a:spcAft>
                <a:spcPts val="1000"/>
              </a:spcAft>
              <a:buChar char="•"/>
              <a:lnSpc>
                <a:spcPts val="2200"/>
              </a:lnSpc>
            </a:pPr>
            <a:r>
              <a:rPr sz="2000" b="0">
                <a:solidFill>
                  <a:srgbClr val="333333"/>
                </a:solidFill>
                <a:latin typeface="Calibri"/>
              </a:rPr>
              <a:t>Four moves organize the work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8.13 — Documentation Depth by Intended Use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8.13 — hands-on module</a:t>
            </a:r>
          </a:p>
          <a:p>
            <a:pPr>
              <a:spcAft>
                <a:spcPts val="1000"/>
              </a:spcAft>
              <a:buChar char="•"/>
              <a:lnSpc>
                <a:spcPts val="2200"/>
              </a:lnSpc>
            </a:pPr>
            <a:r>
              <a:rPr sz="2000" b="0">
                <a:solidFill>
                  <a:srgbClr val="333333"/>
                </a:solidFill>
                <a:latin typeface="Calibri"/>
              </a:rPr>
              <a:t>Example 8.13 contrasts depth for machine learning training versus exploratory analysis</a:t>
            </a:r>
          </a:p>
          <a:p>
            <a:pPr>
              <a:spcAft>
                <a:spcPts val="1000"/>
              </a:spcAft>
              <a:buChar char="•"/>
              <a:lnSpc>
                <a:spcPts val="2200"/>
              </a:lnSpc>
            </a:pPr>
            <a:r>
              <a:rPr sz="2000" b="0">
                <a:solidFill>
                  <a:srgbClr val="333333"/>
                </a:solidFill>
                <a:latin typeface="Calibri"/>
              </a:rPr>
              <a:t>Training releases typically need richer preprocessing, label, and split notes</a:t>
            </a:r>
          </a:p>
          <a:p>
            <a:pPr>
              <a:spcAft>
                <a:spcPts val="1000"/>
              </a:spcAft>
              <a:buChar char="•"/>
              <a:lnSpc>
                <a:spcPts val="2200"/>
              </a:lnSpc>
            </a:pPr>
            <a:r>
              <a:rPr sz="2000" b="0">
                <a:solidFill>
                  <a:srgbClr val="333333"/>
                </a:solidFill>
                <a:latin typeface="Calibri"/>
              </a:rPr>
              <a:t>Purpose decisions drive how much detail each component receives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Markdown and everyday formats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smaller projects, Markdown or plain text is easy to create, share</a:t>
            </a:r>
          </a:p>
          <a:p>
            <a:pPr>
              <a:spcAft>
                <a:spcPts val="1000"/>
              </a:spcAft>
              <a:buChar char="•"/>
              <a:lnSpc>
                <a:spcPts val="2200"/>
              </a:lnSpc>
            </a:pPr>
            <a:r>
              <a:rPr sz="2000" b="0">
                <a:solidFill>
                  <a:srgbClr val="333333"/>
                </a:solidFill>
                <a:latin typeface="Calibri"/>
              </a:rPr>
              <a:t>Spreadsheets and templates help standardize metadata tables across many datasets</a:t>
            </a:r>
          </a:p>
          <a:p>
            <a:pPr>
              <a:spcAft>
                <a:spcPts val="1000"/>
              </a:spcAft>
              <a:buChar char="•"/>
              <a:lnSpc>
                <a:spcPts val="2200"/>
              </a:lnSpc>
            </a:pPr>
            <a:r>
              <a:rPr sz="2000" b="0">
                <a:solidFill>
                  <a:srgbClr val="333333"/>
                </a:solidFill>
                <a:latin typeface="Calibri"/>
              </a:rPr>
              <a:t>Larger programs may add automated metadata generation from tools that already track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8.15 — Markdown Documentation Outline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8.15 — hands-on module</a:t>
            </a:r>
          </a:p>
          <a:p>
            <a:pPr>
              <a:spcAft>
                <a:spcPts val="1000"/>
              </a:spcAft>
              <a:buChar char="•"/>
              <a:lnSpc>
                <a:spcPts val="2200"/>
              </a:lnSpc>
            </a:pPr>
            <a:r>
              <a:rPr sz="2000" b="0">
                <a:solidFill>
                  <a:srgbClr val="333333"/>
                </a:solidFill>
                <a:latin typeface="Calibri"/>
              </a:rPr>
              <a:t>Example 8.15 sketches a Markdown layout with overview, table of contents, data dictionary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formats and FAIR principles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Structured metadata such as JSON-LD</a:t>
            </a:r>
          </a:p>
          <a:p>
            <a:pPr>
              <a:spcAft>
                <a:spcPts val="1000"/>
              </a:spcAft>
              <a:buChar char="•"/>
              <a:lnSpc>
                <a:spcPts val="2200"/>
              </a:lnSpc>
            </a:pPr>
            <a:r>
              <a:rPr sz="2000" b="0">
                <a:solidFill>
                  <a:srgbClr val="333333"/>
                </a:solidFill>
                <a:latin typeface="Calibri"/>
              </a:rPr>
              <a:t>Reusable with sufficient methodology, limitations, and licensing detail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8.19 — Retail Transaction Documentation Template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8.19 — hands-on module</a:t>
            </a:r>
          </a:p>
          <a:p>
            <a:pPr>
              <a:spcAft>
                <a:spcPts val="1000"/>
              </a:spcAft>
              <a:buChar char="•"/>
              <a:lnSpc>
                <a:spcPts val="2200"/>
              </a:lnSpc>
            </a:pPr>
            <a:r>
              <a:rPr sz="2000" b="0">
                <a:solidFill>
                  <a:srgbClr val="333333"/>
                </a:solidFill>
                <a:latin typeface="Calibri"/>
              </a:rPr>
              <a:t>Example 8.19 assembles a compact template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documentation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organizational buy-in</a:t>
            </a:r>
          </a:p>
          <a:p>
            <a:pPr>
              <a:spcAft>
                <a:spcPts val="1000"/>
              </a:spcAft>
              <a:buChar char="•"/>
              <a:lnSpc>
                <a:spcPts val="2200"/>
              </a:lnSpc>
            </a:pPr>
            <a:r>
              <a:rPr sz="2000" b="0">
                <a:solidFill>
                  <a:srgbClr val="333333"/>
                </a:solidFill>
                <a:latin typeface="Calibri"/>
              </a:rPr>
              <a:t>Treating documentation as a release gate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Documentation depth follows intended use</a:t>
            </a:r>
          </a:p>
          <a:p>
            <a:pPr>
              <a:spcAft>
                <a:spcPts val="1000"/>
              </a:spcAft>
              <a:buChar char="•"/>
              <a:lnSpc>
                <a:spcPts val="2200"/>
              </a:lnSpc>
            </a:pPr>
            <a:r>
              <a:rPr sz="2000" b="0">
                <a:solidFill>
                  <a:srgbClr val="333333"/>
                </a:solidFill>
                <a:latin typeface="Calibri"/>
              </a:rPr>
              <a:t>Maintainable formats range from Markdown to structured Schema.org-style metadata</a:t>
            </a:r>
          </a:p>
          <a:p>
            <a:pPr>
              <a:spcAft>
                <a:spcPts val="1000"/>
              </a:spcAft>
              <a:buChar char="•"/>
              <a:lnSpc>
                <a:spcPts val="2200"/>
              </a:lnSpc>
            </a:pPr>
            <a:r>
              <a:rPr sz="2000" b="0">
                <a:solidFill>
                  <a:srgbClr val="333333"/>
                </a:solidFill>
                <a:latin typeface="Calibri"/>
              </a:rPr>
              <a:t>FAIR criteria turn completeness into discoverability and reuse</a:t>
            </a:r>
          </a:p>
          <a:p>
            <a:pPr>
              <a:spcAft>
                <a:spcPts val="1000"/>
              </a:spcAft>
              <a:buChar char="•"/>
              <a:lnSpc>
                <a:spcPts val="2200"/>
              </a:lnSpc>
            </a:pPr>
            <a:r>
              <a:rPr sz="2000" b="0">
                <a:solidFill>
                  <a:srgbClr val="333333"/>
                </a:solidFill>
                <a:latin typeface="Calibri"/>
              </a:rPr>
              <a:t>Templates like the retail example show how overview, dictionary,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Documentation freezes meaning at a point in time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Creating Effective Documentation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