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Dictionaries name variables; reuse also needs coded categories, source trails, and caveats. This part covers codebooks that map codes to meanings, provenance that tracks origins and transforms, and annotations that capture sampling limits and other peculiarities invisible in the schema alone.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when a codebook is required, list elements of a provenance trail, and write annotation notes that expose sampling limits or known data-quality issues.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codebook maps numeric or abbreviated codes to full categorical meanings. Healthcare, government, and business tables often store integers for efficiency or standards compliance. Without a codebook, those codes are opaque and analyses risk silent mislabeling of classes.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8.9 maps disease codes to readable names: one for hypertension, two for diabetes, three for asthma, and four for chronic obstructive pulmonary disease. Learners can inspect the listing and module files for this example to see a compact code-to-label table. The same pattern applies to regions, product types, or any encoded taxonomy.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also called data lineage, records where data came from and what operations followed. Typical elements include the original source, cleaning or normalization steps, format conversions, and links to other datasets that were merged or joined. Provenance supports integrity checks and explains how validity may have 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8.10 summarizes a retail trail: data originate in a point-of-sale system, duplicates are removed, and demographics are added from an external application programming interface. That short narrative lets auditors reconstruct the processing path. The example 10 module for this chapter restates the same three-stage trail.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Annotations capture context that structured metadata cannot easily hold: collection challenges, known quality issues, modeling assumptions, and limitations. They warn users about sampling bias, instrument faults, incomplete surveys, or decisions such as assuming normality for a statistical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8.11 records a critical sampling limit: the dataset includes only urban areas and may not represent rural populations. Without that note, downstream users might treat results as nationally generalizable. Open the example 11 module for this chapter to review how a short caveat should be phrased.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Codebooks unlock encoded categories; provenance unlocks history; annotations unlock caveats. Together with metadata and dictionaries from the previous part, these components make a documentation package sufficient for accurate reuse. Omissions in any layer create silent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components into practice: how deep documentation should go for different uses, Markdown and structured formats, and FAIR principles for findable, accessible, interoperable, and reusable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Codebooks, provenance, and notes</a:t>
            </a:r>
          </a:p>
          <a:p>
            <a:pPr algn="ctr">
              <a:lnSpc>
                <a:spcPts val="2200"/>
              </a:lnSpc>
              <a:spcBef>
                <a:spcPts val="1400"/>
              </a:spcBef>
            </a:pPr>
            <a:r>
              <a:rPr sz="2600" b="0">
                <a:solidFill>
                  <a:srgbClr val="333333"/>
                </a:solidFill>
                <a:latin typeface="Calibri"/>
              </a:rPr>
              <a:t>Dictionaries name variables; reuse also needs coded categories, source trails, and caveats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Write annotation notes that expose sampling limits or known data-quality issues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Codebooks for encoded categories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codebook maps numeric or abbreviated codes to full categorical meanings</a:t>
            </a:r>
          </a:p>
          <a:p>
            <a:pPr>
              <a:spcAft>
                <a:spcPts val="1000"/>
              </a:spcAft>
              <a:buChar char="•"/>
              <a:lnSpc>
                <a:spcPts val="2200"/>
              </a:lnSpc>
            </a:pPr>
            <a:r>
              <a:rPr sz="2000" b="0">
                <a:solidFill>
                  <a:srgbClr val="333333"/>
                </a:solidFill>
                <a:latin typeface="Calibri"/>
              </a:rPr>
              <a:t>Healthcare, government</a:t>
            </a:r>
          </a:p>
          <a:p>
            <a:pPr>
              <a:spcAft>
                <a:spcPts val="1000"/>
              </a:spcAft>
              <a:buChar char="•"/>
              <a:lnSpc>
                <a:spcPts val="2200"/>
              </a:lnSpc>
            </a:pPr>
            <a:r>
              <a:rPr sz="2000" b="0">
                <a:solidFill>
                  <a:srgbClr val="333333"/>
                </a:solidFill>
                <a:latin typeface="Calibri"/>
              </a:rPr>
              <a:t>Without a codebook, those codes are opaque and analyses risk silent mislabeling of classes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8.9 — Medical Condition Codebook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8.9 — hands-on module</a:t>
            </a:r>
          </a:p>
          <a:p>
            <a:pPr>
              <a:spcAft>
                <a:spcPts val="1000"/>
              </a:spcAft>
              <a:buChar char="•"/>
              <a:lnSpc>
                <a:spcPts val="2200"/>
              </a:lnSpc>
            </a:pPr>
            <a:r>
              <a:rPr sz="2000" b="0">
                <a:solidFill>
                  <a:srgbClr val="333333"/>
                </a:solidFill>
                <a:latin typeface="Calibri"/>
              </a:rPr>
              <a:t>Example 8.9 maps disease codes to readable names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Code,Disease Name</a:t>
            </a:r>
          </a:p>
          <a:p>
            <a:pPr>
              <a:lnSpc>
                <a:spcPts val="2200"/>
              </a:lnSpc>
              <a:spcAft>
                <a:spcPts val="400"/>
              </a:spcAft>
            </a:pPr>
            <a:r>
              <a:rPr sz="2000" b="0">
                <a:solidFill>
                  <a:srgbClr val="333333"/>
                </a:solidFill>
                <a:latin typeface="Consolas"/>
              </a:rPr>
              <a:t>1,Hypertension</a:t>
            </a:r>
          </a:p>
          <a:p>
            <a:pPr>
              <a:lnSpc>
                <a:spcPts val="2200"/>
              </a:lnSpc>
              <a:spcAft>
                <a:spcPts val="400"/>
              </a:spcAft>
            </a:pPr>
            <a:r>
              <a:rPr sz="2000" b="0">
                <a:solidFill>
                  <a:srgbClr val="333333"/>
                </a:solidFill>
                <a:latin typeface="Consolas"/>
              </a:rPr>
              <a:t>2,Diabetes</a:t>
            </a:r>
          </a:p>
          <a:p>
            <a:pPr>
              <a:lnSpc>
                <a:spcPts val="2200"/>
              </a:lnSpc>
              <a:spcAft>
                <a:spcPts val="400"/>
              </a:spcAft>
            </a:pPr>
            <a:r>
              <a:rPr sz="2000" b="0">
                <a:solidFill>
                  <a:srgbClr val="333333"/>
                </a:solidFill>
                <a:latin typeface="Consolas"/>
              </a:rPr>
              <a:t>3,Asthma</a:t>
            </a:r>
          </a:p>
          <a:p>
            <a:pPr>
              <a:lnSpc>
                <a:spcPts val="2200"/>
              </a:lnSpc>
              <a:spcAft>
                <a:spcPts val="400"/>
              </a:spcAft>
            </a:pPr>
            <a:r>
              <a:rPr sz="2000" b="0">
                <a:solidFill>
                  <a:srgbClr val="333333"/>
                </a:solidFill>
                <a:latin typeface="Consolas"/>
              </a:rPr>
              <a:t>4,Chronic Obstructive Pulmonary Disease (COPD)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Provenance as data lineage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Also called data lineage, records where data came from and what operations followed</a:t>
            </a:r>
          </a:p>
          <a:p>
            <a:pPr>
              <a:spcAft>
                <a:spcPts val="1000"/>
              </a:spcAft>
              <a:buChar char="•"/>
              <a:lnSpc>
                <a:spcPts val="2200"/>
              </a:lnSpc>
            </a:pPr>
            <a:r>
              <a:rPr sz="2000" b="0">
                <a:solidFill>
                  <a:srgbClr val="333333"/>
                </a:solidFill>
                <a:latin typeface="Calibri"/>
              </a:rPr>
              <a:t>Links to other datasets that were merged or joined</a:t>
            </a:r>
          </a:p>
          <a:p>
            <a:pPr>
              <a:spcAft>
                <a:spcPts val="1000"/>
              </a:spcAft>
              <a:buChar char="•"/>
              <a:lnSpc>
                <a:spcPts val="2200"/>
              </a:lnSpc>
            </a:pPr>
            <a:r>
              <a:rPr sz="2000" b="0">
                <a:solidFill>
                  <a:srgbClr val="333333"/>
                </a:solidFill>
                <a:latin typeface="Calibri"/>
              </a:rPr>
              <a:t>Provenance supports integrity checks and explains how validity may have changed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8.10 — Retail Transaction Provenance Trail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8.10 — hands-on module</a:t>
            </a:r>
          </a:p>
          <a:p>
            <a:pPr>
              <a:spcAft>
                <a:spcPts val="1000"/>
              </a:spcAft>
              <a:buChar char="•"/>
              <a:lnSpc>
                <a:spcPts val="2200"/>
              </a:lnSpc>
            </a:pPr>
            <a:r>
              <a:rPr sz="2000" b="0">
                <a:solidFill>
                  <a:srgbClr val="333333"/>
                </a:solidFill>
                <a:latin typeface="Calibri"/>
              </a:rPr>
              <a:t>Example 8.10 summarizes a retail trail</a:t>
            </a:r>
          </a:p>
          <a:p>
            <a:pPr>
              <a:spcAft>
                <a:spcPts val="1000"/>
              </a:spcAft>
              <a:buChar char="•"/>
              <a:lnSpc>
                <a:spcPts val="2200"/>
              </a:lnSpc>
            </a:pPr>
            <a:r>
              <a:rPr sz="2000" b="0">
                <a:solidFill>
                  <a:srgbClr val="333333"/>
                </a:solidFill>
                <a:latin typeface="Calibri"/>
              </a:rPr>
              <a:t>That short narrative lets auditors reconstruct the processing path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Annotations and qualitative notes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Annotations capture context that structured metadata cannot easily hold</a:t>
            </a:r>
          </a:p>
          <a:p>
            <a:pPr>
              <a:spcAft>
                <a:spcPts val="1000"/>
              </a:spcAft>
              <a:buChar char="•"/>
              <a:lnSpc>
                <a:spcPts val="2200"/>
              </a:lnSpc>
            </a:pPr>
            <a:r>
              <a:rPr sz="2000" b="0">
                <a:solidFill>
                  <a:srgbClr val="333333"/>
                </a:solidFill>
                <a:latin typeface="Calibri"/>
              </a:rPr>
              <a:t>They warn users about sampling bias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8.11 — Urban-Only Sampling Note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8.11 — hands-on module</a:t>
            </a:r>
          </a:p>
          <a:p>
            <a:pPr>
              <a:spcAft>
                <a:spcPts val="1000"/>
              </a:spcAft>
              <a:buChar char="•"/>
              <a:lnSpc>
                <a:spcPts val="2200"/>
              </a:lnSpc>
            </a:pPr>
            <a:r>
              <a:rPr sz="2000" b="0">
                <a:solidFill>
                  <a:srgbClr val="333333"/>
                </a:solidFill>
                <a:latin typeface="Calibri"/>
              </a:rPr>
              <a:t>Example 8.11 records a critical sampling limit</a:t>
            </a:r>
          </a:p>
          <a:p>
            <a:pPr>
              <a:spcAft>
                <a:spcPts val="1000"/>
              </a:spcAft>
              <a:buChar char="•"/>
              <a:lnSpc>
                <a:spcPts val="2200"/>
              </a:lnSpc>
            </a:pPr>
            <a:r>
              <a:rPr sz="2000" b="0">
                <a:solidFill>
                  <a:srgbClr val="333333"/>
                </a:solidFill>
                <a:latin typeface="Calibri"/>
              </a:rPr>
              <a:t>Without that note, downstream users might treat results as nationally generalizable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Codebooks unlock encoded categories</a:t>
            </a:r>
          </a:p>
          <a:p>
            <a:pPr>
              <a:spcAft>
                <a:spcPts val="1000"/>
              </a:spcAft>
              <a:buChar char="•"/>
              <a:lnSpc>
                <a:spcPts val="2200"/>
              </a:lnSpc>
            </a:pPr>
            <a:r>
              <a:rPr sz="2000" b="0">
                <a:solidFill>
                  <a:srgbClr val="333333"/>
                </a:solidFill>
                <a:latin typeface="Calibri"/>
              </a:rPr>
              <a:t>Together with metadata and dictionaries from the previous part</a:t>
            </a:r>
          </a:p>
          <a:p>
            <a:pPr>
              <a:spcAft>
                <a:spcPts val="1000"/>
              </a:spcAft>
              <a:buChar char="•"/>
              <a:lnSpc>
                <a:spcPts val="2200"/>
              </a:lnSpc>
            </a:pPr>
            <a:r>
              <a:rPr sz="2000" b="0">
                <a:solidFill>
                  <a:srgbClr val="333333"/>
                </a:solidFill>
                <a:latin typeface="Calibri"/>
              </a:rPr>
              <a:t>Omissions in any layer create silent failure modes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turns components into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Codebooks Provenance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