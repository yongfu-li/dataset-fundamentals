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that documentation matters is not enough—teams need concrete components. This part covers the documentation blueprint: what the dataset is, how it was created, what variables mean, and how it should be used. The focus is metadata fields and data-dictionary entries that make each column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core metadata fields, explain what a data dictionary records for each variable, and recognize a structured dictionary entry that includes type, description, allowed values, and units.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documentation functions as a blueprint or user manual. It describes what the dataset represents, how it was collected or generated, and how it should be used. A self-sufficient package lets a newcomer apply the data correctly even without talking to the creators, reducing misuse in collaborative settings.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data about data. Typical fields include creators for authorship and accountability, creation date for relevance, update frequency for freshness, and data sources for authenticity and quality assessment. Version information adds release numbers and change notes so users can track how the corpus evolved.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8.5 lists metadata for an air-quality monitoring corpus: the collecting organization, the time period of measurements, hourly sampling frequency, and external sources such as satellite products. Those fields tell a user whether the release fits a modeling or reporting task. The example 5 module for this chapter restates the same field checklist.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dictionary explains each variable: name, type, description, allowed values for categories, and units for continuous measures. Consistent entries prevent misinterpretation of columns and reduce errors when analysts join tables or write feature pipelines. Completeness of the dictionary is as important as completeness of the data rows.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8.6 shows a concise dictionary description: for a variable named age, the text might read that it is the age of the individual in years. Short, unambiguous phrasing beats vague labels that leave units or populations unspecified. Review the example 6 module for this chapter to see how a single-field description should 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8.8 records a structured entry for purchase amount: float type, monthly spend description, positive values allowed, and units in United States dollars. Learners can inspect the listing and module files for this example to see how a machine-readable dictionary row is organized. Structured entries scale better than informal notes when many variables must stay consistent.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situates the whole dataset; the data dictionary situates each variable. Creators, dates, sources, and versions answer who and when; names, types, descriptions, allowed values, and units answer what each column means. Structured dictionary entries reduce ambiguity for both humans and automated consumers.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continues the documentation stack with codebooks for encoded categories, provenance trails for sources and transforms, and annotations that capture sampling limits and known faults.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Metadata and data dictionaries</a:t>
            </a:r>
          </a:p>
          <a:p>
            <a:pPr algn="ctr">
              <a:lnSpc>
                <a:spcPts val="2200"/>
              </a:lnSpc>
              <a:spcBef>
                <a:spcPts val="1400"/>
              </a:spcBef>
            </a:pPr>
            <a:r>
              <a:rPr sz="2600" b="0">
                <a:solidFill>
                  <a:srgbClr val="333333"/>
                </a:solidFill>
                <a:latin typeface="Calibri"/>
              </a:rPr>
              <a:t>Knowing that documentation matters is not enough, teams need concrete components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a user manual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documentation functions as a blueprint or user manual</a:t>
            </a:r>
          </a:p>
          <a:p>
            <a:pPr>
              <a:spcAft>
                <a:spcPts val="1000"/>
              </a:spcAft>
              <a:buChar char="•"/>
              <a:lnSpc>
                <a:spcPts val="2200"/>
              </a:lnSpc>
            </a:pPr>
            <a:r>
              <a:rPr sz="2000" b="0">
                <a:solidFill>
                  <a:srgbClr val="333333"/>
                </a:solidFill>
                <a:latin typeface="Calibri"/>
              </a:rPr>
              <a:t>It describes what the dataset represents, how it was collected or generated</a:t>
            </a:r>
          </a:p>
          <a:p>
            <a:pPr>
              <a:spcAft>
                <a:spcPts val="1000"/>
              </a:spcAft>
              <a:buChar char="•"/>
              <a:lnSpc>
                <a:spcPts val="2200"/>
              </a:lnSpc>
            </a:pPr>
            <a:r>
              <a:rPr sz="2000" b="0">
                <a:solidFill>
                  <a:srgbClr val="333333"/>
                </a:solidFill>
                <a:latin typeface="Calibri"/>
              </a:rPr>
              <a:t>Reducing misuse in collaborative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metadata fields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Metadata is data about data</a:t>
            </a:r>
          </a:p>
          <a:p>
            <a:pPr>
              <a:spcAft>
                <a:spcPts val="1000"/>
              </a:spcAft>
              <a:buChar char="•"/>
              <a:lnSpc>
                <a:spcPts val="2200"/>
              </a:lnSpc>
            </a:pPr>
            <a:r>
              <a:rPr sz="2000" b="0">
                <a:solidFill>
                  <a:srgbClr val="333333"/>
                </a:solidFill>
                <a:latin typeface="Calibri"/>
              </a:rPr>
              <a:t>Data sources for authenticity and quality assessment</a:t>
            </a:r>
          </a:p>
          <a:p>
            <a:pPr>
              <a:spcAft>
                <a:spcPts val="1000"/>
              </a:spcAft>
              <a:buChar char="•"/>
              <a:lnSpc>
                <a:spcPts val="2200"/>
              </a:lnSpc>
            </a:pPr>
            <a:r>
              <a:rPr sz="2000" b="0">
                <a:solidFill>
                  <a:srgbClr val="333333"/>
                </a:solidFill>
                <a:latin typeface="Calibri"/>
              </a:rPr>
              <a:t>Version information adds release numbers and change notes so users can track how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8.5 — Air-Quality Metadata Fields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8.5 — hands-on module</a:t>
            </a:r>
          </a:p>
          <a:p>
            <a:pPr>
              <a:spcAft>
                <a:spcPts val="1000"/>
              </a:spcAft>
              <a:buChar char="•"/>
              <a:lnSpc>
                <a:spcPts val="2200"/>
              </a:lnSpc>
            </a:pPr>
            <a:r>
              <a:rPr sz="2000" b="0">
                <a:solidFill>
                  <a:srgbClr val="333333"/>
                </a:solidFill>
                <a:latin typeface="Calibri"/>
              </a:rPr>
              <a:t>Example 8.5 lists metadata for an air-quality monitoring corpus</a:t>
            </a:r>
          </a:p>
          <a:p>
            <a:pPr>
              <a:spcAft>
                <a:spcPts val="1000"/>
              </a:spcAft>
              <a:buChar char="•"/>
              <a:lnSpc>
                <a:spcPts val="2200"/>
              </a:lnSpc>
            </a:pPr>
            <a:r>
              <a:rPr sz="2000" b="0">
                <a:solidFill>
                  <a:srgbClr val="333333"/>
                </a:solidFill>
                <a:latin typeface="Calibri"/>
              </a:rPr>
              <a:t>Those fields tell a user whether the release fits a modeling or reporting task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a data dictionary records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data dictionary explains each variable</a:t>
            </a:r>
          </a:p>
          <a:p>
            <a:pPr>
              <a:spcAft>
                <a:spcPts val="1000"/>
              </a:spcAft>
              <a:buChar char="•"/>
              <a:lnSpc>
                <a:spcPts val="2200"/>
              </a:lnSpc>
            </a:pPr>
            <a:r>
              <a:rPr sz="2000" b="0">
                <a:solidFill>
                  <a:srgbClr val="333333"/>
                </a:solidFill>
                <a:latin typeface="Calibri"/>
              </a:rPr>
              <a:t>Consistent entries prevent misinterpretation of columns and reduce errors when analysts</a:t>
            </a:r>
          </a:p>
          <a:p>
            <a:pPr>
              <a:spcAft>
                <a:spcPts val="1000"/>
              </a:spcAft>
              <a:buChar char="•"/>
              <a:lnSpc>
                <a:spcPts val="2200"/>
              </a:lnSpc>
            </a:pPr>
            <a:r>
              <a:rPr sz="2000" b="0">
                <a:solidFill>
                  <a:srgbClr val="333333"/>
                </a:solidFill>
                <a:latin typeface="Calibri"/>
              </a:rPr>
              <a:t>Completeness of the dictionary is as important as completeness of the data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8.6 — Age Variable Description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8.6 — hands-on module</a:t>
            </a:r>
          </a:p>
          <a:p>
            <a:pPr>
              <a:spcAft>
                <a:spcPts val="1000"/>
              </a:spcAft>
              <a:buChar char="•"/>
              <a:lnSpc>
                <a:spcPts val="2200"/>
              </a:lnSpc>
            </a:pPr>
            <a:r>
              <a:rPr sz="2000" b="0">
                <a:solidFill>
                  <a:srgbClr val="333333"/>
                </a:solidFill>
                <a:latin typeface="Calibri"/>
              </a:rPr>
              <a:t>Example 8.6 shows a concise dictionary description</a:t>
            </a:r>
          </a:p>
          <a:p>
            <a:pPr>
              <a:spcAft>
                <a:spcPts val="1000"/>
              </a:spcAft>
              <a:buChar char="•"/>
              <a:lnSpc>
                <a:spcPts val="2200"/>
              </a:lnSpc>
            </a:pPr>
            <a:r>
              <a:rPr sz="2000" b="0">
                <a:solidFill>
                  <a:srgbClr val="333333"/>
                </a:solidFill>
                <a:latin typeface="Calibri"/>
              </a:rPr>
              <a:t>Short, unambiguous phrasing beats vague labels that leave units or populations unspecified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8.8 — Purchase Amount Data-Dictionary Entry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8.8 — hands-on module</a:t>
            </a:r>
          </a:p>
          <a:p>
            <a:pPr>
              <a:spcAft>
                <a:spcPts val="1000"/>
              </a:spcAft>
              <a:buChar char="•"/>
              <a:lnSpc>
                <a:spcPts val="2200"/>
              </a:lnSpc>
            </a:pPr>
            <a:r>
              <a:rPr sz="2000" b="0">
                <a:solidFill>
                  <a:srgbClr val="333333"/>
                </a:solidFill>
                <a:latin typeface="Calibri"/>
              </a:rPr>
              <a:t>Example 8.8 records a structured entry for purchase amount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"Variable Name": "purchase_amount",</a:t>
            </a:r>
          </a:p>
          <a:p>
            <a:pPr>
              <a:lnSpc>
                <a:spcPts val="2200"/>
              </a:lnSpc>
              <a:spcAft>
                <a:spcPts val="400"/>
              </a:spcAft>
            </a:pPr>
            <a:r>
              <a:rPr sz="2000" b="0">
                <a:solidFill>
                  <a:srgbClr val="333333"/>
                </a:solidFill>
                <a:latin typeface="Consolas"/>
              </a:rPr>
              <a:t>    "Data Type": "float",</a:t>
            </a:r>
          </a:p>
          <a:p>
            <a:pPr>
              <a:lnSpc>
                <a:spcPts val="2200"/>
              </a:lnSpc>
              <a:spcAft>
                <a:spcPts val="400"/>
              </a:spcAft>
            </a:pPr>
            <a:r>
              <a:rPr sz="2000" b="0">
                <a:solidFill>
                  <a:srgbClr val="333333"/>
                </a:solidFill>
                <a:latin typeface="Consolas"/>
              </a:rPr>
              <a:t>    "Description": "Total amount spent by the customer in the month",</a:t>
            </a:r>
          </a:p>
          <a:p>
            <a:pPr>
              <a:lnSpc>
                <a:spcPts val="2200"/>
              </a:lnSpc>
              <a:spcAft>
                <a:spcPts val="400"/>
              </a:spcAft>
            </a:pPr>
            <a:r>
              <a:rPr sz="2000" b="0">
                <a:solidFill>
                  <a:srgbClr val="333333"/>
                </a:solidFill>
                <a:latin typeface="Consolas"/>
              </a:rPr>
              <a:t>    "Allowed Values": "Any positive number",</a:t>
            </a:r>
          </a:p>
          <a:p>
            <a:pPr>
              <a:lnSpc>
                <a:spcPts val="2200"/>
              </a:lnSpc>
              <a:spcAft>
                <a:spcPts val="400"/>
              </a:spcAft>
            </a:pPr>
            <a:r>
              <a:rPr sz="2000" b="0">
                <a:solidFill>
                  <a:srgbClr val="333333"/>
                </a:solidFill>
                <a:latin typeface="Consolas"/>
              </a:rPr>
              <a:t>    "Units": "USD"</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Metadata situates the whole dataset; the data dictionary situates each variable</a:t>
            </a:r>
          </a:p>
          <a:p>
            <a:pPr>
              <a:spcAft>
                <a:spcPts val="1000"/>
              </a:spcAft>
              <a:buChar char="•"/>
              <a:lnSpc>
                <a:spcPts val="2200"/>
              </a:lnSpc>
            </a:pPr>
            <a:r>
              <a:rPr sz="2000" b="0">
                <a:solidFill>
                  <a:srgbClr val="333333"/>
                </a:solidFill>
                <a:latin typeface="Calibri"/>
              </a:rPr>
              <a:t>Creators, dates, sources, and versions answer who and when</a:t>
            </a:r>
          </a:p>
          <a:p>
            <a:pPr>
              <a:spcAft>
                <a:spcPts val="1000"/>
              </a:spcAft>
              <a:buChar char="•"/>
              <a:lnSpc>
                <a:spcPts val="2200"/>
              </a:lnSpc>
            </a:pPr>
            <a:r>
              <a:rPr sz="2000" b="0">
                <a:solidFill>
                  <a:srgbClr val="333333"/>
                </a:solidFill>
                <a:latin typeface="Calibri"/>
              </a:rPr>
              <a:t>Structured dictionary entries reduce ambiguity for both humans and automated consumers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Annotations that capture sampling limits and known faults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Metadata And Data Dictionaries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