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Tool choice becomes operational when pipelines reproduce training from pinned data. This part walks DVC in a machine learning pipeline, pipeline stage definitions, and live automation patterns including continuous-integration updates that keep data, models, and code aligned.</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By the end of this part, learners should be able to explain how DVC tracks data and models beside code, read a multi-stage pipeline definition, describe continuous-integration dataset updates, and outline a live DVC workflow from init through pull for collaborators.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DVC records data and model changes alongside the code repository, supports remote storage backends, and encodes transformation and training steps so experiments remain reproducible. Teams share references rather than duplicating large files, while still retrieving the exact bytes an earlier run used.</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Example 8.25 embeds DVC in a machine learning pipeline so data and model versions travel with code, workflows automate, and storage burden stays on remotes. Inspect the module files and listing for this example to see how pipeline-oriented tracking is summarized for learners.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DVC pipeline declares stages with commands, dependencies, and outputs—from raw download through preprocessing and training to evaluation. When inputs or code change, the system can re-run affected stages so results stay tied to the versions that produced them. That dependency graph is the operational heart of reproducibility.</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Example 8.28 defines preprocessing, training, and evaluating stages with explicit dependencies and outputs. Learners can inspect the YAML listing and module files for this example to see how commands, inputs, and artifacts are declared. The structure makes it clear which files regenerate when upstream data changes.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Continuous integration systems can stage new data, commit lightweight references, push remotes, and trigger training when code or data lands on a protected branch. Automation reduces forgotten manual steps and keeps shared remotes current for the team’s experiments and validations.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Example 8.29 outlines a live walkthrough: initialize Git and DVC, configure remote storage, add and push a dataset, define preprocess and train stages, then show collaborators pulling matching code and data. Inspect the module files and command listings for this example to follow the end-to-end sequence without inventing steps.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DVC pipelines turn versioned data into reproducible workflows. Stage YAML records commands, dependencies, and outputs; continuous integration keeps updates automatic; live init-add-push-pull loops make collaboration concrete. Together they close the gap between “we have a dataset” and “we can retrain from the same snapshot.”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next part turns documentation and versioning into day-to-day operating practice: living codebooks, provenance habits, descriptive commits, naming conventions, and realistic handling of large binaries and access control.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828800"/>
            <a:ext cx="11064240" cy="2743200"/>
          </a:xfrm>
          <a:prstGeom prst="rect">
            <a:avLst/>
          </a:prstGeom>
          <a:noFill/>
        </p:spPr>
        <p:txBody>
          <a:bodyPr wrap="square">
            <a:noAutofit/>
          </a:bodyPr>
          <a:lstStyle/>
          <a:p>
            <a:pPr algn="ctr">
              <a:lnSpc>
                <a:spcPts val="2200"/>
              </a:lnSpc>
              <a:spcAft>
                <a:spcPts val="400"/>
              </a:spcAft>
            </a:pPr>
            <a:r>
              <a:rPr sz="4000" b="1">
                <a:solidFill>
                  <a:srgbClr val="1A1A2E"/>
                </a:solidFill>
                <a:latin typeface="Calibri"/>
              </a:rPr>
              <a:t>Chapter 8 — DVC pipelines and automation</a:t>
            </a:r>
          </a:p>
          <a:p>
            <a:pPr algn="ctr">
              <a:lnSpc>
                <a:spcPts val="2200"/>
              </a:lnSpc>
              <a:spcBef>
                <a:spcPts val="1400"/>
              </a:spcBef>
            </a:pPr>
            <a:r>
              <a:rPr sz="2600" b="0">
                <a:solidFill>
                  <a:srgbClr val="333333"/>
                </a:solidFill>
                <a:latin typeface="Calibri"/>
              </a:rPr>
              <a:t>Tool choice becomes operational when pipelines reproduce training from pinned data</a:t>
            </a:r>
          </a:p>
        </p:txBody>
      </p:sp>
      <p:sp>
        <p:nvSpPr>
          <p:cNvPr id="3" name="TextBox 2"/>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8 — Dvc Pipelines And Automation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Learning objectives</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Outline a live DVC workflow from init through pull for collaborators</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8 — Dvc Pipelines And Automation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DVC inside machine learning workflows</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Encodes transformation and training steps so experiments remain reproducible</a:t>
            </a:r>
          </a:p>
          <a:p>
            <a:pPr>
              <a:spcAft>
                <a:spcPts val="1000"/>
              </a:spcAft>
              <a:buChar char="•"/>
              <a:lnSpc>
                <a:spcPts val="2200"/>
              </a:lnSpc>
            </a:pPr>
            <a:r>
              <a:rPr sz="2000" b="0">
                <a:solidFill>
                  <a:srgbClr val="333333"/>
                </a:solidFill>
                <a:latin typeface="Calibri"/>
              </a:rPr>
              <a:t>Teams share references rather than duplicating large files</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8 — Dvc Pipelines And Automation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Example 8.25 — DVC in an ML Pipeline</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Example 8.25 — hands-on module</a:t>
            </a:r>
          </a:p>
          <a:p>
            <a:pPr>
              <a:spcAft>
                <a:spcPts val="1000"/>
              </a:spcAft>
              <a:buChar char="•"/>
              <a:lnSpc>
                <a:spcPts val="2200"/>
              </a:lnSpc>
            </a:pPr>
            <a:r>
              <a:rPr sz="2000" b="0">
                <a:solidFill>
                  <a:srgbClr val="333333"/>
                </a:solidFill>
                <a:latin typeface="Calibri"/>
              </a:rPr>
              <a:t>Storage burden stays on remotes</a:t>
            </a:r>
          </a:p>
          <a:p>
            <a:pPr>
              <a:spcAft>
                <a:spcPts val="1000"/>
              </a:spcAft>
              <a:buChar char="•"/>
              <a:lnSpc>
                <a:spcPts val="2200"/>
              </a:lnSpc>
            </a:pPr>
            <a:r>
              <a:rPr sz="2000" b="0">
                <a:solidFill>
                  <a:srgbClr val="333333"/>
                </a:solidFill>
                <a:latin typeface="Calibri"/>
              </a:rPr>
              <a:t>Explore the chapter example module</a:t>
            </a:r>
          </a:p>
          <a:p>
            <a:pPr>
              <a:spcAft>
                <a:spcPts val="1000"/>
              </a:spcAft>
              <a:buChar char="•"/>
              <a:lnSpc>
                <a:spcPts val="2200"/>
              </a:lnSpc>
            </a:pPr>
            <a:r>
              <a:rPr sz="2000" b="0">
                <a:solidFill>
                  <a:srgbClr val="333333"/>
                </a:solidFill>
                <a:latin typeface="Calibri"/>
              </a:rPr>
              <a:t>View files: `modules/chapter8/example25/`</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8 — Dvc Pipelines And Automation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Pipeline stages as executable history</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A DVC pipeline declares stages with commands, dependencies</a:t>
            </a:r>
          </a:p>
          <a:p>
            <a:pPr>
              <a:spcAft>
                <a:spcPts val="1000"/>
              </a:spcAft>
              <a:buChar char="•"/>
              <a:lnSpc>
                <a:spcPts val="2200"/>
              </a:lnSpc>
            </a:pPr>
            <a:r>
              <a:rPr sz="2000" b="0">
                <a:solidFill>
                  <a:srgbClr val="333333"/>
                </a:solidFill>
                <a:latin typeface="Calibri"/>
              </a:rPr>
              <a:t>When inputs or code change</a:t>
            </a:r>
          </a:p>
          <a:p>
            <a:pPr>
              <a:spcAft>
                <a:spcPts val="1000"/>
              </a:spcAft>
              <a:buChar char="•"/>
              <a:lnSpc>
                <a:spcPts val="2200"/>
              </a:lnSpc>
            </a:pPr>
            <a:r>
              <a:rPr sz="2000" b="0">
                <a:solidFill>
                  <a:srgbClr val="333333"/>
                </a:solidFill>
                <a:latin typeface="Calibri"/>
              </a:rPr>
              <a:t>That dependency graph is the operational heart of reproducibility</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8 — Dvc Pipelines And Automation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Example 8.28 — DVC Pipeline Stages for Training</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Example 8.28 — hands-on module</a:t>
            </a:r>
          </a:p>
          <a:p>
            <a:pPr>
              <a:spcAft>
                <a:spcPts val="1000"/>
              </a:spcAft>
              <a:buChar char="•"/>
              <a:lnSpc>
                <a:spcPts val="2200"/>
              </a:lnSpc>
            </a:pPr>
            <a:r>
              <a:rPr sz="2000" b="0">
                <a:solidFill>
                  <a:srgbClr val="333333"/>
                </a:solidFill>
                <a:latin typeface="Calibri"/>
              </a:rPr>
              <a:t>Example 8.28 defines preprocessing, training</a:t>
            </a:r>
          </a:p>
          <a:p>
            <a:pPr>
              <a:spcAft>
                <a:spcPts val="1000"/>
              </a:spcAft>
              <a:buChar char="•"/>
              <a:lnSpc>
                <a:spcPts val="2200"/>
              </a:lnSpc>
            </a:pPr>
            <a:r>
              <a:rPr sz="2000" b="0">
                <a:solidFill>
                  <a:srgbClr val="333333"/>
                </a:solidFill>
                <a:latin typeface="Calibri"/>
              </a:rPr>
              <a:t>Explore the chapter example module</a:t>
            </a:r>
          </a:p>
          <a:p>
            <a:pPr>
              <a:spcAft>
                <a:spcPts val="1000"/>
              </a:spcAft>
              <a:buChar char="•"/>
              <a:lnSpc>
                <a:spcPts val="2200"/>
              </a:lnSpc>
            </a:pPr>
            <a:r>
              <a:rPr sz="2000" b="0">
                <a:solidFill>
                  <a:srgbClr val="333333"/>
                </a:solidFill>
                <a:latin typeface="Calibri"/>
              </a:rPr>
              <a:t>View files: `modules/chapter8/example28/`</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8 — Dvc Pipelines And Automation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Example 8.28 — listing</a:t>
            </a:r>
          </a:p>
        </p:txBody>
      </p:sp>
      <p:sp>
        <p:nvSpPr>
          <p:cNvPr id="3" name="TextBox 2"/>
          <p:cNvSpPr txBox="1"/>
          <p:nvPr/>
        </p:nvSpPr>
        <p:spPr>
          <a:xfrm>
            <a:off x="548640" y="1143000"/>
            <a:ext cx="11064240" cy="5029200"/>
          </a:xfrm>
          <a:prstGeom prst="rect">
            <a:avLst/>
          </a:prstGeom>
          <a:solidFill>
            <a:srgbClr val="F4F4F4"/>
          </a:solidFill>
        </p:spPr>
        <p:txBody>
          <a:bodyPr wrap="square">
            <a:noAutofit/>
          </a:bodyPr>
          <a:lstStyle/>
          <a:p>
            <a:pPr>
              <a:lnSpc>
                <a:spcPts val="2200"/>
              </a:lnSpc>
              <a:spcAft>
                <a:spcPts val="400"/>
              </a:spcAft>
            </a:pPr>
            <a:r>
              <a:rPr sz="2000" b="0">
                <a:solidFill>
                  <a:srgbClr val="333333"/>
                </a:solidFill>
                <a:latin typeface="Consolas"/>
              </a:rPr>
              <a:t>stages:</a:t>
            </a:r>
          </a:p>
          <a:p>
            <a:pPr>
              <a:lnSpc>
                <a:spcPts val="2200"/>
              </a:lnSpc>
              <a:spcAft>
                <a:spcPts val="400"/>
              </a:spcAft>
            </a:pPr>
            <a:r>
              <a:rPr sz="2000" b="0">
                <a:solidFill>
                  <a:srgbClr val="333333"/>
                </a:solidFill>
                <a:latin typeface="Consolas"/>
              </a:rPr>
              <a:t>  preprocessing:</a:t>
            </a:r>
          </a:p>
          <a:p>
            <a:pPr>
              <a:lnSpc>
                <a:spcPts val="2200"/>
              </a:lnSpc>
              <a:spcAft>
                <a:spcPts val="400"/>
              </a:spcAft>
            </a:pPr>
            <a:r>
              <a:rPr sz="2000" b="0">
                <a:solidFill>
                  <a:srgbClr val="333333"/>
                </a:solidFill>
                <a:latin typeface="Consolas"/>
              </a:rPr>
              <a:t>    cmd: python preprocess.py data/raw_data.csv</a:t>
            </a:r>
          </a:p>
          <a:p>
            <a:pPr>
              <a:lnSpc>
                <a:spcPts val="2200"/>
              </a:lnSpc>
              <a:spcAft>
                <a:spcPts val="400"/>
              </a:spcAft>
            </a:pPr>
            <a:r>
              <a:rPr sz="2000" b="0">
                <a:solidFill>
                  <a:srgbClr val="333333"/>
                </a:solidFill>
                <a:latin typeface="Consolas"/>
              </a:rPr>
              <a:t>data/preprocessed_data.csv</a:t>
            </a:r>
          </a:p>
          <a:p>
            <a:pPr>
              <a:lnSpc>
                <a:spcPts val="2200"/>
              </a:lnSpc>
              <a:spcAft>
                <a:spcPts val="400"/>
              </a:spcAft>
            </a:pPr>
            <a:r>
              <a:rPr sz="2000" b="0">
                <a:solidFill>
                  <a:srgbClr val="333333"/>
                </a:solidFill>
                <a:latin typeface="Consolas"/>
              </a:rPr>
              <a:t>    deps:</a:t>
            </a:r>
          </a:p>
          <a:p>
            <a:pPr>
              <a:lnSpc>
                <a:spcPts val="2200"/>
              </a:lnSpc>
              <a:spcAft>
                <a:spcPts val="400"/>
              </a:spcAft>
            </a:pPr>
            <a:r>
              <a:rPr sz="2000" b="0">
                <a:solidFill>
                  <a:srgbClr val="333333"/>
                </a:solidFill>
                <a:latin typeface="Consolas"/>
              </a:rPr>
              <a:t>      - data/raw_data.csv</a:t>
            </a:r>
          </a:p>
          <a:p>
            <a:pPr>
              <a:lnSpc>
                <a:spcPts val="2200"/>
              </a:lnSpc>
              <a:spcAft>
                <a:spcPts val="400"/>
              </a:spcAft>
            </a:pPr>
            <a:r>
              <a:rPr sz="2000" b="0">
                <a:solidFill>
                  <a:srgbClr val="333333"/>
                </a:solidFill>
                <a:latin typeface="Consolas"/>
              </a:rPr>
              <a:t>    outs:</a:t>
            </a:r>
          </a:p>
          <a:p>
            <a:pPr>
              <a:lnSpc>
                <a:spcPts val="2200"/>
              </a:lnSpc>
              <a:spcAft>
                <a:spcPts val="400"/>
              </a:spcAft>
            </a:pPr>
            <a:r>
              <a:rPr sz="2000" b="0">
                <a:solidFill>
                  <a:srgbClr val="333333"/>
                </a:solidFill>
                <a:latin typeface="Consolas"/>
              </a:rPr>
              <a:t>      - data/preprocessed_data.csv</a:t>
            </a:r>
          </a:p>
          <a:p>
            <a:pPr>
              <a:lnSpc>
                <a:spcPts val="2200"/>
              </a:lnSpc>
              <a:spcAft>
                <a:spcPts val="400"/>
              </a:spcAft>
            </a:pPr>
            <a:r>
              <a:rPr sz="2000" b="0">
                <a:solidFill>
                  <a:srgbClr val="333333"/>
                </a:solidFill>
                <a:latin typeface="Consolas"/>
              </a:rPr>
              <a:t>  training:</a:t>
            </a:r>
          </a:p>
          <a:p>
            <a:pPr>
              <a:lnSpc>
                <a:spcPts val="2200"/>
              </a:lnSpc>
              <a:spcAft>
                <a:spcPts val="400"/>
              </a:spcAft>
            </a:pPr>
            <a:r>
              <a:rPr sz="2000" b="0">
                <a:solidFill>
                  <a:srgbClr val="333333"/>
                </a:solidFill>
                <a:latin typeface="Consolas"/>
              </a:rPr>
              <a:t>    cmd: python train_model.py data/preprocessed_data.csv</a:t>
            </a:r>
          </a:p>
          <a:p>
            <a:pPr>
              <a:lnSpc>
                <a:spcPts val="2200"/>
              </a:lnSpc>
              <a:spcAft>
                <a:spcPts val="400"/>
              </a:spcAft>
            </a:pPr>
            <a:r>
              <a:rPr sz="2000" b="0">
                <a:solidFill>
                  <a:srgbClr val="333333"/>
                </a:solidFill>
                <a:latin typeface="Consolas"/>
              </a:rPr>
              <a:t>models/model.pkl</a:t>
            </a:r>
          </a:p>
          <a:p>
            <a:pPr>
              <a:lnSpc>
                <a:spcPts val="2200"/>
              </a:lnSpc>
              <a:spcAft>
                <a:spcPts val="400"/>
              </a:spcAft>
            </a:pPr>
            <a:r>
              <a:rPr sz="2000" b="0">
                <a:solidFill>
                  <a:srgbClr val="333333"/>
                </a:solidFill>
                <a:latin typeface="Consolas"/>
              </a:rPr>
              <a:t>    deps:</a:t>
            </a:r>
          </a:p>
          <a:p>
            <a:pPr>
              <a:lnSpc>
                <a:spcPts val="2200"/>
              </a:lnSpc>
              <a:spcAft>
                <a:spcPts val="400"/>
              </a:spcAft>
            </a:pPr>
            <a:r>
              <a:rPr sz="2000" b="0">
                <a:solidFill>
                  <a:srgbClr val="333333"/>
                </a:solidFill>
                <a:latin typeface="Consolas"/>
              </a:rPr>
              <a:t>      - data/preprocessed_data.csv</a:t>
            </a:r>
          </a:p>
          <a:p>
            <a:pPr>
              <a:lnSpc>
                <a:spcPts val="2200"/>
              </a:lnSpc>
              <a:spcAft>
                <a:spcPts val="400"/>
              </a:spcAft>
            </a:pPr>
            <a:r>
              <a:rPr sz="2000" b="0">
                <a:solidFill>
                  <a:srgbClr val="333333"/>
                </a:solidFill>
                <a:latin typeface="Consolas"/>
              </a:rPr>
              <a:t>    outs:</a:t>
            </a:r>
          </a:p>
          <a:p>
            <a:pPr>
              <a:lnSpc>
                <a:spcPts val="2200"/>
              </a:lnSpc>
              <a:spcAft>
                <a:spcPts val="400"/>
              </a:spcAft>
            </a:pPr>
            <a:r>
              <a:rPr sz="2000" b="0">
                <a:solidFill>
                  <a:srgbClr val="333333"/>
                </a:solidFill>
                <a:latin typeface="Consolas"/>
              </a:rPr>
              <a:t>      - models/model.pkl</a:t>
            </a:r>
          </a:p>
          <a:p>
            <a:pPr>
              <a:lnSpc>
                <a:spcPts val="2200"/>
              </a:lnSpc>
              <a:spcAft>
                <a:spcPts val="400"/>
              </a:spcAft>
            </a:pPr>
            <a:r>
              <a:rPr sz="2000" b="0">
                <a:solidFill>
                  <a:srgbClr val="333333"/>
                </a:solidFill>
                <a:latin typeface="Consolas"/>
              </a:rPr>
              <a:t>  evaluating:</a:t>
            </a:r>
          </a:p>
          <a:p>
            <a:pPr>
              <a:lnSpc>
                <a:spcPts val="2200"/>
              </a:lnSpc>
              <a:spcAft>
                <a:spcPts val="400"/>
              </a:spcAft>
            </a:pPr>
            <a:r>
              <a:rPr sz="2000" b="0">
                <a:solidFill>
                  <a:srgbClr val="333333"/>
                </a:solidFill>
                <a:latin typeface="Consolas"/>
              </a:rPr>
              <a:t>    cmd: python evaluate_model.py models/model.pkl</a:t>
            </a:r>
          </a:p>
          <a:p>
            <a:pPr>
              <a:lnSpc>
                <a:spcPts val="2200"/>
              </a:lnSpc>
              <a:spcAft>
                <a:spcPts val="400"/>
              </a:spcAft>
            </a:pPr>
            <a:r>
              <a:rPr sz="2000" b="0">
                <a:solidFill>
                  <a:srgbClr val="333333"/>
                </a:solidFill>
                <a:latin typeface="Consolas"/>
              </a:rPr>
              <a:t>    deps:</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8 — Dvc Pipelines And Automation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Continuous integration for dataset updates</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Trigger training when code or data lands on a protected branch</a:t>
            </a:r>
          </a:p>
          <a:p>
            <a:pPr>
              <a:spcAft>
                <a:spcPts val="1000"/>
              </a:spcAft>
              <a:buChar char="•"/>
              <a:lnSpc>
                <a:spcPts val="2200"/>
              </a:lnSpc>
            </a:pPr>
            <a:r>
              <a:rPr sz="2000" b="0">
                <a:solidFill>
                  <a:srgbClr val="333333"/>
                </a:solidFill>
                <a:latin typeface="Calibri"/>
              </a:rPr>
              <a:t>Automation reduces forgotten manual steps and keeps shared remotes current for the team’s</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8 — Dvc Pipelines And Automation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Example 8.29 — Live Demonstration of DVC Automation</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Example 8.29 — hands-on module</a:t>
            </a:r>
          </a:p>
          <a:p>
            <a:pPr>
              <a:spcAft>
                <a:spcPts val="1000"/>
              </a:spcAft>
              <a:buChar char="•"/>
              <a:lnSpc>
                <a:spcPts val="2200"/>
              </a:lnSpc>
            </a:pPr>
            <a:r>
              <a:rPr sz="2000" b="0">
                <a:solidFill>
                  <a:srgbClr val="333333"/>
                </a:solidFill>
                <a:latin typeface="Calibri"/>
              </a:rPr>
              <a:t>Example 8.29 outlines a live walkthrough</a:t>
            </a:r>
          </a:p>
          <a:p>
            <a:pPr>
              <a:spcAft>
                <a:spcPts val="1000"/>
              </a:spcAft>
              <a:buChar char="•"/>
              <a:lnSpc>
                <a:spcPts val="2200"/>
              </a:lnSpc>
            </a:pPr>
            <a:r>
              <a:rPr sz="2000" b="0">
                <a:solidFill>
                  <a:srgbClr val="333333"/>
                </a:solidFill>
                <a:latin typeface="Calibri"/>
              </a:rPr>
              <a:t>Explore the chapter example module</a:t>
            </a:r>
          </a:p>
          <a:p>
            <a:pPr>
              <a:spcAft>
                <a:spcPts val="1000"/>
              </a:spcAft>
              <a:buChar char="•"/>
              <a:lnSpc>
                <a:spcPts val="2200"/>
              </a:lnSpc>
            </a:pPr>
            <a:r>
              <a:rPr sz="2000" b="0">
                <a:solidFill>
                  <a:srgbClr val="333333"/>
                </a:solidFill>
                <a:latin typeface="Calibri"/>
              </a:rPr>
              <a:t>View files: `modules/chapter8/example29/`</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8 — Dvc Pipelines And Automation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Example 8.29 — listing</a:t>
            </a:r>
          </a:p>
        </p:txBody>
      </p:sp>
      <p:sp>
        <p:nvSpPr>
          <p:cNvPr id="3" name="TextBox 2"/>
          <p:cNvSpPr txBox="1"/>
          <p:nvPr/>
        </p:nvSpPr>
        <p:spPr>
          <a:xfrm>
            <a:off x="548640" y="1143000"/>
            <a:ext cx="11064240" cy="5029200"/>
          </a:xfrm>
          <a:prstGeom prst="rect">
            <a:avLst/>
          </a:prstGeom>
          <a:solidFill>
            <a:srgbClr val="F4F4F4"/>
          </a:solidFill>
        </p:spPr>
        <p:txBody>
          <a:bodyPr wrap="square">
            <a:noAutofit/>
          </a:bodyPr>
          <a:lstStyle/>
          <a:p>
            <a:pPr>
              <a:lnSpc>
                <a:spcPts val="2200"/>
              </a:lnSpc>
              <a:spcAft>
                <a:spcPts val="400"/>
              </a:spcAft>
            </a:pPr>
            <a:r>
              <a:rPr sz="2000" b="0">
                <a:solidFill>
                  <a:srgbClr val="333333"/>
                </a:solidFill>
                <a:latin typeface="Consolas"/>
              </a:rPr>
              <a:t>git init</a:t>
            </a:r>
          </a:p>
          <a:p>
            <a:pPr>
              <a:lnSpc>
                <a:spcPts val="2200"/>
              </a:lnSpc>
              <a:spcAft>
                <a:spcPts val="400"/>
              </a:spcAft>
            </a:pPr>
            <a:r>
              <a:rPr sz="2000" b="0">
                <a:solidFill>
                  <a:srgbClr val="333333"/>
                </a:solidFill>
                <a:latin typeface="Consolas"/>
              </a:rPr>
              <a:t>dvc init</a:t>
            </a:r>
          </a:p>
          <a:p>
            <a:pPr>
              <a:lnSpc>
                <a:spcPts val="2200"/>
              </a:lnSpc>
              <a:spcAft>
                <a:spcPts val="400"/>
              </a:spcAft>
            </a:pPr>
            <a:r>
              <a:rPr sz="2000" b="0">
                <a:solidFill>
                  <a:srgbClr val="333333"/>
                </a:solidFill>
                <a:latin typeface="Consolas"/>
              </a:rPr>
              <a:t>dvc remote add -d myremote s3://mybucket/datasets</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8 — Dvc Pipelines And Automation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Takeaways</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DVC pipelines turn versioned data into reproducible workflows</a:t>
            </a:r>
          </a:p>
          <a:p>
            <a:pPr>
              <a:spcAft>
                <a:spcPts val="1000"/>
              </a:spcAft>
              <a:buChar char="•"/>
              <a:lnSpc>
                <a:spcPts val="2200"/>
              </a:lnSpc>
            </a:pPr>
            <a:r>
              <a:rPr sz="2000" b="0">
                <a:solidFill>
                  <a:srgbClr val="333333"/>
                </a:solidFill>
                <a:latin typeface="Calibri"/>
              </a:rPr>
              <a:t>Stage YAML records commands, dependencies, and outputs</a:t>
            </a:r>
          </a:p>
          <a:p>
            <a:pPr>
              <a:spcAft>
                <a:spcPts val="1000"/>
              </a:spcAft>
              <a:buChar char="•"/>
              <a:lnSpc>
                <a:spcPts val="2200"/>
              </a:lnSpc>
            </a:pPr>
            <a:r>
              <a:rPr sz="2000" b="0">
                <a:solidFill>
                  <a:srgbClr val="333333"/>
                </a:solidFill>
                <a:latin typeface="Calibri"/>
              </a:rPr>
              <a:t>Together they close the gap between “we have a dataset” and “we can retrain from the same</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8 — Dvc Pipelines And Automation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Next</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Complete the quiz for this part</a:t>
            </a:r>
          </a:p>
          <a:p>
            <a:pPr>
              <a:spcAft>
                <a:spcPts val="1000"/>
              </a:spcAft>
              <a:buChar char="•"/>
              <a:lnSpc>
                <a:spcPts val="2200"/>
              </a:lnSpc>
            </a:pPr>
            <a:r>
              <a:rPr sz="2000" b="0">
                <a:solidFill>
                  <a:srgbClr val="333333"/>
                </a:solidFill>
                <a:latin typeface="Calibri"/>
              </a:rPr>
              <a:t>The next part turns documentation and versioning into day-to-day operating practice</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8 — Dvc Pipelines And Automation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