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4 covered annotation modalities, workflows, tools, and quality control. This chapter does not repeat that foundation. It develops four strategies that reduce expert labeling cost at scale: active learning, weak supervision, self-supervised representation learning, and hybrid crowd–expert pipelines.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name the four advanced annotation strategies developed in this chapter; explain the shared bottleneck of expensive human labels; summarize what each strategy optimizes according to the chapter comparison table; and recognize that the strategies are complementary rather than mutually exclusive.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Manual labels are slow, expensive, and hard to keep consistent when datasets grow to millions of items. Chapter 4 already identified that bottleneck. Advanced strategies attack it from different angles: choosing which items humans label, proposing labels from heuristics, learning from unlabeled structure first, or staffing the queue with a mixed workforce.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Active learning chooses which unlabeled items humans should label next. Weak supervision proposes training labels from heuristics and distant sources. Self-supervised learning postpones task labels by pretraining on unlabeled structure. Hybrid crowd–expert pipelines assign routine items to crowds and reserve experts for gold sets and hard cases.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chapter comparison table contrasts who provides labels, when each strategy fits, and primary risks. Active learning optimizes which items humans label when a seed model can rank uncertainty, with risks of over-focusing on odd cases or a cold start. Weak supervision optimizes scale from cheap sources when domain rules exist, with risks of noisy or conflicting signals.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Self-supervised learning optimizes representations before task labels when large unlabeled corpora exist, but still needs labeled data for the final task. Hybrid crowd–expert staffing optimizes the cost–quality mix when the schema is partly simple and partly expert-critical, with risks that weak quality control lets crowd errors scale or that experts become a bottleneck.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Teams often combine strategies: pretrain with self-supervision, expand labels with weak supervision, route uncertain items with active learning, and staff the queue with a hybrid crowd–expert pool. Synthetic companions from Chapter 10 can still fill rare classes, but they do not replace quality-control gates from Chapter 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strategies share one goal: reduce costly expert labeling without abandoning quality. Active learning queries humans selectively; weak supervision scales noisy signals; self-supervision learns from unlabeled structure; hybrid pipelines mix workforce roles. The remainder of the chapter develops each strategy in turn.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defines the active-learning loop and the main uncertainty-based query strategies: uncertainty sampling, margin sampling, and entropy sampling, with examples from vision and medical imaging.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define the active-learning iterative loop; contrast uncertainty, margin, and entropy sampling as query strategies; and interpret short examples that apply those strategies to vision and medical imaging queues.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Active learning starts from a small labeled seed set. The model then selects unlabeled points it is most uncertain about, humans label those points, the model retrains, and the cycle repeats until performance or budget stops the loop. The goal is better generalization with fewer total labels than random annotation.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query strategy defines how the model ranks unlabeled items for human labeling. Uncertainty sampling targets low-confidence predictions near decision boundaries. Margin sampling ranks by the gap between the top two class probabilities. Entropy sampling ranks by predictive entropy over the full class distribution. Strategies can be combined or adapted to the task.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11.1 shows uncertainty sampling on a binary vision task. An image with predicted probabilities near 0.51 and 0.49 for cat versus dog is queued for a human label because that near-tie is where a new label most reshapes the decision boundary. The example 1 module for this chapter summarizes that near-tie selection idea.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11.2 refines the idea for multi-class settings. Margin sampling prioritizes instances where the top two predicted probabilities are closest, signaling weak class separation that a new label can sharpen. This differs from absolute least-confidence alone by focusing on the competing pair of classes. The example 2 module for this chapter frames that margin criterion.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11.3 illustrates entropy sampling. If the model predicts class A at 0.4 and classes B and C at 0.3 each, entropy is high because no class dominates, so such instances are prioritized for labeling. Flat distributions across many classes are informative even when no single probability is near 0.5. The example 3 module for this chapter covers this high-entropy case.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pipeline is incremental: train on the seed set, query the most informative unlabeled items, send them to human annotators, retrain on the expanded labeled set, and iterate. The loop stops when the model meets a performance threshold or the labeling budget is exhausted. Effort concentrates on informative cases rather than easy majority examples.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11.4 applies the full loop to expert MRI labeling. A tumor detector starts from a small labeled MRI seed set, then repeatedly queries ambiguous or rare-tumor scans for radiologist labels, cutting expert hours while improving detection on hard cases. The example 4 module for this chapter describes that medical active-learning pattern.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Active learning is an iterative loop that queries humans where the model is least sure. Uncertainty, margin, and entropy sampling are complementary ways to rank informativeness. Medical and vision examples show how seed training plus selective expert labels can reduce total annotation volume.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complementary techniques beyond basic uncertainty: least-confidence selection near decision boundaries, diversity sampling across clusters, cost-sensitive routing of expensive experts, and model-in-the-loop review.</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least-confidence uncertainty near decision boundaries; describe diversity-based sampling via clustering; apply cost-sensitive routing when labeling cost varies; and outline model-in-the-loop workflows where humans correct model proposals.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Uncertainty sampling queries samples where the model is least predictable. Least confidence focuses on near-ties such as 0.55 versus 0.45 in binary classification. Margin sampling uses the top-two probability gap. Entropy sampling uses the full output distribution. These measures work well on complex boundaries but can skew the labeled set toward hard outliers if used alone.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11.5 shows least-confidence selection on a near-tie X-ray prediction. An X-ray scored 0.52 abnormal and 0.48 normal is queued for labeling because the near-tie marks a region of the decision boundary that most needs an expert label. The example 5 module for this chapter captures that medical near-tie queue.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Diversity-based sampling ensures selected samples represent the data distribution, not only the hardest outliers. A common approach clusters unlabeled data and draws from underrepresented or highly diverse clusters. The goal is coverage across scenarios so the model does not overfit a narrow subset of uncertain cases.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11.6 uses clustering so sentiment labels cover mixed and neutral reviews. Diversity-based sampling draws reviews from multiple clusters, including subtle or mixed sentiment, so the model does not overfit to only strongly positive or negative text. The example 6 module for this chapter summarizes that cluster coverage idea.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Cost-sensitive active learning incorporates labeling cost into selection. A cost-impact model ranks samples by expected performance gain relative to annotation effort. Under a fixed budget, the system selects the most impactful points within that budget. This matters when some items need expensive experts and others can use cheaper annotators.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11.7 allocates expensive expert labels only where they change the model most. Cost-sensitive active learning sends ambiguous contracts to legal experts and simpler documents to non-experts, maximizing accuracy gain per labeling dollar. The example 7 module for this chapter frames that routing pattern.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Model-in-the-loop annotation emphasizes human–machine collaboration. The model proposes preliminary labels or highlights uncertain regions; humans correct or validate; corrections retrain the model. Example 11.8 shows the model proposing tumor locations on X-rays while experts review only ambiguous cases, so later rounds need fewer human edits. The example 8 module for this chapter describes that interactive medical loop.</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Least-confidence, margin, and entropy remain core uncertainty tools but need diversity to avoid skewed queues. Cost-sensitive routing protects scarce expert budgets. Model-in-the-loop workflows let humans focus on corrections rather than labeling every item from scratch.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walks active-learning applications in review sentiment, driving perception, pneumonia X-rays, and dermoscopic lesion review, showing how uncertain items reach human experts.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describe active learning for review sentiment and related NLP tasks; explain uncertainty-driven queues for driving perception; and interpret medical examples for pneumonia X-rays and dermoscopic lesions.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NLP, active learning reduces labeled volume for classification, named entity recognition, sentiment analysis, and related tasks. Annotating large corpora is expensive, especially for legal or medical text. The model focuses labeling on informative or uncertain samples such as ironic, mixed, or domain-specific phrases.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11.9 queues uncertain reviews for human sentiment labels. A sentiment model trained on a small seed set uses uncertainty or entropy sampling to request labels on ironic or mixed reviews, improving nuance with fewer total annotations. The example 9 module for this chapter summarizes that sentiment queue.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computer vision, labeling images or videos for detection, segmentation, or action recognition is time-consuming. Active learning focuses annotators on frames that most improve performance, such as occlusions, weather degradation, or ambiguous poses, instead of labeling every fleet frame or every video frame.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11.10 focuses annotators on occluded or foggy driving scenes. Uncertainty sampling queries frames where pedestrians or signs are occluded or weather-degraded, so perception models learn rare hard cases without labeling every fleet frame. The example 10 module for this chapter describes that perception queue.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Medical image labeling requires domain expertise and is costly. Active learning reduces the number of expert annotations while routing the most informative studies to clinicians. Experts spend limited time on atypical or overlapping pathologies rather than routine easy cases.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11.12 sends atypical chest X-rays to radiologists via active learning. Uncertainty sampling surfaces X-rays with atypical pneumonia or overlapping pathologies for radiologist review, improving edge-case detection with fewer labeled studies. The example 12 module for this chapter frames that pneumonia queue.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11.13 prioritizes ambiguous skin lesions for dermatologist labels. Active learning queues atypical or rare dermoscopic images for expert labeling so the classifier improves on early melanoma and other hard lesions without labeling every image. The example 13 module for this chapter covers that dermatology queue.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Across NLP, driving perception, and medical imaging, active learning concentrates human effort on uncertain, atypical, or safety-critical cases. Seed models plus selective expert review cut annotation volume while improving edge-case performance. Routine easy items need not consume expert hours.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introduces weak supervision: generating training labels from noisy, incomplete, or heuristic signals when a fully hand-labeled corpus is unavailable.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define weak supervision relative to fully supervised labeling; distinguish noisy, incomplete, and heuristic labels; list cost, speed, and coverage advantages; and name common sources such as heuristics, distant supervision, and related weak signals.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Weak supervision trains models using data that is partially labeled, noisy, or derived from unreliable sources rather than relying solely on high-quality human ground truth. The goal is to reduce dependence on large manually labeled sets by using accessible weak signals that are cheaper to obtain, then managing the noise they introduce.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Noisy labels are incorrect or imprecise, often from automation, crowds, or low-confidence annotators. Incomplete labeling leaves much of the pool unlabeled and requires extrapolation from patterns. Heuristic or imprecise labels come from rules, search queries, web scraping, or domain-specific shortcuts that may not match true ground truth but still inform training.</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Weakly supervised pipelines often use labeling functions, data programming, or programmatic labeling to create large-scale weak label sets. The key challenge is managing noise and conflict among sources while still extracting useful training signal. Later sections detail Snorkel-style aggregation; this part establishes why those methods are needed.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Weak supervision is cost-effective because it avoids labeling every item by hand. It scales volume quickly when rules or distant sources can run over large corpora. It also enables coverage in domains where clean labels are scarce, provided teams validate against a small gold set and do not treat weak labels as perfect truth.</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sources include heuristic rules written by domain experts, distant supervision that infers labels from knowledge bases or related databases, and transfer from pretrained models when domain labels are limited. Each source is imperfect; combining and auditing them is part of the method, not an optional afterthought.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Distant supervision might infer company–investor relations from financial databases even when text mentions are noisy. Transfer learning can act as a weak signal when a general pretrained model is fine-tuned on a small domain set. These patterns expand label volume but still require quality checks before production training.</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Weak supervision replaces full hand labeling with noisy, incomplete, or heuristic signals. Advantages include cost, scale, and coverage when gold labels are scarce. Sources range from rules and distant databases to pretrained models; the next part shows how to combine them into usable training labels.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programmatic labeling with Snorkel-style labeling functions, heuristic rules, and data programming that outputs probabilistic labels for training.</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describe labeling functions and how Snorkel-style systems combine conflicting weak labels; explain heuristic-based rule labeling and refinement; and summarize data programming that learns source reliability and emits probabilistic labels.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Snorkel is a framework for generating large-scale labeled datasets by combining weak signals from multiple sources into probabilistic training labels. Users write labeling functions—rules, heuristics, or weak classifiers—that vote on subsets of the data. A generative model estimates source accuracies and reconciles conflicts without requiring a full hand-labeled corpus.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11.14 sketches a Snorkel-style labeling-function workflow. Analysts write heuristic labeling functions such as keyword lists, regular expressions, and weak classifiers over email text; Snorkel estimates source accuracies and outputs probabilistic training labels. The example 14 module for this chapter summarizes that spam labeling-function pattern.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labeling function may cover only part of the data and may conflict with others. Snorkel uses a probabilistic graphical model and expectation-maximization to refine weights for each function and infer likely true labels. The resulting probabilistic labels then train a discriminative model, reducing dependence on expensive manual annotation.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Heuristic-based labeling writes if-then rules that automatically assign labels when patterns match. Rules are often domain-specific and sparse: they cover some items well and miss edge cases. Experts can validate a small subset and refine rules over time, as in medical-text heuristics that flag malignancy keywords versus benign language.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Heuristics inject domain knowledge quickly and run at scale, which makes them efficient and customizable. Limits include noise, sparse coverage, and brittleness on edge cases. Heuristics therefore pair best with aggregation methods and small gold audits rather than standing alone as final ground truth.</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programming combines multiple weak sources into probabilistic labels rather than hard one-hot assignments. The method learns each labeling function’s reliability—for example that a keyword rule is only about eighty percent accurate—then weights votes accordingly. Downstream models train on soft labels that reflect uncertainty instead of pretending every weak vote is certain.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Snorkel-style labeling functions turn heuristics and weak classifiers into aggregated training labels. Heuristic rules scale domain knowledge but need refinement and audits. Data programming learns source quality and emits probabilistic labels that handle conflict and noise more gracefully than hard votes alone.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introduces self-supervised learning: postponing task labels by training on unlabeled structure through pretext tasks and contrastive pretraining before fine-tuning.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define self-supervised learning and how it differs from supervised learning; explain the role of pretext tasks in learning transferable representations; and describe contrastive pretraining followed by fine-tuning on a small labeled set.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Supervised learning trains on input–label pairs, such as images tagged cat or dog. Self-supervised learning does not require manual task labels during pretraining. Instead, the model creates its own supervisory signal from the data by solving a pretext task that exploits inherent structure, then transfers the learned representation to a downstream task.</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Pretext tasks force the model to learn useful features—spatial relationships, object structure, or contextual semantics—from unlabeled data. After pretraining, a smaller labeled set fine-tunes the model for classification, detection, or language understanding. This reduces labeling cost and can improve generalization when unlabeled corpora are abundant.</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computer vision, common pretext tasks include jigsaw puzzle reassembly of shuffled patches, context prediction of masked image regions, and rotation prediction of randomly rotated images. Solving these proxies teaches spatial and semantic structure that later supports detection or classification without requiring class labels during pretraining.</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natural language processing, masked language modeling asks the model to predict hidden tokens from context, as in BERT-style pretraining. Next-sentence prediction and text infilling teach discourse and local coherence. These tasks turn large unlabeled text corpora into representation learners before any sentiment or entity labels are collected.</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Contrastive methods learn representations by pulling similar views of the same instance together and pushing dissimilar instances apart in embedding space. In vision, two augmented crops of one image form a positive pair. The resulting encoder captures discriminative features that transfer well when a linear head is fine-tuned on limited labels.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11.15 illustrates contrastive pretraining before fine-tuning. A vision encoder is pretrained with SimCLR-style contrastive loss on unlabeled product photos, then a small labeled set fine-tunes a linear head for category recognition, cutting the labels needed for competitive accuracy. The example 15 module for this chapter summarizes that pretrain-then-fine-tune pattern.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Self-supervised learning creates supervision from unlabeled structure via pretext tasks. It sits between supervised and unsupervised learning: unlabeled scale with structured objectives. Contrastive pretraining plus light fine-tuning is a practical recipe when downstream labels remain scarce.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surveys self-supervised applications in computer vision, natural language processing, and time-series forecasting, emphasizing data efficiency when downstream labels remain scarce.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describe self-supervised uses in image representation learning; summarize language-model pretraining benefits for NLP downstream tasks; and explain time-series applications such as forecasting and anomaly detection with unlabeled sequences.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vision, self-supervised pretraining on large unlabeled image collections learns features for classification, detection, and segmentation before scarce labels are applied. Contrastive and reconstruction-style objectives reduce the labeled volume needed for competitive accuracy, which matters in domains where bounding boxes or masks are expensive.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representations exist, fine-tuning a smaller labeled set often matches or approaches fully supervised baselines that would have required labeling the entire corpus. Teams still validate on held-out gold labels; self-supervision reduces early labeling demand rather than removing evaluation.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NLP, masked language modeling and related objectives pretrain encoders on unlabeled text. Downstream tasks such as classification, named entity recognition, and sentiment analysis then fine-tune with far fewer task-specific labels than training from scratch. Large web-scale corpora supply the unlabeled fuel for that pretraining stage.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teams often start from a general pretrained language model and fine-tune on a modest labeled domain set. The pretext-learned context and syntax transfer, while the fine-tuning stage adapts to domain vocabulary and label schemas. This pattern is common when expert text labels are scarce.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time series, self-supervised objectives may predict future values or fill masked time steps from neighboring observations. Models learn temporal structure from unlabeled sensor or transaction streams, then support forecasting where dense labels are unavailable. Gap filling also prepares incomplete series for downstream monitoring tasks.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Anomaly detection can train a model of normal behavior on unlabeled series and flag large prediction residuals as anomalies, useful for fraud or equipment failure. Contrastive learning on sequences embeds similar temporal patterns nearby, supporting classification, forecasting, and clustering without labeling every window.</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Self-supervised applications span vision, language, and time series with a shared theme: learn from unlabeled scale, then fine-tune lightly. Benefits include data efficiency, real-time monitoring potential, and improved forecasting when labels are scarce. Quality still depends on validating the downstream labeled evaluation set.</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compares crowdsourcing and expert annotation on scale, cost, turnaround, and quality for high-stakes schemas such as radiology and legal text.</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list operational advantages of crowdsourcing for simple schemas; explain quality and reliability challenges of crowd labels; contrast expert strengths on domain-critical tasks; and recognize cost and scalability limits of expert-only staffing.</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annotation, crowdsourcing offers scale, lower per-item cost, fast turnaround, and diverse raters for subjective tasks. Those advantages matter most when the schema is simple, guidelines are clear, and gold checks from Chapter 4 are in place. This section emphasizes when experts must own labels rather than restating platform tutorials.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11.16 shows crowd scale for high-volume attribute labeling. A vision team needs millions of face images tagged with age band, expression, and accessories. Crowdsourcing platforms distribute the schema across many workers so labeling finishes in days rather than months. The example 16 module for this chapter frames that scale pattern.</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11.17 contrasts crowd cost with expert-only product labeling. A retailer needs thousands of product photos labeled for category and attributes. Paying only domain experts would blow the budget; crowd microtasks make the volume affordable when gold checks are in place. The example 17 module for this chapter summarizes that cost trade-off.</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Crowd workers may be inconsistently trained or motivated, producing noisy annotations. Mitigation requires ground-truth checks, gold questions, and redundancy. Platform ethics and inter-annotator agreement controls from earlier chapters should be in place before scaling crowd labels into training sets.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Expert annotation uses specialists for tasks that need deep domain knowledge. Example 11.20 shows why expert quality matters for clinical images: when labeling tumor boundaries on MRI slices, board-certified radiologists produce higher-precision masks than general crowd workers who lack clinical training. The example 20 module for this chapter covers that radiology quality gap.</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Experts also improve consistency on complex legal schemas. Example 11.22 keeps legal clause labeling with domain experts: in contract classification, legal experts identify operative clauses and defined terms that non-experts routinely misread, reducing label noise before models train. The example 22 module for this chapter describes that legal expert path.</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Expert annotation is expensive and hard to scale because skilled professionals are scarce. Careful analysis also slows throughput. Pure expert staffing therefore struggles on million-item corpora even when quality is excellent, which motivates hybrid designs in the next part.</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Crowds excel at scale, cost, and speed on clear schemas with gold checks. Experts excel at precision and consistency on radiology, legal, and other high-stakes tasks. Expert-only staffing hits cost and capacity walls; the chapter next shows hybrid pipelines that combine both.</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hybrid annotation pipelines: expert gold then crowd scale-up, splitting routine objects from pathology, active routing of hard cases, and cost–quality–speed benefits.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describe hybrid pipelines that seed gold with experts and scale with crowds; split routine versus expert-critical items; integrate active learning to route hard cases; and summarize cost, quality, and speed benefits of hybrid staffing.</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Hybrid approaches balance cost, speed, and quality by using crowdsourcing for large-scale simpler tasks and experts for complex or high-stakes tasks. A useful pattern invests scarce experts where schema and gold labels are defined, then uses crowd or open throughput where volume—not raw clinical judgment—is the bottleneck.</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11.25 seeds crowd work with an expert gold set. Experts first label a small medical-image gold set. Crowds then label the remainder, while experts audit random batches and adjudicate disagreements against that gold set. The example 25 module for this chapter summarizes that two-phase pattern.</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11.26 splits simple objects to the crowd and pathology to experts. Crowd workers tag cars and trees in street scenes, while pathologists label rare lesion types in the same campaign’s medical subset. Difficulty—not platform preference alone—drives who sees which item. The example 26 module for this chapter frames that split.</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Active learning can sit inside the hybrid workforce. A model trained on a small expert seed set queries the most uncertain items for experts and sends high-confidence items to crowds. That routing shrinks expert hours while protecting hard cases that would otherwise pollute training if labeled carelessly.</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11.28 routes uncertain NLP items to experts via active learning. An NLP model trained on a small expert seed set queues low-confidence sentences to experts and high-confidence ones to crowds, shrinking expert hours while protecting hard cases. The example 28 module for this chapter describes that routing loop.</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Hybrid benefits include cost efficiency: crowds handle routine boxes while experts adjudicate. Example 11.29 summarizes the hybrid cost pattern: a hybrid plan pays crowds for routine boxes and experts for adjudication, cutting total labeling spend without dropping gold-set quality. The example 29 module for this chapter covers that cost pattern.</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Hybrid quality control uses expert oversight of crowd batches and guideline updates when systematic errors appear. Crowds deliver overnight throughput on easy items while a smaller expert pool clears the uncertain queue. Pair these strategies with synthetic augmentation only after validation, keep fairness and QC checks on weak or crowd labels, and move next to scalable storage and lineage for large labeled corpora.</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Hybrid pipelines assign routine volume to crowds and reserve experts for gold, adjudication, and hard cases. Active learning can route uncertainty to the right workforce tier. Cost, quality, and speed improve together when difficulty drives staffing—not when one workforce does everything.</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chapter’s clip sequence is complete. Continue to Chapter 12 for scalable storage, versioning, and lineage for the large labeled corpora that active learning, weak supervision, self-supervision, and hybrid pipelines produce. Complete the quiz for this part before leaving the chapter path.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11 — From fundamentals to advanced annotation</a:t>
            </a:r>
          </a:p>
          <a:p>
            <a:pPr algn="ctr">
              <a:lnSpc>
                <a:spcPts val="2200"/>
              </a:lnSpc>
              <a:spcBef>
                <a:spcPts val="1400"/>
              </a:spcBef>
            </a:pPr>
            <a:r>
              <a:rPr sz="2600" b="0">
                <a:solidFill>
                  <a:srgbClr val="333333"/>
                </a:solidFill>
                <a:latin typeface="Calibri"/>
              </a:rPr>
              <a:t>Chapter 4 covered annotation modalities, workflows, tools, and quality control</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Shared labeling bottleneck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Manual labels are slow, expensive</a:t>
            </a:r>
          </a:p>
          <a:p>
            <a:pPr lvl="0" marL="457200" indent="-228600">
              <a:buFont typeface="Calibri"/>
              <a:spcAft>
                <a:spcPts val="1000"/>
              </a:spcAft>
              <a:buSzPct val="100000"/>
              <a:buChar char="•"/>
              <a:lnSpc>
                <a:spcPts val="2200"/>
              </a:lnSpc>
            </a:pPr>
            <a:r>
              <a:rPr sz="2000" b="0">
                <a:solidFill>
                  <a:srgbClr val="333333"/>
                </a:solidFill>
                <a:latin typeface="Calibri"/>
              </a:rPr>
              <a:t>Chapter 4 already identified that bottleneck</a:t>
            </a:r>
          </a:p>
          <a:p>
            <a:pPr lvl="0" marL="457200" indent="-228600">
              <a:buFont typeface="Calibri"/>
              <a:spcAft>
                <a:spcPts val="1000"/>
              </a:spcAft>
              <a:buSzPct val="100000"/>
              <a:buChar char="•"/>
              <a:lnSpc>
                <a:spcPts val="2200"/>
              </a:lnSpc>
            </a:pPr>
            <a:r>
              <a:rPr sz="2000" b="0">
                <a:solidFill>
                  <a:srgbClr val="333333"/>
                </a:solidFill>
                <a:latin typeface="Calibri"/>
              </a:rPr>
              <a:t>Advanced strategies attack it from different angles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Four strategies at a glance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Active learning chooses which unlabeled items humans should label next</a:t>
            </a:r>
          </a:p>
          <a:p>
            <a:pPr lvl="0" marL="457200" indent="-228600">
              <a:buFont typeface="Calibri"/>
              <a:spcAft>
                <a:spcPts val="1000"/>
              </a:spcAft>
              <a:buSzPct val="100000"/>
              <a:buChar char="•"/>
              <a:lnSpc>
                <a:spcPts val="2200"/>
              </a:lnSpc>
            </a:pPr>
            <a:r>
              <a:rPr sz="2000" b="0">
                <a:solidFill>
                  <a:srgbClr val="333333"/>
                </a:solidFill>
                <a:latin typeface="Calibri"/>
              </a:rPr>
              <a:t>Weak supervision proposes training labels from heuristics and distant sources</a:t>
            </a:r>
          </a:p>
          <a:p>
            <a:pPr lvl="0" marL="457200" indent="-228600">
              <a:buFont typeface="Calibri"/>
              <a:spcAft>
                <a:spcPts val="1000"/>
              </a:spcAft>
              <a:buSzPct val="100000"/>
              <a:buChar char="•"/>
              <a:lnSpc>
                <a:spcPts val="2200"/>
              </a:lnSpc>
            </a:pPr>
            <a:r>
              <a:rPr sz="2000" b="0">
                <a:solidFill>
                  <a:srgbClr val="333333"/>
                </a:solidFill>
                <a:latin typeface="Calibri"/>
              </a:rPr>
              <a:t>Self-supervised learning postpones task labels by pretraining on unlabeled structure</a:t>
            </a:r>
          </a:p>
          <a:p>
            <a:pPr lvl="0" marL="457200" indent="-228600">
              <a:buFont typeface="Calibri"/>
              <a:spcAft>
                <a:spcPts val="1000"/>
              </a:spcAft>
              <a:buSzPct val="100000"/>
              <a:buChar char="•"/>
              <a:lnSpc>
                <a:spcPts val="2200"/>
              </a:lnSpc>
            </a:pPr>
            <a:r>
              <a:rPr sz="2000" b="0">
                <a:solidFill>
                  <a:srgbClr val="333333"/>
                </a:solidFill>
                <a:latin typeface="Calibri"/>
              </a:rPr>
              <a:t>Hybrid crowd–expert pipelines assign routine items to crowds and reserve experts for gold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Table 11.1 — What each strategy optimizes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chapter comparison table contrasts who provides labels, when each strategy fits</a:t>
            </a:r>
          </a:p>
          <a:p>
            <a:pPr lvl="0" marL="457200" indent="-228600">
              <a:buFont typeface="Calibri"/>
              <a:spcAft>
                <a:spcPts val="1000"/>
              </a:spcAft>
              <a:buSzPct val="100000"/>
              <a:buChar char="•"/>
              <a:lnSpc>
                <a:spcPts val="2200"/>
              </a:lnSpc>
            </a:pPr>
            <a:r>
              <a:rPr sz="2000" b="0">
                <a:solidFill>
                  <a:srgbClr val="333333"/>
                </a:solidFill>
                <a:latin typeface="Calibri"/>
              </a:rPr>
              <a:t>Active learning optimizes which items humans label when a seed model can rank uncertainty</a:t>
            </a:r>
          </a:p>
          <a:p>
            <a:pPr lvl="0" marL="457200" indent="-228600">
              <a:buFont typeface="Calibri"/>
              <a:spcAft>
                <a:spcPts val="1000"/>
              </a:spcAft>
              <a:buSzPct val="100000"/>
              <a:buChar char="•"/>
              <a:lnSpc>
                <a:spcPts val="2200"/>
              </a:lnSpc>
            </a:pPr>
            <a:r>
              <a:rPr sz="2000" b="0">
                <a:solidFill>
                  <a:srgbClr val="333333"/>
                </a:solidFill>
                <a:latin typeface="Calibri"/>
              </a:rPr>
              <a:t>Weak supervision optimizes scale from cheap sources when domain rules exist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Table 11.1 — Self-supervision and hybrid pipelines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But still needs labeled data for the final task</a:t>
            </a:r>
          </a:p>
          <a:p>
            <a:pPr lvl="0" marL="457200" indent="-228600">
              <a:buFont typeface="Calibri"/>
              <a:spcAft>
                <a:spcPts val="1000"/>
              </a:spcAft>
              <a:buSzPct val="100000"/>
              <a:buChar char="•"/>
              <a:lnSpc>
                <a:spcPts val="2200"/>
              </a:lnSpc>
            </a:pPr>
            <a:r>
              <a:rPr sz="2000" b="0">
                <a:solidFill>
                  <a:srgbClr val="333333"/>
                </a:solidFill>
                <a:latin typeface="Calibri"/>
              </a:rPr>
              <a:t>Hybrid crowd–expert staffing optimizes the cost–quality mix when the schema is partly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Complementary, not exclusive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Teams often combine strategies</a:t>
            </a:r>
          </a:p>
          <a:p>
            <a:pPr lvl="0" marL="457200" indent="-228600">
              <a:buFont typeface="Calibri"/>
              <a:spcAft>
                <a:spcPts val="1000"/>
              </a:spcAft>
              <a:buSzPct val="100000"/>
              <a:buChar char="•"/>
              <a:lnSpc>
                <a:spcPts val="2200"/>
              </a:lnSpc>
            </a:pPr>
            <a:r>
              <a:rPr sz="2000" b="0">
                <a:solidFill>
                  <a:srgbClr val="333333"/>
                </a:solidFill>
                <a:latin typeface="Calibri"/>
              </a:rPr>
              <a:t>Synthetic companions from Chapter 10 can still fill rare classes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Four strategies share one goal: reduce costly expert labeling without abandoning quality</a:t>
            </a:r>
          </a:p>
          <a:p>
            <a:pPr lvl="0" marL="457200" indent="-228600">
              <a:buFont typeface="Calibri"/>
              <a:spcAft>
                <a:spcPts val="1000"/>
              </a:spcAft>
              <a:buSzPct val="100000"/>
              <a:buChar char="•"/>
              <a:lnSpc>
                <a:spcPts val="2200"/>
              </a:lnSpc>
            </a:pPr>
            <a:r>
              <a:rPr sz="2000" b="0">
                <a:solidFill>
                  <a:srgbClr val="333333"/>
                </a:solidFill>
                <a:latin typeface="Calibri"/>
              </a:rPr>
              <a:t>Active learning queries humans selectively</a:t>
            </a:r>
          </a:p>
          <a:p>
            <a:pPr lvl="0" marL="457200" indent="-228600">
              <a:buFont typeface="Calibri"/>
              <a:spcAft>
                <a:spcPts val="1000"/>
              </a:spcAft>
              <a:buSzPct val="100000"/>
              <a:buChar char="•"/>
              <a:lnSpc>
                <a:spcPts val="2200"/>
              </a:lnSpc>
            </a:pPr>
            <a:r>
              <a:rPr sz="2000" b="0">
                <a:solidFill>
                  <a:srgbClr val="333333"/>
                </a:solidFill>
                <a:latin typeface="Calibri"/>
              </a:rPr>
              <a:t>The remainder of the chapter develops each strategy in turn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Entropy sampling, with examples from vision and medical imaging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iterative feedback loop</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Active learning starts from a small labeled seed set</a:t>
            </a:r>
          </a:p>
          <a:p>
            <a:pPr lvl="0" marL="457200" indent="-228600">
              <a:buFont typeface="Calibri"/>
              <a:spcAft>
                <a:spcPts val="1000"/>
              </a:spcAft>
              <a:buSzPct val="100000"/>
              <a:buChar char="•"/>
              <a:lnSpc>
                <a:spcPts val="2200"/>
              </a:lnSpc>
            </a:pPr>
            <a:r>
              <a:rPr sz="2000" b="0">
                <a:solidFill>
                  <a:srgbClr val="333333"/>
                </a:solidFill>
                <a:latin typeface="Calibri"/>
              </a:rPr>
              <a:t>The cycle repeats until performance or budget stops the loop</a:t>
            </a:r>
          </a:p>
          <a:p>
            <a:pPr lvl="0" marL="457200" indent="-228600">
              <a:buFont typeface="Calibri"/>
              <a:spcAft>
                <a:spcPts val="1000"/>
              </a:spcAft>
              <a:buSzPct val="100000"/>
              <a:buChar char="•"/>
              <a:lnSpc>
                <a:spcPts val="2200"/>
              </a:lnSpc>
            </a:pPr>
            <a:r>
              <a:rPr sz="2000" b="0">
                <a:solidFill>
                  <a:srgbClr val="333333"/>
                </a:solidFill>
                <a:latin typeface="Calibri"/>
              </a:rPr>
              <a:t>The goal is better generalization with fewer total labels than random annotation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Query strategies overview</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 query strategy defines how the model ranks unlabeled items for human labeling</a:t>
            </a:r>
          </a:p>
          <a:p>
            <a:pPr lvl="0" marL="457200" indent="-228600">
              <a:buFont typeface="Calibri"/>
              <a:spcAft>
                <a:spcPts val="1000"/>
              </a:spcAft>
              <a:buSzPct val="100000"/>
              <a:buChar char="•"/>
              <a:lnSpc>
                <a:spcPts val="2200"/>
              </a:lnSpc>
            </a:pPr>
            <a:r>
              <a:rPr sz="2000" b="0">
                <a:solidFill>
                  <a:srgbClr val="333333"/>
                </a:solidFill>
                <a:latin typeface="Calibri"/>
              </a:rPr>
              <a:t>Uncertainty sampling targets low-confidence predictions near decision boundaries</a:t>
            </a:r>
          </a:p>
          <a:p>
            <a:pPr lvl="0" marL="457200" indent="-228600">
              <a:buFont typeface="Calibri"/>
              <a:spcAft>
                <a:spcPts val="1000"/>
              </a:spcAft>
              <a:buSzPct val="100000"/>
              <a:buChar char="•"/>
              <a:lnSpc>
                <a:spcPts val="2200"/>
              </a:lnSpc>
            </a:pPr>
            <a:r>
              <a:rPr sz="2000" b="0">
                <a:solidFill>
                  <a:srgbClr val="333333"/>
                </a:solidFill>
                <a:latin typeface="Calibri"/>
              </a:rPr>
              <a:t>Margin sampling ranks by the gap between the top two class probabilities</a:t>
            </a:r>
          </a:p>
          <a:p>
            <a:pPr lvl="0" marL="457200" indent="-228600">
              <a:buFont typeface="Calibri"/>
              <a:spcAft>
                <a:spcPts val="1000"/>
              </a:spcAft>
              <a:buSzPct val="100000"/>
              <a:buChar char="•"/>
              <a:lnSpc>
                <a:spcPts val="2200"/>
              </a:lnSpc>
            </a:pPr>
            <a:r>
              <a:rPr sz="2000" b="0">
                <a:solidFill>
                  <a:srgbClr val="333333"/>
                </a:solidFill>
                <a:latin typeface="Calibri"/>
              </a:rPr>
              <a:t>Entropy sampling ranks by predictive entropy over the full class distribution</a:t>
            </a:r>
          </a:p>
          <a:p>
            <a:pPr lvl="0" marL="457200" indent="-228600">
              <a:buFont typeface="Calibri"/>
              <a:spcAft>
                <a:spcPts val="1000"/>
              </a:spcAft>
              <a:buSzPct val="100000"/>
              <a:buChar char="•"/>
              <a:lnSpc>
                <a:spcPts val="2200"/>
              </a:lnSpc>
            </a:pPr>
            <a:r>
              <a:rPr sz="2000" b="0">
                <a:solidFill>
                  <a:srgbClr val="333333"/>
                </a:solidFill>
                <a:latin typeface="Calibri"/>
              </a:rPr>
              <a:t>Strategies can be combined or adapted to the task</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11.1 — Uncertainty Sampling for Cat-Dog Images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11.1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11.1 shows uncertainty sampling on a binary vision task</a:t>
            </a:r>
          </a:p>
          <a:p>
            <a:pPr lvl="0" marL="457200" indent="-228600">
              <a:buFont typeface="Calibri"/>
              <a:spcAft>
                <a:spcPts val="1000"/>
              </a:spcAft>
              <a:buSzPct val="100000"/>
              <a:buChar char="•"/>
              <a:lnSpc>
                <a:spcPts val="2200"/>
              </a:lnSpc>
            </a:pPr>
            <a:r>
              <a:rPr sz="2000" b="0">
                <a:solidFill>
                  <a:srgbClr val="333333"/>
                </a:solidFill>
                <a:latin typeface="Calibri"/>
              </a:rPr>
              <a:t>An image with predicted probabilities near 0.51 and 0.49 for cat versus dog is queued for</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`modules/chapter11/example1/`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11.1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"""Example 11.1 — uncertainty sampling queues near-tie binary</a:t>
            </a:r>
          </a:p>
          <a:p>
            <a:pPr>
              <a:lnSpc>
                <a:spcPts val="2200"/>
              </a:lnSpc>
              <a:spcAft>
                <a:spcPts val="400"/>
              </a:spcAft>
            </a:pPr>
            <a:r>
              <a:rPr sz="2000" b="0">
                <a:solidFill>
                  <a:srgbClr val="333333"/>
                </a:solidFill>
                <a:latin typeface="Consolas"/>
              </a:rPr>
              <a:t>predictions."""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from __future__ import annotations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uncertainty_score(p_positive: float) -&gt; float:</a:t>
            </a:r>
          </a:p>
          <a:p>
            <a:pPr>
              <a:lnSpc>
                <a:spcPts val="2200"/>
              </a:lnSpc>
              <a:spcAft>
                <a:spcPts val="400"/>
              </a:spcAft>
            </a:pPr>
            <a:r>
              <a:rPr sz="2000" b="0">
                <a:solidFill>
                  <a:srgbClr val="333333"/>
                </a:solidFill>
                <a:latin typeface="Consolas"/>
              </a:rPr>
              <a:t>    """Return distance from a 0.5 decision boundary (lower =&gt; more</a:t>
            </a:r>
          </a:p>
          <a:p>
            <a:pPr>
              <a:lnSpc>
                <a:spcPts val="2200"/>
              </a:lnSpc>
              <a:spcAft>
                <a:spcPts val="400"/>
              </a:spcAft>
            </a:pPr>
            <a:r>
              <a:rPr sz="2000" b="0">
                <a:solidFill>
                  <a:srgbClr val="333333"/>
                </a:solidFill>
                <a:latin typeface="Consolas"/>
              </a:rPr>
              <a:t>uncertain)."""</a:t>
            </a:r>
          </a:p>
          <a:p>
            <a:pPr>
              <a:lnSpc>
                <a:spcPts val="2200"/>
              </a:lnSpc>
              <a:spcAft>
                <a:spcPts val="400"/>
              </a:spcAft>
            </a:pPr>
            <a:r>
              <a:rPr sz="2000" b="0">
                <a:solidFill>
                  <a:srgbClr val="333333"/>
                </a:solidFill>
                <a:latin typeface="Consolas"/>
              </a:rPr>
              <a:t>    return abs(p_positive - 0.5)</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main() -&gt; None:</a:t>
            </a:r>
          </a:p>
          <a:p>
            <a:pPr>
              <a:lnSpc>
                <a:spcPts val="2200"/>
              </a:lnSpc>
              <a:spcAft>
                <a:spcPts val="400"/>
              </a:spcAft>
            </a:pPr>
            <a:r>
              <a:rPr sz="2000" b="0">
                <a:solidFill>
                  <a:srgbClr val="333333"/>
                </a:solidFill>
                <a:latin typeface="Consolas"/>
              </a:rPr>
              <a:t>    """Rank unlabeled images by binary prediction uncertainty."""</a:t>
            </a:r>
          </a:p>
          <a:p>
            <a:pPr>
              <a:lnSpc>
                <a:spcPts val="2200"/>
              </a:lnSpc>
              <a:spcAft>
                <a:spcPts val="400"/>
              </a:spcAft>
            </a:pPr>
            <a:r>
              <a:rPr sz="2000" b="0">
                <a:solidFill>
                  <a:srgbClr val="333333"/>
                </a:solidFill>
                <a:latin typeface="Consolas"/>
              </a:rPr>
              <a:t>    pool: list[tuple[str, float]] = [</a:t>
            </a:r>
          </a:p>
          <a:p>
            <a:pPr>
              <a:lnSpc>
                <a:spcPts val="2200"/>
              </a:lnSpc>
              <a:spcAft>
                <a:spcPts val="400"/>
              </a:spcAft>
            </a:pPr>
            <a:r>
              <a:rPr sz="2000" b="0">
                <a:solidFill>
                  <a:srgbClr val="333333"/>
                </a:solidFill>
                <a:latin typeface="Consolas"/>
              </a:rPr>
              <a:t>        ("img_clear_dog.jpg", 0.92),</a:t>
            </a:r>
          </a:p>
          <a:p>
            <a:pPr>
              <a:lnSpc>
                <a:spcPts val="2200"/>
              </a:lnSpc>
              <a:spcAft>
                <a:spcPts val="400"/>
              </a:spcAft>
            </a:pPr>
            <a:r>
              <a:rPr sz="2000" b="0">
                <a:solidFill>
                  <a:srgbClr val="333333"/>
                </a:solidFill>
                <a:latin typeface="Consolas"/>
              </a:rPr>
              <a:t>        ("img_clear_cat.jpg", 0.11),</a:t>
            </a:r>
          </a:p>
          <a:p>
            <a:pPr>
              <a:lnSpc>
                <a:spcPts val="2200"/>
              </a:lnSpc>
              <a:spcAft>
                <a:spcPts val="400"/>
              </a:spcAft>
            </a:pPr>
            <a:r>
              <a:rPr sz="2000" b="0">
                <a:solidFill>
                  <a:srgbClr val="333333"/>
                </a:solidFill>
                <a:latin typeface="Consolas"/>
              </a:rPr>
              <a:t>        ("img_blurry_pet.jpg", 0.51),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11.2 — Margin Sampling in Multi-Class Tasks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11.2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11.2 refines the idea for multi-class settings</a:t>
            </a:r>
          </a:p>
          <a:p>
            <a:pPr lvl="0" marL="457200" indent="-228600">
              <a:buFont typeface="Calibri"/>
              <a:spcAft>
                <a:spcPts val="1000"/>
              </a:spcAft>
              <a:buSzPct val="100000"/>
              <a:buChar char="•"/>
              <a:lnSpc>
                <a:spcPts val="2200"/>
              </a:lnSpc>
            </a:pPr>
            <a:r>
              <a:rPr sz="2000" b="0">
                <a:solidFill>
                  <a:srgbClr val="333333"/>
                </a:solidFill>
                <a:latin typeface="Calibri"/>
              </a:rPr>
              <a:t>Signaling weak class separation that a new label can sharpen</a:t>
            </a:r>
          </a:p>
          <a:p>
            <a:pPr lvl="0" marL="457200" indent="-228600">
              <a:buFont typeface="Calibri"/>
              <a:spcAft>
                <a:spcPts val="1000"/>
              </a:spcAft>
              <a:buSzPct val="100000"/>
              <a:buChar char="•"/>
              <a:lnSpc>
                <a:spcPts val="2200"/>
              </a:lnSpc>
            </a:pPr>
            <a:r>
              <a:rPr sz="2000" b="0">
                <a:solidFill>
                  <a:srgbClr val="333333"/>
                </a:solidFill>
                <a:latin typeface="Calibri"/>
              </a:rPr>
              <a:t>This differs from absolute least-confidence alone by focusing on the competing pair of</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`modules/chapter11/example2/`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11.2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"""Example 11.2 — margin sampling prioritizes the smallest top-two</a:t>
            </a:r>
          </a:p>
          <a:p>
            <a:pPr>
              <a:lnSpc>
                <a:spcPts val="2200"/>
              </a:lnSpc>
              <a:spcAft>
                <a:spcPts val="400"/>
              </a:spcAft>
            </a:pPr>
            <a:r>
              <a:rPr sz="2000" b="0">
                <a:solidFill>
                  <a:srgbClr val="333333"/>
                </a:solidFill>
                <a:latin typeface="Consolas"/>
              </a:rPr>
              <a:t>gap."""</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from __future__ import annotations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margin(probs: dict[str, float]) -&gt; float:</a:t>
            </a:r>
          </a:p>
          <a:p>
            <a:pPr>
              <a:lnSpc>
                <a:spcPts val="2200"/>
              </a:lnSpc>
              <a:spcAft>
                <a:spcPts val="400"/>
              </a:spcAft>
            </a:pPr>
            <a:r>
              <a:rPr sz="2000" b="0">
                <a:solidFill>
                  <a:srgbClr val="333333"/>
                </a:solidFill>
                <a:latin typeface="Consolas"/>
              </a:rPr>
              <a:t>    """Return the gap between the top two class probabilities."""</a:t>
            </a:r>
          </a:p>
          <a:p>
            <a:pPr>
              <a:lnSpc>
                <a:spcPts val="2200"/>
              </a:lnSpc>
              <a:spcAft>
                <a:spcPts val="400"/>
              </a:spcAft>
            </a:pPr>
            <a:r>
              <a:rPr sz="2000" b="0">
                <a:solidFill>
                  <a:srgbClr val="333333"/>
                </a:solidFill>
                <a:latin typeface="Consolas"/>
              </a:rPr>
              <a:t>    ordered = sorted(probs.values(), reverse=True)</a:t>
            </a:r>
          </a:p>
          <a:p>
            <a:pPr>
              <a:lnSpc>
                <a:spcPts val="2200"/>
              </a:lnSpc>
              <a:spcAft>
                <a:spcPts val="400"/>
              </a:spcAft>
            </a:pPr>
            <a:r>
              <a:rPr sz="2000" b="0">
                <a:solidFill>
                  <a:srgbClr val="333333"/>
                </a:solidFill>
                <a:latin typeface="Consolas"/>
              </a:rPr>
              <a:t>    return ordered[0] - ordered[1]</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main() -&gt; None:</a:t>
            </a:r>
          </a:p>
          <a:p>
            <a:pPr>
              <a:lnSpc>
                <a:spcPts val="2200"/>
              </a:lnSpc>
              <a:spcAft>
                <a:spcPts val="400"/>
              </a:spcAft>
            </a:pPr>
            <a:r>
              <a:rPr sz="2000" b="0">
                <a:solidFill>
                  <a:srgbClr val="333333"/>
                </a:solidFill>
                <a:latin typeface="Consolas"/>
              </a:rPr>
              <a:t>    """Rank multi-class predictions by margin (smaller margin =&gt; query</a:t>
            </a:r>
          </a:p>
          <a:p>
            <a:pPr>
              <a:lnSpc>
                <a:spcPts val="2200"/>
              </a:lnSpc>
              <a:spcAft>
                <a:spcPts val="400"/>
              </a:spcAft>
            </a:pPr>
            <a:r>
              <a:rPr sz="2000" b="0">
                <a:solidFill>
                  <a:srgbClr val="333333"/>
                </a:solidFill>
                <a:latin typeface="Consolas"/>
              </a:rPr>
              <a:t>first)."""</a:t>
            </a:r>
          </a:p>
          <a:p>
            <a:pPr>
              <a:lnSpc>
                <a:spcPts val="2200"/>
              </a:lnSpc>
              <a:spcAft>
                <a:spcPts val="400"/>
              </a:spcAft>
            </a:pPr>
            <a:r>
              <a:rPr sz="2000" b="0">
                <a:solidFill>
                  <a:srgbClr val="333333"/>
                </a:solidFill>
                <a:latin typeface="Consolas"/>
              </a:rPr>
              <a:t>    pool: list[tuple[str, dict[str, float]]] = [</a:t>
            </a:r>
          </a:p>
          <a:p>
            <a:pPr>
              <a:lnSpc>
                <a:spcPts val="2200"/>
              </a:lnSpc>
              <a:spcAft>
                <a:spcPts val="400"/>
              </a:spcAft>
            </a:pPr>
            <a:r>
              <a:rPr sz="2000" b="0">
                <a:solidFill>
                  <a:srgbClr val="333333"/>
                </a:solidFill>
                <a:latin typeface="Consolas"/>
              </a:rPr>
              <a:t>        ("doc_clear", {"sports": 0.80, "politics": 0.12, "biz": 0.08}),</a:t>
            </a:r>
          </a:p>
          <a:p>
            <a:pPr>
              <a:lnSpc>
                <a:spcPts val="2200"/>
              </a:lnSpc>
              <a:spcAft>
                <a:spcPts val="400"/>
              </a:spcAft>
            </a:pPr>
            <a:r>
              <a:rPr sz="2000" b="0">
                <a:solidFill>
                  <a:srgbClr val="333333"/>
                </a:solidFill>
                <a:latin typeface="Consolas"/>
              </a:rPr>
              <a:t>        ("doc_close", {"sports": 0.41, "politics": 0.39, "biz": 0.20}),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11.3 — High-Entropy Multi-Class Prediction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11.3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11.3 illustrates entropy sampling</a:t>
            </a:r>
          </a:p>
          <a:p>
            <a:pPr lvl="0" marL="457200" indent="-228600">
              <a:buFont typeface="Calibri"/>
              <a:spcAft>
                <a:spcPts val="1000"/>
              </a:spcAft>
              <a:buSzPct val="100000"/>
              <a:buChar char="•"/>
              <a:lnSpc>
                <a:spcPts val="2200"/>
              </a:lnSpc>
            </a:pPr>
            <a:r>
              <a:rPr sz="2000" b="0">
                <a:solidFill>
                  <a:srgbClr val="333333"/>
                </a:solidFill>
                <a:latin typeface="Calibri"/>
              </a:rPr>
              <a:t>If the model predicts class A at 0.4 and classes B and C at 0.3 each</a:t>
            </a:r>
          </a:p>
          <a:p>
            <a:pPr lvl="0" marL="457200" indent="-228600">
              <a:buFont typeface="Calibri"/>
              <a:spcAft>
                <a:spcPts val="1000"/>
              </a:spcAft>
              <a:buSzPct val="100000"/>
              <a:buChar char="•"/>
              <a:lnSpc>
                <a:spcPts val="2200"/>
              </a:lnSpc>
            </a:pPr>
            <a:r>
              <a:rPr sz="2000" b="0">
                <a:solidFill>
                  <a:srgbClr val="333333"/>
                </a:solidFill>
                <a:latin typeface="Calibri"/>
              </a:rPr>
              <a:t>Flat distributions across many classes are informative even when no single probability is</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`modules/chapter11/example3/`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11.3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"""Example 11.3 — entropy sampling selects the flattest predictive</a:t>
            </a:r>
          </a:p>
          <a:p>
            <a:pPr>
              <a:lnSpc>
                <a:spcPts val="2200"/>
              </a:lnSpc>
              <a:spcAft>
                <a:spcPts val="400"/>
              </a:spcAft>
            </a:pPr>
            <a:r>
              <a:rPr sz="2000" b="0">
                <a:solidFill>
                  <a:srgbClr val="333333"/>
                </a:solidFill>
                <a:latin typeface="Consolas"/>
              </a:rPr>
              <a:t>distribution."""</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from __future__ import annotations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import math</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entropy(probs: list[float]) -&gt; float:</a:t>
            </a:r>
          </a:p>
          <a:p>
            <a:pPr>
              <a:lnSpc>
                <a:spcPts val="2200"/>
              </a:lnSpc>
              <a:spcAft>
                <a:spcPts val="400"/>
              </a:spcAft>
            </a:pPr>
            <a:r>
              <a:rPr sz="2000" b="0">
                <a:solidFill>
                  <a:srgbClr val="333333"/>
                </a:solidFill>
                <a:latin typeface="Consolas"/>
              </a:rPr>
              <a:t>    """Return Shannon entropy of a discrete probability distribution."""</a:t>
            </a:r>
          </a:p>
          <a:p>
            <a:pPr>
              <a:lnSpc>
                <a:spcPts val="2200"/>
              </a:lnSpc>
              <a:spcAft>
                <a:spcPts val="400"/>
              </a:spcAft>
            </a:pPr>
            <a:r>
              <a:rPr sz="2000" b="0">
                <a:solidFill>
                  <a:srgbClr val="333333"/>
                </a:solidFill>
                <a:latin typeface="Consolas"/>
              </a:rPr>
              <a:t>    return -sum(p * math.log2(p) for p in probs if p &gt; 0)</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main() -&gt; None:</a:t>
            </a:r>
          </a:p>
          <a:p>
            <a:pPr>
              <a:lnSpc>
                <a:spcPts val="2200"/>
              </a:lnSpc>
              <a:spcAft>
                <a:spcPts val="400"/>
              </a:spcAft>
            </a:pPr>
            <a:r>
              <a:rPr sz="2000" b="0">
                <a:solidFill>
                  <a:srgbClr val="333333"/>
                </a:solidFill>
                <a:latin typeface="Consolas"/>
              </a:rPr>
              <a:t>    """Compare entropy for peaked vs flat multi-class predictions."""</a:t>
            </a:r>
          </a:p>
          <a:p>
            <a:pPr>
              <a:lnSpc>
                <a:spcPts val="2200"/>
              </a:lnSpc>
              <a:spcAft>
                <a:spcPts val="400"/>
              </a:spcAft>
            </a:pPr>
            <a:r>
              <a:rPr sz="2000" b="0">
                <a:solidFill>
                  <a:srgbClr val="333333"/>
                </a:solidFill>
                <a:latin typeface="Consolas"/>
              </a:rPr>
              <a:t>    cases: list[tuple[str, list[float]]] = [</a:t>
            </a:r>
          </a:p>
          <a:p>
            <a:pPr>
              <a:lnSpc>
                <a:spcPts val="2200"/>
              </a:lnSpc>
              <a:spcAft>
                <a:spcPts val="400"/>
              </a:spcAft>
            </a:pPr>
            <a:r>
              <a:rPr sz="2000" b="0">
                <a:solidFill>
                  <a:srgbClr val="333333"/>
                </a:solidFill>
                <a:latin typeface="Consolas"/>
              </a:rPr>
              <a:t>        ("peaked (A=0.90)", [0.90, 0.05, 0.05]),</a:t>
            </a:r>
          </a:p>
          <a:p>
            <a:pPr>
              <a:lnSpc>
                <a:spcPts val="2200"/>
              </a:lnSpc>
              <a:spcAft>
                <a:spcPts val="400"/>
              </a:spcAft>
            </a:pPr>
            <a:r>
              <a:rPr sz="2000" b="0">
                <a:solidFill>
                  <a:srgbClr val="333333"/>
                </a:solidFill>
                <a:latin typeface="Consolas"/>
              </a:rPr>
              <a:t>#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Active-learning pipeline steps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pipeline is incremental</a:t>
            </a:r>
          </a:p>
          <a:p>
            <a:pPr lvl="0" marL="457200" indent="-228600">
              <a:buFont typeface="Calibri"/>
              <a:spcAft>
                <a:spcPts val="1000"/>
              </a:spcAft>
              <a:buSzPct val="100000"/>
              <a:buChar char="•"/>
              <a:lnSpc>
                <a:spcPts val="2200"/>
              </a:lnSpc>
            </a:pPr>
            <a:r>
              <a:rPr sz="2000" b="0">
                <a:solidFill>
                  <a:srgbClr val="333333"/>
                </a:solidFill>
                <a:latin typeface="Calibri"/>
              </a:rPr>
              <a:t>The loop stops when the model meets a performance threshold or the labeling budget is</a:t>
            </a:r>
          </a:p>
          <a:p>
            <a:pPr lvl="0" marL="457200" indent="-228600">
              <a:buFont typeface="Calibri"/>
              <a:spcAft>
                <a:spcPts val="1000"/>
              </a:spcAft>
              <a:buSzPct val="100000"/>
              <a:buChar char="•"/>
              <a:lnSpc>
                <a:spcPts val="2200"/>
              </a:lnSpc>
            </a:pPr>
            <a:r>
              <a:rPr sz="2000" b="0">
                <a:solidFill>
                  <a:srgbClr val="333333"/>
                </a:solidFill>
                <a:latin typeface="Calibri"/>
              </a:rPr>
              <a:t>Effort concentrates on informative cases rather than easy majority examples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11.4 — Active Learning for MRI Tumor Detection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11.4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11.4 applies the full loop to expert MRI labeling</a:t>
            </a:r>
          </a:p>
          <a:p>
            <a:pPr lvl="0" marL="457200" indent="-228600">
              <a:buFont typeface="Calibri"/>
              <a:spcAft>
                <a:spcPts val="1000"/>
              </a:spcAft>
              <a:buSzPct val="100000"/>
              <a:buChar char="•"/>
              <a:lnSpc>
                <a:spcPts val="2200"/>
              </a:lnSpc>
            </a:pPr>
            <a:r>
              <a:rPr sz="2000" b="0">
                <a:solidFill>
                  <a:srgbClr val="333333"/>
                </a:solidFill>
                <a:latin typeface="Calibri"/>
              </a:rPr>
              <a:t>A tumor detector starts from a small labeled MRI seed set</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`modules/chapter11/example4/`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Active learning is an iterative loop that queries humans where the model is least sure</a:t>
            </a:r>
          </a:p>
          <a:p>
            <a:pPr lvl="0" marL="457200" indent="-228600">
              <a:buFont typeface="Calibri"/>
              <a:spcAft>
                <a:spcPts val="1000"/>
              </a:spcAft>
              <a:buSzPct val="100000"/>
              <a:buChar char="•"/>
              <a:lnSpc>
                <a:spcPts val="2200"/>
              </a:lnSpc>
            </a:pPr>
            <a:r>
              <a:rPr sz="2000" b="0">
                <a:solidFill>
                  <a:srgbClr val="333333"/>
                </a:solidFill>
                <a:latin typeface="Calibri"/>
              </a:rPr>
              <a:t>Uncertainty, margin, and entropy sampling are complementary ways to rank informativeness</a:t>
            </a:r>
          </a:p>
          <a:p>
            <a:pPr lvl="0" marL="457200" indent="-228600">
              <a:buFont typeface="Calibri"/>
              <a:spcAft>
                <a:spcPts val="1000"/>
              </a:spcAft>
              <a:buSzPct val="100000"/>
              <a:buChar char="•"/>
              <a:lnSpc>
                <a:spcPts val="2200"/>
              </a:lnSpc>
            </a:pPr>
            <a:r>
              <a:rPr sz="2000" b="0">
                <a:solidFill>
                  <a:srgbClr val="333333"/>
                </a:solidFill>
                <a:latin typeface="Calibri"/>
              </a:rPr>
              <a:t>Medical and vision examples show how seed training plus selective expert labels can reduce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next part covers complementary techniques beyond basic uncertainty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Least confidence and related uncertainty measures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Uncertainty sampling queries samples where the model is least predictable</a:t>
            </a:r>
          </a:p>
          <a:p>
            <a:pPr lvl="0" marL="457200" indent="-228600">
              <a:buFont typeface="Calibri"/>
              <a:spcAft>
                <a:spcPts val="1000"/>
              </a:spcAft>
              <a:buSzPct val="100000"/>
              <a:buChar char="•"/>
              <a:lnSpc>
                <a:spcPts val="2200"/>
              </a:lnSpc>
            </a:pPr>
            <a:r>
              <a:rPr sz="2000" b="0">
                <a:solidFill>
                  <a:srgbClr val="333333"/>
                </a:solidFill>
                <a:latin typeface="Calibri"/>
              </a:rPr>
              <a:t>Least confidence focuses on near-ties such as 0.55 versus 0.45 in binary classification</a:t>
            </a:r>
          </a:p>
          <a:p>
            <a:pPr lvl="0" marL="457200" indent="-228600">
              <a:buFont typeface="Calibri"/>
              <a:spcAft>
                <a:spcPts val="1000"/>
              </a:spcAft>
              <a:buSzPct val="100000"/>
              <a:buChar char="•"/>
              <a:lnSpc>
                <a:spcPts val="2200"/>
              </a:lnSpc>
            </a:pPr>
            <a:r>
              <a:rPr sz="2000" b="0">
                <a:solidFill>
                  <a:srgbClr val="333333"/>
                </a:solidFill>
                <a:latin typeface="Calibri"/>
              </a:rPr>
              <a:t>Margin sampling uses the top-two probability gap</a:t>
            </a:r>
          </a:p>
          <a:p>
            <a:pPr lvl="0" marL="457200" indent="-228600">
              <a:buFont typeface="Calibri"/>
              <a:spcAft>
                <a:spcPts val="1000"/>
              </a:spcAft>
              <a:buSzPct val="100000"/>
              <a:buChar char="•"/>
              <a:lnSpc>
                <a:spcPts val="2200"/>
              </a:lnSpc>
            </a:pPr>
            <a:r>
              <a:rPr sz="2000" b="0">
                <a:solidFill>
                  <a:srgbClr val="333333"/>
                </a:solidFill>
                <a:latin typeface="Calibri"/>
              </a:rPr>
              <a:t>Entropy sampling uses the full output distribution</a:t>
            </a:r>
          </a:p>
          <a:p>
            <a:pPr lvl="0" marL="457200" indent="-228600">
              <a:buFont typeface="Calibri"/>
              <a:spcAft>
                <a:spcPts val="1000"/>
              </a:spcAft>
              <a:buSzPct val="100000"/>
              <a:buChar char="•"/>
              <a:lnSpc>
                <a:spcPts val="2200"/>
              </a:lnSpc>
            </a:pPr>
            <a:r>
              <a:rPr sz="2000" b="0">
                <a:solidFill>
                  <a:srgbClr val="333333"/>
                </a:solidFill>
                <a:latin typeface="Calibri"/>
              </a:rPr>
              <a:t>These measures work well on complex boundaries but can skew the labeled set toward hard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11.5 — Uncertain Chest X-ray Near Decision Boundary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11.5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11.5 shows least-confidence selection on a near-tie X-ray prediction</a:t>
            </a:r>
          </a:p>
          <a:p>
            <a:pPr lvl="0" marL="457200" indent="-228600">
              <a:buFont typeface="Calibri"/>
              <a:spcAft>
                <a:spcPts val="1000"/>
              </a:spcAft>
              <a:buSzPct val="100000"/>
              <a:buChar char="•"/>
              <a:lnSpc>
                <a:spcPts val="2200"/>
              </a:lnSpc>
            </a:pPr>
            <a:r>
              <a:rPr sz="2000" b="0">
                <a:solidFill>
                  <a:srgbClr val="333333"/>
                </a:solidFill>
                <a:latin typeface="Calibri"/>
              </a:rPr>
              <a:t>An X-ray scored 0.52 abnormal and 0.48 normal is queued for labeling because the near-tie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`modules/chapter11/example5/`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Diversity-based sampling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Diversity-based sampling ensures selected samples represent the data distribution</a:t>
            </a:r>
          </a:p>
          <a:p>
            <a:pPr lvl="0" marL="457200" indent="-228600">
              <a:buFont typeface="Calibri"/>
              <a:spcAft>
                <a:spcPts val="1000"/>
              </a:spcAft>
              <a:buSzPct val="100000"/>
              <a:buChar char="•"/>
              <a:lnSpc>
                <a:spcPts val="2200"/>
              </a:lnSpc>
            </a:pPr>
            <a:r>
              <a:rPr sz="2000" b="0">
                <a:solidFill>
                  <a:srgbClr val="333333"/>
                </a:solidFill>
                <a:latin typeface="Calibri"/>
              </a:rPr>
              <a:t>A common approach clusters unlabeled data and draws from underrepresented or highly</a:t>
            </a:r>
          </a:p>
          <a:p>
            <a:pPr lvl="0" marL="457200" indent="-228600">
              <a:buFont typeface="Calibri"/>
              <a:spcAft>
                <a:spcPts val="1000"/>
              </a:spcAft>
              <a:buSzPct val="100000"/>
              <a:buChar char="•"/>
              <a:lnSpc>
                <a:spcPts val="2200"/>
              </a:lnSpc>
            </a:pPr>
            <a:r>
              <a:rPr sz="2000" b="0">
                <a:solidFill>
                  <a:srgbClr val="333333"/>
                </a:solidFill>
                <a:latin typeface="Calibri"/>
              </a:rPr>
              <a:t>The goal is coverage across scenarios so the model does not overfit a narrow subset of</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11.6 — Diversity Sampling Across Review Clusters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11.6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11.6 uses clustering so sentiment labels cover mixed and neutral reviews</a:t>
            </a:r>
          </a:p>
          <a:p>
            <a:pPr lvl="0" marL="457200" indent="-228600">
              <a:buFont typeface="Calibri"/>
              <a:spcAft>
                <a:spcPts val="1000"/>
              </a:spcAft>
              <a:buSzPct val="100000"/>
              <a:buChar char="•"/>
              <a:lnSpc>
                <a:spcPts val="2200"/>
              </a:lnSpc>
            </a:pPr>
            <a:r>
              <a:rPr sz="2000" b="0">
                <a:solidFill>
                  <a:srgbClr val="333333"/>
                </a:solidFill>
                <a:latin typeface="Calibri"/>
              </a:rPr>
              <a:t>Diversity-based sampling draws reviews from multiple clusters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`modules/chapter11/example6/`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Cost-sensitive active learning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Cost-sensitive active learning incorporates labeling cost into selection</a:t>
            </a:r>
          </a:p>
          <a:p>
            <a:pPr lvl="0" marL="457200" indent="-228600">
              <a:buFont typeface="Calibri"/>
              <a:spcAft>
                <a:spcPts val="1000"/>
              </a:spcAft>
              <a:buSzPct val="100000"/>
              <a:buChar char="•"/>
              <a:lnSpc>
                <a:spcPts val="2200"/>
              </a:lnSpc>
            </a:pPr>
            <a:r>
              <a:rPr sz="2000" b="0">
                <a:solidFill>
                  <a:srgbClr val="333333"/>
                </a:solidFill>
                <a:latin typeface="Calibri"/>
              </a:rPr>
              <a:t>A cost-impact model ranks samples by expected performance gain relative to annotation</a:t>
            </a:r>
          </a:p>
          <a:p>
            <a:pPr lvl="0" marL="457200" indent="-228600">
              <a:buFont typeface="Calibri"/>
              <a:spcAft>
                <a:spcPts val="1000"/>
              </a:spcAft>
              <a:buSzPct val="100000"/>
              <a:buChar char="•"/>
              <a:lnSpc>
                <a:spcPts val="2200"/>
              </a:lnSpc>
            </a:pPr>
            <a:r>
              <a:rPr sz="2000" b="0">
                <a:solidFill>
                  <a:srgbClr val="333333"/>
                </a:solidFill>
                <a:latin typeface="Calibri"/>
              </a:rPr>
              <a:t>Under a fixed budget, the system selects the most impactful points within that budget</a:t>
            </a:r>
          </a:p>
          <a:p>
            <a:pPr lvl="0" marL="457200" indent="-228600">
              <a:buFont typeface="Calibri"/>
              <a:spcAft>
                <a:spcPts val="1000"/>
              </a:spcAft>
              <a:buSzPct val="100000"/>
              <a:buChar char="•"/>
              <a:lnSpc>
                <a:spcPts val="2200"/>
              </a:lnSpc>
            </a:pPr>
            <a:r>
              <a:rPr sz="2000" b="0">
                <a:solidFill>
                  <a:srgbClr val="333333"/>
                </a:solidFill>
                <a:latin typeface="Calibri"/>
              </a:rPr>
              <a:t>This matters when some items need expensive experts and others can use cheaper annotators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11.7 — Cost-Sensitive Routing in Legal Labeling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11.7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11.7 allocates expensive expert labels only where they change the model most</a:t>
            </a:r>
          </a:p>
          <a:p>
            <a:pPr lvl="0" marL="457200" indent="-228600">
              <a:buFont typeface="Calibri"/>
              <a:spcAft>
                <a:spcPts val="1000"/>
              </a:spcAft>
              <a:buSzPct val="100000"/>
              <a:buChar char="•"/>
              <a:lnSpc>
                <a:spcPts val="2200"/>
              </a:lnSpc>
            </a:pPr>
            <a:r>
              <a:rPr sz="2000" b="0">
                <a:solidFill>
                  <a:srgbClr val="333333"/>
                </a:solidFill>
                <a:latin typeface="Calibri"/>
              </a:rPr>
              <a:t>Maximizing accuracy gain per labeling dollar</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`modules/chapter11/example7/`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11.8 — Model-in-the-Loop Tumor Review</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11.8 — hands-on module</a:t>
            </a:r>
          </a:p>
          <a:p>
            <a:pPr lvl="0" marL="457200" indent="-228600">
              <a:buFont typeface="Calibri"/>
              <a:spcAft>
                <a:spcPts val="1000"/>
              </a:spcAft>
              <a:buSzPct val="100000"/>
              <a:buChar char="•"/>
              <a:lnSpc>
                <a:spcPts val="2200"/>
              </a:lnSpc>
            </a:pPr>
            <a:r>
              <a:rPr sz="2000" b="0">
                <a:solidFill>
                  <a:srgbClr val="333333"/>
                </a:solidFill>
                <a:latin typeface="Calibri"/>
              </a:rPr>
              <a:t>Model-in-the-loop annotation emphasizes human–machine collaboration</a:t>
            </a:r>
          </a:p>
          <a:p>
            <a:pPr lvl="0" marL="457200" indent="-228600">
              <a:buFont typeface="Calibri"/>
              <a:spcAft>
                <a:spcPts val="1000"/>
              </a:spcAft>
              <a:buSzPct val="100000"/>
              <a:buChar char="•"/>
              <a:lnSpc>
                <a:spcPts val="2200"/>
              </a:lnSpc>
            </a:pPr>
            <a:r>
              <a:rPr sz="2000" b="0">
                <a:solidFill>
                  <a:srgbClr val="333333"/>
                </a:solidFill>
                <a:latin typeface="Calibri"/>
              </a:rPr>
              <a:t>The model proposes preliminary labels or highlights uncertain regions</a:t>
            </a:r>
          </a:p>
          <a:p>
            <a:pPr lvl="0" marL="457200" indent="-228600">
              <a:buFont typeface="Calibri"/>
              <a:spcAft>
                <a:spcPts val="1000"/>
              </a:spcAft>
              <a:buSzPct val="100000"/>
              <a:buChar char="•"/>
              <a:lnSpc>
                <a:spcPts val="2200"/>
              </a:lnSpc>
            </a:pPr>
            <a:r>
              <a:rPr sz="2000" b="0">
                <a:solidFill>
                  <a:srgbClr val="333333"/>
                </a:solidFill>
                <a:latin typeface="Calibri"/>
              </a:rPr>
              <a:t>So later rounds need fewer human edits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`modules/chapter11/example8/`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Least-confidence, margin</a:t>
            </a:r>
          </a:p>
          <a:p>
            <a:pPr lvl="0" marL="457200" indent="-228600">
              <a:buFont typeface="Calibri"/>
              <a:spcAft>
                <a:spcPts val="1000"/>
              </a:spcAft>
              <a:buSzPct val="100000"/>
              <a:buChar char="•"/>
              <a:lnSpc>
                <a:spcPts val="2200"/>
              </a:lnSpc>
            </a:pPr>
            <a:r>
              <a:rPr sz="2000" b="0">
                <a:solidFill>
                  <a:srgbClr val="333333"/>
                </a:solidFill>
                <a:latin typeface="Calibri"/>
              </a:rPr>
              <a:t>Cost-sensitive routing protects scarce expert budgets</a:t>
            </a:r>
          </a:p>
          <a:p>
            <a:pPr lvl="0" marL="457200" indent="-228600">
              <a:buFont typeface="Calibri"/>
              <a:spcAft>
                <a:spcPts val="1000"/>
              </a:spcAft>
              <a:buSzPct val="100000"/>
              <a:buChar char="•"/>
              <a:lnSpc>
                <a:spcPts val="2200"/>
              </a:lnSpc>
            </a:pPr>
            <a:r>
              <a:rPr sz="2000" b="0">
                <a:solidFill>
                  <a:srgbClr val="333333"/>
                </a:solidFill>
                <a:latin typeface="Calibri"/>
              </a:rPr>
              <a:t>Model-in-the-loop workflows let humans focus on corrections rather than labeling every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Dermoscopic lesion review, showing how uncertain items reach human experts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Active learning in NLP</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Related tasks</a:t>
            </a:r>
          </a:p>
          <a:p>
            <a:pPr lvl="0" marL="457200" indent="-228600">
              <a:buFont typeface="Calibri"/>
              <a:spcAft>
                <a:spcPts val="1000"/>
              </a:spcAft>
              <a:buSzPct val="100000"/>
              <a:buChar char="•"/>
              <a:lnSpc>
                <a:spcPts val="2200"/>
              </a:lnSpc>
            </a:pPr>
            <a:r>
              <a:rPr sz="2000" b="0">
                <a:solidFill>
                  <a:srgbClr val="333333"/>
                </a:solidFill>
                <a:latin typeface="Calibri"/>
              </a:rPr>
              <a:t>Annotating large corpora is expensive, especially for legal or medical text</a:t>
            </a:r>
          </a:p>
          <a:p>
            <a:pPr lvl="0" marL="457200" indent="-228600">
              <a:buFont typeface="Calibri"/>
              <a:spcAft>
                <a:spcPts val="1000"/>
              </a:spcAft>
              <a:buSzPct val="100000"/>
              <a:buChar char="•"/>
              <a:lnSpc>
                <a:spcPts val="2200"/>
              </a:lnSpc>
            </a:pPr>
            <a:r>
              <a:rPr sz="2000" b="0">
                <a:solidFill>
                  <a:srgbClr val="333333"/>
                </a:solidFill>
                <a:latin typeface="Calibri"/>
              </a:rPr>
              <a:t>The model focuses labeling on informative or uncertain samples such as ironic</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11.9 — Active Learning for Review Sentiment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11.9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11.9 queues uncertain reviews for human sentiment labels</a:t>
            </a:r>
          </a:p>
          <a:p>
            <a:pPr lvl="0" marL="457200" indent="-228600">
              <a:buFont typeface="Calibri"/>
              <a:spcAft>
                <a:spcPts val="1000"/>
              </a:spcAft>
              <a:buSzPct val="100000"/>
              <a:buChar char="•"/>
              <a:lnSpc>
                <a:spcPts val="2200"/>
              </a:lnSpc>
            </a:pPr>
            <a:r>
              <a:rPr sz="2000" b="0">
                <a:solidFill>
                  <a:srgbClr val="333333"/>
                </a:solidFill>
                <a:latin typeface="Calibri"/>
              </a:rPr>
              <a:t>Improving nuance with fewer total annotations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`modules/chapter11/example9/`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Active learning in vision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computer vision</a:t>
            </a:r>
          </a:p>
          <a:p>
            <a:pPr lvl="0" marL="457200" indent="-228600">
              <a:buFont typeface="Calibri"/>
              <a:spcAft>
                <a:spcPts val="1000"/>
              </a:spcAft>
              <a:buSzPct val="100000"/>
              <a:buChar char="•"/>
              <a:lnSpc>
                <a:spcPts val="2200"/>
              </a:lnSpc>
            </a:pPr>
            <a:r>
              <a:rPr sz="2000" b="0">
                <a:solidFill>
                  <a:srgbClr val="333333"/>
                </a:solidFill>
                <a:latin typeface="Calibri"/>
              </a:rPr>
              <a:t>Active learning focuses annotators on frames that most improve performance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11.10 — Active Learning for Driving Perception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11.10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11.10 focuses annotators on occluded or foggy driving scenes</a:t>
            </a:r>
          </a:p>
          <a:p>
            <a:pPr lvl="0" marL="457200" indent="-228600">
              <a:buFont typeface="Calibri"/>
              <a:spcAft>
                <a:spcPts val="1000"/>
              </a:spcAft>
              <a:buSzPct val="100000"/>
              <a:buChar char="•"/>
              <a:lnSpc>
                <a:spcPts val="2200"/>
              </a:lnSpc>
            </a:pPr>
            <a:r>
              <a:rPr sz="2000" b="0">
                <a:solidFill>
                  <a:srgbClr val="333333"/>
                </a:solidFill>
                <a:latin typeface="Calibri"/>
              </a:rPr>
              <a:t>So perception models learn rare hard cases without labeling every fleet frame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`modules/chapter11/example10/`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Healthcare case study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Medical image labeling requires domain expertise and is costly</a:t>
            </a:r>
          </a:p>
          <a:p>
            <a:pPr lvl="0" marL="457200" indent="-228600">
              <a:buFont typeface="Calibri"/>
              <a:spcAft>
                <a:spcPts val="1000"/>
              </a:spcAft>
              <a:buSzPct val="100000"/>
              <a:buChar char="•"/>
              <a:lnSpc>
                <a:spcPts val="2200"/>
              </a:lnSpc>
            </a:pPr>
            <a:r>
              <a:rPr sz="2000" b="0">
                <a:solidFill>
                  <a:srgbClr val="333333"/>
                </a:solidFill>
                <a:latin typeface="Calibri"/>
              </a:rPr>
              <a:t>Active learning reduces the number of expert annotations while routing the most</a:t>
            </a:r>
          </a:p>
          <a:p>
            <a:pPr lvl="0" marL="457200" indent="-228600">
              <a:buFont typeface="Calibri"/>
              <a:spcAft>
                <a:spcPts val="1000"/>
              </a:spcAft>
              <a:buSzPct val="100000"/>
              <a:buChar char="•"/>
              <a:lnSpc>
                <a:spcPts val="2200"/>
              </a:lnSpc>
            </a:pPr>
            <a:r>
              <a:rPr sz="2000" b="0">
                <a:solidFill>
                  <a:srgbClr val="333333"/>
                </a:solidFill>
                <a:latin typeface="Calibri"/>
              </a:rPr>
              <a:t>Experts spend limited time on atypical or overlapping pathologies rather than routine easy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11.12 — Pneumonia Detection with Uncertain X-rays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11.12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11.12 sends atypical chest X-rays to radiologists via active learning</a:t>
            </a:r>
          </a:p>
          <a:p>
            <a:pPr lvl="0" marL="457200" indent="-228600">
              <a:buFont typeface="Calibri"/>
              <a:spcAft>
                <a:spcPts val="1000"/>
              </a:spcAft>
              <a:buSzPct val="100000"/>
              <a:buChar char="•"/>
              <a:lnSpc>
                <a:spcPts val="2200"/>
              </a:lnSpc>
            </a:pPr>
            <a:r>
              <a:rPr sz="2000" b="0">
                <a:solidFill>
                  <a:srgbClr val="333333"/>
                </a:solidFill>
                <a:latin typeface="Calibri"/>
              </a:rPr>
              <a:t>Improving edge-case detection with fewer labeled studies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`modules/chapter11/example12/`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11.13 — Dermoscopic Lesion Uncertainty Queue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11.13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11.13 prioritizes ambiguous skin lesions for dermatologist labels</a:t>
            </a:r>
          </a:p>
          <a:p>
            <a:pPr lvl="0" marL="457200" indent="-228600">
              <a:buFont typeface="Calibri"/>
              <a:spcAft>
                <a:spcPts val="1000"/>
              </a:spcAft>
              <a:buSzPct val="100000"/>
              <a:buChar char="•"/>
              <a:lnSpc>
                <a:spcPts val="2200"/>
              </a:lnSpc>
            </a:pPr>
            <a:r>
              <a:rPr sz="2000" b="0">
                <a:solidFill>
                  <a:srgbClr val="333333"/>
                </a:solidFill>
                <a:latin typeface="Calibri"/>
              </a:rPr>
              <a:t>Active learning queues atypical or rare dermoscopic images for expert labeling so the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`modules/chapter11/example13/`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Across NLP, driving perception</a:t>
            </a:r>
          </a:p>
          <a:p>
            <a:pPr lvl="0" marL="457200" indent="-228600">
              <a:buFont typeface="Calibri"/>
              <a:spcAft>
                <a:spcPts val="1000"/>
              </a:spcAft>
              <a:buSzPct val="100000"/>
              <a:buChar char="•"/>
              <a:lnSpc>
                <a:spcPts val="2200"/>
              </a:lnSpc>
            </a:pPr>
            <a:r>
              <a:rPr sz="2000" b="0">
                <a:solidFill>
                  <a:srgbClr val="333333"/>
                </a:solidFill>
                <a:latin typeface="Calibri"/>
              </a:rPr>
              <a:t>Seed models plus selective expert review cut annotation volume while improving edge-case</a:t>
            </a:r>
          </a:p>
          <a:p>
            <a:pPr lvl="0" marL="457200" indent="-228600">
              <a:buFont typeface="Calibri"/>
              <a:spcAft>
                <a:spcPts val="1000"/>
              </a:spcAft>
              <a:buSzPct val="100000"/>
              <a:buChar char="•"/>
              <a:lnSpc>
                <a:spcPts val="2200"/>
              </a:lnSpc>
            </a:pPr>
            <a:r>
              <a:rPr sz="2000" b="0">
                <a:solidFill>
                  <a:srgbClr val="333333"/>
                </a:solidFill>
                <a:latin typeface="Calibri"/>
              </a:rPr>
              <a:t>Routine easy items need not consume expert hours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next part introduces weak supervision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Definition of weak supervision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Weak supervision trains models using data that is partially labeled</a:t>
            </a:r>
          </a:p>
          <a:p>
            <a:pPr lvl="0" marL="457200" indent="-228600">
              <a:buFont typeface="Calibri"/>
              <a:spcAft>
                <a:spcPts val="1000"/>
              </a:spcAft>
              <a:buSzPct val="100000"/>
              <a:buChar char="•"/>
              <a:lnSpc>
                <a:spcPts val="2200"/>
              </a:lnSpc>
            </a:pPr>
            <a:r>
              <a:rPr sz="2000" b="0">
                <a:solidFill>
                  <a:srgbClr val="333333"/>
                </a:solidFill>
                <a:latin typeface="Calibri"/>
              </a:rPr>
              <a:t>Then managing the noise they introduce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Noisy, incomplete, and heuristic labels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Noisy labels are incorrect or imprecise</a:t>
            </a:r>
          </a:p>
          <a:p>
            <a:pPr lvl="0" marL="457200" indent="-228600">
              <a:buFont typeface="Calibri"/>
              <a:spcAft>
                <a:spcPts val="1000"/>
              </a:spcAft>
              <a:buSzPct val="100000"/>
              <a:buChar char="•"/>
              <a:lnSpc>
                <a:spcPts val="2200"/>
              </a:lnSpc>
            </a:pPr>
            <a:r>
              <a:rPr sz="2000" b="0">
                <a:solidFill>
                  <a:srgbClr val="333333"/>
                </a:solidFill>
                <a:latin typeface="Calibri"/>
              </a:rPr>
              <a:t>Incomplete labeling leaves much of the pool unlabeled and requires extrapolation from</a:t>
            </a:r>
          </a:p>
          <a:p>
            <a:pPr lvl="0" marL="457200" indent="-228600">
              <a:buFont typeface="Calibri"/>
              <a:spcAft>
                <a:spcPts val="1000"/>
              </a:spcAft>
              <a:buSzPct val="100000"/>
              <a:buChar char="•"/>
              <a:lnSpc>
                <a:spcPts val="2200"/>
              </a:lnSpc>
            </a:pPr>
            <a:r>
              <a:rPr sz="2000" b="0">
                <a:solidFill>
                  <a:srgbClr val="333333"/>
                </a:solidFill>
                <a:latin typeface="Calibri"/>
              </a:rPr>
              <a:t>Heuristic or imprecise labels come from rules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Programmatic and data-programming ideas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Weakly supervised pipelines often use labeling functions</a:t>
            </a:r>
          </a:p>
          <a:p>
            <a:pPr lvl="0" marL="457200" indent="-228600">
              <a:buFont typeface="Calibri"/>
              <a:spcAft>
                <a:spcPts val="1000"/>
              </a:spcAft>
              <a:buSzPct val="100000"/>
              <a:buChar char="•"/>
              <a:lnSpc>
                <a:spcPts val="2200"/>
              </a:lnSpc>
            </a:pPr>
            <a:r>
              <a:rPr sz="2000" b="0">
                <a:solidFill>
                  <a:srgbClr val="333333"/>
                </a:solidFill>
                <a:latin typeface="Calibri"/>
              </a:rPr>
              <a:t>The key challenge is managing noise and conflict among sources while still extracting</a:t>
            </a:r>
          </a:p>
          <a:p>
            <a:pPr lvl="0" marL="457200" indent="-228600">
              <a:buFont typeface="Calibri"/>
              <a:spcAft>
                <a:spcPts val="1000"/>
              </a:spcAft>
              <a:buSzPct val="100000"/>
              <a:buChar char="•"/>
              <a:lnSpc>
                <a:spcPts val="2200"/>
              </a:lnSpc>
            </a:pPr>
            <a:r>
              <a:rPr sz="2000" b="0">
                <a:solidFill>
                  <a:srgbClr val="333333"/>
                </a:solidFill>
                <a:latin typeface="Calibri"/>
              </a:rPr>
              <a:t>Later sections detail Snorkel-style aggregation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Advantages of weak supervision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Weak supervision is cost-effective because it avoids labeling every item by hand</a:t>
            </a:r>
          </a:p>
          <a:p>
            <a:pPr lvl="0" marL="457200" indent="-228600">
              <a:buFont typeface="Calibri"/>
              <a:spcAft>
                <a:spcPts val="1000"/>
              </a:spcAft>
              <a:buSzPct val="100000"/>
              <a:buChar char="•"/>
              <a:lnSpc>
                <a:spcPts val="2200"/>
              </a:lnSpc>
            </a:pPr>
            <a:r>
              <a:rPr sz="2000" b="0">
                <a:solidFill>
                  <a:srgbClr val="333333"/>
                </a:solidFill>
                <a:latin typeface="Calibri"/>
              </a:rPr>
              <a:t>It scales volume quickly when rules or distant sources can run over large corpora</a:t>
            </a:r>
          </a:p>
          <a:p>
            <a:pPr lvl="0" marL="457200" indent="-228600">
              <a:buFont typeface="Calibri"/>
              <a:spcAft>
                <a:spcPts val="1000"/>
              </a:spcAft>
              <a:buSzPct val="100000"/>
              <a:buChar char="•"/>
              <a:lnSpc>
                <a:spcPts val="2200"/>
              </a:lnSpc>
            </a:pPr>
            <a:r>
              <a:rPr sz="2000" b="0">
                <a:solidFill>
                  <a:srgbClr val="333333"/>
                </a:solidFill>
                <a:latin typeface="Calibri"/>
              </a:rPr>
              <a:t>It also enables coverage in domains where clean labels are scarce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Sources of weak supervision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Transfer from pretrained models when domain labels are limited</a:t>
            </a:r>
          </a:p>
          <a:p>
            <a:pPr lvl="0" marL="457200" indent="-228600">
              <a:buFont typeface="Calibri"/>
              <a:spcAft>
                <a:spcPts val="1000"/>
              </a:spcAft>
              <a:buSzPct val="100000"/>
              <a:buChar char="•"/>
              <a:lnSpc>
                <a:spcPts val="2200"/>
              </a:lnSpc>
            </a:pPr>
            <a:r>
              <a:rPr sz="2000" b="0">
                <a:solidFill>
                  <a:srgbClr val="333333"/>
                </a:solidFill>
                <a:latin typeface="Calibri"/>
              </a:rPr>
              <a:t>Each source is imperfect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Distant supervision and related signals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Distant supervision might infer company–investor relations from financial databases even</a:t>
            </a:r>
          </a:p>
          <a:p>
            <a:pPr lvl="0" marL="457200" indent="-228600">
              <a:buFont typeface="Calibri"/>
              <a:spcAft>
                <a:spcPts val="1000"/>
              </a:spcAft>
              <a:buSzPct val="100000"/>
              <a:buChar char="•"/>
              <a:lnSpc>
                <a:spcPts val="2200"/>
              </a:lnSpc>
            </a:pPr>
            <a:r>
              <a:rPr sz="2000" b="0">
                <a:solidFill>
                  <a:srgbClr val="333333"/>
                </a:solidFill>
                <a:latin typeface="Calibri"/>
              </a:rPr>
              <a:t>Transfer learning can act as a weak signal when a general pretrained model is fine-tuned</a:t>
            </a:r>
          </a:p>
          <a:p>
            <a:pPr lvl="0" marL="457200" indent="-228600">
              <a:buFont typeface="Calibri"/>
              <a:spcAft>
                <a:spcPts val="1000"/>
              </a:spcAft>
              <a:buSzPct val="100000"/>
              <a:buChar char="•"/>
              <a:lnSpc>
                <a:spcPts val="2200"/>
              </a:lnSpc>
            </a:pPr>
            <a:r>
              <a:rPr sz="2000" b="0">
                <a:solidFill>
                  <a:srgbClr val="333333"/>
                </a:solidFill>
                <a:latin typeface="Calibri"/>
              </a:rPr>
              <a:t>These patterns expand label volume but still require quality checks before production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Weak supervision replaces full hand labeling with noisy, incomplete, or heuristic signals</a:t>
            </a:r>
          </a:p>
          <a:p>
            <a:pPr lvl="0" marL="457200" indent="-228600">
              <a:buFont typeface="Calibri"/>
              <a:spcAft>
                <a:spcPts val="1000"/>
              </a:spcAft>
              <a:buSzPct val="100000"/>
              <a:buChar char="•"/>
              <a:lnSpc>
                <a:spcPts val="2200"/>
              </a:lnSpc>
            </a:pPr>
            <a:r>
              <a:rPr sz="2000" b="0">
                <a:solidFill>
                  <a:srgbClr val="333333"/>
                </a:solidFill>
                <a:latin typeface="Calibri"/>
              </a:rPr>
              <a:t>Advantages include cost, scale, and coverage when gold labels are scarce</a:t>
            </a:r>
          </a:p>
          <a:p>
            <a:pPr lvl="0" marL="457200" indent="-228600">
              <a:buFont typeface="Calibri"/>
              <a:spcAft>
                <a:spcPts val="1000"/>
              </a:spcAft>
              <a:buSzPct val="100000"/>
              <a:buChar char="•"/>
              <a:lnSpc>
                <a:spcPts val="2200"/>
              </a:lnSpc>
            </a:pPr>
            <a:r>
              <a:rPr sz="2000" b="0">
                <a:solidFill>
                  <a:srgbClr val="333333"/>
                </a:solidFill>
                <a:latin typeface="Calibri"/>
              </a:rPr>
              <a:t>Sources range from rules and distant databases to pretrained models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Data programming that outputs probabilistic labels for training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Programmatic labeling with Snorkel</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Snorkel is a framework for generating large-scale labeled datasets by combining weak</a:t>
            </a:r>
          </a:p>
          <a:p>
            <a:pPr lvl="0" marL="457200" indent="-228600">
              <a:buFont typeface="Calibri"/>
              <a:spcAft>
                <a:spcPts val="1000"/>
              </a:spcAft>
              <a:buSzPct val="100000"/>
              <a:buChar char="•"/>
              <a:lnSpc>
                <a:spcPts val="2200"/>
              </a:lnSpc>
            </a:pPr>
            <a:r>
              <a:rPr sz="2000" b="0">
                <a:solidFill>
                  <a:srgbClr val="333333"/>
                </a:solidFill>
                <a:latin typeface="Calibri"/>
              </a:rPr>
              <a:t>Users write labeling functions</a:t>
            </a:r>
          </a:p>
          <a:p>
            <a:pPr lvl="0" marL="457200" indent="-228600">
              <a:buFont typeface="Calibri"/>
              <a:spcAft>
                <a:spcPts val="1000"/>
              </a:spcAft>
              <a:buSzPct val="100000"/>
              <a:buChar char="•"/>
              <a:lnSpc>
                <a:spcPts val="2200"/>
              </a:lnSpc>
            </a:pPr>
            <a:r>
              <a:rPr sz="2000" b="0">
                <a:solidFill>
                  <a:srgbClr val="333333"/>
                </a:solidFill>
                <a:latin typeface="Calibri"/>
              </a:rPr>
              <a:t>A generative model estimates source accuracies and reconciles conflicts without requiring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11.14 — Labeling Functions for Spam Detection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11.14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11.14 sketches a Snorkel-style labeling-function workflow</a:t>
            </a:r>
          </a:p>
          <a:p>
            <a:pPr lvl="0" marL="457200" indent="-228600">
              <a:buFont typeface="Calibri"/>
              <a:spcAft>
                <a:spcPts val="1000"/>
              </a:spcAft>
              <a:buSzPct val="100000"/>
              <a:buChar char="•"/>
              <a:lnSpc>
                <a:spcPts val="2200"/>
              </a:lnSpc>
            </a:pPr>
            <a:r>
              <a:rPr sz="2000" b="0">
                <a:solidFill>
                  <a:srgbClr val="333333"/>
                </a:solidFill>
                <a:latin typeface="Calibri"/>
              </a:rPr>
              <a:t>Snorkel estimates source accuracies and outputs probabilistic training labels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`modules/chapter11/example14/`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11.14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"""Example 11.14 — heuristic labeling functions for weak spam</a:t>
            </a:r>
          </a:p>
          <a:p>
            <a:pPr>
              <a:lnSpc>
                <a:spcPts val="2200"/>
              </a:lnSpc>
              <a:spcAft>
                <a:spcPts val="400"/>
              </a:spcAft>
            </a:pPr>
            <a:r>
              <a:rPr sz="2000" b="0">
                <a:solidFill>
                  <a:srgbClr val="333333"/>
                </a:solidFill>
                <a:latin typeface="Consolas"/>
              </a:rPr>
              <a:t>supervision."""</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from __future__ import annotations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from collections import Counter</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lf_keywords(text: str) -&gt; int:</a:t>
            </a:r>
          </a:p>
          <a:p>
            <a:pPr>
              <a:lnSpc>
                <a:spcPts val="2200"/>
              </a:lnSpc>
              <a:spcAft>
                <a:spcPts val="400"/>
              </a:spcAft>
            </a:pPr>
            <a:r>
              <a:rPr sz="2000" b="0">
                <a:solidFill>
                  <a:srgbClr val="333333"/>
                </a:solidFill>
                <a:latin typeface="Consolas"/>
              </a:rPr>
              <a:t>    """Label +1 spam if promotional keywords appear, else abstain</a:t>
            </a:r>
          </a:p>
          <a:p>
            <a:pPr>
              <a:lnSpc>
                <a:spcPts val="2200"/>
              </a:lnSpc>
              <a:spcAft>
                <a:spcPts val="400"/>
              </a:spcAft>
            </a:pPr>
            <a:r>
              <a:rPr sz="2000" b="0">
                <a:solidFill>
                  <a:srgbClr val="333333"/>
                </a:solidFill>
                <a:latin typeface="Consolas"/>
              </a:rPr>
              <a:t>(0)."""</a:t>
            </a:r>
          </a:p>
          <a:p>
            <a:pPr>
              <a:lnSpc>
                <a:spcPts val="2200"/>
              </a:lnSpc>
              <a:spcAft>
                <a:spcPts val="400"/>
              </a:spcAft>
            </a:pPr>
            <a:r>
              <a:rPr sz="2000" b="0">
                <a:solidFill>
                  <a:srgbClr val="333333"/>
                </a:solidFill>
                <a:latin typeface="Consolas"/>
              </a:rPr>
              <a:t>    keywords = ("free", "win", "prize", "click now")</a:t>
            </a:r>
          </a:p>
          <a:p>
            <a:pPr>
              <a:lnSpc>
                <a:spcPts val="2200"/>
              </a:lnSpc>
              <a:spcAft>
                <a:spcPts val="400"/>
              </a:spcAft>
            </a:pPr>
            <a:r>
              <a:rPr sz="2000" b="0">
                <a:solidFill>
                  <a:srgbClr val="333333"/>
                </a:solidFill>
                <a:latin typeface="Consolas"/>
              </a:rPr>
              <a:t>    lowered = text.lower()</a:t>
            </a:r>
          </a:p>
          <a:p>
            <a:pPr>
              <a:lnSpc>
                <a:spcPts val="2200"/>
              </a:lnSpc>
              <a:spcAft>
                <a:spcPts val="400"/>
              </a:spcAft>
            </a:pPr>
            <a:r>
              <a:rPr sz="2000" b="0">
                <a:solidFill>
                  <a:srgbClr val="333333"/>
                </a:solidFill>
                <a:latin typeface="Consolas"/>
              </a:rPr>
              <a:t>    return 1 if any(word in lowered for word in keywords) else 0</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lf_regex_money(text: str) -&gt; int:</a:t>
            </a:r>
          </a:p>
          <a:p>
            <a:pPr>
              <a:lnSpc>
                <a:spcPts val="2200"/>
              </a:lnSpc>
              <a:spcAft>
                <a:spcPts val="400"/>
              </a:spcAft>
            </a:pPr>
            <a:r>
              <a:rPr sz="2000" b="0">
                <a:solidFill>
                  <a:srgbClr val="333333"/>
                </a:solidFill>
                <a:latin typeface="Consolas"/>
              </a:rPr>
              <a:t>    """Label +1 spam if a $amount pattern appears, else abstain."""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How conflicting labels are combined</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Each labeling function may cover only part of the data and may conflict with others</a:t>
            </a:r>
          </a:p>
          <a:p>
            <a:pPr lvl="0" marL="457200" indent="-228600">
              <a:buFont typeface="Calibri"/>
              <a:spcAft>
                <a:spcPts val="1000"/>
              </a:spcAft>
              <a:buSzPct val="100000"/>
              <a:buChar char="•"/>
              <a:lnSpc>
                <a:spcPts val="2200"/>
              </a:lnSpc>
            </a:pPr>
            <a:r>
              <a:rPr sz="2000" b="0">
                <a:solidFill>
                  <a:srgbClr val="333333"/>
                </a:solidFill>
                <a:latin typeface="Calibri"/>
              </a:rPr>
              <a:t>Snorkel uses a probabilistic graphical model and expectation-maximization to refine</a:t>
            </a:r>
          </a:p>
          <a:p>
            <a:pPr lvl="0" marL="457200" indent="-228600">
              <a:buFont typeface="Calibri"/>
              <a:spcAft>
                <a:spcPts val="1000"/>
              </a:spcAft>
              <a:buSzPct val="100000"/>
              <a:buChar char="•"/>
              <a:lnSpc>
                <a:spcPts val="2200"/>
              </a:lnSpc>
            </a:pPr>
            <a:r>
              <a:rPr sz="2000" b="0">
                <a:solidFill>
                  <a:srgbClr val="333333"/>
                </a:solidFill>
                <a:latin typeface="Calibri"/>
              </a:rPr>
              <a:t>The resulting probabilistic labels then train a discriminative model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Heuristic-based labeling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Heuristic-based labeling writes if-then rules that automatically assign labels when</a:t>
            </a:r>
          </a:p>
          <a:p>
            <a:pPr lvl="0" marL="457200" indent="-228600">
              <a:buFont typeface="Calibri"/>
              <a:spcAft>
                <a:spcPts val="1000"/>
              </a:spcAft>
              <a:buSzPct val="100000"/>
              <a:buChar char="•"/>
              <a:lnSpc>
                <a:spcPts val="2200"/>
              </a:lnSpc>
            </a:pPr>
            <a:r>
              <a:rPr sz="2000" b="0">
                <a:solidFill>
                  <a:srgbClr val="333333"/>
                </a:solidFill>
                <a:latin typeface="Calibri"/>
              </a:rPr>
              <a:t>Rules are often domain-specific and sparse: they cover some items well and miss edge cases</a:t>
            </a:r>
          </a:p>
          <a:p>
            <a:pPr lvl="0" marL="457200" indent="-228600">
              <a:buFont typeface="Calibri"/>
              <a:spcAft>
                <a:spcPts val="1000"/>
              </a:spcAft>
              <a:buSzPct val="100000"/>
              <a:buChar char="•"/>
              <a:lnSpc>
                <a:spcPts val="2200"/>
              </a:lnSpc>
            </a:pPr>
            <a:r>
              <a:rPr sz="2000" b="0">
                <a:solidFill>
                  <a:srgbClr val="333333"/>
                </a:solidFill>
                <a:latin typeface="Calibri"/>
              </a:rPr>
              <a:t>Experts can validate a small subset and refine rules over time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Benefits and limits of heuristics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Heuristics inject domain knowledge quickly and run at scale</a:t>
            </a:r>
          </a:p>
          <a:p>
            <a:pPr lvl="0" marL="457200" indent="-228600">
              <a:buFont typeface="Calibri"/>
              <a:spcAft>
                <a:spcPts val="1000"/>
              </a:spcAft>
              <a:buSzPct val="100000"/>
              <a:buChar char="•"/>
              <a:lnSpc>
                <a:spcPts val="2200"/>
              </a:lnSpc>
            </a:pPr>
            <a:r>
              <a:rPr sz="2000" b="0">
                <a:solidFill>
                  <a:srgbClr val="333333"/>
                </a:solidFill>
                <a:latin typeface="Calibri"/>
              </a:rPr>
              <a:t>Limits include noise, sparse coverage, and brittleness on edge cases</a:t>
            </a:r>
          </a:p>
          <a:p>
            <a:pPr lvl="0" marL="457200" indent="-228600">
              <a:buFont typeface="Calibri"/>
              <a:spcAft>
                <a:spcPts val="1000"/>
              </a:spcAft>
              <a:buSzPct val="100000"/>
              <a:buChar char="•"/>
              <a:lnSpc>
                <a:spcPts val="2200"/>
              </a:lnSpc>
            </a:pPr>
            <a:r>
              <a:rPr sz="2000" b="0">
                <a:solidFill>
                  <a:srgbClr val="333333"/>
                </a:solidFill>
                <a:latin typeface="Calibri"/>
              </a:rPr>
              <a:t>Heuristics therefore pair best with aggregation methods and small gold audits rather than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Data programming and probabilistic labels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Data programming combines multiple weak sources into probabilistic labels rather than hard</a:t>
            </a:r>
          </a:p>
          <a:p>
            <a:pPr lvl="0" marL="457200" indent="-228600">
              <a:buFont typeface="Calibri"/>
              <a:spcAft>
                <a:spcPts val="1000"/>
              </a:spcAft>
              <a:buSzPct val="100000"/>
              <a:buChar char="•"/>
              <a:lnSpc>
                <a:spcPts val="2200"/>
              </a:lnSpc>
            </a:pPr>
            <a:r>
              <a:rPr sz="2000" b="0">
                <a:solidFill>
                  <a:srgbClr val="333333"/>
                </a:solidFill>
                <a:latin typeface="Calibri"/>
              </a:rPr>
              <a:t>The method learns each labeling function’s reliability</a:t>
            </a:r>
          </a:p>
          <a:p>
            <a:pPr lvl="0" marL="457200" indent="-228600">
              <a:buFont typeface="Calibri"/>
              <a:spcAft>
                <a:spcPts val="1000"/>
              </a:spcAft>
              <a:buSzPct val="100000"/>
              <a:buChar char="•"/>
              <a:lnSpc>
                <a:spcPts val="2200"/>
              </a:lnSpc>
            </a:pPr>
            <a:r>
              <a:rPr sz="2000" b="0">
                <a:solidFill>
                  <a:srgbClr val="333333"/>
                </a:solidFill>
                <a:latin typeface="Calibri"/>
              </a:rPr>
              <a:t>Downstream models train on soft labels that reflect uncertainty instead of pretending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Snorkel-style labeling functions turn heuristics and weak classifiers into aggregated</a:t>
            </a:r>
          </a:p>
          <a:p>
            <a:pPr lvl="0" marL="457200" indent="-228600">
              <a:buFont typeface="Calibri"/>
              <a:spcAft>
                <a:spcPts val="1000"/>
              </a:spcAft>
              <a:buSzPct val="100000"/>
              <a:buChar char="•"/>
              <a:lnSpc>
                <a:spcPts val="2200"/>
              </a:lnSpc>
            </a:pPr>
            <a:r>
              <a:rPr sz="2000" b="0">
                <a:solidFill>
                  <a:srgbClr val="333333"/>
                </a:solidFill>
                <a:latin typeface="Calibri"/>
              </a:rPr>
              <a:t>Heuristic rules scale domain knowledge but need refinement and audits</a:t>
            </a:r>
          </a:p>
          <a:p>
            <a:pPr lvl="0" marL="457200" indent="-228600">
              <a:buFont typeface="Calibri"/>
              <a:spcAft>
                <a:spcPts val="1000"/>
              </a:spcAft>
              <a:buSzPct val="100000"/>
              <a:buChar char="•"/>
              <a:lnSpc>
                <a:spcPts val="2200"/>
              </a:lnSpc>
            </a:pPr>
            <a:r>
              <a:rPr sz="2000" b="0">
                <a:solidFill>
                  <a:srgbClr val="333333"/>
                </a:solidFill>
                <a:latin typeface="Calibri"/>
              </a:rPr>
              <a:t>Data programming learns source quality and emits probabilistic labels that handle conflict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next part introduces self-supervised learning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Definition versus supervised learning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Supervised learning trains on input–label pairs, such as images tagged cat or dog</a:t>
            </a:r>
          </a:p>
          <a:p>
            <a:pPr lvl="0" marL="457200" indent="-228600">
              <a:buFont typeface="Calibri"/>
              <a:spcAft>
                <a:spcPts val="1000"/>
              </a:spcAft>
              <a:buSzPct val="100000"/>
              <a:buChar char="•"/>
              <a:lnSpc>
                <a:spcPts val="2200"/>
              </a:lnSpc>
            </a:pPr>
            <a:r>
              <a:rPr sz="2000" b="0">
                <a:solidFill>
                  <a:srgbClr val="333333"/>
                </a:solidFill>
                <a:latin typeface="Calibri"/>
              </a:rPr>
              <a:t>Self-supervised learning does not require manual task labels during pretraining</a:t>
            </a:r>
          </a:p>
          <a:p>
            <a:pPr lvl="0" marL="457200" indent="-228600">
              <a:buFont typeface="Calibri"/>
              <a:spcAft>
                <a:spcPts val="1000"/>
              </a:spcAft>
              <a:buSzPct val="100000"/>
              <a:buChar char="•"/>
              <a:lnSpc>
                <a:spcPts val="2200"/>
              </a:lnSpc>
            </a:pPr>
            <a:r>
              <a:rPr sz="2000" b="0">
                <a:solidFill>
                  <a:srgbClr val="333333"/>
                </a:solidFill>
                <a:latin typeface="Calibri"/>
              </a:rPr>
              <a:t>Instead, the model creates its own supervisory signal from the data by solving a pretext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pretext tasks matter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Pretext tasks force the model to learn useful features</a:t>
            </a:r>
          </a:p>
          <a:p>
            <a:pPr lvl="0" marL="457200" indent="-228600">
              <a:buFont typeface="Calibri"/>
              <a:spcAft>
                <a:spcPts val="1000"/>
              </a:spcAft>
              <a:buSzPct val="100000"/>
              <a:buChar char="•"/>
              <a:lnSpc>
                <a:spcPts val="2200"/>
              </a:lnSpc>
            </a:pPr>
            <a:r>
              <a:rPr sz="2000" b="0">
                <a:solidFill>
                  <a:srgbClr val="333333"/>
                </a:solidFill>
                <a:latin typeface="Calibri"/>
              </a:rPr>
              <a:t>After pretraining</a:t>
            </a:r>
          </a:p>
          <a:p>
            <a:pPr lvl="0" marL="457200" indent="-228600">
              <a:buFont typeface="Calibri"/>
              <a:spcAft>
                <a:spcPts val="1000"/>
              </a:spcAft>
              <a:buSzPct val="100000"/>
              <a:buChar char="•"/>
              <a:lnSpc>
                <a:spcPts val="2200"/>
              </a:lnSpc>
            </a:pPr>
            <a:r>
              <a:rPr sz="2000" b="0">
                <a:solidFill>
                  <a:srgbClr val="333333"/>
                </a:solidFill>
                <a:latin typeface="Calibri"/>
              </a:rPr>
              <a:t>This reduces labeling cost and can improve generalization when unlabeled corpora are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Vision pretext examples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Rotation prediction of randomly rotated images</a:t>
            </a:r>
          </a:p>
          <a:p>
            <a:pPr lvl="0" marL="457200" indent="-228600">
              <a:buFont typeface="Calibri"/>
              <a:spcAft>
                <a:spcPts val="1000"/>
              </a:spcAft>
              <a:buSzPct val="100000"/>
              <a:buChar char="•"/>
              <a:lnSpc>
                <a:spcPts val="2200"/>
              </a:lnSpc>
            </a:pPr>
            <a:r>
              <a:rPr sz="2000" b="0">
                <a:solidFill>
                  <a:srgbClr val="333333"/>
                </a:solidFill>
                <a:latin typeface="Calibri"/>
              </a:rPr>
              <a:t>Solving these proxies teaches spatial and semantic structure that later supports detection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Language pretext examples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natural language processing</a:t>
            </a:r>
          </a:p>
          <a:p>
            <a:pPr lvl="0" marL="457200" indent="-228600">
              <a:buFont typeface="Calibri"/>
              <a:spcAft>
                <a:spcPts val="1000"/>
              </a:spcAft>
              <a:buSzPct val="100000"/>
              <a:buChar char="•"/>
              <a:lnSpc>
                <a:spcPts val="2200"/>
              </a:lnSpc>
            </a:pPr>
            <a:r>
              <a:rPr sz="2000" b="0">
                <a:solidFill>
                  <a:srgbClr val="333333"/>
                </a:solidFill>
                <a:latin typeface="Calibri"/>
              </a:rPr>
              <a:t>Next-sentence prediction and text infilling teach discourse and local coherence</a:t>
            </a:r>
          </a:p>
          <a:p>
            <a:pPr lvl="0" marL="457200" indent="-228600">
              <a:buFont typeface="Calibri"/>
              <a:spcAft>
                <a:spcPts val="1000"/>
              </a:spcAft>
              <a:buSzPct val="100000"/>
              <a:buChar char="•"/>
              <a:lnSpc>
                <a:spcPts val="2200"/>
              </a:lnSpc>
            </a:pPr>
            <a:r>
              <a:rPr sz="2000" b="0">
                <a:solidFill>
                  <a:srgbClr val="333333"/>
                </a:solidFill>
                <a:latin typeface="Calibri"/>
              </a:rPr>
              <a:t>These tasks turn large unlabeled text corpora into representation learners before any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Contrastive learning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Contrastive methods learn representations by pulling similar views of the same instance</a:t>
            </a:r>
          </a:p>
          <a:p>
            <a:pPr lvl="0" marL="457200" indent="-228600">
              <a:buFont typeface="Calibri"/>
              <a:spcAft>
                <a:spcPts val="1000"/>
              </a:spcAft>
              <a:buSzPct val="100000"/>
              <a:buChar char="•"/>
              <a:lnSpc>
                <a:spcPts val="2200"/>
              </a:lnSpc>
            </a:pPr>
            <a:r>
              <a:rPr sz="2000" b="0">
                <a:solidFill>
                  <a:srgbClr val="333333"/>
                </a:solidFill>
                <a:latin typeface="Calibri"/>
              </a:rPr>
              <a:t>In vision, two augmented crops of one image form a positive pair</a:t>
            </a:r>
          </a:p>
          <a:p>
            <a:pPr lvl="0" marL="457200" indent="-228600">
              <a:buFont typeface="Calibri"/>
              <a:spcAft>
                <a:spcPts val="1000"/>
              </a:spcAft>
              <a:buSzPct val="100000"/>
              <a:buChar char="•"/>
              <a:lnSpc>
                <a:spcPts val="2200"/>
              </a:lnSpc>
            </a:pPr>
            <a:r>
              <a:rPr sz="2000" b="0">
                <a:solidFill>
                  <a:srgbClr val="333333"/>
                </a:solidFill>
                <a:latin typeface="Calibri"/>
              </a:rPr>
              <a:t>The resulting encoder captures discriminative features that transfer well when a linear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11.15 — Contrastive Pretraining Then Fine-Tune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11.15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11.15 illustrates contrastive pretraining before fine-tuning</a:t>
            </a:r>
          </a:p>
          <a:p>
            <a:pPr lvl="0" marL="457200" indent="-228600">
              <a:buFont typeface="Calibri"/>
              <a:spcAft>
                <a:spcPts val="1000"/>
              </a:spcAft>
              <a:buSzPct val="100000"/>
              <a:buChar char="•"/>
              <a:lnSpc>
                <a:spcPts val="2200"/>
              </a:lnSpc>
            </a:pPr>
            <a:r>
              <a:rPr sz="2000" b="0">
                <a:solidFill>
                  <a:srgbClr val="333333"/>
                </a:solidFill>
                <a:latin typeface="Calibri"/>
              </a:rPr>
              <a:t>A vision encoder is pretrained with SimCLR-style contrastive loss on unlabeled product</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`modules/chapter11/example15/`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Self-supervised learning creates supervision from unlabeled structure via pretext tasks</a:t>
            </a:r>
          </a:p>
          <a:p>
            <a:pPr lvl="0" marL="457200" indent="-228600">
              <a:buFont typeface="Calibri"/>
              <a:spcAft>
                <a:spcPts val="1000"/>
              </a:spcAft>
              <a:buSzPct val="100000"/>
              <a:buChar char="•"/>
              <a:lnSpc>
                <a:spcPts val="2200"/>
              </a:lnSpc>
            </a:pPr>
            <a:r>
              <a:rPr sz="2000" b="0">
                <a:solidFill>
                  <a:srgbClr val="333333"/>
                </a:solidFill>
                <a:latin typeface="Calibri"/>
              </a:rPr>
              <a:t>It sits between supervised and unsupervised learning</a:t>
            </a:r>
          </a:p>
          <a:p>
            <a:pPr lvl="0" marL="457200" indent="-228600">
              <a:buFont typeface="Calibri"/>
              <a:spcAft>
                <a:spcPts val="1000"/>
              </a:spcAft>
              <a:buSzPct val="100000"/>
              <a:buChar char="•"/>
              <a:lnSpc>
                <a:spcPts val="2200"/>
              </a:lnSpc>
            </a:pPr>
            <a:r>
              <a:rPr sz="2000" b="0">
                <a:solidFill>
                  <a:srgbClr val="333333"/>
                </a:solidFill>
                <a:latin typeface="Calibri"/>
              </a:rPr>
              <a:t>Contrastive pretraining plus light fine-tuning is a practical recipe when downstream</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Time-series forecasting, emphasizing data efficiency when downstream labels remain scarce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Computer vision applications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Segmentation before scarce labels are applied</a:t>
            </a:r>
          </a:p>
          <a:p>
            <a:pPr lvl="0" marL="457200" indent="-228600">
              <a:buFont typeface="Calibri"/>
              <a:spcAft>
                <a:spcPts val="1000"/>
              </a:spcAft>
              <a:buSzPct val="100000"/>
              <a:buChar char="•"/>
              <a:lnSpc>
                <a:spcPts val="2200"/>
              </a:lnSpc>
            </a:pPr>
            <a:r>
              <a:rPr sz="2000" b="0">
                <a:solidFill>
                  <a:srgbClr val="333333"/>
                </a:solidFill>
                <a:latin typeface="Calibri"/>
              </a:rPr>
              <a:t>Which matters in domains where bounding boxes or masks are expensive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Data efficiency in vision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Once representations exist</a:t>
            </a:r>
          </a:p>
          <a:p>
            <a:pPr lvl="0" marL="457200" indent="-228600">
              <a:buFont typeface="Calibri"/>
              <a:spcAft>
                <a:spcPts val="1000"/>
              </a:spcAft>
              <a:buSzPct val="100000"/>
              <a:buChar char="•"/>
              <a:lnSpc>
                <a:spcPts val="2200"/>
              </a:lnSpc>
            </a:pPr>
            <a:r>
              <a:rPr sz="2000" b="0">
                <a:solidFill>
                  <a:srgbClr val="333333"/>
                </a:solidFill>
                <a:latin typeface="Calibri"/>
              </a:rPr>
              <a:t>Teams still validate on held-out gold labels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Natural language processing applications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Masked language modeling and related objectives pretrain encoders on unlabeled text</a:t>
            </a:r>
          </a:p>
          <a:p>
            <a:pPr lvl="0" marL="457200" indent="-228600">
              <a:buFont typeface="Calibri"/>
              <a:spcAft>
                <a:spcPts val="1000"/>
              </a:spcAft>
              <a:buSzPct val="100000"/>
              <a:buChar char="•"/>
              <a:lnSpc>
                <a:spcPts val="2200"/>
              </a:lnSpc>
            </a:pPr>
            <a:r>
              <a:rPr sz="2000" b="0">
                <a:solidFill>
                  <a:srgbClr val="333333"/>
                </a:solidFill>
                <a:latin typeface="Calibri"/>
              </a:rPr>
              <a:t>Downstream tasks such as classification, named entity recognition</a:t>
            </a:r>
          </a:p>
          <a:p>
            <a:pPr lvl="0" marL="457200" indent="-228600">
              <a:buFont typeface="Calibri"/>
              <a:spcAft>
                <a:spcPts val="1000"/>
              </a:spcAft>
              <a:buSzPct val="100000"/>
              <a:buChar char="•"/>
              <a:lnSpc>
                <a:spcPts val="2200"/>
              </a:lnSpc>
            </a:pPr>
            <a:r>
              <a:rPr sz="2000" b="0">
                <a:solidFill>
                  <a:srgbClr val="333333"/>
                </a:solidFill>
                <a:latin typeface="Calibri"/>
              </a:rPr>
              <a:t>Large web-scale corpora supply the unlabeled fuel for that pretraining stage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Transfer to specialized text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Domain teams often start from a general pretrained language model and fine-tune on a</a:t>
            </a:r>
          </a:p>
          <a:p>
            <a:pPr lvl="0" marL="457200" indent="-228600">
              <a:buFont typeface="Calibri"/>
              <a:spcAft>
                <a:spcPts val="1000"/>
              </a:spcAft>
              <a:buSzPct val="100000"/>
              <a:buChar char="•"/>
              <a:lnSpc>
                <a:spcPts val="2200"/>
              </a:lnSpc>
            </a:pPr>
            <a:r>
              <a:rPr sz="2000" b="0">
                <a:solidFill>
                  <a:srgbClr val="333333"/>
                </a:solidFill>
                <a:latin typeface="Calibri"/>
              </a:rPr>
              <a:t>The pretext-learned context and syntax transfer</a:t>
            </a:r>
          </a:p>
          <a:p>
            <a:pPr lvl="0" marL="457200" indent="-228600">
              <a:buFont typeface="Calibri"/>
              <a:spcAft>
                <a:spcPts val="1000"/>
              </a:spcAft>
              <a:buSzPct val="100000"/>
              <a:buChar char="•"/>
              <a:lnSpc>
                <a:spcPts val="2200"/>
              </a:lnSpc>
            </a:pPr>
            <a:r>
              <a:rPr sz="2000" b="0">
                <a:solidFill>
                  <a:srgbClr val="333333"/>
                </a:solidFill>
                <a:latin typeface="Calibri"/>
              </a:rPr>
              <a:t>This pattern is common when expert text labels are scarce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Time-series forecasting and imputation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For time series</a:t>
            </a:r>
          </a:p>
          <a:p>
            <a:pPr lvl="0" marL="457200" indent="-228600">
              <a:buFont typeface="Calibri"/>
              <a:spcAft>
                <a:spcPts val="1000"/>
              </a:spcAft>
              <a:buSzPct val="100000"/>
              <a:buChar char="•"/>
              <a:lnSpc>
                <a:spcPts val="2200"/>
              </a:lnSpc>
            </a:pPr>
            <a:r>
              <a:rPr sz="2000" b="0">
                <a:solidFill>
                  <a:srgbClr val="333333"/>
                </a:solidFill>
                <a:latin typeface="Calibri"/>
              </a:rPr>
              <a:t>Models learn temporal structure from unlabeled sensor or transaction streams</a:t>
            </a:r>
          </a:p>
          <a:p>
            <a:pPr lvl="0" marL="457200" indent="-228600">
              <a:buFont typeface="Calibri"/>
              <a:spcAft>
                <a:spcPts val="1000"/>
              </a:spcAft>
              <a:buSzPct val="100000"/>
              <a:buChar char="•"/>
              <a:lnSpc>
                <a:spcPts val="2200"/>
              </a:lnSpc>
            </a:pPr>
            <a:r>
              <a:rPr sz="2000" b="0">
                <a:solidFill>
                  <a:srgbClr val="333333"/>
                </a:solidFill>
                <a:latin typeface="Calibri"/>
              </a:rPr>
              <a:t>Gap filling also prepares incomplete series for downstream monitoring tasks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Anomaly detection and contrastive sequences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Useful for fraud or equipment failure</a:t>
            </a:r>
          </a:p>
          <a:p>
            <a:pPr lvl="0" marL="457200" indent="-228600">
              <a:buFont typeface="Calibri"/>
              <a:spcAft>
                <a:spcPts val="1000"/>
              </a:spcAft>
              <a:buSzPct val="100000"/>
              <a:buChar char="•"/>
              <a:lnSpc>
                <a:spcPts val="2200"/>
              </a:lnSpc>
            </a:pPr>
            <a:r>
              <a:rPr sz="2000" b="0">
                <a:solidFill>
                  <a:srgbClr val="333333"/>
                </a:solidFill>
                <a:latin typeface="Calibri"/>
              </a:rPr>
              <a:t>Clustering without labeling every window</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Self-supervised applications span vision, language, and time series with a shared theme</a:t>
            </a:r>
          </a:p>
          <a:p>
            <a:pPr lvl="0" marL="457200" indent="-228600">
              <a:buFont typeface="Calibri"/>
              <a:spcAft>
                <a:spcPts val="1000"/>
              </a:spcAft>
              <a:buSzPct val="100000"/>
              <a:buChar char="•"/>
              <a:lnSpc>
                <a:spcPts val="2200"/>
              </a:lnSpc>
            </a:pPr>
            <a:r>
              <a:rPr sz="2000" b="0">
                <a:solidFill>
                  <a:srgbClr val="333333"/>
                </a:solidFill>
                <a:latin typeface="Calibri"/>
              </a:rPr>
              <a:t>Benefits include data efficiency, real-time monitoring potential</a:t>
            </a:r>
          </a:p>
          <a:p>
            <a:pPr lvl="0" marL="457200" indent="-228600">
              <a:buFont typeface="Calibri"/>
              <a:spcAft>
                <a:spcPts val="1000"/>
              </a:spcAft>
              <a:buSzPct val="100000"/>
              <a:buChar char="•"/>
              <a:lnSpc>
                <a:spcPts val="2200"/>
              </a:lnSpc>
            </a:pPr>
            <a:r>
              <a:rPr sz="2000" b="0">
                <a:solidFill>
                  <a:srgbClr val="333333"/>
                </a:solidFill>
                <a:latin typeface="Calibri"/>
              </a:rPr>
              <a:t>Quality still depends on validating the downstream labeled evaluation set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next part compares crowdsourcing and expert annotation on scale, cost, turnaround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Crowdsourcing advantages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For annotation, crowdsourcing offers scale, lower per-item cost, fast turnaround</a:t>
            </a:r>
          </a:p>
          <a:p>
            <a:pPr lvl="0" marL="457200" indent="-228600">
              <a:buFont typeface="Calibri"/>
              <a:spcAft>
                <a:spcPts val="1000"/>
              </a:spcAft>
              <a:buSzPct val="100000"/>
              <a:buChar char="•"/>
              <a:lnSpc>
                <a:spcPts val="2200"/>
              </a:lnSpc>
            </a:pPr>
            <a:r>
              <a:rPr sz="2000" b="0">
                <a:solidFill>
                  <a:srgbClr val="333333"/>
                </a:solidFill>
                <a:latin typeface="Calibri"/>
              </a:rPr>
              <a:t>Those advantages matter most when the schema is simple, guidelines are clear</a:t>
            </a:r>
          </a:p>
          <a:p>
            <a:pPr lvl="0" marL="457200" indent="-228600">
              <a:buFont typeface="Calibri"/>
              <a:spcAft>
                <a:spcPts val="1000"/>
              </a:spcAft>
              <a:buSzPct val="100000"/>
              <a:buChar char="•"/>
              <a:lnSpc>
                <a:spcPts val="2200"/>
              </a:lnSpc>
            </a:pPr>
            <a:r>
              <a:rPr sz="2000" b="0">
                <a:solidFill>
                  <a:srgbClr val="333333"/>
                </a:solidFill>
                <a:latin typeface="Calibri"/>
              </a:rPr>
              <a:t>This section emphasizes when experts must own labels rather than restating platform</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11.16 — Crowd Scale for Attribute Labels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11.16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11.16 shows crowd scale for high-volume attribute labeling</a:t>
            </a:r>
          </a:p>
          <a:p>
            <a:pPr lvl="0" marL="457200" indent="-228600">
              <a:buFont typeface="Calibri"/>
              <a:spcAft>
                <a:spcPts val="1000"/>
              </a:spcAft>
              <a:buSzPct val="100000"/>
              <a:buChar char="•"/>
              <a:lnSpc>
                <a:spcPts val="2200"/>
              </a:lnSpc>
            </a:pPr>
            <a:r>
              <a:rPr sz="2000" b="0">
                <a:solidFill>
                  <a:srgbClr val="333333"/>
                </a:solidFill>
                <a:latin typeface="Calibri"/>
              </a:rPr>
              <a:t>A vision team needs millions of face images tagged with age band, expression</a:t>
            </a:r>
          </a:p>
          <a:p>
            <a:pPr lvl="0" marL="457200" indent="-228600">
              <a:buFont typeface="Calibri"/>
              <a:spcAft>
                <a:spcPts val="1000"/>
              </a:spcAft>
              <a:buSzPct val="100000"/>
              <a:buChar char="•"/>
              <a:lnSpc>
                <a:spcPts val="2200"/>
              </a:lnSpc>
            </a:pPr>
            <a:r>
              <a:rPr sz="2000" b="0">
                <a:solidFill>
                  <a:srgbClr val="333333"/>
                </a:solidFill>
                <a:latin typeface="Calibri"/>
              </a:rPr>
              <a:t>Crowdsourcing platforms distribute the schema across many workers so labeling finishes in</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`modules/chapter11/example16/`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11.17 — Crowd Cost for Product Images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11.17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11.17 contrasts crowd cost with expert-only product labeling</a:t>
            </a:r>
          </a:p>
          <a:p>
            <a:pPr lvl="0" marL="457200" indent="-228600">
              <a:buFont typeface="Calibri"/>
              <a:spcAft>
                <a:spcPts val="1000"/>
              </a:spcAft>
              <a:buSzPct val="100000"/>
              <a:buChar char="•"/>
              <a:lnSpc>
                <a:spcPts val="2200"/>
              </a:lnSpc>
            </a:pPr>
            <a:r>
              <a:rPr sz="2000" b="0">
                <a:solidFill>
                  <a:srgbClr val="333333"/>
                </a:solidFill>
                <a:latin typeface="Calibri"/>
              </a:rPr>
              <a:t>A retailer needs thousands of product photos labeled for category and attributes</a:t>
            </a:r>
          </a:p>
          <a:p>
            <a:pPr lvl="0" marL="457200" indent="-228600">
              <a:buFont typeface="Calibri"/>
              <a:spcAft>
                <a:spcPts val="1000"/>
              </a:spcAft>
              <a:buSzPct val="100000"/>
              <a:buChar char="•"/>
              <a:lnSpc>
                <a:spcPts val="2200"/>
              </a:lnSpc>
            </a:pPr>
            <a:r>
              <a:rPr sz="2000" b="0">
                <a:solidFill>
                  <a:srgbClr val="333333"/>
                </a:solidFill>
                <a:latin typeface="Calibri"/>
              </a:rPr>
              <a:t>Paying only domain experts would blow the budget</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`modules/chapter11/example17/`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Crowdsourcing challenges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Crowd workers may be inconsistently trained or motivated, producing noisy annotations</a:t>
            </a:r>
          </a:p>
          <a:p>
            <a:pPr lvl="0" marL="457200" indent="-228600">
              <a:buFont typeface="Calibri"/>
              <a:spcAft>
                <a:spcPts val="1000"/>
              </a:spcAft>
              <a:buSzPct val="100000"/>
              <a:buChar char="•"/>
              <a:lnSpc>
                <a:spcPts val="2200"/>
              </a:lnSpc>
            </a:pPr>
            <a:r>
              <a:rPr sz="2000" b="0">
                <a:solidFill>
                  <a:srgbClr val="333333"/>
                </a:solidFill>
                <a:latin typeface="Calibri"/>
              </a:rPr>
              <a:t>Mitigation requires ground-truth checks, gold questions, and redundancy</a:t>
            </a:r>
          </a:p>
          <a:p>
            <a:pPr lvl="0" marL="457200" indent="-228600">
              <a:buFont typeface="Calibri"/>
              <a:spcAft>
                <a:spcPts val="1000"/>
              </a:spcAft>
              <a:buSzPct val="100000"/>
              <a:buChar char="•"/>
              <a:lnSpc>
                <a:spcPts val="2200"/>
              </a:lnSpc>
            </a:pPr>
            <a:r>
              <a:rPr sz="2000" b="0">
                <a:solidFill>
                  <a:srgbClr val="333333"/>
                </a:solidFill>
                <a:latin typeface="Calibri"/>
              </a:rPr>
              <a:t>Platform ethics and inter-annotator agreement controls from earlier chapters should be in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11.20 — Expert Quality for Radiology Labels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11.20 — hands-on module</a:t>
            </a:r>
          </a:p>
          <a:p>
            <a:pPr lvl="0" marL="457200" indent="-228600">
              <a:buFont typeface="Calibri"/>
              <a:spcAft>
                <a:spcPts val="1000"/>
              </a:spcAft>
              <a:buSzPct val="100000"/>
              <a:buChar char="•"/>
              <a:lnSpc>
                <a:spcPts val="2200"/>
              </a:lnSpc>
            </a:pPr>
            <a:r>
              <a:rPr sz="2000" b="0">
                <a:solidFill>
                  <a:srgbClr val="333333"/>
                </a:solidFill>
                <a:latin typeface="Calibri"/>
              </a:rPr>
              <a:t>Expert annotation uses specialists for tasks that need deep domain knowledge</a:t>
            </a:r>
          </a:p>
          <a:p>
            <a:pPr lvl="0" marL="457200" indent="-228600">
              <a:buFont typeface="Calibri"/>
              <a:spcAft>
                <a:spcPts val="1000"/>
              </a:spcAft>
              <a:buSzPct val="100000"/>
              <a:buChar char="•"/>
              <a:lnSpc>
                <a:spcPts val="2200"/>
              </a:lnSpc>
            </a:pPr>
            <a:r>
              <a:rPr sz="2000" b="0">
                <a:solidFill>
                  <a:srgbClr val="333333"/>
                </a:solidFill>
                <a:latin typeface="Calibri"/>
              </a:rPr>
              <a:t>Example 11.20 shows why expert quality matters for clinical images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`modules/chapter11/example20/`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11.22 — Legal Experts for Contract Clauses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11.22 — hands-on module</a:t>
            </a:r>
          </a:p>
          <a:p>
            <a:pPr lvl="0" marL="457200" indent="-228600">
              <a:buFont typeface="Calibri"/>
              <a:spcAft>
                <a:spcPts val="1000"/>
              </a:spcAft>
              <a:buSzPct val="100000"/>
              <a:buChar char="•"/>
              <a:lnSpc>
                <a:spcPts val="2200"/>
              </a:lnSpc>
            </a:pPr>
            <a:r>
              <a:rPr sz="2000" b="0">
                <a:solidFill>
                  <a:srgbClr val="333333"/>
                </a:solidFill>
                <a:latin typeface="Calibri"/>
              </a:rPr>
              <a:t>Experts also improve consistency on complex legal schemas</a:t>
            </a:r>
          </a:p>
          <a:p>
            <a:pPr lvl="0" marL="457200" indent="-228600">
              <a:buFont typeface="Calibri"/>
              <a:spcAft>
                <a:spcPts val="1000"/>
              </a:spcAft>
              <a:buSzPct val="100000"/>
              <a:buChar char="•"/>
              <a:lnSpc>
                <a:spcPts val="2200"/>
              </a:lnSpc>
            </a:pPr>
            <a:r>
              <a:rPr sz="2000" b="0">
                <a:solidFill>
                  <a:srgbClr val="333333"/>
                </a:solidFill>
                <a:latin typeface="Calibri"/>
              </a:rPr>
              <a:t>Example 11.22 keeps legal clause labeling with domain experts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`modules/chapter11/example22/`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Expert challenges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Expert annotation is expensive and hard to scale because skilled professionals are scarce</a:t>
            </a:r>
          </a:p>
          <a:p>
            <a:pPr lvl="0" marL="457200" indent="-228600">
              <a:buFont typeface="Calibri"/>
              <a:spcAft>
                <a:spcPts val="1000"/>
              </a:spcAft>
              <a:buSzPct val="100000"/>
              <a:buChar char="•"/>
              <a:lnSpc>
                <a:spcPts val="2200"/>
              </a:lnSpc>
            </a:pPr>
            <a:r>
              <a:rPr sz="2000" b="0">
                <a:solidFill>
                  <a:srgbClr val="333333"/>
                </a:solidFill>
                <a:latin typeface="Calibri"/>
              </a:rPr>
              <a:t>Careful analysis also slows throughput</a:t>
            </a:r>
          </a:p>
          <a:p>
            <a:pPr lvl="0" marL="457200" indent="-228600">
              <a:buFont typeface="Calibri"/>
              <a:spcAft>
                <a:spcPts val="1000"/>
              </a:spcAft>
              <a:buSzPct val="100000"/>
              <a:buChar char="•"/>
              <a:lnSpc>
                <a:spcPts val="2200"/>
              </a:lnSpc>
            </a:pPr>
            <a:r>
              <a:rPr sz="2000" b="0">
                <a:solidFill>
                  <a:srgbClr val="333333"/>
                </a:solidFill>
                <a:latin typeface="Calibri"/>
              </a:rPr>
              <a:t>Which motivates hybrid designs in the next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Crowds excel at scale, cost, and speed on clear schemas with gold checks</a:t>
            </a:r>
          </a:p>
          <a:p>
            <a:pPr lvl="0" marL="457200" indent="-228600">
              <a:buFont typeface="Calibri"/>
              <a:spcAft>
                <a:spcPts val="1000"/>
              </a:spcAft>
              <a:buSzPct val="100000"/>
              <a:buChar char="•"/>
              <a:lnSpc>
                <a:spcPts val="2200"/>
              </a:lnSpc>
            </a:pPr>
            <a:r>
              <a:rPr sz="2000" b="0">
                <a:solidFill>
                  <a:srgbClr val="333333"/>
                </a:solidFill>
                <a:latin typeface="Calibri"/>
              </a:rPr>
              <a:t>Experts excel at precision and consistency on radiology, legal</a:t>
            </a:r>
          </a:p>
          <a:p>
            <a:pPr lvl="0" marL="457200" indent="-228600">
              <a:buFont typeface="Calibri"/>
              <a:spcAft>
                <a:spcPts val="1000"/>
              </a:spcAft>
              <a:buSzPct val="100000"/>
              <a:buChar char="•"/>
              <a:lnSpc>
                <a:spcPts val="2200"/>
              </a:lnSpc>
            </a:pPr>
            <a:r>
              <a:rPr sz="2000" b="0">
                <a:solidFill>
                  <a:srgbClr val="333333"/>
                </a:solidFill>
                <a:latin typeface="Calibri"/>
              </a:rPr>
              <a:t>Expert-only staffing hits cost and capacity walls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next part covers hybrid annotation pipelines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Speed benefits of hybrid staffing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hybrid approaches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Hybrid approaches balance cost, speed</a:t>
            </a:r>
          </a:p>
          <a:p>
            <a:pPr lvl="0" marL="457200" indent="-228600">
              <a:buFont typeface="Calibri"/>
              <a:spcAft>
                <a:spcPts val="1000"/>
              </a:spcAft>
              <a:buSzPct val="100000"/>
              <a:buChar char="•"/>
              <a:lnSpc>
                <a:spcPts val="2200"/>
              </a:lnSpc>
            </a:pPr>
            <a:r>
              <a:rPr sz="2000" b="0">
                <a:solidFill>
                  <a:srgbClr val="333333"/>
                </a:solidFill>
                <a:latin typeface="Calibri"/>
              </a:rPr>
              <a:t>A useful pattern invests scarce experts where schema and gold labels are defined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11.25 — Expert Gold Then Crowd Scale-Up</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11.25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11.25 seeds crowd work with an expert gold set</a:t>
            </a:r>
          </a:p>
          <a:p>
            <a:pPr lvl="0" marL="457200" indent="-228600">
              <a:buFont typeface="Calibri"/>
              <a:spcAft>
                <a:spcPts val="1000"/>
              </a:spcAft>
              <a:buSzPct val="100000"/>
              <a:buChar char="•"/>
              <a:lnSpc>
                <a:spcPts val="2200"/>
              </a:lnSpc>
            </a:pPr>
            <a:r>
              <a:rPr sz="2000" b="0">
                <a:solidFill>
                  <a:srgbClr val="333333"/>
                </a:solidFill>
                <a:latin typeface="Calibri"/>
              </a:rPr>
              <a:t>Experts first label a small medical-image gold set</a:t>
            </a:r>
          </a:p>
          <a:p>
            <a:pPr lvl="0" marL="457200" indent="-228600">
              <a:buFont typeface="Calibri"/>
              <a:spcAft>
                <a:spcPts val="1000"/>
              </a:spcAft>
              <a:buSzPct val="100000"/>
              <a:buChar char="•"/>
              <a:lnSpc>
                <a:spcPts val="2200"/>
              </a:lnSpc>
            </a:pPr>
            <a:r>
              <a:rPr sz="2000" b="0">
                <a:solidFill>
                  <a:srgbClr val="333333"/>
                </a:solidFill>
                <a:latin typeface="Calibri"/>
              </a:rPr>
              <a:t>Crowds then label the remainder</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`modules/chapter11/example25/`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11.26 — Crowd Objects Expert Pathology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11.26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11.26 splits simple objects to the crowd and pathology to experts</a:t>
            </a:r>
          </a:p>
          <a:p>
            <a:pPr lvl="0" marL="457200" indent="-228600">
              <a:buFont typeface="Calibri"/>
              <a:spcAft>
                <a:spcPts val="1000"/>
              </a:spcAft>
              <a:buSzPct val="100000"/>
              <a:buChar char="•"/>
              <a:lnSpc>
                <a:spcPts val="2200"/>
              </a:lnSpc>
            </a:pPr>
            <a:r>
              <a:rPr sz="2000" b="0">
                <a:solidFill>
                  <a:srgbClr val="333333"/>
                </a:solidFill>
                <a:latin typeface="Calibri"/>
              </a:rPr>
              <a:t>Crowd workers tag cars and trees in street scenes</a:t>
            </a:r>
          </a:p>
          <a:p>
            <a:pPr lvl="0" marL="457200" indent="-228600">
              <a:buFont typeface="Calibri"/>
              <a:spcAft>
                <a:spcPts val="1000"/>
              </a:spcAft>
              <a:buSzPct val="100000"/>
              <a:buChar char="•"/>
              <a:lnSpc>
                <a:spcPts val="2200"/>
              </a:lnSpc>
            </a:pPr>
            <a:r>
              <a:rPr sz="2000" b="0">
                <a:solidFill>
                  <a:srgbClr val="333333"/>
                </a:solidFill>
                <a:latin typeface="Calibri"/>
              </a:rPr>
              <a:t>Difficulty, not platform preference alone, drives who sees which item</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`modules/chapter11/example26/`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Active learning in the hybrid queue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Active learning can sit inside the hybrid workforce</a:t>
            </a:r>
          </a:p>
          <a:p>
            <a:pPr lvl="0" marL="457200" indent="-228600">
              <a:buFont typeface="Calibri"/>
              <a:spcAft>
                <a:spcPts val="1000"/>
              </a:spcAft>
              <a:buSzPct val="100000"/>
              <a:buChar char="•"/>
              <a:lnSpc>
                <a:spcPts val="2200"/>
              </a:lnSpc>
            </a:pPr>
            <a:r>
              <a:rPr sz="2000" b="0">
                <a:solidFill>
                  <a:srgbClr val="333333"/>
                </a:solidFill>
                <a:latin typeface="Calibri"/>
              </a:rPr>
              <a:t>A model trained on a small expert seed set queries the most uncertain items for experts</a:t>
            </a:r>
          </a:p>
          <a:p>
            <a:pPr lvl="0" marL="457200" indent="-228600">
              <a:buFont typeface="Calibri"/>
              <a:spcAft>
                <a:spcPts val="1000"/>
              </a:spcAft>
              <a:buSzPct val="100000"/>
              <a:buChar char="•"/>
              <a:lnSpc>
                <a:spcPts val="2200"/>
              </a:lnSpc>
            </a:pPr>
            <a:r>
              <a:rPr sz="2000" b="0">
                <a:solidFill>
                  <a:srgbClr val="333333"/>
                </a:solidFill>
                <a:latin typeface="Calibri"/>
              </a:rPr>
              <a:t>That routing shrinks expert hours while protecting hard cases that would otherwise pollute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11.28 — Active Learning Routes Hard Cases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11.28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11.28 routes uncertain NLP items to experts via active learning</a:t>
            </a:r>
          </a:p>
          <a:p>
            <a:pPr lvl="0" marL="457200" indent="-228600">
              <a:buFont typeface="Calibri"/>
              <a:spcAft>
                <a:spcPts val="1000"/>
              </a:spcAft>
              <a:buSzPct val="100000"/>
              <a:buChar char="•"/>
              <a:lnSpc>
                <a:spcPts val="2200"/>
              </a:lnSpc>
            </a:pPr>
            <a:r>
              <a:rPr sz="2000" b="0">
                <a:solidFill>
                  <a:srgbClr val="333333"/>
                </a:solidFill>
                <a:latin typeface="Calibri"/>
              </a:rPr>
              <a:t>Shrinking expert hours while protecting hard cases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`modules/chapter11/example28/`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11.29 — Hybrid Cost Savings Pattern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11.29 — hands-on module</a:t>
            </a:r>
          </a:p>
          <a:p>
            <a:pPr lvl="0" marL="457200" indent="-228600">
              <a:buFont typeface="Calibri"/>
              <a:spcAft>
                <a:spcPts val="1000"/>
              </a:spcAft>
              <a:buSzPct val="100000"/>
              <a:buChar char="•"/>
              <a:lnSpc>
                <a:spcPts val="2200"/>
              </a:lnSpc>
            </a:pPr>
            <a:r>
              <a:rPr sz="2000" b="0">
                <a:solidFill>
                  <a:srgbClr val="333333"/>
                </a:solidFill>
                <a:latin typeface="Calibri"/>
              </a:rPr>
              <a:t>Hybrid benefits include cost efficiency</a:t>
            </a:r>
          </a:p>
          <a:p>
            <a:pPr lvl="0" marL="457200" indent="-228600">
              <a:buFont typeface="Calibri"/>
              <a:spcAft>
                <a:spcPts val="1000"/>
              </a:spcAft>
              <a:buSzPct val="100000"/>
              <a:buChar char="•"/>
              <a:lnSpc>
                <a:spcPts val="2200"/>
              </a:lnSpc>
            </a:pPr>
            <a:r>
              <a:rPr sz="2000" b="0">
                <a:solidFill>
                  <a:srgbClr val="333333"/>
                </a:solidFill>
                <a:latin typeface="Calibri"/>
              </a:rPr>
              <a:t>Example 11.29 summarizes the hybrid cost pattern</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`modules/chapter11/example29/`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Quality, speed, and looking ahead</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Hybrid quality control uses expert oversight of crowd batches and guideline updates when</a:t>
            </a:r>
          </a:p>
          <a:p>
            <a:pPr lvl="0" marL="457200" indent="-228600">
              <a:buFont typeface="Calibri"/>
              <a:spcAft>
                <a:spcPts val="1000"/>
              </a:spcAft>
              <a:buSzPct val="100000"/>
              <a:buChar char="•"/>
              <a:lnSpc>
                <a:spcPts val="2200"/>
              </a:lnSpc>
            </a:pPr>
            <a:r>
              <a:rPr sz="2000" b="0">
                <a:solidFill>
                  <a:srgbClr val="333333"/>
                </a:solidFill>
                <a:latin typeface="Calibri"/>
              </a:rPr>
              <a:t>Crowds deliver overnight throughput on easy items while a smaller expert pool clears the</a:t>
            </a:r>
          </a:p>
          <a:p>
            <a:pPr lvl="0" marL="457200" indent="-228600">
              <a:buFont typeface="Calibri"/>
              <a:spcAft>
                <a:spcPts val="1000"/>
              </a:spcAft>
              <a:buSzPct val="100000"/>
              <a:buChar char="•"/>
              <a:lnSpc>
                <a:spcPts val="2200"/>
              </a:lnSpc>
            </a:pPr>
            <a:r>
              <a:rPr sz="2000" b="0">
                <a:solidFill>
                  <a:srgbClr val="333333"/>
                </a:solidFill>
                <a:latin typeface="Calibri"/>
              </a:rPr>
              <a:t>Move next to scalable storage and lineage for large labeled corpora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Hybrid pipelines assign routine volume to crowds and reserve experts for gold</a:t>
            </a:r>
          </a:p>
          <a:p>
            <a:pPr lvl="0" marL="457200" indent="-228600">
              <a:buFont typeface="Calibri"/>
              <a:spcAft>
                <a:spcPts val="1000"/>
              </a:spcAft>
              <a:buSzPct val="100000"/>
              <a:buChar char="•"/>
              <a:lnSpc>
                <a:spcPts val="2200"/>
              </a:lnSpc>
            </a:pPr>
            <a:r>
              <a:rPr sz="2000" b="0">
                <a:solidFill>
                  <a:srgbClr val="333333"/>
                </a:solidFill>
                <a:latin typeface="Calibri"/>
              </a:rPr>
              <a:t>Active learning can route uncertainty to the right workforce tier</a:t>
            </a:r>
          </a:p>
          <a:p>
            <a:pPr lvl="0" marL="457200" indent="-228600">
              <a:buFont typeface="Calibri"/>
              <a:spcAft>
                <a:spcPts val="1000"/>
              </a:spcAft>
              <a:buSzPct val="100000"/>
              <a:buChar char="•"/>
              <a:lnSpc>
                <a:spcPts val="2200"/>
              </a:lnSpc>
            </a:pPr>
            <a:r>
              <a:rPr sz="2000" b="0">
                <a:solidFill>
                  <a:srgbClr val="333333"/>
                </a:solidFill>
                <a:latin typeface="Calibri"/>
              </a:rPr>
              <a:t>Cost, quality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This chapter’s clip sequence is complete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Advanced Annotation Techniques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