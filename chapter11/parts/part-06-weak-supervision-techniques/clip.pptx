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Knowing that weak signals exist is not enough; teams need methods that combine them into usable training labels. This part covers programmatic labeling with Snorkel-style labeling functions, heuristic rules, and data programming that outputs probabilistic labels.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labeling functions and how Snorkel-style systems combine conflicting weak labels; explain heuristic-based rule labeling and refinement; and summarize data programming that learns source reliability and emits probabilistic labels.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Snorkel is a framework for generating large-scale labeled datasets by combining weak signals from multiple sources into probabilistic training labels. Users write labeling functions—rules, heuristics, or weak classifiers—that vote on subsets of the data. A generative model estimates source accuracies and reconciles conflicts without requiring a full hand-labeled corpus.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11.14 sketches a Snorkel-style labeling-function workflow. Analysts write heuristic labeling functions such as keyword lists, regular expressions, and weak classifiers over email text; Snorkel estimates source accuracies and outputs probabilistic training labels. The example 14 module for this chapter summarizes that spam labeling-function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labeling function may cover only part of the data and may conflict with others. Snorkel uses a probabilistic graphical model and expectation-maximization to refine weights for each function and infer likely true labels. The resulting probabilistic labels then train a discriminative model, reducing dependence on expensive manual annotation.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Heuristic-based labeling writes if-then rules that automatically assign labels when patterns match. Rules are often domain-specific and sparse: they cover some items well and miss edge cases. Experts can validate a small subset and refine rules over time, as in medical-text heuristics that flag malignancy keywords versus benign language.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Heuristics inject domain knowledge quickly and run at scale, which makes them efficient and customizable. Limits include noise, sparse coverage, and brittleness on edge cases. Heuristics therefore pair best with aggregation methods and small gold audits rather than standing alone as final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programming combines multiple weak sources into probabilistic labels rather than hard one-hot assignments. The method learns each labeling function’s reliability—for example that a keyword rule is only about eighty percent accurate—then weights votes accordingly. Downstream models train on soft labels that reflect uncertainty instead of pretending every weak vote is certain.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Snorkel-style labeling functions turn heuristics and weak classifiers into aggregated training labels. Heuristic rules scale domain knowledge but need refinement and audits. Data programming learns source quality and emits probabilistic labels that handle conflict and noise more gracefully than hard votes alone.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introduces self-supervised learning: postponing task labels by training on unlabeled structure through pretext tasks and contrastive pretraining before fine-tuning.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11 — Techniques in weak supervision</a:t>
            </a:r>
          </a:p>
          <a:p>
            <a:pPr algn="ctr">
              <a:lnSpc>
                <a:spcPts val="2200"/>
              </a:lnSpc>
              <a:spcBef>
                <a:spcPts val="1400"/>
              </a:spcBef>
            </a:pPr>
            <a:r>
              <a:rPr sz="2600" b="0">
                <a:solidFill>
                  <a:srgbClr val="333333"/>
                </a:solidFill>
                <a:latin typeface="Calibri"/>
              </a:rPr>
              <a:t>Knowing that weak signals exist is not enough; teams need methods that combine them into usable training labels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Techniques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Techniques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Programmatic labeling with Snorkel</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Snorkel is a framework for generating large-scale labeled datasets by combining weak</a:t>
            </a:r>
          </a:p>
          <a:p>
            <a:pPr>
              <a:spcAft>
                <a:spcPts val="1000"/>
              </a:spcAft>
              <a:buChar char="•"/>
              <a:lnSpc>
                <a:spcPts val="2200"/>
              </a:lnSpc>
            </a:pPr>
            <a:r>
              <a:rPr sz="2000" b="0">
                <a:solidFill>
                  <a:srgbClr val="333333"/>
                </a:solidFill>
                <a:latin typeface="Calibri"/>
              </a:rPr>
              <a:t>Users write labeling functions</a:t>
            </a:r>
          </a:p>
          <a:p>
            <a:pPr>
              <a:spcAft>
                <a:spcPts val="1000"/>
              </a:spcAft>
              <a:buChar char="•"/>
              <a:lnSpc>
                <a:spcPts val="2200"/>
              </a:lnSpc>
            </a:pPr>
            <a:r>
              <a:rPr sz="2000" b="0">
                <a:solidFill>
                  <a:srgbClr val="333333"/>
                </a:solidFill>
                <a:latin typeface="Calibri"/>
              </a:rPr>
              <a:t>A generative model estimates source accuracies and reconciles conflicts without requiring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Techniques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11.14 — Labeling Functions for Spam Detection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11.14 — hands-on module</a:t>
            </a:r>
          </a:p>
          <a:p>
            <a:pPr>
              <a:spcAft>
                <a:spcPts val="1000"/>
              </a:spcAft>
              <a:buChar char="•"/>
              <a:lnSpc>
                <a:spcPts val="2200"/>
              </a:lnSpc>
            </a:pPr>
            <a:r>
              <a:rPr sz="2000" b="0">
                <a:solidFill>
                  <a:srgbClr val="333333"/>
                </a:solidFill>
                <a:latin typeface="Calibri"/>
              </a:rPr>
              <a:t>Example 11.14 sketches a Snorkel-style labeling-function workflow</a:t>
            </a:r>
          </a:p>
          <a:p>
            <a:pPr>
              <a:spcAft>
                <a:spcPts val="1000"/>
              </a:spcAft>
              <a:buChar char="•"/>
              <a:lnSpc>
                <a:spcPts val="2200"/>
              </a:lnSpc>
            </a:pPr>
            <a:r>
              <a:rPr sz="2000" b="0">
                <a:solidFill>
                  <a:srgbClr val="333333"/>
                </a:solidFill>
                <a:latin typeface="Calibri"/>
              </a:rPr>
              <a:t>Snorkel estimates source accuracies and outputs probabilistic training labels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`modules/chapter11/example14/`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Techniques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11.14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11.14 — heuristic labeling functions for weak spam</a:t>
            </a:r>
          </a:p>
          <a:p>
            <a:pPr>
              <a:lnSpc>
                <a:spcPts val="2200"/>
              </a:lnSpc>
              <a:spcAft>
                <a:spcPts val="400"/>
              </a:spcAft>
            </a:pPr>
            <a:r>
              <a:rPr sz="2000" b="0">
                <a:solidFill>
                  <a:srgbClr val="333333"/>
                </a:solidFill>
                <a:latin typeface="Consolas"/>
              </a:rPr>
              <a:t>supervision."""</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collections import Counter</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lf_keywords(text: str) -&gt; int:</a:t>
            </a:r>
          </a:p>
          <a:p>
            <a:pPr>
              <a:lnSpc>
                <a:spcPts val="2200"/>
              </a:lnSpc>
              <a:spcAft>
                <a:spcPts val="400"/>
              </a:spcAft>
            </a:pPr>
            <a:r>
              <a:rPr sz="2000" b="0">
                <a:solidFill>
                  <a:srgbClr val="333333"/>
                </a:solidFill>
                <a:latin typeface="Consolas"/>
              </a:rPr>
              <a:t>    """Label +1 spam if promotional keywords appear, else abstain</a:t>
            </a:r>
          </a:p>
          <a:p>
            <a:pPr>
              <a:lnSpc>
                <a:spcPts val="2200"/>
              </a:lnSpc>
              <a:spcAft>
                <a:spcPts val="400"/>
              </a:spcAft>
            </a:pPr>
            <a:r>
              <a:rPr sz="2000" b="0">
                <a:solidFill>
                  <a:srgbClr val="333333"/>
                </a:solidFill>
                <a:latin typeface="Consolas"/>
              </a:rPr>
              <a:t>(0)."""</a:t>
            </a:r>
          </a:p>
          <a:p>
            <a:pPr>
              <a:lnSpc>
                <a:spcPts val="2200"/>
              </a:lnSpc>
              <a:spcAft>
                <a:spcPts val="400"/>
              </a:spcAft>
            </a:pPr>
            <a:r>
              <a:rPr sz="2000" b="0">
                <a:solidFill>
                  <a:srgbClr val="333333"/>
                </a:solidFill>
                <a:latin typeface="Consolas"/>
              </a:rPr>
              <a:t>    keywords = ("free", "win", "prize", "click now")</a:t>
            </a:r>
          </a:p>
          <a:p>
            <a:pPr>
              <a:lnSpc>
                <a:spcPts val="2200"/>
              </a:lnSpc>
              <a:spcAft>
                <a:spcPts val="400"/>
              </a:spcAft>
            </a:pPr>
            <a:r>
              <a:rPr sz="2000" b="0">
                <a:solidFill>
                  <a:srgbClr val="333333"/>
                </a:solidFill>
                <a:latin typeface="Consolas"/>
              </a:rPr>
              <a:t>    lowered = text.lower()</a:t>
            </a:r>
          </a:p>
          <a:p>
            <a:pPr>
              <a:lnSpc>
                <a:spcPts val="2200"/>
              </a:lnSpc>
              <a:spcAft>
                <a:spcPts val="400"/>
              </a:spcAft>
            </a:pPr>
            <a:r>
              <a:rPr sz="2000" b="0">
                <a:solidFill>
                  <a:srgbClr val="333333"/>
                </a:solidFill>
                <a:latin typeface="Consolas"/>
              </a:rPr>
              <a:t>    return 1 if any(word in lowered for word in keywords) else 0</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lf_regex_money(text: str) -&gt; int:</a:t>
            </a:r>
          </a:p>
          <a:p>
            <a:pPr>
              <a:lnSpc>
                <a:spcPts val="2200"/>
              </a:lnSpc>
              <a:spcAft>
                <a:spcPts val="400"/>
              </a:spcAft>
            </a:pPr>
            <a:r>
              <a:rPr sz="2000" b="0">
                <a:solidFill>
                  <a:srgbClr val="333333"/>
                </a:solidFill>
                <a:latin typeface="Consolas"/>
              </a:rPr>
              <a:t>    """Label +1 spam if a $amount pattern appears, else abstain."""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Techniques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conflicting labels are combined</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Each labeling function may cover only part of the data and may conflict with others</a:t>
            </a:r>
          </a:p>
          <a:p>
            <a:pPr>
              <a:spcAft>
                <a:spcPts val="1000"/>
              </a:spcAft>
              <a:buChar char="•"/>
              <a:lnSpc>
                <a:spcPts val="2200"/>
              </a:lnSpc>
            </a:pPr>
            <a:r>
              <a:rPr sz="2000" b="0">
                <a:solidFill>
                  <a:srgbClr val="333333"/>
                </a:solidFill>
                <a:latin typeface="Calibri"/>
              </a:rPr>
              <a:t>Snorkel uses a probabilistic graphical model and expectation-maximization to refine</a:t>
            </a:r>
          </a:p>
          <a:p>
            <a:pPr>
              <a:spcAft>
                <a:spcPts val="1000"/>
              </a:spcAft>
              <a:buChar char="•"/>
              <a:lnSpc>
                <a:spcPts val="2200"/>
              </a:lnSpc>
            </a:pPr>
            <a:r>
              <a:rPr sz="2000" b="0">
                <a:solidFill>
                  <a:srgbClr val="333333"/>
                </a:solidFill>
                <a:latin typeface="Calibri"/>
              </a:rPr>
              <a:t>The resulting probabilistic labels then train a discriminative model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Techniques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Heuristic-based labeling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Heuristic-based labeling writes if-then rules that automatically assign labels when</a:t>
            </a:r>
          </a:p>
          <a:p>
            <a:pPr>
              <a:spcAft>
                <a:spcPts val="1000"/>
              </a:spcAft>
              <a:buChar char="•"/>
              <a:lnSpc>
                <a:spcPts val="2200"/>
              </a:lnSpc>
            </a:pPr>
            <a:r>
              <a:rPr sz="2000" b="0">
                <a:solidFill>
                  <a:srgbClr val="333333"/>
                </a:solidFill>
                <a:latin typeface="Calibri"/>
              </a:rPr>
              <a:t>Rules are often domain-specific and sparse: they cover some items well and miss edge cases</a:t>
            </a:r>
          </a:p>
          <a:p>
            <a:pPr>
              <a:spcAft>
                <a:spcPts val="1000"/>
              </a:spcAft>
              <a:buChar char="•"/>
              <a:lnSpc>
                <a:spcPts val="2200"/>
              </a:lnSpc>
            </a:pPr>
            <a:r>
              <a:rPr sz="2000" b="0">
                <a:solidFill>
                  <a:srgbClr val="333333"/>
                </a:solidFill>
                <a:latin typeface="Calibri"/>
              </a:rPr>
              <a:t>Experts can validate a small subset and refine rules over time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Techniques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Benefits and limits of heuristics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Heuristics inject domain knowledge quickly and run at scale</a:t>
            </a:r>
          </a:p>
          <a:p>
            <a:pPr>
              <a:spcAft>
                <a:spcPts val="1000"/>
              </a:spcAft>
              <a:buChar char="•"/>
              <a:lnSpc>
                <a:spcPts val="2200"/>
              </a:lnSpc>
            </a:pPr>
            <a:r>
              <a:rPr sz="2000" b="0">
                <a:solidFill>
                  <a:srgbClr val="333333"/>
                </a:solidFill>
                <a:latin typeface="Calibri"/>
              </a:rPr>
              <a:t>Limits include noise, sparse coverage, and brittleness on edge cases</a:t>
            </a:r>
          </a:p>
          <a:p>
            <a:pPr>
              <a:spcAft>
                <a:spcPts val="1000"/>
              </a:spcAft>
              <a:buChar char="•"/>
              <a:lnSpc>
                <a:spcPts val="2200"/>
              </a:lnSpc>
            </a:pPr>
            <a:r>
              <a:rPr sz="2000" b="0">
                <a:solidFill>
                  <a:srgbClr val="333333"/>
                </a:solidFill>
                <a:latin typeface="Calibri"/>
              </a:rPr>
              <a:t>Heuristics therefore pair best with aggregation methods and small gold audits rather than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Techniques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 programming and probabilistic labels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 programming combines multiple weak sources into probabilistic labels rather than hard</a:t>
            </a:r>
          </a:p>
          <a:p>
            <a:pPr>
              <a:spcAft>
                <a:spcPts val="1000"/>
              </a:spcAft>
              <a:buChar char="•"/>
              <a:lnSpc>
                <a:spcPts val="2200"/>
              </a:lnSpc>
            </a:pPr>
            <a:r>
              <a:rPr sz="2000" b="0">
                <a:solidFill>
                  <a:srgbClr val="333333"/>
                </a:solidFill>
                <a:latin typeface="Calibri"/>
              </a:rPr>
              <a:t>The method learns each labeling function’s reliability</a:t>
            </a:r>
          </a:p>
          <a:p>
            <a:pPr>
              <a:spcAft>
                <a:spcPts val="1000"/>
              </a:spcAft>
              <a:buChar char="•"/>
              <a:lnSpc>
                <a:spcPts val="2200"/>
              </a:lnSpc>
            </a:pPr>
            <a:r>
              <a:rPr sz="2000" b="0">
                <a:solidFill>
                  <a:srgbClr val="333333"/>
                </a:solidFill>
                <a:latin typeface="Calibri"/>
              </a:rPr>
              <a:t>Downstream models train on soft labels that reflect uncertainty instead of pretending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Techniques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Snorkel-style labeling functions turn heuristics and weak classifiers into aggregated</a:t>
            </a:r>
          </a:p>
          <a:p>
            <a:pPr>
              <a:spcAft>
                <a:spcPts val="1000"/>
              </a:spcAft>
              <a:buChar char="•"/>
              <a:lnSpc>
                <a:spcPts val="2200"/>
              </a:lnSpc>
            </a:pPr>
            <a:r>
              <a:rPr sz="2000" b="0">
                <a:solidFill>
                  <a:srgbClr val="333333"/>
                </a:solidFill>
                <a:latin typeface="Calibri"/>
              </a:rPr>
              <a:t>Heuristic rules scale domain knowledge but need refinement and audits</a:t>
            </a:r>
          </a:p>
          <a:p>
            <a:pPr>
              <a:spcAft>
                <a:spcPts val="1000"/>
              </a:spcAft>
              <a:buChar char="•"/>
              <a:lnSpc>
                <a:spcPts val="2200"/>
              </a:lnSpc>
            </a:pPr>
            <a:r>
              <a:rPr sz="2000" b="0">
                <a:solidFill>
                  <a:srgbClr val="333333"/>
                </a:solidFill>
                <a:latin typeface="Calibri"/>
              </a:rPr>
              <a:t>Data programming learns source quality and emits probabilistic labels that handle conflict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Techniques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introduces self-supervised learning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Techniques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