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Neither crowd-only nor expert-only staffing is optimal for mixed schemas. This final part shows hybrid patterns: expert gold then crowd scale-up, crowd for routine objects and experts for pathology, active routing of hard cases, and cost–quality–speed benefits that close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describe hybrid pipelines that seed gold with experts and scale with crowds; split routine versus expert-critical items; integrate active learning to route hard cases; and summarize cost, quality, and speed benefits of hybrid staffing.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approaches balance cost, speed, and quality by using crowdsourcing for large-scale simpler tasks and experts for complex or high-stakes tasks. A useful pattern invests scarce experts where schema and gold labels are defined, then uses crowd or open throughput where volume—not raw clinical judgment—is the bottleneck.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11.25 seeds crowd work with an expert gold set. Experts first label a small medical-image gold set. Crowds then label the remainder, while experts audit random batches and adjudicate disagreements against that gold set. The example 25 module for this chapter summarizes that two-phase pattern.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11.26 splits simple objects to the crowd and pathology to experts. Crowd workers tag cars and trees in street scenes, while pathologists label rare lesion types in the same campaign’s medical subset. Difficulty—not platform preference alone—drives who sees which item. The example 26 module for this chapter frames that split.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Active learning can sit inside the hybrid workforce. A model trained on a small expert seed set queries the most uncertain items for experts and sends high-confidence items to crowds. That routing shrinks expert hours while protecting hard cases that would otherwise pollute training if labeled carelessly.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11.28 routes uncertain NLP items to experts via active learning. An NLP model trained on a small expert seed set queues low-confidence sentences to experts and high-confidence ones to crowds, shrinking expert hours while protecting hard cases. The example 28 module for this chapter describes that routing loop.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benefits include cost efficiency: crowds handle routine boxes while experts adjudicate. Example 11.29 summarizes the hybrid cost pattern: a hybrid plan pays crowds for routine boxes and experts for adjudication, cutting total labeling spend without dropping gold-set quality. The example 29 module for this chapter covers that cost pattern.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quality control uses expert oversight of crowd batches and guideline updates when systematic errors appear. Crowds deliver overnight throughput on easy items while a smaller expert pool clears the uncertain queue. Pair these strategies with synthetic augmentation only after validation, keep fairness and QC checks on weak or crowd labels, and move next to scalable storage and lineage for large labeled corpora.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pipelines assign routine volume to crowds and reserve experts for gold, adjudication, and hard cases. Active learning can route uncertainty to the right workforce tier. Cost, quality, and speed improve together when difficulty drives staffing—not when one workforce does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chapter’s clip sequence is complete. Continue to Chapter 12 for scalable storage, versioning, and lineage for the large labeled corpora that active learning, weak supervision, self-supervision, and hybrid pipelines produce. Complete the quiz for this part before leaving the chapter path.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11 — Hybrid annotation pipelines</a:t>
            </a:r>
          </a:p>
          <a:p>
            <a:pPr algn="ctr">
              <a:lnSpc>
                <a:spcPts val="2200"/>
              </a:lnSpc>
              <a:spcBef>
                <a:spcPts val="1400"/>
              </a:spcBef>
            </a:pPr>
            <a:r>
              <a:rPr sz="2600" b="0">
                <a:solidFill>
                  <a:srgbClr val="333333"/>
                </a:solidFill>
                <a:latin typeface="Calibri"/>
              </a:rPr>
              <a:t>Neither crowd-only nor expert-only staffing is optimal for mixed schemas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Hybrid Annotation Pipelines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Speed benefits of hybrid staffing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Hybrid Annotation Pipelines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hybrid approaches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Hybrid approaches balance cost, speed</a:t>
            </a:r>
          </a:p>
          <a:p>
            <a:pPr>
              <a:spcAft>
                <a:spcPts val="1000"/>
              </a:spcAft>
              <a:buChar char="•"/>
              <a:lnSpc>
                <a:spcPts val="2200"/>
              </a:lnSpc>
            </a:pPr>
            <a:r>
              <a:rPr sz="2000" b="0">
                <a:solidFill>
                  <a:srgbClr val="333333"/>
                </a:solidFill>
                <a:latin typeface="Calibri"/>
              </a:rPr>
              <a:t>A useful pattern invests scarce experts where schema and gold labels are defined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Hybrid Annotation Pipelines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11.25 — Expert Gold Then Crowd Scale-Up</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11.25 — hands-on module</a:t>
            </a:r>
          </a:p>
          <a:p>
            <a:pPr>
              <a:spcAft>
                <a:spcPts val="1000"/>
              </a:spcAft>
              <a:buChar char="•"/>
              <a:lnSpc>
                <a:spcPts val="2200"/>
              </a:lnSpc>
            </a:pPr>
            <a:r>
              <a:rPr sz="2000" b="0">
                <a:solidFill>
                  <a:srgbClr val="333333"/>
                </a:solidFill>
                <a:latin typeface="Calibri"/>
              </a:rPr>
              <a:t>Example 11.25 seeds crowd work with an expert gold set</a:t>
            </a:r>
          </a:p>
          <a:p>
            <a:pPr>
              <a:spcAft>
                <a:spcPts val="1000"/>
              </a:spcAft>
              <a:buChar char="•"/>
              <a:lnSpc>
                <a:spcPts val="2200"/>
              </a:lnSpc>
            </a:pPr>
            <a:r>
              <a:rPr sz="2000" b="0">
                <a:solidFill>
                  <a:srgbClr val="333333"/>
                </a:solidFill>
                <a:latin typeface="Calibri"/>
              </a:rPr>
              <a:t>Experts first label a small medical-image gold set</a:t>
            </a:r>
          </a:p>
          <a:p>
            <a:pPr>
              <a:spcAft>
                <a:spcPts val="1000"/>
              </a:spcAft>
              <a:buChar char="•"/>
              <a:lnSpc>
                <a:spcPts val="2200"/>
              </a:lnSpc>
            </a:pPr>
            <a:r>
              <a:rPr sz="2000" b="0">
                <a:solidFill>
                  <a:srgbClr val="333333"/>
                </a:solidFill>
                <a:latin typeface="Calibri"/>
              </a:rPr>
              <a:t>Crowds then label the remainder</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`modules/chapter11/example25/`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Hybrid Annotation Pipelines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11.26 — Crowd Objects Expert Pathology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11.26 — hands-on module</a:t>
            </a:r>
          </a:p>
          <a:p>
            <a:pPr>
              <a:spcAft>
                <a:spcPts val="1000"/>
              </a:spcAft>
              <a:buChar char="•"/>
              <a:lnSpc>
                <a:spcPts val="2200"/>
              </a:lnSpc>
            </a:pPr>
            <a:r>
              <a:rPr sz="2000" b="0">
                <a:solidFill>
                  <a:srgbClr val="333333"/>
                </a:solidFill>
                <a:latin typeface="Calibri"/>
              </a:rPr>
              <a:t>Example 11.26 splits simple objects to the crowd and pathology to experts</a:t>
            </a:r>
          </a:p>
          <a:p>
            <a:pPr>
              <a:spcAft>
                <a:spcPts val="1000"/>
              </a:spcAft>
              <a:buChar char="•"/>
              <a:lnSpc>
                <a:spcPts val="2200"/>
              </a:lnSpc>
            </a:pPr>
            <a:r>
              <a:rPr sz="2000" b="0">
                <a:solidFill>
                  <a:srgbClr val="333333"/>
                </a:solidFill>
                <a:latin typeface="Calibri"/>
              </a:rPr>
              <a:t>Crowd workers tag cars and trees in street scenes</a:t>
            </a:r>
          </a:p>
          <a:p>
            <a:pPr>
              <a:spcAft>
                <a:spcPts val="1000"/>
              </a:spcAft>
              <a:buChar char="•"/>
              <a:lnSpc>
                <a:spcPts val="2200"/>
              </a:lnSpc>
            </a:pPr>
            <a:r>
              <a:rPr sz="2000" b="0">
                <a:solidFill>
                  <a:srgbClr val="333333"/>
                </a:solidFill>
                <a:latin typeface="Calibri"/>
              </a:rPr>
              <a:t>Difficulty, not platform preference alone, drives who sees which item</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`modules/chapter11/example26/`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Hybrid Annotation Pipelines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Active learning in the hybrid queue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Active learning can sit inside the hybrid workforce</a:t>
            </a:r>
          </a:p>
          <a:p>
            <a:pPr>
              <a:spcAft>
                <a:spcPts val="1000"/>
              </a:spcAft>
              <a:buChar char="•"/>
              <a:lnSpc>
                <a:spcPts val="2200"/>
              </a:lnSpc>
            </a:pPr>
            <a:r>
              <a:rPr sz="2000" b="0">
                <a:solidFill>
                  <a:srgbClr val="333333"/>
                </a:solidFill>
                <a:latin typeface="Calibri"/>
              </a:rPr>
              <a:t>A model trained on a small expert seed set queries the most uncertain items for experts</a:t>
            </a:r>
          </a:p>
          <a:p>
            <a:pPr>
              <a:spcAft>
                <a:spcPts val="1000"/>
              </a:spcAft>
              <a:buChar char="•"/>
              <a:lnSpc>
                <a:spcPts val="2200"/>
              </a:lnSpc>
            </a:pPr>
            <a:r>
              <a:rPr sz="2000" b="0">
                <a:solidFill>
                  <a:srgbClr val="333333"/>
                </a:solidFill>
                <a:latin typeface="Calibri"/>
              </a:rPr>
              <a:t>That routing shrinks expert hours while protecting hard cases that would otherwise pollute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Hybrid Annotation Pipelines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11.28 — Active Learning Routes Hard Cases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11.28 — hands-on module</a:t>
            </a:r>
          </a:p>
          <a:p>
            <a:pPr>
              <a:spcAft>
                <a:spcPts val="1000"/>
              </a:spcAft>
              <a:buChar char="•"/>
              <a:lnSpc>
                <a:spcPts val="2200"/>
              </a:lnSpc>
            </a:pPr>
            <a:r>
              <a:rPr sz="2000" b="0">
                <a:solidFill>
                  <a:srgbClr val="333333"/>
                </a:solidFill>
                <a:latin typeface="Calibri"/>
              </a:rPr>
              <a:t>Example 11.28 routes uncertain NLP items to experts via active learning</a:t>
            </a:r>
          </a:p>
          <a:p>
            <a:pPr>
              <a:spcAft>
                <a:spcPts val="1000"/>
              </a:spcAft>
              <a:buChar char="•"/>
              <a:lnSpc>
                <a:spcPts val="2200"/>
              </a:lnSpc>
            </a:pPr>
            <a:r>
              <a:rPr sz="2000" b="0">
                <a:solidFill>
                  <a:srgbClr val="333333"/>
                </a:solidFill>
                <a:latin typeface="Calibri"/>
              </a:rPr>
              <a:t>Shrinking expert hours while protecting hard cases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`modules/chapter11/example28/`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Hybrid Annotation Pipelines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11.29 — Hybrid Cost Savings Pattern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11.29 — hands-on module</a:t>
            </a:r>
          </a:p>
          <a:p>
            <a:pPr>
              <a:spcAft>
                <a:spcPts val="1000"/>
              </a:spcAft>
              <a:buChar char="•"/>
              <a:lnSpc>
                <a:spcPts val="2200"/>
              </a:lnSpc>
            </a:pPr>
            <a:r>
              <a:rPr sz="2000" b="0">
                <a:solidFill>
                  <a:srgbClr val="333333"/>
                </a:solidFill>
                <a:latin typeface="Calibri"/>
              </a:rPr>
              <a:t>Hybrid benefits include cost efficiency</a:t>
            </a:r>
          </a:p>
          <a:p>
            <a:pPr>
              <a:spcAft>
                <a:spcPts val="1000"/>
              </a:spcAft>
              <a:buChar char="•"/>
              <a:lnSpc>
                <a:spcPts val="2200"/>
              </a:lnSpc>
            </a:pPr>
            <a:r>
              <a:rPr sz="2000" b="0">
                <a:solidFill>
                  <a:srgbClr val="333333"/>
                </a:solidFill>
                <a:latin typeface="Calibri"/>
              </a:rPr>
              <a:t>Example 11.29 summarizes the hybrid cost pattern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`modules/chapter11/example29/`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Hybrid Annotation Pipelines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Quality, speed, and looking ahead</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Hybrid quality control uses expert oversight of crowd batches and guideline updates when</a:t>
            </a:r>
          </a:p>
          <a:p>
            <a:pPr>
              <a:spcAft>
                <a:spcPts val="1000"/>
              </a:spcAft>
              <a:buChar char="•"/>
              <a:lnSpc>
                <a:spcPts val="2200"/>
              </a:lnSpc>
            </a:pPr>
            <a:r>
              <a:rPr sz="2000" b="0">
                <a:solidFill>
                  <a:srgbClr val="333333"/>
                </a:solidFill>
                <a:latin typeface="Calibri"/>
              </a:rPr>
              <a:t>Crowds deliver overnight throughput on easy items while a smaller expert pool clears the</a:t>
            </a:r>
          </a:p>
          <a:p>
            <a:pPr>
              <a:spcAft>
                <a:spcPts val="1000"/>
              </a:spcAft>
              <a:buChar char="•"/>
              <a:lnSpc>
                <a:spcPts val="2200"/>
              </a:lnSpc>
            </a:pPr>
            <a:r>
              <a:rPr sz="2000" b="0">
                <a:solidFill>
                  <a:srgbClr val="333333"/>
                </a:solidFill>
                <a:latin typeface="Calibri"/>
              </a:rPr>
              <a:t>Move next to scalable storage and lineage for large labeled corpora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Hybrid Annotation Pipelines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Hybrid pipelines assign routine volume to crowds and reserve experts for gold</a:t>
            </a:r>
          </a:p>
          <a:p>
            <a:pPr>
              <a:spcAft>
                <a:spcPts val="1000"/>
              </a:spcAft>
              <a:buChar char="•"/>
              <a:lnSpc>
                <a:spcPts val="2200"/>
              </a:lnSpc>
            </a:pPr>
            <a:r>
              <a:rPr sz="2000" b="0">
                <a:solidFill>
                  <a:srgbClr val="333333"/>
                </a:solidFill>
                <a:latin typeface="Calibri"/>
              </a:rPr>
              <a:t>Active learning can route uncertainty to the right workforce tier</a:t>
            </a:r>
          </a:p>
          <a:p>
            <a:pPr>
              <a:spcAft>
                <a:spcPts val="1000"/>
              </a:spcAft>
              <a:buChar char="•"/>
              <a:lnSpc>
                <a:spcPts val="2200"/>
              </a:lnSpc>
            </a:pPr>
            <a:r>
              <a:rPr sz="2000" b="0">
                <a:solidFill>
                  <a:srgbClr val="333333"/>
                </a:solidFill>
                <a:latin typeface="Calibri"/>
              </a:rPr>
              <a:t>Cost, quality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Hybrid Annotation Pipelines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This chapter’s clip sequence is complete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Hybrid Annotation Pipelines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