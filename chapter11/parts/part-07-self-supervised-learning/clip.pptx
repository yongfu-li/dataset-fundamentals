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still invents labels. Self-supervised learning postpones task labels by training on unlabeled structure through pretext tasks. This part defines self-supervision, contrasts it with supervised learning, and introduces contrastive pretraining before fine-tuning.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self-supervised learning and how it differs from supervised learning; explain the role of pretext tasks in learning transferable representations; and describe contrastive pretraining followed by fine-tuning on a small labeled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Supervised learning trains on input–label pairs, such as images tagged cat or dog. Self-supervised learning does not require manual task labels during pretraining. Instead, the model creates its own supervisory signal from the data by solving a pretext task that exploits inherent structure, then transfers the learned representation to a downstream task.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Pretext tasks force the model to learn useful features—spatial relationships, object structure, or contextual semantics—from unlabeled data. After pretraining, a smaller labeled set fine-tunes the model for classification, detection, or language understanding. This reduces labeling cost and can improve generalization when unlabeled corpora are abundant.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computer vision, common pretext tasks include jigsaw puzzle reassembly of shuffled patches, context prediction of masked image regions, and rotation prediction of randomly rotated images. Solving these proxies teaches spatial and semantic structure that later supports detection or classification without requiring class labels during pretraining.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natural language processing, masked language modeling asks the model to predict hidden tokens from context, as in BERT-style pretraining. Next-sentence prediction and text infilling teach discourse and local coherence. These tasks turn large unlabeled text corpora into representation learners before any sentiment or entity labels are collected.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Contrastive methods learn representations by pulling similar views of the same instance together and pushing dissimilar instances apart in embedding space. In vision, two augmented crops of one image form a positive pair. The resulting encoder captures discriminative features that transfer well when a linear head is fine-tuned on limited labels.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11.15 illustrates contrastive pretraining before fine-tuning. A vision encoder is pretrained with SimCLR-style contrastive loss on unlabeled product photos, then a small labeled set fine-tunes a linear head for category recognition, cutting the labels needed for competitive accuracy. The example 15 module for this chapter summarizes that pretrain-then-fine-tune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Self-supervised learning creates supervision from unlabeled structure via pretext tasks. It sits between supervised and unsupervised learning: unlabeled scale with structured objectives. Contrastive pretraining plus light fine-tuning is a practical recipe when downstream labels remain scarce.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self-supervised applications in computer vision, natural language processing, and time-series forecasting, emphasizing data efficiency when downstream labels remain scarce.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Introduction to self-supervised learning</a:t>
            </a:r>
          </a:p>
          <a:p>
            <a:pPr algn="ctr">
              <a:lnSpc>
                <a:spcPts val="2200"/>
              </a:lnSpc>
              <a:spcBef>
                <a:spcPts val="1400"/>
              </a:spcBef>
            </a:pPr>
            <a:r>
              <a:rPr sz="2600" b="0">
                <a:solidFill>
                  <a:srgbClr val="333333"/>
                </a:solidFill>
                <a:latin typeface="Calibri"/>
              </a:rPr>
              <a:t>Weak supervision still invents labels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versus supervised learning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Supervised learning trains on input–label pairs, such as images tagged cat or dog</a:t>
            </a:r>
          </a:p>
          <a:p>
            <a:pPr>
              <a:spcAft>
                <a:spcPts val="1000"/>
              </a:spcAft>
              <a:buChar char="•"/>
              <a:lnSpc>
                <a:spcPts val="2200"/>
              </a:lnSpc>
            </a:pPr>
            <a:r>
              <a:rPr sz="2000" b="0">
                <a:solidFill>
                  <a:srgbClr val="333333"/>
                </a:solidFill>
                <a:latin typeface="Calibri"/>
              </a:rPr>
              <a:t>Self-supervised learning does not require manual task labels during pretraining</a:t>
            </a:r>
          </a:p>
          <a:p>
            <a:pPr>
              <a:spcAft>
                <a:spcPts val="1000"/>
              </a:spcAft>
              <a:buChar char="•"/>
              <a:lnSpc>
                <a:spcPts val="2200"/>
              </a:lnSpc>
            </a:pPr>
            <a:r>
              <a:rPr sz="2000" b="0">
                <a:solidFill>
                  <a:srgbClr val="333333"/>
                </a:solidFill>
                <a:latin typeface="Calibri"/>
              </a:rPr>
              <a:t>Instead, the model creates its own supervisory signal from the data by solving a pretext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pretext tasks matter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Pretext tasks force the model to learn useful features</a:t>
            </a:r>
          </a:p>
          <a:p>
            <a:pPr>
              <a:spcAft>
                <a:spcPts val="1000"/>
              </a:spcAft>
              <a:buChar char="•"/>
              <a:lnSpc>
                <a:spcPts val="2200"/>
              </a:lnSpc>
            </a:pPr>
            <a:r>
              <a:rPr sz="2000" b="0">
                <a:solidFill>
                  <a:srgbClr val="333333"/>
                </a:solidFill>
                <a:latin typeface="Calibri"/>
              </a:rPr>
              <a:t>After pretraining</a:t>
            </a:r>
          </a:p>
          <a:p>
            <a:pPr>
              <a:spcAft>
                <a:spcPts val="1000"/>
              </a:spcAft>
              <a:buChar char="•"/>
              <a:lnSpc>
                <a:spcPts val="2200"/>
              </a:lnSpc>
            </a:pPr>
            <a:r>
              <a:rPr sz="2000" b="0">
                <a:solidFill>
                  <a:srgbClr val="333333"/>
                </a:solidFill>
                <a:latin typeface="Calibri"/>
              </a:rPr>
              <a:t>This reduces labeling cost and can improve generalization when unlabeled corpora 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Vision pretext examples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Rotation prediction of randomly rotated images</a:t>
            </a:r>
          </a:p>
          <a:p>
            <a:pPr>
              <a:spcAft>
                <a:spcPts val="1000"/>
              </a:spcAft>
              <a:buChar char="•"/>
              <a:lnSpc>
                <a:spcPts val="2200"/>
              </a:lnSpc>
            </a:pPr>
            <a:r>
              <a:rPr sz="2000" b="0">
                <a:solidFill>
                  <a:srgbClr val="333333"/>
                </a:solidFill>
                <a:latin typeface="Calibri"/>
              </a:rPr>
              <a:t>Solving these proxies teaches spatial and semantic structure that later supports detection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Language pretext examples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natural language processing</a:t>
            </a:r>
          </a:p>
          <a:p>
            <a:pPr>
              <a:spcAft>
                <a:spcPts val="1000"/>
              </a:spcAft>
              <a:buChar char="•"/>
              <a:lnSpc>
                <a:spcPts val="2200"/>
              </a:lnSpc>
            </a:pPr>
            <a:r>
              <a:rPr sz="2000" b="0">
                <a:solidFill>
                  <a:srgbClr val="333333"/>
                </a:solidFill>
                <a:latin typeface="Calibri"/>
              </a:rPr>
              <a:t>Next-sentence prediction and text infilling teach discourse and local coherence</a:t>
            </a:r>
          </a:p>
          <a:p>
            <a:pPr>
              <a:spcAft>
                <a:spcPts val="1000"/>
              </a:spcAft>
              <a:buChar char="•"/>
              <a:lnSpc>
                <a:spcPts val="2200"/>
              </a:lnSpc>
            </a:pPr>
            <a:r>
              <a:rPr sz="2000" b="0">
                <a:solidFill>
                  <a:srgbClr val="333333"/>
                </a:solidFill>
                <a:latin typeface="Calibri"/>
              </a:rPr>
              <a:t>These tasks turn large unlabeled text corpora into representation learners before any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Contrastive learning idea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Contrastive methods learn representations by pulling similar views of the same instance</a:t>
            </a:r>
          </a:p>
          <a:p>
            <a:pPr>
              <a:spcAft>
                <a:spcPts val="1000"/>
              </a:spcAft>
              <a:buChar char="•"/>
              <a:lnSpc>
                <a:spcPts val="2200"/>
              </a:lnSpc>
            </a:pPr>
            <a:r>
              <a:rPr sz="2000" b="0">
                <a:solidFill>
                  <a:srgbClr val="333333"/>
                </a:solidFill>
                <a:latin typeface="Calibri"/>
              </a:rPr>
              <a:t>In vision, two augmented crops of one image form a positive pair</a:t>
            </a:r>
          </a:p>
          <a:p>
            <a:pPr>
              <a:spcAft>
                <a:spcPts val="1000"/>
              </a:spcAft>
              <a:buChar char="•"/>
              <a:lnSpc>
                <a:spcPts val="2200"/>
              </a:lnSpc>
            </a:pPr>
            <a:r>
              <a:rPr sz="2000" b="0">
                <a:solidFill>
                  <a:srgbClr val="333333"/>
                </a:solidFill>
                <a:latin typeface="Calibri"/>
              </a:rPr>
              <a:t>The resulting encoder captures discriminative features that transfer well when a linear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11.15 — Contrastive Pretraining Then Fine-Tune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11.15 — hands-on module</a:t>
            </a:r>
          </a:p>
          <a:p>
            <a:pPr>
              <a:spcAft>
                <a:spcPts val="1000"/>
              </a:spcAft>
              <a:buChar char="•"/>
              <a:lnSpc>
                <a:spcPts val="2200"/>
              </a:lnSpc>
            </a:pPr>
            <a:r>
              <a:rPr sz="2000" b="0">
                <a:solidFill>
                  <a:srgbClr val="333333"/>
                </a:solidFill>
                <a:latin typeface="Calibri"/>
              </a:rPr>
              <a:t>Example 11.15 illustrates contrastive pretraining before fine-tuning</a:t>
            </a:r>
          </a:p>
          <a:p>
            <a:pPr>
              <a:spcAft>
                <a:spcPts val="1000"/>
              </a:spcAft>
              <a:buChar char="•"/>
              <a:lnSpc>
                <a:spcPts val="2200"/>
              </a:lnSpc>
            </a:pPr>
            <a:r>
              <a:rPr sz="2000" b="0">
                <a:solidFill>
                  <a:srgbClr val="333333"/>
                </a:solidFill>
                <a:latin typeface="Calibri"/>
              </a:rPr>
              <a:t>A vision encoder is pretrained with SimCLR-style contrastive loss on unlabeled product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`modules/chapter11/example15/`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Self-supervised learning creates supervision from unlabeled structure via pretext tasks</a:t>
            </a:r>
          </a:p>
          <a:p>
            <a:pPr>
              <a:spcAft>
                <a:spcPts val="1000"/>
              </a:spcAft>
              <a:buChar char="•"/>
              <a:lnSpc>
                <a:spcPts val="2200"/>
              </a:lnSpc>
            </a:pPr>
            <a:r>
              <a:rPr sz="2000" b="0">
                <a:solidFill>
                  <a:srgbClr val="333333"/>
                </a:solidFill>
                <a:latin typeface="Calibri"/>
              </a:rPr>
              <a:t>It sits between supervised and unsupervised learning</a:t>
            </a:r>
          </a:p>
          <a:p>
            <a:pPr>
              <a:spcAft>
                <a:spcPts val="1000"/>
              </a:spcAft>
              <a:buChar char="•"/>
              <a:lnSpc>
                <a:spcPts val="2200"/>
              </a:lnSpc>
            </a:pPr>
            <a:r>
              <a:rPr sz="2000" b="0">
                <a:solidFill>
                  <a:srgbClr val="333333"/>
                </a:solidFill>
                <a:latin typeface="Calibri"/>
              </a:rPr>
              <a:t>Contrastive pretraining plus light fine-tuning is a practical recipe when downstream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Time-series forecasting, emphasizing data efficiency when downstream labels remain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Self Supervised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