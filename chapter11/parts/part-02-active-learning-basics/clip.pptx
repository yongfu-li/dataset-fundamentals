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attacks the labeling bottleneck by letting the model choose which unlabeled items humans should label next. Instead of treating every instance as equally important, the model uses its own uncertainty to focus annotator effort where new labels most improve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the active-learning iterative loop; contrast uncertainty, margin, and entropy sampling as query strategies; and interpret short examples that apply those strategies to vision and medical imaging queues.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starts from a small labeled seed set. The model then selects unlabeled points it is most uncertain about, humans label those points, the model retrains, and the cycle repeats until performance or budget stops the loop. The goal is better generalization with fewer total labels than random annotation.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query strategy defines how the model ranks unlabeled items for human labeling. Uncertainty sampling targets low-confidence predictions near decision boundaries. Margin sampling ranks by the gap between the top two class probabilities. Entropy sampling ranks by predictive entropy over the full class distribution. Strategies can be combined or adapted to the task.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 shows uncertainty sampling on a binary vision task. An image with predicted probabilities near 0.51 and 0.49 for cat versus dog is queued for a human label because that near-tie is where a new label most reshapes the decision boundary. The example 1 module for this chapter summarizes that near-tie selection idea.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11.2 refines the idea for multi-class settings. Margin sampling prioritizes instances where the top two predicted probabilities are closest, signaling weak class separation that a new label can sharpen. This differs from absolute least-confidence alone by focusing on the competing pair of classes. The example 2 module for this chapter frames that margin criterion.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11.3 illustrates entropy sampling. If the model predicts class A at 0.4 and classes B and C at 0.3 each, entropy is high because no class dominates, so such instances are prioritized for labeling. Flat distributions across many classes are informative even when no single probability is near 0.5. The example 3 module for this chapter covers this high-entropy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is incremental: train on the seed set, query the most informative unlabeled items, send them to human annotators, retrain on the expanded labeled set, and iterate. The loop stops when the model meets a performance threshold or the labeling budget is exhausted. Effort concentrates on informative cases rather than easy majority examples.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11.4 applies the full loop to expert MRI labeling. A tumor detector starts from a small labeled MRI seed set, then repeatedly queries ambiguous or rare-tumor scans for radiologist labels, cutting expert hours while improving detection on hard cases. The example 4 module for this chapter describes that medical active-learning pattern.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is an iterative loop that queries humans where the model is least sure. Uncertainty, margin, and entropy sampling are complementary ways to rank informativeness. Medical and vision examples show how seed training plus selective expert labels can reduce total annotation volume.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complementary techniques beyond basic uncertainty: least-confidence selection near decision boundaries, diversity sampling across clusters, cost-sensitive routing of expensive experts, and model-in-the-loop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Active learning basics</a:t>
            </a:r>
          </a:p>
          <a:p>
            <a:pPr algn="ctr">
              <a:lnSpc>
                <a:spcPts val="2200"/>
              </a:lnSpc>
              <a:spcBef>
                <a:spcPts val="1400"/>
              </a:spcBef>
            </a:pPr>
            <a:r>
              <a:rPr sz="2600" b="0">
                <a:solidFill>
                  <a:srgbClr val="333333"/>
                </a:solidFill>
                <a:latin typeface="Calibri"/>
              </a:rPr>
              <a:t>Active learning attacks the labeling bottleneck by letting the model choose which unlabeled items humans should label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iterative feedback loop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Active learning starts from a small labeled seed set</a:t>
            </a:r>
          </a:p>
          <a:p>
            <a:pPr lvl="0" marL="457200" indent="-228600">
              <a:buFont typeface="Calibri"/>
              <a:spcAft>
                <a:spcPts val="1000"/>
              </a:spcAft>
              <a:buSzPct val="100000"/>
              <a:buChar char="•"/>
              <a:lnSpc>
                <a:spcPts val="2200"/>
              </a:lnSpc>
            </a:pPr>
            <a:r>
              <a:rPr sz="2000" b="0">
                <a:solidFill>
                  <a:srgbClr val="333333"/>
                </a:solidFill>
                <a:latin typeface="Calibri"/>
              </a:rPr>
              <a:t>The cycle repeats until performance or budget stops the loop</a:t>
            </a:r>
          </a:p>
          <a:p>
            <a:pPr lvl="0" marL="457200" indent="-228600">
              <a:buFont typeface="Calibri"/>
              <a:spcAft>
                <a:spcPts val="1000"/>
              </a:spcAft>
              <a:buSzPct val="100000"/>
              <a:buChar char="•"/>
              <a:lnSpc>
                <a:spcPts val="2200"/>
              </a:lnSpc>
            </a:pPr>
            <a:r>
              <a:rPr sz="2000" b="0">
                <a:solidFill>
                  <a:srgbClr val="333333"/>
                </a:solidFill>
                <a:latin typeface="Calibri"/>
              </a:rPr>
              <a:t>The goal is better generalization with fewer total labels than random annotation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Query strategies overview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query strategy defines how the model ranks unlabeled items for human labeling</a:t>
            </a:r>
          </a:p>
          <a:p>
            <a:pPr lvl="0" marL="457200" indent="-228600">
              <a:buFont typeface="Calibri"/>
              <a:spcAft>
                <a:spcPts val="1000"/>
              </a:spcAft>
              <a:buSzPct val="100000"/>
              <a:buChar char="•"/>
              <a:lnSpc>
                <a:spcPts val="2200"/>
              </a:lnSpc>
            </a:pPr>
            <a:r>
              <a:rPr sz="2000" b="0">
                <a:solidFill>
                  <a:srgbClr val="333333"/>
                </a:solidFill>
                <a:latin typeface="Calibri"/>
              </a:rPr>
              <a:t>Uncertainty sampling targets low-confidence predictions near decision boundaries</a:t>
            </a:r>
          </a:p>
          <a:p>
            <a:pPr lvl="0" marL="457200" indent="-228600">
              <a:buFont typeface="Calibri"/>
              <a:spcAft>
                <a:spcPts val="1000"/>
              </a:spcAft>
              <a:buSzPct val="100000"/>
              <a:buChar char="•"/>
              <a:lnSpc>
                <a:spcPts val="2200"/>
              </a:lnSpc>
            </a:pPr>
            <a:r>
              <a:rPr sz="2000" b="0">
                <a:solidFill>
                  <a:srgbClr val="333333"/>
                </a:solidFill>
                <a:latin typeface="Calibri"/>
              </a:rPr>
              <a:t>Margin sampling ranks by the gap between the top two class probabilities</a:t>
            </a:r>
          </a:p>
          <a:p>
            <a:pPr lvl="0" marL="457200" indent="-228600">
              <a:buFont typeface="Calibri"/>
              <a:spcAft>
                <a:spcPts val="1000"/>
              </a:spcAft>
              <a:buSzPct val="100000"/>
              <a:buChar char="•"/>
              <a:lnSpc>
                <a:spcPts val="2200"/>
              </a:lnSpc>
            </a:pPr>
            <a:r>
              <a:rPr sz="2000" b="0">
                <a:solidFill>
                  <a:srgbClr val="333333"/>
                </a:solidFill>
                <a:latin typeface="Calibri"/>
              </a:rPr>
              <a:t>Entropy sampling ranks by predictive entropy over the full class distribution</a:t>
            </a:r>
          </a:p>
          <a:p>
            <a:pPr lvl="0" marL="457200" indent="-228600">
              <a:buFont typeface="Calibri"/>
              <a:spcAft>
                <a:spcPts val="1000"/>
              </a:spcAft>
              <a:buSzPct val="100000"/>
              <a:buChar char="•"/>
              <a:lnSpc>
                <a:spcPts val="2200"/>
              </a:lnSpc>
            </a:pPr>
            <a:r>
              <a:rPr sz="2000" b="0">
                <a:solidFill>
                  <a:srgbClr val="333333"/>
                </a:solidFill>
                <a:latin typeface="Calibri"/>
              </a:rPr>
              <a:t>Strategies can be combined or adapted to the task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 — Uncertainty Sampling for Cat-Dog Images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 shows uncertainty sampling on a binary vision task</a:t>
            </a:r>
          </a:p>
          <a:p>
            <a:pPr lvl="0" marL="457200" indent="-228600">
              <a:buFont typeface="Calibri"/>
              <a:spcAft>
                <a:spcPts val="1000"/>
              </a:spcAft>
              <a:buSzPct val="100000"/>
              <a:buChar char="•"/>
              <a:lnSpc>
                <a:spcPts val="2200"/>
              </a:lnSpc>
            </a:pPr>
            <a:r>
              <a:rPr sz="2000" b="0">
                <a:solidFill>
                  <a:srgbClr val="333333"/>
                </a:solidFill>
                <a:latin typeface="Calibri"/>
              </a:rPr>
              <a:t>An image with predicted probabilities near 0.51 and 0.49 for cat versus dog is queued for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11.1 — uncertainty sampling queues near-tie binary</a:t>
            </a:r>
          </a:p>
          <a:p>
            <a:pPr>
              <a:lnSpc>
                <a:spcPts val="2200"/>
              </a:lnSpc>
              <a:spcAft>
                <a:spcPts val="400"/>
              </a:spcAft>
            </a:pPr>
            <a:r>
              <a:rPr sz="2000" b="0">
                <a:solidFill>
                  <a:srgbClr val="333333"/>
                </a:solidFill>
                <a:latin typeface="Consolas"/>
              </a:rPr>
              <a:t>predictions."""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uncertainty_score(p_positive: float) -&gt; float:</a:t>
            </a:r>
          </a:p>
          <a:p>
            <a:pPr>
              <a:lnSpc>
                <a:spcPts val="2200"/>
              </a:lnSpc>
              <a:spcAft>
                <a:spcPts val="400"/>
              </a:spcAft>
            </a:pPr>
            <a:r>
              <a:rPr sz="2000" b="0">
                <a:solidFill>
                  <a:srgbClr val="333333"/>
                </a:solidFill>
                <a:latin typeface="Consolas"/>
              </a:rPr>
              <a:t>    """Return distance from a 0.5 decision boundary (lower =&gt; more</a:t>
            </a:r>
          </a:p>
          <a:p>
            <a:pPr>
              <a:lnSpc>
                <a:spcPts val="2200"/>
              </a:lnSpc>
              <a:spcAft>
                <a:spcPts val="400"/>
              </a:spcAft>
            </a:pPr>
            <a:r>
              <a:rPr sz="2000" b="0">
                <a:solidFill>
                  <a:srgbClr val="333333"/>
                </a:solidFill>
                <a:latin typeface="Consolas"/>
              </a:rPr>
              <a:t>uncertain)."""</a:t>
            </a:r>
          </a:p>
          <a:p>
            <a:pPr>
              <a:lnSpc>
                <a:spcPts val="2200"/>
              </a:lnSpc>
              <a:spcAft>
                <a:spcPts val="400"/>
              </a:spcAft>
            </a:pPr>
            <a:r>
              <a:rPr sz="2000" b="0">
                <a:solidFill>
                  <a:srgbClr val="333333"/>
                </a:solidFill>
                <a:latin typeface="Consolas"/>
              </a:rPr>
              <a:t>    return abs(p_positive - 0.5)</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"""Rank unlabeled images by binary prediction uncertainty."""</a:t>
            </a:r>
          </a:p>
          <a:p>
            <a:pPr>
              <a:lnSpc>
                <a:spcPts val="2200"/>
              </a:lnSpc>
              <a:spcAft>
                <a:spcPts val="400"/>
              </a:spcAft>
            </a:pPr>
            <a:r>
              <a:rPr sz="2000" b="0">
                <a:solidFill>
                  <a:srgbClr val="333333"/>
                </a:solidFill>
                <a:latin typeface="Consolas"/>
              </a:rPr>
              <a:t>    pool: list[tuple[str, float]] = [</a:t>
            </a:r>
          </a:p>
          <a:p>
            <a:pPr>
              <a:lnSpc>
                <a:spcPts val="2200"/>
              </a:lnSpc>
              <a:spcAft>
                <a:spcPts val="400"/>
              </a:spcAft>
            </a:pPr>
            <a:r>
              <a:rPr sz="2000" b="0">
                <a:solidFill>
                  <a:srgbClr val="333333"/>
                </a:solidFill>
                <a:latin typeface="Consolas"/>
              </a:rPr>
              <a:t>        ("img_clear_dog.jpg", 0.92),</a:t>
            </a:r>
          </a:p>
          <a:p>
            <a:pPr>
              <a:lnSpc>
                <a:spcPts val="2200"/>
              </a:lnSpc>
              <a:spcAft>
                <a:spcPts val="400"/>
              </a:spcAft>
            </a:pPr>
            <a:r>
              <a:rPr sz="2000" b="0">
                <a:solidFill>
                  <a:srgbClr val="333333"/>
                </a:solidFill>
                <a:latin typeface="Consolas"/>
              </a:rPr>
              <a:t>        ("img_clear_cat.jpg", 0.11),</a:t>
            </a:r>
          </a:p>
          <a:p>
            <a:pPr>
              <a:lnSpc>
                <a:spcPts val="2200"/>
              </a:lnSpc>
              <a:spcAft>
                <a:spcPts val="400"/>
              </a:spcAft>
            </a:pPr>
            <a:r>
              <a:rPr sz="2000" b="0">
                <a:solidFill>
                  <a:srgbClr val="333333"/>
                </a:solidFill>
                <a:latin typeface="Consolas"/>
              </a:rPr>
              <a:t>        ("img_blurry_pet.jpg", 0.51),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 — Margin Sampling in Multi-Class Tasks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11.2 refines the idea for multi-class settings</a:t>
            </a:r>
          </a:p>
          <a:p>
            <a:pPr lvl="0" marL="457200" indent="-228600">
              <a:buFont typeface="Calibri"/>
              <a:spcAft>
                <a:spcPts val="1000"/>
              </a:spcAft>
              <a:buSzPct val="100000"/>
              <a:buChar char="•"/>
              <a:lnSpc>
                <a:spcPts val="2200"/>
              </a:lnSpc>
            </a:pPr>
            <a:r>
              <a:rPr sz="2000" b="0">
                <a:solidFill>
                  <a:srgbClr val="333333"/>
                </a:solidFill>
                <a:latin typeface="Calibri"/>
              </a:rPr>
              <a:t>Signaling weak class separation that a new label can sharpen</a:t>
            </a:r>
          </a:p>
          <a:p>
            <a:pPr lvl="0" marL="457200" indent="-228600">
              <a:buFont typeface="Calibri"/>
              <a:spcAft>
                <a:spcPts val="1000"/>
              </a:spcAft>
              <a:buSzPct val="100000"/>
              <a:buChar char="•"/>
              <a:lnSpc>
                <a:spcPts val="2200"/>
              </a:lnSpc>
            </a:pPr>
            <a:r>
              <a:rPr sz="2000" b="0">
                <a:solidFill>
                  <a:srgbClr val="333333"/>
                </a:solidFill>
                <a:latin typeface="Calibri"/>
              </a:rPr>
              <a:t>This differs from absolute least-confidence alone by focusing on the competing pair of</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11.2 — margin sampling prioritizes the smallest top-two</a:t>
            </a:r>
          </a:p>
          <a:p>
            <a:pPr>
              <a:lnSpc>
                <a:spcPts val="2200"/>
              </a:lnSpc>
              <a:spcAft>
                <a:spcPts val="400"/>
              </a:spcAft>
            </a:pPr>
            <a:r>
              <a:rPr sz="2000" b="0">
                <a:solidFill>
                  <a:srgbClr val="333333"/>
                </a:solidFill>
                <a:latin typeface="Consolas"/>
              </a:rPr>
              <a:t>gap."""</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margin(probs: dict[str, float]) -&gt; float:</a:t>
            </a:r>
          </a:p>
          <a:p>
            <a:pPr>
              <a:lnSpc>
                <a:spcPts val="2200"/>
              </a:lnSpc>
              <a:spcAft>
                <a:spcPts val="400"/>
              </a:spcAft>
            </a:pPr>
            <a:r>
              <a:rPr sz="2000" b="0">
                <a:solidFill>
                  <a:srgbClr val="333333"/>
                </a:solidFill>
                <a:latin typeface="Consolas"/>
              </a:rPr>
              <a:t>    """Return the gap between the top two class probabilities."""</a:t>
            </a:r>
          </a:p>
          <a:p>
            <a:pPr>
              <a:lnSpc>
                <a:spcPts val="2200"/>
              </a:lnSpc>
              <a:spcAft>
                <a:spcPts val="400"/>
              </a:spcAft>
            </a:pPr>
            <a:r>
              <a:rPr sz="2000" b="0">
                <a:solidFill>
                  <a:srgbClr val="333333"/>
                </a:solidFill>
                <a:latin typeface="Consolas"/>
              </a:rPr>
              <a:t>    ordered = sorted(probs.values(), reverse=True)</a:t>
            </a:r>
          </a:p>
          <a:p>
            <a:pPr>
              <a:lnSpc>
                <a:spcPts val="2200"/>
              </a:lnSpc>
              <a:spcAft>
                <a:spcPts val="400"/>
              </a:spcAft>
            </a:pPr>
            <a:r>
              <a:rPr sz="2000" b="0">
                <a:solidFill>
                  <a:srgbClr val="333333"/>
                </a:solidFill>
                <a:latin typeface="Consolas"/>
              </a:rPr>
              <a:t>    return ordered[0] - ordered[1]</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"""Rank multi-class predictions by margin (smaller margin =&gt; query</a:t>
            </a:r>
          </a:p>
          <a:p>
            <a:pPr>
              <a:lnSpc>
                <a:spcPts val="2200"/>
              </a:lnSpc>
              <a:spcAft>
                <a:spcPts val="400"/>
              </a:spcAft>
            </a:pPr>
            <a:r>
              <a:rPr sz="2000" b="0">
                <a:solidFill>
                  <a:srgbClr val="333333"/>
                </a:solidFill>
                <a:latin typeface="Consolas"/>
              </a:rPr>
              <a:t>first)."""</a:t>
            </a:r>
          </a:p>
          <a:p>
            <a:pPr>
              <a:lnSpc>
                <a:spcPts val="2200"/>
              </a:lnSpc>
              <a:spcAft>
                <a:spcPts val="400"/>
              </a:spcAft>
            </a:pPr>
            <a:r>
              <a:rPr sz="2000" b="0">
                <a:solidFill>
                  <a:srgbClr val="333333"/>
                </a:solidFill>
                <a:latin typeface="Consolas"/>
              </a:rPr>
              <a:t>    pool: list[tuple[str, dict[str, float]]] = [</a:t>
            </a:r>
          </a:p>
          <a:p>
            <a:pPr>
              <a:lnSpc>
                <a:spcPts val="2200"/>
              </a:lnSpc>
              <a:spcAft>
                <a:spcPts val="400"/>
              </a:spcAft>
            </a:pPr>
            <a:r>
              <a:rPr sz="2000" b="0">
                <a:solidFill>
                  <a:srgbClr val="333333"/>
                </a:solidFill>
                <a:latin typeface="Consolas"/>
              </a:rPr>
              <a:t>        ("doc_clear", {"sports": 0.80, "politics": 0.12, "biz": 0.08}),</a:t>
            </a:r>
          </a:p>
          <a:p>
            <a:pPr>
              <a:lnSpc>
                <a:spcPts val="2200"/>
              </a:lnSpc>
              <a:spcAft>
                <a:spcPts val="400"/>
              </a:spcAft>
            </a:pPr>
            <a:r>
              <a:rPr sz="2000" b="0">
                <a:solidFill>
                  <a:srgbClr val="333333"/>
                </a:solidFill>
                <a:latin typeface="Consolas"/>
              </a:rPr>
              <a:t>        ("doc_close", {"sports": 0.41, "politics": 0.39, "biz": 0.20}),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11.3 — High-Entropy Multi-Class Prediction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11.3 illustrates entropy sampling</a:t>
            </a:r>
          </a:p>
          <a:p>
            <a:pPr lvl="0" marL="457200" indent="-228600">
              <a:buFont typeface="Calibri"/>
              <a:spcAft>
                <a:spcPts val="1000"/>
              </a:spcAft>
              <a:buSzPct val="100000"/>
              <a:buChar char="•"/>
              <a:lnSpc>
                <a:spcPts val="2200"/>
              </a:lnSpc>
            </a:pPr>
            <a:r>
              <a:rPr sz="2000" b="0">
                <a:solidFill>
                  <a:srgbClr val="333333"/>
                </a:solidFill>
                <a:latin typeface="Calibri"/>
              </a:rPr>
              <a:t>If the model predicts class A at 0.4 and classes B and C at 0.3 each</a:t>
            </a:r>
          </a:p>
          <a:p>
            <a:pPr lvl="0" marL="457200" indent="-228600">
              <a:buFont typeface="Calibri"/>
              <a:spcAft>
                <a:spcPts val="1000"/>
              </a:spcAft>
              <a:buSzPct val="100000"/>
              <a:buChar char="•"/>
              <a:lnSpc>
                <a:spcPts val="2200"/>
              </a:lnSpc>
            </a:pPr>
            <a:r>
              <a:rPr sz="2000" b="0">
                <a:solidFill>
                  <a:srgbClr val="333333"/>
                </a:solidFill>
                <a:latin typeface="Calibri"/>
              </a:rPr>
              <a:t>Flat distributions across many classes are informative even when no single probability is</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11.3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11.3 — entropy sampling selects the flattest predictive</a:t>
            </a:r>
          </a:p>
          <a:p>
            <a:pPr>
              <a:lnSpc>
                <a:spcPts val="2200"/>
              </a:lnSpc>
              <a:spcAft>
                <a:spcPts val="400"/>
              </a:spcAft>
            </a:pPr>
            <a:r>
              <a:rPr sz="2000" b="0">
                <a:solidFill>
                  <a:srgbClr val="333333"/>
                </a:solidFill>
                <a:latin typeface="Consolas"/>
              </a:rPr>
              <a:t>distribution."""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math</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entropy(probs: list[float]) -&gt; float:</a:t>
            </a:r>
          </a:p>
          <a:p>
            <a:pPr>
              <a:lnSpc>
                <a:spcPts val="2200"/>
              </a:lnSpc>
              <a:spcAft>
                <a:spcPts val="400"/>
              </a:spcAft>
            </a:pPr>
            <a:r>
              <a:rPr sz="2000" b="0">
                <a:solidFill>
                  <a:srgbClr val="333333"/>
                </a:solidFill>
                <a:latin typeface="Consolas"/>
              </a:rPr>
              <a:t>    """Return Shannon entropy of a discrete probability distribution."""</a:t>
            </a:r>
          </a:p>
          <a:p>
            <a:pPr>
              <a:lnSpc>
                <a:spcPts val="2200"/>
              </a:lnSpc>
              <a:spcAft>
                <a:spcPts val="400"/>
              </a:spcAft>
            </a:pPr>
            <a:r>
              <a:rPr sz="2000" b="0">
                <a:solidFill>
                  <a:srgbClr val="333333"/>
                </a:solidFill>
                <a:latin typeface="Consolas"/>
              </a:rPr>
              <a:t>    return -sum(p * math.log2(p) for p in probs if p &gt; 0)</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"""Compare entropy for peaked vs flat multi-class predictions."""</a:t>
            </a:r>
          </a:p>
          <a:p>
            <a:pPr>
              <a:lnSpc>
                <a:spcPts val="2200"/>
              </a:lnSpc>
              <a:spcAft>
                <a:spcPts val="400"/>
              </a:spcAft>
            </a:pPr>
            <a:r>
              <a:rPr sz="2000" b="0">
                <a:solidFill>
                  <a:srgbClr val="333333"/>
                </a:solidFill>
                <a:latin typeface="Consolas"/>
              </a:rPr>
              <a:t>    cases: list[tuple[str, list[float]]] = [</a:t>
            </a:r>
          </a:p>
          <a:p>
            <a:pPr>
              <a:lnSpc>
                <a:spcPts val="2200"/>
              </a:lnSpc>
              <a:spcAft>
                <a:spcPts val="400"/>
              </a:spcAft>
            </a:pPr>
            <a:r>
              <a:rPr sz="2000" b="0">
                <a:solidFill>
                  <a:srgbClr val="333333"/>
                </a:solidFill>
                <a:latin typeface="Consolas"/>
              </a:rPr>
              <a:t>        ("peaked (A=0.90)", [0.90, 0.05, 0.05]),</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Active-learning pipeline steps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pipeline is incremental</a:t>
            </a:r>
          </a:p>
          <a:p>
            <a:pPr lvl="0" marL="457200" indent="-228600">
              <a:buFont typeface="Calibri"/>
              <a:spcAft>
                <a:spcPts val="1000"/>
              </a:spcAft>
              <a:buSzPct val="100000"/>
              <a:buChar char="•"/>
              <a:lnSpc>
                <a:spcPts val="2200"/>
              </a:lnSpc>
            </a:pPr>
            <a:r>
              <a:rPr sz="2000" b="0">
                <a:solidFill>
                  <a:srgbClr val="333333"/>
                </a:solidFill>
                <a:latin typeface="Calibri"/>
              </a:rPr>
              <a:t>The loop stops when the model meets a performance threshold or the labeling budget is</a:t>
            </a:r>
          </a:p>
          <a:p>
            <a:pPr lvl="0" marL="457200" indent="-228600">
              <a:buFont typeface="Calibri"/>
              <a:spcAft>
                <a:spcPts val="1000"/>
              </a:spcAft>
              <a:buSzPct val="100000"/>
              <a:buChar char="•"/>
              <a:lnSpc>
                <a:spcPts val="2200"/>
              </a:lnSpc>
            </a:pPr>
            <a:r>
              <a:rPr sz="2000" b="0">
                <a:solidFill>
                  <a:srgbClr val="333333"/>
                </a:solidFill>
                <a:latin typeface="Calibri"/>
              </a:rPr>
              <a:t>Effort concentrates on informative cases rather than easy majority examples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11.4 — Active Learning for MRI Tumor Detection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11.4 applies the full loop to expert MRI labeling</a:t>
            </a:r>
          </a:p>
          <a:p>
            <a:pPr lvl="0" marL="457200" indent="-228600">
              <a:buFont typeface="Calibri"/>
              <a:spcAft>
                <a:spcPts val="1000"/>
              </a:spcAft>
              <a:buSzPct val="100000"/>
              <a:buChar char="•"/>
              <a:lnSpc>
                <a:spcPts val="2200"/>
              </a:lnSpc>
            </a:pPr>
            <a:r>
              <a:rPr sz="2000" b="0">
                <a:solidFill>
                  <a:srgbClr val="333333"/>
                </a:solidFill>
                <a:latin typeface="Calibri"/>
              </a:rPr>
              <a:t>A tumor detector starts from a small labeled MRI seed set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Active learning is an iterative loop that queries humans where the model is least sure</a:t>
            </a:r>
          </a:p>
          <a:p>
            <a:pPr lvl="0" marL="457200" indent="-228600">
              <a:buFont typeface="Calibri"/>
              <a:spcAft>
                <a:spcPts val="1000"/>
              </a:spcAft>
              <a:buSzPct val="100000"/>
              <a:buChar char="•"/>
              <a:lnSpc>
                <a:spcPts val="2200"/>
              </a:lnSpc>
            </a:pPr>
            <a:r>
              <a:rPr sz="2000" b="0">
                <a:solidFill>
                  <a:srgbClr val="333333"/>
                </a:solidFill>
                <a:latin typeface="Calibri"/>
              </a:rPr>
              <a:t>Uncertainty, margin, and entropy sampling are complementary ways to rank informativeness</a:t>
            </a:r>
          </a:p>
          <a:p>
            <a:pPr lvl="0" marL="457200" indent="-228600">
              <a:buFont typeface="Calibri"/>
              <a:spcAft>
                <a:spcPts val="1000"/>
              </a:spcAft>
              <a:buSzPct val="100000"/>
              <a:buChar char="•"/>
              <a:lnSpc>
                <a:spcPts val="2200"/>
              </a:lnSpc>
            </a:pPr>
            <a:r>
              <a:rPr sz="2000" b="0">
                <a:solidFill>
                  <a:srgbClr val="333333"/>
                </a:solidFill>
                <a:latin typeface="Calibri"/>
              </a:rPr>
              <a:t>Medical and vision examples show how seed training plus selective expert labels can reduce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complementary techniques beyond basic uncertainty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Basics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