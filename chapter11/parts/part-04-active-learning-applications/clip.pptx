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Query strategies matter only when they change real labeling queues. This part walks active-learning applications in natural language processing, driving perception, and medical imaging, showing how uncertain items reach human experts while easy cases stay unlabeled.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active learning for review sentiment and related NLP tasks; explain uncertainty-driven queues for driving perception; and interpret medical examples for pneumonia X-rays and dermoscopic lesions.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NLP, active learning reduces labeled volume for classification, named entity recognition, sentiment analysis, and related tasks. Annotating large corpora is expensive, especially for legal or medical text. The model focuses labeling on informative or uncertain samples such as ironic, mixed, or domain-specific phrases.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11.9 queues uncertain reviews for human sentiment labels. A sentiment model trained on a small seed set uses uncertainty or entropy sampling to request labels on ironic or mixed reviews, improving nuance with fewer total annotations. The example 9 module for this chapter summarizes that sentiment queue.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computer vision, labeling images or videos for detection, segmentation, or action recognition is time-consuming. Active learning focuses annotators on frames that most improve performance, such as occlusions, weather degradation, or ambiguous poses, instead of labeling every fleet frame or every video frame.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11.10 focuses annotators on occluded or foggy driving scenes. Uncertainty sampling queries frames where pedestrians or signs are occluded or weather-degraded, so perception models learn rare hard cases without labeling every fleet frame. The example 10 module for this chapter describes that perception queue.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image labeling requires domain expertise and is costly. Active learning reduces the number of expert annotations while routing the most informative studies to clinicians. Experts spend limited time on atypical or overlapping pathologies rather than routine easy cases.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11.12 sends atypical chest X-rays to radiologists via active learning. Uncertainty sampling surfaces X-rays with atypical pneumonia or overlapping pathologies for radiologist review, improving edge-case detection with fewer labeled studies. The example 12 module for this chapter frames that pneumonia queue.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11.13 prioritizes ambiguous skin lesions for dermatologist labels. Active learning queues atypical or rare dermoscopic images for expert labeling so the classifier improves on early melanoma and other hard lesions without labeling every image. The example 13 module for this chapter covers that dermatology queue.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NLP, driving perception, and medical imaging, active learning concentrates human effort on uncertain, atypical, or safety-critical cases. Seed models plus selective expert review cut annotation volume while improving edge-case performance. Routine easy items need not consume expert hours.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weak supervision: generating training labels from noisy, incomplete, or heuristic signals when a fully hand-labeled corpus is unavailable.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Active learning applications</a:t>
            </a:r>
          </a:p>
          <a:p>
            <a:pPr algn="ctr">
              <a:lnSpc>
                <a:spcPts val="2200"/>
              </a:lnSpc>
              <a:spcBef>
                <a:spcPts val="1400"/>
              </a:spcBef>
            </a:pPr>
            <a:r>
              <a:rPr sz="2600" b="0">
                <a:solidFill>
                  <a:srgbClr val="333333"/>
                </a:solidFill>
                <a:latin typeface="Calibri"/>
              </a:rPr>
              <a:t>Query strategies matter only when they change real labeling queues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 learning in NLP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Related tasks</a:t>
            </a:r>
          </a:p>
          <a:p>
            <a:pPr>
              <a:spcAft>
                <a:spcPts val="1000"/>
              </a:spcAft>
              <a:buChar char="•"/>
              <a:lnSpc>
                <a:spcPts val="2200"/>
              </a:lnSpc>
            </a:pPr>
            <a:r>
              <a:rPr sz="2000" b="0">
                <a:solidFill>
                  <a:srgbClr val="333333"/>
                </a:solidFill>
                <a:latin typeface="Calibri"/>
              </a:rPr>
              <a:t>Annotating large corpora is expensive, especially for legal or medical text</a:t>
            </a:r>
          </a:p>
          <a:p>
            <a:pPr>
              <a:spcAft>
                <a:spcPts val="1000"/>
              </a:spcAft>
              <a:buChar char="•"/>
              <a:lnSpc>
                <a:spcPts val="2200"/>
              </a:lnSpc>
            </a:pPr>
            <a:r>
              <a:rPr sz="2000" b="0">
                <a:solidFill>
                  <a:srgbClr val="333333"/>
                </a:solidFill>
                <a:latin typeface="Calibri"/>
              </a:rPr>
              <a:t>The model focuses labeling on informative or uncertain samples such as ironic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11.9 — Active Learning for Review Sentiment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11.9 — hands-on module</a:t>
            </a:r>
          </a:p>
          <a:p>
            <a:pPr>
              <a:spcAft>
                <a:spcPts val="1000"/>
              </a:spcAft>
              <a:buChar char="•"/>
              <a:lnSpc>
                <a:spcPts val="2200"/>
              </a:lnSpc>
            </a:pPr>
            <a:r>
              <a:rPr sz="2000" b="0">
                <a:solidFill>
                  <a:srgbClr val="333333"/>
                </a:solidFill>
                <a:latin typeface="Calibri"/>
              </a:rPr>
              <a:t>Example 11.9 queues uncertain reviews for human sentiment labels</a:t>
            </a:r>
          </a:p>
          <a:p>
            <a:pPr>
              <a:spcAft>
                <a:spcPts val="1000"/>
              </a:spcAft>
              <a:buChar char="•"/>
              <a:lnSpc>
                <a:spcPts val="2200"/>
              </a:lnSpc>
            </a:pPr>
            <a:r>
              <a:rPr sz="2000" b="0">
                <a:solidFill>
                  <a:srgbClr val="333333"/>
                </a:solidFill>
                <a:latin typeface="Calibri"/>
              </a:rPr>
              <a:t>Improving nuance with fewer total annotations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`modules/chapter11/example9/`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Active learning in vision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computer vision</a:t>
            </a:r>
          </a:p>
          <a:p>
            <a:pPr>
              <a:spcAft>
                <a:spcPts val="1000"/>
              </a:spcAft>
              <a:buChar char="•"/>
              <a:lnSpc>
                <a:spcPts val="2200"/>
              </a:lnSpc>
            </a:pPr>
            <a:r>
              <a:rPr sz="2000" b="0">
                <a:solidFill>
                  <a:srgbClr val="333333"/>
                </a:solidFill>
                <a:latin typeface="Calibri"/>
              </a:rPr>
              <a:t>Active learning focuses annotators on frames that most improve performance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11.10 — Active Learning for Driving Perception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11.10 — hands-on module</a:t>
            </a:r>
          </a:p>
          <a:p>
            <a:pPr>
              <a:spcAft>
                <a:spcPts val="1000"/>
              </a:spcAft>
              <a:buChar char="•"/>
              <a:lnSpc>
                <a:spcPts val="2200"/>
              </a:lnSpc>
            </a:pPr>
            <a:r>
              <a:rPr sz="2000" b="0">
                <a:solidFill>
                  <a:srgbClr val="333333"/>
                </a:solidFill>
                <a:latin typeface="Calibri"/>
              </a:rPr>
              <a:t>Example 11.10 focuses annotators on occluded or foggy driving scenes</a:t>
            </a:r>
          </a:p>
          <a:p>
            <a:pPr>
              <a:spcAft>
                <a:spcPts val="1000"/>
              </a:spcAft>
              <a:buChar char="•"/>
              <a:lnSpc>
                <a:spcPts val="2200"/>
              </a:lnSpc>
            </a:pPr>
            <a:r>
              <a:rPr sz="2000" b="0">
                <a:solidFill>
                  <a:srgbClr val="333333"/>
                </a:solidFill>
                <a:latin typeface="Calibri"/>
              </a:rPr>
              <a:t>So perception models learn rare hard cases without labeling every fleet frame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`modules/chapter11/example10/`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Healthcare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Medical image labeling requires domain expertise and is costly</a:t>
            </a:r>
          </a:p>
          <a:p>
            <a:pPr>
              <a:spcAft>
                <a:spcPts val="1000"/>
              </a:spcAft>
              <a:buChar char="•"/>
              <a:lnSpc>
                <a:spcPts val="2200"/>
              </a:lnSpc>
            </a:pPr>
            <a:r>
              <a:rPr sz="2000" b="0">
                <a:solidFill>
                  <a:srgbClr val="333333"/>
                </a:solidFill>
                <a:latin typeface="Calibri"/>
              </a:rPr>
              <a:t>Active learning reduces the number of expert annotations while routing the most</a:t>
            </a:r>
          </a:p>
          <a:p>
            <a:pPr>
              <a:spcAft>
                <a:spcPts val="1000"/>
              </a:spcAft>
              <a:buChar char="•"/>
              <a:lnSpc>
                <a:spcPts val="2200"/>
              </a:lnSpc>
            </a:pPr>
            <a:r>
              <a:rPr sz="2000" b="0">
                <a:solidFill>
                  <a:srgbClr val="333333"/>
                </a:solidFill>
                <a:latin typeface="Calibri"/>
              </a:rPr>
              <a:t>Experts spend limited time on atypical or overlapping pathologies rather than routine easy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11.12 — Pneumonia Detection with Uncertain X-rays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11.12 — hands-on module</a:t>
            </a:r>
          </a:p>
          <a:p>
            <a:pPr>
              <a:spcAft>
                <a:spcPts val="1000"/>
              </a:spcAft>
              <a:buChar char="•"/>
              <a:lnSpc>
                <a:spcPts val="2200"/>
              </a:lnSpc>
            </a:pPr>
            <a:r>
              <a:rPr sz="2000" b="0">
                <a:solidFill>
                  <a:srgbClr val="333333"/>
                </a:solidFill>
                <a:latin typeface="Calibri"/>
              </a:rPr>
              <a:t>Example 11.12 sends atypical chest X-rays to radiologists via active learning</a:t>
            </a:r>
          </a:p>
          <a:p>
            <a:pPr>
              <a:spcAft>
                <a:spcPts val="1000"/>
              </a:spcAft>
              <a:buChar char="•"/>
              <a:lnSpc>
                <a:spcPts val="2200"/>
              </a:lnSpc>
            </a:pPr>
            <a:r>
              <a:rPr sz="2000" b="0">
                <a:solidFill>
                  <a:srgbClr val="333333"/>
                </a:solidFill>
                <a:latin typeface="Calibri"/>
              </a:rPr>
              <a:t>Improving edge-case detection with fewer labeled studies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`modules/chapter11/example12/`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11.13 — Dermoscopic Lesion Uncertainty Queue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11.13 — hands-on module</a:t>
            </a:r>
          </a:p>
          <a:p>
            <a:pPr>
              <a:spcAft>
                <a:spcPts val="1000"/>
              </a:spcAft>
              <a:buChar char="•"/>
              <a:lnSpc>
                <a:spcPts val="2200"/>
              </a:lnSpc>
            </a:pPr>
            <a:r>
              <a:rPr sz="2000" b="0">
                <a:solidFill>
                  <a:srgbClr val="333333"/>
                </a:solidFill>
                <a:latin typeface="Calibri"/>
              </a:rPr>
              <a:t>Example 11.13 prioritizes ambiguous skin lesions for dermatologist labels</a:t>
            </a:r>
          </a:p>
          <a:p>
            <a:pPr>
              <a:spcAft>
                <a:spcPts val="1000"/>
              </a:spcAft>
              <a:buChar char="•"/>
              <a:lnSpc>
                <a:spcPts val="2200"/>
              </a:lnSpc>
            </a:pPr>
            <a:r>
              <a:rPr sz="2000" b="0">
                <a:solidFill>
                  <a:srgbClr val="333333"/>
                </a:solidFill>
                <a:latin typeface="Calibri"/>
              </a:rPr>
              <a:t>Active learning queues atypical or rare dermoscopic images for expert labeling so the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`modules/chapter11/example13/`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Across NLP, driving perception</a:t>
            </a:r>
          </a:p>
          <a:p>
            <a:pPr>
              <a:spcAft>
                <a:spcPts val="1000"/>
              </a:spcAft>
              <a:buChar char="•"/>
              <a:lnSpc>
                <a:spcPts val="2200"/>
              </a:lnSpc>
            </a:pPr>
            <a:r>
              <a:rPr sz="2000" b="0">
                <a:solidFill>
                  <a:srgbClr val="333333"/>
                </a:solidFill>
                <a:latin typeface="Calibri"/>
              </a:rPr>
              <a:t>Seed models plus selective expert review cut annotation volume while improving edge-case</a:t>
            </a:r>
          </a:p>
          <a:p>
            <a:pPr>
              <a:spcAft>
                <a:spcPts val="1000"/>
              </a:spcAft>
              <a:buChar char="•"/>
              <a:lnSpc>
                <a:spcPts val="2200"/>
              </a:lnSpc>
            </a:pPr>
            <a:r>
              <a:rPr sz="2000" b="0">
                <a:solidFill>
                  <a:srgbClr val="333333"/>
                </a:solidFill>
                <a:latin typeface="Calibri"/>
              </a:rPr>
              <a:t>Routine easy items need not consume expert hours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introduces weak supervision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Active Learning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