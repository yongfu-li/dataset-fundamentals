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Pretext tasks become concrete in domain settings. This part surveys self-supervised applications in computer vision, natural language processing, and time-series forecasting, emphasizing data efficiency when downstream labels remain scarce.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self-supervised uses in image representation learning; summarize language-model pretraining benefits for NLP downstream tasks; and explain time-series applications such as forecasting and anomaly detection with unlabeled sequences.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vision, self-supervised pretraining on large unlabeled image collections learns features for classification, detection, and segmentation before scarce labels are applied. Contrastive and reconstruction-style objectives reduce the labeled volume needed for competitive accuracy, which matters in domains where bounding boxes or masks are expensive.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Once representations exist, fine-tuning a smaller labeled set often matches or approaches fully supervised baselines that would have required labeling the entire corpus. Teams still validate on held-out gold labels; self-supervision reduces early labeling demand rather than removing evaluation.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NLP, masked language modeling and related objectives pretrain encoders on unlabeled text. Downstream tasks such as classification, named entity recognition, and sentiment analysis then fine-tune with far fewer task-specific labels than training from scratch. Large web-scale corpora supply the unlabeled fuel for that pretraining stage.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teams often start from a general pretrained language model and fine-tune on a modest labeled domain set. The pretext-learned context and syntax transfer, while the fine-tuning stage adapts to domain vocabulary and label schemas. This pattern is common when expert text labels are scarce.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time series, self-supervised objectives may predict future values or fill masked time steps from neighboring observations. Models learn temporal structure from unlabeled sensor or transaction streams, then support forecasting where dense labels are unavailable. Gap filling also prepares incomplete series for downstream monitoring tasks.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Anomaly detection can train a model of normal behavior on unlabeled series and flag large prediction residuals as anomalies, useful for fraud or equipment failure. Contrastive learning on sequences embeds similar temporal patterns nearby, supporting classification, forecasting, and clustering without labeling every window.</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Self-supervised applications span vision, language, and time series with a shared theme: learn from unlabeled scale, then fine-tune lightly. Benefits include data efficiency, real-time monitoring potential, and improved forecasting when labels are scarce. Quality still depends on validating the downstream labeled evaluation set.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compares crowdsourcing and expert annotation on scale, cost, turnaround, and quality for high-stakes schemas such as radiology and legal text.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11 — Applications of self-supervised learning</a:t>
            </a:r>
          </a:p>
          <a:p>
            <a:pPr algn="ctr">
              <a:lnSpc>
                <a:spcPts val="2200"/>
              </a:lnSpc>
              <a:spcBef>
                <a:spcPts val="1400"/>
              </a:spcBef>
            </a:pPr>
            <a:r>
              <a:rPr sz="2600" b="0">
                <a:solidFill>
                  <a:srgbClr val="333333"/>
                </a:solidFill>
                <a:latin typeface="Calibri"/>
              </a:rPr>
              <a:t>Pretext tasks become concrete in domain settings</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Computer vision applications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Segmentation before scarce labels are applied</a:t>
            </a:r>
          </a:p>
          <a:p>
            <a:pPr lvl="0" marL="457200" indent="-228600">
              <a:buFont typeface="Calibri"/>
              <a:spcAft>
                <a:spcPts val="1000"/>
              </a:spcAft>
              <a:buSzPct val="100000"/>
              <a:buChar char="•"/>
              <a:lnSpc>
                <a:spcPts val="2200"/>
              </a:lnSpc>
            </a:pPr>
            <a:r>
              <a:rPr sz="2000" b="0">
                <a:solidFill>
                  <a:srgbClr val="333333"/>
                </a:solidFill>
                <a:latin typeface="Calibri"/>
              </a:rPr>
              <a:t>Which matters in domains where bounding boxes or masks are expensive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Data efficiency in vision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Once representations exist</a:t>
            </a:r>
          </a:p>
          <a:p>
            <a:pPr lvl="0" marL="457200" indent="-228600">
              <a:buFont typeface="Calibri"/>
              <a:spcAft>
                <a:spcPts val="1000"/>
              </a:spcAft>
              <a:buSzPct val="100000"/>
              <a:buChar char="•"/>
              <a:lnSpc>
                <a:spcPts val="2200"/>
              </a:lnSpc>
            </a:pPr>
            <a:r>
              <a:rPr sz="2000" b="0">
                <a:solidFill>
                  <a:srgbClr val="333333"/>
                </a:solidFill>
                <a:latin typeface="Calibri"/>
              </a:rPr>
              <a:t>Teams still validate on held-out gold labels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Natural language processing applications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Masked language modeling and related objectives pretrain encoders on unlabeled text</a:t>
            </a:r>
          </a:p>
          <a:p>
            <a:pPr lvl="0" marL="457200" indent="-228600">
              <a:buFont typeface="Calibri"/>
              <a:spcAft>
                <a:spcPts val="1000"/>
              </a:spcAft>
              <a:buSzPct val="100000"/>
              <a:buChar char="•"/>
              <a:lnSpc>
                <a:spcPts val="2200"/>
              </a:lnSpc>
            </a:pPr>
            <a:r>
              <a:rPr sz="2000" b="0">
                <a:solidFill>
                  <a:srgbClr val="333333"/>
                </a:solidFill>
                <a:latin typeface="Calibri"/>
              </a:rPr>
              <a:t>Downstream tasks such as classification, named entity recognition</a:t>
            </a:r>
          </a:p>
          <a:p>
            <a:pPr lvl="0" marL="457200" indent="-228600">
              <a:buFont typeface="Calibri"/>
              <a:spcAft>
                <a:spcPts val="1000"/>
              </a:spcAft>
              <a:buSzPct val="100000"/>
              <a:buChar char="•"/>
              <a:lnSpc>
                <a:spcPts val="2200"/>
              </a:lnSpc>
            </a:pPr>
            <a:r>
              <a:rPr sz="2000" b="0">
                <a:solidFill>
                  <a:srgbClr val="333333"/>
                </a:solidFill>
                <a:latin typeface="Calibri"/>
              </a:rPr>
              <a:t>Large web-scale corpora supply the unlabeled fuel for that pretraining stage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Transfer to specialized text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Domain teams often start from a general pretrained language model and fine-tune on a</a:t>
            </a:r>
          </a:p>
          <a:p>
            <a:pPr lvl="0" marL="457200" indent="-228600">
              <a:buFont typeface="Calibri"/>
              <a:spcAft>
                <a:spcPts val="1000"/>
              </a:spcAft>
              <a:buSzPct val="100000"/>
              <a:buChar char="•"/>
              <a:lnSpc>
                <a:spcPts val="2200"/>
              </a:lnSpc>
            </a:pPr>
            <a:r>
              <a:rPr sz="2000" b="0">
                <a:solidFill>
                  <a:srgbClr val="333333"/>
                </a:solidFill>
                <a:latin typeface="Calibri"/>
              </a:rPr>
              <a:t>The pretext-learned context and syntax transfer</a:t>
            </a:r>
          </a:p>
          <a:p>
            <a:pPr lvl="0" marL="457200" indent="-228600">
              <a:buFont typeface="Calibri"/>
              <a:spcAft>
                <a:spcPts val="1000"/>
              </a:spcAft>
              <a:buSzPct val="100000"/>
              <a:buChar char="•"/>
              <a:lnSpc>
                <a:spcPts val="2200"/>
              </a:lnSpc>
            </a:pPr>
            <a:r>
              <a:rPr sz="2000" b="0">
                <a:solidFill>
                  <a:srgbClr val="333333"/>
                </a:solidFill>
                <a:latin typeface="Calibri"/>
              </a:rPr>
              <a:t>This pattern is common when expert text labels are scarce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Time-series forecasting and imputation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time series</a:t>
            </a:r>
          </a:p>
          <a:p>
            <a:pPr lvl="0" marL="457200" indent="-228600">
              <a:buFont typeface="Calibri"/>
              <a:spcAft>
                <a:spcPts val="1000"/>
              </a:spcAft>
              <a:buSzPct val="100000"/>
              <a:buChar char="•"/>
              <a:lnSpc>
                <a:spcPts val="2200"/>
              </a:lnSpc>
            </a:pPr>
            <a:r>
              <a:rPr sz="2000" b="0">
                <a:solidFill>
                  <a:srgbClr val="333333"/>
                </a:solidFill>
                <a:latin typeface="Calibri"/>
              </a:rPr>
              <a:t>Models learn temporal structure from unlabeled sensor or transaction streams</a:t>
            </a:r>
          </a:p>
          <a:p>
            <a:pPr lvl="0" marL="457200" indent="-228600">
              <a:buFont typeface="Calibri"/>
              <a:spcAft>
                <a:spcPts val="1000"/>
              </a:spcAft>
              <a:buSzPct val="100000"/>
              <a:buChar char="•"/>
              <a:lnSpc>
                <a:spcPts val="2200"/>
              </a:lnSpc>
            </a:pPr>
            <a:r>
              <a:rPr sz="2000" b="0">
                <a:solidFill>
                  <a:srgbClr val="333333"/>
                </a:solidFill>
                <a:latin typeface="Calibri"/>
              </a:rPr>
              <a:t>Gap filling also prepares incomplete series for downstream monitoring tasks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Anomaly detection and contrastive sequences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Useful for fraud or equipment failure</a:t>
            </a:r>
          </a:p>
          <a:p>
            <a:pPr lvl="0" marL="457200" indent="-228600">
              <a:buFont typeface="Calibri"/>
              <a:spcAft>
                <a:spcPts val="1000"/>
              </a:spcAft>
              <a:buSzPct val="100000"/>
              <a:buChar char="•"/>
              <a:lnSpc>
                <a:spcPts val="2200"/>
              </a:lnSpc>
            </a:pPr>
            <a:r>
              <a:rPr sz="2000" b="0">
                <a:solidFill>
                  <a:srgbClr val="333333"/>
                </a:solidFill>
                <a:latin typeface="Calibri"/>
              </a:rPr>
              <a:t>Clustering without labeling every window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Self-supervised applications span vision, language, and time series with a shared theme</a:t>
            </a:r>
          </a:p>
          <a:p>
            <a:pPr lvl="0" marL="457200" indent="-228600">
              <a:buFont typeface="Calibri"/>
              <a:spcAft>
                <a:spcPts val="1000"/>
              </a:spcAft>
              <a:buSzPct val="100000"/>
              <a:buChar char="•"/>
              <a:lnSpc>
                <a:spcPts val="2200"/>
              </a:lnSpc>
            </a:pPr>
            <a:r>
              <a:rPr sz="2000" b="0">
                <a:solidFill>
                  <a:srgbClr val="333333"/>
                </a:solidFill>
                <a:latin typeface="Calibri"/>
              </a:rPr>
              <a:t>Benefits include data efficiency, real-time monitoring potential</a:t>
            </a:r>
          </a:p>
          <a:p>
            <a:pPr lvl="0" marL="457200" indent="-228600">
              <a:buFont typeface="Calibri"/>
              <a:spcAft>
                <a:spcPts val="1000"/>
              </a:spcAft>
              <a:buSzPct val="100000"/>
              <a:buChar char="•"/>
              <a:lnSpc>
                <a:spcPts val="2200"/>
              </a:lnSpc>
            </a:pPr>
            <a:r>
              <a:rPr sz="2000" b="0">
                <a:solidFill>
                  <a:srgbClr val="333333"/>
                </a:solidFill>
                <a:latin typeface="Calibri"/>
              </a:rPr>
              <a:t>Quality still depends on validating the downstream labeled evaluation set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The next part compares crowdsourcing and expert annotation on scale, cost, turnaround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11 — Ssl Applications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