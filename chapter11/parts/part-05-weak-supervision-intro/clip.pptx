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Active learning still spends human labels on selected items. Weak supervision instead generates training labels from noisy, incomplete, or heuristic signals so teams can scale without a fully hand-labeled corpus. This part defines weak labels, advantages, and common sources.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define weak supervision relative to fully supervised labeling; distinguish noisy, incomplete, and heuristic labels; list cost, speed, and coverage advantages; and name common sources such as heuristics, distant supervision, and related weak signals.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Weak supervision trains models using data that is partially labeled, noisy, or derived from unreliable sources rather than relying solely on high-quality human ground truth. The goal is to reduce dependence on large manually labeled sets by using accessible weak signals that are cheaper to obtain, then managing the noise they introduce.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Noisy labels are incorrect or imprecise, often from automation, crowds, or low-confidence annotators. Incomplete labeling leaves much of the pool unlabeled and requires extrapolation from patterns. Heuristic or imprecise labels come from rules, search queries, web scraping, or domain-specific shortcuts that may not match true ground truth but still inform training.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Weakly supervised pipelines often use labeling functions, data programming, or programmatic labeling to create large-scale weak label sets. The key challenge is managing noise and conflict among sources while still extracting useful training signal. Later sections detail Snorkel-style aggregation; this part establishes why those methods are needed.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Weak supervision is cost-effective because it avoids labeling every item by hand. It scales volume quickly when rules or distant sources can run over large corpora. It also enables coverage in domains where clean labels are scarce, provided teams validate against a small gold set and do not treat weak labels as perfect truth.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sources include heuristic rules written by domain experts, distant supervision that infers labels from knowledge bases or related databases, and transfer from pretrained models when domain labels are limited. Each source is imperfect; combining and auditing them is part of the method, not an optional afterthought.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Distant supervision might infer company–investor relations from financial databases even when text mentions are noisy. Transfer learning can act as a weak signal when a general pretrained model is fine-tuned on a small domain set. These patterns expand label volume but still require quality checks before production training.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Weak supervision replaces full hand labeling with noisy, incomplete, or heuristic signals. Advantages include cost, scale, and coverage when gold labels are scarce. Sources range from rules and distant databases to pretrained models; the next part shows how to combine them into usable training labels.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covers programmatic labeling with Snorkel-style labeling functions, heuristic rules, and data programming that outputs probabilistic labels for training.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11 — Introduction to weak supervision</a:t>
            </a:r>
          </a:p>
          <a:p>
            <a:pPr algn="ctr">
              <a:lnSpc>
                <a:spcPts val="2200"/>
              </a:lnSpc>
              <a:spcBef>
                <a:spcPts val="1400"/>
              </a:spcBef>
            </a:pPr>
            <a:r>
              <a:rPr sz="2600" b="0">
                <a:solidFill>
                  <a:srgbClr val="333333"/>
                </a:solidFill>
                <a:latin typeface="Calibri"/>
              </a:rPr>
              <a:t>Active learning still spends human labels on selected items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Weak Supervision Intro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Weak Supervision Intro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Definition of weak supervision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Weak supervision trains models using data that is partially labeled</a:t>
            </a:r>
          </a:p>
          <a:p>
            <a:pPr lvl="0" marL="457200" indent="-228600">
              <a:buFont typeface="Calibri"/>
              <a:spcAft>
                <a:spcPts val="1000"/>
              </a:spcAft>
              <a:buSzPct val="100000"/>
              <a:buChar char="•"/>
              <a:lnSpc>
                <a:spcPts val="2200"/>
              </a:lnSpc>
            </a:pPr>
            <a:r>
              <a:rPr sz="2000" b="0">
                <a:solidFill>
                  <a:srgbClr val="333333"/>
                </a:solidFill>
                <a:latin typeface="Calibri"/>
              </a:rPr>
              <a:t>Then managing the noise they introduce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Weak Supervision 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Noisy, incomplete, and heuristic labels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Noisy labels are incorrect or imprecise</a:t>
            </a:r>
          </a:p>
          <a:p>
            <a:pPr lvl="0" marL="457200" indent="-228600">
              <a:buFont typeface="Calibri"/>
              <a:spcAft>
                <a:spcPts val="1000"/>
              </a:spcAft>
              <a:buSzPct val="100000"/>
              <a:buChar char="•"/>
              <a:lnSpc>
                <a:spcPts val="2200"/>
              </a:lnSpc>
            </a:pPr>
            <a:r>
              <a:rPr sz="2000" b="0">
                <a:solidFill>
                  <a:srgbClr val="333333"/>
                </a:solidFill>
                <a:latin typeface="Calibri"/>
              </a:rPr>
              <a:t>Incomplete labeling leaves much of the pool unlabeled and requires extrapolation from</a:t>
            </a:r>
          </a:p>
          <a:p>
            <a:pPr lvl="0" marL="457200" indent="-228600">
              <a:buFont typeface="Calibri"/>
              <a:spcAft>
                <a:spcPts val="1000"/>
              </a:spcAft>
              <a:buSzPct val="100000"/>
              <a:buChar char="•"/>
              <a:lnSpc>
                <a:spcPts val="2200"/>
              </a:lnSpc>
            </a:pPr>
            <a:r>
              <a:rPr sz="2000" b="0">
                <a:solidFill>
                  <a:srgbClr val="333333"/>
                </a:solidFill>
                <a:latin typeface="Calibri"/>
              </a:rPr>
              <a:t>Heuristic or imprecise labels come from rules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Weak Supervision Intro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Programmatic and data-programming ideas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Weakly supervised pipelines often use labeling functions</a:t>
            </a:r>
          </a:p>
          <a:p>
            <a:pPr lvl="0" marL="457200" indent="-228600">
              <a:buFont typeface="Calibri"/>
              <a:spcAft>
                <a:spcPts val="1000"/>
              </a:spcAft>
              <a:buSzPct val="100000"/>
              <a:buChar char="•"/>
              <a:lnSpc>
                <a:spcPts val="2200"/>
              </a:lnSpc>
            </a:pPr>
            <a:r>
              <a:rPr sz="2000" b="0">
                <a:solidFill>
                  <a:srgbClr val="333333"/>
                </a:solidFill>
                <a:latin typeface="Calibri"/>
              </a:rPr>
              <a:t>The key challenge is managing noise and conflict among sources while still extracting</a:t>
            </a:r>
          </a:p>
          <a:p>
            <a:pPr lvl="0" marL="457200" indent="-228600">
              <a:buFont typeface="Calibri"/>
              <a:spcAft>
                <a:spcPts val="1000"/>
              </a:spcAft>
              <a:buSzPct val="100000"/>
              <a:buChar char="•"/>
              <a:lnSpc>
                <a:spcPts val="2200"/>
              </a:lnSpc>
            </a:pPr>
            <a:r>
              <a:rPr sz="2000" b="0">
                <a:solidFill>
                  <a:srgbClr val="333333"/>
                </a:solidFill>
                <a:latin typeface="Calibri"/>
              </a:rPr>
              <a:t>Later sections detail Snorkel-style aggregation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Weak Supervision Intro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Advantages of weak supervision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Weak supervision is cost-effective because it avoids labeling every item by hand</a:t>
            </a:r>
          </a:p>
          <a:p>
            <a:pPr lvl="0" marL="457200" indent="-228600">
              <a:buFont typeface="Calibri"/>
              <a:spcAft>
                <a:spcPts val="1000"/>
              </a:spcAft>
              <a:buSzPct val="100000"/>
              <a:buChar char="•"/>
              <a:lnSpc>
                <a:spcPts val="2200"/>
              </a:lnSpc>
            </a:pPr>
            <a:r>
              <a:rPr sz="2000" b="0">
                <a:solidFill>
                  <a:srgbClr val="333333"/>
                </a:solidFill>
                <a:latin typeface="Calibri"/>
              </a:rPr>
              <a:t>It scales volume quickly when rules or distant sources can run over large corpora</a:t>
            </a:r>
          </a:p>
          <a:p>
            <a:pPr lvl="0" marL="457200" indent="-228600">
              <a:buFont typeface="Calibri"/>
              <a:spcAft>
                <a:spcPts val="1000"/>
              </a:spcAft>
              <a:buSzPct val="100000"/>
              <a:buChar char="•"/>
              <a:lnSpc>
                <a:spcPts val="2200"/>
              </a:lnSpc>
            </a:pPr>
            <a:r>
              <a:rPr sz="2000" b="0">
                <a:solidFill>
                  <a:srgbClr val="333333"/>
                </a:solidFill>
                <a:latin typeface="Calibri"/>
              </a:rPr>
              <a:t>It also enables coverage in domains where clean labels are scarce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Weak Supervision Intro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Sources of weak supervision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Transfer from pretrained models when domain labels are limited</a:t>
            </a:r>
          </a:p>
          <a:p>
            <a:pPr lvl="0" marL="457200" indent="-228600">
              <a:buFont typeface="Calibri"/>
              <a:spcAft>
                <a:spcPts val="1000"/>
              </a:spcAft>
              <a:buSzPct val="100000"/>
              <a:buChar char="•"/>
              <a:lnSpc>
                <a:spcPts val="2200"/>
              </a:lnSpc>
            </a:pPr>
            <a:r>
              <a:rPr sz="2000" b="0">
                <a:solidFill>
                  <a:srgbClr val="333333"/>
                </a:solidFill>
                <a:latin typeface="Calibri"/>
              </a:rPr>
              <a:t>Each source is imperfect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Weak Supervision Intro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Distant supervision and related signals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Distant supervision might infer company–investor relations from financial databases even</a:t>
            </a:r>
          </a:p>
          <a:p>
            <a:pPr lvl="0" marL="457200" indent="-228600">
              <a:buFont typeface="Calibri"/>
              <a:spcAft>
                <a:spcPts val="1000"/>
              </a:spcAft>
              <a:buSzPct val="100000"/>
              <a:buChar char="•"/>
              <a:lnSpc>
                <a:spcPts val="2200"/>
              </a:lnSpc>
            </a:pPr>
            <a:r>
              <a:rPr sz="2000" b="0">
                <a:solidFill>
                  <a:srgbClr val="333333"/>
                </a:solidFill>
                <a:latin typeface="Calibri"/>
              </a:rPr>
              <a:t>Transfer learning can act as a weak signal when a general pretrained model is fine-tuned</a:t>
            </a:r>
          </a:p>
          <a:p>
            <a:pPr lvl="0" marL="457200" indent="-228600">
              <a:buFont typeface="Calibri"/>
              <a:spcAft>
                <a:spcPts val="1000"/>
              </a:spcAft>
              <a:buSzPct val="100000"/>
              <a:buChar char="•"/>
              <a:lnSpc>
                <a:spcPts val="2200"/>
              </a:lnSpc>
            </a:pPr>
            <a:r>
              <a:rPr sz="2000" b="0">
                <a:solidFill>
                  <a:srgbClr val="333333"/>
                </a:solidFill>
                <a:latin typeface="Calibri"/>
              </a:rPr>
              <a:t>These patterns expand label volume but still require quality checks before production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Weak Supervision Intro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Weak supervision replaces full hand labeling with noisy, incomplete, or heuristic signals</a:t>
            </a:r>
          </a:p>
          <a:p>
            <a:pPr lvl="0" marL="457200" indent="-228600">
              <a:buFont typeface="Calibri"/>
              <a:spcAft>
                <a:spcPts val="1000"/>
              </a:spcAft>
              <a:buSzPct val="100000"/>
              <a:buChar char="•"/>
              <a:lnSpc>
                <a:spcPts val="2200"/>
              </a:lnSpc>
            </a:pPr>
            <a:r>
              <a:rPr sz="2000" b="0">
                <a:solidFill>
                  <a:srgbClr val="333333"/>
                </a:solidFill>
                <a:latin typeface="Calibri"/>
              </a:rPr>
              <a:t>Advantages include cost, scale, and coverage when gold labels are scarce</a:t>
            </a:r>
          </a:p>
          <a:p>
            <a:pPr lvl="0" marL="457200" indent="-228600">
              <a:buFont typeface="Calibri"/>
              <a:spcAft>
                <a:spcPts val="1000"/>
              </a:spcAft>
              <a:buSzPct val="100000"/>
              <a:buChar char="•"/>
              <a:lnSpc>
                <a:spcPts val="2200"/>
              </a:lnSpc>
            </a:pPr>
            <a:r>
              <a:rPr sz="2000" b="0">
                <a:solidFill>
                  <a:srgbClr val="333333"/>
                </a:solidFill>
                <a:latin typeface="Calibri"/>
              </a:rPr>
              <a:t>Sources range from rules and distant databases to pretrained models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Weak Supervision Intro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Data programming that outputs probabilistic labels for training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Weak Supervision Intro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