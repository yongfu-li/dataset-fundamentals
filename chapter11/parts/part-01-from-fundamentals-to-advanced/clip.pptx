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4 covered annotation modalities, workflows, tools, and quality control. This chapter does not repeat that foundation. It develops four strategies that reduce expert labeling cost at scale: active learning, weak supervision, self-supervised representation learning, and hybrid crowd–expert pipelines.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name the four advanced annotation strategies developed in this chapter; explain the shared bottleneck of expensive human labels; summarize what each strategy optimizes according to the chapter comparison table; and recognize that the strategies are complementary rather than mutually exclusive.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labels are slow, expensive, and hard to keep consistent when datasets grow to millions of items. Chapter 4 already identified that bottleneck. Advanced strategies attack it from different angles: choosing which items humans label, proposing labels from heuristics, learning from unlabeled structure first, or staffing the queue with a mixed workforce.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Active learning chooses which unlabeled items humans should label next. Weak supervision proposes training labels from heuristics and distant sources. Self-supervised learning postpones task labels by pretraining on unlabeled structure. Hybrid crowd–expert pipelines assign routine items to crowds and reserve experts for gold sets and hard cases.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chapter comparison table contrasts who provides labels, when each strategy fits, and primary risks. Active learning optimizes which items humans label when a seed model can rank uncertainty, with risks of over-focusing on odd cases or a cold start. Weak supervision optimizes scale from cheap sources when domain rules exist, with risks of noisy or conflicting signals.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Self-supervised learning optimizes representations before task labels when large unlabeled corpora exist, but still needs labeled data for the final task. Hybrid crowd–expert staffing optimizes the cost–quality mix when the schema is partly simple and partly expert-critical, with risks that weak quality control lets crowd errors scale or that experts become a bottleneck.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often combine strategies: pretrain with self-supervision, expand labels with weak supervision, route uncertain items with active learning, and staff the queue with a hybrid crowd–expert pool. Synthetic companions from Chapter 10 can still fill rare classes, but they do not replace quality-control gates from Chapter 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strategies share one goal: reduce costly expert labeling without abandoning quality. Active learning queries humans selectively; weak supervision scales noisy signals; self-supervision learns from unlabeled structure; hybrid pipelines mix workforce roles. The remainder of the chapter develops each strategy in turn.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defines the active-learning loop and the main uncertainty-based query strategies: uncertainty sampling, margin sampling, and entropy sampling, with examples from vision and medical imaging.</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From fundamentals to advanced annotation</a:t>
            </a:r>
          </a:p>
          <a:p>
            <a:pPr algn="ctr">
              <a:lnSpc>
                <a:spcPts val="2200"/>
              </a:lnSpc>
              <a:spcBef>
                <a:spcPts val="1400"/>
              </a:spcBef>
            </a:pPr>
            <a:r>
              <a:rPr sz="2600" b="0">
                <a:solidFill>
                  <a:srgbClr val="333333"/>
                </a:solidFill>
                <a:latin typeface="Calibri"/>
              </a:rPr>
              <a:t>Chapter 4 covered annotation modalities, workflows, tools, and quality control</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From Fundamentals To Advanced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From Fundamentals To Advanced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Shared labeling bottleneck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Manual labels are slow, expensive</a:t>
            </a:r>
          </a:p>
          <a:p>
            <a:pPr>
              <a:spcAft>
                <a:spcPts val="1000"/>
              </a:spcAft>
              <a:buChar char="•"/>
              <a:lnSpc>
                <a:spcPts val="2200"/>
              </a:lnSpc>
            </a:pPr>
            <a:r>
              <a:rPr sz="2000" b="0">
                <a:solidFill>
                  <a:srgbClr val="333333"/>
                </a:solidFill>
                <a:latin typeface="Calibri"/>
              </a:rPr>
              <a:t>Chapter 4 already identified that bottleneck</a:t>
            </a:r>
          </a:p>
          <a:p>
            <a:pPr>
              <a:spcAft>
                <a:spcPts val="1000"/>
              </a:spcAft>
              <a:buChar char="•"/>
              <a:lnSpc>
                <a:spcPts val="2200"/>
              </a:lnSpc>
            </a:pPr>
            <a:r>
              <a:rPr sz="2000" b="0">
                <a:solidFill>
                  <a:srgbClr val="333333"/>
                </a:solidFill>
                <a:latin typeface="Calibri"/>
              </a:rPr>
              <a:t>Advanced strategies attack it from different angles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From Fundamentals To Advanced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Four strategies at a glance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Active learning chooses which unlabeled items humans should label next</a:t>
            </a:r>
          </a:p>
          <a:p>
            <a:pPr>
              <a:spcAft>
                <a:spcPts val="1000"/>
              </a:spcAft>
              <a:buChar char="•"/>
              <a:lnSpc>
                <a:spcPts val="2200"/>
              </a:lnSpc>
            </a:pPr>
            <a:r>
              <a:rPr sz="2000" b="0">
                <a:solidFill>
                  <a:srgbClr val="333333"/>
                </a:solidFill>
                <a:latin typeface="Calibri"/>
              </a:rPr>
              <a:t>Weak supervision proposes training labels from heuristics and distant sources</a:t>
            </a:r>
          </a:p>
          <a:p>
            <a:pPr>
              <a:spcAft>
                <a:spcPts val="1000"/>
              </a:spcAft>
              <a:buChar char="•"/>
              <a:lnSpc>
                <a:spcPts val="2200"/>
              </a:lnSpc>
            </a:pPr>
            <a:r>
              <a:rPr sz="2000" b="0">
                <a:solidFill>
                  <a:srgbClr val="333333"/>
                </a:solidFill>
                <a:latin typeface="Calibri"/>
              </a:rPr>
              <a:t>Self-supervised learning postpones task labels by pretraining on unlabeled structure</a:t>
            </a:r>
          </a:p>
          <a:p>
            <a:pPr>
              <a:spcAft>
                <a:spcPts val="1000"/>
              </a:spcAft>
              <a:buChar char="•"/>
              <a:lnSpc>
                <a:spcPts val="2200"/>
              </a:lnSpc>
            </a:pPr>
            <a:r>
              <a:rPr sz="2000" b="0">
                <a:solidFill>
                  <a:srgbClr val="333333"/>
                </a:solidFill>
                <a:latin typeface="Calibri"/>
              </a:rPr>
              <a:t>Hybrid crowd–expert pipelines assign routine items to crowds and reserve experts for gold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From Fundamentals To Advanced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Table 11.1 — What each strategy optimizes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The chapter comparison table contrasts who provides labels, when each strategy fits</a:t>
            </a:r>
          </a:p>
          <a:p>
            <a:pPr>
              <a:spcAft>
                <a:spcPts val="1000"/>
              </a:spcAft>
              <a:buChar char="•"/>
              <a:lnSpc>
                <a:spcPts val="2200"/>
              </a:lnSpc>
            </a:pPr>
            <a:r>
              <a:rPr sz="2000" b="0">
                <a:solidFill>
                  <a:srgbClr val="333333"/>
                </a:solidFill>
                <a:latin typeface="Calibri"/>
              </a:rPr>
              <a:t>Active learning optimizes which items humans label when a seed model can rank uncertainty</a:t>
            </a:r>
          </a:p>
          <a:p>
            <a:pPr>
              <a:spcAft>
                <a:spcPts val="1000"/>
              </a:spcAft>
              <a:buChar char="•"/>
              <a:lnSpc>
                <a:spcPts val="2200"/>
              </a:lnSpc>
            </a:pPr>
            <a:r>
              <a:rPr sz="2000" b="0">
                <a:solidFill>
                  <a:srgbClr val="333333"/>
                </a:solidFill>
                <a:latin typeface="Calibri"/>
              </a:rPr>
              <a:t>Weak supervision optimizes scale from cheap sources when domain rules exist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From Fundamentals To Advanced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Table 11.1 — Self-supervision and hybrid pipelines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But still needs labeled data for the final task</a:t>
            </a:r>
          </a:p>
          <a:p>
            <a:pPr>
              <a:spcAft>
                <a:spcPts val="1000"/>
              </a:spcAft>
              <a:buChar char="•"/>
              <a:lnSpc>
                <a:spcPts val="2200"/>
              </a:lnSpc>
            </a:pPr>
            <a:r>
              <a:rPr sz="2000" b="0">
                <a:solidFill>
                  <a:srgbClr val="333333"/>
                </a:solidFill>
                <a:latin typeface="Calibri"/>
              </a:rPr>
              <a:t>Hybrid crowd–expert staffing optimizes the cost–quality mix when the schema is partly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From Fundamentals To Advanced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Complementary, not exclusive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Teams often combine strategies</a:t>
            </a:r>
          </a:p>
          <a:p>
            <a:pPr>
              <a:spcAft>
                <a:spcPts val="1000"/>
              </a:spcAft>
              <a:buChar char="•"/>
              <a:lnSpc>
                <a:spcPts val="2200"/>
              </a:lnSpc>
            </a:pPr>
            <a:r>
              <a:rPr sz="2000" b="0">
                <a:solidFill>
                  <a:srgbClr val="333333"/>
                </a:solidFill>
                <a:latin typeface="Calibri"/>
              </a:rPr>
              <a:t>Synthetic companions from Chapter 10 can still fill rare classes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From Fundamentals To Advanced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Four strategies share one goal: reduce costly expert labeling without abandoning quality</a:t>
            </a:r>
          </a:p>
          <a:p>
            <a:pPr>
              <a:spcAft>
                <a:spcPts val="1000"/>
              </a:spcAft>
              <a:buChar char="•"/>
              <a:lnSpc>
                <a:spcPts val="2200"/>
              </a:lnSpc>
            </a:pPr>
            <a:r>
              <a:rPr sz="2000" b="0">
                <a:solidFill>
                  <a:srgbClr val="333333"/>
                </a:solidFill>
                <a:latin typeface="Calibri"/>
              </a:rPr>
              <a:t>Active learning queries humans selectively</a:t>
            </a:r>
          </a:p>
          <a:p>
            <a:pPr>
              <a:spcAft>
                <a:spcPts val="1000"/>
              </a:spcAft>
              <a:buChar char="•"/>
              <a:lnSpc>
                <a:spcPts val="2200"/>
              </a:lnSpc>
            </a:pPr>
            <a:r>
              <a:rPr sz="2000" b="0">
                <a:solidFill>
                  <a:srgbClr val="333333"/>
                </a:solidFill>
                <a:latin typeface="Calibri"/>
              </a:rPr>
              <a:t>The remainder of the chapter develops each strategy in turn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From Fundamentals To Advanced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Entropy sampling, with examples from vision and medical imaging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From Fundamentals To Advanced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