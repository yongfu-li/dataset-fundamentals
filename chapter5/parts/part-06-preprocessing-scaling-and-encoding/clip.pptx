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Cleaned columns still may sit on incomparable scales or arrive as raw text categories. This part covers normalization and standardization, then one-hot, label, and target encoding—with when each fits.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choose between min-max scaling and standardization, encode nominal versus ordinal categories appropriately, and state leakage risks for target encoding.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Min-max normalization maps values to a bounded range such as zero to one—useful for neural nets and distance models when bounds matter. Standardization subtracts the mean and divides by standard deviation—Example 5.46 scales age and income for k-nearest neighbors so income does not dominate distance. Tree models often need less scaling but still benefit from consistent units.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5.46 revisits the scale mismatch motif from Section 5.1. Open the example 46 module for this chapter to compare raw and scaled neighbor votes. Fit scalers on training data only, then transform validation and test sets.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One-hot encoding creates a binary column per category level—Example 5.47 for color and Example 5.50 for gender in churn models. Use for nominal categories without intrinsic order. High-cardinality fields may need hashing, embedding, or target encoding instead.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 encoding assigns integers to categories—Example 5.48 for ordinal size levels where order matters. Do not use arbitrary integer codes for nominal data with unordered labels; trees may treat 2 as twice 1 incorrectly in linear models.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encoding replaces a category with the mean outcome for that category—Example 5.49 for city mean price. Powerful but leak-prone: compute statistics inside cross-validation folds or use regularized encoders. Never encode using the full dataset before splitting.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when magnitude drives the algorithm. Match encoding to cardinality and ordinality. Guard target statistics against leakage.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binning, feature engineering, and transforms.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Scaling and encoding</a:t>
            </a:r>
          </a:p>
          <a:p>
            <a:pPr algn="ctr">
              <a:lnSpc>
                <a:spcPts val="2200"/>
              </a:lnSpc>
              <a:spcBef>
                <a:spcPts val="1400"/>
              </a:spcBef>
            </a:pPr>
            <a:r>
              <a:rPr sz="2600" b="0">
                <a:solidFill>
                  <a:srgbClr val="333333"/>
                </a:solidFill>
                <a:latin typeface="Calibri"/>
              </a:rPr>
              <a:t>Cleaned columns still may sit on incomparable scales or arrive as raw text categories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Preprocessing Scaling And Encoding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Choose between min-max scaling and standardization</a:t>
            </a:r>
          </a:p>
          <a:p>
            <a:pPr lvl="0" marL="457200" indent="-228600">
              <a:buFont typeface="Calibri"/>
              <a:spcAft>
                <a:spcPts val="1000"/>
              </a:spcAft>
              <a:buSzPct val="100000"/>
              <a:buChar char="•"/>
              <a:lnSpc>
                <a:spcPts val="2200"/>
              </a:lnSpc>
            </a:pPr>
            <a:r>
              <a:rPr sz="2000" b="0">
                <a:solidFill>
                  <a:srgbClr val="333333"/>
                </a:solidFill>
                <a:latin typeface="Calibri"/>
              </a:rPr>
              <a:t>State leakage risks for target encoding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Preprocessing Scaling And Encoding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Normalization and scaling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Min-max normalization maps values to a bounded range such as zero to one</a:t>
            </a:r>
          </a:p>
          <a:p>
            <a:pPr lvl="0" marL="457200" indent="-228600">
              <a:buFont typeface="Calibri"/>
              <a:spcAft>
                <a:spcPts val="1000"/>
              </a:spcAft>
              <a:buSzPct val="100000"/>
              <a:buChar char="•"/>
              <a:lnSpc>
                <a:spcPts val="2200"/>
              </a:lnSpc>
            </a:pPr>
            <a:r>
              <a:rPr sz="2000" b="0">
                <a:solidFill>
                  <a:srgbClr val="333333"/>
                </a:solidFill>
                <a:latin typeface="Calibri"/>
              </a:rPr>
              <a:t>Standardization subtracts the mean and divides by standard deviation</a:t>
            </a:r>
          </a:p>
          <a:p>
            <a:pPr lvl="0" marL="457200" indent="-228600">
              <a:buFont typeface="Calibri"/>
              <a:spcAft>
                <a:spcPts val="1000"/>
              </a:spcAft>
              <a:buSzPct val="100000"/>
              <a:buChar char="•"/>
              <a:lnSpc>
                <a:spcPts val="2200"/>
              </a:lnSpc>
            </a:pPr>
            <a:r>
              <a:rPr sz="2000" b="0">
                <a:solidFill>
                  <a:srgbClr val="333333"/>
                </a:solidFill>
                <a:latin typeface="Calibri"/>
              </a:rPr>
              <a:t>Tree models often need less scaling but still benefit from consistent units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Preprocessing Scaling And Encoding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5.46 — Scale age and income for KNN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5.46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5.46 revisits the scale mismatch motif from Section 5.1</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`modules/chapter5/example46/`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Preprocessing Scaling And Encoding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One-hot encoding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One-hot encoding creates a binary column per category level</a:t>
            </a:r>
          </a:p>
          <a:p>
            <a:pPr lvl="0" marL="457200" indent="-228600">
              <a:buFont typeface="Calibri"/>
              <a:spcAft>
                <a:spcPts val="1000"/>
              </a:spcAft>
              <a:buSzPct val="100000"/>
              <a:buChar char="•"/>
              <a:lnSpc>
                <a:spcPts val="2200"/>
              </a:lnSpc>
            </a:pPr>
            <a:r>
              <a:rPr sz="2000" b="0">
                <a:solidFill>
                  <a:srgbClr val="333333"/>
                </a:solidFill>
                <a:latin typeface="Calibri"/>
              </a:rPr>
              <a:t>Use for nominal categories without intrinsic order</a:t>
            </a:r>
          </a:p>
          <a:p>
            <a:pPr lvl="0" marL="457200" indent="-228600">
              <a:buFont typeface="Calibri"/>
              <a:spcAft>
                <a:spcPts val="1000"/>
              </a:spcAft>
              <a:buSzPct val="100000"/>
              <a:buChar char="•"/>
              <a:lnSpc>
                <a:spcPts val="2200"/>
              </a:lnSpc>
            </a:pPr>
            <a:r>
              <a:rPr sz="2000" b="0">
                <a:solidFill>
                  <a:srgbClr val="333333"/>
                </a:solidFill>
                <a:latin typeface="Calibri"/>
              </a:rPr>
              <a:t>High-cardinality fields may need hashing, embedding, or target encoding instead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Preprocessing Scaling And Encoding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Label encoding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Label encoding assigns integers to categories</a:t>
            </a:r>
          </a:p>
          <a:p>
            <a:pPr lvl="0" marL="457200" indent="-228600">
              <a:buFont typeface="Calibri"/>
              <a:spcAft>
                <a:spcPts val="1000"/>
              </a:spcAft>
              <a:buSzPct val="100000"/>
              <a:buChar char="•"/>
              <a:lnSpc>
                <a:spcPts val="2200"/>
              </a:lnSpc>
            </a:pPr>
            <a:r>
              <a:rPr sz="2000" b="0">
                <a:solidFill>
                  <a:srgbClr val="333333"/>
                </a:solidFill>
                <a:latin typeface="Calibri"/>
              </a:rPr>
              <a:t>Do not use arbitrary integer codes for nominal data with unordered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Preprocessing Scaling And Encoding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Target encoding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Target encoding replaces a category with the mean outcome for that category</a:t>
            </a:r>
          </a:p>
          <a:p>
            <a:pPr lvl="0" marL="457200" indent="-228600">
              <a:buFont typeface="Calibri"/>
              <a:spcAft>
                <a:spcPts val="1000"/>
              </a:spcAft>
              <a:buSzPct val="100000"/>
              <a:buChar char="•"/>
              <a:lnSpc>
                <a:spcPts val="2200"/>
              </a:lnSpc>
            </a:pPr>
            <a:r>
              <a:rPr sz="2000" b="0">
                <a:solidFill>
                  <a:srgbClr val="333333"/>
                </a:solidFill>
                <a:latin typeface="Calibri"/>
              </a:rPr>
              <a:t>Powerful but leak-prone</a:t>
            </a:r>
          </a:p>
          <a:p>
            <a:pPr lvl="0" marL="457200" indent="-228600">
              <a:buFont typeface="Calibri"/>
              <a:spcAft>
                <a:spcPts val="1000"/>
              </a:spcAft>
              <a:buSzPct val="100000"/>
              <a:buChar char="•"/>
              <a:lnSpc>
                <a:spcPts val="2200"/>
              </a:lnSpc>
            </a:pPr>
            <a:r>
              <a:rPr sz="2000" b="0">
                <a:solidFill>
                  <a:srgbClr val="333333"/>
                </a:solidFill>
                <a:latin typeface="Calibri"/>
              </a:rPr>
              <a:t>Never encode using the full dataset before splitting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Preprocessing Scaling And Encoding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Scale when magnitude drives the algorithm</a:t>
            </a:r>
          </a:p>
          <a:p>
            <a:pPr lvl="0" marL="457200" indent="-228600">
              <a:buFont typeface="Calibri"/>
              <a:spcAft>
                <a:spcPts val="1000"/>
              </a:spcAft>
              <a:buSzPct val="100000"/>
              <a:buChar char="•"/>
              <a:lnSpc>
                <a:spcPts val="2200"/>
              </a:lnSpc>
            </a:pPr>
            <a:r>
              <a:rPr sz="2000" b="0">
                <a:solidFill>
                  <a:srgbClr val="333333"/>
                </a:solidFill>
                <a:latin typeface="Calibri"/>
              </a:rPr>
              <a:t>Match encoding to cardinality and ordinality</a:t>
            </a:r>
          </a:p>
          <a:p>
            <a:pPr lvl="0" marL="457200" indent="-228600">
              <a:buFont typeface="Calibri"/>
              <a:spcAft>
                <a:spcPts val="1000"/>
              </a:spcAft>
              <a:buSzPct val="100000"/>
              <a:buChar char="•"/>
              <a:lnSpc>
                <a:spcPts val="2200"/>
              </a:lnSpc>
            </a:pPr>
            <a:r>
              <a:rPr sz="2000" b="0">
                <a:solidFill>
                  <a:srgbClr val="333333"/>
                </a:solidFill>
                <a:latin typeface="Calibri"/>
              </a:rPr>
              <a:t>Guard target statistics against leakage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Preprocessing Scaling And Encoding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binning, feature engineering, and transforms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Preprocessing Scaling And Encoding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