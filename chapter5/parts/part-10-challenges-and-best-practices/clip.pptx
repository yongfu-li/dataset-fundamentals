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Cleaning is tedious because defects interact and fixes can introduce bias. This part names recurring obstacles and summarizes practices that keep preprocessing auditable and reproducible.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explain why accuracy misleads on imbalanced data, describe currency and unit mixing risks, and list documentation, validation, and version-control habits.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Missing data mechanisms complicate imputation choices. Inconsistent cross-source formats consume analyst time. Outliers mix errors with rare truth. Imbalance steers models toward majority classes. Duplicates inflate counts. Transformations can leak target information if fit globally.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5.62 shows fraud at a tiny fraction of events—a majority-class classifier looks accurate while detecting almost no fraud. Open the example 62 module for this chapter to practice precision-recall thinking before choosing metrics.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5.63 reminds teams to harmonize currencies and units before comparing amounts across markets. Mixed units silently rank features by exchange noise instead of behavior. Standardize early and record conversion tables.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Handle missing data with explicit mechanism assumptions. Profile data before and after each step. Document parsing rules, imputation choices, and outlier policies. Separate train, validation, and test before fitting transformers. Use version control for datasets and preprocessing code. Review features for leakage and fairness implications connected to Chapter 7.</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 scalers, encoders, and imputers inside training folds. Store random seeds and library versions. Write preprocessing metadata alongside exported tables so another team can replay the pipeline months later.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Challenges are expected—plan time for them. Metrics must match the defect, especially under imbalance. Documentation and leakage control are part of cleaning, not optional extras.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retail and healthcare case studies plus hands-on module activities.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5 — Challenges and best practices</a:t>
            </a:r>
          </a:p>
          <a:p>
            <a:pPr algn="ctr">
              <a:lnSpc>
                <a:spcPts val="2200"/>
              </a:lnSpc>
              <a:spcBef>
                <a:spcPts val="1400"/>
              </a:spcBef>
            </a:pPr>
            <a:r>
              <a:rPr sz="2600" b="0">
                <a:solidFill>
                  <a:srgbClr val="333333"/>
                </a:solidFill>
                <a:latin typeface="Calibri"/>
              </a:rPr>
              <a:t>Cleaning is tedious because defects interact and fixes can introduce bias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Challenges And Best Practices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Explain why accuracy misleads on imbalanced data, describe currency and unit mixing risks</a:t>
            </a:r>
          </a:p>
          <a:p>
            <a:pPr>
              <a:spcAft>
                <a:spcPts val="1000"/>
              </a:spcAft>
              <a:buChar char="•"/>
              <a:lnSpc>
                <a:spcPts val="2200"/>
              </a:lnSpc>
            </a:pPr>
            <a:r>
              <a:rPr sz="2000" b="0">
                <a:solidFill>
                  <a:srgbClr val="333333"/>
                </a:solidFill>
                <a:latin typeface="Calibri"/>
              </a:rPr>
              <a:t>List documentation, validation</a:t>
            </a:r>
          </a:p>
          <a:p>
            <a:pPr>
              <a:spcAft>
                <a:spcPts val="1000"/>
              </a:spcAft>
              <a:buChar char="•"/>
              <a:lnSpc>
                <a:spcPts val="2200"/>
              </a:lnSpc>
            </a:pPr>
            <a:r>
              <a:rPr sz="2000" b="0">
                <a:solidFill>
                  <a:srgbClr val="333333"/>
                </a:solidFill>
                <a:latin typeface="Calibri"/>
              </a:rPr>
              <a:t>Version-control habits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Challenges And Best Practices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Recurring challenges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Missing data mechanisms complicate imputation choices</a:t>
            </a:r>
          </a:p>
          <a:p>
            <a:pPr>
              <a:spcAft>
                <a:spcPts val="1000"/>
              </a:spcAft>
              <a:buChar char="•"/>
              <a:lnSpc>
                <a:spcPts val="2200"/>
              </a:lnSpc>
            </a:pPr>
            <a:r>
              <a:rPr sz="2000" b="0">
                <a:solidFill>
                  <a:srgbClr val="333333"/>
                </a:solidFill>
                <a:latin typeface="Calibri"/>
              </a:rPr>
              <a:t>Inconsistent cross-source formats consume analyst time</a:t>
            </a:r>
          </a:p>
          <a:p>
            <a:pPr>
              <a:spcAft>
                <a:spcPts val="1000"/>
              </a:spcAft>
              <a:buChar char="•"/>
              <a:lnSpc>
                <a:spcPts val="2200"/>
              </a:lnSpc>
            </a:pPr>
            <a:r>
              <a:rPr sz="2000" b="0">
                <a:solidFill>
                  <a:srgbClr val="333333"/>
                </a:solidFill>
                <a:latin typeface="Calibri"/>
              </a:rPr>
              <a:t>Outliers mix errors with rare truth</a:t>
            </a:r>
          </a:p>
          <a:p>
            <a:pPr>
              <a:spcAft>
                <a:spcPts val="1000"/>
              </a:spcAft>
              <a:buChar char="•"/>
              <a:lnSpc>
                <a:spcPts val="2200"/>
              </a:lnSpc>
            </a:pPr>
            <a:r>
              <a:rPr sz="2000" b="0">
                <a:solidFill>
                  <a:srgbClr val="333333"/>
                </a:solidFill>
                <a:latin typeface="Calibri"/>
              </a:rPr>
              <a:t>Imbalance steers models toward majority classes</a:t>
            </a:r>
          </a:p>
          <a:p>
            <a:pPr>
              <a:spcAft>
                <a:spcPts val="1000"/>
              </a:spcAft>
              <a:buChar char="•"/>
              <a:lnSpc>
                <a:spcPts val="2200"/>
              </a:lnSpc>
            </a:pPr>
            <a:r>
              <a:rPr sz="2000" b="0">
                <a:solidFill>
                  <a:srgbClr val="333333"/>
                </a:solidFill>
                <a:latin typeface="Calibri"/>
              </a:rPr>
              <a:t>Duplicates inflate counts</a:t>
            </a:r>
          </a:p>
          <a:p>
            <a:pPr>
              <a:spcAft>
                <a:spcPts val="1000"/>
              </a:spcAft>
              <a:buChar char="•"/>
              <a:lnSpc>
                <a:spcPts val="2200"/>
              </a:lnSpc>
            </a:pPr>
            <a:r>
              <a:rPr sz="2000" b="0">
                <a:solidFill>
                  <a:srgbClr val="333333"/>
                </a:solidFill>
                <a:latin typeface="Calibri"/>
              </a:rPr>
              <a:t>Transformations can leak target information if fit globally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Challenges And Best Practices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5.62 — Rare fraud class distorts accuracy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5.62 — hands-on module</a:t>
            </a:r>
          </a:p>
          <a:p>
            <a:pPr>
              <a:spcAft>
                <a:spcPts val="1000"/>
              </a:spcAft>
              <a:buChar char="•"/>
              <a:lnSpc>
                <a:spcPts val="2200"/>
              </a:lnSpc>
            </a:pPr>
            <a:r>
              <a:rPr sz="2000" b="0">
                <a:solidFill>
                  <a:srgbClr val="333333"/>
                </a:solidFill>
                <a:latin typeface="Calibri"/>
              </a:rPr>
              <a:t>Example 5.62 shows fraud at a tiny fraction of events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`modules/chapter5/example62/`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Challenges And Best Practices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5.63 — Convert currencies before modeling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5.63 — hands-on module</a:t>
            </a:r>
          </a:p>
          <a:p>
            <a:pPr>
              <a:spcAft>
                <a:spcPts val="1000"/>
              </a:spcAft>
              <a:buChar char="•"/>
              <a:lnSpc>
                <a:spcPts val="2200"/>
              </a:lnSpc>
            </a:pPr>
            <a:r>
              <a:rPr sz="2000" b="0">
                <a:solidFill>
                  <a:srgbClr val="333333"/>
                </a:solidFill>
                <a:latin typeface="Calibri"/>
              </a:rPr>
              <a:t>Example 5.63 reminds teams to harmonize currencies and units before comparing amounts</a:t>
            </a:r>
          </a:p>
          <a:p>
            <a:pPr>
              <a:spcAft>
                <a:spcPts val="1000"/>
              </a:spcAft>
              <a:buChar char="•"/>
              <a:lnSpc>
                <a:spcPts val="2200"/>
              </a:lnSpc>
            </a:pPr>
            <a:r>
              <a:rPr sz="2000" b="0">
                <a:solidFill>
                  <a:srgbClr val="333333"/>
                </a:solidFill>
                <a:latin typeface="Calibri"/>
              </a:rPr>
              <a:t>Mixed units silently rank features by exchange noise instead of behavior</a:t>
            </a:r>
          </a:p>
          <a:p>
            <a:pPr>
              <a:spcAft>
                <a:spcPts val="1000"/>
              </a:spcAft>
              <a:buChar char="•"/>
              <a:lnSpc>
                <a:spcPts val="2200"/>
              </a:lnSpc>
            </a:pPr>
            <a:r>
              <a:rPr sz="2000" b="0">
                <a:solidFill>
                  <a:srgbClr val="333333"/>
                </a:solidFill>
                <a:latin typeface="Calibri"/>
              </a:rPr>
              <a:t>Standardize early and record conversion tables</a:t>
            </a:r>
          </a:p>
          <a:p>
            <a:pPr>
              <a:spcAft>
                <a:spcPts val="1000"/>
              </a:spcAft>
              <a:buChar char="•"/>
              <a:lnSpc>
                <a:spcPts val="2200"/>
              </a:lnSpc>
            </a:pPr>
            <a:r>
              <a:rPr sz="2000" b="0">
                <a:solidFill>
                  <a:srgbClr val="333333"/>
                </a:solidFill>
                <a:latin typeface="Calibri"/>
              </a:rPr>
              <a:t>View files: `modules/chapter5/example63/`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Challenges And Best Practices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Best practices overview</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Handle missing data with explicit mechanism assumptions</a:t>
            </a:r>
          </a:p>
          <a:p>
            <a:pPr>
              <a:spcAft>
                <a:spcPts val="1000"/>
              </a:spcAft>
              <a:buChar char="•"/>
              <a:lnSpc>
                <a:spcPts val="2200"/>
              </a:lnSpc>
            </a:pPr>
            <a:r>
              <a:rPr sz="2000" b="0">
                <a:solidFill>
                  <a:srgbClr val="333333"/>
                </a:solidFill>
                <a:latin typeface="Calibri"/>
              </a:rPr>
              <a:t>Profile data before and after each step</a:t>
            </a:r>
          </a:p>
          <a:p>
            <a:pPr>
              <a:spcAft>
                <a:spcPts val="1000"/>
              </a:spcAft>
              <a:buChar char="•"/>
              <a:lnSpc>
                <a:spcPts val="2200"/>
              </a:lnSpc>
            </a:pPr>
            <a:r>
              <a:rPr sz="2000" b="0">
                <a:solidFill>
                  <a:srgbClr val="333333"/>
                </a:solidFill>
                <a:latin typeface="Calibri"/>
              </a:rPr>
              <a:t>Document parsing rules, imputation choices, and outlier policies</a:t>
            </a:r>
          </a:p>
          <a:p>
            <a:pPr>
              <a:spcAft>
                <a:spcPts val="1000"/>
              </a:spcAft>
              <a:buChar char="•"/>
              <a:lnSpc>
                <a:spcPts val="2200"/>
              </a:lnSpc>
            </a:pPr>
            <a:r>
              <a:rPr sz="2000" b="0">
                <a:solidFill>
                  <a:srgbClr val="333333"/>
                </a:solidFill>
                <a:latin typeface="Calibri"/>
              </a:rPr>
              <a:t>Separate train, validation, and test before fitting transformers</a:t>
            </a:r>
          </a:p>
          <a:p>
            <a:pPr>
              <a:spcAft>
                <a:spcPts val="1000"/>
              </a:spcAft>
              <a:buChar char="•"/>
              <a:lnSpc>
                <a:spcPts val="2200"/>
              </a:lnSpc>
            </a:pPr>
            <a:r>
              <a:rPr sz="2000" b="0">
                <a:solidFill>
                  <a:srgbClr val="333333"/>
                </a:solidFill>
                <a:latin typeface="Calibri"/>
              </a:rPr>
              <a:t>Use version control for datasets and preprocessing code</a:t>
            </a:r>
          </a:p>
          <a:p>
            <a:pPr>
              <a:spcAft>
                <a:spcPts val="1000"/>
              </a:spcAft>
              <a:buChar char="•"/>
              <a:lnSpc>
                <a:spcPts val="2200"/>
              </a:lnSpc>
            </a:pPr>
            <a:r>
              <a:rPr sz="2000" b="0">
                <a:solidFill>
                  <a:srgbClr val="333333"/>
                </a:solidFill>
                <a:latin typeface="Calibri"/>
              </a:rPr>
              <a:t>Review features for leakage and fairness implications connected to Chapter 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Challenges And Best Practices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Validation and reproducibility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Fit scalers, encoders, and imputers inside training folds</a:t>
            </a:r>
          </a:p>
          <a:p>
            <a:pPr>
              <a:spcAft>
                <a:spcPts val="1000"/>
              </a:spcAft>
              <a:buChar char="•"/>
              <a:lnSpc>
                <a:spcPts val="2200"/>
              </a:lnSpc>
            </a:pPr>
            <a:r>
              <a:rPr sz="2000" b="0">
                <a:solidFill>
                  <a:srgbClr val="333333"/>
                </a:solidFill>
                <a:latin typeface="Calibri"/>
              </a:rPr>
              <a:t>Store random seeds and library versions</a:t>
            </a:r>
          </a:p>
          <a:p>
            <a:pPr>
              <a:spcAft>
                <a:spcPts val="1000"/>
              </a:spcAft>
              <a:buChar char="•"/>
              <a:lnSpc>
                <a:spcPts val="2200"/>
              </a:lnSpc>
            </a:pPr>
            <a:r>
              <a:rPr sz="2000" b="0">
                <a:solidFill>
                  <a:srgbClr val="333333"/>
                </a:solidFill>
                <a:latin typeface="Calibri"/>
              </a:rPr>
              <a:t>Write preprocessing metadata alongside exported tables so another team can replay the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Challenges And Best Practices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Challenges are expected, plan time for them</a:t>
            </a:r>
          </a:p>
          <a:p>
            <a:pPr>
              <a:spcAft>
                <a:spcPts val="1000"/>
              </a:spcAft>
              <a:buChar char="•"/>
              <a:lnSpc>
                <a:spcPts val="2200"/>
              </a:lnSpc>
            </a:pPr>
            <a:r>
              <a:rPr sz="2000" b="0">
                <a:solidFill>
                  <a:srgbClr val="333333"/>
                </a:solidFill>
                <a:latin typeface="Calibri"/>
              </a:rPr>
              <a:t>Metrics must match the defect, especially under imbalance</a:t>
            </a:r>
          </a:p>
          <a:p>
            <a:pPr>
              <a:spcAft>
                <a:spcPts val="1000"/>
              </a:spcAft>
              <a:buChar char="•"/>
              <a:lnSpc>
                <a:spcPts val="2200"/>
              </a:lnSpc>
            </a:pPr>
            <a:r>
              <a:rPr sz="2000" b="0">
                <a:solidFill>
                  <a:srgbClr val="333333"/>
                </a:solidFill>
                <a:latin typeface="Calibri"/>
              </a:rPr>
              <a:t>Documentation and leakage control are part of cleaning, not optional extras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Challenges And Best Practices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retail and healthcare case studies plus hands-on module activities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Challenges And Best Practices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