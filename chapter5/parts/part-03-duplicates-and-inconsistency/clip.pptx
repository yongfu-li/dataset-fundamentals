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 rows and inconsistent encodings silently distort counts, joins, and models. This part shows how retries inflate metrics, mixed formats break timelines, and split category labels fragment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duplicate impact on aggregates and training, recognize inconsistent date and ID formats, and describe how free-text categories hide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arise from system retries, merged exports, copy-paste ETL, and near-duplicate customer names. Example 5.14 shows duplicate purchase rows; Example 5.15 double-counts revenue; Example 5.16 lets models overweight repeated rows; Example 5.17 slows training on bloated tables. Deduplication is not cosmetic—it changes business numbers.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5.14 is the retail retry pattern. Open the example 14 module for this chapter to practice identifying duplicate keys before aggregation. Decide whether to keep first, last, or merged records based on business rules.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data is common when sources span departments or time periods. Example 5.18 mixes date formats, gender encodings, and measurement units in one table. Example 5.19 shows customer ID formats that block joins. Example 5.20 splits Male versus M into separate categories. Example 5.21 shows weeks lost normalizing free-text cities.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5.18 is a checklist of silent parse failures. Try the example 18 module to see how inconsistent encodings produce nulls or wrong aggregates after conversion. Standardization belongs in the cleaning phase before encoding.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keys prevent reliable joins across tables. Mixed currencies or units make sums meaningless until converted. Split labels inflate cardinality and starve rare categories of support. Exploration in Chapter 6 surfaces many of these patterns; repair methods appear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change revenue, sample weights, and runtime. Inconsistency breaks time logic and joins. Standardize formats early with explicit parsing rules and canonical category maps.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outliers, irrelevant features, and class imbalance.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Duplicates and inconsistency</a:t>
            </a:r>
          </a:p>
          <a:p>
            <a:pPr algn="ctr">
              <a:lnSpc>
                <a:spcPts val="2200"/>
              </a:lnSpc>
              <a:spcBef>
                <a:spcPts val="1400"/>
              </a:spcBef>
            </a:pPr>
            <a:r>
              <a:rPr sz="2600" b="0">
                <a:solidFill>
                  <a:srgbClr val="333333"/>
                </a:solidFill>
                <a:latin typeface="Calibri"/>
              </a:rPr>
              <a:t>Duplicate rows and inconsistent encodings silently distort counts, joins, and models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duplicate impact on aggregates and training</a:t>
            </a:r>
          </a:p>
          <a:p>
            <a:pPr lvl="0" marL="457200" indent="-228600">
              <a:buFont typeface="Calibri"/>
              <a:spcAft>
                <a:spcPts val="1000"/>
              </a:spcAft>
              <a:buSzPct val="100000"/>
              <a:buChar char="•"/>
              <a:lnSpc>
                <a:spcPts val="2200"/>
              </a:lnSpc>
            </a:pPr>
            <a:r>
              <a:rPr sz="2000" b="0">
                <a:solidFill>
                  <a:srgbClr val="333333"/>
                </a:solidFill>
                <a:latin typeface="Calibri"/>
              </a:rPr>
              <a:t>Describe how free-text categories hide structure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Duplicate data — causes and impact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Duplicates arise from system retries, merged exports, copy-paste ETL</a:t>
            </a:r>
          </a:p>
          <a:p>
            <a:pPr lvl="0" marL="457200" indent="-228600">
              <a:buFont typeface="Calibri"/>
              <a:spcAft>
                <a:spcPts val="1000"/>
              </a:spcAft>
              <a:buSzPct val="100000"/>
              <a:buChar char="•"/>
              <a:lnSpc>
                <a:spcPts val="2200"/>
              </a:lnSpc>
            </a:pPr>
            <a:r>
              <a:rPr sz="2000" b="0">
                <a:solidFill>
                  <a:srgbClr val="333333"/>
                </a:solidFill>
                <a:latin typeface="Calibri"/>
              </a:rPr>
              <a:t>Example 5.14 shows duplicate purchase rows</a:t>
            </a:r>
          </a:p>
          <a:p>
            <a:pPr lvl="0" marL="457200" indent="-228600">
              <a:buFont typeface="Calibri"/>
              <a:spcAft>
                <a:spcPts val="1000"/>
              </a:spcAft>
              <a:buSzPct val="100000"/>
              <a:buChar char="•"/>
              <a:lnSpc>
                <a:spcPts val="2200"/>
              </a:lnSpc>
            </a:pPr>
            <a:r>
              <a:rPr sz="2000" b="0">
                <a:solidFill>
                  <a:srgbClr val="333333"/>
                </a:solidFill>
                <a:latin typeface="Calibri"/>
              </a:rPr>
              <a:t>Deduplication is not cosmetic, it changes business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5.14 — Duplicate customer purchase rows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5.14 — hands-on module</a:t>
            </a:r>
          </a:p>
          <a:p>
            <a:pPr lvl="0" marL="457200" indent="-228600">
              <a:buFont typeface="Calibri"/>
              <a:spcAft>
                <a:spcPts val="1000"/>
              </a:spcAft>
              <a:buSzPct val="100000"/>
              <a:buChar char="•"/>
              <a:lnSpc>
                <a:spcPts val="2200"/>
              </a:lnSpc>
            </a:pPr>
            <a:r>
              <a:rPr sz="2000" b="0">
                <a:solidFill>
                  <a:srgbClr val="333333"/>
                </a:solidFill>
                <a:latin typeface="Calibri"/>
              </a:rPr>
              <a:t>The retail retry pattern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Inconsistent data — formats and units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Inconsistent data is common when sources span departments or time periods</a:t>
            </a:r>
          </a:p>
          <a:p>
            <a:pPr lvl="0" marL="457200" indent="-228600">
              <a:buFont typeface="Calibri"/>
              <a:spcAft>
                <a:spcPts val="1000"/>
              </a:spcAft>
              <a:buSzPct val="100000"/>
              <a:buChar char="•"/>
              <a:lnSpc>
                <a:spcPts val="2200"/>
              </a:lnSpc>
            </a:pPr>
            <a:r>
              <a:rPr sz="2000" b="0">
                <a:solidFill>
                  <a:srgbClr val="333333"/>
                </a:solidFill>
                <a:latin typeface="Calibri"/>
              </a:rPr>
              <a:t>Example 5.18 mixes date formats, gender encodings, and measurement units in one table</a:t>
            </a:r>
          </a:p>
          <a:p>
            <a:pPr lvl="0" marL="457200" indent="-228600">
              <a:buFont typeface="Calibri"/>
              <a:spcAft>
                <a:spcPts val="1000"/>
              </a:spcAft>
              <a:buSzPct val="100000"/>
              <a:buChar char="•"/>
              <a:lnSpc>
                <a:spcPts val="2200"/>
              </a:lnSpc>
            </a:pPr>
            <a:r>
              <a:rPr sz="2000" b="0">
                <a:solidFill>
                  <a:srgbClr val="333333"/>
                </a:solidFill>
                <a:latin typeface="Calibri"/>
              </a:rPr>
              <a:t>Example 5.19 shows customer ID formats that block joins</a:t>
            </a:r>
          </a:p>
          <a:p>
            <a:pPr lvl="0" marL="457200" indent="-228600">
              <a:buFont typeface="Calibri"/>
              <a:spcAft>
                <a:spcPts val="1000"/>
              </a:spcAft>
              <a:buSzPct val="100000"/>
              <a:buChar char="•"/>
              <a:lnSpc>
                <a:spcPts val="2200"/>
              </a:lnSpc>
            </a:pPr>
            <a:r>
              <a:rPr sz="2000" b="0">
                <a:solidFill>
                  <a:srgbClr val="333333"/>
                </a:solidFill>
                <a:latin typeface="Calibri"/>
              </a:rPr>
              <a:t>Example 5.20 splits Male versus M into separate categories</a:t>
            </a:r>
          </a:p>
          <a:p>
            <a:pPr lvl="0" marL="457200" indent="-228600">
              <a:buFont typeface="Calibri"/>
              <a:spcAft>
                <a:spcPts val="1000"/>
              </a:spcAft>
              <a:buSzPct val="100000"/>
              <a:buChar char="•"/>
              <a:lnSpc>
                <a:spcPts val="2200"/>
              </a:lnSpc>
            </a:pPr>
            <a:r>
              <a:rPr sz="2000" b="0">
                <a:solidFill>
                  <a:srgbClr val="333333"/>
                </a:solidFill>
                <a:latin typeface="Calibri"/>
              </a:rPr>
              <a:t>Example 5.21 shows weeks lost normalizing free-text cities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5.18 — Mixed dates, gender, and units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5.18 — hands-on module</a:t>
            </a:r>
          </a:p>
          <a:p>
            <a:pPr lvl="0" marL="457200" indent="-228600">
              <a:buFont typeface="Calibri"/>
              <a:spcAft>
                <a:spcPts val="1000"/>
              </a:spcAft>
              <a:buSzPct val="100000"/>
              <a:buChar char="•"/>
              <a:lnSpc>
                <a:spcPts val="2200"/>
              </a:lnSpc>
            </a:pPr>
            <a:r>
              <a:rPr sz="2000" b="0">
                <a:solidFill>
                  <a:srgbClr val="333333"/>
                </a:solidFill>
                <a:latin typeface="Calibri"/>
              </a:rPr>
              <a:t>A checklist of silent parse failures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Join and aggregation failures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Inconsistent keys prevent reliable joins across tables</a:t>
            </a:r>
          </a:p>
          <a:p>
            <a:pPr lvl="0" marL="457200" indent="-228600">
              <a:buFont typeface="Calibri"/>
              <a:spcAft>
                <a:spcPts val="1000"/>
              </a:spcAft>
              <a:buSzPct val="100000"/>
              <a:buChar char="•"/>
              <a:lnSpc>
                <a:spcPts val="2200"/>
              </a:lnSpc>
            </a:pPr>
            <a:r>
              <a:rPr sz="2000" b="0">
                <a:solidFill>
                  <a:srgbClr val="333333"/>
                </a:solidFill>
                <a:latin typeface="Calibri"/>
              </a:rPr>
              <a:t>Mixed currencies or units make sums meaningless until converted</a:t>
            </a:r>
          </a:p>
          <a:p>
            <a:pPr lvl="0" marL="457200" indent="-228600">
              <a:buFont typeface="Calibri"/>
              <a:spcAft>
                <a:spcPts val="1000"/>
              </a:spcAft>
              <a:buSzPct val="100000"/>
              <a:buChar char="•"/>
              <a:lnSpc>
                <a:spcPts val="2200"/>
              </a:lnSpc>
            </a:pPr>
            <a:r>
              <a:rPr sz="2000" b="0">
                <a:solidFill>
                  <a:srgbClr val="333333"/>
                </a:solidFill>
                <a:latin typeface="Calibri"/>
              </a:rPr>
              <a:t>Split labels inflate cardinality and starve rare categories of support</a:t>
            </a:r>
          </a:p>
          <a:p>
            <a:pPr lvl="0" marL="457200" indent="-228600">
              <a:buFont typeface="Calibri"/>
              <a:spcAft>
                <a:spcPts val="1000"/>
              </a:spcAft>
              <a:buSzPct val="100000"/>
              <a:buChar char="•"/>
              <a:lnSpc>
                <a:spcPts val="2200"/>
              </a:lnSpc>
            </a:pPr>
            <a:r>
              <a:rPr sz="2000" b="0">
                <a:solidFill>
                  <a:srgbClr val="333333"/>
                </a:solidFill>
                <a:latin typeface="Calibri"/>
              </a:rPr>
              <a:t>Exploration in Chapter 6 surfaces many of these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Duplicates change revenue, sample weights, and runtime</a:t>
            </a:r>
          </a:p>
          <a:p>
            <a:pPr lvl="0" marL="457200" indent="-228600">
              <a:buFont typeface="Calibri"/>
              <a:spcAft>
                <a:spcPts val="1000"/>
              </a:spcAft>
              <a:buSzPct val="100000"/>
              <a:buChar char="•"/>
              <a:lnSpc>
                <a:spcPts val="2200"/>
              </a:lnSpc>
            </a:pPr>
            <a:r>
              <a:rPr sz="2000" b="0">
                <a:solidFill>
                  <a:srgbClr val="333333"/>
                </a:solidFill>
                <a:latin typeface="Calibri"/>
              </a:rPr>
              <a:t>Inconsistency breaks time logic and joins</a:t>
            </a:r>
          </a:p>
          <a:p>
            <a:pPr lvl="0" marL="457200" indent="-228600">
              <a:buFont typeface="Calibri"/>
              <a:spcAft>
                <a:spcPts val="1000"/>
              </a:spcAft>
              <a:buSzPct val="100000"/>
              <a:buChar char="•"/>
              <a:lnSpc>
                <a:spcPts val="2200"/>
              </a:lnSpc>
            </a:pPr>
            <a:r>
              <a:rPr sz="2000" b="0">
                <a:solidFill>
                  <a:srgbClr val="333333"/>
                </a:solidFill>
                <a:latin typeface="Calibri"/>
              </a:rPr>
              <a:t>Standardize formats early with explicit parsing rules and canonical category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outliers, irrelevant features, and class imbalance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