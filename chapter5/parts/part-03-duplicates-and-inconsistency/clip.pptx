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Duplicate rows and inconsistent encodings silently distort counts, joins, and models. This part shows how retries inflate metrics, mixed formats break timelines, and split category labels fragment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duplicate impact on aggregates and training, recognize inconsistent date and ID formats, and describe how free-text categories hide 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Duplicates arise from system retries, merged exports, copy-paste ETL, and near-duplicate customer names. Example 5.14 shows duplicate purchase rows; Example 5.15 double-counts revenue; Example 5.16 lets models overweight repeated rows; Example 5.17 slows training on bloated tables. Deduplication is not cosmetic—it changes business numbers.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5.14 is the retail retry pattern. Open the example 14 module for this chapter to practice identifying duplicate keys before aggregation. Decide whether to keep first, last, or merged records based on business rules.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Inconsistent data is common when sources span departments or time periods. Example 5.18 mixes date formats, gender encodings, and measurement units in one table. Example 5.19 shows customer ID formats that block joins. Example 5.20 splits Male versus M into separate categories. Example 5.21 shows weeks lost normalizing free-text cities.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5.18 is a checklist of silent parse failures. Try the example 18 module to see how inconsistent encodings produce nulls or wrong aggregates after conversion. Standardization belongs in the cleaning phase before encoding.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Inconsistent keys prevent reliable joins across tables. Mixed currencies or units make sums meaningless until converted. Split labels inflate cardinality and starve rare categories of support. Exploration in Chapter 6 surfaces many of these patterns; repair methods appear in the cleaning-techniques part.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Duplicates change revenue, sample weights, and runtime. Inconsistency breaks time logic and joins. Standardize formats early with explicit parsing rules and canonical category maps.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outliers, irrelevant features, and class imbalance.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Duplicates and inconsistency</a:t>
            </a:r>
          </a:p>
          <a:p>
            <a:pPr algn="ctr">
              <a:lnSpc>
                <a:spcPts val="2200"/>
              </a:lnSpc>
              <a:spcBef>
                <a:spcPts val="1400"/>
              </a:spcBef>
            </a:pPr>
            <a:r>
              <a:rPr sz="2600" b="0">
                <a:solidFill>
                  <a:srgbClr val="333333"/>
                </a:solidFill>
                <a:latin typeface="Calibri"/>
              </a:rPr>
              <a:t>Duplicate rows and inconsistent encodings silently distort counts, joins, and models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Duplicates And Inconsistency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Explain duplicate impact on aggregates and training</a:t>
            </a:r>
          </a:p>
          <a:p>
            <a:pPr>
              <a:spcAft>
                <a:spcPts val="1000"/>
              </a:spcAft>
              <a:buChar char="•"/>
              <a:lnSpc>
                <a:spcPts val="2200"/>
              </a:lnSpc>
            </a:pPr>
            <a:r>
              <a:rPr sz="2000" b="0">
                <a:solidFill>
                  <a:srgbClr val="333333"/>
                </a:solidFill>
                <a:latin typeface="Calibri"/>
              </a:rPr>
              <a:t>Describe how free-text categories hide structure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Duplicates And Inconsistency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Duplicate data — causes and impact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Duplicates arise from system retries, merged exports, copy-paste ETL</a:t>
            </a:r>
          </a:p>
          <a:p>
            <a:pPr>
              <a:spcAft>
                <a:spcPts val="1000"/>
              </a:spcAft>
              <a:buChar char="•"/>
              <a:lnSpc>
                <a:spcPts val="2200"/>
              </a:lnSpc>
            </a:pPr>
            <a:r>
              <a:rPr sz="2000" b="0">
                <a:solidFill>
                  <a:srgbClr val="333333"/>
                </a:solidFill>
                <a:latin typeface="Calibri"/>
              </a:rPr>
              <a:t>Example 5.14 shows duplicate purchase rows</a:t>
            </a:r>
          </a:p>
          <a:p>
            <a:pPr>
              <a:spcAft>
                <a:spcPts val="1000"/>
              </a:spcAft>
              <a:buChar char="•"/>
              <a:lnSpc>
                <a:spcPts val="2200"/>
              </a:lnSpc>
            </a:pPr>
            <a:r>
              <a:rPr sz="2000" b="0">
                <a:solidFill>
                  <a:srgbClr val="333333"/>
                </a:solidFill>
                <a:latin typeface="Calibri"/>
              </a:rPr>
              <a:t>Deduplication is not cosmetic, it changes business numbers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Duplicates And Inconsistency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5.14 — Duplicate customer purchase rows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5.14 — hands-on module</a:t>
            </a:r>
          </a:p>
          <a:p>
            <a:pPr>
              <a:spcAft>
                <a:spcPts val="1000"/>
              </a:spcAft>
              <a:buChar char="•"/>
              <a:lnSpc>
                <a:spcPts val="2200"/>
              </a:lnSpc>
            </a:pPr>
            <a:r>
              <a:rPr sz="2000" b="0">
                <a:solidFill>
                  <a:srgbClr val="333333"/>
                </a:solidFill>
                <a:latin typeface="Calibri"/>
              </a:rPr>
              <a:t>The retail retry pattern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Duplicates And Inconsistency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Inconsistent data — formats and units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Inconsistent data is common when sources span departments or time periods</a:t>
            </a:r>
          </a:p>
          <a:p>
            <a:pPr>
              <a:spcAft>
                <a:spcPts val="1000"/>
              </a:spcAft>
              <a:buChar char="•"/>
              <a:lnSpc>
                <a:spcPts val="2200"/>
              </a:lnSpc>
            </a:pPr>
            <a:r>
              <a:rPr sz="2000" b="0">
                <a:solidFill>
                  <a:srgbClr val="333333"/>
                </a:solidFill>
                <a:latin typeface="Calibri"/>
              </a:rPr>
              <a:t>Example 5.18 mixes date formats, gender encodings, and measurement units in one table</a:t>
            </a:r>
          </a:p>
          <a:p>
            <a:pPr>
              <a:spcAft>
                <a:spcPts val="1000"/>
              </a:spcAft>
              <a:buChar char="•"/>
              <a:lnSpc>
                <a:spcPts val="2200"/>
              </a:lnSpc>
            </a:pPr>
            <a:r>
              <a:rPr sz="2000" b="0">
                <a:solidFill>
                  <a:srgbClr val="333333"/>
                </a:solidFill>
                <a:latin typeface="Calibri"/>
              </a:rPr>
              <a:t>Example 5.19 shows customer ID formats that block joins</a:t>
            </a:r>
          </a:p>
          <a:p>
            <a:pPr>
              <a:spcAft>
                <a:spcPts val="1000"/>
              </a:spcAft>
              <a:buChar char="•"/>
              <a:lnSpc>
                <a:spcPts val="2200"/>
              </a:lnSpc>
            </a:pPr>
            <a:r>
              <a:rPr sz="2000" b="0">
                <a:solidFill>
                  <a:srgbClr val="333333"/>
                </a:solidFill>
                <a:latin typeface="Calibri"/>
              </a:rPr>
              <a:t>Example 5.20 splits Male versus M into separate categories</a:t>
            </a:r>
          </a:p>
          <a:p>
            <a:pPr>
              <a:spcAft>
                <a:spcPts val="1000"/>
              </a:spcAft>
              <a:buChar char="•"/>
              <a:lnSpc>
                <a:spcPts val="2200"/>
              </a:lnSpc>
            </a:pPr>
            <a:r>
              <a:rPr sz="2000" b="0">
                <a:solidFill>
                  <a:srgbClr val="333333"/>
                </a:solidFill>
                <a:latin typeface="Calibri"/>
              </a:rPr>
              <a:t>Example 5.21 shows weeks lost normalizing free-text cities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Duplicates And Inconsistency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5.18 — Mixed dates, gender, and units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5.18 — hands-on module</a:t>
            </a:r>
          </a:p>
          <a:p>
            <a:pPr>
              <a:spcAft>
                <a:spcPts val="1000"/>
              </a:spcAft>
              <a:buChar char="•"/>
              <a:lnSpc>
                <a:spcPts val="2200"/>
              </a:lnSpc>
            </a:pPr>
            <a:r>
              <a:rPr sz="2000" b="0">
                <a:solidFill>
                  <a:srgbClr val="333333"/>
                </a:solidFill>
                <a:latin typeface="Calibri"/>
              </a:rPr>
              <a:t>A checklist of silent parse failures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Duplicates And Inconsistency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Join and aggregation failures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Inconsistent keys prevent reliable joins across tables</a:t>
            </a:r>
          </a:p>
          <a:p>
            <a:pPr>
              <a:spcAft>
                <a:spcPts val="1000"/>
              </a:spcAft>
              <a:buChar char="•"/>
              <a:lnSpc>
                <a:spcPts val="2200"/>
              </a:lnSpc>
            </a:pPr>
            <a:r>
              <a:rPr sz="2000" b="0">
                <a:solidFill>
                  <a:srgbClr val="333333"/>
                </a:solidFill>
                <a:latin typeface="Calibri"/>
              </a:rPr>
              <a:t>Mixed currencies or units make sums meaningless until converted</a:t>
            </a:r>
          </a:p>
          <a:p>
            <a:pPr>
              <a:spcAft>
                <a:spcPts val="1000"/>
              </a:spcAft>
              <a:buChar char="•"/>
              <a:lnSpc>
                <a:spcPts val="2200"/>
              </a:lnSpc>
            </a:pPr>
            <a:r>
              <a:rPr sz="2000" b="0">
                <a:solidFill>
                  <a:srgbClr val="333333"/>
                </a:solidFill>
                <a:latin typeface="Calibri"/>
              </a:rPr>
              <a:t>Split labels inflate cardinality and starve rare categories of support</a:t>
            </a:r>
          </a:p>
          <a:p>
            <a:pPr>
              <a:spcAft>
                <a:spcPts val="1000"/>
              </a:spcAft>
              <a:buChar char="•"/>
              <a:lnSpc>
                <a:spcPts val="2200"/>
              </a:lnSpc>
            </a:pPr>
            <a:r>
              <a:rPr sz="2000" b="0">
                <a:solidFill>
                  <a:srgbClr val="333333"/>
                </a:solidFill>
                <a:latin typeface="Calibri"/>
              </a:rPr>
              <a:t>Exploration in Chapter 6 surfaces many of these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Duplicates And Inconsistency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Duplicates change revenue, sample weights, and runtime</a:t>
            </a:r>
          </a:p>
          <a:p>
            <a:pPr>
              <a:spcAft>
                <a:spcPts val="1000"/>
              </a:spcAft>
              <a:buChar char="•"/>
              <a:lnSpc>
                <a:spcPts val="2200"/>
              </a:lnSpc>
            </a:pPr>
            <a:r>
              <a:rPr sz="2000" b="0">
                <a:solidFill>
                  <a:srgbClr val="333333"/>
                </a:solidFill>
                <a:latin typeface="Calibri"/>
              </a:rPr>
              <a:t>Inconsistency breaks time logic and joins</a:t>
            </a:r>
          </a:p>
          <a:p>
            <a:pPr>
              <a:spcAft>
                <a:spcPts val="1000"/>
              </a:spcAft>
              <a:buChar char="•"/>
              <a:lnSpc>
                <a:spcPts val="2200"/>
              </a:lnSpc>
            </a:pPr>
            <a:r>
              <a:rPr sz="2000" b="0">
                <a:solidFill>
                  <a:srgbClr val="333333"/>
                </a:solidFill>
                <a:latin typeface="Calibri"/>
              </a:rPr>
              <a:t>Standardize formats early with explicit parsing rules and canonical category maps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Duplicates And Inconsistency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outliers, irrelevant features, and class imbalance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Duplicates And Inconsistency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