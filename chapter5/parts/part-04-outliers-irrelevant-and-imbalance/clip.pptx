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extreme value is an error, and not every column belongs in the model. This part separates recording mistakes from valid tails, drops noise features, and introduces class imbalance as a preprocessing concern.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distinguish erroneous outliers from legitimate extremes, explain why irrelevant columns hurt interpretability and training, and describe why rare classes break accuracy metrics.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Outliers deviate sharply from the bulk of a distribution. Causes include typos, sensor faults, and genuine rare events. Example 5.22 shows an extra zero in blood pressure; Example 5.24 shows a faulty IoT spike; Example 5.23 shows a valid extreme income observation. Treatment depends on which case you face.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Responses include dropping clear typos, winsorizing or capping tails, log transforms to compress skew, and replacing spikes with robust statistics such as the median. Examples 5.25 through 5.28 illustrate drop, log, cap, and median-replace patterns. Blind removal of all extremes can delete signal.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5.22 is a classic entry error. Open the example 22 module for this chapter to compare typo outliers with legitimate clinical extremes. Document the rule applied so evaluation remains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Irrelevant columns add noise without predictive value. Example 5.29 lists color or pet features unrelated to a loan default target. Example 5.30 notes harder interpretation; Example 5.31 shows models fitting noise; Example 5.32 shows slower tree training. Correlation and domain review help prune fields.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5.29 motivates feature selection before modeling. Try the example 29 module to see columns that should be dropped or deferred to another task. Identifier columns often belong here unless explicitly engineered.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Imbalance means one class dominates—Example 5.33 shows fraud at one percent of events. Majority-class classifiers can report high accuracy while missing almost every fraud case. Responses include oversampling, class weights, and synthesis methods such as SMOTE introduced later in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Outlier handling requires domain judgment. Irrelevant features waste compute and invite overfitting. Imbalance makes accuracy misleading—plan metrics and resampling before training.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cleaning techniques—imputation, deduplication, standardization, and outlier flags.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Outliers, irrelevant features, and imbalance</a:t>
            </a:r>
          </a:p>
          <a:p>
            <a:pPr algn="ctr">
              <a:lnSpc>
                <a:spcPts val="2200"/>
              </a:lnSpc>
              <a:spcBef>
                <a:spcPts val="1400"/>
              </a:spcBef>
            </a:pPr>
            <a:r>
              <a:rPr sz="2600" b="0">
                <a:solidFill>
                  <a:srgbClr val="333333"/>
                </a:solidFill>
                <a:latin typeface="Calibri"/>
              </a:rPr>
              <a:t>Not every extreme value is an error, and not every column belongs in the model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Outliers Irrelevant And Imbalance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Distinguish erroneous outliers from legitimate extremes</a:t>
            </a:r>
          </a:p>
          <a:p>
            <a:pPr lvl="0" marL="457200" indent="-228600">
              <a:buFont typeface="Calibri"/>
              <a:spcAft>
                <a:spcPts val="1000"/>
              </a:spcAft>
              <a:buSzPct val="100000"/>
              <a:buChar char="•"/>
              <a:lnSpc>
                <a:spcPts val="2200"/>
              </a:lnSpc>
            </a:pPr>
            <a:r>
              <a:rPr sz="2000" b="0">
                <a:solidFill>
                  <a:srgbClr val="333333"/>
                </a:solidFill>
                <a:latin typeface="Calibri"/>
              </a:rPr>
              <a:t>Describe why rare classes break accuracy metrics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Outliers Irrelevant And Imbalance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Outliers — definition and causes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Outliers deviate sharply from the bulk of a distribution</a:t>
            </a:r>
          </a:p>
          <a:p>
            <a:pPr lvl="0" marL="457200" indent="-228600">
              <a:buFont typeface="Calibri"/>
              <a:spcAft>
                <a:spcPts val="1000"/>
              </a:spcAft>
              <a:buSzPct val="100000"/>
              <a:buChar char="•"/>
              <a:lnSpc>
                <a:spcPts val="2200"/>
              </a:lnSpc>
            </a:pPr>
            <a:r>
              <a:rPr sz="2000" b="0">
                <a:solidFill>
                  <a:srgbClr val="333333"/>
                </a:solidFill>
                <a:latin typeface="Calibri"/>
              </a:rPr>
              <a:t>Causes include typos, sensor faults, and genuine rare events</a:t>
            </a:r>
          </a:p>
          <a:p>
            <a:pPr lvl="0" marL="457200" indent="-228600">
              <a:buFont typeface="Calibri"/>
              <a:spcAft>
                <a:spcPts val="1000"/>
              </a:spcAft>
              <a:buSzPct val="100000"/>
              <a:buChar char="•"/>
              <a:lnSpc>
                <a:spcPts val="2200"/>
              </a:lnSpc>
            </a:pPr>
            <a:r>
              <a:rPr sz="2000" b="0">
                <a:solidFill>
                  <a:srgbClr val="333333"/>
                </a:solidFill>
                <a:latin typeface="Calibri"/>
              </a:rPr>
              <a:t>Example 5.22 shows an extra zero in blood pressure</a:t>
            </a:r>
          </a:p>
          <a:p>
            <a:pPr lvl="0" marL="457200" indent="-228600">
              <a:buFont typeface="Calibri"/>
              <a:spcAft>
                <a:spcPts val="1000"/>
              </a:spcAft>
              <a:buSzPct val="100000"/>
              <a:buChar char="•"/>
              <a:lnSpc>
                <a:spcPts val="2200"/>
              </a:lnSpc>
            </a:pPr>
            <a:r>
              <a:rPr sz="2000" b="0">
                <a:solidFill>
                  <a:srgbClr val="333333"/>
                </a:solidFill>
                <a:latin typeface="Calibri"/>
              </a:rPr>
              <a:t>Treatment depends on which case you face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Outliers Irrelevant And Imbalance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Handling outliers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Replacing spikes with robust statistics such as the median</a:t>
            </a:r>
          </a:p>
          <a:p>
            <a:pPr lvl="0" marL="457200" indent="-228600">
              <a:buFont typeface="Calibri"/>
              <a:spcAft>
                <a:spcPts val="1000"/>
              </a:spcAft>
              <a:buSzPct val="100000"/>
              <a:buChar char="•"/>
              <a:lnSpc>
                <a:spcPts val="2200"/>
              </a:lnSpc>
            </a:pPr>
            <a:r>
              <a:rPr sz="2000" b="0">
                <a:solidFill>
                  <a:srgbClr val="333333"/>
                </a:solidFill>
                <a:latin typeface="Calibri"/>
              </a:rPr>
              <a:t>Examples 5.25 through 5.28 illustrate drop, log, cap, and median-replace patterns</a:t>
            </a:r>
          </a:p>
          <a:p>
            <a:pPr lvl="0" marL="457200" indent="-228600">
              <a:buFont typeface="Calibri"/>
              <a:spcAft>
                <a:spcPts val="1000"/>
              </a:spcAft>
              <a:buSzPct val="100000"/>
              <a:buChar char="•"/>
              <a:lnSpc>
                <a:spcPts val="2200"/>
              </a:lnSpc>
            </a:pPr>
            <a:r>
              <a:rPr sz="2000" b="0">
                <a:solidFill>
                  <a:srgbClr val="333333"/>
                </a:solidFill>
                <a:latin typeface="Calibri"/>
              </a:rPr>
              <a:t>Blind removal of all extremes can delete signal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Outliers Irrelevant And Imbalance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5.22 — Extra zero in blood pressure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5.22 — hands-on module</a:t>
            </a:r>
          </a:p>
          <a:p>
            <a:pPr lvl="0" marL="457200" indent="-228600">
              <a:buFont typeface="Calibri"/>
              <a:spcAft>
                <a:spcPts val="1000"/>
              </a:spcAft>
              <a:buSzPct val="100000"/>
              <a:buChar char="•"/>
              <a:lnSpc>
                <a:spcPts val="2200"/>
              </a:lnSpc>
            </a:pPr>
            <a:r>
              <a:rPr sz="2000" b="0">
                <a:solidFill>
                  <a:srgbClr val="333333"/>
                </a:solidFill>
                <a:latin typeface="Calibri"/>
              </a:rPr>
              <a:t>A classic entry error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`modules/chapter5/example22/`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Outliers Irrelevant And Imbalance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Irrelevant features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Irrelevant columns add noise without predictive value</a:t>
            </a:r>
          </a:p>
          <a:p>
            <a:pPr lvl="0" marL="457200" indent="-228600">
              <a:buFont typeface="Calibri"/>
              <a:spcAft>
                <a:spcPts val="1000"/>
              </a:spcAft>
              <a:buSzPct val="100000"/>
              <a:buChar char="•"/>
              <a:lnSpc>
                <a:spcPts val="2200"/>
              </a:lnSpc>
            </a:pPr>
            <a:r>
              <a:rPr sz="2000" b="0">
                <a:solidFill>
                  <a:srgbClr val="333333"/>
                </a:solidFill>
                <a:latin typeface="Calibri"/>
              </a:rPr>
              <a:t>Example 5.29 lists color or pet features unrelated to a loan default target</a:t>
            </a:r>
          </a:p>
          <a:p>
            <a:pPr lvl="0" marL="457200" indent="-228600">
              <a:buFont typeface="Calibri"/>
              <a:spcAft>
                <a:spcPts val="1000"/>
              </a:spcAft>
              <a:buSzPct val="100000"/>
              <a:buChar char="•"/>
              <a:lnSpc>
                <a:spcPts val="2200"/>
              </a:lnSpc>
            </a:pPr>
            <a:r>
              <a:rPr sz="2000" b="0">
                <a:solidFill>
                  <a:srgbClr val="333333"/>
                </a:solidFill>
                <a:latin typeface="Calibri"/>
              </a:rPr>
              <a:t>Example 5.30 notes harder interpretation</a:t>
            </a:r>
          </a:p>
          <a:p>
            <a:pPr lvl="0" marL="457200" indent="-228600">
              <a:buFont typeface="Calibri"/>
              <a:spcAft>
                <a:spcPts val="1000"/>
              </a:spcAft>
              <a:buSzPct val="100000"/>
              <a:buChar char="•"/>
              <a:lnSpc>
                <a:spcPts val="2200"/>
              </a:lnSpc>
            </a:pPr>
            <a:r>
              <a:rPr sz="2000" b="0">
                <a:solidFill>
                  <a:srgbClr val="333333"/>
                </a:solidFill>
                <a:latin typeface="Calibri"/>
              </a:rPr>
              <a:t>Correlation and domain review help prune fields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Outliers Irrelevant And Imbalance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5.29 — Irrelevant color and pet features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5.29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5.29 motivates feature selection before modeling</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`modules/chapter5/example29/`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Outliers Irrelevant And Imbalance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Imbalanced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Imbalance means one class dominates, Example 5.33 shows fraud at one percent of events</a:t>
            </a:r>
          </a:p>
          <a:p>
            <a:pPr lvl="0" marL="457200" indent="-228600">
              <a:buFont typeface="Calibri"/>
              <a:spcAft>
                <a:spcPts val="1000"/>
              </a:spcAft>
              <a:buSzPct val="100000"/>
              <a:buChar char="•"/>
              <a:lnSpc>
                <a:spcPts val="2200"/>
              </a:lnSpc>
            </a:pPr>
            <a:r>
              <a:rPr sz="2000" b="0">
                <a:solidFill>
                  <a:srgbClr val="333333"/>
                </a:solidFill>
                <a:latin typeface="Calibri"/>
              </a:rPr>
              <a:t>Majority-class classifiers can report high accuracy while missing almost every fraud case</a:t>
            </a:r>
          </a:p>
          <a:p>
            <a:pPr lvl="0" marL="457200" indent="-228600">
              <a:buFont typeface="Calibri"/>
              <a:spcAft>
                <a:spcPts val="1000"/>
              </a:spcAft>
              <a:buSzPct val="100000"/>
              <a:buChar char="•"/>
              <a:lnSpc>
                <a:spcPts val="2200"/>
              </a:lnSpc>
            </a:pPr>
            <a:r>
              <a:rPr sz="2000" b="0">
                <a:solidFill>
                  <a:srgbClr val="333333"/>
                </a:solidFill>
                <a:latin typeface="Calibri"/>
              </a:rPr>
              <a:t>Responses include oversampling, class weights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Outliers Irrelevant And Imbalance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Outlier handling requires domain judgment</a:t>
            </a:r>
          </a:p>
          <a:p>
            <a:pPr lvl="0" marL="457200" indent="-228600">
              <a:buFont typeface="Calibri"/>
              <a:spcAft>
                <a:spcPts val="1000"/>
              </a:spcAft>
              <a:buSzPct val="100000"/>
              <a:buChar char="•"/>
              <a:lnSpc>
                <a:spcPts val="2200"/>
              </a:lnSpc>
            </a:pPr>
            <a:r>
              <a:rPr sz="2000" b="0">
                <a:solidFill>
                  <a:srgbClr val="333333"/>
                </a:solidFill>
                <a:latin typeface="Calibri"/>
              </a:rPr>
              <a:t>Irrelevant features waste compute and invite overfitting</a:t>
            </a:r>
          </a:p>
          <a:p>
            <a:pPr lvl="0" marL="457200" indent="-228600">
              <a:buFont typeface="Calibri"/>
              <a:spcAft>
                <a:spcPts val="1000"/>
              </a:spcAft>
              <a:buSzPct val="100000"/>
              <a:buChar char="•"/>
              <a:lnSpc>
                <a:spcPts val="2200"/>
              </a:lnSpc>
            </a:pPr>
            <a:r>
              <a:rPr sz="2000" b="0">
                <a:solidFill>
                  <a:srgbClr val="333333"/>
                </a:solidFill>
                <a:latin typeface="Calibri"/>
              </a:rPr>
              <a:t>Imbalance makes accuracy misleading, plan metrics and resampling before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Outliers Irrelevant And Imbalance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cleaning techniques, imputation, deduplication, standardization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Outliers Irrelevant And Imbalance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