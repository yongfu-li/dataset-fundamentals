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Principles become concrete in retail segmentation and healthcare outcome prediction. This part walks both domain case studies and points to packaged module activities for spotting and fixing defects.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outline cleaning steps for an e-commerce segmentation table and a clinical outcomes table, and locate module labs for issue spotting and pandas repair templates.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e-commerce firm segments customers by purchase behavior. Challenges include missing age and frequency fields, inconsistent product capitalization, and mixed currencies. Solutions: median or mode imputation, currency harmonization, text normalization, and scaling of amount and frequency features. Cleaned data supports clustering and targeted campaigns.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records combine age, history, labs, and outcomes. Missing labs, outlier vitals, and inconsistent smoker labels are common. Solutions: principled imputation, categorical standardization, IQR outlier review, and numeric scaling before supervised models. Preprocessing improves allocative and diagnostic workflows when documented.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5.64 introduces a practice table with missing prices and duplicate transactions for issue spotting. Open the example 64 module for this chapter to audit the schema before cleaning. This mirrors Section 5.8 spot-the-issue activities on the static site.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5.65 provides a guided repair script. Try the example 65 module to apply drop, impute, encode, and scale steps end to end. Additional modules cover scaling comparisons and encoding tradeoffs referenced in the chapter exercises.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cases share a pattern: profile defects, apply domain-aware fixes, validate on held-out data, and document transforms. Retail emphasizes revenue integrity; healthcare emphasizes measurement error and label consistency. Fairness review may follow in Chapter 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context chooses imputation and outlier rules. Case studies connect Sections 5.2–5.5 into narratives. Module activities supply hands-on repetition without requiring live execution on the course site.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advanced topics—Bayesian imputation, streaming data, and explainability-aware cleaning.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Case studies and hands-on activities</a:t>
            </a:r>
          </a:p>
          <a:p>
            <a:pPr algn="ctr">
              <a:lnSpc>
                <a:spcPts val="2200"/>
              </a:lnSpc>
              <a:spcBef>
                <a:spcPts val="1400"/>
              </a:spcBef>
            </a:pPr>
            <a:r>
              <a:rPr sz="2600" b="0">
                <a:solidFill>
                  <a:srgbClr val="333333"/>
                </a:solidFill>
                <a:latin typeface="Calibri"/>
              </a:rPr>
              <a:t>Principles become concrete in retail segmentation and healthcare outcome prediction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Outline cleaning steps for an e-commerce segmentation table and a clinical outcomes table</a:t>
            </a:r>
          </a:p>
          <a:p>
            <a:pPr>
              <a:spcAft>
                <a:spcPts val="1000"/>
              </a:spcAft>
              <a:buChar char="•"/>
              <a:lnSpc>
                <a:spcPts val="2200"/>
              </a:lnSpc>
            </a:pPr>
            <a:r>
              <a:rPr sz="2000" b="0">
                <a:solidFill>
                  <a:srgbClr val="333333"/>
                </a:solidFill>
                <a:latin typeface="Calibri"/>
              </a:rPr>
              <a:t>Locate module labs for issue spotting and pandas repair templates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Retail: customer segmentation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 e-commerce firm segments customers by purchase behavior</a:t>
            </a:r>
          </a:p>
          <a:p>
            <a:pPr>
              <a:spcAft>
                <a:spcPts val="1000"/>
              </a:spcAft>
              <a:buChar char="•"/>
              <a:lnSpc>
                <a:spcPts val="2200"/>
              </a:lnSpc>
            </a:pPr>
            <a:r>
              <a:rPr sz="2000" b="0">
                <a:solidFill>
                  <a:srgbClr val="333333"/>
                </a:solidFill>
                <a:latin typeface="Calibri"/>
              </a:rPr>
              <a:t>Challenges include missing age and frequency fields, inconsistent product capitalization</a:t>
            </a:r>
          </a:p>
          <a:p>
            <a:pPr>
              <a:spcAft>
                <a:spcPts val="1000"/>
              </a:spcAft>
              <a:buChar char="•"/>
              <a:lnSpc>
                <a:spcPts val="2200"/>
              </a:lnSpc>
            </a:pPr>
            <a:r>
              <a:rPr sz="2000" b="0">
                <a:solidFill>
                  <a:srgbClr val="333333"/>
                </a:solidFill>
                <a:latin typeface="Calibri"/>
              </a:rPr>
              <a:t>Solutions: median or mode imputation, currency harmonization, text normalization</a:t>
            </a:r>
          </a:p>
          <a:p>
            <a:pPr>
              <a:spcAft>
                <a:spcPts val="1000"/>
              </a:spcAft>
              <a:buChar char="•"/>
              <a:lnSpc>
                <a:spcPts val="2200"/>
              </a:lnSpc>
            </a:pPr>
            <a:r>
              <a:rPr sz="2000" b="0">
                <a:solidFill>
                  <a:srgbClr val="333333"/>
                </a:solidFill>
                <a:latin typeface="Calibri"/>
              </a:rPr>
              <a:t>Cleaned data supports clustering and targeted campaigns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Healthcare: predicting disease outcomes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Clinical records combine age, history, labs, and outcomes</a:t>
            </a:r>
          </a:p>
          <a:p>
            <a:pPr>
              <a:spcAft>
                <a:spcPts val="1000"/>
              </a:spcAft>
              <a:buChar char="•"/>
              <a:lnSpc>
                <a:spcPts val="2200"/>
              </a:lnSpc>
            </a:pPr>
            <a:r>
              <a:rPr sz="2000" b="0">
                <a:solidFill>
                  <a:srgbClr val="333333"/>
                </a:solidFill>
                <a:latin typeface="Calibri"/>
              </a:rPr>
              <a:t>Missing labs, outlier vitals, and inconsistent smoker labels are common</a:t>
            </a:r>
          </a:p>
          <a:p>
            <a:pPr>
              <a:spcAft>
                <a:spcPts val="1000"/>
              </a:spcAft>
              <a:buChar char="•"/>
              <a:lnSpc>
                <a:spcPts val="2200"/>
              </a:lnSpc>
            </a:pPr>
            <a:r>
              <a:rPr sz="2000" b="0">
                <a:solidFill>
                  <a:srgbClr val="333333"/>
                </a:solidFill>
                <a:latin typeface="Calibri"/>
              </a:rPr>
              <a:t>Solutions: principled imputation, categorical standardization, IQR outlier review</a:t>
            </a:r>
          </a:p>
          <a:p>
            <a:pPr>
              <a:spcAft>
                <a:spcPts val="1000"/>
              </a:spcAft>
              <a:buChar char="•"/>
              <a:lnSpc>
                <a:spcPts val="2200"/>
              </a:lnSpc>
            </a:pPr>
            <a:r>
              <a:rPr sz="2000" b="0">
                <a:solidFill>
                  <a:srgbClr val="333333"/>
                </a:solidFill>
                <a:latin typeface="Calibri"/>
              </a:rPr>
              <a:t>Preprocessing improves allocative and diagnostic workflows when documented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5.64 — Retail purchase record schema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5.64 — hands-on module</a:t>
            </a:r>
          </a:p>
          <a:p>
            <a:pPr>
              <a:spcAft>
                <a:spcPts val="1000"/>
              </a:spcAft>
              <a:buChar char="•"/>
              <a:lnSpc>
                <a:spcPts val="2200"/>
              </a:lnSpc>
            </a:pPr>
            <a:r>
              <a:rPr sz="2000" b="0">
                <a:solidFill>
                  <a:srgbClr val="333333"/>
                </a:solidFill>
                <a:latin typeface="Calibri"/>
              </a:rPr>
              <a:t>Example 5.64 introduces a practice table with missing prices and duplicate transactions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`modules/chapter5/example64/`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5.65 — Guided pandas cleaning template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5.65 — hands-on module</a:t>
            </a:r>
          </a:p>
          <a:p>
            <a:pPr>
              <a:spcAft>
                <a:spcPts val="1000"/>
              </a:spcAft>
              <a:buChar char="•"/>
              <a:lnSpc>
                <a:spcPts val="2200"/>
              </a:lnSpc>
            </a:pPr>
            <a:r>
              <a:rPr sz="2000" b="0">
                <a:solidFill>
                  <a:srgbClr val="333333"/>
                </a:solidFill>
                <a:latin typeface="Calibri"/>
              </a:rPr>
              <a:t>Example 5.65 provides a guided repair script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`modules/chapter5/example65/`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5.65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import pandas as pd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 = pd.read_csv("data.csv")</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df['price'] = df['price'].fillna(df['price'].mean())</a:t>
            </a:r>
          </a:p>
          <a:p>
            <a:pPr>
              <a:lnSpc>
                <a:spcPts val="2200"/>
              </a:lnSpc>
              <a:spcAft>
                <a:spcPts val="400"/>
              </a:spcAft>
            </a:pPr>
            <a:r>
              <a:rPr sz="2000" b="0">
                <a:solidFill>
                  <a:srgbClr val="333333"/>
                </a:solidFill>
                <a:latin typeface="Consolas"/>
              </a:rPr>
              <a:t>df.dropna(subset=['customer_id'], inplace=True)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df.drop_duplicates(inplace=True)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df['product'] = df['product'].str.lower()</a:t>
            </a:r>
          </a:p>
          <a:p>
            <a:pPr>
              <a:lnSpc>
                <a:spcPts val="2200"/>
              </a:lnSpc>
              <a:spcAft>
                <a:spcPts val="400"/>
              </a:spcAft>
            </a:pPr>
            <a:r>
              <a:rPr sz="2000" b="0">
                <a:solidFill>
                  <a:srgbClr val="333333"/>
                </a:solidFill>
                <a:latin typeface="Consolas"/>
              </a:rPr>
              <a:t>df['purchase_date'] = pd.to_datetime(df['purchase_date'])</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z_scores = (df['price'] - df['price'].mean()) / df['price'].std()</a:t>
            </a:r>
          </a:p>
          <a:p>
            <a:pPr>
              <a:lnSpc>
                <a:spcPts val="2200"/>
              </a:lnSpc>
              <a:spcAft>
                <a:spcPts val="400"/>
              </a:spcAft>
            </a:pPr>
            <a:r>
              <a:rPr sz="2000" b="0">
                <a:solidFill>
                  <a:srgbClr val="333333"/>
                </a:solidFill>
                <a:latin typeface="Consolas"/>
              </a:rPr>
              <a:t>df = df[z_scores &lt; 3]</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df.to_csv("cleaned_data.csv", index=False)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case study to production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Both cases share a pattern</a:t>
            </a:r>
          </a:p>
          <a:p>
            <a:pPr>
              <a:spcAft>
                <a:spcPts val="1000"/>
              </a:spcAft>
              <a:buChar char="•"/>
              <a:lnSpc>
                <a:spcPts val="2200"/>
              </a:lnSpc>
            </a:pPr>
            <a:r>
              <a:rPr sz="2000" b="0">
                <a:solidFill>
                  <a:srgbClr val="333333"/>
                </a:solidFill>
                <a:latin typeface="Calibri"/>
              </a:rPr>
              <a:t>Retail emphasizes revenue integrity</a:t>
            </a:r>
          </a:p>
          <a:p>
            <a:pPr>
              <a:spcAft>
                <a:spcPts val="1000"/>
              </a:spcAft>
              <a:buChar char="•"/>
              <a:lnSpc>
                <a:spcPts val="2200"/>
              </a:lnSpc>
            </a:pPr>
            <a:r>
              <a:rPr sz="2000" b="0">
                <a:solidFill>
                  <a:srgbClr val="333333"/>
                </a:solidFill>
                <a:latin typeface="Calibri"/>
              </a:rPr>
              <a:t>Fairness review may follow in Chapter 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Domain context chooses imputation and outlier rules</a:t>
            </a:r>
          </a:p>
          <a:p>
            <a:pPr>
              <a:spcAft>
                <a:spcPts val="1000"/>
              </a:spcAft>
              <a:buChar char="•"/>
              <a:lnSpc>
                <a:spcPts val="2200"/>
              </a:lnSpc>
            </a:pPr>
            <a:r>
              <a:rPr sz="2000" b="0">
                <a:solidFill>
                  <a:srgbClr val="333333"/>
                </a:solidFill>
                <a:latin typeface="Calibri"/>
              </a:rPr>
              <a:t>Case studies connect Sections 5.2–5.5 into narratives</a:t>
            </a:r>
          </a:p>
          <a:p>
            <a:pPr>
              <a:spcAft>
                <a:spcPts val="1000"/>
              </a:spcAft>
              <a:buChar char="•"/>
              <a:lnSpc>
                <a:spcPts val="2200"/>
              </a:lnSpc>
            </a:pPr>
            <a:r>
              <a:rPr sz="2000" b="0">
                <a:solidFill>
                  <a:srgbClr val="333333"/>
                </a:solidFill>
                <a:latin typeface="Calibri"/>
              </a:rPr>
              <a:t>Module activities supply hands-on repetition without requiring live execution on the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advanced topics, Bayesian imputation, streaming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11 Case Studies And Activities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