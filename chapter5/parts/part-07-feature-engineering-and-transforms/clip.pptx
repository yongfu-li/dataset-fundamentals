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models need more than scaled raw columns. This part adds binning, derived and interaction features, dimensionality reduction, and log or polynomial transforms.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equal-width versus frequency binning, construct ratio and interaction features, and choose log or polynomial expansions when skew or nonlinearity demands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Binning groups continuous values into intervals. Example 5.51 uses equal-width age bins; Example 5.52 uses frequency bins for test scores so each bin has similar counts. Binning reduces noise and handles nonlinear effects but loses granularity—document cut points.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5.53 adds a squared term; Example 5.54 adds an age-by-income interaction; Example 5.55 engineers price per square foot from price and area. Domain ratios often outperform raw stacks of columns. Avoid generating features that duplicate identifiers or leak targets.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5.55 is the classic ratio feature. Open the example 55 module for this chapter to see how derived columns capture economics more directly than raw price alone. Validate that denominators are nonzero and units align.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High-dimensional sparse tables benefit from principal components, feature selection, or dropping correlated groups—as in Example 5.45. Selection reduces overfitting and training time. Keep interpretability requirements in mind for regulated domains.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transforms compress right tails—Example 5.26 on income. Polynomial expansions—Example 5.56—let linear models capture curvature. Apply transforms before splitting or fit parameters on training folds only. Inverse transforms may be needed for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encodes domain knowledge. Binning and transforms trade resolution for stability. Document every derived column for reproducibility and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Python tools that implement these steps at scale.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Feature engineering and transforms</a:t>
            </a:r>
          </a:p>
          <a:p>
            <a:pPr algn="ctr">
              <a:lnSpc>
                <a:spcPts val="2200"/>
              </a:lnSpc>
              <a:spcBef>
                <a:spcPts val="1400"/>
              </a:spcBef>
            </a:pPr>
            <a:r>
              <a:rPr sz="2600" b="0">
                <a:solidFill>
                  <a:srgbClr val="333333"/>
                </a:solidFill>
                <a:latin typeface="Calibri"/>
              </a:rPr>
              <a:t>Many models need more than scaled raw columns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equal-width versus frequency binning, construct ratio and interaction features</a:t>
            </a:r>
          </a:p>
          <a:p>
            <a:pPr lvl="0" marL="457200" indent="-228600">
              <a:buFont typeface="Calibri"/>
              <a:spcAft>
                <a:spcPts val="1000"/>
              </a:spcAft>
              <a:buSzPct val="100000"/>
              <a:buChar char="•"/>
              <a:lnSpc>
                <a:spcPts val="2200"/>
              </a:lnSpc>
            </a:pPr>
            <a:r>
              <a:rPr sz="2000" b="0">
                <a:solidFill>
                  <a:srgbClr val="333333"/>
                </a:solidFill>
                <a:latin typeface="Calibri"/>
              </a:rPr>
              <a:t>Choose log or polynomial expansions when skew or nonlinearity demands them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Binning numerical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Binning groups continuous values into intervals</a:t>
            </a:r>
          </a:p>
          <a:p>
            <a:pPr lvl="0" marL="457200" indent="-228600">
              <a:buFont typeface="Calibri"/>
              <a:spcAft>
                <a:spcPts val="1000"/>
              </a:spcAft>
              <a:buSzPct val="100000"/>
              <a:buChar char="•"/>
              <a:lnSpc>
                <a:spcPts val="2200"/>
              </a:lnSpc>
            </a:pPr>
            <a:r>
              <a:rPr sz="2000" b="0">
                <a:solidFill>
                  <a:srgbClr val="333333"/>
                </a:solidFill>
                <a:latin typeface="Calibri"/>
              </a:rPr>
              <a:t>Example 5.51 uses equal-width age bins</a:t>
            </a:r>
          </a:p>
          <a:p>
            <a:pPr lvl="0" marL="457200" indent="-228600">
              <a:buFont typeface="Calibri"/>
              <a:spcAft>
                <a:spcPts val="1000"/>
              </a:spcAft>
              <a:buSzPct val="100000"/>
              <a:buChar char="•"/>
              <a:lnSpc>
                <a:spcPts val="2200"/>
              </a:lnSpc>
            </a:pPr>
            <a:r>
              <a:rPr sz="2000" b="0">
                <a:solidFill>
                  <a:srgbClr val="333333"/>
                </a:solidFill>
                <a:latin typeface="Calibri"/>
              </a:rPr>
              <a:t>Binning reduces noise and handles nonlinear effects but loses granularity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Adding new features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5.53 adds a squared term</a:t>
            </a:r>
          </a:p>
          <a:p>
            <a:pPr lvl="0" marL="457200" indent="-228600">
              <a:buFont typeface="Calibri"/>
              <a:spcAft>
                <a:spcPts val="1000"/>
              </a:spcAft>
              <a:buSzPct val="100000"/>
              <a:buChar char="•"/>
              <a:lnSpc>
                <a:spcPts val="2200"/>
              </a:lnSpc>
            </a:pPr>
            <a:r>
              <a:rPr sz="2000" b="0">
                <a:solidFill>
                  <a:srgbClr val="333333"/>
                </a:solidFill>
                <a:latin typeface="Calibri"/>
              </a:rPr>
              <a:t>Domain ratios often outperform raw stacks of columns</a:t>
            </a:r>
          </a:p>
          <a:p>
            <a:pPr lvl="0" marL="457200" indent="-228600">
              <a:buFont typeface="Calibri"/>
              <a:spcAft>
                <a:spcPts val="1000"/>
              </a:spcAft>
              <a:buSzPct val="100000"/>
              <a:buChar char="•"/>
              <a:lnSpc>
                <a:spcPts val="2200"/>
              </a:lnSpc>
            </a:pPr>
            <a:r>
              <a:rPr sz="2000" b="0">
                <a:solidFill>
                  <a:srgbClr val="333333"/>
                </a:solidFill>
                <a:latin typeface="Calibri"/>
              </a:rPr>
              <a:t>Avoid generating features that duplicate identifiers or leak targets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5.55 — Engineer price per square foot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5.55 — hands-on module</a:t>
            </a:r>
          </a:p>
          <a:p>
            <a:pPr lvl="0" marL="457200" indent="-228600">
              <a:buFont typeface="Calibri"/>
              <a:spcAft>
                <a:spcPts val="1000"/>
              </a:spcAft>
              <a:buSzPct val="100000"/>
              <a:buChar char="•"/>
              <a:lnSpc>
                <a:spcPts val="2200"/>
              </a:lnSpc>
            </a:pPr>
            <a:r>
              <a:rPr sz="2000" b="0">
                <a:solidFill>
                  <a:srgbClr val="333333"/>
                </a:solidFill>
                <a:latin typeface="Calibri"/>
              </a:rPr>
              <a:t>The classic ratio feature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`modules/chapter5/example55/`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Dimensionality reduction and selection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High-dimensional sparse tables benefit from principal components</a:t>
            </a:r>
          </a:p>
          <a:p>
            <a:pPr lvl="0" marL="457200" indent="-228600">
              <a:buFont typeface="Calibri"/>
              <a:spcAft>
                <a:spcPts val="1000"/>
              </a:spcAft>
              <a:buSzPct val="100000"/>
              <a:buChar char="•"/>
              <a:lnSpc>
                <a:spcPts val="2200"/>
              </a:lnSpc>
            </a:pPr>
            <a:r>
              <a:rPr sz="2000" b="0">
                <a:solidFill>
                  <a:srgbClr val="333333"/>
                </a:solidFill>
                <a:latin typeface="Calibri"/>
              </a:rPr>
              <a:t>Selection reduces overfitting and training time</a:t>
            </a:r>
          </a:p>
          <a:p>
            <a:pPr lvl="0" marL="457200" indent="-228600">
              <a:buFont typeface="Calibri"/>
              <a:spcAft>
                <a:spcPts val="1000"/>
              </a:spcAft>
              <a:buSzPct val="100000"/>
              <a:buChar char="•"/>
              <a:lnSpc>
                <a:spcPts val="2200"/>
              </a:lnSpc>
            </a:pPr>
            <a:r>
              <a:rPr sz="2000" b="0">
                <a:solidFill>
                  <a:srgbClr val="333333"/>
                </a:solidFill>
                <a:latin typeface="Calibri"/>
              </a:rPr>
              <a:t>Keep interpretability requirements in mind for regulated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Log and polynomial transforms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Log transforms compress right tails, Example 5.26 on income</a:t>
            </a:r>
          </a:p>
          <a:p>
            <a:pPr lvl="0" marL="457200" indent="-228600">
              <a:buFont typeface="Calibri"/>
              <a:spcAft>
                <a:spcPts val="1000"/>
              </a:spcAft>
              <a:buSzPct val="100000"/>
              <a:buChar char="•"/>
              <a:lnSpc>
                <a:spcPts val="2200"/>
              </a:lnSpc>
            </a:pPr>
            <a:r>
              <a:rPr sz="2000" b="0">
                <a:solidFill>
                  <a:srgbClr val="333333"/>
                </a:solidFill>
                <a:latin typeface="Calibri"/>
              </a:rPr>
              <a:t>Polynomial expansions, Example 5.56, let linear models capture curvature</a:t>
            </a:r>
          </a:p>
          <a:p>
            <a:pPr lvl="0" marL="457200" indent="-228600">
              <a:buFont typeface="Calibri"/>
              <a:spcAft>
                <a:spcPts val="1000"/>
              </a:spcAft>
              <a:buSzPct val="100000"/>
              <a:buChar char="•"/>
              <a:lnSpc>
                <a:spcPts val="2200"/>
              </a:lnSpc>
            </a:pPr>
            <a:r>
              <a:rPr sz="2000" b="0">
                <a:solidFill>
                  <a:srgbClr val="333333"/>
                </a:solidFill>
                <a:latin typeface="Calibri"/>
              </a:rPr>
              <a:t>Apply transforms before splitting or fit parameters on training folds only</a:t>
            </a:r>
          </a:p>
          <a:p>
            <a:pPr lvl="0" marL="457200" indent="-228600">
              <a:buFont typeface="Calibri"/>
              <a:spcAft>
                <a:spcPts val="1000"/>
              </a:spcAft>
              <a:buSzPct val="100000"/>
              <a:buChar char="•"/>
              <a:lnSpc>
                <a:spcPts val="2200"/>
              </a:lnSpc>
            </a:pPr>
            <a:r>
              <a:rPr sz="2000" b="0">
                <a:solidFill>
                  <a:srgbClr val="333333"/>
                </a:solidFill>
                <a:latin typeface="Calibri"/>
              </a:rPr>
              <a:t>Inverse transforms may be needed for interpretation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Engineering encodes domain knowledge</a:t>
            </a:r>
          </a:p>
          <a:p>
            <a:pPr lvl="0" marL="457200" indent="-228600">
              <a:buFont typeface="Calibri"/>
              <a:spcAft>
                <a:spcPts val="1000"/>
              </a:spcAft>
              <a:buSzPct val="100000"/>
              <a:buChar char="•"/>
              <a:lnSpc>
                <a:spcPts val="2200"/>
              </a:lnSpc>
            </a:pPr>
            <a:r>
              <a:rPr sz="2000" b="0">
                <a:solidFill>
                  <a:srgbClr val="333333"/>
                </a:solidFill>
                <a:latin typeface="Calibri"/>
              </a:rPr>
              <a:t>Binning and transforms trade resolution for stability</a:t>
            </a:r>
          </a:p>
          <a:p>
            <a:pPr lvl="0" marL="457200" indent="-228600">
              <a:buFont typeface="Calibri"/>
              <a:spcAft>
                <a:spcPts val="1000"/>
              </a:spcAft>
              <a:buSzPct val="100000"/>
              <a:buChar char="•"/>
              <a:lnSpc>
                <a:spcPts val="2200"/>
              </a:lnSpc>
            </a:pPr>
            <a:r>
              <a:rPr sz="2000" b="0">
                <a:solidFill>
                  <a:srgbClr val="333333"/>
                </a:solidFill>
                <a:latin typeface="Calibri"/>
              </a:rPr>
              <a:t>Document every derived column for reproducibility and explainability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Python tools that implement these steps at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Feature Engineering And Transforms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