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Batch CSV cleaning is the baseline; production systems add streaming velocity, automated synthesis, and explainability requirements. This final part previews advanced imputation, real-time preprocessing, pipelines at scale, and cleaning for interpretable models.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part, you should contrast Bayesian and deep imputation, describe sliding-window streaming preprocessing, and explain how documentation supports explainable AI.</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Bayesian imputation models missing values with uncertainty—Example 5.70 combines vitals and clinical priors for blood pressure gaps. Autoencoder imputation—Example 5.71—learns nonlinear reconstructions for retail baskets. Both beat naive means when patterns are complex but need more data and compute.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5.70 is the uncertainty-aware clinical case. Open the example 70 module for this chapter to see why intervals matter for regulated decisions. Deep methods require guardrails against overfitting sparse tables.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Streaming finance, IoT, and vitals demand low-latency transforms. Challenges include latency, arriving corruption, and scale. Sliding windows—Example 5.72 on prices—and online scalers update statistics on recent data only. Batch assumptions fail when data never stops.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5.72 maintains a rolling feature window for aggregates. Try the example 72 module to contrast batch and streaming normalization. Real-time vital sign preprocessing appears in Example 5.73 with similar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Automated pipelines orchestrate cleaning stages across storage systems. For explainable AI, document imputation and encoding so auditors can trace inputs—Examples 5.75 and 5.76 prefer interpretable credit features and fair clinical encodings over opaque high-dimensional expansions.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5.75 ties preprocessing logs to model cards. Open the example 75 module for this chapter to review metadata fields regulators expect. Cleaning choices are part of the model story, not a hidden notebook.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6 continues with exploration that detects many defects this chapter repairs. Chapter 7 connects preprocessing to fairness. Strong cleaning documentation makes both downstream chapters more trustworthy.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Advanced methods extend—not replace—core taxonomy and tools. Streaming and explainability impose new constraints on familiar transforms. Document every stage for production and audit.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for the quiz. You have completed the Chapter 5 learning path—return to the chapter landing page for the full deck or browse module examples.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Chapter 5 — Advanced topics</a:t>
            </a:r>
          </a:p>
          <a:p>
            <a:pPr algn="ctr">
              <a:lnSpc>
                <a:spcPts val="2200"/>
              </a:lnSpc>
              <a:spcBef>
                <a:spcPts val="1400"/>
              </a:spcBef>
            </a:pPr>
            <a:r>
              <a:rPr sz="2600" b="0">
                <a:solidFill>
                  <a:srgbClr val="333333"/>
                </a:solidFill>
                <a:latin typeface="Calibri"/>
              </a:rPr>
              <a:t>Batch CSV cleaning is the baseline</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Advanced Topics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Learning objectives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Contrast Bayesian and deep imputation, describe sliding-window streaming preprocessing</a:t>
            </a:r>
          </a:p>
          <a:p>
            <a:pPr>
              <a:spcAft>
                <a:spcPts val="1000"/>
              </a:spcAft>
              <a:buChar char="•"/>
              <a:lnSpc>
                <a:spcPts val="2200"/>
              </a:lnSpc>
            </a:pPr>
            <a:r>
              <a:rPr sz="2000" b="0">
                <a:solidFill>
                  <a:srgbClr val="333333"/>
                </a:solidFill>
                <a:latin typeface="Calibri"/>
              </a:rPr>
              <a:t>Explain how documentation supports explainable AI</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Advanced Topics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Advanced imputation</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Bayesian imputation models missing values with uncertainty</a:t>
            </a:r>
          </a:p>
          <a:p>
            <a:pPr>
              <a:spcAft>
                <a:spcPts val="1000"/>
              </a:spcAft>
              <a:buChar char="•"/>
              <a:lnSpc>
                <a:spcPts val="2200"/>
              </a:lnSpc>
            </a:pPr>
            <a:r>
              <a:rPr sz="2000" b="0">
                <a:solidFill>
                  <a:srgbClr val="333333"/>
                </a:solidFill>
                <a:latin typeface="Calibri"/>
              </a:rPr>
              <a:t>Autoencoder imputation, Example 5.71, learns nonlinear reconstructions for retail baskets</a:t>
            </a:r>
          </a:p>
          <a:p>
            <a:pPr>
              <a:spcAft>
                <a:spcPts val="1000"/>
              </a:spcAft>
              <a:buChar char="•"/>
              <a:lnSpc>
                <a:spcPts val="2200"/>
              </a:lnSpc>
            </a:pPr>
            <a:r>
              <a:rPr sz="2000" b="0">
                <a:solidFill>
                  <a:srgbClr val="333333"/>
                </a:solidFill>
                <a:latin typeface="Calibri"/>
              </a:rPr>
              <a:t>Both beat naive means when patterns are complex but need more data and compute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Advanced Topics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5.70 — Bayesian imputation with clinical priors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5.70 — hands-on module</a:t>
            </a:r>
          </a:p>
          <a:p>
            <a:pPr>
              <a:spcAft>
                <a:spcPts val="1000"/>
              </a:spcAft>
              <a:buChar char="•"/>
              <a:lnSpc>
                <a:spcPts val="2200"/>
              </a:lnSpc>
            </a:pPr>
            <a:r>
              <a:rPr sz="2000" b="0">
                <a:solidFill>
                  <a:srgbClr val="333333"/>
                </a:solidFill>
                <a:latin typeface="Calibri"/>
              </a:rPr>
              <a:t>The uncertainty-aware clinical case</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`modules/chapter5/example70/`</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Advanced Topics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Real-time and streaming preprocessing</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Streaming finance, IoT, and vitals demand low-latency transforms</a:t>
            </a:r>
          </a:p>
          <a:p>
            <a:pPr>
              <a:spcAft>
                <a:spcPts val="1000"/>
              </a:spcAft>
              <a:buChar char="•"/>
              <a:lnSpc>
                <a:spcPts val="2200"/>
              </a:lnSpc>
            </a:pPr>
            <a:r>
              <a:rPr sz="2000" b="0">
                <a:solidFill>
                  <a:srgbClr val="333333"/>
                </a:solidFill>
                <a:latin typeface="Calibri"/>
              </a:rPr>
              <a:t>Challenges include latency, arriving corruption, and scale</a:t>
            </a:r>
          </a:p>
          <a:p>
            <a:pPr>
              <a:spcAft>
                <a:spcPts val="1000"/>
              </a:spcAft>
              <a:buChar char="•"/>
              <a:lnSpc>
                <a:spcPts val="2200"/>
              </a:lnSpc>
            </a:pPr>
            <a:r>
              <a:rPr sz="2000" b="0">
                <a:solidFill>
                  <a:srgbClr val="333333"/>
                </a:solidFill>
                <a:latin typeface="Calibri"/>
              </a:rPr>
              <a:t>Sliding windows, Example 5.72 on prices</a:t>
            </a:r>
          </a:p>
          <a:p>
            <a:pPr>
              <a:spcAft>
                <a:spcPts val="1000"/>
              </a:spcAft>
              <a:buChar char="•"/>
              <a:lnSpc>
                <a:spcPts val="2200"/>
              </a:lnSpc>
            </a:pPr>
            <a:r>
              <a:rPr sz="2000" b="0">
                <a:solidFill>
                  <a:srgbClr val="333333"/>
                </a:solidFill>
                <a:latin typeface="Calibri"/>
              </a:rPr>
              <a:t>Batch assumptions fail when data never stops</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Advanced Topics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5.72 — Rolling window for streaming prices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5.72 — hands-on module</a:t>
            </a:r>
          </a:p>
          <a:p>
            <a:pPr>
              <a:spcAft>
                <a:spcPts val="1000"/>
              </a:spcAft>
              <a:buChar char="•"/>
              <a:lnSpc>
                <a:spcPts val="2200"/>
              </a:lnSpc>
            </a:pPr>
            <a:r>
              <a:rPr sz="2000" b="0">
                <a:solidFill>
                  <a:srgbClr val="333333"/>
                </a:solidFill>
                <a:latin typeface="Calibri"/>
              </a:rPr>
              <a:t>Example 5.72 maintains a rolling feature window for aggregates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`modules/chapter5/example72/`</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Advanced Topics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Automated pipelines and explainability</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Automated pipelines orchestrate cleaning stages across storage systems</a:t>
            </a:r>
          </a:p>
          <a:p>
            <a:pPr>
              <a:spcAft>
                <a:spcPts val="1000"/>
              </a:spcAft>
              <a:buChar char="•"/>
              <a:lnSpc>
                <a:spcPts val="2200"/>
              </a:lnSpc>
            </a:pPr>
            <a:r>
              <a:rPr sz="2000" b="0">
                <a:solidFill>
                  <a:srgbClr val="333333"/>
                </a:solidFill>
                <a:latin typeface="Calibri"/>
              </a:rPr>
              <a:t>For explainable AI</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Advanced Topics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Example 5.75 — Document imputation for auditable models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Example 5.75 — hands-on module</a:t>
            </a:r>
          </a:p>
          <a:p>
            <a:pPr>
              <a:spcAft>
                <a:spcPts val="1000"/>
              </a:spcAft>
              <a:buChar char="•"/>
              <a:lnSpc>
                <a:spcPts val="2200"/>
              </a:lnSpc>
            </a:pPr>
            <a:r>
              <a:rPr sz="2000" b="0">
                <a:solidFill>
                  <a:srgbClr val="333333"/>
                </a:solidFill>
                <a:latin typeface="Calibri"/>
              </a:rPr>
              <a:t>Example 5.75 ties preprocessing logs to model cards</a:t>
            </a:r>
          </a:p>
          <a:p>
            <a:pPr>
              <a:spcAft>
                <a:spcPts val="1000"/>
              </a:spcAft>
              <a:buChar char="•"/>
              <a:lnSpc>
                <a:spcPts val="2200"/>
              </a:lnSpc>
            </a:pPr>
            <a:r>
              <a:rPr sz="2000" b="0">
                <a:solidFill>
                  <a:srgbClr val="333333"/>
                </a:solidFill>
                <a:latin typeface="Calibri"/>
              </a:rPr>
              <a:t>Explore the chapter example module</a:t>
            </a:r>
          </a:p>
          <a:p>
            <a:pPr>
              <a:spcAft>
                <a:spcPts val="1000"/>
              </a:spcAft>
              <a:buChar char="•"/>
              <a:lnSpc>
                <a:spcPts val="2200"/>
              </a:lnSpc>
            </a:pPr>
            <a:r>
              <a:rPr sz="2000" b="0">
                <a:solidFill>
                  <a:srgbClr val="333333"/>
                </a:solidFill>
                <a:latin typeface="Calibri"/>
              </a:rPr>
              <a:t>View files: `modules/chapter5/example75/`</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Advanced Topics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Looking ahead</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Chapter 6 continues with exploration that detects many defects this chapter repairs</a:t>
            </a:r>
          </a:p>
          <a:p>
            <a:pPr>
              <a:spcAft>
                <a:spcPts val="1000"/>
              </a:spcAft>
              <a:buChar char="•"/>
              <a:lnSpc>
                <a:spcPts val="2200"/>
              </a:lnSpc>
            </a:pPr>
            <a:r>
              <a:rPr sz="2000" b="0">
                <a:solidFill>
                  <a:srgbClr val="333333"/>
                </a:solidFill>
                <a:latin typeface="Calibri"/>
              </a:rPr>
              <a:t>Chapter 7 connects preprocessing to fairness</a:t>
            </a:r>
          </a:p>
          <a:p>
            <a:pPr>
              <a:spcAft>
                <a:spcPts val="1000"/>
              </a:spcAft>
              <a:buChar char="•"/>
              <a:lnSpc>
                <a:spcPts val="2200"/>
              </a:lnSpc>
            </a:pPr>
            <a:r>
              <a:rPr sz="2000" b="0">
                <a:solidFill>
                  <a:srgbClr val="333333"/>
                </a:solidFill>
                <a:latin typeface="Calibri"/>
              </a:rPr>
              <a:t>Strong cleaning documentation makes both downstream chapters more trustworthy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Advanced Topics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Takeaways</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Advanced methods extend, not replace, core taxonomy and tools</a:t>
            </a:r>
          </a:p>
          <a:p>
            <a:pPr>
              <a:spcAft>
                <a:spcPts val="1000"/>
              </a:spcAft>
              <a:buChar char="•"/>
              <a:lnSpc>
                <a:spcPts val="2200"/>
              </a:lnSpc>
            </a:pPr>
            <a:r>
              <a:rPr sz="2000" b="0">
                <a:solidFill>
                  <a:srgbClr val="333333"/>
                </a:solidFill>
                <a:latin typeface="Calibri"/>
              </a:rPr>
              <a:t>Streaming and explainability impose new constraints on familiar transforms</a:t>
            </a:r>
          </a:p>
          <a:p>
            <a:pPr>
              <a:spcAft>
                <a:spcPts val="1000"/>
              </a:spcAft>
              <a:buChar char="•"/>
              <a:lnSpc>
                <a:spcPts val="2200"/>
              </a:lnSpc>
            </a:pPr>
            <a:r>
              <a:rPr sz="2000" b="0">
                <a:solidFill>
                  <a:srgbClr val="333333"/>
                </a:solidFill>
                <a:latin typeface="Calibri"/>
              </a:rPr>
              <a:t>Document every stage for production and audit</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Advanced Topics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Next</a:t>
            </a:r>
          </a:p>
        </p:txBody>
      </p:sp>
      <p:sp>
        <p:nvSpPr>
          <p:cNvPr id="3" name="TextBox 2"/>
          <p:cNvSpPr txBox="1"/>
          <p:nvPr/>
        </p:nvSpPr>
        <p:spPr>
          <a:xfrm>
            <a:off x="548640" y="1234440"/>
            <a:ext cx="11064240" cy="4937760"/>
          </a:xfrm>
          <a:prstGeom prst="rect">
            <a:avLst/>
          </a:prstGeom>
          <a:noFill/>
        </p:spPr>
        <p:txBody>
          <a:bodyPr wrap="square">
            <a:noAutofit/>
          </a:bodyPr>
          <a:lstStyle/>
          <a:p>
            <a:pPr>
              <a:spcAft>
                <a:spcPts val="1000"/>
              </a:spcAft>
              <a:buChar char="•"/>
              <a:lnSpc>
                <a:spcPts val="2200"/>
              </a:lnSpc>
            </a:pPr>
            <a:r>
              <a:rPr sz="2000" b="0">
                <a:solidFill>
                  <a:srgbClr val="333333"/>
                </a:solidFill>
                <a:latin typeface="Calibri"/>
              </a:rPr>
              <a:t>Complete the quiz for this part</a:t>
            </a:r>
          </a:p>
          <a:p>
            <a:pPr>
              <a:spcAft>
                <a:spcPts val="1000"/>
              </a:spcAft>
              <a:buChar char="•"/>
              <a:lnSpc>
                <a:spcPts val="2200"/>
              </a:lnSpc>
            </a:pPr>
            <a:r>
              <a:rPr sz="2000" b="0">
                <a:solidFill>
                  <a:srgbClr val="333333"/>
                </a:solidFill>
                <a:latin typeface="Calibri"/>
              </a:rPr>
              <a:t>Pause for the quiz</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Chapter 5 — Advanced Topics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