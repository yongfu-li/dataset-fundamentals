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Single-notebook scripts do not scale across teams. This part introduces sklearn pipelines, automated feature engineering, AutoML preprocessing hooks, visualization for defect detection, and a brief R tidyverse contrast.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explain why pipelines prevent leakage, name Featuretools-style automation benefits, use box plots and heatmaps as cleaning diagnostics, and contrast dplyr/tidyr with pandas.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 workflows, dplyr filters and selects columns while tidyr reshapes long and wide tables. Example 5.58 shows filter and select patterns analogous to pandas. Teams standardized on Python may still encounter R extracts—know that the verbs differ but the cleaning goals match.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Pipelines chain imputers, scalers, encoders, and estimators so each cross-validation fold fits preprocessing only on training folds. This prevents statistics computed on validation data from leaking into features. Serialize pipelines with the model for consistent deployment preprocessing.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Featuretools performs deep feature synthesis on relational tables—Example 5.74 on transactions. AutoML platforms wrap search over imputers, encoders, and model families. Automation accelerates baselines but still requires domain review to drop leaky or nonsense columns.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5.74 shows automated aggregates across related tables. Open the example 74 module for this chapter to inspect generated features before modeling. Automated does not mean correct—validate cardinality and leakage.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plots expose outlier tails; heatmaps of missingness reveal column-wise patterns; histograms show skew before log transforms. Visual checks complement rule-based flags from earlier parts and align with exploratory practice in Chapter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Pipelines encode reproducible preprocessing. Automation proposes features; humans curate them. Visual diagnostics catch defects rules miss.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challenges, best practices, and governance habits.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Pipelines, automation, and visualization</a:t>
            </a:r>
          </a:p>
          <a:p>
            <a:pPr algn="ctr">
              <a:lnSpc>
                <a:spcPts val="2200"/>
              </a:lnSpc>
              <a:spcBef>
                <a:spcPts val="1400"/>
              </a:spcBef>
            </a:pPr>
            <a:r>
              <a:rPr sz="2600" b="0">
                <a:solidFill>
                  <a:srgbClr val="333333"/>
                </a:solidFill>
                <a:latin typeface="Calibri"/>
              </a:rPr>
              <a:t>Single-notebook scripts do not scale across teams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Explain why pipelines prevent leakage</a:t>
            </a:r>
          </a:p>
          <a:p>
            <a:pPr>
              <a:spcAft>
                <a:spcPts val="1000"/>
              </a:spcAft>
              <a:buChar char="•"/>
              <a:lnSpc>
                <a:spcPts val="2200"/>
              </a:lnSpc>
            </a:pPr>
            <a:r>
              <a:rPr sz="2000" b="0">
                <a:solidFill>
                  <a:srgbClr val="333333"/>
                </a:solidFill>
                <a:latin typeface="Calibri"/>
              </a:rPr>
              <a:t>Contrast dplyr/tidyr with pandas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 dplyr and tidyr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R workflows</a:t>
            </a:r>
          </a:p>
          <a:p>
            <a:pPr>
              <a:spcAft>
                <a:spcPts val="1000"/>
              </a:spcAft>
              <a:buChar char="•"/>
              <a:lnSpc>
                <a:spcPts val="2200"/>
              </a:lnSpc>
            </a:pPr>
            <a:r>
              <a:rPr sz="2000" b="0">
                <a:solidFill>
                  <a:srgbClr val="333333"/>
                </a:solidFill>
                <a:latin typeface="Calibri"/>
              </a:rPr>
              <a:t>Example 5.58 shows filter and select patterns analogous to pandas</a:t>
            </a:r>
          </a:p>
          <a:p>
            <a:pPr>
              <a:spcAft>
                <a:spcPts val="1000"/>
              </a:spcAft>
              <a:buChar char="•"/>
              <a:lnSpc>
                <a:spcPts val="2200"/>
              </a:lnSpc>
            </a:pPr>
            <a:r>
              <a:rPr sz="2000" b="0">
                <a:solidFill>
                  <a:srgbClr val="333333"/>
                </a:solidFill>
                <a:latin typeface="Calibri"/>
              </a:rPr>
              <a:t>Teams standardized on Python may still encounter R extracts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sklearn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Pipelines chain imputers, scalers, encoders</a:t>
            </a:r>
          </a:p>
          <a:p>
            <a:pPr>
              <a:spcAft>
                <a:spcPts val="1000"/>
              </a:spcAft>
              <a:buChar char="•"/>
              <a:lnSpc>
                <a:spcPts val="2200"/>
              </a:lnSpc>
            </a:pPr>
            <a:r>
              <a:rPr sz="2000" b="0">
                <a:solidFill>
                  <a:srgbClr val="333333"/>
                </a:solidFill>
                <a:latin typeface="Calibri"/>
              </a:rPr>
              <a:t>This prevents statistics computed on validation data from leaking into features</a:t>
            </a:r>
          </a:p>
          <a:p>
            <a:pPr>
              <a:spcAft>
                <a:spcPts val="1000"/>
              </a:spcAft>
              <a:buChar char="•"/>
              <a:lnSpc>
                <a:spcPts val="2200"/>
              </a:lnSpc>
            </a:pPr>
            <a:r>
              <a:rPr sz="2000" b="0">
                <a:solidFill>
                  <a:srgbClr val="333333"/>
                </a:solidFill>
                <a:latin typeface="Calibri"/>
              </a:rPr>
              <a:t>Serialize pipelines with the model for consistent deployment preprocessing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Automation: Featuretools and AutoML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Featuretools performs deep feature synthesis on relational tables</a:t>
            </a:r>
          </a:p>
          <a:p>
            <a:pPr>
              <a:spcAft>
                <a:spcPts val="1000"/>
              </a:spcAft>
              <a:buChar char="•"/>
              <a:lnSpc>
                <a:spcPts val="2200"/>
              </a:lnSpc>
            </a:pPr>
            <a:r>
              <a:rPr sz="2000" b="0">
                <a:solidFill>
                  <a:srgbClr val="333333"/>
                </a:solidFill>
                <a:latin typeface="Calibri"/>
              </a:rPr>
              <a:t>AutoML platforms wrap search over imputers, encoders, and model families</a:t>
            </a:r>
          </a:p>
          <a:p>
            <a:pPr>
              <a:spcAft>
                <a:spcPts val="1000"/>
              </a:spcAft>
              <a:buChar char="•"/>
              <a:lnSpc>
                <a:spcPts val="2200"/>
              </a:lnSpc>
            </a:pPr>
            <a:r>
              <a:rPr sz="2000" b="0">
                <a:solidFill>
                  <a:srgbClr val="333333"/>
                </a:solidFill>
                <a:latin typeface="Calibri"/>
              </a:rPr>
              <a:t>Automation accelerates baselines but still requires domain review to drop leaky 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5.74 — Deep feature synthesis on transactions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5.74 — hands-on module</a:t>
            </a:r>
          </a:p>
          <a:p>
            <a:pPr>
              <a:spcAft>
                <a:spcPts val="1000"/>
              </a:spcAft>
              <a:buChar char="•"/>
              <a:lnSpc>
                <a:spcPts val="2200"/>
              </a:lnSpc>
            </a:pPr>
            <a:r>
              <a:rPr sz="2000" b="0">
                <a:solidFill>
                  <a:srgbClr val="333333"/>
                </a:solidFill>
                <a:latin typeface="Calibri"/>
              </a:rPr>
              <a:t>Example 5.74 shows automated aggregates across related tables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Visualization for cleaning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Box plots expose outlier tails</a:t>
            </a:r>
          </a:p>
          <a:p>
            <a:pPr>
              <a:spcAft>
                <a:spcPts val="1000"/>
              </a:spcAft>
              <a:buChar char="•"/>
              <a:lnSpc>
                <a:spcPts val="2200"/>
              </a:lnSpc>
            </a:pPr>
            <a:r>
              <a:rPr sz="2000" b="0">
                <a:solidFill>
                  <a:srgbClr val="333333"/>
                </a:solidFill>
                <a:latin typeface="Calibri"/>
              </a:rPr>
              <a:t>Visual checks complement rule-based flags from earlier parts and align with exploratory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Pipelines encode reproducible preprocessing</a:t>
            </a:r>
          </a:p>
          <a:p>
            <a:pPr>
              <a:spcAft>
                <a:spcPts val="1000"/>
              </a:spcAft>
              <a:buChar char="•"/>
              <a:lnSpc>
                <a:spcPts val="2200"/>
              </a:lnSpc>
            </a:pPr>
            <a:r>
              <a:rPr sz="2000" b="0">
                <a:solidFill>
                  <a:srgbClr val="333333"/>
                </a:solidFill>
                <a:latin typeface="Calibri"/>
              </a:rPr>
              <a:t>Automation proposes features; humans curate them</a:t>
            </a:r>
          </a:p>
          <a:p>
            <a:pPr>
              <a:spcAft>
                <a:spcPts val="1000"/>
              </a:spcAft>
              <a:buChar char="•"/>
              <a:lnSpc>
                <a:spcPts val="2200"/>
              </a:lnSpc>
            </a:pPr>
            <a:r>
              <a:rPr sz="2000" b="0">
                <a:solidFill>
                  <a:srgbClr val="333333"/>
                </a:solidFill>
                <a:latin typeface="Calibri"/>
              </a:rPr>
              <a:t>Visual diagnostics catch defects rules miss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challenges, best practices, and governance habits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Pipelines Automation And Visualization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