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Methods become operational through libraries. This part maps pandas table operations, scikit-learn transformers, and NumPy vectorized fixes to the cleaning and preprocessing steps already introduced.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perform dropna, fillna, and drop_duplicates in pandas, apply StandardScaler and OneHotEncoder from scikit-learn, and outline an end-to-end cleaning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pandas is the default toolkit for tabular cleaning: read_csv, dtype inspection, dropna, fillna, drop_duplicates, astype, and string accessors for normalization. Example 5.57 shows dropna and drop_duplicates in one script. Example 5.59 walks an end-to-end cleaning template from raw extract to model-ready frame.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5.57 is the minimal cleaning API surface. Open the example 57 module for this chapter to run the operations on a sample table. Chain steps explicitly rather than mutating without logs.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scikit-learn provides fit-transform estimators: StandardScaler, MinMaxScaler, OneHotEncoder, and SimpleImputer compose into pipelines. Example 5.60 standardizes age and salary; Example 5.61 one-hot encodes gender. Fit on training data only to prevent leakage.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5.59 ties issues to fixes in one narrative. Try the example 59 module to follow parse, dedupe, impute, encode, and scale in order. NumPy underpins vectorized numeric operations across both libraries.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pandas for exploratory fixes and bespoke string parsing. Use sklearn transformers when the same preprocessing must repeat across folds and deployment. Keep business rules and unit conversions visible in notebooks or pipeline comments.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pandas repairs tables; sklearn standardizes repeatable transforms. Fit transformers on training splits. Example modules provide runnable templates for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pipelines, automation, visualization, and a brief R contrast.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Python cleaning tools</a:t>
            </a:r>
          </a:p>
          <a:p>
            <a:pPr algn="ctr">
              <a:lnSpc>
                <a:spcPts val="2200"/>
              </a:lnSpc>
              <a:spcBef>
                <a:spcPts val="1400"/>
              </a:spcBef>
            </a:pPr>
            <a:r>
              <a:rPr sz="2600" b="0">
                <a:solidFill>
                  <a:srgbClr val="333333"/>
                </a:solidFill>
                <a:latin typeface="Calibri"/>
              </a:rPr>
              <a:t>Methods become operational through libraries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Python Cleaning Tools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Perform dropna, fillna</a:t>
            </a:r>
          </a:p>
          <a:p>
            <a:pPr lvl="0" marL="457200" indent="-228600">
              <a:buFont typeface="Calibri"/>
              <a:spcAft>
                <a:spcPts val="1000"/>
              </a:spcAft>
              <a:buSzPct val="100000"/>
              <a:buChar char="•"/>
              <a:lnSpc>
                <a:spcPts val="2200"/>
              </a:lnSpc>
            </a:pPr>
            <a:r>
              <a:rPr sz="2000" b="0">
                <a:solidFill>
                  <a:srgbClr val="333333"/>
                </a:solidFill>
                <a:latin typeface="Calibri"/>
              </a:rPr>
              <a:t>Drop_duplicates in pandas, apply StandardScaler and OneHotEncoder from scikit-learn</a:t>
            </a:r>
          </a:p>
          <a:p>
            <a:pPr lvl="0" marL="457200" indent="-228600">
              <a:buFont typeface="Calibri"/>
              <a:spcAft>
                <a:spcPts val="1000"/>
              </a:spcAft>
              <a:buSzPct val="100000"/>
              <a:buChar char="•"/>
              <a:lnSpc>
                <a:spcPts val="2200"/>
              </a:lnSpc>
            </a:pPr>
            <a:r>
              <a:rPr sz="2000" b="0">
                <a:solidFill>
                  <a:srgbClr val="333333"/>
                </a:solidFill>
                <a:latin typeface="Calibri"/>
              </a:rPr>
              <a:t>Outline an end-to-end cleaning walkthrough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Python Cleaning Tools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pandas for cleaning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Pandas is the default toolkit for tabular cleaning</a:t>
            </a:r>
          </a:p>
          <a:p>
            <a:pPr lvl="0" marL="457200" indent="-228600">
              <a:buFont typeface="Calibri"/>
              <a:spcAft>
                <a:spcPts val="1000"/>
              </a:spcAft>
              <a:buSzPct val="100000"/>
              <a:buChar char="•"/>
              <a:lnSpc>
                <a:spcPts val="2200"/>
              </a:lnSpc>
            </a:pPr>
            <a:r>
              <a:rPr sz="2000" b="0">
                <a:solidFill>
                  <a:srgbClr val="333333"/>
                </a:solidFill>
                <a:latin typeface="Calibri"/>
              </a:rPr>
              <a:t>Example 5.57 shows dropna and drop_duplicates in one script</a:t>
            </a:r>
          </a:p>
          <a:p>
            <a:pPr lvl="0" marL="457200" indent="-228600">
              <a:buFont typeface="Calibri"/>
              <a:spcAft>
                <a:spcPts val="1000"/>
              </a:spcAft>
              <a:buSzPct val="100000"/>
              <a:buChar char="•"/>
              <a:lnSpc>
                <a:spcPts val="2200"/>
              </a:lnSpc>
            </a:pPr>
            <a:r>
              <a:rPr sz="2000" b="0">
                <a:solidFill>
                  <a:srgbClr val="333333"/>
                </a:solidFill>
                <a:latin typeface="Calibri"/>
              </a:rPr>
              <a:t>Example 5.59 walks an end-to-end cleaning template from raw extract to model-ready frame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Python Cleaning Tools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5.57 — Pandas dropna and drop duplicates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5.57 — hands-on module</a:t>
            </a:r>
          </a:p>
          <a:p>
            <a:pPr lvl="0" marL="457200" indent="-228600">
              <a:buFont typeface="Calibri"/>
              <a:spcAft>
                <a:spcPts val="1000"/>
              </a:spcAft>
              <a:buSzPct val="100000"/>
              <a:buChar char="•"/>
              <a:lnSpc>
                <a:spcPts val="2200"/>
              </a:lnSpc>
            </a:pPr>
            <a:r>
              <a:rPr sz="2000" b="0">
                <a:solidFill>
                  <a:srgbClr val="333333"/>
                </a:solidFill>
                <a:latin typeface="Calibri"/>
              </a:rPr>
              <a:t>The minimal cleaning API surface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`modules/chapter5/example57/`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Python Cleaning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5.57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df = pd.read_csv("data.csv")</a:t>
            </a:r>
          </a:p>
          <a:p>
            <a:pPr>
              <a:lnSpc>
                <a:spcPts val="2200"/>
              </a:lnSpc>
              <a:spcAft>
                <a:spcPts val="400"/>
              </a:spcAft>
            </a:pPr>
            <a:r>
              <a:rPr sz="2000" b="0">
                <a:solidFill>
                  <a:srgbClr val="333333"/>
                </a:solidFill>
                <a:latin typeface="Consolas"/>
              </a:rPr>
              <a:t>df = df.dropna()  # Removing rows with missing values</a:t>
            </a:r>
          </a:p>
          <a:p>
            <a:pPr>
              <a:lnSpc>
                <a:spcPts val="2200"/>
              </a:lnSpc>
              <a:spcAft>
                <a:spcPts val="400"/>
              </a:spcAft>
            </a:pPr>
            <a:r>
              <a:rPr sz="2000" b="0">
                <a:solidFill>
                  <a:srgbClr val="333333"/>
                </a:solidFill>
                <a:latin typeface="Consolas"/>
              </a:rPr>
              <a:t>df = df.drop_duplicates()  # Removing duplicate rows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Python Cleaning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scikit-learn for preprocessing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Scikit-learn provides fit-transform estimators</a:t>
            </a:r>
          </a:p>
          <a:p>
            <a:pPr lvl="0" marL="457200" indent="-228600">
              <a:buFont typeface="Calibri"/>
              <a:spcAft>
                <a:spcPts val="1000"/>
              </a:spcAft>
              <a:buSzPct val="100000"/>
              <a:buChar char="•"/>
              <a:lnSpc>
                <a:spcPts val="2200"/>
              </a:lnSpc>
            </a:pPr>
            <a:r>
              <a:rPr sz="2000" b="0">
                <a:solidFill>
                  <a:srgbClr val="333333"/>
                </a:solidFill>
                <a:latin typeface="Calibri"/>
              </a:rPr>
              <a:t>Example 5.60 standardizes age and salary; Example 5.61 one-hot encodes gender</a:t>
            </a:r>
          </a:p>
          <a:p>
            <a:pPr lvl="0" marL="457200" indent="-228600">
              <a:buFont typeface="Calibri"/>
              <a:spcAft>
                <a:spcPts val="1000"/>
              </a:spcAft>
              <a:buSzPct val="100000"/>
              <a:buChar char="•"/>
              <a:lnSpc>
                <a:spcPts val="2200"/>
              </a:lnSpc>
            </a:pPr>
            <a:r>
              <a:rPr sz="2000" b="0">
                <a:solidFill>
                  <a:srgbClr val="333333"/>
                </a:solidFill>
                <a:latin typeface="Calibri"/>
              </a:rPr>
              <a:t>Fit on training data only to prevent leakage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Python Cleaning Tools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5.59 — Pandas end-to-end cleaning walkthrough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5.59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5.59 ties issues to fixes in one narrative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`modules/chapter5/example59/`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Python Cleaning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5.59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Load data</a:t>
            </a:r>
          </a:p>
          <a:p>
            <a:pPr>
              <a:lnSpc>
                <a:spcPts val="2200"/>
              </a:lnSpc>
              <a:spcAft>
                <a:spcPts val="400"/>
              </a:spcAft>
            </a:pPr>
            <a:r>
              <a:rPr sz="2000" b="0">
                <a:solidFill>
                  <a:srgbClr val="333333"/>
                </a:solidFill>
                <a:latin typeface="Consolas"/>
              </a:rPr>
              <a:t>df = pd.read_csv("customers.csv")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1. Handling Missing Data</a:t>
            </a:r>
          </a:p>
          <a:p>
            <a:pPr>
              <a:lnSpc>
                <a:spcPts val="2200"/>
              </a:lnSpc>
              <a:spcAft>
                <a:spcPts val="400"/>
              </a:spcAft>
            </a:pPr>
            <a:r>
              <a:rPr sz="2000" b="0">
                <a:solidFill>
                  <a:srgbClr val="333333"/>
                </a:solidFill>
                <a:latin typeface="Consolas"/>
              </a:rPr>
              <a:t>df['age'] = df['age'].fillna(df['age'].mean())</a:t>
            </a:r>
          </a:p>
          <a:p>
            <a:pPr>
              <a:lnSpc>
                <a:spcPts val="2200"/>
              </a:lnSpc>
              <a:spcAft>
                <a:spcPts val="400"/>
              </a:spcAft>
            </a:pPr>
            <a:r>
              <a:rPr sz="2000" b="0">
                <a:solidFill>
                  <a:srgbClr val="333333"/>
                </a:solidFill>
                <a:latin typeface="Consolas"/>
              </a:rPr>
              <a:t>df = df.dropna(subset=['name', 'email'])</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2. Removing Duplicates</a:t>
            </a:r>
          </a:p>
          <a:p>
            <a:pPr>
              <a:lnSpc>
                <a:spcPts val="2200"/>
              </a:lnSpc>
              <a:spcAft>
                <a:spcPts val="400"/>
              </a:spcAft>
            </a:pPr>
            <a:r>
              <a:rPr sz="2000" b="0">
                <a:solidFill>
                  <a:srgbClr val="333333"/>
                </a:solidFill>
                <a:latin typeface="Consolas"/>
              </a:rPr>
              <a:t>df = df.drop_duplicates(subset=['email'])</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3. Standardizing Column Formats</a:t>
            </a:r>
          </a:p>
          <a:p>
            <a:pPr>
              <a:lnSpc>
                <a:spcPts val="2200"/>
              </a:lnSpc>
              <a:spcAft>
                <a:spcPts val="400"/>
              </a:spcAft>
            </a:pPr>
            <a:r>
              <a:rPr sz="2000" b="0">
                <a:solidFill>
                  <a:srgbClr val="333333"/>
                </a:solidFill>
                <a:latin typeface="Consolas"/>
              </a:rPr>
              <a:t>df['name'] = df['name'].str.title()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4. Encoding Categorical Data</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Python Cleaning Tools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When to use which layer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Use pandas for exploratory fixes and bespoke string parsing</a:t>
            </a:r>
          </a:p>
          <a:p>
            <a:pPr lvl="0" marL="457200" indent="-228600">
              <a:buFont typeface="Calibri"/>
              <a:spcAft>
                <a:spcPts val="1000"/>
              </a:spcAft>
              <a:buSzPct val="100000"/>
              <a:buChar char="•"/>
              <a:lnSpc>
                <a:spcPts val="2200"/>
              </a:lnSpc>
            </a:pPr>
            <a:r>
              <a:rPr sz="2000" b="0">
                <a:solidFill>
                  <a:srgbClr val="333333"/>
                </a:solidFill>
                <a:latin typeface="Calibri"/>
              </a:rPr>
              <a:t>Use sklearn transformers when the same preprocessing must repeat across folds and</a:t>
            </a:r>
          </a:p>
          <a:p>
            <a:pPr lvl="0" marL="457200" indent="-228600">
              <a:buFont typeface="Calibri"/>
              <a:spcAft>
                <a:spcPts val="1000"/>
              </a:spcAft>
              <a:buSzPct val="100000"/>
              <a:buChar char="•"/>
              <a:lnSpc>
                <a:spcPts val="2200"/>
              </a:lnSpc>
            </a:pPr>
            <a:r>
              <a:rPr sz="2000" b="0">
                <a:solidFill>
                  <a:srgbClr val="333333"/>
                </a:solidFill>
                <a:latin typeface="Calibri"/>
              </a:rPr>
              <a:t>Keep business rules and unit conversions visible in notebooks or pipeline comments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Python Cleaning Tools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Pandas repairs tables; sklearn standardizes repeatable transforms</a:t>
            </a:r>
          </a:p>
          <a:p>
            <a:pPr lvl="0" marL="457200" indent="-228600">
              <a:buFont typeface="Calibri"/>
              <a:spcAft>
                <a:spcPts val="1000"/>
              </a:spcAft>
              <a:buSzPct val="100000"/>
              <a:buChar char="•"/>
              <a:lnSpc>
                <a:spcPts val="2200"/>
              </a:lnSpc>
            </a:pPr>
            <a:r>
              <a:rPr sz="2000" b="0">
                <a:solidFill>
                  <a:srgbClr val="333333"/>
                </a:solidFill>
                <a:latin typeface="Calibri"/>
              </a:rPr>
              <a:t>Fit transformers on training splits</a:t>
            </a:r>
          </a:p>
          <a:p>
            <a:pPr lvl="0" marL="457200" indent="-228600">
              <a:buFont typeface="Calibri"/>
              <a:spcAft>
                <a:spcPts val="1000"/>
              </a:spcAft>
              <a:buSzPct val="100000"/>
              <a:buChar char="•"/>
              <a:lnSpc>
                <a:spcPts val="2200"/>
              </a:lnSpc>
            </a:pPr>
            <a:r>
              <a:rPr sz="2000" b="0">
                <a:solidFill>
                  <a:srgbClr val="333333"/>
                </a:solidFill>
                <a:latin typeface="Calibri"/>
              </a:rPr>
              <a:t>Example modules provide runnable templates for this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Python Cleaning Tools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pipelines, automation, visualization, and a brief R contrast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Python Cleaning Tools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