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Methods become operational through libraries. This part maps pandas table operations, scikit-learn transformers, and NumPy vectorized fixes to the cleaning and preprocessing steps already introduced.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perform dropna, fillna, and drop_duplicates in pandas, apply StandardScaler and OneHotEncoder from scikit-learn, and outline an end-to-end cleaning walkthrough.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pandas is the default toolkit for tabular cleaning: read_csv, dtype inspection, dropna, fillna, drop_duplicates, astype, and string accessors for normalization. Example 5.57 shows dropna and drop_duplicates in one script. Example 5.59 walks an end-to-end cleaning template from raw extract to model-ready frame.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5.57 is the minimal cleaning API surface. Open the example 57 module for this chapter to run the operations on a sample table. Chain steps explicitly rather than mutating without logs.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scikit-learn provides fit-transform estimators: StandardScaler, MinMaxScaler, OneHotEncoder, and SimpleImputer compose into pipelines. Example 5.60 standardizes age and salary; Example 5.61 one-hot encodes gender. Fit on training data only to prevent leakage.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5.59 ties issues to fixes in one narrative. Try the example 59 module to follow parse, dedupe, impute, encode, and scale in order. NumPy underpins vectorized numeric operations across both libraries.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pandas for exploratory fixes and bespoke string parsing. Use sklearn transformers when the same preprocessing must repeat across folds and deployment. Keep business rules and unit conversions visible in notebooks or pipeline comments.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pandas repairs tables; sklearn standardizes repeatable transforms. Fit transformers on training splits. Example modules provide runnable templates for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pipelines, automation, visualization, and a brief R contrast.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5 — Python cleaning tools</a:t>
            </a:r>
          </a:p>
          <a:p>
            <a:pPr algn="ctr">
              <a:lnSpc>
                <a:spcPts val="2200"/>
              </a:lnSpc>
              <a:spcBef>
                <a:spcPts val="1400"/>
              </a:spcBef>
            </a:pPr>
            <a:r>
              <a:rPr sz="2600" b="0">
                <a:solidFill>
                  <a:srgbClr val="333333"/>
                </a:solidFill>
                <a:latin typeface="Calibri"/>
              </a:rPr>
              <a:t>Methods become operational through libraries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Python Cleaning Tools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Perform dropna, fillna</a:t>
            </a:r>
          </a:p>
          <a:p>
            <a:pPr>
              <a:spcAft>
                <a:spcPts val="1000"/>
              </a:spcAft>
              <a:buChar char="•"/>
              <a:lnSpc>
                <a:spcPts val="2200"/>
              </a:lnSpc>
            </a:pPr>
            <a:r>
              <a:rPr sz="2000" b="0">
                <a:solidFill>
                  <a:srgbClr val="333333"/>
                </a:solidFill>
                <a:latin typeface="Calibri"/>
              </a:rPr>
              <a:t>Drop_duplicates in pandas, apply StandardScaler and OneHotEncoder from scikit-learn</a:t>
            </a:r>
          </a:p>
          <a:p>
            <a:pPr>
              <a:spcAft>
                <a:spcPts val="1000"/>
              </a:spcAft>
              <a:buChar char="•"/>
              <a:lnSpc>
                <a:spcPts val="2200"/>
              </a:lnSpc>
            </a:pPr>
            <a:r>
              <a:rPr sz="2000" b="0">
                <a:solidFill>
                  <a:srgbClr val="333333"/>
                </a:solidFill>
                <a:latin typeface="Calibri"/>
              </a:rPr>
              <a:t>Outline an end-to-end cleaning walkthrough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Python Cleaning Tools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pandas for cleaning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Pandas is the default toolkit for tabular cleaning</a:t>
            </a:r>
          </a:p>
          <a:p>
            <a:pPr>
              <a:spcAft>
                <a:spcPts val="1000"/>
              </a:spcAft>
              <a:buChar char="•"/>
              <a:lnSpc>
                <a:spcPts val="2200"/>
              </a:lnSpc>
            </a:pPr>
            <a:r>
              <a:rPr sz="2000" b="0">
                <a:solidFill>
                  <a:srgbClr val="333333"/>
                </a:solidFill>
                <a:latin typeface="Calibri"/>
              </a:rPr>
              <a:t>Example 5.57 shows dropna and drop_duplicates in one script</a:t>
            </a:r>
          </a:p>
          <a:p>
            <a:pPr>
              <a:spcAft>
                <a:spcPts val="1000"/>
              </a:spcAft>
              <a:buChar char="•"/>
              <a:lnSpc>
                <a:spcPts val="2200"/>
              </a:lnSpc>
            </a:pPr>
            <a:r>
              <a:rPr sz="2000" b="0">
                <a:solidFill>
                  <a:srgbClr val="333333"/>
                </a:solidFill>
                <a:latin typeface="Calibri"/>
              </a:rPr>
              <a:t>Example 5.59 walks an end-to-end cleaning template from raw extract to model-ready frame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Python Cleaning Tools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5.57 — Pandas dropna and drop duplicates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5.57 — hands-on module</a:t>
            </a:r>
          </a:p>
          <a:p>
            <a:pPr>
              <a:spcAft>
                <a:spcPts val="1000"/>
              </a:spcAft>
              <a:buChar char="•"/>
              <a:lnSpc>
                <a:spcPts val="2200"/>
              </a:lnSpc>
            </a:pPr>
            <a:r>
              <a:rPr sz="2000" b="0">
                <a:solidFill>
                  <a:srgbClr val="333333"/>
                </a:solidFill>
                <a:latin typeface="Calibri"/>
              </a:rPr>
              <a:t>The minimal cleaning API surface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`modules/chapter5/example57/`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Python Cleaning Tools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5.57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import pandas as pd</a:t>
            </a:r>
          </a:p>
          <a:p>
            <a:pPr>
              <a:lnSpc>
                <a:spcPts val="2200"/>
              </a:lnSpc>
              <a:spcAft>
                <a:spcPts val="400"/>
              </a:spcAft>
            </a:pPr>
            <a:r>
              <a:rPr sz="2000" b="0">
                <a:solidFill>
                  <a:srgbClr val="333333"/>
                </a:solidFill>
                <a:latin typeface="Consolas"/>
              </a:rPr>
              <a:t>df = pd.read_csv("data.csv")</a:t>
            </a:r>
          </a:p>
          <a:p>
            <a:pPr>
              <a:lnSpc>
                <a:spcPts val="2200"/>
              </a:lnSpc>
              <a:spcAft>
                <a:spcPts val="400"/>
              </a:spcAft>
            </a:pPr>
            <a:r>
              <a:rPr sz="2000" b="0">
                <a:solidFill>
                  <a:srgbClr val="333333"/>
                </a:solidFill>
                <a:latin typeface="Consolas"/>
              </a:rPr>
              <a:t>df = df.dropna()  # Removing rows with missing values</a:t>
            </a:r>
          </a:p>
          <a:p>
            <a:pPr>
              <a:lnSpc>
                <a:spcPts val="2200"/>
              </a:lnSpc>
              <a:spcAft>
                <a:spcPts val="400"/>
              </a:spcAft>
            </a:pPr>
            <a:r>
              <a:rPr sz="2000" b="0">
                <a:solidFill>
                  <a:srgbClr val="333333"/>
                </a:solidFill>
                <a:latin typeface="Consolas"/>
              </a:rPr>
              <a:t>df = df.drop_duplicates()  # Removing duplicate rows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Python Cleaning Tools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scikit-learn for preprocessing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Scikit-learn provides fit-transform estimators</a:t>
            </a:r>
          </a:p>
          <a:p>
            <a:pPr>
              <a:spcAft>
                <a:spcPts val="1000"/>
              </a:spcAft>
              <a:buChar char="•"/>
              <a:lnSpc>
                <a:spcPts val="2200"/>
              </a:lnSpc>
            </a:pPr>
            <a:r>
              <a:rPr sz="2000" b="0">
                <a:solidFill>
                  <a:srgbClr val="333333"/>
                </a:solidFill>
                <a:latin typeface="Calibri"/>
              </a:rPr>
              <a:t>Example 5.60 standardizes age and salary; Example 5.61 one-hot encodes gender</a:t>
            </a:r>
          </a:p>
          <a:p>
            <a:pPr>
              <a:spcAft>
                <a:spcPts val="1000"/>
              </a:spcAft>
              <a:buChar char="•"/>
              <a:lnSpc>
                <a:spcPts val="2200"/>
              </a:lnSpc>
            </a:pPr>
            <a:r>
              <a:rPr sz="2000" b="0">
                <a:solidFill>
                  <a:srgbClr val="333333"/>
                </a:solidFill>
                <a:latin typeface="Calibri"/>
              </a:rPr>
              <a:t>Fit on training data only to prevent leakage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Python Cleaning Tools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5.59 — Pandas end-to-end cleaning walkthrough</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5.59 — hands-on module</a:t>
            </a:r>
          </a:p>
          <a:p>
            <a:pPr>
              <a:spcAft>
                <a:spcPts val="1000"/>
              </a:spcAft>
              <a:buChar char="•"/>
              <a:lnSpc>
                <a:spcPts val="2200"/>
              </a:lnSpc>
            </a:pPr>
            <a:r>
              <a:rPr sz="2000" b="0">
                <a:solidFill>
                  <a:srgbClr val="333333"/>
                </a:solidFill>
                <a:latin typeface="Calibri"/>
              </a:rPr>
              <a:t>Example 5.59 ties issues to fixes in one narrative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`modules/chapter5/example59/`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Python Cleaning Tools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5.59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import pandas as pd</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Load data</a:t>
            </a:r>
          </a:p>
          <a:p>
            <a:pPr>
              <a:lnSpc>
                <a:spcPts val="2200"/>
              </a:lnSpc>
              <a:spcAft>
                <a:spcPts val="400"/>
              </a:spcAft>
            </a:pPr>
            <a:r>
              <a:rPr sz="2000" b="0">
                <a:solidFill>
                  <a:srgbClr val="333333"/>
                </a:solidFill>
                <a:latin typeface="Consolas"/>
              </a:rPr>
              <a:t>df = pd.read_csv("customers.csv")</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1. Handling Missing Data</a:t>
            </a:r>
          </a:p>
          <a:p>
            <a:pPr>
              <a:lnSpc>
                <a:spcPts val="2200"/>
              </a:lnSpc>
              <a:spcAft>
                <a:spcPts val="400"/>
              </a:spcAft>
            </a:pPr>
            <a:r>
              <a:rPr sz="2000" b="0">
                <a:solidFill>
                  <a:srgbClr val="333333"/>
                </a:solidFill>
                <a:latin typeface="Consolas"/>
              </a:rPr>
              <a:t>df['age'] = df['age'].fillna(df['age'].mean())</a:t>
            </a:r>
          </a:p>
          <a:p>
            <a:pPr>
              <a:lnSpc>
                <a:spcPts val="2200"/>
              </a:lnSpc>
              <a:spcAft>
                <a:spcPts val="400"/>
              </a:spcAft>
            </a:pPr>
            <a:r>
              <a:rPr sz="2000" b="0">
                <a:solidFill>
                  <a:srgbClr val="333333"/>
                </a:solidFill>
                <a:latin typeface="Consolas"/>
              </a:rPr>
              <a:t>df = df.dropna(subset=['name', 'email'])</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2. Removing Duplicates</a:t>
            </a:r>
          </a:p>
          <a:p>
            <a:pPr>
              <a:lnSpc>
                <a:spcPts val="2200"/>
              </a:lnSpc>
              <a:spcAft>
                <a:spcPts val="400"/>
              </a:spcAft>
            </a:pPr>
            <a:r>
              <a:rPr sz="2000" b="0">
                <a:solidFill>
                  <a:srgbClr val="333333"/>
                </a:solidFill>
                <a:latin typeface="Consolas"/>
              </a:rPr>
              <a:t>df = df.drop_duplicates(subset=['email'])</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3. Standardizing Column Formats</a:t>
            </a:r>
          </a:p>
          <a:p>
            <a:pPr>
              <a:lnSpc>
                <a:spcPts val="2200"/>
              </a:lnSpc>
              <a:spcAft>
                <a:spcPts val="400"/>
              </a:spcAft>
            </a:pPr>
            <a:r>
              <a:rPr sz="2000" b="0">
                <a:solidFill>
                  <a:srgbClr val="333333"/>
                </a:solidFill>
                <a:latin typeface="Consolas"/>
              </a:rPr>
              <a:t>df['name'] = df['name'].str.title()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4. Encoding Categorical Data</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Python Cleaning Tools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When to use which layer</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Use pandas for exploratory fixes and bespoke string parsing</a:t>
            </a:r>
          </a:p>
          <a:p>
            <a:pPr>
              <a:spcAft>
                <a:spcPts val="1000"/>
              </a:spcAft>
              <a:buChar char="•"/>
              <a:lnSpc>
                <a:spcPts val="2200"/>
              </a:lnSpc>
            </a:pPr>
            <a:r>
              <a:rPr sz="2000" b="0">
                <a:solidFill>
                  <a:srgbClr val="333333"/>
                </a:solidFill>
                <a:latin typeface="Calibri"/>
              </a:rPr>
              <a:t>Use sklearn transformers when the same preprocessing must repeat across folds and</a:t>
            </a:r>
          </a:p>
          <a:p>
            <a:pPr>
              <a:spcAft>
                <a:spcPts val="1000"/>
              </a:spcAft>
              <a:buChar char="•"/>
              <a:lnSpc>
                <a:spcPts val="2200"/>
              </a:lnSpc>
            </a:pPr>
            <a:r>
              <a:rPr sz="2000" b="0">
                <a:solidFill>
                  <a:srgbClr val="333333"/>
                </a:solidFill>
                <a:latin typeface="Calibri"/>
              </a:rPr>
              <a:t>Keep business rules and unit conversions visible in notebooks or pipeline comments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Python Cleaning Tools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Pandas repairs tables; sklearn standardizes repeatable transforms</a:t>
            </a:r>
          </a:p>
          <a:p>
            <a:pPr>
              <a:spcAft>
                <a:spcPts val="1000"/>
              </a:spcAft>
              <a:buChar char="•"/>
              <a:lnSpc>
                <a:spcPts val="2200"/>
              </a:lnSpc>
            </a:pPr>
            <a:r>
              <a:rPr sz="2000" b="0">
                <a:solidFill>
                  <a:srgbClr val="333333"/>
                </a:solidFill>
                <a:latin typeface="Calibri"/>
              </a:rPr>
              <a:t>Fit transformers on training splits</a:t>
            </a:r>
          </a:p>
          <a:p>
            <a:pPr>
              <a:spcAft>
                <a:spcPts val="1000"/>
              </a:spcAft>
              <a:buChar char="•"/>
              <a:lnSpc>
                <a:spcPts val="2200"/>
              </a:lnSpc>
            </a:pPr>
            <a:r>
              <a:rPr sz="2000" b="0">
                <a:solidFill>
                  <a:srgbClr val="333333"/>
                </a:solidFill>
                <a:latin typeface="Calibri"/>
              </a:rPr>
              <a:t>Example modules provide runnable templates for this chapter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Python Cleaning Tools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pipelines, automation, visualization, and a brief R contrast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Python Cleaning Tools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