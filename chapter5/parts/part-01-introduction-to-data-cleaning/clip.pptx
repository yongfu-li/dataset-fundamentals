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collection and annotation, raw tables still need preparation before reliable analysis or supervised training. This opening part defines data cleaning versus preprocessing and explains why both precede model fitting and the exploratory summaries in Chapter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cleaning from preprocessing, name four practical motives for both phases, and recognize schema discipline when joining multiple corpora.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cleaning, missing fields, duplicates, inconsistent encodings, and scale mismatches distort statistics and learners alike. Cross-corpus work makes those defects visible at pipeline scale: models trained on one public release can fail silently on another when column names, units, or label taxonomies differ.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5.1 shows a fraud table with blank labels. Supervised training either drops those rows or invents labels—both paths can bias decision boundaries. Open the example 1 module for this chapter to inspect how missing targets break training pipelines.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5.2 removes high-cardinality identifiers such as raw transaction IDs that never enter the model. Memory and training time improve without changing the predictive schema. Try the example 2 module to see identifier columns that should not reach the feature matrix.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book treats cleaning and preprocessing as consecutive phases. Cleaning finds and corrects errors so values are reliable—missing values, duplicates, inconsistent formats, erroneous outliers, and non-model fields. Preprocessing transforms cleaned values into representations algorithms expect: scaling, encoding, binning, and feature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5.3 shows the same order ID appearing twice after a system retry. Counting both rows inflates revenue and customer frequency until duplicates are removed or merged. Cleaning precedes the scaling and encoding examples introduced later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motives recur: accuracy on held-out data, comparable feature scales, computational efficiency, and trustworthy decisions when multiple sources are joined. Detailed failure modes appear in the next parts; remedies follow in Sections 5.3 and 5.4.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makes values trustworthy; preprocessing makes them algorithm-ready. Both follow annotation and precede exploration-heavy modeling work. Schema alignment across sources is itself a cleaning task.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missing data—MCAR, MAR, MNAR mechanisms and their causes.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Introduction to data cleaning</a:t>
            </a:r>
          </a:p>
          <a:p>
            <a:pPr algn="ctr">
              <a:lnSpc>
                <a:spcPts val="2200"/>
              </a:lnSpc>
              <a:spcBef>
                <a:spcPts val="1400"/>
              </a:spcBef>
            </a:pPr>
            <a:r>
              <a:rPr sz="2600" b="0">
                <a:solidFill>
                  <a:srgbClr val="333333"/>
                </a:solidFill>
                <a:latin typeface="Calibri"/>
              </a:rPr>
              <a:t>After collection and annotation, raw tables still need preparation before reliable analysis or supervised training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cleaning from preprocessing, name four practical motives for both phases</a:t>
            </a:r>
          </a:p>
          <a:p>
            <a:pPr>
              <a:spcAft>
                <a:spcPts val="1000"/>
              </a:spcAft>
              <a:buChar char="•"/>
              <a:lnSpc>
                <a:spcPts val="2200"/>
              </a:lnSpc>
            </a:pPr>
            <a:r>
              <a:rPr sz="2000" b="0">
                <a:solidFill>
                  <a:srgbClr val="333333"/>
                </a:solidFill>
                <a:latin typeface="Calibri"/>
              </a:rPr>
              <a:t>Recognize schema discipline when joining multiple corpora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cleaning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Without cleaning, missing fields, duplicates, inconsistent encodings</a:t>
            </a:r>
          </a:p>
          <a:p>
            <a:pPr>
              <a:spcAft>
                <a:spcPts val="1000"/>
              </a:spcAft>
              <a:buChar char="•"/>
              <a:lnSpc>
                <a:spcPts val="2200"/>
              </a:lnSpc>
            </a:pPr>
            <a:r>
              <a:rPr sz="2000" b="0">
                <a:solidFill>
                  <a:srgbClr val="333333"/>
                </a:solidFill>
                <a:latin typeface="Calibri"/>
              </a:rPr>
              <a:t>Cross-corpus work makes those defects visible at pipeline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5.1 — Missing target values in classification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5.1 — hands-on module</a:t>
            </a:r>
          </a:p>
          <a:p>
            <a:pPr>
              <a:spcAft>
                <a:spcPts val="1000"/>
              </a:spcAft>
              <a:buChar char="•"/>
              <a:lnSpc>
                <a:spcPts val="2200"/>
              </a:lnSpc>
            </a:pPr>
            <a:r>
              <a:rPr sz="2000" b="0">
                <a:solidFill>
                  <a:srgbClr val="333333"/>
                </a:solidFill>
                <a:latin typeface="Calibri"/>
              </a:rPr>
              <a:t>Example 5.1 shows a fraud table with blank labels</a:t>
            </a:r>
          </a:p>
          <a:p>
            <a:pPr>
              <a:spcAft>
                <a:spcPts val="1000"/>
              </a:spcAft>
              <a:buChar char="•"/>
              <a:lnSpc>
                <a:spcPts val="2200"/>
              </a:lnSpc>
            </a:pPr>
            <a:r>
              <a:rPr sz="2000" b="0">
                <a:solidFill>
                  <a:srgbClr val="333333"/>
                </a:solidFill>
                <a:latin typeface="Calibri"/>
              </a:rPr>
              <a:t>Supervised training either drops those rows or invents labels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5.2 — Dropping unused identifier columns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5.2 — hands-on module</a:t>
            </a:r>
          </a:p>
          <a:p>
            <a:pPr>
              <a:spcAft>
                <a:spcPts val="1000"/>
              </a:spcAft>
              <a:buChar char="•"/>
              <a:lnSpc>
                <a:spcPts val="2200"/>
              </a:lnSpc>
            </a:pPr>
            <a:r>
              <a:rPr sz="2000" b="0">
                <a:solidFill>
                  <a:srgbClr val="333333"/>
                </a:solidFill>
                <a:latin typeface="Calibri"/>
              </a:rPr>
              <a:t>Example 5.2 removes high-cardinality identifiers such as raw transaction IDs that never</a:t>
            </a:r>
          </a:p>
          <a:p>
            <a:pPr>
              <a:spcAft>
                <a:spcPts val="1000"/>
              </a:spcAft>
              <a:buChar char="•"/>
              <a:lnSpc>
                <a:spcPts val="2200"/>
              </a:lnSpc>
            </a:pPr>
            <a:r>
              <a:rPr sz="2000" b="0">
                <a:solidFill>
                  <a:srgbClr val="333333"/>
                </a:solidFill>
                <a:latin typeface="Calibri"/>
              </a:rPr>
              <a:t>Memory and training time improve without changing the predictive schema</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Cleaning versus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This book treats cleaning and preprocessing as consecutive phases</a:t>
            </a:r>
          </a:p>
          <a:p>
            <a:pPr>
              <a:spcAft>
                <a:spcPts val="1000"/>
              </a:spcAft>
              <a:buChar char="•"/>
              <a:lnSpc>
                <a:spcPts val="2200"/>
              </a:lnSpc>
            </a:pPr>
            <a:r>
              <a:rPr sz="2000" b="0">
                <a:solidFill>
                  <a:srgbClr val="333333"/>
                </a:solidFill>
                <a:latin typeface="Calibri"/>
              </a:rPr>
              <a:t>Non-model fields</a:t>
            </a:r>
          </a:p>
          <a:p>
            <a:pPr>
              <a:spcAft>
                <a:spcPts val="1000"/>
              </a:spcAft>
              <a:buChar char="•"/>
              <a:lnSpc>
                <a:spcPts val="2200"/>
              </a:lnSpc>
            </a:pPr>
            <a:r>
              <a:rPr sz="2000" b="0">
                <a:solidFill>
                  <a:srgbClr val="333333"/>
                </a:solidFill>
                <a:latin typeface="Calibri"/>
              </a:rPr>
              <a:t>Preprocessing transforms cleaned values into representations algorithms expect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5.3 — Duplicate retail transactions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5.3 — hands-on module</a:t>
            </a:r>
          </a:p>
          <a:p>
            <a:pPr>
              <a:spcAft>
                <a:spcPts val="1000"/>
              </a:spcAft>
              <a:buChar char="•"/>
              <a:lnSpc>
                <a:spcPts val="2200"/>
              </a:lnSpc>
            </a:pPr>
            <a:r>
              <a:rPr sz="2000" b="0">
                <a:solidFill>
                  <a:srgbClr val="333333"/>
                </a:solidFill>
                <a:latin typeface="Calibri"/>
              </a:rPr>
              <a:t>Example 5.3 shows the same order ID appearing twice after a system retry</a:t>
            </a:r>
          </a:p>
          <a:p>
            <a:pPr>
              <a:spcAft>
                <a:spcPts val="1000"/>
              </a:spcAft>
              <a:buChar char="•"/>
              <a:lnSpc>
                <a:spcPts val="2200"/>
              </a:lnSpc>
            </a:pPr>
            <a:r>
              <a:rPr sz="2000" b="0">
                <a:solidFill>
                  <a:srgbClr val="333333"/>
                </a:solidFill>
                <a:latin typeface="Calibri"/>
              </a:rPr>
              <a:t>Counting both rows inflates revenue and customer frequency until duplicates are removed or</a:t>
            </a:r>
          </a:p>
          <a:p>
            <a:pPr>
              <a:spcAft>
                <a:spcPts val="1000"/>
              </a:spcAft>
              <a:buChar char="•"/>
              <a:lnSpc>
                <a:spcPts val="2200"/>
              </a:lnSpc>
            </a:pPr>
            <a:r>
              <a:rPr sz="2000" b="0">
                <a:solidFill>
                  <a:srgbClr val="333333"/>
                </a:solidFill>
                <a:latin typeface="Calibri"/>
              </a:rPr>
              <a:t>Cleaning precedes the scaling and encoding examples introduced later in the chapter</a:t>
            </a:r>
          </a:p>
          <a:p>
            <a:pPr>
              <a:spcAft>
                <a:spcPts val="1000"/>
              </a:spcAft>
              <a:buChar char="•"/>
              <a:lnSpc>
                <a:spcPts val="2200"/>
              </a:lnSpc>
            </a:pPr>
            <a:r>
              <a:rPr sz="2000" b="0">
                <a:solidFill>
                  <a:srgbClr val="333333"/>
                </a:solidFill>
                <a:latin typeface="Calibri"/>
              </a:rPr>
              <a:t>View files: `modules/chapter5/example3/`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recurring motives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Four motives recur</a:t>
            </a:r>
          </a:p>
          <a:p>
            <a:pPr>
              <a:spcAft>
                <a:spcPts val="1000"/>
              </a:spcAft>
              <a:buChar char="•"/>
              <a:lnSpc>
                <a:spcPts val="2200"/>
              </a:lnSpc>
            </a:pPr>
            <a:r>
              <a:rPr sz="2000" b="0">
                <a:solidFill>
                  <a:srgbClr val="333333"/>
                </a:solidFill>
                <a:latin typeface="Calibri"/>
              </a:rPr>
              <a:t>Detailed failure modes appear in the next parts; remedies follow in Sections 5.3 and 5.4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Cleaning makes values trustworthy; preprocessing makes them algorithm-ready</a:t>
            </a:r>
          </a:p>
          <a:p>
            <a:pPr>
              <a:spcAft>
                <a:spcPts val="1000"/>
              </a:spcAft>
              <a:buChar char="•"/>
              <a:lnSpc>
                <a:spcPts val="2200"/>
              </a:lnSpc>
            </a:pPr>
            <a:r>
              <a:rPr sz="2000" b="0">
                <a:solidFill>
                  <a:srgbClr val="333333"/>
                </a:solidFill>
                <a:latin typeface="Calibri"/>
              </a:rPr>
              <a:t>Both follow annotation and precede exploration-heavy modeling work</a:t>
            </a:r>
          </a:p>
          <a:p>
            <a:pPr>
              <a:spcAft>
                <a:spcPts val="1000"/>
              </a:spcAft>
              <a:buChar char="•"/>
              <a:lnSpc>
                <a:spcPts val="2200"/>
              </a:lnSpc>
            </a:pPr>
            <a:r>
              <a:rPr sz="2000" b="0">
                <a:solidFill>
                  <a:srgbClr val="333333"/>
                </a:solidFill>
                <a:latin typeface="Calibri"/>
              </a:rPr>
              <a:t>Schema alignment across sources is itself a cleaning task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missing data, MCAR, MAR, MNAR mechanisms and their causes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Introduction To Data Cleaning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