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part turns defect taxonomy into repair methods: deletion and imputation for missing values, deduplication, format standardization, outlier handling, and correlation-based feature drops.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you should compare listwise deletion with available-case analysis, choose mean, median, and hot-deck imputation, remove duplicates in pandas-style workflows, and flag outliers with IQR rules.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Listwise deletion drops any row with a missing value in selected columns—Example 5.37 shows aggressive loss of sample size. Available-case analysis keeps rows for each analysis using the fields present—Example 5.38 preserves more data but complicates comparison across models. Choose based on mechanism and how much data you can afford to lose.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Mean imputation—Example 5.39 for age—preserves the sample mean but shrinks variance. Median imputation—Example 5.41 for skewed square footage—is robust to tails. Hot-deck imputation—Example 5.40—copies values from similar donor rows and preserves multivariate structure better than single-column means. Document imputation inside train splits to avoid leakage.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5.39 is the simple numeric fill. Open the example 39 module for this chapter to compare mean, median, and model-based imputation on the same column. MNAR settings may invalidate all three without extra modeling.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Near-duplicate customer names and repeated transaction keys should be collapsed with explicit keep rules. Example 5.42 shows fuzzy duplicate risk. Use stable keys when available; otherwise combine normalized text fields and timestamps before drop_duplicates.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5.43 normalizes currency symbols across markets before modeling. Date parsing, lowercasing product names, and canonical unit conversion belong here—not in the model trainer. Record parsing rules in preprocessing metadata.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5.44 flags extreme income with the interquartile range. Winsorization caps tails instead of deleting rows. Example 5.45 drops one of two highly correlated bathroom features to reduce redundancy. Pair outlier rules with domain review.</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Match the repair to the defect and mechanism. Deletion is simple but costly; imputation carries bias risk. Standardization enables joins; IQR and correlation pruning stabilize training.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for the quiz, then continue to preprocessing—scaling and encoding cleaned columns.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5 — Techniques for data cleaning</a:t>
            </a:r>
          </a:p>
          <a:p>
            <a:pPr algn="ctr">
              <a:lnSpc>
                <a:spcPts val="2200"/>
              </a:lnSpc>
              <a:spcBef>
                <a:spcPts val="1400"/>
              </a:spcBef>
            </a:pPr>
            <a:r>
              <a:rPr sz="2600" b="0">
                <a:solidFill>
                  <a:srgbClr val="333333"/>
                </a:solidFill>
                <a:latin typeface="Calibri"/>
              </a:rPr>
              <a:t>This part turns defect taxonomy into repair methods</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Cleaning Techniques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Compare listwise deletion with available-case analysis, choose mean, median</a:t>
            </a:r>
          </a:p>
          <a:p>
            <a:pPr lvl="0" marL="457200" indent="-228600">
              <a:buFont typeface="Calibri"/>
              <a:spcAft>
                <a:spcPts val="1000"/>
              </a:spcAft>
              <a:buSzPct val="100000"/>
              <a:buChar char="•"/>
              <a:lnSpc>
                <a:spcPts val="2200"/>
              </a:lnSpc>
            </a:pPr>
            <a:r>
              <a:rPr sz="2000" b="0">
                <a:solidFill>
                  <a:srgbClr val="333333"/>
                </a:solidFill>
                <a:latin typeface="Calibri"/>
              </a:rPr>
              <a:t>Hot-deck imputation, remove duplicates in pandas-style workflows</a:t>
            </a:r>
          </a:p>
          <a:p>
            <a:pPr lvl="0" marL="457200" indent="-228600">
              <a:buFont typeface="Calibri"/>
              <a:spcAft>
                <a:spcPts val="1000"/>
              </a:spcAft>
              <a:buSzPct val="100000"/>
              <a:buChar char="•"/>
              <a:lnSpc>
                <a:spcPts val="2200"/>
              </a:lnSpc>
            </a:pPr>
            <a:r>
              <a:rPr sz="2000" b="0">
                <a:solidFill>
                  <a:srgbClr val="333333"/>
                </a:solidFill>
                <a:latin typeface="Calibri"/>
              </a:rPr>
              <a:t>Flag outliers with IQR rules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Cleaning Techniques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Handling missing data — deletion</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Listwise deletion drops any row with a missing value in selected columns</a:t>
            </a:r>
          </a:p>
          <a:p>
            <a:pPr lvl="0" marL="457200" indent="-228600">
              <a:buFont typeface="Calibri"/>
              <a:spcAft>
                <a:spcPts val="1000"/>
              </a:spcAft>
              <a:buSzPct val="100000"/>
              <a:buChar char="•"/>
              <a:lnSpc>
                <a:spcPts val="2200"/>
              </a:lnSpc>
            </a:pPr>
            <a:r>
              <a:rPr sz="2000" b="0">
                <a:solidFill>
                  <a:srgbClr val="333333"/>
                </a:solidFill>
                <a:latin typeface="Calibri"/>
              </a:rPr>
              <a:t>Available-case analysis keeps rows for each analysis using the fields present</a:t>
            </a:r>
          </a:p>
          <a:p>
            <a:pPr lvl="0" marL="457200" indent="-228600">
              <a:buFont typeface="Calibri"/>
              <a:spcAft>
                <a:spcPts val="1000"/>
              </a:spcAft>
              <a:buSzPct val="100000"/>
              <a:buChar char="•"/>
              <a:lnSpc>
                <a:spcPts val="2200"/>
              </a:lnSpc>
            </a:pPr>
            <a:r>
              <a:rPr sz="2000" b="0">
                <a:solidFill>
                  <a:srgbClr val="333333"/>
                </a:solidFill>
                <a:latin typeface="Calibri"/>
              </a:rPr>
              <a:t>Choose based on mechanism and how much data you can afford to lose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Cleaning Techniques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Imputation methods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Mean imputation, Example 5.39 for age, preserves the sample mean but shrinks variance</a:t>
            </a:r>
          </a:p>
          <a:p>
            <a:pPr lvl="0" marL="457200" indent="-228600">
              <a:buFont typeface="Calibri"/>
              <a:spcAft>
                <a:spcPts val="1000"/>
              </a:spcAft>
              <a:buSzPct val="100000"/>
              <a:buChar char="•"/>
              <a:lnSpc>
                <a:spcPts val="2200"/>
              </a:lnSpc>
            </a:pPr>
            <a:r>
              <a:rPr sz="2000" b="0">
                <a:solidFill>
                  <a:srgbClr val="333333"/>
                </a:solidFill>
                <a:latin typeface="Calibri"/>
              </a:rPr>
              <a:t>Median imputation, Example 5.41 for skewed square footage, is robust to tails</a:t>
            </a:r>
          </a:p>
          <a:p>
            <a:pPr lvl="0" marL="457200" indent="-228600">
              <a:buFont typeface="Calibri"/>
              <a:spcAft>
                <a:spcPts val="1000"/>
              </a:spcAft>
              <a:buSzPct val="100000"/>
              <a:buChar char="•"/>
              <a:lnSpc>
                <a:spcPts val="2200"/>
              </a:lnSpc>
            </a:pPr>
            <a:r>
              <a:rPr sz="2000" b="0">
                <a:solidFill>
                  <a:srgbClr val="333333"/>
                </a:solidFill>
                <a:latin typeface="Calibri"/>
              </a:rPr>
              <a:t>Hot-deck imputation</a:t>
            </a:r>
          </a:p>
          <a:p>
            <a:pPr lvl="0" marL="457200" indent="-228600">
              <a:buFont typeface="Calibri"/>
              <a:spcAft>
                <a:spcPts val="1000"/>
              </a:spcAft>
              <a:buSzPct val="100000"/>
              <a:buChar char="•"/>
              <a:lnSpc>
                <a:spcPts val="2200"/>
              </a:lnSpc>
            </a:pPr>
            <a:r>
              <a:rPr sz="2000" b="0">
                <a:solidFill>
                  <a:srgbClr val="333333"/>
                </a:solidFill>
                <a:latin typeface="Calibri"/>
              </a:rPr>
              <a:t>Document imputation inside train splits to avoid leakage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Cleaning Techniques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5.39 — Mean impute missing age</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5.39 — hands-on module</a:t>
            </a:r>
          </a:p>
          <a:p>
            <a:pPr lvl="0" marL="457200" indent="-228600">
              <a:buFont typeface="Calibri"/>
              <a:spcAft>
                <a:spcPts val="1000"/>
              </a:spcAft>
              <a:buSzPct val="100000"/>
              <a:buChar char="•"/>
              <a:lnSpc>
                <a:spcPts val="2200"/>
              </a:lnSpc>
            </a:pPr>
            <a:r>
              <a:rPr sz="2000" b="0">
                <a:solidFill>
                  <a:srgbClr val="333333"/>
                </a:solidFill>
                <a:latin typeface="Calibri"/>
              </a:rPr>
              <a:t>The simple numeric fill</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`modules/chapter5/example39/`</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Cleaning Techniques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Removing duplicates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Near-duplicate customer names and repeated transaction keys should be collapsed with</a:t>
            </a:r>
          </a:p>
          <a:p>
            <a:pPr lvl="0" marL="457200" indent="-228600">
              <a:buFont typeface="Calibri"/>
              <a:spcAft>
                <a:spcPts val="1000"/>
              </a:spcAft>
              <a:buSzPct val="100000"/>
              <a:buChar char="•"/>
              <a:lnSpc>
                <a:spcPts val="2200"/>
              </a:lnSpc>
            </a:pPr>
            <a:r>
              <a:rPr sz="2000" b="0">
                <a:solidFill>
                  <a:srgbClr val="333333"/>
                </a:solidFill>
                <a:latin typeface="Calibri"/>
              </a:rPr>
              <a:t>Example 5.42 shows fuzzy duplicate risk</a:t>
            </a:r>
          </a:p>
          <a:p>
            <a:pPr lvl="0" marL="457200" indent="-228600">
              <a:buFont typeface="Calibri"/>
              <a:spcAft>
                <a:spcPts val="1000"/>
              </a:spcAft>
              <a:buSzPct val="100000"/>
              <a:buChar char="•"/>
              <a:lnSpc>
                <a:spcPts val="2200"/>
              </a:lnSpc>
            </a:pPr>
            <a:r>
              <a:rPr sz="2000" b="0">
                <a:solidFill>
                  <a:srgbClr val="333333"/>
                </a:solidFill>
                <a:latin typeface="Calibri"/>
              </a:rPr>
              <a:t>Use stable keys when available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Cleaning Techniques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Standardizing formats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5.43 normalizes currency symbols across markets before modeling</a:t>
            </a:r>
          </a:p>
          <a:p>
            <a:pPr lvl="0" marL="457200" indent="-228600">
              <a:buFont typeface="Calibri"/>
              <a:spcAft>
                <a:spcPts val="1000"/>
              </a:spcAft>
              <a:buSzPct val="100000"/>
              <a:buChar char="•"/>
              <a:lnSpc>
                <a:spcPts val="2200"/>
              </a:lnSpc>
            </a:pPr>
            <a:r>
              <a:rPr sz="2000" b="0">
                <a:solidFill>
                  <a:srgbClr val="333333"/>
                </a:solidFill>
                <a:latin typeface="Calibri"/>
              </a:rPr>
              <a:t>Date parsing, lowercasing product names</a:t>
            </a:r>
          </a:p>
          <a:p>
            <a:pPr lvl="0" marL="457200" indent="-228600">
              <a:buFont typeface="Calibri"/>
              <a:spcAft>
                <a:spcPts val="1000"/>
              </a:spcAft>
              <a:buSzPct val="100000"/>
              <a:buChar char="•"/>
              <a:lnSpc>
                <a:spcPts val="2200"/>
              </a:lnSpc>
            </a:pPr>
            <a:r>
              <a:rPr sz="2000" b="0">
                <a:solidFill>
                  <a:srgbClr val="333333"/>
                </a:solidFill>
                <a:latin typeface="Calibri"/>
              </a:rPr>
              <a:t>Record parsing rules in preprocessing metadata</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Cleaning Techniques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Outliers and feature selection</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5.44 flags extreme income with the interquartile range</a:t>
            </a:r>
          </a:p>
          <a:p>
            <a:pPr lvl="0" marL="457200" indent="-228600">
              <a:buFont typeface="Calibri"/>
              <a:spcAft>
                <a:spcPts val="1000"/>
              </a:spcAft>
              <a:buSzPct val="100000"/>
              <a:buChar char="•"/>
              <a:lnSpc>
                <a:spcPts val="2200"/>
              </a:lnSpc>
            </a:pPr>
            <a:r>
              <a:rPr sz="2000" b="0">
                <a:solidFill>
                  <a:srgbClr val="333333"/>
                </a:solidFill>
                <a:latin typeface="Calibri"/>
              </a:rPr>
              <a:t>Winsorization caps tails instead of deleting rows</a:t>
            </a:r>
          </a:p>
          <a:p>
            <a:pPr lvl="0" marL="457200" indent="-228600">
              <a:buFont typeface="Calibri"/>
              <a:spcAft>
                <a:spcPts val="1000"/>
              </a:spcAft>
              <a:buSzPct val="100000"/>
              <a:buChar char="•"/>
              <a:lnSpc>
                <a:spcPts val="2200"/>
              </a:lnSpc>
            </a:pPr>
            <a:r>
              <a:rPr sz="2000" b="0">
                <a:solidFill>
                  <a:srgbClr val="333333"/>
                </a:solidFill>
                <a:latin typeface="Calibri"/>
              </a:rPr>
              <a:t>Example 5.45 drops one of two highly correlated bathroom features to reduce redundancy</a:t>
            </a:r>
          </a:p>
          <a:p>
            <a:pPr lvl="0" marL="457200" indent="-228600">
              <a:buFont typeface="Calibri"/>
              <a:spcAft>
                <a:spcPts val="1000"/>
              </a:spcAft>
              <a:buSzPct val="100000"/>
              <a:buChar char="•"/>
              <a:lnSpc>
                <a:spcPts val="2200"/>
              </a:lnSpc>
            </a:pPr>
            <a:r>
              <a:rPr sz="2000" b="0">
                <a:solidFill>
                  <a:srgbClr val="333333"/>
                </a:solidFill>
                <a:latin typeface="Calibri"/>
              </a:rPr>
              <a:t>Pair outlier rules with domain review</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Cleaning Techniques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Match the repair to the defect and mechanism</a:t>
            </a:r>
          </a:p>
          <a:p>
            <a:pPr lvl="0" marL="457200" indent="-228600">
              <a:buFont typeface="Calibri"/>
              <a:spcAft>
                <a:spcPts val="1000"/>
              </a:spcAft>
              <a:buSzPct val="100000"/>
              <a:buChar char="•"/>
              <a:lnSpc>
                <a:spcPts val="2200"/>
              </a:lnSpc>
            </a:pPr>
            <a:r>
              <a:rPr sz="2000" b="0">
                <a:solidFill>
                  <a:srgbClr val="333333"/>
                </a:solidFill>
                <a:latin typeface="Calibri"/>
              </a:rPr>
              <a:t>Deletion is simple but costly; imputation carries bias risk</a:t>
            </a:r>
          </a:p>
          <a:p>
            <a:pPr lvl="0" marL="457200" indent="-228600">
              <a:buFont typeface="Calibri"/>
              <a:spcAft>
                <a:spcPts val="1000"/>
              </a:spcAft>
              <a:buSzPct val="100000"/>
              <a:buChar char="•"/>
              <a:lnSpc>
                <a:spcPts val="2200"/>
              </a:lnSpc>
            </a:pPr>
            <a:r>
              <a:rPr sz="2000" b="0">
                <a:solidFill>
                  <a:srgbClr val="333333"/>
                </a:solidFill>
                <a:latin typeface="Calibri"/>
              </a:rPr>
              <a:t>Standardization enables joins; IQR and correlation pruning stabilize training</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Cleaning Techniques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quiz for this part</a:t>
            </a:r>
          </a:p>
          <a:p>
            <a:pPr lvl="0" marL="457200" indent="-228600">
              <a:buFont typeface="Calibri"/>
              <a:spcAft>
                <a:spcPts val="1000"/>
              </a:spcAft>
              <a:buSzPct val="100000"/>
              <a:buChar char="•"/>
              <a:lnSpc>
                <a:spcPts val="2200"/>
              </a:lnSpc>
            </a:pPr>
            <a:r>
              <a:rPr sz="2000" b="0">
                <a:solidFill>
                  <a:srgbClr val="333333"/>
                </a:solidFill>
                <a:latin typeface="Calibri"/>
              </a:rPr>
              <a:t>Continue to preprocessing, scaling and encoding cleaned columns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Cleaning Techniques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