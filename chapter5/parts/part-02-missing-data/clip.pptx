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Missing values are among the most common defects—and the most dangerous when handled blindly. This part classifies missing-data mechanisms and traces causes from survey design to hardware failure.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define MCAR, MAR, and MNAR, match each to a short scenario, and list typical causes of missing fields in real pipelines.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MCAR, the probability a value is missing does not depend on observed or unobserved data. Example 5.8 sketches a system error that omits records uniformly—any row is equally likely to be dropped. Simple deletion or mean imputation may be less biased when MCAR truly holds, though that assumption is rare in practice.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MAR, missingness depends on observed variables but not on the missing value itself after conditioning on what you see. Example 5.9 shows income nonresponse related to age or employment status that is recorded—analysts can model missingness using observed columns. MAR is the sweet spot for many principled imputation methods.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MNAR, missingness depends on the unobserved value itself. Example 5.10 shows high earners declining to report income—the missing values are not random even after conditioning on observed fields. MNAR demands explicit modeling, sensitivity analysis, or collection redesign; naive imputation can seriously bias estimates.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5.8 is the uniform omission pattern. Open the example 8 module for this chapter to compare MCAR assumptions with the MAR and MNAR vignettes. Always document which mechanism you believe applies before choosing a fix.</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causes include survey nonresponse on sensitive questions, data-entry typos leaving blanks, integration gaps when merging sources, and disk or sensor failures truncating files. Example 5.11 shows skipped sensitive items; Example 5.13 shows truncated sensor logs. The cause hints at the mechanism.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Listwise deletion is simple but wasteful under MAR if informative rows are dropped. Mean imputation understates variance. MNAR fixes require domain judgment. Chapter 6 exploration helps detect patterns; this chapter supplies formal repair methods in the cleaning-techniques part.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Classify missingness before imputing. MCAR, MAR, and MNAR are not interchangeable labels—they dictate which repairs are defensible. Causes range from human behavior to infrastructure failure.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then continue to duplicates and inconsistent encodings—defects that survive even when every cell is filled.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5 — Missing data</a:t>
            </a:r>
          </a:p>
          <a:p>
            <a:pPr algn="ctr">
              <a:lnSpc>
                <a:spcPts val="2200"/>
              </a:lnSpc>
              <a:spcBef>
                <a:spcPts val="1400"/>
              </a:spcBef>
            </a:pPr>
            <a:r>
              <a:rPr sz="2600" b="0">
                <a:solidFill>
                  <a:srgbClr val="333333"/>
                </a:solidFill>
                <a:latin typeface="Calibri"/>
              </a:rPr>
              <a:t>Missing values are among the most common defects, and the most dangerous when handled blindly</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Missing Data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Define MCAR, MAR</a:t>
            </a:r>
          </a:p>
          <a:p>
            <a:pPr>
              <a:spcAft>
                <a:spcPts val="1000"/>
              </a:spcAft>
              <a:buChar char="•"/>
              <a:lnSpc>
                <a:spcPts val="2200"/>
              </a:lnSpc>
            </a:pPr>
            <a:r>
              <a:rPr sz="2000" b="0">
                <a:solidFill>
                  <a:srgbClr val="333333"/>
                </a:solidFill>
                <a:latin typeface="Calibri"/>
              </a:rPr>
              <a:t>MNAR, match each to a short scenario</a:t>
            </a:r>
          </a:p>
          <a:p>
            <a:pPr>
              <a:spcAft>
                <a:spcPts val="1000"/>
              </a:spcAft>
              <a:buChar char="•"/>
              <a:lnSpc>
                <a:spcPts val="2200"/>
              </a:lnSpc>
            </a:pPr>
            <a:r>
              <a:rPr sz="2000" b="0">
                <a:solidFill>
                  <a:srgbClr val="333333"/>
                </a:solidFill>
                <a:latin typeface="Calibri"/>
              </a:rPr>
              <a:t>List typical causes of missing fields in real pipelines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Missing Data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MCAR — missing completely at random</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The probability a value is missing does not depend on observed or unobserved data</a:t>
            </a:r>
          </a:p>
          <a:p>
            <a:pPr>
              <a:spcAft>
                <a:spcPts val="1000"/>
              </a:spcAft>
              <a:buChar char="•"/>
              <a:lnSpc>
                <a:spcPts val="2200"/>
              </a:lnSpc>
            </a:pPr>
            <a:r>
              <a:rPr sz="2000" b="0">
                <a:solidFill>
                  <a:srgbClr val="333333"/>
                </a:solidFill>
                <a:latin typeface="Calibri"/>
              </a:rPr>
              <a:t>Example 5.8 sketches a system error that omits records uniformly</a:t>
            </a:r>
          </a:p>
          <a:p>
            <a:pPr>
              <a:spcAft>
                <a:spcPts val="1000"/>
              </a:spcAft>
              <a:buChar char="•"/>
              <a:lnSpc>
                <a:spcPts val="2200"/>
              </a:lnSpc>
            </a:pPr>
            <a:r>
              <a:rPr sz="2000" b="0">
                <a:solidFill>
                  <a:srgbClr val="333333"/>
                </a:solidFill>
                <a:latin typeface="Calibri"/>
              </a:rPr>
              <a:t>Simple deletion or mean imputation may be less biased when MCAR truly holds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Missing Data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MAR — missing at random</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Under MAR, missingness depends on observed variables but not on the missing value itself</a:t>
            </a:r>
          </a:p>
          <a:p>
            <a:pPr>
              <a:spcAft>
                <a:spcPts val="1000"/>
              </a:spcAft>
              <a:buChar char="•"/>
              <a:lnSpc>
                <a:spcPts val="2200"/>
              </a:lnSpc>
            </a:pPr>
            <a:r>
              <a:rPr sz="2000" b="0">
                <a:solidFill>
                  <a:srgbClr val="333333"/>
                </a:solidFill>
                <a:latin typeface="Calibri"/>
              </a:rPr>
              <a:t>Example 5.9 shows income nonresponse related to age or employment status that is recorded</a:t>
            </a:r>
          </a:p>
          <a:p>
            <a:pPr>
              <a:spcAft>
                <a:spcPts val="1000"/>
              </a:spcAft>
              <a:buChar char="•"/>
              <a:lnSpc>
                <a:spcPts val="2200"/>
              </a:lnSpc>
            </a:pPr>
            <a:r>
              <a:rPr sz="2000" b="0">
                <a:solidFill>
                  <a:srgbClr val="333333"/>
                </a:solidFill>
                <a:latin typeface="Calibri"/>
              </a:rPr>
              <a:t>MAR is the sweet spot for many principled imputation methods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Missing Data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MNAR — missing not at random</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Under MNAR, missingness depends on the unobserved value itself</a:t>
            </a:r>
          </a:p>
          <a:p>
            <a:pPr>
              <a:spcAft>
                <a:spcPts val="1000"/>
              </a:spcAft>
              <a:buChar char="•"/>
              <a:lnSpc>
                <a:spcPts val="2200"/>
              </a:lnSpc>
            </a:pPr>
            <a:r>
              <a:rPr sz="2000" b="0">
                <a:solidFill>
                  <a:srgbClr val="333333"/>
                </a:solidFill>
                <a:latin typeface="Calibri"/>
              </a:rPr>
              <a:t>Example 5.10 shows high earners declining to report income</a:t>
            </a:r>
          </a:p>
          <a:p>
            <a:pPr>
              <a:spcAft>
                <a:spcPts val="1000"/>
              </a:spcAft>
              <a:buChar char="•"/>
              <a:lnSpc>
                <a:spcPts val="2200"/>
              </a:lnSpc>
            </a:pPr>
            <a:r>
              <a:rPr sz="2000" b="0">
                <a:solidFill>
                  <a:srgbClr val="333333"/>
                </a:solidFill>
                <a:latin typeface="Calibri"/>
              </a:rPr>
              <a:t>MNAR demands explicit modeling, sensitivity analysis, or collection redesign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Missing Data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5.8 — MCAR system error</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5.8 — hands-on module</a:t>
            </a:r>
          </a:p>
          <a:p>
            <a:pPr>
              <a:spcAft>
                <a:spcPts val="1000"/>
              </a:spcAft>
              <a:buChar char="•"/>
              <a:lnSpc>
                <a:spcPts val="2200"/>
              </a:lnSpc>
            </a:pPr>
            <a:r>
              <a:rPr sz="2000" b="0">
                <a:solidFill>
                  <a:srgbClr val="333333"/>
                </a:solidFill>
                <a:latin typeface="Calibri"/>
              </a:rPr>
              <a:t>The uniform omission pattern</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`modules/chapter5/example8/`</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Missing Data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Causes of missing data</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Disk or sensor failures truncating files</a:t>
            </a:r>
          </a:p>
          <a:p>
            <a:pPr>
              <a:spcAft>
                <a:spcPts val="1000"/>
              </a:spcAft>
              <a:buChar char="•"/>
              <a:lnSpc>
                <a:spcPts val="2200"/>
              </a:lnSpc>
            </a:pPr>
            <a:r>
              <a:rPr sz="2000" b="0">
                <a:solidFill>
                  <a:srgbClr val="333333"/>
                </a:solidFill>
                <a:latin typeface="Calibri"/>
              </a:rPr>
              <a:t>Example 5.11 shows skipped sensitive items; Example 5.13 shows truncated sensor logs</a:t>
            </a:r>
          </a:p>
          <a:p>
            <a:pPr>
              <a:spcAft>
                <a:spcPts val="1000"/>
              </a:spcAft>
              <a:buChar char="•"/>
              <a:lnSpc>
                <a:spcPts val="2200"/>
              </a:lnSpc>
            </a:pPr>
            <a:r>
              <a:rPr sz="2000" b="0">
                <a:solidFill>
                  <a:srgbClr val="333333"/>
                </a:solidFill>
                <a:latin typeface="Calibri"/>
              </a:rPr>
              <a:t>The cause hints at the mechanism</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Missing Data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Why mechanism matters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Listwise deletion is simple but wasteful under MAR if informative rows are dropped</a:t>
            </a:r>
          </a:p>
          <a:p>
            <a:pPr>
              <a:spcAft>
                <a:spcPts val="1000"/>
              </a:spcAft>
              <a:buChar char="•"/>
              <a:lnSpc>
                <a:spcPts val="2200"/>
              </a:lnSpc>
            </a:pPr>
            <a:r>
              <a:rPr sz="2000" b="0">
                <a:solidFill>
                  <a:srgbClr val="333333"/>
                </a:solidFill>
                <a:latin typeface="Calibri"/>
              </a:rPr>
              <a:t>Mean imputation understates variance</a:t>
            </a:r>
          </a:p>
          <a:p>
            <a:pPr>
              <a:spcAft>
                <a:spcPts val="1000"/>
              </a:spcAft>
              <a:buChar char="•"/>
              <a:lnSpc>
                <a:spcPts val="2200"/>
              </a:lnSpc>
            </a:pPr>
            <a:r>
              <a:rPr sz="2000" b="0">
                <a:solidFill>
                  <a:srgbClr val="333333"/>
                </a:solidFill>
                <a:latin typeface="Calibri"/>
              </a:rPr>
              <a:t>MNAR fixes require domain judgment</a:t>
            </a:r>
          </a:p>
          <a:p>
            <a:pPr>
              <a:spcAft>
                <a:spcPts val="1000"/>
              </a:spcAft>
              <a:buChar char="•"/>
              <a:lnSpc>
                <a:spcPts val="2200"/>
              </a:lnSpc>
            </a:pPr>
            <a:r>
              <a:rPr sz="2000" b="0">
                <a:solidFill>
                  <a:srgbClr val="333333"/>
                </a:solidFill>
                <a:latin typeface="Calibri"/>
              </a:rPr>
              <a:t>Chapter 6 exploration helps detect patterns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Missing Data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Classify missingness before imputing</a:t>
            </a:r>
          </a:p>
          <a:p>
            <a:pPr>
              <a:spcAft>
                <a:spcPts val="1000"/>
              </a:spcAft>
              <a:buChar char="•"/>
              <a:lnSpc>
                <a:spcPts val="2200"/>
              </a:lnSpc>
            </a:pPr>
            <a:r>
              <a:rPr sz="2000" b="0">
                <a:solidFill>
                  <a:srgbClr val="333333"/>
                </a:solidFill>
                <a:latin typeface="Calibri"/>
              </a:rPr>
              <a:t>MNAR are not interchangeable labels, they dictate which repairs are defensible</a:t>
            </a:r>
          </a:p>
          <a:p>
            <a:pPr>
              <a:spcAft>
                <a:spcPts val="1000"/>
              </a:spcAft>
              <a:buChar char="•"/>
              <a:lnSpc>
                <a:spcPts val="2200"/>
              </a:lnSpc>
            </a:pPr>
            <a:r>
              <a:rPr sz="2000" b="0">
                <a:solidFill>
                  <a:srgbClr val="333333"/>
                </a:solidFill>
                <a:latin typeface="Calibri"/>
              </a:rPr>
              <a:t>Causes range from human behavior to infrastructure failure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Missing Data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Continue to duplicates and inconsistent encodings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Missing Data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