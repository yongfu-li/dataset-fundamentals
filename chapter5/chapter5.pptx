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collection and annotation, raw tables still need preparation before reliable analysis or supervised training. This opening part defines data cleaning versus preprocessing and explains why both precede model fitting and the exploratory summaries in Chapter 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distinguish cleaning from preprocessing, name four practical motives for both phases, and recognize schema discipline when joining multiple corpora.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cleaning, missing fields, duplicates, inconsistent encodings, and scale mismatches distort statistics and learners alike. Cross-corpus work makes those defects visible at pipeline scale: models trained on one public release can fail silently on another when column names, units, or label taxonomies differ.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5.1 shows a fraud table with blank labels. Supervised training either drops those rows or invents labels—both paths can bias decision boundaries. Open the example 1 module for this chapter to inspect how missing targets break training pipelines.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5.2 removes high-cardinality identifiers such as raw transaction IDs that never enter the model. Memory and training time improve without changing the predictive schema. Try the example 2 module to see identifier columns that should not reach the feature matrix.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book treats cleaning and preprocessing as consecutive phases. Cleaning finds and corrects errors so values are reliable—missing values, duplicates, inconsistent formats, erroneous outliers, and non-model fields. Preprocessing transforms cleaned values into representations algorithms expect: scaling, encoding, binning, and feature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5.3 shows the same order ID appearing twice after a system retry. Counting both rows inflates revenue and customer frequency until duplicates are removed or merged. Cleaning precedes the scaling and encoding examples introduced later in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motives recur: accuracy on held-out data, comparable feature scales, computational efficiency, and trustworthy decisions when multiple sources are joined. Detailed failure modes appear in the next parts; remedies follow in Sections 5.3 and 5.4.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Cleaning makes values trustworthy; preprocessing makes them algorithm-ready. Both follow annotation and precede exploration-heavy modeling work. Schema alignment across sources is itself a cleaning task.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missing data—MCAR, MAR, MNAR mechanisms and their causes.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define MCAR, MAR, and MNAR, match each to a short scenario, and list typical causes of missing fields in real pipelines.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MCAR, the probability a value is missing does not depend on observed or unobserved data. Example 5.8 sketches a system error that omits records uniformly—any row is equally likely to be dropped. Simple deletion or mean imputation may be less biased when MCAR truly holds, though that assumption is rare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MAR, missingness depends on observed variables but not on the missing value itself after conditioning on what you see. Example 5.9 shows income nonresponse related to age or employment status that is recorded—analysts can model missingness using observed columns. MAR is the sweet spot for many principled imputation methods.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MNAR, missingness depends on the unobserved value itself. Example 5.10 shows high earners declining to report income—the missing values are not random even after conditioning on observed fields. MNAR demands explicit modeling, sensitivity analysis, or collection redesign; naive imputation can seriously bias estimates.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5.8 is the uniform omission pattern. Open the example 8 module for this chapter to compare MCAR assumptions with the MAR and MNAR vignettes. Always document which mechanism you believe applies before choosing a fix.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causes include survey nonresponse on sensitive questions, data-entry typos leaving blanks, integration gaps when merging sources, and disk or sensor failures truncating files. Example 5.11 shows skipped sensitive items; Example 5.13 shows truncated sensor logs. The cause hints at the mechanism.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Listwise deletion is simple but wasteful under MAR if informative rows are dropped. Mean imputation understates variance. MNAR fixes require domain judgment. Chapter 6 exploration helps detect patterns; this chapter supplies formal repair methods in the cleaning-techniques part.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Classify missingness before imputing. MCAR, MAR, and MNAR are not interchangeable labels—they dictate which repairs are defensible. Causes range from human behavior to infrastructure failure.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duplicates and inconsistent encodings—defects that survive even when every cell is filled.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explain duplicate impact on aggregates and training, recognize inconsistent date and ID formats, and describe how free-text categories hide structure.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Duplicates arise from system retries, merged exports, copy-paste ETL, and near-duplicate customer names. Example 5.14 shows duplicate purchase rows; Example 5.15 double-counts revenue; Example 5.16 lets models overweight repeated rows; Example 5.17 slows training on bloated tables. Deduplication is not cosmetic—it changes business numbers.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5.14 is the retail retry pattern. Open the example 14 module for this chapter to practice identifying duplicate keys before aggregation. Decide whether to keep first, last, or merged records based on business rules.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Inconsistent data is common when sources span departments or time periods. Example 5.18 mixes date formats, gender encodings, and measurement units in one table. Example 5.19 shows customer ID formats that block joins. Example 5.20 splits Male versus M into separate categories. Example 5.21 shows weeks lost normalizing free-text cities.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5.18 is a checklist of silent parse failures. Try the example 18 module to see how inconsistent encodings produce nulls or wrong aggregates after conversion. Standardization belongs in the cleaning phase before encoding.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Inconsistent keys prevent reliable joins across tables. Mixed currencies or units make sums meaningless until converted. Split labels inflate cardinality and starve rare categories of support. Exploration in Chapter 6 surfaces many of these patterns; repair methods appear in the cleaning-techniques part.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Duplicates change revenue, sample weights, and runtime. Inconsistency breaks time logic and joins. Standardize formats early with explicit parsing rules and canonical category maps.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outliers, irrelevant features, and class imbalance.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distinguish erroneous outliers from legitimate extremes, explain why irrelevant columns hurt interpretability and training, and describe why rare classes break accuracy metrics.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Outliers deviate sharply from the bulk of a distribution. Causes include typos, sensor faults, and genuine rare events. Example 5.22 shows an extra zero in blood pressure; Example 5.24 shows a faulty IoT spike; Example 5.23 shows a valid extreme income observation. Treatment depends on which case you face.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Responses include dropping clear typos, winsorizing or capping tails, log transforms to compress skew, and replacing spikes with robust statistics such as the median. Examples 5.25 through 5.28 illustrate drop, log, cap, and median-replace patterns. Blind removal of all extremes can delete signal.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5.22 is a classic entry error. Open the example 22 module for this chapter to compare typo outliers with legitimate clinical extremes. Document the rule applied so evaluation remains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Irrelevant columns add noise without predictive value. Example 5.29 lists color or pet features unrelated to a loan default target. Example 5.30 notes harder interpretation; Example 5.31 shows models fitting noise; Example 5.32 shows slower tree training. Correlation and domain review help prune fields.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5.29 motivates feature selection before modeling. Try the example 29 module to see columns that should be dropped or deferred to another task. Identifier columns often belong here unless explicitly engineered.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Imbalance means one class dominates—Example 5.33 shows fraud at one percent of events. Majority-class classifiers can report high accuracy while missing almost every fraud case. Responses include oversampling, class weights, and synthesis methods such as SMOTE introduced later in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Outlier handling requires domain judgment. Irrelevant features waste compute and invite overfitting. Imbalance makes accuracy misleading—plan metrics and resampling before training.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cleaning techniques—imputation, deduplication, standardization, and outlier flags.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compare listwise deletion with available-case analysis, choose mean, median, and hot-deck imputation, remove duplicates in pandas-style workflows, and flag outliers with IQR rules.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Listwise deletion drops any row with a missing value in selected columns—Example 5.37 shows aggressive loss of sample size. Available-case analysis keeps rows for each analysis using the fields present—Example 5.38 preserves more data but complicates comparison across models. Choose based on mechanism and how much data you can afford to lose.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 imputation—Example 5.39 for age—preserves the sample mean but shrinks variance. Median imputation—Example 5.41 for skewed square footage—is robust to tails. Hot-deck imputation—Example 5.40—copies values from similar donor rows and preserves multivariate structure better than single-column means. Document imputation inside train splits to avoid leakage.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5.39 is the simple numeric fill. Open the example 39 module for this chapter to compare mean, median, and model-based imputation on the same column. MNAR settings may invalidate all three without extra modeling.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Near-duplicate customer names and repeated transaction keys should be collapsed with explicit keep rules. Example 5.42 shows fuzzy duplicate risk. Use stable keys when available; otherwise combine normalized text fields and timestamps before drop_duplicates.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5.43 normalizes currency symbols across markets before modeling. Date parsing, lowercasing product names, and canonical unit conversion belong here—not in the model trainer. Record parsing rules in preprocessing metadata.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5.44 flags extreme income with the interquartile range. Winsorization caps tails instead of deleting rows. Example 5.45 drops one of two highly correlated bathroom features to reduce redundancy. Pair outlier rules with domain review.</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 the repair to the defect and mechanism. Deletion is simple but costly; imputation carries bias risk. Standardization enables joins; IQR and correlation pruning stabilize training.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preprocessing—scaling and encoding cleaned columns.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choose between min-max scaling and standardization, encode nominal versus ordinal categories appropriately, and state leakage risks for target encoding.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Min-max normalization maps values to a bounded range such as zero to one—useful for neural nets and distance models when bounds matter. Standardization subtracts the mean and divides by standard deviation—Example 5.46 scales age and income for k-nearest neighbors so income does not dominate distance. Tree models often need less scaling but still benefit from consistent units.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5.46 revisits the scale mismatch motif from Section 5.1. Open the example 46 module for this chapter to compare raw and scaled neighbor votes. Fit scalers on training data only, then transform validation and test sets.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One-hot encoding creates a binary column per category level—Example 5.47 for color and Example 5.50 for gender in churn models. Use for nominal categories without intrinsic order. High-cardinality fields may need hashing, embedding, or target encoding instead.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 encoding assigns integers to categories—Example 5.48 for ordinal size levels where order matters. Do not use arbitrary integer codes for nominal data with unordered labels; trees may treat 2 as twice 1 incorrectly in linear models.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encoding replaces a category with the mean outcome for that category—Example 5.49 for city mean price. Powerful but leak-prone: compute statistics inside cross-validation folds or use regularized encoders. Never encode using the full dataset before splitting.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Scale when magnitude drives the algorithm. Match encoding to cardinality and ordinality. Guard target statistics against leakage.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binning, feature engineering, and transforms.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explain equal-width versus frequency binning, construct ratio and interaction features, and choose log or polynomial expansions when skew or nonlinearity demands them.</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Binning groups continuous values into intervals. Example 5.51 uses equal-width age bins; Example 5.52 uses frequency bins for test scores so each bin has similar counts. Binning reduces noise and handles nonlinear effects but loses granularity—document cut points.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5.53 adds a squared term; Example 5.54 adds an age-by-income interaction; Example 5.55 engineers price per square foot from price and area. Domain ratios often outperform raw stacks of columns. Avoid generating features that duplicate identifiers or leak targets.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5.55 is the classic ratio feature. Open the example 55 module for this chapter to see how derived columns capture economics more directly than raw price alone. Validate that denominators are nonzero and units align.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High-dimensional sparse tables benefit from principal components, feature selection, or dropping correlated groups—as in Example 5.45. Selection reduces overfitting and training time. Keep interpretability requirements in mind for regulated domains.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transforms compress right tails—Example 5.26 on income. Polynomial expansions—Example 5.56—let linear models capture curvature. Apply transforms before splitting or fit parameters on training folds only. Inverse transforms may be needed for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encodes domain knowledge. Binning and transforms trade resolution for stability. Document every derived column for reproducibility and explainability.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Python tools that implement these steps at scale.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perform dropna, fillna, and drop_duplicates in pandas, apply StandardScaler and OneHotEncoder from scikit-learn, and outline an end-to-end cleaning walkthrough.</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pandas is the default toolkit for tabular cleaning: read_csv, dtype inspection, dropna, fillna, drop_duplicates, astype, and string accessors for normalization. Example 5.57 shows dropna and drop_duplicates in one script. Example 5.59 walks an end-to-end cleaning template from raw extract to model-ready frame.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5.57 is the minimal cleaning API surface. Open the example 57 module for this chapter to run the operations on a sample table. Chain steps explicitly rather than mutating without logs.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scikit-learn provides fit-transform estimators: StandardScaler, MinMaxScaler, OneHotEncoder, and SimpleImputer compose into pipelines. Example 5.60 standardizes age and salary; Example 5.61 one-hot encodes gender. Fit on training data only to prevent leakage.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5.59 ties issues to fixes in one narrative. Try the example 59 module to follow parse, dedupe, impute, encode, and scale in order. NumPy underpins vectorized numeric operations across both libraries.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pandas for exploratory fixes and bespoke string parsing. Use sklearn transformers when the same preprocessing must repeat across folds and deployment. Keep business rules and unit conversions visible in notebooks or pipeline comments.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pandas repairs tables; sklearn standardizes repeatable transforms. Fit transformers on training splits. Example modules provide runnable templates for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pipelines, automation, visualization, and a brief R contrast.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explain why pipelines prevent leakage, name Featuretools-style automation benefits, use box plots and heatmaps as cleaning diagnostics, and contrast dplyr/tidyr with pandas.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 workflows, dplyr filters and selects columns while tidyr reshapes long and wide tables. Example 5.58 shows filter and select patterns analogous to pandas. Teams standardized on Python may still encounter R extracts—know that the verbs differ but the cleaning goals match.</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Pipelines chain imputers, scalers, encoders, and estimators so each cross-validation fold fits preprocessing only on training folds. This prevents statistics computed on validation data from leaking into features. Serialize pipelines with the model for consistent deployment preprocessing.</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Featuretools performs deep feature synthesis on relational tables—Example 5.74 on transactions. AutoML platforms wrap search over imputers, encoders, and model families. Automation accelerates baselines but still requires domain review to drop leaky or nonsense columns.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5.74 shows automated aggregates across related tables. Open the example 74 module for this chapter to inspect generated features before modeling. Automated does not mean correct—validate cardinality and leakage.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plots expose outlier tails; heatmaps of missingness reveal column-wise patterns; histograms show skew before log transforms. Visual checks complement rule-based flags from earlier parts and align with exploratory practice in Chapter 6.</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Pipelines encode reproducible preprocessing. Automation proposes features; humans curate them. Visual diagnostics catch defects rules miss.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challenges, best practices, and governance habits.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explain why accuracy misleads on imbalanced data, describe currency and unit mixing risks, and list documentation, validation, and version-control habits.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Missing data mechanisms complicate imputation choices. Inconsistent cross-source formats consume analyst time. Outliers mix errors with rare truth. Imbalance steers models toward majority classes. Duplicates inflate counts. Transformations can leak target information if fit globally.</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5.62 shows fraud at a tiny fraction of events—a majority-class classifier looks accurate while detecting almost no fraud. Open the example 62 module for this chapter to practice precision-recall thinking before choosing metrics.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5.63 reminds teams to harmonize currencies and units before comparing amounts across markets. Mixed units silently rank features by exchange noise instead of behavior. Standardize early and record conversion tables.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Handle missing data with explicit mechanism assumptions. Profile data before and after each step. Document parsing rules, imputation choices, and outlier policies. Separate train, validation, and test before fitting transformers. Use version control for datasets and preprocessing code. Review features for leakage and fairness implications connected to Chapter 7.</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 scalers, encoders, and imputers inside training folds. Store random seeds and library versions. Write preprocessing metadata alongside exported tables so another team can replay the pipeline months later.</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Challenges are expected—plan time for them. Metrics must match the defect, especially under imbalance. Documentation and leakage control are part of cleaning, not optional extras.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retail and healthcare case studies plus hands-on module activities.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outline cleaning steps for an e-commerce segmentation table and a clinical outcomes table, and locate module labs for issue spotting and pandas repair templates.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e-commerce firm segments customers by purchase behavior. Challenges include missing age and frequency fields, inconsistent product capitalization, and mixed currencies. Solutions: median or mode imputation, currency harmonization, text normalization, and scaling of amount and frequency features. Cleaned data supports clustering and targeted campaigns.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Clinical records combine age, history, labs, and outcomes. Missing labs, outlier vitals, and inconsistent smoker labels are common. Solutions: principled imputation, categorical standardization, IQR outlier review, and numeric scaling before supervised models. Preprocessing improves allocative and diagnostic workflows when documented.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5.64 introduces a practice table with missing prices and duplicate transactions for issue spotting. Open the example 64 module for this chapter to audit the schema before cleaning. This mirrors Section 5.8 spot-the-issue activities on the static site.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5.65 provides a guided repair script. Try the example 65 module to apply drop, impute, encode, and scale steps end to end. Additional modules cover scaling comparisons and encoding tradeoffs referenced in the chapter exercises.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cases share a pattern: profile defects, apply domain-aware fixes, validate on held-out data, and document transforms. Retail emphasizes revenue integrity; healthcare emphasizes measurement error and label consistency. Fairness review may follow in Chapter 7.</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context chooses imputation and outlier rules. Case studies connect Sections 5.2–5.5 into narratives. Module activities supply hands-on repetition without requiring live execution on the course site.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advanced topics—Bayesian imputation, streaming data, and explainability-aware cleaning.</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contrast Bayesian and deep imputation, describe sliding-window streaming preprocessing, and explain how documentation supports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Bayesian imputation models missing values with uncertainty—Example 5.70 combines vitals and clinical priors for blood pressure gaps. Autoencoder imputation—Example 5.71—learns nonlinear reconstructions for retail baskets. Both beat naive means when patterns are complex but need more data and compute.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5.70 is the uncertainty-aware clinical case. Open the example 70 module for this chapter to see why intervals matter for regulated decisions. Deep methods require guardrails against overfitting sparse tables.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Streaming finance, IoT, and vitals demand low-latency transforms. Challenges include latency, arriving corruption, and scale. Sliding windows—Example 5.72 on prices—and online scalers update statistics on recent data only. Batch assumptions fail when data never stops.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5.72 maintains a rolling feature window for aggregates. Try the example 72 module to contrast batch and streaming normalization. Real-time vital sign preprocessing appears in Example 5.73 with similar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pipelines orchestrate cleaning stages across storage systems. For explainable AI, document imputation and encoding so auditors can trace inputs—Examples 5.75 and 5.76 prefer interpretable credit features and fair clinical encodings over opaque high-dimensional expansions.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5.75 ties preprocessing logs to model cards. Open the example 75 module for this chapter to review metadata fields regulators expect. Cleaning choices are part of the model story, not a hidden notebook.</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6 continues with exploration that detects many defects this chapter repairs. Chapter 7 connects preprocessing to fairness. Strong cleaning documentation makes both downstream chapters more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Advanced methods extend—not replace—core taxonomy and tools. Streaming and explainability impose new constraints on familiar transforms. Document every stage for production and audit.</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You have completed the Chapter 5 learning path—return to the chapter landing page for the full deck or browse module examples.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5 — Introduction to data cleaning</a:t>
            </a:r>
          </a:p>
          <a:p>
            <a:pPr algn="ctr">
              <a:lnSpc>
                <a:spcPts val="2200"/>
              </a:lnSpc>
              <a:spcBef>
                <a:spcPts val="1400"/>
              </a:spcBef>
            </a:pPr>
            <a:r>
              <a:rPr sz="2600" b="0">
                <a:solidFill>
                  <a:srgbClr val="333333"/>
                </a:solidFill>
                <a:latin typeface="Calibri"/>
              </a:rPr>
              <a:t>After collection and annotation, raw tables still need preparation before reliable analysis or supervised training</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Distinguish cleaning from preprocessing, name four practical motives for both phases</a:t>
            </a:r>
          </a:p>
          <a:p>
            <a:pPr>
              <a:spcAft>
                <a:spcPts val="1000"/>
              </a:spcAft>
              <a:buChar char="•"/>
              <a:lnSpc>
                <a:spcPts val="2200"/>
              </a:lnSpc>
            </a:pPr>
            <a:r>
              <a:rPr sz="2000" b="0">
                <a:solidFill>
                  <a:srgbClr val="333333"/>
                </a:solidFill>
                <a:latin typeface="Calibri"/>
              </a:rPr>
              <a:t>Recognize schema discipline when joining multiple corpora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cleaning matters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Without cleaning, missing fields, duplicates, inconsistent encodings</a:t>
            </a:r>
          </a:p>
          <a:p>
            <a:pPr>
              <a:spcAft>
                <a:spcPts val="1000"/>
              </a:spcAft>
              <a:buChar char="•"/>
              <a:lnSpc>
                <a:spcPts val="2200"/>
              </a:lnSpc>
            </a:pPr>
            <a:r>
              <a:rPr sz="2000" b="0">
                <a:solidFill>
                  <a:srgbClr val="333333"/>
                </a:solidFill>
                <a:latin typeface="Calibri"/>
              </a:rPr>
              <a:t>Cross-corpus work makes those defects visible at pipeline scale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5.1 — Missing target values in classification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5.1 — hands-on module</a:t>
            </a:r>
          </a:p>
          <a:p>
            <a:pPr>
              <a:spcAft>
                <a:spcPts val="1000"/>
              </a:spcAft>
              <a:buChar char="•"/>
              <a:lnSpc>
                <a:spcPts val="2200"/>
              </a:lnSpc>
            </a:pPr>
            <a:r>
              <a:rPr sz="2000" b="0">
                <a:solidFill>
                  <a:srgbClr val="333333"/>
                </a:solidFill>
                <a:latin typeface="Calibri"/>
              </a:rPr>
              <a:t>Example 5.1 shows a fraud table with blank labels</a:t>
            </a:r>
          </a:p>
          <a:p>
            <a:pPr>
              <a:spcAft>
                <a:spcPts val="1000"/>
              </a:spcAft>
              <a:buChar char="•"/>
              <a:lnSpc>
                <a:spcPts val="2200"/>
              </a:lnSpc>
            </a:pPr>
            <a:r>
              <a:rPr sz="2000" b="0">
                <a:solidFill>
                  <a:srgbClr val="333333"/>
                </a:solidFill>
                <a:latin typeface="Calibri"/>
              </a:rPr>
              <a:t>Supervised training either drops those rows or invents labels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5.2 — Dropping unused identifier columns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5.2 — hands-on module</a:t>
            </a:r>
          </a:p>
          <a:p>
            <a:pPr>
              <a:spcAft>
                <a:spcPts val="1000"/>
              </a:spcAft>
              <a:buChar char="•"/>
              <a:lnSpc>
                <a:spcPts val="2200"/>
              </a:lnSpc>
            </a:pPr>
            <a:r>
              <a:rPr sz="2000" b="0">
                <a:solidFill>
                  <a:srgbClr val="333333"/>
                </a:solidFill>
                <a:latin typeface="Calibri"/>
              </a:rPr>
              <a:t>Example 5.2 removes high-cardinality identifiers such as raw transaction IDs that never</a:t>
            </a:r>
          </a:p>
          <a:p>
            <a:pPr>
              <a:spcAft>
                <a:spcPts val="1000"/>
              </a:spcAft>
              <a:buChar char="•"/>
              <a:lnSpc>
                <a:spcPts val="2200"/>
              </a:lnSpc>
            </a:pPr>
            <a:r>
              <a:rPr sz="2000" b="0">
                <a:solidFill>
                  <a:srgbClr val="333333"/>
                </a:solidFill>
                <a:latin typeface="Calibri"/>
              </a:rPr>
              <a:t>Memory and training time improve without changing the predictive schema</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Cleaning versus preprocessing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This book treats cleaning and preprocessing as consecutive phases</a:t>
            </a:r>
          </a:p>
          <a:p>
            <a:pPr>
              <a:spcAft>
                <a:spcPts val="1000"/>
              </a:spcAft>
              <a:buChar char="•"/>
              <a:lnSpc>
                <a:spcPts val="2200"/>
              </a:lnSpc>
            </a:pPr>
            <a:r>
              <a:rPr sz="2000" b="0">
                <a:solidFill>
                  <a:srgbClr val="333333"/>
                </a:solidFill>
                <a:latin typeface="Calibri"/>
              </a:rPr>
              <a:t>Non-model fields</a:t>
            </a:r>
          </a:p>
          <a:p>
            <a:pPr>
              <a:spcAft>
                <a:spcPts val="1000"/>
              </a:spcAft>
              <a:buChar char="•"/>
              <a:lnSpc>
                <a:spcPts val="2200"/>
              </a:lnSpc>
            </a:pPr>
            <a:r>
              <a:rPr sz="2000" b="0">
                <a:solidFill>
                  <a:srgbClr val="333333"/>
                </a:solidFill>
                <a:latin typeface="Calibri"/>
              </a:rPr>
              <a:t>Preprocessing transforms cleaned values into representations algorithms expect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5.3 — Duplicate retail transactions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5.3 — hands-on module</a:t>
            </a:r>
          </a:p>
          <a:p>
            <a:pPr>
              <a:spcAft>
                <a:spcPts val="1000"/>
              </a:spcAft>
              <a:buChar char="•"/>
              <a:lnSpc>
                <a:spcPts val="2200"/>
              </a:lnSpc>
            </a:pPr>
            <a:r>
              <a:rPr sz="2000" b="0">
                <a:solidFill>
                  <a:srgbClr val="333333"/>
                </a:solidFill>
                <a:latin typeface="Calibri"/>
              </a:rPr>
              <a:t>Example 5.3 shows the same order ID appearing twice after a system retry</a:t>
            </a:r>
          </a:p>
          <a:p>
            <a:pPr>
              <a:spcAft>
                <a:spcPts val="1000"/>
              </a:spcAft>
              <a:buChar char="•"/>
              <a:lnSpc>
                <a:spcPts val="2200"/>
              </a:lnSpc>
            </a:pPr>
            <a:r>
              <a:rPr sz="2000" b="0">
                <a:solidFill>
                  <a:srgbClr val="333333"/>
                </a:solidFill>
                <a:latin typeface="Calibri"/>
              </a:rPr>
              <a:t>Counting both rows inflates revenue and customer frequency until duplicates are removed or</a:t>
            </a:r>
          </a:p>
          <a:p>
            <a:pPr>
              <a:spcAft>
                <a:spcPts val="1000"/>
              </a:spcAft>
              <a:buChar char="•"/>
              <a:lnSpc>
                <a:spcPts val="2200"/>
              </a:lnSpc>
            </a:pPr>
            <a:r>
              <a:rPr sz="2000" b="0">
                <a:solidFill>
                  <a:srgbClr val="333333"/>
                </a:solidFill>
                <a:latin typeface="Calibri"/>
              </a:rPr>
              <a:t>Cleaning precedes the scaling and encoding examples introduced later in the chapter</a:t>
            </a:r>
          </a:p>
          <a:p>
            <a:pPr>
              <a:spcAft>
                <a:spcPts val="1000"/>
              </a:spcAft>
              <a:buChar char="•"/>
              <a:lnSpc>
                <a:spcPts val="2200"/>
              </a:lnSpc>
            </a:pPr>
            <a:r>
              <a:rPr sz="2000" b="0">
                <a:solidFill>
                  <a:srgbClr val="333333"/>
                </a:solidFill>
                <a:latin typeface="Calibri"/>
              </a:rPr>
              <a:t>View files: `modules/chapter5/example3/`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Four recurring motives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Four motives recur</a:t>
            </a:r>
          </a:p>
          <a:p>
            <a:pPr>
              <a:spcAft>
                <a:spcPts val="1000"/>
              </a:spcAft>
              <a:buChar char="•"/>
              <a:lnSpc>
                <a:spcPts val="2200"/>
              </a:lnSpc>
            </a:pPr>
            <a:r>
              <a:rPr sz="2000" b="0">
                <a:solidFill>
                  <a:srgbClr val="333333"/>
                </a:solidFill>
                <a:latin typeface="Calibri"/>
              </a:rPr>
              <a:t>Detailed failure modes appear in the next parts; remedies follow in Sections 5.3 and 5.4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Cleaning makes values trustworthy; preprocessing makes them algorithm-ready</a:t>
            </a:r>
          </a:p>
          <a:p>
            <a:pPr>
              <a:spcAft>
                <a:spcPts val="1000"/>
              </a:spcAft>
              <a:buChar char="•"/>
              <a:lnSpc>
                <a:spcPts val="2200"/>
              </a:lnSpc>
            </a:pPr>
            <a:r>
              <a:rPr sz="2000" b="0">
                <a:solidFill>
                  <a:srgbClr val="333333"/>
                </a:solidFill>
                <a:latin typeface="Calibri"/>
              </a:rPr>
              <a:t>Both follow annotation and precede exploration-heavy modeling work</a:t>
            </a:r>
          </a:p>
          <a:p>
            <a:pPr>
              <a:spcAft>
                <a:spcPts val="1000"/>
              </a:spcAft>
              <a:buChar char="•"/>
              <a:lnSpc>
                <a:spcPts val="2200"/>
              </a:lnSpc>
            </a:pPr>
            <a:r>
              <a:rPr sz="2000" b="0">
                <a:solidFill>
                  <a:srgbClr val="333333"/>
                </a:solidFill>
                <a:latin typeface="Calibri"/>
              </a:rPr>
              <a:t>Schema alignment across sources is itself a cleaning task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missing data, MCAR, MAR, MNAR mechanisms and their causes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Define MCAR, MAR</a:t>
            </a:r>
          </a:p>
          <a:p>
            <a:pPr>
              <a:spcAft>
                <a:spcPts val="1000"/>
              </a:spcAft>
              <a:buChar char="•"/>
              <a:lnSpc>
                <a:spcPts val="2200"/>
              </a:lnSpc>
            </a:pPr>
            <a:r>
              <a:rPr sz="2000" b="0">
                <a:solidFill>
                  <a:srgbClr val="333333"/>
                </a:solidFill>
                <a:latin typeface="Calibri"/>
              </a:rPr>
              <a:t>MNAR, match each to a short scenario</a:t>
            </a:r>
          </a:p>
          <a:p>
            <a:pPr>
              <a:spcAft>
                <a:spcPts val="1000"/>
              </a:spcAft>
              <a:buChar char="•"/>
              <a:lnSpc>
                <a:spcPts val="2200"/>
              </a:lnSpc>
            </a:pPr>
            <a:r>
              <a:rPr sz="2000" b="0">
                <a:solidFill>
                  <a:srgbClr val="333333"/>
                </a:solidFill>
                <a:latin typeface="Calibri"/>
              </a:rPr>
              <a:t>List typical causes of missing fields in real pipelines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MCAR — missing completely at random</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probability a value is missing does not depend on observed or unobserved data</a:t>
            </a:r>
          </a:p>
          <a:p>
            <a:pPr>
              <a:spcAft>
                <a:spcPts val="1000"/>
              </a:spcAft>
              <a:buChar char="•"/>
              <a:lnSpc>
                <a:spcPts val="2200"/>
              </a:lnSpc>
            </a:pPr>
            <a:r>
              <a:rPr sz="2000" b="0">
                <a:solidFill>
                  <a:srgbClr val="333333"/>
                </a:solidFill>
                <a:latin typeface="Calibri"/>
              </a:rPr>
              <a:t>Example 5.8 sketches a system error that omits records uniformly</a:t>
            </a:r>
          </a:p>
          <a:p>
            <a:pPr>
              <a:spcAft>
                <a:spcPts val="1000"/>
              </a:spcAft>
              <a:buChar char="•"/>
              <a:lnSpc>
                <a:spcPts val="2200"/>
              </a:lnSpc>
            </a:pPr>
            <a:r>
              <a:rPr sz="2000" b="0">
                <a:solidFill>
                  <a:srgbClr val="333333"/>
                </a:solidFill>
                <a:latin typeface="Calibri"/>
              </a:rPr>
              <a:t>Simple deletion or mean imputation may be less biased when MCAR truly holds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MAR — missing at random</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Under MAR, missingness depends on observed variables but not on the missing value itself</a:t>
            </a:r>
          </a:p>
          <a:p>
            <a:pPr>
              <a:spcAft>
                <a:spcPts val="1000"/>
              </a:spcAft>
              <a:buChar char="•"/>
              <a:lnSpc>
                <a:spcPts val="2200"/>
              </a:lnSpc>
            </a:pPr>
            <a:r>
              <a:rPr sz="2000" b="0">
                <a:solidFill>
                  <a:srgbClr val="333333"/>
                </a:solidFill>
                <a:latin typeface="Calibri"/>
              </a:rPr>
              <a:t>Example 5.9 shows income nonresponse related to age or employment status that is recorded</a:t>
            </a:r>
          </a:p>
          <a:p>
            <a:pPr>
              <a:spcAft>
                <a:spcPts val="1000"/>
              </a:spcAft>
              <a:buChar char="•"/>
              <a:lnSpc>
                <a:spcPts val="2200"/>
              </a:lnSpc>
            </a:pPr>
            <a:r>
              <a:rPr sz="2000" b="0">
                <a:solidFill>
                  <a:srgbClr val="333333"/>
                </a:solidFill>
                <a:latin typeface="Calibri"/>
              </a:rPr>
              <a:t>MAR is the sweet spot for many principled imputation methods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MNAR — missing not at random</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Under MNAR, missingness depends on the unobserved value itself</a:t>
            </a:r>
          </a:p>
          <a:p>
            <a:pPr>
              <a:spcAft>
                <a:spcPts val="1000"/>
              </a:spcAft>
              <a:buChar char="•"/>
              <a:lnSpc>
                <a:spcPts val="2200"/>
              </a:lnSpc>
            </a:pPr>
            <a:r>
              <a:rPr sz="2000" b="0">
                <a:solidFill>
                  <a:srgbClr val="333333"/>
                </a:solidFill>
                <a:latin typeface="Calibri"/>
              </a:rPr>
              <a:t>Example 5.10 shows high earners declining to report income</a:t>
            </a:r>
          </a:p>
          <a:p>
            <a:pPr>
              <a:spcAft>
                <a:spcPts val="1000"/>
              </a:spcAft>
              <a:buChar char="•"/>
              <a:lnSpc>
                <a:spcPts val="2200"/>
              </a:lnSpc>
            </a:pPr>
            <a:r>
              <a:rPr sz="2000" b="0">
                <a:solidFill>
                  <a:srgbClr val="333333"/>
                </a:solidFill>
                <a:latin typeface="Calibri"/>
              </a:rPr>
              <a:t>MNAR demands explicit modeling, sensitivity analysis, or collection redesign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5.8 — MCAR system error</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5.8 — hands-on module</a:t>
            </a:r>
          </a:p>
          <a:p>
            <a:pPr>
              <a:spcAft>
                <a:spcPts val="1000"/>
              </a:spcAft>
              <a:buChar char="•"/>
              <a:lnSpc>
                <a:spcPts val="2200"/>
              </a:lnSpc>
            </a:pPr>
            <a:r>
              <a:rPr sz="2000" b="0">
                <a:solidFill>
                  <a:srgbClr val="333333"/>
                </a:solidFill>
                <a:latin typeface="Calibri"/>
              </a:rPr>
              <a:t>The uniform omission pattern</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Causes of missing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Disk or sensor failures truncating files</a:t>
            </a:r>
          </a:p>
          <a:p>
            <a:pPr>
              <a:spcAft>
                <a:spcPts val="1000"/>
              </a:spcAft>
              <a:buChar char="•"/>
              <a:lnSpc>
                <a:spcPts val="2200"/>
              </a:lnSpc>
            </a:pPr>
            <a:r>
              <a:rPr sz="2000" b="0">
                <a:solidFill>
                  <a:srgbClr val="333333"/>
                </a:solidFill>
                <a:latin typeface="Calibri"/>
              </a:rPr>
              <a:t>Example 5.11 shows skipped sensitive items; Example 5.13 shows truncated sensor logs</a:t>
            </a:r>
          </a:p>
          <a:p>
            <a:pPr>
              <a:spcAft>
                <a:spcPts val="1000"/>
              </a:spcAft>
              <a:buChar char="•"/>
              <a:lnSpc>
                <a:spcPts val="2200"/>
              </a:lnSpc>
            </a:pPr>
            <a:r>
              <a:rPr sz="2000" b="0">
                <a:solidFill>
                  <a:srgbClr val="333333"/>
                </a:solidFill>
                <a:latin typeface="Calibri"/>
              </a:rPr>
              <a:t>The cause hints at the mechanism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mechanism matters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Listwise deletion is simple but wasteful under MAR if informative rows are dropped</a:t>
            </a:r>
          </a:p>
          <a:p>
            <a:pPr>
              <a:spcAft>
                <a:spcPts val="1000"/>
              </a:spcAft>
              <a:buChar char="•"/>
              <a:lnSpc>
                <a:spcPts val="2200"/>
              </a:lnSpc>
            </a:pPr>
            <a:r>
              <a:rPr sz="2000" b="0">
                <a:solidFill>
                  <a:srgbClr val="333333"/>
                </a:solidFill>
                <a:latin typeface="Calibri"/>
              </a:rPr>
              <a:t>Mean imputation understates variance</a:t>
            </a:r>
          </a:p>
          <a:p>
            <a:pPr>
              <a:spcAft>
                <a:spcPts val="1000"/>
              </a:spcAft>
              <a:buChar char="•"/>
              <a:lnSpc>
                <a:spcPts val="2200"/>
              </a:lnSpc>
            </a:pPr>
            <a:r>
              <a:rPr sz="2000" b="0">
                <a:solidFill>
                  <a:srgbClr val="333333"/>
                </a:solidFill>
                <a:latin typeface="Calibri"/>
              </a:rPr>
              <a:t>MNAR fixes require domain judgment</a:t>
            </a:r>
          </a:p>
          <a:p>
            <a:pPr>
              <a:spcAft>
                <a:spcPts val="1000"/>
              </a:spcAft>
              <a:buChar char="•"/>
              <a:lnSpc>
                <a:spcPts val="2200"/>
              </a:lnSpc>
            </a:pPr>
            <a:r>
              <a:rPr sz="2000" b="0">
                <a:solidFill>
                  <a:srgbClr val="333333"/>
                </a:solidFill>
                <a:latin typeface="Calibri"/>
              </a:rPr>
              <a:t>Chapter 6 exploration helps detect patterns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Classify missingness before imputing</a:t>
            </a:r>
          </a:p>
          <a:p>
            <a:pPr>
              <a:spcAft>
                <a:spcPts val="1000"/>
              </a:spcAft>
              <a:buChar char="•"/>
              <a:lnSpc>
                <a:spcPts val="2200"/>
              </a:lnSpc>
            </a:pPr>
            <a:r>
              <a:rPr sz="2000" b="0">
                <a:solidFill>
                  <a:srgbClr val="333333"/>
                </a:solidFill>
                <a:latin typeface="Calibri"/>
              </a:rPr>
              <a:t>MNAR are not interchangeable labels, they dictate which repairs are defensible</a:t>
            </a:r>
          </a:p>
          <a:p>
            <a:pPr>
              <a:spcAft>
                <a:spcPts val="1000"/>
              </a:spcAft>
              <a:buChar char="•"/>
              <a:lnSpc>
                <a:spcPts val="2200"/>
              </a:lnSpc>
            </a:pPr>
            <a:r>
              <a:rPr sz="2000" b="0">
                <a:solidFill>
                  <a:srgbClr val="333333"/>
                </a:solidFill>
                <a:latin typeface="Calibri"/>
              </a:rPr>
              <a:t>Causes range from human behavior to infrastructure failure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duplicates and inconsistent encodings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Explain duplicate impact on aggregates and training</a:t>
            </a:r>
          </a:p>
          <a:p>
            <a:pPr>
              <a:spcAft>
                <a:spcPts val="1000"/>
              </a:spcAft>
              <a:buChar char="•"/>
              <a:lnSpc>
                <a:spcPts val="2200"/>
              </a:lnSpc>
            </a:pPr>
            <a:r>
              <a:rPr sz="2000" b="0">
                <a:solidFill>
                  <a:srgbClr val="333333"/>
                </a:solidFill>
                <a:latin typeface="Calibri"/>
              </a:rPr>
              <a:t>Describe how free-text categories hide structure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Duplicate data — causes and impact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Duplicates arise from system retries, merged exports, copy-paste ETL</a:t>
            </a:r>
          </a:p>
          <a:p>
            <a:pPr>
              <a:spcAft>
                <a:spcPts val="1000"/>
              </a:spcAft>
              <a:buChar char="•"/>
              <a:lnSpc>
                <a:spcPts val="2200"/>
              </a:lnSpc>
            </a:pPr>
            <a:r>
              <a:rPr sz="2000" b="0">
                <a:solidFill>
                  <a:srgbClr val="333333"/>
                </a:solidFill>
                <a:latin typeface="Calibri"/>
              </a:rPr>
              <a:t>Example 5.14 shows duplicate purchase rows</a:t>
            </a:r>
          </a:p>
          <a:p>
            <a:pPr>
              <a:spcAft>
                <a:spcPts val="1000"/>
              </a:spcAft>
              <a:buChar char="•"/>
              <a:lnSpc>
                <a:spcPts val="2200"/>
              </a:lnSpc>
            </a:pPr>
            <a:r>
              <a:rPr sz="2000" b="0">
                <a:solidFill>
                  <a:srgbClr val="333333"/>
                </a:solidFill>
                <a:latin typeface="Calibri"/>
              </a:rPr>
              <a:t>Deduplication is not cosmetic, it changes business numbers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5.14 — Duplicate customer purchase rows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5.14 — hands-on module</a:t>
            </a:r>
          </a:p>
          <a:p>
            <a:pPr>
              <a:spcAft>
                <a:spcPts val="1000"/>
              </a:spcAft>
              <a:buChar char="•"/>
              <a:lnSpc>
                <a:spcPts val="2200"/>
              </a:lnSpc>
            </a:pPr>
            <a:r>
              <a:rPr sz="2000" b="0">
                <a:solidFill>
                  <a:srgbClr val="333333"/>
                </a:solidFill>
                <a:latin typeface="Calibri"/>
              </a:rPr>
              <a:t>The retail retry pattern</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`modules/chapter5/example14/`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Inconsistent data — formats and units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Inconsistent data is common when sources span departments or time periods</a:t>
            </a:r>
          </a:p>
          <a:p>
            <a:pPr>
              <a:spcAft>
                <a:spcPts val="1000"/>
              </a:spcAft>
              <a:buChar char="•"/>
              <a:lnSpc>
                <a:spcPts val="2200"/>
              </a:lnSpc>
            </a:pPr>
            <a:r>
              <a:rPr sz="2000" b="0">
                <a:solidFill>
                  <a:srgbClr val="333333"/>
                </a:solidFill>
                <a:latin typeface="Calibri"/>
              </a:rPr>
              <a:t>Example 5.18 mixes date formats, gender encodings, and measurement units in one table</a:t>
            </a:r>
          </a:p>
          <a:p>
            <a:pPr>
              <a:spcAft>
                <a:spcPts val="1000"/>
              </a:spcAft>
              <a:buChar char="•"/>
              <a:lnSpc>
                <a:spcPts val="2200"/>
              </a:lnSpc>
            </a:pPr>
            <a:r>
              <a:rPr sz="2000" b="0">
                <a:solidFill>
                  <a:srgbClr val="333333"/>
                </a:solidFill>
                <a:latin typeface="Calibri"/>
              </a:rPr>
              <a:t>Example 5.19 shows customer ID formats that block joins</a:t>
            </a:r>
          </a:p>
          <a:p>
            <a:pPr>
              <a:spcAft>
                <a:spcPts val="1000"/>
              </a:spcAft>
              <a:buChar char="•"/>
              <a:lnSpc>
                <a:spcPts val="2200"/>
              </a:lnSpc>
            </a:pPr>
            <a:r>
              <a:rPr sz="2000" b="0">
                <a:solidFill>
                  <a:srgbClr val="333333"/>
                </a:solidFill>
                <a:latin typeface="Calibri"/>
              </a:rPr>
              <a:t>Example 5.20 splits Male versus M into separate categories</a:t>
            </a:r>
          </a:p>
          <a:p>
            <a:pPr>
              <a:spcAft>
                <a:spcPts val="1000"/>
              </a:spcAft>
              <a:buChar char="•"/>
              <a:lnSpc>
                <a:spcPts val="2200"/>
              </a:lnSpc>
            </a:pPr>
            <a:r>
              <a:rPr sz="2000" b="0">
                <a:solidFill>
                  <a:srgbClr val="333333"/>
                </a:solidFill>
                <a:latin typeface="Calibri"/>
              </a:rPr>
              <a:t>Example 5.21 shows weeks lost normalizing free-text cities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5.18 — Mixed dates, gender, and units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5.18 — hands-on module</a:t>
            </a:r>
          </a:p>
          <a:p>
            <a:pPr>
              <a:spcAft>
                <a:spcPts val="1000"/>
              </a:spcAft>
              <a:buChar char="•"/>
              <a:lnSpc>
                <a:spcPts val="2200"/>
              </a:lnSpc>
            </a:pPr>
            <a:r>
              <a:rPr sz="2000" b="0">
                <a:solidFill>
                  <a:srgbClr val="333333"/>
                </a:solidFill>
                <a:latin typeface="Calibri"/>
              </a:rPr>
              <a:t>A checklist of silent parse failures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`modules/chapter5/example18/`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Join and aggregation failures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Inconsistent keys prevent reliable joins across tables</a:t>
            </a:r>
          </a:p>
          <a:p>
            <a:pPr>
              <a:spcAft>
                <a:spcPts val="1000"/>
              </a:spcAft>
              <a:buChar char="•"/>
              <a:lnSpc>
                <a:spcPts val="2200"/>
              </a:lnSpc>
            </a:pPr>
            <a:r>
              <a:rPr sz="2000" b="0">
                <a:solidFill>
                  <a:srgbClr val="333333"/>
                </a:solidFill>
                <a:latin typeface="Calibri"/>
              </a:rPr>
              <a:t>Mixed currencies or units make sums meaningless until converted</a:t>
            </a:r>
          </a:p>
          <a:p>
            <a:pPr>
              <a:spcAft>
                <a:spcPts val="1000"/>
              </a:spcAft>
              <a:buChar char="•"/>
              <a:lnSpc>
                <a:spcPts val="2200"/>
              </a:lnSpc>
            </a:pPr>
            <a:r>
              <a:rPr sz="2000" b="0">
                <a:solidFill>
                  <a:srgbClr val="333333"/>
                </a:solidFill>
                <a:latin typeface="Calibri"/>
              </a:rPr>
              <a:t>Split labels inflate cardinality and starve rare categories of support</a:t>
            </a:r>
          </a:p>
          <a:p>
            <a:pPr>
              <a:spcAft>
                <a:spcPts val="1000"/>
              </a:spcAft>
              <a:buChar char="•"/>
              <a:lnSpc>
                <a:spcPts val="2200"/>
              </a:lnSpc>
            </a:pPr>
            <a:r>
              <a:rPr sz="2000" b="0">
                <a:solidFill>
                  <a:srgbClr val="333333"/>
                </a:solidFill>
                <a:latin typeface="Calibri"/>
              </a:rPr>
              <a:t>Exploration in Chapter 6 surfaces many of these patterns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Duplicates change revenue, sample weights, and runtime</a:t>
            </a:r>
          </a:p>
          <a:p>
            <a:pPr>
              <a:spcAft>
                <a:spcPts val="1000"/>
              </a:spcAft>
              <a:buChar char="•"/>
              <a:lnSpc>
                <a:spcPts val="2200"/>
              </a:lnSpc>
            </a:pPr>
            <a:r>
              <a:rPr sz="2000" b="0">
                <a:solidFill>
                  <a:srgbClr val="333333"/>
                </a:solidFill>
                <a:latin typeface="Calibri"/>
              </a:rPr>
              <a:t>Inconsistency breaks time logic and joins</a:t>
            </a:r>
          </a:p>
          <a:p>
            <a:pPr>
              <a:spcAft>
                <a:spcPts val="1000"/>
              </a:spcAft>
              <a:buChar char="•"/>
              <a:lnSpc>
                <a:spcPts val="2200"/>
              </a:lnSpc>
            </a:pPr>
            <a:r>
              <a:rPr sz="2000" b="0">
                <a:solidFill>
                  <a:srgbClr val="333333"/>
                </a:solidFill>
                <a:latin typeface="Calibri"/>
              </a:rPr>
              <a:t>Standardize formats early with explicit parsing rules and canonical category maps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outliers, irrelevant features, and class imbalance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Distinguish erroneous outliers from legitimate extremes</a:t>
            </a:r>
          </a:p>
          <a:p>
            <a:pPr>
              <a:spcAft>
                <a:spcPts val="1000"/>
              </a:spcAft>
              <a:buChar char="•"/>
              <a:lnSpc>
                <a:spcPts val="2200"/>
              </a:lnSpc>
            </a:pPr>
            <a:r>
              <a:rPr sz="2000" b="0">
                <a:solidFill>
                  <a:srgbClr val="333333"/>
                </a:solidFill>
                <a:latin typeface="Calibri"/>
              </a:rPr>
              <a:t>Describe why rare classes break accuracy metrics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Outliers — definition and causes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Outliers deviate sharply from the bulk of a distribution</a:t>
            </a:r>
          </a:p>
          <a:p>
            <a:pPr>
              <a:spcAft>
                <a:spcPts val="1000"/>
              </a:spcAft>
              <a:buChar char="•"/>
              <a:lnSpc>
                <a:spcPts val="2200"/>
              </a:lnSpc>
            </a:pPr>
            <a:r>
              <a:rPr sz="2000" b="0">
                <a:solidFill>
                  <a:srgbClr val="333333"/>
                </a:solidFill>
                <a:latin typeface="Calibri"/>
              </a:rPr>
              <a:t>Causes include typos, sensor faults, and genuine rare events</a:t>
            </a:r>
          </a:p>
          <a:p>
            <a:pPr>
              <a:spcAft>
                <a:spcPts val="1000"/>
              </a:spcAft>
              <a:buChar char="•"/>
              <a:lnSpc>
                <a:spcPts val="2200"/>
              </a:lnSpc>
            </a:pPr>
            <a:r>
              <a:rPr sz="2000" b="0">
                <a:solidFill>
                  <a:srgbClr val="333333"/>
                </a:solidFill>
                <a:latin typeface="Calibri"/>
              </a:rPr>
              <a:t>Example 5.22 shows an extra zero in blood pressure</a:t>
            </a:r>
          </a:p>
          <a:p>
            <a:pPr>
              <a:spcAft>
                <a:spcPts val="1000"/>
              </a:spcAft>
              <a:buChar char="•"/>
              <a:lnSpc>
                <a:spcPts val="2200"/>
              </a:lnSpc>
            </a:pPr>
            <a:r>
              <a:rPr sz="2000" b="0">
                <a:solidFill>
                  <a:srgbClr val="333333"/>
                </a:solidFill>
                <a:latin typeface="Calibri"/>
              </a:rPr>
              <a:t>Treatment depends on which case you face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Handling outliers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Replacing spikes with robust statistics such as the median</a:t>
            </a:r>
          </a:p>
          <a:p>
            <a:pPr>
              <a:spcAft>
                <a:spcPts val="1000"/>
              </a:spcAft>
              <a:buChar char="•"/>
              <a:lnSpc>
                <a:spcPts val="2200"/>
              </a:lnSpc>
            </a:pPr>
            <a:r>
              <a:rPr sz="2000" b="0">
                <a:solidFill>
                  <a:srgbClr val="333333"/>
                </a:solidFill>
                <a:latin typeface="Calibri"/>
              </a:rPr>
              <a:t>Examples 5.25 through 5.28 illustrate drop, log, cap, and median-replace patterns</a:t>
            </a:r>
          </a:p>
          <a:p>
            <a:pPr>
              <a:spcAft>
                <a:spcPts val="1000"/>
              </a:spcAft>
              <a:buChar char="•"/>
              <a:lnSpc>
                <a:spcPts val="2200"/>
              </a:lnSpc>
            </a:pPr>
            <a:r>
              <a:rPr sz="2000" b="0">
                <a:solidFill>
                  <a:srgbClr val="333333"/>
                </a:solidFill>
                <a:latin typeface="Calibri"/>
              </a:rPr>
              <a:t>Blind removal of all extremes can delete signal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5.22 — Extra zero in blood pressure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5.22 — hands-on module</a:t>
            </a:r>
          </a:p>
          <a:p>
            <a:pPr>
              <a:spcAft>
                <a:spcPts val="1000"/>
              </a:spcAft>
              <a:buChar char="•"/>
              <a:lnSpc>
                <a:spcPts val="2200"/>
              </a:lnSpc>
            </a:pPr>
            <a:r>
              <a:rPr sz="2000" b="0">
                <a:solidFill>
                  <a:srgbClr val="333333"/>
                </a:solidFill>
                <a:latin typeface="Calibri"/>
              </a:rPr>
              <a:t>A classic entry error</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`modules/chapter5/example22/`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Irrelevant features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Irrelevant columns add noise without predictive value</a:t>
            </a:r>
          </a:p>
          <a:p>
            <a:pPr>
              <a:spcAft>
                <a:spcPts val="1000"/>
              </a:spcAft>
              <a:buChar char="•"/>
              <a:lnSpc>
                <a:spcPts val="2200"/>
              </a:lnSpc>
            </a:pPr>
            <a:r>
              <a:rPr sz="2000" b="0">
                <a:solidFill>
                  <a:srgbClr val="333333"/>
                </a:solidFill>
                <a:latin typeface="Calibri"/>
              </a:rPr>
              <a:t>Example 5.29 lists color or pet features unrelated to a loan default target</a:t>
            </a:r>
          </a:p>
          <a:p>
            <a:pPr>
              <a:spcAft>
                <a:spcPts val="1000"/>
              </a:spcAft>
              <a:buChar char="•"/>
              <a:lnSpc>
                <a:spcPts val="2200"/>
              </a:lnSpc>
            </a:pPr>
            <a:r>
              <a:rPr sz="2000" b="0">
                <a:solidFill>
                  <a:srgbClr val="333333"/>
                </a:solidFill>
                <a:latin typeface="Calibri"/>
              </a:rPr>
              <a:t>Example 5.30 notes harder interpretation</a:t>
            </a:r>
          </a:p>
          <a:p>
            <a:pPr>
              <a:spcAft>
                <a:spcPts val="1000"/>
              </a:spcAft>
              <a:buChar char="•"/>
              <a:lnSpc>
                <a:spcPts val="2200"/>
              </a:lnSpc>
            </a:pPr>
            <a:r>
              <a:rPr sz="2000" b="0">
                <a:solidFill>
                  <a:srgbClr val="333333"/>
                </a:solidFill>
                <a:latin typeface="Calibri"/>
              </a:rPr>
              <a:t>Correlation and domain review help prune fields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5.29 — Irrelevant color and pet features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5.29 — hands-on module</a:t>
            </a:r>
          </a:p>
          <a:p>
            <a:pPr>
              <a:spcAft>
                <a:spcPts val="1000"/>
              </a:spcAft>
              <a:buChar char="•"/>
              <a:lnSpc>
                <a:spcPts val="2200"/>
              </a:lnSpc>
            </a:pPr>
            <a:r>
              <a:rPr sz="2000" b="0">
                <a:solidFill>
                  <a:srgbClr val="333333"/>
                </a:solidFill>
                <a:latin typeface="Calibri"/>
              </a:rPr>
              <a:t>Example 5.29 motivates feature selection before modeling</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`modules/chapter5/example29/`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Imbalanced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Imbalance means one class dominates, Example 5.33 shows fraud at one percent of events</a:t>
            </a:r>
          </a:p>
          <a:p>
            <a:pPr>
              <a:spcAft>
                <a:spcPts val="1000"/>
              </a:spcAft>
              <a:buChar char="•"/>
              <a:lnSpc>
                <a:spcPts val="2200"/>
              </a:lnSpc>
            </a:pPr>
            <a:r>
              <a:rPr sz="2000" b="0">
                <a:solidFill>
                  <a:srgbClr val="333333"/>
                </a:solidFill>
                <a:latin typeface="Calibri"/>
              </a:rPr>
              <a:t>Majority-class classifiers can report high accuracy while missing almost every fraud case</a:t>
            </a:r>
          </a:p>
          <a:p>
            <a:pPr>
              <a:spcAft>
                <a:spcPts val="1000"/>
              </a:spcAft>
              <a:buChar char="•"/>
              <a:lnSpc>
                <a:spcPts val="2200"/>
              </a:lnSpc>
            </a:pPr>
            <a:r>
              <a:rPr sz="2000" b="0">
                <a:solidFill>
                  <a:srgbClr val="333333"/>
                </a:solidFill>
                <a:latin typeface="Calibri"/>
              </a:rPr>
              <a:t>Responses include oversampling, class weights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Outlier handling requires domain judgment</a:t>
            </a:r>
          </a:p>
          <a:p>
            <a:pPr>
              <a:spcAft>
                <a:spcPts val="1000"/>
              </a:spcAft>
              <a:buChar char="•"/>
              <a:lnSpc>
                <a:spcPts val="2200"/>
              </a:lnSpc>
            </a:pPr>
            <a:r>
              <a:rPr sz="2000" b="0">
                <a:solidFill>
                  <a:srgbClr val="333333"/>
                </a:solidFill>
                <a:latin typeface="Calibri"/>
              </a:rPr>
              <a:t>Irrelevant features waste compute and invite overfitting</a:t>
            </a:r>
          </a:p>
          <a:p>
            <a:pPr>
              <a:spcAft>
                <a:spcPts val="1000"/>
              </a:spcAft>
              <a:buChar char="•"/>
              <a:lnSpc>
                <a:spcPts val="2200"/>
              </a:lnSpc>
            </a:pPr>
            <a:r>
              <a:rPr sz="2000" b="0">
                <a:solidFill>
                  <a:srgbClr val="333333"/>
                </a:solidFill>
                <a:latin typeface="Calibri"/>
              </a:rPr>
              <a:t>Imbalance makes accuracy misleading, plan metrics and resampling before training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cleaning techniques, imputation, deduplication, standardization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Compare listwise deletion with available-case analysis, choose mean, median</a:t>
            </a:r>
          </a:p>
          <a:p>
            <a:pPr>
              <a:spcAft>
                <a:spcPts val="1000"/>
              </a:spcAft>
              <a:buChar char="•"/>
              <a:lnSpc>
                <a:spcPts val="2200"/>
              </a:lnSpc>
            </a:pPr>
            <a:r>
              <a:rPr sz="2000" b="0">
                <a:solidFill>
                  <a:srgbClr val="333333"/>
                </a:solidFill>
                <a:latin typeface="Calibri"/>
              </a:rPr>
              <a:t>Hot-deck imputation, remove duplicates in pandas-style workflows</a:t>
            </a:r>
          </a:p>
          <a:p>
            <a:pPr>
              <a:spcAft>
                <a:spcPts val="1000"/>
              </a:spcAft>
              <a:buChar char="•"/>
              <a:lnSpc>
                <a:spcPts val="2200"/>
              </a:lnSpc>
            </a:pPr>
            <a:r>
              <a:rPr sz="2000" b="0">
                <a:solidFill>
                  <a:srgbClr val="333333"/>
                </a:solidFill>
                <a:latin typeface="Calibri"/>
              </a:rPr>
              <a:t>Flag outliers with IQR rules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Handling missing data — deletion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Listwise deletion drops any row with a missing value in selected columns</a:t>
            </a:r>
          </a:p>
          <a:p>
            <a:pPr>
              <a:spcAft>
                <a:spcPts val="1000"/>
              </a:spcAft>
              <a:buChar char="•"/>
              <a:lnSpc>
                <a:spcPts val="2200"/>
              </a:lnSpc>
            </a:pPr>
            <a:r>
              <a:rPr sz="2000" b="0">
                <a:solidFill>
                  <a:srgbClr val="333333"/>
                </a:solidFill>
                <a:latin typeface="Calibri"/>
              </a:rPr>
              <a:t>Available-case analysis keeps rows for each analysis using the fields present</a:t>
            </a:r>
          </a:p>
          <a:p>
            <a:pPr>
              <a:spcAft>
                <a:spcPts val="1000"/>
              </a:spcAft>
              <a:buChar char="•"/>
              <a:lnSpc>
                <a:spcPts val="2200"/>
              </a:lnSpc>
            </a:pPr>
            <a:r>
              <a:rPr sz="2000" b="0">
                <a:solidFill>
                  <a:srgbClr val="333333"/>
                </a:solidFill>
                <a:latin typeface="Calibri"/>
              </a:rPr>
              <a:t>Choose based on mechanism and how much data you can afford to lose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Imputation methods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Mean imputation, Example 5.39 for age, preserves the sample mean but shrinks variance</a:t>
            </a:r>
          </a:p>
          <a:p>
            <a:pPr>
              <a:spcAft>
                <a:spcPts val="1000"/>
              </a:spcAft>
              <a:buChar char="•"/>
              <a:lnSpc>
                <a:spcPts val="2200"/>
              </a:lnSpc>
            </a:pPr>
            <a:r>
              <a:rPr sz="2000" b="0">
                <a:solidFill>
                  <a:srgbClr val="333333"/>
                </a:solidFill>
                <a:latin typeface="Calibri"/>
              </a:rPr>
              <a:t>Median imputation, Example 5.41 for skewed square footage, is robust to tails</a:t>
            </a:r>
          </a:p>
          <a:p>
            <a:pPr>
              <a:spcAft>
                <a:spcPts val="1000"/>
              </a:spcAft>
              <a:buChar char="•"/>
              <a:lnSpc>
                <a:spcPts val="2200"/>
              </a:lnSpc>
            </a:pPr>
            <a:r>
              <a:rPr sz="2000" b="0">
                <a:solidFill>
                  <a:srgbClr val="333333"/>
                </a:solidFill>
                <a:latin typeface="Calibri"/>
              </a:rPr>
              <a:t>Hot-deck imputation</a:t>
            </a:r>
          </a:p>
          <a:p>
            <a:pPr>
              <a:spcAft>
                <a:spcPts val="1000"/>
              </a:spcAft>
              <a:buChar char="•"/>
              <a:lnSpc>
                <a:spcPts val="2200"/>
              </a:lnSpc>
            </a:pPr>
            <a:r>
              <a:rPr sz="2000" b="0">
                <a:solidFill>
                  <a:srgbClr val="333333"/>
                </a:solidFill>
                <a:latin typeface="Calibri"/>
              </a:rPr>
              <a:t>Document imputation inside train splits to avoid leakage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5.39 — Mean impute missing age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5.39 — hands-on module</a:t>
            </a:r>
          </a:p>
          <a:p>
            <a:pPr>
              <a:spcAft>
                <a:spcPts val="1000"/>
              </a:spcAft>
              <a:buChar char="•"/>
              <a:lnSpc>
                <a:spcPts val="2200"/>
              </a:lnSpc>
            </a:pPr>
            <a:r>
              <a:rPr sz="2000" b="0">
                <a:solidFill>
                  <a:srgbClr val="333333"/>
                </a:solidFill>
                <a:latin typeface="Calibri"/>
              </a:rPr>
              <a:t>The simple numeric fill</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`modules/chapter5/example39/`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Removing duplicates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Near-duplicate customer names and repeated transaction keys should be collapsed with</a:t>
            </a:r>
          </a:p>
          <a:p>
            <a:pPr>
              <a:spcAft>
                <a:spcPts val="1000"/>
              </a:spcAft>
              <a:buChar char="•"/>
              <a:lnSpc>
                <a:spcPts val="2200"/>
              </a:lnSpc>
            </a:pPr>
            <a:r>
              <a:rPr sz="2000" b="0">
                <a:solidFill>
                  <a:srgbClr val="333333"/>
                </a:solidFill>
                <a:latin typeface="Calibri"/>
              </a:rPr>
              <a:t>Example 5.42 shows fuzzy duplicate risk</a:t>
            </a:r>
          </a:p>
          <a:p>
            <a:pPr>
              <a:spcAft>
                <a:spcPts val="1000"/>
              </a:spcAft>
              <a:buChar char="•"/>
              <a:lnSpc>
                <a:spcPts val="2200"/>
              </a:lnSpc>
            </a:pPr>
            <a:r>
              <a:rPr sz="2000" b="0">
                <a:solidFill>
                  <a:srgbClr val="333333"/>
                </a:solidFill>
                <a:latin typeface="Calibri"/>
              </a:rPr>
              <a:t>Use stable keys when available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Standardizing formats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5.43 normalizes currency symbols across markets before modeling</a:t>
            </a:r>
          </a:p>
          <a:p>
            <a:pPr>
              <a:spcAft>
                <a:spcPts val="1000"/>
              </a:spcAft>
              <a:buChar char="•"/>
              <a:lnSpc>
                <a:spcPts val="2200"/>
              </a:lnSpc>
            </a:pPr>
            <a:r>
              <a:rPr sz="2000" b="0">
                <a:solidFill>
                  <a:srgbClr val="333333"/>
                </a:solidFill>
                <a:latin typeface="Calibri"/>
              </a:rPr>
              <a:t>Date parsing, lowercasing product names</a:t>
            </a:r>
          </a:p>
          <a:p>
            <a:pPr>
              <a:spcAft>
                <a:spcPts val="1000"/>
              </a:spcAft>
              <a:buChar char="•"/>
              <a:lnSpc>
                <a:spcPts val="2200"/>
              </a:lnSpc>
            </a:pPr>
            <a:r>
              <a:rPr sz="2000" b="0">
                <a:solidFill>
                  <a:srgbClr val="333333"/>
                </a:solidFill>
                <a:latin typeface="Calibri"/>
              </a:rPr>
              <a:t>Record parsing rules in preprocessing metadata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Outliers and feature selection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5.44 flags extreme income with the interquartile range</a:t>
            </a:r>
          </a:p>
          <a:p>
            <a:pPr>
              <a:spcAft>
                <a:spcPts val="1000"/>
              </a:spcAft>
              <a:buChar char="•"/>
              <a:lnSpc>
                <a:spcPts val="2200"/>
              </a:lnSpc>
            </a:pPr>
            <a:r>
              <a:rPr sz="2000" b="0">
                <a:solidFill>
                  <a:srgbClr val="333333"/>
                </a:solidFill>
                <a:latin typeface="Calibri"/>
              </a:rPr>
              <a:t>Winsorization caps tails instead of deleting rows</a:t>
            </a:r>
          </a:p>
          <a:p>
            <a:pPr>
              <a:spcAft>
                <a:spcPts val="1000"/>
              </a:spcAft>
              <a:buChar char="•"/>
              <a:lnSpc>
                <a:spcPts val="2200"/>
              </a:lnSpc>
            </a:pPr>
            <a:r>
              <a:rPr sz="2000" b="0">
                <a:solidFill>
                  <a:srgbClr val="333333"/>
                </a:solidFill>
                <a:latin typeface="Calibri"/>
              </a:rPr>
              <a:t>Example 5.45 drops one of two highly correlated bathroom features to reduce redundancy</a:t>
            </a:r>
          </a:p>
          <a:p>
            <a:pPr>
              <a:spcAft>
                <a:spcPts val="1000"/>
              </a:spcAft>
              <a:buChar char="•"/>
              <a:lnSpc>
                <a:spcPts val="2200"/>
              </a:lnSpc>
            </a:pPr>
            <a:r>
              <a:rPr sz="2000" b="0">
                <a:solidFill>
                  <a:srgbClr val="333333"/>
                </a:solidFill>
                <a:latin typeface="Calibri"/>
              </a:rPr>
              <a:t>Pair outlier rules with domain review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Match the repair to the defect and mechanism</a:t>
            </a:r>
          </a:p>
          <a:p>
            <a:pPr>
              <a:spcAft>
                <a:spcPts val="1000"/>
              </a:spcAft>
              <a:buChar char="•"/>
              <a:lnSpc>
                <a:spcPts val="2200"/>
              </a:lnSpc>
            </a:pPr>
            <a:r>
              <a:rPr sz="2000" b="0">
                <a:solidFill>
                  <a:srgbClr val="333333"/>
                </a:solidFill>
                <a:latin typeface="Calibri"/>
              </a:rPr>
              <a:t>Deletion is simple but costly; imputation carries bias risk</a:t>
            </a:r>
          </a:p>
          <a:p>
            <a:pPr>
              <a:spcAft>
                <a:spcPts val="1000"/>
              </a:spcAft>
              <a:buChar char="•"/>
              <a:lnSpc>
                <a:spcPts val="2200"/>
              </a:lnSpc>
            </a:pPr>
            <a:r>
              <a:rPr sz="2000" b="0">
                <a:solidFill>
                  <a:srgbClr val="333333"/>
                </a:solidFill>
                <a:latin typeface="Calibri"/>
              </a:rPr>
              <a:t>Standardization enables joins; IQR and correlation pruning stabilize training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preprocessing, scaling and encoding cleaned columns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Choose between min-max scaling and standardization</a:t>
            </a:r>
          </a:p>
          <a:p>
            <a:pPr>
              <a:spcAft>
                <a:spcPts val="1000"/>
              </a:spcAft>
              <a:buChar char="•"/>
              <a:lnSpc>
                <a:spcPts val="2200"/>
              </a:lnSpc>
            </a:pPr>
            <a:r>
              <a:rPr sz="2000" b="0">
                <a:solidFill>
                  <a:srgbClr val="333333"/>
                </a:solidFill>
                <a:latin typeface="Calibri"/>
              </a:rPr>
              <a:t>State leakage risks for target encoding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Normalization and scaling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Min-max normalization maps values to a bounded range such as zero to one</a:t>
            </a:r>
          </a:p>
          <a:p>
            <a:pPr>
              <a:spcAft>
                <a:spcPts val="1000"/>
              </a:spcAft>
              <a:buChar char="•"/>
              <a:lnSpc>
                <a:spcPts val="2200"/>
              </a:lnSpc>
            </a:pPr>
            <a:r>
              <a:rPr sz="2000" b="0">
                <a:solidFill>
                  <a:srgbClr val="333333"/>
                </a:solidFill>
                <a:latin typeface="Calibri"/>
              </a:rPr>
              <a:t>Standardization subtracts the mean and divides by standard deviation</a:t>
            </a:r>
          </a:p>
          <a:p>
            <a:pPr>
              <a:spcAft>
                <a:spcPts val="1000"/>
              </a:spcAft>
              <a:buChar char="•"/>
              <a:lnSpc>
                <a:spcPts val="2200"/>
              </a:lnSpc>
            </a:pPr>
            <a:r>
              <a:rPr sz="2000" b="0">
                <a:solidFill>
                  <a:srgbClr val="333333"/>
                </a:solidFill>
                <a:latin typeface="Calibri"/>
              </a:rPr>
              <a:t>Tree models often need less scaling but still benefit from consistent units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5.46 — Scale age and income for KNN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5.46 — hands-on module</a:t>
            </a:r>
          </a:p>
          <a:p>
            <a:pPr>
              <a:spcAft>
                <a:spcPts val="1000"/>
              </a:spcAft>
              <a:buChar char="•"/>
              <a:lnSpc>
                <a:spcPts val="2200"/>
              </a:lnSpc>
            </a:pPr>
            <a:r>
              <a:rPr sz="2000" b="0">
                <a:solidFill>
                  <a:srgbClr val="333333"/>
                </a:solidFill>
                <a:latin typeface="Calibri"/>
              </a:rPr>
              <a:t>Example 5.46 revisits the scale mismatch motif from Section 5.1</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`modules/chapter5/example46/`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One-hot encoding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One-hot encoding creates a binary column per category level</a:t>
            </a:r>
          </a:p>
          <a:p>
            <a:pPr>
              <a:spcAft>
                <a:spcPts val="1000"/>
              </a:spcAft>
              <a:buChar char="•"/>
              <a:lnSpc>
                <a:spcPts val="2200"/>
              </a:lnSpc>
            </a:pPr>
            <a:r>
              <a:rPr sz="2000" b="0">
                <a:solidFill>
                  <a:srgbClr val="333333"/>
                </a:solidFill>
                <a:latin typeface="Calibri"/>
              </a:rPr>
              <a:t>Use for nominal categories without intrinsic order</a:t>
            </a:r>
          </a:p>
          <a:p>
            <a:pPr>
              <a:spcAft>
                <a:spcPts val="1000"/>
              </a:spcAft>
              <a:buChar char="•"/>
              <a:lnSpc>
                <a:spcPts val="2200"/>
              </a:lnSpc>
            </a:pPr>
            <a:r>
              <a:rPr sz="2000" b="0">
                <a:solidFill>
                  <a:srgbClr val="333333"/>
                </a:solidFill>
                <a:latin typeface="Calibri"/>
              </a:rPr>
              <a:t>High-cardinality fields may need hashing, embedding, or target encoding instead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Label encoding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Label encoding assigns integers to categories</a:t>
            </a:r>
          </a:p>
          <a:p>
            <a:pPr>
              <a:spcAft>
                <a:spcPts val="1000"/>
              </a:spcAft>
              <a:buChar char="•"/>
              <a:lnSpc>
                <a:spcPts val="2200"/>
              </a:lnSpc>
            </a:pPr>
            <a:r>
              <a:rPr sz="2000" b="0">
                <a:solidFill>
                  <a:srgbClr val="333333"/>
                </a:solidFill>
                <a:latin typeface="Calibri"/>
              </a:rPr>
              <a:t>Do not use arbitrary integer codes for nominal data with unordered labels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Target encoding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Target encoding replaces a category with the mean outcome for that category</a:t>
            </a:r>
          </a:p>
          <a:p>
            <a:pPr>
              <a:spcAft>
                <a:spcPts val="1000"/>
              </a:spcAft>
              <a:buChar char="•"/>
              <a:lnSpc>
                <a:spcPts val="2200"/>
              </a:lnSpc>
            </a:pPr>
            <a:r>
              <a:rPr sz="2000" b="0">
                <a:solidFill>
                  <a:srgbClr val="333333"/>
                </a:solidFill>
                <a:latin typeface="Calibri"/>
              </a:rPr>
              <a:t>Powerful but leak-prone</a:t>
            </a:r>
          </a:p>
          <a:p>
            <a:pPr>
              <a:spcAft>
                <a:spcPts val="1000"/>
              </a:spcAft>
              <a:buChar char="•"/>
              <a:lnSpc>
                <a:spcPts val="2200"/>
              </a:lnSpc>
            </a:pPr>
            <a:r>
              <a:rPr sz="2000" b="0">
                <a:solidFill>
                  <a:srgbClr val="333333"/>
                </a:solidFill>
                <a:latin typeface="Calibri"/>
              </a:rPr>
              <a:t>Never encode using the full dataset before splitting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Scale when magnitude drives the algorithm</a:t>
            </a:r>
          </a:p>
          <a:p>
            <a:pPr>
              <a:spcAft>
                <a:spcPts val="1000"/>
              </a:spcAft>
              <a:buChar char="•"/>
              <a:lnSpc>
                <a:spcPts val="2200"/>
              </a:lnSpc>
            </a:pPr>
            <a:r>
              <a:rPr sz="2000" b="0">
                <a:solidFill>
                  <a:srgbClr val="333333"/>
                </a:solidFill>
                <a:latin typeface="Calibri"/>
              </a:rPr>
              <a:t>Match encoding to cardinality and ordinality</a:t>
            </a:r>
          </a:p>
          <a:p>
            <a:pPr>
              <a:spcAft>
                <a:spcPts val="1000"/>
              </a:spcAft>
              <a:buChar char="•"/>
              <a:lnSpc>
                <a:spcPts val="2200"/>
              </a:lnSpc>
            </a:pPr>
            <a:r>
              <a:rPr sz="2000" b="0">
                <a:solidFill>
                  <a:srgbClr val="333333"/>
                </a:solidFill>
                <a:latin typeface="Calibri"/>
              </a:rPr>
              <a:t>Guard target statistics against leakage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binning, feature engineering, and transforms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Explain equal-width versus frequency binning, construct ratio and interaction features</a:t>
            </a:r>
          </a:p>
          <a:p>
            <a:pPr>
              <a:spcAft>
                <a:spcPts val="1000"/>
              </a:spcAft>
              <a:buChar char="•"/>
              <a:lnSpc>
                <a:spcPts val="2200"/>
              </a:lnSpc>
            </a:pPr>
            <a:r>
              <a:rPr sz="2000" b="0">
                <a:solidFill>
                  <a:srgbClr val="333333"/>
                </a:solidFill>
                <a:latin typeface="Calibri"/>
              </a:rPr>
              <a:t>Choose log or polynomial expansions when skew or nonlinearity demands them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Binning numerical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Binning groups continuous values into intervals</a:t>
            </a:r>
          </a:p>
          <a:p>
            <a:pPr>
              <a:spcAft>
                <a:spcPts val="1000"/>
              </a:spcAft>
              <a:buChar char="•"/>
              <a:lnSpc>
                <a:spcPts val="2200"/>
              </a:lnSpc>
            </a:pPr>
            <a:r>
              <a:rPr sz="2000" b="0">
                <a:solidFill>
                  <a:srgbClr val="333333"/>
                </a:solidFill>
                <a:latin typeface="Calibri"/>
              </a:rPr>
              <a:t>Example 5.51 uses equal-width age bins</a:t>
            </a:r>
          </a:p>
          <a:p>
            <a:pPr>
              <a:spcAft>
                <a:spcPts val="1000"/>
              </a:spcAft>
              <a:buChar char="•"/>
              <a:lnSpc>
                <a:spcPts val="2200"/>
              </a:lnSpc>
            </a:pPr>
            <a:r>
              <a:rPr sz="2000" b="0">
                <a:solidFill>
                  <a:srgbClr val="333333"/>
                </a:solidFill>
                <a:latin typeface="Calibri"/>
              </a:rPr>
              <a:t>Binning reduces noise and handles nonlinear effects but loses granularity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Adding new features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5.53 adds a squared term</a:t>
            </a:r>
          </a:p>
          <a:p>
            <a:pPr>
              <a:spcAft>
                <a:spcPts val="1000"/>
              </a:spcAft>
              <a:buChar char="•"/>
              <a:lnSpc>
                <a:spcPts val="2200"/>
              </a:lnSpc>
            </a:pPr>
            <a:r>
              <a:rPr sz="2000" b="0">
                <a:solidFill>
                  <a:srgbClr val="333333"/>
                </a:solidFill>
                <a:latin typeface="Calibri"/>
              </a:rPr>
              <a:t>Domain ratios often outperform raw stacks of columns</a:t>
            </a:r>
          </a:p>
          <a:p>
            <a:pPr>
              <a:spcAft>
                <a:spcPts val="1000"/>
              </a:spcAft>
              <a:buChar char="•"/>
              <a:lnSpc>
                <a:spcPts val="2200"/>
              </a:lnSpc>
            </a:pPr>
            <a:r>
              <a:rPr sz="2000" b="0">
                <a:solidFill>
                  <a:srgbClr val="333333"/>
                </a:solidFill>
                <a:latin typeface="Calibri"/>
              </a:rPr>
              <a:t>Avoid generating features that duplicate identifiers or leak targets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5.55 — Engineer price per square foot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5.55 — hands-on module</a:t>
            </a:r>
          </a:p>
          <a:p>
            <a:pPr>
              <a:spcAft>
                <a:spcPts val="1000"/>
              </a:spcAft>
              <a:buChar char="•"/>
              <a:lnSpc>
                <a:spcPts val="2200"/>
              </a:lnSpc>
            </a:pPr>
            <a:r>
              <a:rPr sz="2000" b="0">
                <a:solidFill>
                  <a:srgbClr val="333333"/>
                </a:solidFill>
                <a:latin typeface="Calibri"/>
              </a:rPr>
              <a:t>The classic ratio feature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`modules/chapter5/example55/`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Dimensionality reduction and selection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High-dimensional sparse tables benefit from principal components</a:t>
            </a:r>
          </a:p>
          <a:p>
            <a:pPr>
              <a:spcAft>
                <a:spcPts val="1000"/>
              </a:spcAft>
              <a:buChar char="•"/>
              <a:lnSpc>
                <a:spcPts val="2200"/>
              </a:lnSpc>
            </a:pPr>
            <a:r>
              <a:rPr sz="2000" b="0">
                <a:solidFill>
                  <a:srgbClr val="333333"/>
                </a:solidFill>
                <a:latin typeface="Calibri"/>
              </a:rPr>
              <a:t>Selection reduces overfitting and training time</a:t>
            </a:r>
          </a:p>
          <a:p>
            <a:pPr>
              <a:spcAft>
                <a:spcPts val="1000"/>
              </a:spcAft>
              <a:buChar char="•"/>
              <a:lnSpc>
                <a:spcPts val="2200"/>
              </a:lnSpc>
            </a:pPr>
            <a:r>
              <a:rPr sz="2000" b="0">
                <a:solidFill>
                  <a:srgbClr val="333333"/>
                </a:solidFill>
                <a:latin typeface="Calibri"/>
              </a:rPr>
              <a:t>Keep interpretability requirements in mind for regulated domains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Log and polynomial transforms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Log transforms compress right tails, Example 5.26 on income</a:t>
            </a:r>
          </a:p>
          <a:p>
            <a:pPr>
              <a:spcAft>
                <a:spcPts val="1000"/>
              </a:spcAft>
              <a:buChar char="•"/>
              <a:lnSpc>
                <a:spcPts val="2200"/>
              </a:lnSpc>
            </a:pPr>
            <a:r>
              <a:rPr sz="2000" b="0">
                <a:solidFill>
                  <a:srgbClr val="333333"/>
                </a:solidFill>
                <a:latin typeface="Calibri"/>
              </a:rPr>
              <a:t>Polynomial expansions, Example 5.56, let linear models capture curvature</a:t>
            </a:r>
          </a:p>
          <a:p>
            <a:pPr>
              <a:spcAft>
                <a:spcPts val="1000"/>
              </a:spcAft>
              <a:buChar char="•"/>
              <a:lnSpc>
                <a:spcPts val="2200"/>
              </a:lnSpc>
            </a:pPr>
            <a:r>
              <a:rPr sz="2000" b="0">
                <a:solidFill>
                  <a:srgbClr val="333333"/>
                </a:solidFill>
                <a:latin typeface="Calibri"/>
              </a:rPr>
              <a:t>Apply transforms before splitting or fit parameters on training folds only</a:t>
            </a:r>
          </a:p>
          <a:p>
            <a:pPr>
              <a:spcAft>
                <a:spcPts val="1000"/>
              </a:spcAft>
              <a:buChar char="•"/>
              <a:lnSpc>
                <a:spcPts val="2200"/>
              </a:lnSpc>
            </a:pPr>
            <a:r>
              <a:rPr sz="2000" b="0">
                <a:solidFill>
                  <a:srgbClr val="333333"/>
                </a:solidFill>
                <a:latin typeface="Calibri"/>
              </a:rPr>
              <a:t>Inverse transforms may be needed for interpretation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Engineering encodes domain knowledge</a:t>
            </a:r>
          </a:p>
          <a:p>
            <a:pPr>
              <a:spcAft>
                <a:spcPts val="1000"/>
              </a:spcAft>
              <a:buChar char="•"/>
              <a:lnSpc>
                <a:spcPts val="2200"/>
              </a:lnSpc>
            </a:pPr>
            <a:r>
              <a:rPr sz="2000" b="0">
                <a:solidFill>
                  <a:srgbClr val="333333"/>
                </a:solidFill>
                <a:latin typeface="Calibri"/>
              </a:rPr>
              <a:t>Binning and transforms trade resolution for stability</a:t>
            </a:r>
          </a:p>
          <a:p>
            <a:pPr>
              <a:spcAft>
                <a:spcPts val="1000"/>
              </a:spcAft>
              <a:buChar char="•"/>
              <a:lnSpc>
                <a:spcPts val="2200"/>
              </a:lnSpc>
            </a:pPr>
            <a:r>
              <a:rPr sz="2000" b="0">
                <a:solidFill>
                  <a:srgbClr val="333333"/>
                </a:solidFill>
                <a:latin typeface="Calibri"/>
              </a:rPr>
              <a:t>Document every derived column for reproducibility and explainability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Python tools that implement these steps at scale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Perform dropna, fillna</a:t>
            </a:r>
          </a:p>
          <a:p>
            <a:pPr>
              <a:spcAft>
                <a:spcPts val="1000"/>
              </a:spcAft>
              <a:buChar char="•"/>
              <a:lnSpc>
                <a:spcPts val="2200"/>
              </a:lnSpc>
            </a:pPr>
            <a:r>
              <a:rPr sz="2000" b="0">
                <a:solidFill>
                  <a:srgbClr val="333333"/>
                </a:solidFill>
                <a:latin typeface="Calibri"/>
              </a:rPr>
              <a:t>Drop_duplicates in pandas, apply StandardScaler and OneHotEncoder from scikit-learn</a:t>
            </a:r>
          </a:p>
          <a:p>
            <a:pPr>
              <a:spcAft>
                <a:spcPts val="1000"/>
              </a:spcAft>
              <a:buChar char="•"/>
              <a:lnSpc>
                <a:spcPts val="2200"/>
              </a:lnSpc>
            </a:pPr>
            <a:r>
              <a:rPr sz="2000" b="0">
                <a:solidFill>
                  <a:srgbClr val="333333"/>
                </a:solidFill>
                <a:latin typeface="Calibri"/>
              </a:rPr>
              <a:t>Outline an end-to-end cleaning walkthrough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pandas for cleaning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Pandas is the default toolkit for tabular cleaning</a:t>
            </a:r>
          </a:p>
          <a:p>
            <a:pPr>
              <a:spcAft>
                <a:spcPts val="1000"/>
              </a:spcAft>
              <a:buChar char="•"/>
              <a:lnSpc>
                <a:spcPts val="2200"/>
              </a:lnSpc>
            </a:pPr>
            <a:r>
              <a:rPr sz="2000" b="0">
                <a:solidFill>
                  <a:srgbClr val="333333"/>
                </a:solidFill>
                <a:latin typeface="Calibri"/>
              </a:rPr>
              <a:t>Example 5.57 shows dropna and drop_duplicates in one script</a:t>
            </a:r>
          </a:p>
          <a:p>
            <a:pPr>
              <a:spcAft>
                <a:spcPts val="1000"/>
              </a:spcAft>
              <a:buChar char="•"/>
              <a:lnSpc>
                <a:spcPts val="2200"/>
              </a:lnSpc>
            </a:pPr>
            <a:r>
              <a:rPr sz="2000" b="0">
                <a:solidFill>
                  <a:srgbClr val="333333"/>
                </a:solidFill>
                <a:latin typeface="Calibri"/>
              </a:rPr>
              <a:t>Example 5.59 walks an end-to-end cleaning template from raw extract to model-ready frame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5.57 — Pandas dropna and drop duplicates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5.57 — hands-on module</a:t>
            </a:r>
          </a:p>
          <a:p>
            <a:pPr>
              <a:spcAft>
                <a:spcPts val="1000"/>
              </a:spcAft>
              <a:buChar char="•"/>
              <a:lnSpc>
                <a:spcPts val="2200"/>
              </a:lnSpc>
            </a:pPr>
            <a:r>
              <a:rPr sz="2000" b="0">
                <a:solidFill>
                  <a:srgbClr val="333333"/>
                </a:solidFill>
                <a:latin typeface="Calibri"/>
              </a:rPr>
              <a:t>The minimal cleaning API surface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`modules/chapter5/example57/`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5.57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import pandas as pd</a:t>
            </a:r>
          </a:p>
          <a:p>
            <a:pPr>
              <a:lnSpc>
                <a:spcPts val="2200"/>
              </a:lnSpc>
              <a:spcAft>
                <a:spcPts val="400"/>
              </a:spcAft>
            </a:pPr>
            <a:r>
              <a:rPr sz="2000" b="0">
                <a:solidFill>
                  <a:srgbClr val="333333"/>
                </a:solidFill>
                <a:latin typeface="Consolas"/>
              </a:rPr>
              <a:t>df = pd.read_csv("data.csv")</a:t>
            </a:r>
          </a:p>
          <a:p>
            <a:pPr>
              <a:lnSpc>
                <a:spcPts val="2200"/>
              </a:lnSpc>
              <a:spcAft>
                <a:spcPts val="400"/>
              </a:spcAft>
            </a:pPr>
            <a:r>
              <a:rPr sz="2000" b="0">
                <a:solidFill>
                  <a:srgbClr val="333333"/>
                </a:solidFill>
                <a:latin typeface="Consolas"/>
              </a:rPr>
              <a:t>df = df.dropna()  # Removing rows with missing values</a:t>
            </a:r>
          </a:p>
          <a:p>
            <a:pPr>
              <a:lnSpc>
                <a:spcPts val="2200"/>
              </a:lnSpc>
              <a:spcAft>
                <a:spcPts val="400"/>
              </a:spcAft>
            </a:pPr>
            <a:r>
              <a:rPr sz="2000" b="0">
                <a:solidFill>
                  <a:srgbClr val="333333"/>
                </a:solidFill>
                <a:latin typeface="Consolas"/>
              </a:rPr>
              <a:t>df = df.drop_duplicates()  # Removing duplicate rows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scikit-learn for preprocessing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Scikit-learn provides fit-transform estimators</a:t>
            </a:r>
          </a:p>
          <a:p>
            <a:pPr>
              <a:spcAft>
                <a:spcPts val="1000"/>
              </a:spcAft>
              <a:buChar char="•"/>
              <a:lnSpc>
                <a:spcPts val="2200"/>
              </a:lnSpc>
            </a:pPr>
            <a:r>
              <a:rPr sz="2000" b="0">
                <a:solidFill>
                  <a:srgbClr val="333333"/>
                </a:solidFill>
                <a:latin typeface="Calibri"/>
              </a:rPr>
              <a:t>Example 5.60 standardizes age and salary; Example 5.61 one-hot encodes gender</a:t>
            </a:r>
          </a:p>
          <a:p>
            <a:pPr>
              <a:spcAft>
                <a:spcPts val="1000"/>
              </a:spcAft>
              <a:buChar char="•"/>
              <a:lnSpc>
                <a:spcPts val="2200"/>
              </a:lnSpc>
            </a:pPr>
            <a:r>
              <a:rPr sz="2000" b="0">
                <a:solidFill>
                  <a:srgbClr val="333333"/>
                </a:solidFill>
                <a:latin typeface="Calibri"/>
              </a:rPr>
              <a:t>Fit on training data only to prevent leakage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5.59 — Pandas end-to-end cleaning walkthrough</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5.59 — hands-on module</a:t>
            </a:r>
          </a:p>
          <a:p>
            <a:pPr>
              <a:spcAft>
                <a:spcPts val="1000"/>
              </a:spcAft>
              <a:buChar char="•"/>
              <a:lnSpc>
                <a:spcPts val="2200"/>
              </a:lnSpc>
            </a:pPr>
            <a:r>
              <a:rPr sz="2000" b="0">
                <a:solidFill>
                  <a:srgbClr val="333333"/>
                </a:solidFill>
                <a:latin typeface="Calibri"/>
              </a:rPr>
              <a:t>Example 5.59 ties issues to fixes in one narrative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`modules/chapter5/example59/`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5.59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import pandas as pd</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Load data</a:t>
            </a:r>
          </a:p>
          <a:p>
            <a:pPr>
              <a:lnSpc>
                <a:spcPts val="2200"/>
              </a:lnSpc>
              <a:spcAft>
                <a:spcPts val="400"/>
              </a:spcAft>
            </a:pPr>
            <a:r>
              <a:rPr sz="2000" b="0">
                <a:solidFill>
                  <a:srgbClr val="333333"/>
                </a:solidFill>
                <a:latin typeface="Consolas"/>
              </a:rPr>
              <a:t>df = pd.read_csv("customers.csv")</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1. Handling Missing Data</a:t>
            </a:r>
          </a:p>
          <a:p>
            <a:pPr>
              <a:lnSpc>
                <a:spcPts val="2200"/>
              </a:lnSpc>
              <a:spcAft>
                <a:spcPts val="400"/>
              </a:spcAft>
            </a:pPr>
            <a:r>
              <a:rPr sz="2000" b="0">
                <a:solidFill>
                  <a:srgbClr val="333333"/>
                </a:solidFill>
                <a:latin typeface="Consolas"/>
              </a:rPr>
              <a:t>df['age'] = df['age'].fillna(df['age'].mean())</a:t>
            </a:r>
          </a:p>
          <a:p>
            <a:pPr>
              <a:lnSpc>
                <a:spcPts val="2200"/>
              </a:lnSpc>
              <a:spcAft>
                <a:spcPts val="400"/>
              </a:spcAft>
            </a:pPr>
            <a:r>
              <a:rPr sz="2000" b="0">
                <a:solidFill>
                  <a:srgbClr val="333333"/>
                </a:solidFill>
                <a:latin typeface="Consolas"/>
              </a:rPr>
              <a:t>df = df.dropna(subset=['name', 'email'])</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2. Removing Duplicates</a:t>
            </a:r>
          </a:p>
          <a:p>
            <a:pPr>
              <a:lnSpc>
                <a:spcPts val="2200"/>
              </a:lnSpc>
              <a:spcAft>
                <a:spcPts val="400"/>
              </a:spcAft>
            </a:pPr>
            <a:r>
              <a:rPr sz="2000" b="0">
                <a:solidFill>
                  <a:srgbClr val="333333"/>
                </a:solidFill>
                <a:latin typeface="Consolas"/>
              </a:rPr>
              <a:t>df = df.drop_duplicates(subset=['email'])</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3. Standardizing Column Formats</a:t>
            </a:r>
          </a:p>
          <a:p>
            <a:pPr>
              <a:lnSpc>
                <a:spcPts val="2200"/>
              </a:lnSpc>
              <a:spcAft>
                <a:spcPts val="400"/>
              </a:spcAft>
            </a:pPr>
            <a:r>
              <a:rPr sz="2000" b="0">
                <a:solidFill>
                  <a:srgbClr val="333333"/>
                </a:solidFill>
                <a:latin typeface="Consolas"/>
              </a:rPr>
              <a:t>df['name'] = df['name'].str.title()</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4. Encoding Categorical Data</a:t>
            </a:r>
          </a:p>
          <a:p>
            <a:pPr>
              <a:lnSpc>
                <a:spcPts val="2200"/>
              </a:lnSpc>
              <a:spcAft>
                <a:spcPts val="4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When to use which layer</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Use pandas for exploratory fixes and bespoke string parsing</a:t>
            </a:r>
          </a:p>
          <a:p>
            <a:pPr>
              <a:spcAft>
                <a:spcPts val="1000"/>
              </a:spcAft>
              <a:buChar char="•"/>
              <a:lnSpc>
                <a:spcPts val="2200"/>
              </a:lnSpc>
            </a:pPr>
            <a:r>
              <a:rPr sz="2000" b="0">
                <a:solidFill>
                  <a:srgbClr val="333333"/>
                </a:solidFill>
                <a:latin typeface="Calibri"/>
              </a:rPr>
              <a:t>Use sklearn transformers when the same preprocessing must repeat across folds and</a:t>
            </a:r>
          </a:p>
          <a:p>
            <a:pPr>
              <a:spcAft>
                <a:spcPts val="1000"/>
              </a:spcAft>
              <a:buChar char="•"/>
              <a:lnSpc>
                <a:spcPts val="2200"/>
              </a:lnSpc>
            </a:pPr>
            <a:r>
              <a:rPr sz="2000" b="0">
                <a:solidFill>
                  <a:srgbClr val="333333"/>
                </a:solidFill>
                <a:latin typeface="Calibri"/>
              </a:rPr>
              <a:t>Keep business rules and unit conversions visible in notebooks or pipeline comments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Pandas repairs tables; sklearn standardizes repeatable transforms</a:t>
            </a:r>
          </a:p>
          <a:p>
            <a:pPr>
              <a:spcAft>
                <a:spcPts val="1000"/>
              </a:spcAft>
              <a:buChar char="•"/>
              <a:lnSpc>
                <a:spcPts val="2200"/>
              </a:lnSpc>
            </a:pPr>
            <a:r>
              <a:rPr sz="2000" b="0">
                <a:solidFill>
                  <a:srgbClr val="333333"/>
                </a:solidFill>
                <a:latin typeface="Calibri"/>
              </a:rPr>
              <a:t>Fit transformers on training splits</a:t>
            </a:r>
          </a:p>
          <a:p>
            <a:pPr>
              <a:spcAft>
                <a:spcPts val="1000"/>
              </a:spcAft>
              <a:buChar char="•"/>
              <a:lnSpc>
                <a:spcPts val="2200"/>
              </a:lnSpc>
            </a:pPr>
            <a:r>
              <a:rPr sz="2000" b="0">
                <a:solidFill>
                  <a:srgbClr val="333333"/>
                </a:solidFill>
                <a:latin typeface="Calibri"/>
              </a:rPr>
              <a:t>Example modules provide runnable templates for this chapter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pipelines, automation, visualization, and a brief R contrast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Explain why pipelines prevent leakage</a:t>
            </a:r>
          </a:p>
          <a:p>
            <a:pPr>
              <a:spcAft>
                <a:spcPts val="1000"/>
              </a:spcAft>
              <a:buChar char="•"/>
              <a:lnSpc>
                <a:spcPts val="2200"/>
              </a:lnSpc>
            </a:pPr>
            <a:r>
              <a:rPr sz="2000" b="0">
                <a:solidFill>
                  <a:srgbClr val="333333"/>
                </a:solidFill>
                <a:latin typeface="Calibri"/>
              </a:rPr>
              <a:t>Contrast dplyr/tidyr with pandas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 dplyr and tidyr</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 R workflows</a:t>
            </a:r>
          </a:p>
          <a:p>
            <a:pPr>
              <a:spcAft>
                <a:spcPts val="1000"/>
              </a:spcAft>
              <a:buChar char="•"/>
              <a:lnSpc>
                <a:spcPts val="2200"/>
              </a:lnSpc>
            </a:pPr>
            <a:r>
              <a:rPr sz="2000" b="0">
                <a:solidFill>
                  <a:srgbClr val="333333"/>
                </a:solidFill>
                <a:latin typeface="Calibri"/>
              </a:rPr>
              <a:t>Example 5.58 shows filter and select patterns analogous to pandas</a:t>
            </a:r>
          </a:p>
          <a:p>
            <a:pPr>
              <a:spcAft>
                <a:spcPts val="1000"/>
              </a:spcAft>
              <a:buChar char="•"/>
              <a:lnSpc>
                <a:spcPts val="2200"/>
              </a:lnSpc>
            </a:pPr>
            <a:r>
              <a:rPr sz="2000" b="0">
                <a:solidFill>
                  <a:srgbClr val="333333"/>
                </a:solidFill>
                <a:latin typeface="Calibri"/>
              </a:rPr>
              <a:t>Teams standardized on Python may still encounter R extracts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sklearn pipelines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Pipelines chain imputers, scalers, encoders</a:t>
            </a:r>
          </a:p>
          <a:p>
            <a:pPr>
              <a:spcAft>
                <a:spcPts val="1000"/>
              </a:spcAft>
              <a:buChar char="•"/>
              <a:lnSpc>
                <a:spcPts val="2200"/>
              </a:lnSpc>
            </a:pPr>
            <a:r>
              <a:rPr sz="2000" b="0">
                <a:solidFill>
                  <a:srgbClr val="333333"/>
                </a:solidFill>
                <a:latin typeface="Calibri"/>
              </a:rPr>
              <a:t>This prevents statistics computed on validation data from leaking into features</a:t>
            </a:r>
          </a:p>
          <a:p>
            <a:pPr>
              <a:spcAft>
                <a:spcPts val="1000"/>
              </a:spcAft>
              <a:buChar char="•"/>
              <a:lnSpc>
                <a:spcPts val="2200"/>
              </a:lnSpc>
            </a:pPr>
            <a:r>
              <a:rPr sz="2000" b="0">
                <a:solidFill>
                  <a:srgbClr val="333333"/>
                </a:solidFill>
                <a:latin typeface="Calibri"/>
              </a:rPr>
              <a:t>Serialize pipelines with the model for consistent deployment preprocessing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Automation: Featuretools and AutoML</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Featuretools performs deep feature synthesis on relational tables</a:t>
            </a:r>
          </a:p>
          <a:p>
            <a:pPr>
              <a:spcAft>
                <a:spcPts val="1000"/>
              </a:spcAft>
              <a:buChar char="•"/>
              <a:lnSpc>
                <a:spcPts val="2200"/>
              </a:lnSpc>
            </a:pPr>
            <a:r>
              <a:rPr sz="2000" b="0">
                <a:solidFill>
                  <a:srgbClr val="333333"/>
                </a:solidFill>
                <a:latin typeface="Calibri"/>
              </a:rPr>
              <a:t>AutoML platforms wrap search over imputers, encoders, and model families</a:t>
            </a:r>
          </a:p>
          <a:p>
            <a:pPr>
              <a:spcAft>
                <a:spcPts val="1000"/>
              </a:spcAft>
              <a:buChar char="•"/>
              <a:lnSpc>
                <a:spcPts val="2200"/>
              </a:lnSpc>
            </a:pPr>
            <a:r>
              <a:rPr sz="2000" b="0">
                <a:solidFill>
                  <a:srgbClr val="333333"/>
                </a:solidFill>
                <a:latin typeface="Calibri"/>
              </a:rPr>
              <a:t>Automation accelerates baselines but still requires domain review to drop leaky 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5.74 — Deep feature synthesis on transactions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5.74 — hands-on module</a:t>
            </a:r>
          </a:p>
          <a:p>
            <a:pPr>
              <a:spcAft>
                <a:spcPts val="1000"/>
              </a:spcAft>
              <a:buChar char="•"/>
              <a:lnSpc>
                <a:spcPts val="2200"/>
              </a:lnSpc>
            </a:pPr>
            <a:r>
              <a:rPr sz="2000" b="0">
                <a:solidFill>
                  <a:srgbClr val="333333"/>
                </a:solidFill>
                <a:latin typeface="Calibri"/>
              </a:rPr>
              <a:t>Example 5.74 shows automated aggregates across related tables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`modules/chapter5/example74/`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Visualization for cleaning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Box plots expose outlier tails</a:t>
            </a:r>
          </a:p>
          <a:p>
            <a:pPr>
              <a:spcAft>
                <a:spcPts val="1000"/>
              </a:spcAft>
              <a:buChar char="•"/>
              <a:lnSpc>
                <a:spcPts val="2200"/>
              </a:lnSpc>
            </a:pPr>
            <a:r>
              <a:rPr sz="2000" b="0">
                <a:solidFill>
                  <a:srgbClr val="333333"/>
                </a:solidFill>
                <a:latin typeface="Calibri"/>
              </a:rPr>
              <a:t>Visual checks complement rule-based flags from earlier parts and align with exploratory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Pipelines encode reproducible preprocessing</a:t>
            </a:r>
          </a:p>
          <a:p>
            <a:pPr>
              <a:spcAft>
                <a:spcPts val="1000"/>
              </a:spcAft>
              <a:buChar char="•"/>
              <a:lnSpc>
                <a:spcPts val="2200"/>
              </a:lnSpc>
            </a:pPr>
            <a:r>
              <a:rPr sz="2000" b="0">
                <a:solidFill>
                  <a:srgbClr val="333333"/>
                </a:solidFill>
                <a:latin typeface="Calibri"/>
              </a:rPr>
              <a:t>Automation proposes features; humans curate them</a:t>
            </a:r>
          </a:p>
          <a:p>
            <a:pPr>
              <a:spcAft>
                <a:spcPts val="1000"/>
              </a:spcAft>
              <a:buChar char="•"/>
              <a:lnSpc>
                <a:spcPts val="2200"/>
              </a:lnSpc>
            </a:pPr>
            <a:r>
              <a:rPr sz="2000" b="0">
                <a:solidFill>
                  <a:srgbClr val="333333"/>
                </a:solidFill>
                <a:latin typeface="Calibri"/>
              </a:rPr>
              <a:t>Visual diagnostics catch defects rules miss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challenges, best practices, and governance habits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Explain why accuracy misleads on imbalanced data, describe currency and unit mixing risks</a:t>
            </a:r>
          </a:p>
          <a:p>
            <a:pPr>
              <a:spcAft>
                <a:spcPts val="1000"/>
              </a:spcAft>
              <a:buChar char="•"/>
              <a:lnSpc>
                <a:spcPts val="2200"/>
              </a:lnSpc>
            </a:pPr>
            <a:r>
              <a:rPr sz="2000" b="0">
                <a:solidFill>
                  <a:srgbClr val="333333"/>
                </a:solidFill>
                <a:latin typeface="Calibri"/>
              </a:rPr>
              <a:t>List documentation, validation</a:t>
            </a:r>
          </a:p>
          <a:p>
            <a:pPr>
              <a:spcAft>
                <a:spcPts val="1000"/>
              </a:spcAft>
              <a:buChar char="•"/>
              <a:lnSpc>
                <a:spcPts val="2200"/>
              </a:lnSpc>
            </a:pPr>
            <a:r>
              <a:rPr sz="2000" b="0">
                <a:solidFill>
                  <a:srgbClr val="333333"/>
                </a:solidFill>
                <a:latin typeface="Calibri"/>
              </a:rPr>
              <a:t>Version-control habits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Recurring challenges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Missing data mechanisms complicate imputation choices</a:t>
            </a:r>
          </a:p>
          <a:p>
            <a:pPr>
              <a:spcAft>
                <a:spcPts val="1000"/>
              </a:spcAft>
              <a:buChar char="•"/>
              <a:lnSpc>
                <a:spcPts val="2200"/>
              </a:lnSpc>
            </a:pPr>
            <a:r>
              <a:rPr sz="2000" b="0">
                <a:solidFill>
                  <a:srgbClr val="333333"/>
                </a:solidFill>
                <a:latin typeface="Calibri"/>
              </a:rPr>
              <a:t>Inconsistent cross-source formats consume analyst time</a:t>
            </a:r>
          </a:p>
          <a:p>
            <a:pPr>
              <a:spcAft>
                <a:spcPts val="1000"/>
              </a:spcAft>
              <a:buChar char="•"/>
              <a:lnSpc>
                <a:spcPts val="2200"/>
              </a:lnSpc>
            </a:pPr>
            <a:r>
              <a:rPr sz="2000" b="0">
                <a:solidFill>
                  <a:srgbClr val="333333"/>
                </a:solidFill>
                <a:latin typeface="Calibri"/>
              </a:rPr>
              <a:t>Outliers mix errors with rare truth</a:t>
            </a:r>
          </a:p>
          <a:p>
            <a:pPr>
              <a:spcAft>
                <a:spcPts val="1000"/>
              </a:spcAft>
              <a:buChar char="•"/>
              <a:lnSpc>
                <a:spcPts val="2200"/>
              </a:lnSpc>
            </a:pPr>
            <a:r>
              <a:rPr sz="2000" b="0">
                <a:solidFill>
                  <a:srgbClr val="333333"/>
                </a:solidFill>
                <a:latin typeface="Calibri"/>
              </a:rPr>
              <a:t>Imbalance steers models toward majority classes</a:t>
            </a:r>
          </a:p>
          <a:p>
            <a:pPr>
              <a:spcAft>
                <a:spcPts val="1000"/>
              </a:spcAft>
              <a:buChar char="•"/>
              <a:lnSpc>
                <a:spcPts val="2200"/>
              </a:lnSpc>
            </a:pPr>
            <a:r>
              <a:rPr sz="2000" b="0">
                <a:solidFill>
                  <a:srgbClr val="333333"/>
                </a:solidFill>
                <a:latin typeface="Calibri"/>
              </a:rPr>
              <a:t>Duplicates inflate counts</a:t>
            </a:r>
          </a:p>
          <a:p>
            <a:pPr>
              <a:spcAft>
                <a:spcPts val="1000"/>
              </a:spcAft>
              <a:buChar char="•"/>
              <a:lnSpc>
                <a:spcPts val="2200"/>
              </a:lnSpc>
            </a:pPr>
            <a:r>
              <a:rPr sz="2000" b="0">
                <a:solidFill>
                  <a:srgbClr val="333333"/>
                </a:solidFill>
                <a:latin typeface="Calibri"/>
              </a:rPr>
              <a:t>Transformations can leak target information if fit globally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5.62 — Rare fraud class distorts accuracy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5.62 — hands-on module</a:t>
            </a:r>
          </a:p>
          <a:p>
            <a:pPr>
              <a:spcAft>
                <a:spcPts val="1000"/>
              </a:spcAft>
              <a:buChar char="•"/>
              <a:lnSpc>
                <a:spcPts val="2200"/>
              </a:lnSpc>
            </a:pPr>
            <a:r>
              <a:rPr sz="2000" b="0">
                <a:solidFill>
                  <a:srgbClr val="333333"/>
                </a:solidFill>
                <a:latin typeface="Calibri"/>
              </a:rPr>
              <a:t>Example 5.62 shows fraud at a tiny fraction of events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`modules/chapter5/example62/`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5.63 — Convert currencies before modeling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5.63 — hands-on module</a:t>
            </a:r>
          </a:p>
          <a:p>
            <a:pPr>
              <a:spcAft>
                <a:spcPts val="1000"/>
              </a:spcAft>
              <a:buChar char="•"/>
              <a:lnSpc>
                <a:spcPts val="2200"/>
              </a:lnSpc>
            </a:pPr>
            <a:r>
              <a:rPr sz="2000" b="0">
                <a:solidFill>
                  <a:srgbClr val="333333"/>
                </a:solidFill>
                <a:latin typeface="Calibri"/>
              </a:rPr>
              <a:t>Example 5.63 reminds teams to harmonize currencies and units before comparing amounts</a:t>
            </a:r>
          </a:p>
          <a:p>
            <a:pPr>
              <a:spcAft>
                <a:spcPts val="1000"/>
              </a:spcAft>
              <a:buChar char="•"/>
              <a:lnSpc>
                <a:spcPts val="2200"/>
              </a:lnSpc>
            </a:pPr>
            <a:r>
              <a:rPr sz="2000" b="0">
                <a:solidFill>
                  <a:srgbClr val="333333"/>
                </a:solidFill>
                <a:latin typeface="Calibri"/>
              </a:rPr>
              <a:t>Mixed units silently rank features by exchange noise instead of behavior</a:t>
            </a:r>
          </a:p>
          <a:p>
            <a:pPr>
              <a:spcAft>
                <a:spcPts val="1000"/>
              </a:spcAft>
              <a:buChar char="•"/>
              <a:lnSpc>
                <a:spcPts val="2200"/>
              </a:lnSpc>
            </a:pPr>
            <a:r>
              <a:rPr sz="2000" b="0">
                <a:solidFill>
                  <a:srgbClr val="333333"/>
                </a:solidFill>
                <a:latin typeface="Calibri"/>
              </a:rPr>
              <a:t>Standardize early and record conversion tables</a:t>
            </a:r>
          </a:p>
          <a:p>
            <a:pPr>
              <a:spcAft>
                <a:spcPts val="1000"/>
              </a:spcAft>
              <a:buChar char="•"/>
              <a:lnSpc>
                <a:spcPts val="2200"/>
              </a:lnSpc>
            </a:pPr>
            <a:r>
              <a:rPr sz="2000" b="0">
                <a:solidFill>
                  <a:srgbClr val="333333"/>
                </a:solidFill>
                <a:latin typeface="Calibri"/>
              </a:rPr>
              <a:t>View files: `modules/chapter5/example63/`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Best practices overview</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Handle missing data with explicit mechanism assumptions</a:t>
            </a:r>
          </a:p>
          <a:p>
            <a:pPr>
              <a:spcAft>
                <a:spcPts val="1000"/>
              </a:spcAft>
              <a:buChar char="•"/>
              <a:lnSpc>
                <a:spcPts val="2200"/>
              </a:lnSpc>
            </a:pPr>
            <a:r>
              <a:rPr sz="2000" b="0">
                <a:solidFill>
                  <a:srgbClr val="333333"/>
                </a:solidFill>
                <a:latin typeface="Calibri"/>
              </a:rPr>
              <a:t>Profile data before and after each step</a:t>
            </a:r>
          </a:p>
          <a:p>
            <a:pPr>
              <a:spcAft>
                <a:spcPts val="1000"/>
              </a:spcAft>
              <a:buChar char="•"/>
              <a:lnSpc>
                <a:spcPts val="2200"/>
              </a:lnSpc>
            </a:pPr>
            <a:r>
              <a:rPr sz="2000" b="0">
                <a:solidFill>
                  <a:srgbClr val="333333"/>
                </a:solidFill>
                <a:latin typeface="Calibri"/>
              </a:rPr>
              <a:t>Document parsing rules, imputation choices, and outlier policies</a:t>
            </a:r>
          </a:p>
          <a:p>
            <a:pPr>
              <a:spcAft>
                <a:spcPts val="1000"/>
              </a:spcAft>
              <a:buChar char="•"/>
              <a:lnSpc>
                <a:spcPts val="2200"/>
              </a:lnSpc>
            </a:pPr>
            <a:r>
              <a:rPr sz="2000" b="0">
                <a:solidFill>
                  <a:srgbClr val="333333"/>
                </a:solidFill>
                <a:latin typeface="Calibri"/>
              </a:rPr>
              <a:t>Separate train, validation, and test before fitting transformers</a:t>
            </a:r>
          </a:p>
          <a:p>
            <a:pPr>
              <a:spcAft>
                <a:spcPts val="1000"/>
              </a:spcAft>
              <a:buChar char="•"/>
              <a:lnSpc>
                <a:spcPts val="2200"/>
              </a:lnSpc>
            </a:pPr>
            <a:r>
              <a:rPr sz="2000" b="0">
                <a:solidFill>
                  <a:srgbClr val="333333"/>
                </a:solidFill>
                <a:latin typeface="Calibri"/>
              </a:rPr>
              <a:t>Use version control for datasets and preprocessing code</a:t>
            </a:r>
          </a:p>
          <a:p>
            <a:pPr>
              <a:spcAft>
                <a:spcPts val="1000"/>
              </a:spcAft>
              <a:buChar char="•"/>
              <a:lnSpc>
                <a:spcPts val="2200"/>
              </a:lnSpc>
            </a:pPr>
            <a:r>
              <a:rPr sz="2000" b="0">
                <a:solidFill>
                  <a:srgbClr val="333333"/>
                </a:solidFill>
                <a:latin typeface="Calibri"/>
              </a:rPr>
              <a:t>Review features for leakage and fairness implications connected to Chapter 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Validation and reproducibility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Fit scalers, encoders, and imputers inside training folds</a:t>
            </a:r>
          </a:p>
          <a:p>
            <a:pPr>
              <a:spcAft>
                <a:spcPts val="1000"/>
              </a:spcAft>
              <a:buChar char="•"/>
              <a:lnSpc>
                <a:spcPts val="2200"/>
              </a:lnSpc>
            </a:pPr>
            <a:r>
              <a:rPr sz="2000" b="0">
                <a:solidFill>
                  <a:srgbClr val="333333"/>
                </a:solidFill>
                <a:latin typeface="Calibri"/>
              </a:rPr>
              <a:t>Store random seeds and library versions</a:t>
            </a:r>
          </a:p>
          <a:p>
            <a:pPr>
              <a:spcAft>
                <a:spcPts val="1000"/>
              </a:spcAft>
              <a:buChar char="•"/>
              <a:lnSpc>
                <a:spcPts val="2200"/>
              </a:lnSpc>
            </a:pPr>
            <a:r>
              <a:rPr sz="2000" b="0">
                <a:solidFill>
                  <a:srgbClr val="333333"/>
                </a:solidFill>
                <a:latin typeface="Calibri"/>
              </a:rPr>
              <a:t>Write preprocessing metadata alongside exported tables so another team can replay the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Challenges are expected, plan time for them</a:t>
            </a:r>
          </a:p>
          <a:p>
            <a:pPr>
              <a:spcAft>
                <a:spcPts val="1000"/>
              </a:spcAft>
              <a:buChar char="•"/>
              <a:lnSpc>
                <a:spcPts val="2200"/>
              </a:lnSpc>
            </a:pPr>
            <a:r>
              <a:rPr sz="2000" b="0">
                <a:solidFill>
                  <a:srgbClr val="333333"/>
                </a:solidFill>
                <a:latin typeface="Calibri"/>
              </a:rPr>
              <a:t>Metrics must match the defect, especially under imbalance</a:t>
            </a:r>
          </a:p>
          <a:p>
            <a:pPr>
              <a:spcAft>
                <a:spcPts val="1000"/>
              </a:spcAft>
              <a:buChar char="•"/>
              <a:lnSpc>
                <a:spcPts val="2200"/>
              </a:lnSpc>
            </a:pPr>
            <a:r>
              <a:rPr sz="2000" b="0">
                <a:solidFill>
                  <a:srgbClr val="333333"/>
                </a:solidFill>
                <a:latin typeface="Calibri"/>
              </a:rPr>
              <a:t>Documentation and leakage control are part of cleaning, not optional extras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retail and healthcare case studies plus hands-on module activities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Outline cleaning steps for an e-commerce segmentation table and a clinical outcomes table</a:t>
            </a:r>
          </a:p>
          <a:p>
            <a:pPr>
              <a:spcAft>
                <a:spcPts val="1000"/>
              </a:spcAft>
              <a:buChar char="•"/>
              <a:lnSpc>
                <a:spcPts val="2200"/>
              </a:lnSpc>
            </a:pPr>
            <a:r>
              <a:rPr sz="2000" b="0">
                <a:solidFill>
                  <a:srgbClr val="333333"/>
                </a:solidFill>
                <a:latin typeface="Calibri"/>
              </a:rPr>
              <a:t>Locate module labs for issue spotting and pandas repair templates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Retail: customer segmentation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An e-commerce firm segments customers by purchase behavior</a:t>
            </a:r>
          </a:p>
          <a:p>
            <a:pPr>
              <a:spcAft>
                <a:spcPts val="1000"/>
              </a:spcAft>
              <a:buChar char="•"/>
              <a:lnSpc>
                <a:spcPts val="2200"/>
              </a:lnSpc>
            </a:pPr>
            <a:r>
              <a:rPr sz="2000" b="0">
                <a:solidFill>
                  <a:srgbClr val="333333"/>
                </a:solidFill>
                <a:latin typeface="Calibri"/>
              </a:rPr>
              <a:t>Challenges include missing age and frequency fields, inconsistent product capitalization</a:t>
            </a:r>
          </a:p>
          <a:p>
            <a:pPr>
              <a:spcAft>
                <a:spcPts val="1000"/>
              </a:spcAft>
              <a:buChar char="•"/>
              <a:lnSpc>
                <a:spcPts val="2200"/>
              </a:lnSpc>
            </a:pPr>
            <a:r>
              <a:rPr sz="2000" b="0">
                <a:solidFill>
                  <a:srgbClr val="333333"/>
                </a:solidFill>
                <a:latin typeface="Calibri"/>
              </a:rPr>
              <a:t>Solutions: median or mode imputation, currency harmonization, text normalization</a:t>
            </a:r>
          </a:p>
          <a:p>
            <a:pPr>
              <a:spcAft>
                <a:spcPts val="1000"/>
              </a:spcAft>
              <a:buChar char="•"/>
              <a:lnSpc>
                <a:spcPts val="2200"/>
              </a:lnSpc>
            </a:pPr>
            <a:r>
              <a:rPr sz="2000" b="0">
                <a:solidFill>
                  <a:srgbClr val="333333"/>
                </a:solidFill>
                <a:latin typeface="Calibri"/>
              </a:rPr>
              <a:t>Cleaned data supports clustering and targeted campaigns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Healthcare: predicting disease outcomes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Clinical records combine age, history, labs, and outcomes</a:t>
            </a:r>
          </a:p>
          <a:p>
            <a:pPr>
              <a:spcAft>
                <a:spcPts val="1000"/>
              </a:spcAft>
              <a:buChar char="•"/>
              <a:lnSpc>
                <a:spcPts val="2200"/>
              </a:lnSpc>
            </a:pPr>
            <a:r>
              <a:rPr sz="2000" b="0">
                <a:solidFill>
                  <a:srgbClr val="333333"/>
                </a:solidFill>
                <a:latin typeface="Calibri"/>
              </a:rPr>
              <a:t>Missing labs, outlier vitals, and inconsistent smoker labels are common</a:t>
            </a:r>
          </a:p>
          <a:p>
            <a:pPr>
              <a:spcAft>
                <a:spcPts val="1000"/>
              </a:spcAft>
              <a:buChar char="•"/>
              <a:lnSpc>
                <a:spcPts val="2200"/>
              </a:lnSpc>
            </a:pPr>
            <a:r>
              <a:rPr sz="2000" b="0">
                <a:solidFill>
                  <a:srgbClr val="333333"/>
                </a:solidFill>
                <a:latin typeface="Calibri"/>
              </a:rPr>
              <a:t>Solutions: principled imputation, categorical standardization, IQR outlier review</a:t>
            </a:r>
          </a:p>
          <a:p>
            <a:pPr>
              <a:spcAft>
                <a:spcPts val="1000"/>
              </a:spcAft>
              <a:buChar char="•"/>
              <a:lnSpc>
                <a:spcPts val="2200"/>
              </a:lnSpc>
            </a:pPr>
            <a:r>
              <a:rPr sz="2000" b="0">
                <a:solidFill>
                  <a:srgbClr val="333333"/>
                </a:solidFill>
                <a:latin typeface="Calibri"/>
              </a:rPr>
              <a:t>Preprocessing improves allocative and diagnostic workflows when documented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5.64 — Retail purchase record schema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5.64 — hands-on module</a:t>
            </a:r>
          </a:p>
          <a:p>
            <a:pPr>
              <a:spcAft>
                <a:spcPts val="1000"/>
              </a:spcAft>
              <a:buChar char="•"/>
              <a:lnSpc>
                <a:spcPts val="2200"/>
              </a:lnSpc>
            </a:pPr>
            <a:r>
              <a:rPr sz="2000" b="0">
                <a:solidFill>
                  <a:srgbClr val="333333"/>
                </a:solidFill>
                <a:latin typeface="Calibri"/>
              </a:rPr>
              <a:t>Example 5.64 introduces a practice table with missing prices and duplicate transactions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`modules/chapter5/example64/`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5.65 — Guided pandas cleaning template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5.65 — hands-on module</a:t>
            </a:r>
          </a:p>
          <a:p>
            <a:pPr>
              <a:spcAft>
                <a:spcPts val="1000"/>
              </a:spcAft>
              <a:buChar char="•"/>
              <a:lnSpc>
                <a:spcPts val="2200"/>
              </a:lnSpc>
            </a:pPr>
            <a:r>
              <a:rPr sz="2000" b="0">
                <a:solidFill>
                  <a:srgbClr val="333333"/>
                </a:solidFill>
                <a:latin typeface="Calibri"/>
              </a:rPr>
              <a:t>Example 5.65 provides a guided repair script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`modules/chapter5/example65/`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5.65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import pandas as pd</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df = pd.read_csv("data.csv")</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df['price'] = df['price'].fillna(df['price'].mean())</a:t>
            </a:r>
          </a:p>
          <a:p>
            <a:pPr>
              <a:lnSpc>
                <a:spcPts val="2200"/>
              </a:lnSpc>
              <a:spcAft>
                <a:spcPts val="400"/>
              </a:spcAft>
            </a:pPr>
            <a:r>
              <a:rPr sz="2000" b="0">
                <a:solidFill>
                  <a:srgbClr val="333333"/>
                </a:solidFill>
                <a:latin typeface="Consolas"/>
              </a:rPr>
              <a:t>df.dropna(subset=['customer_id'], inplace=True)</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df.drop_duplicates(inplace=True)</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df['product'] = df['product'].str.lower()</a:t>
            </a:r>
          </a:p>
          <a:p>
            <a:pPr>
              <a:lnSpc>
                <a:spcPts val="2200"/>
              </a:lnSpc>
              <a:spcAft>
                <a:spcPts val="400"/>
              </a:spcAft>
            </a:pPr>
            <a:r>
              <a:rPr sz="2000" b="0">
                <a:solidFill>
                  <a:srgbClr val="333333"/>
                </a:solidFill>
                <a:latin typeface="Consolas"/>
              </a:rPr>
              <a:t>df['purchase_date'] = pd.to_datetime(df['purchase_date'])</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z_scores = (df['price'] - df['price'].mean()) / df['price'].std()</a:t>
            </a:r>
          </a:p>
          <a:p>
            <a:pPr>
              <a:lnSpc>
                <a:spcPts val="2200"/>
              </a:lnSpc>
              <a:spcAft>
                <a:spcPts val="400"/>
              </a:spcAft>
            </a:pPr>
            <a:r>
              <a:rPr sz="2000" b="0">
                <a:solidFill>
                  <a:srgbClr val="333333"/>
                </a:solidFill>
                <a:latin typeface="Consolas"/>
              </a:rPr>
              <a:t>df = df[z_scores &lt; 3]</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df.to_csv("cleaned_data.csv", index=False)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From case study to production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Both cases share a pattern</a:t>
            </a:r>
          </a:p>
          <a:p>
            <a:pPr>
              <a:spcAft>
                <a:spcPts val="1000"/>
              </a:spcAft>
              <a:buChar char="•"/>
              <a:lnSpc>
                <a:spcPts val="2200"/>
              </a:lnSpc>
            </a:pPr>
            <a:r>
              <a:rPr sz="2000" b="0">
                <a:solidFill>
                  <a:srgbClr val="333333"/>
                </a:solidFill>
                <a:latin typeface="Calibri"/>
              </a:rPr>
              <a:t>Retail emphasizes revenue integrity</a:t>
            </a:r>
          </a:p>
          <a:p>
            <a:pPr>
              <a:spcAft>
                <a:spcPts val="1000"/>
              </a:spcAft>
              <a:buChar char="•"/>
              <a:lnSpc>
                <a:spcPts val="2200"/>
              </a:lnSpc>
            </a:pPr>
            <a:r>
              <a:rPr sz="2000" b="0">
                <a:solidFill>
                  <a:srgbClr val="333333"/>
                </a:solidFill>
                <a:latin typeface="Calibri"/>
              </a:rPr>
              <a:t>Fairness review may follow in Chapter 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Domain context chooses imputation and outlier rules</a:t>
            </a:r>
          </a:p>
          <a:p>
            <a:pPr>
              <a:spcAft>
                <a:spcPts val="1000"/>
              </a:spcAft>
              <a:buChar char="•"/>
              <a:lnSpc>
                <a:spcPts val="2200"/>
              </a:lnSpc>
            </a:pPr>
            <a:r>
              <a:rPr sz="2000" b="0">
                <a:solidFill>
                  <a:srgbClr val="333333"/>
                </a:solidFill>
                <a:latin typeface="Calibri"/>
              </a:rPr>
              <a:t>Case studies connect Sections 5.2–5.5 into narratives</a:t>
            </a:r>
          </a:p>
          <a:p>
            <a:pPr>
              <a:spcAft>
                <a:spcPts val="1000"/>
              </a:spcAft>
              <a:buChar char="•"/>
              <a:lnSpc>
                <a:spcPts val="2200"/>
              </a:lnSpc>
            </a:pPr>
            <a:r>
              <a:rPr sz="2000" b="0">
                <a:solidFill>
                  <a:srgbClr val="333333"/>
                </a:solidFill>
                <a:latin typeface="Calibri"/>
              </a:rPr>
              <a:t>Module activities supply hands-on repetition without requiring live execution on the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advanced topics, Bayesian imputation, streaming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Contrast Bayesian and deep imputation, describe sliding-window streaming preprocessing</a:t>
            </a:r>
          </a:p>
          <a:p>
            <a:pPr>
              <a:spcAft>
                <a:spcPts val="1000"/>
              </a:spcAft>
              <a:buChar char="•"/>
              <a:lnSpc>
                <a:spcPts val="2200"/>
              </a:lnSpc>
            </a:pPr>
            <a:r>
              <a:rPr sz="2000" b="0">
                <a:solidFill>
                  <a:srgbClr val="333333"/>
                </a:solidFill>
                <a:latin typeface="Calibri"/>
              </a:rPr>
              <a:t>Explain how documentation supports explainable AI</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Advanced imputation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Bayesian imputation models missing values with uncertainty</a:t>
            </a:r>
          </a:p>
          <a:p>
            <a:pPr>
              <a:spcAft>
                <a:spcPts val="1000"/>
              </a:spcAft>
              <a:buChar char="•"/>
              <a:lnSpc>
                <a:spcPts val="2200"/>
              </a:lnSpc>
            </a:pPr>
            <a:r>
              <a:rPr sz="2000" b="0">
                <a:solidFill>
                  <a:srgbClr val="333333"/>
                </a:solidFill>
                <a:latin typeface="Calibri"/>
              </a:rPr>
              <a:t>Autoencoder imputation, Example 5.71, learns nonlinear reconstructions for retail baskets</a:t>
            </a:r>
          </a:p>
          <a:p>
            <a:pPr>
              <a:spcAft>
                <a:spcPts val="1000"/>
              </a:spcAft>
              <a:buChar char="•"/>
              <a:lnSpc>
                <a:spcPts val="2200"/>
              </a:lnSpc>
            </a:pPr>
            <a:r>
              <a:rPr sz="2000" b="0">
                <a:solidFill>
                  <a:srgbClr val="333333"/>
                </a:solidFill>
                <a:latin typeface="Calibri"/>
              </a:rPr>
              <a:t>Both beat naive means when patterns are complex but need more data and compute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5.70 — Bayesian imputation with clinical priors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5.70 — hands-on module</a:t>
            </a:r>
          </a:p>
          <a:p>
            <a:pPr>
              <a:spcAft>
                <a:spcPts val="1000"/>
              </a:spcAft>
              <a:buChar char="•"/>
              <a:lnSpc>
                <a:spcPts val="2200"/>
              </a:lnSpc>
            </a:pPr>
            <a:r>
              <a:rPr sz="2000" b="0">
                <a:solidFill>
                  <a:srgbClr val="333333"/>
                </a:solidFill>
                <a:latin typeface="Calibri"/>
              </a:rPr>
              <a:t>The uncertainty-aware clinical case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`modules/chapter5/example70/`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Real-time and streaming preprocessing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Streaming finance, IoT, and vitals demand low-latency transforms</a:t>
            </a:r>
          </a:p>
          <a:p>
            <a:pPr>
              <a:spcAft>
                <a:spcPts val="1000"/>
              </a:spcAft>
              <a:buChar char="•"/>
              <a:lnSpc>
                <a:spcPts val="2200"/>
              </a:lnSpc>
            </a:pPr>
            <a:r>
              <a:rPr sz="2000" b="0">
                <a:solidFill>
                  <a:srgbClr val="333333"/>
                </a:solidFill>
                <a:latin typeface="Calibri"/>
              </a:rPr>
              <a:t>Challenges include latency, arriving corruption, and scale</a:t>
            </a:r>
          </a:p>
          <a:p>
            <a:pPr>
              <a:spcAft>
                <a:spcPts val="1000"/>
              </a:spcAft>
              <a:buChar char="•"/>
              <a:lnSpc>
                <a:spcPts val="2200"/>
              </a:lnSpc>
            </a:pPr>
            <a:r>
              <a:rPr sz="2000" b="0">
                <a:solidFill>
                  <a:srgbClr val="333333"/>
                </a:solidFill>
                <a:latin typeface="Calibri"/>
              </a:rPr>
              <a:t>Sliding windows, Example 5.72 on prices</a:t>
            </a:r>
          </a:p>
          <a:p>
            <a:pPr>
              <a:spcAft>
                <a:spcPts val="1000"/>
              </a:spcAft>
              <a:buChar char="•"/>
              <a:lnSpc>
                <a:spcPts val="2200"/>
              </a:lnSpc>
            </a:pPr>
            <a:r>
              <a:rPr sz="2000" b="0">
                <a:solidFill>
                  <a:srgbClr val="333333"/>
                </a:solidFill>
                <a:latin typeface="Calibri"/>
              </a:rPr>
              <a:t>Batch assumptions fail when data never stops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5.72 — Rolling window for streaming prices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5.72 — hands-on module</a:t>
            </a:r>
          </a:p>
          <a:p>
            <a:pPr>
              <a:spcAft>
                <a:spcPts val="1000"/>
              </a:spcAft>
              <a:buChar char="•"/>
              <a:lnSpc>
                <a:spcPts val="2200"/>
              </a:lnSpc>
            </a:pPr>
            <a:r>
              <a:rPr sz="2000" b="0">
                <a:solidFill>
                  <a:srgbClr val="333333"/>
                </a:solidFill>
                <a:latin typeface="Calibri"/>
              </a:rPr>
              <a:t>Example 5.72 maintains a rolling feature window for aggregates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`modules/chapter5/example72/`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Automated pipelines and explainability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Automated pipelines orchestrate cleaning stages across storage systems</a:t>
            </a:r>
          </a:p>
          <a:p>
            <a:pPr>
              <a:spcAft>
                <a:spcPts val="1000"/>
              </a:spcAft>
              <a:buChar char="•"/>
              <a:lnSpc>
                <a:spcPts val="2200"/>
              </a:lnSpc>
            </a:pPr>
            <a:r>
              <a:rPr sz="2000" b="0">
                <a:solidFill>
                  <a:srgbClr val="333333"/>
                </a:solidFill>
                <a:latin typeface="Calibri"/>
              </a:rPr>
              <a:t>For explainable AI</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5.75 — Document imputation for auditable models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5.75 — hands-on module</a:t>
            </a:r>
          </a:p>
          <a:p>
            <a:pPr>
              <a:spcAft>
                <a:spcPts val="1000"/>
              </a:spcAft>
              <a:buChar char="•"/>
              <a:lnSpc>
                <a:spcPts val="2200"/>
              </a:lnSpc>
            </a:pPr>
            <a:r>
              <a:rPr sz="2000" b="0">
                <a:solidFill>
                  <a:srgbClr val="333333"/>
                </a:solidFill>
                <a:latin typeface="Calibri"/>
              </a:rPr>
              <a:t>Example 5.75 ties preprocessing logs to model cards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`modules/chapter5/example75/`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Looking ahead</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Chapter 6 continues with exploration that detects many defects this chapter repairs</a:t>
            </a:r>
          </a:p>
          <a:p>
            <a:pPr>
              <a:spcAft>
                <a:spcPts val="1000"/>
              </a:spcAft>
              <a:buChar char="•"/>
              <a:lnSpc>
                <a:spcPts val="2200"/>
              </a:lnSpc>
            </a:pPr>
            <a:r>
              <a:rPr sz="2000" b="0">
                <a:solidFill>
                  <a:srgbClr val="333333"/>
                </a:solidFill>
                <a:latin typeface="Calibri"/>
              </a:rPr>
              <a:t>Chapter 7 connects preprocessing to fairness</a:t>
            </a:r>
          </a:p>
          <a:p>
            <a:pPr>
              <a:spcAft>
                <a:spcPts val="1000"/>
              </a:spcAft>
              <a:buChar char="•"/>
              <a:lnSpc>
                <a:spcPts val="2200"/>
              </a:lnSpc>
            </a:pPr>
            <a:r>
              <a:rPr sz="2000" b="0">
                <a:solidFill>
                  <a:srgbClr val="333333"/>
                </a:solidFill>
                <a:latin typeface="Calibri"/>
              </a:rPr>
              <a:t>Strong cleaning documentation makes both downstream chapters more trustworthy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Advanced methods extend, not replace, core taxonomy and tools</a:t>
            </a:r>
          </a:p>
          <a:p>
            <a:pPr>
              <a:spcAft>
                <a:spcPts val="1000"/>
              </a:spcAft>
              <a:buChar char="•"/>
              <a:lnSpc>
                <a:spcPts val="2200"/>
              </a:lnSpc>
            </a:pPr>
            <a:r>
              <a:rPr sz="2000" b="0">
                <a:solidFill>
                  <a:srgbClr val="333333"/>
                </a:solidFill>
                <a:latin typeface="Calibri"/>
              </a:rPr>
              <a:t>Streaming and explainability impose new constraints on familiar transforms</a:t>
            </a:r>
          </a:p>
          <a:p>
            <a:pPr>
              <a:spcAft>
                <a:spcPts val="1000"/>
              </a:spcAft>
              <a:buChar char="•"/>
              <a:lnSpc>
                <a:spcPts val="2200"/>
              </a:lnSpc>
            </a:pPr>
            <a:r>
              <a:rPr sz="2000" b="0">
                <a:solidFill>
                  <a:srgbClr val="333333"/>
                </a:solidFill>
                <a:latin typeface="Calibri"/>
              </a:rPr>
              <a:t>Document every stage for production and audit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Pause for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Data Cleaning and Preprocessing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