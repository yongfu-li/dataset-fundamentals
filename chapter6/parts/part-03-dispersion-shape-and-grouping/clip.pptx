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mean without spread is ambiguous. This part covers variance, standard deviation, range, distribution shape, frequency tables, and group-by aggregation.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compute variance and standard deviation, interpret range, read skewness cues, build frequency distributions, and summarize by groups.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Variance averages squared deviations from the mean; standard deviation is its square root in the original units. Example 6.18 sketches variance for a small sample; Example 6.19 takes the square root. Larger standard deviation means more spread around the center.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6.18 uses the sample values two, four, four, six, and eight. Open the example 18 module for this chapter to follow the deviation steps. Standard deviation complements mean in describe()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is max minus min—Example 6.20 on a small sample. Simple but sensitive to outliers. Pair range with quartiles or IQR for robust spread views in later plots.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Skewness indicates asymmetry: right-skewed income tails pull the mean above the median. Kurtosis relates to tail heaviness. Example 6.2 from the introduction linked skewness to model choice—log transforms or robust methods may follow.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Frequency tables count category occurrences or bin counts for numerics. Group-by summaries compute mean spend by region or category—Example 6.9 illustrates geography and purchase frequency hypotheses. Aggregation reveals segment differences raw global means hide.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center and spread together. Shape guides transforms and model families. Frequency and group-by tables bridge summaries to the visual techniques in the next parts.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univariate and bivariate visualization.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Dispersion, shape, and grouping</a:t>
            </a:r>
          </a:p>
          <a:p>
            <a:pPr algn="ctr">
              <a:lnSpc>
                <a:spcPts val="2200"/>
              </a:lnSpc>
              <a:spcBef>
                <a:spcPts val="1400"/>
              </a:spcBef>
            </a:pPr>
            <a:r>
              <a:rPr sz="2600" b="0">
                <a:solidFill>
                  <a:srgbClr val="333333"/>
                </a:solidFill>
                <a:latin typeface="Calibri"/>
              </a:rPr>
              <a:t>A mean without spread is ambiguous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Compute variance and standard deviation</a:t>
            </a:r>
          </a:p>
          <a:p>
            <a:pPr lvl="0" marL="457200" indent="-228600">
              <a:buFont typeface="Calibri"/>
              <a:spcAft>
                <a:spcPts val="1000"/>
              </a:spcAft>
              <a:buSzPct val="100000"/>
              <a:buChar char="•"/>
              <a:lnSpc>
                <a:spcPts val="2200"/>
              </a:lnSpc>
            </a:pPr>
            <a:r>
              <a:rPr sz="2000" b="0">
                <a:solidFill>
                  <a:srgbClr val="333333"/>
                </a:solidFill>
                <a:latin typeface="Calibri"/>
              </a:rPr>
              <a:t>Summarize by groups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Variance and standard deviation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Variance averages squared deviations from the mean</a:t>
            </a:r>
          </a:p>
          <a:p>
            <a:pPr lvl="0" marL="457200" indent="-228600">
              <a:buFont typeface="Calibri"/>
              <a:spcAft>
                <a:spcPts val="1000"/>
              </a:spcAft>
              <a:buSzPct val="100000"/>
              <a:buChar char="•"/>
              <a:lnSpc>
                <a:spcPts val="2200"/>
              </a:lnSpc>
            </a:pPr>
            <a:r>
              <a:rPr sz="2000" b="0">
                <a:solidFill>
                  <a:srgbClr val="333333"/>
                </a:solidFill>
                <a:latin typeface="Calibri"/>
              </a:rPr>
              <a:t>Example 6.18 sketches variance for a small sample; Example 6.19 takes the square root</a:t>
            </a:r>
          </a:p>
          <a:p>
            <a:pPr lvl="0" marL="457200" indent="-228600">
              <a:buFont typeface="Calibri"/>
              <a:spcAft>
                <a:spcPts val="1000"/>
              </a:spcAft>
              <a:buSzPct val="100000"/>
              <a:buChar char="•"/>
              <a:lnSpc>
                <a:spcPts val="2200"/>
              </a:lnSpc>
            </a:pPr>
            <a:r>
              <a:rPr sz="2000" b="0">
                <a:solidFill>
                  <a:srgbClr val="333333"/>
                </a:solidFill>
                <a:latin typeface="Calibri"/>
              </a:rPr>
              <a:t>Larger standard deviation means more spread around the center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6.18 — Variance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6.18 uses the sample values two, four, four, six, and eight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"""Calculate variance from Example 6.18."""</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statistics import fmean, pvariance, variance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"""Print deviations and both population and sample variance."""</a:t>
            </a:r>
          </a:p>
          <a:p>
            <a:pPr>
              <a:lnSpc>
                <a:spcPts val="2200"/>
              </a:lnSpc>
              <a:spcAft>
                <a:spcPts val="400"/>
              </a:spcAft>
            </a:pPr>
            <a:r>
              <a:rPr sz="2000" b="0">
                <a:solidFill>
                  <a:srgbClr val="333333"/>
                </a:solidFill>
                <a:latin typeface="Consolas"/>
              </a:rPr>
              <a:t>    values: list[int] = [2, 4, 4, 6, 8]</a:t>
            </a:r>
          </a:p>
          <a:p>
            <a:pPr>
              <a:lnSpc>
                <a:spcPts val="2200"/>
              </a:lnSpc>
              <a:spcAft>
                <a:spcPts val="400"/>
              </a:spcAft>
            </a:pPr>
            <a:r>
              <a:rPr sz="2000" b="0">
                <a:solidFill>
                  <a:srgbClr val="333333"/>
                </a:solidFill>
                <a:latin typeface="Consolas"/>
              </a:rPr>
              <a:t>    mean_value: float = fmean(values)</a:t>
            </a:r>
          </a:p>
          <a:p>
            <a:pPr>
              <a:lnSpc>
                <a:spcPts val="2200"/>
              </a:lnSpc>
              <a:spcAft>
                <a:spcPts val="400"/>
              </a:spcAft>
            </a:pPr>
            <a:r>
              <a:rPr sz="2000" b="0">
                <a:solidFill>
                  <a:srgbClr val="333333"/>
                </a:solidFill>
                <a:latin typeface="Consolas"/>
              </a:rPr>
              <a:t>    squared_deviations: list[float] = [</a:t>
            </a:r>
          </a:p>
          <a:p>
            <a:pPr>
              <a:lnSpc>
                <a:spcPts val="2200"/>
              </a:lnSpc>
              <a:spcAft>
                <a:spcPts val="400"/>
              </a:spcAft>
            </a:pPr>
            <a:r>
              <a:rPr sz="2000" b="0">
                <a:solidFill>
                  <a:srgbClr val="333333"/>
                </a:solidFill>
                <a:latin typeface="Consolas"/>
              </a:rPr>
              <a:t>        (value - mean_value) ** 2 for value in values</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print("Values:", values)</a:t>
            </a:r>
          </a:p>
          <a:p>
            <a:pPr>
              <a:lnSpc>
                <a:spcPts val="2200"/>
              </a:lnSpc>
              <a:spcAft>
                <a:spcPts val="400"/>
              </a:spcAft>
            </a:pPr>
            <a:r>
              <a:rPr sz="2000" b="0">
                <a:solidFill>
                  <a:srgbClr val="333333"/>
                </a:solidFill>
                <a:latin typeface="Consolas"/>
              </a:rPr>
              <a:t>    print("Mean:", mean_value)</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Range is max minus min, Example 6.20 on a small sample</a:t>
            </a:r>
          </a:p>
          <a:p>
            <a:pPr lvl="0" marL="457200" indent="-228600">
              <a:buFont typeface="Calibri"/>
              <a:spcAft>
                <a:spcPts val="1000"/>
              </a:spcAft>
              <a:buSzPct val="100000"/>
              <a:buChar char="•"/>
              <a:lnSpc>
                <a:spcPts val="2200"/>
              </a:lnSpc>
            </a:pPr>
            <a:r>
              <a:rPr sz="2000" b="0">
                <a:solidFill>
                  <a:srgbClr val="333333"/>
                </a:solidFill>
                <a:latin typeface="Calibri"/>
              </a:rPr>
              <a:t>Simple but sensitive to outliers</a:t>
            </a:r>
          </a:p>
          <a:p>
            <a:pPr lvl="0" marL="457200" indent="-228600">
              <a:buFont typeface="Calibri"/>
              <a:spcAft>
                <a:spcPts val="1000"/>
              </a:spcAft>
              <a:buSzPct val="100000"/>
              <a:buChar char="•"/>
              <a:lnSpc>
                <a:spcPts val="2200"/>
              </a:lnSpc>
            </a:pPr>
            <a:r>
              <a:rPr sz="2000" b="0">
                <a:solidFill>
                  <a:srgbClr val="333333"/>
                </a:solidFill>
                <a:latin typeface="Calibri"/>
              </a:rPr>
              <a:t>Pair range with quartiles or IQR for robust spread views in later plots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Measures of shape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Skewness indicates asymmetry: right-skewed income tails pull the mean above the median</a:t>
            </a:r>
          </a:p>
          <a:p>
            <a:pPr lvl="0" marL="457200" indent="-228600">
              <a:buFont typeface="Calibri"/>
              <a:spcAft>
                <a:spcPts val="1000"/>
              </a:spcAft>
              <a:buSzPct val="100000"/>
              <a:buChar char="•"/>
              <a:lnSpc>
                <a:spcPts val="2200"/>
              </a:lnSpc>
            </a:pPr>
            <a:r>
              <a:rPr sz="2000" b="0">
                <a:solidFill>
                  <a:srgbClr val="333333"/>
                </a:solidFill>
                <a:latin typeface="Calibri"/>
              </a:rPr>
              <a:t>Kurtosis relates to tail heaviness</a:t>
            </a:r>
          </a:p>
          <a:p>
            <a:pPr lvl="0" marL="457200" indent="-228600">
              <a:buFont typeface="Calibri"/>
              <a:spcAft>
                <a:spcPts val="1000"/>
              </a:spcAft>
              <a:buSzPct val="100000"/>
              <a:buChar char="•"/>
              <a:lnSpc>
                <a:spcPts val="2200"/>
              </a:lnSpc>
            </a:pPr>
            <a:r>
              <a:rPr sz="2000" b="0">
                <a:solidFill>
                  <a:srgbClr val="333333"/>
                </a:solidFill>
                <a:latin typeface="Calibri"/>
              </a:rPr>
              <a:t>Example 6.2 from the introduction linked skewness to model choice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Frequency distributions and grouping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Frequency tables count category occurrences or bin counts for numerics</a:t>
            </a:r>
          </a:p>
          <a:p>
            <a:pPr lvl="0" marL="457200" indent="-228600">
              <a:buFont typeface="Calibri"/>
              <a:spcAft>
                <a:spcPts val="1000"/>
              </a:spcAft>
              <a:buSzPct val="100000"/>
              <a:buChar char="•"/>
              <a:lnSpc>
                <a:spcPts val="2200"/>
              </a:lnSpc>
            </a:pPr>
            <a:r>
              <a:rPr sz="2000" b="0">
                <a:solidFill>
                  <a:srgbClr val="333333"/>
                </a:solidFill>
                <a:latin typeface="Calibri"/>
              </a:rPr>
              <a:t>Group-by summaries compute mean spend by region or category</a:t>
            </a:r>
          </a:p>
          <a:p>
            <a:pPr lvl="0" marL="457200" indent="-228600">
              <a:buFont typeface="Calibri"/>
              <a:spcAft>
                <a:spcPts val="1000"/>
              </a:spcAft>
              <a:buSzPct val="100000"/>
              <a:buChar char="•"/>
              <a:lnSpc>
                <a:spcPts val="2200"/>
              </a:lnSpc>
            </a:pPr>
            <a:r>
              <a:rPr sz="2000" b="0">
                <a:solidFill>
                  <a:srgbClr val="333333"/>
                </a:solidFill>
                <a:latin typeface="Calibri"/>
              </a:rPr>
              <a:t>Aggregation reveals segment differences raw global means hide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Report center and spread together</a:t>
            </a:r>
          </a:p>
          <a:p>
            <a:pPr lvl="0" marL="457200" indent="-228600">
              <a:buFont typeface="Calibri"/>
              <a:spcAft>
                <a:spcPts val="1000"/>
              </a:spcAft>
              <a:buSzPct val="100000"/>
              <a:buChar char="•"/>
              <a:lnSpc>
                <a:spcPts val="2200"/>
              </a:lnSpc>
            </a:pPr>
            <a:r>
              <a:rPr sz="2000" b="0">
                <a:solidFill>
                  <a:srgbClr val="333333"/>
                </a:solidFill>
                <a:latin typeface="Calibri"/>
              </a:rPr>
              <a:t>Shape guides transforms and model families</a:t>
            </a:r>
          </a:p>
          <a:p>
            <a:pPr lvl="0" marL="457200" indent="-228600">
              <a:buFont typeface="Calibri"/>
              <a:spcAft>
                <a:spcPts val="1000"/>
              </a:spcAft>
              <a:buSzPct val="100000"/>
              <a:buChar char="•"/>
              <a:lnSpc>
                <a:spcPts val="2200"/>
              </a:lnSpc>
            </a:pPr>
            <a:r>
              <a:rPr sz="2000" b="0">
                <a:solidFill>
                  <a:srgbClr val="333333"/>
                </a:solidFill>
                <a:latin typeface="Calibri"/>
              </a:rPr>
              <a:t>Frequency and group-by tables bridge summaries to the visual techniques in the next parts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univariate and bivariate visualization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Dispersion Shape And Grouping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