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repaired defects in a table; this chapter asks how to explore that table before formal modeling. Exploratory Data Analysis summarizes and visualizes datasets to understand structure, spot anomalies, and form questions—not to confirm pre-chosen hypotheses.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EDA, explain how it differs from confirmatory analysis, and describe how exploration and cleaning iterate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combines descriptive statistics, graphical plots, and light transformations. Typical steps include summarizing variables, visualizing relationships, and flagging missing values, outliers, or inconsistencies for repair. The objective is to understand the data itself before choosing models or tests.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introduced a minimal exploration mindset; Chapter 5 covered repairing defects once found. This chapter is the authoritative home for exploration: plots and summaries reveal problems, and cleaning restores a table you can explore again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6.1 sketches a first pass on a customer table: review mean, median, and standard deviation for age, income, and purchase frequency, then histogram age and scatter income versus spending. Open the example 1 module for this chapter to walk through that sequence.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clarifies data structure, surfaces quality issues for Chapter 5 repair, informs model choice, and guides hypothesis formation from patterns you did not expect. Example 6.4 contrasts linear and nonlinear cues; Example 6.5 shows a sales–weather relationship prompting seasonal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6.4 notes that a strong linear scatter suggests linear regression may fit, while curved or clustered patterns may favor trees or neural networks. Shape checks from Example 6.2 should precede algorithm selection.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is observation-first exploration before modeling. It iterates with cleaning. Summaries plus plots form the core toolkit introduced in the parts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data types and measures of central tendency.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6 — Introduction to EDA</a:t>
            </a:r>
          </a:p>
          <a:p>
            <a:pPr algn="ctr">
              <a:lnSpc>
                <a:spcPts val="2200"/>
              </a:lnSpc>
              <a:spcBef>
                <a:spcPts val="1400"/>
              </a:spcBef>
            </a:pPr>
            <a:r>
              <a:rPr sz="2600" b="0">
                <a:solidFill>
                  <a:srgbClr val="333333"/>
                </a:solidFill>
                <a:latin typeface="Calibri"/>
              </a:rPr>
              <a:t>Chapter 5 repaired defects in a table; this chapter asks how to explore that table before formal modeling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EDA, explain how it differs from confirmatory analysis</a:t>
            </a:r>
          </a:p>
          <a:p>
            <a:pPr lvl="0" marL="457200" indent="-228600">
              <a:buFont typeface="Calibri"/>
              <a:spcAft>
                <a:spcPts val="1000"/>
              </a:spcAft>
              <a:buSzPct val="100000"/>
              <a:buChar char="•"/>
              <a:lnSpc>
                <a:spcPts val="2200"/>
              </a:lnSpc>
            </a:pPr>
            <a:r>
              <a:rPr sz="2000" b="0">
                <a:solidFill>
                  <a:srgbClr val="333333"/>
                </a:solidFill>
                <a:latin typeface="Calibri"/>
              </a:rPr>
              <a:t>Describe how exploration and cleaning iterate in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EDA does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EDA combines descriptive statistics, graphical plots, and light transformations</a:t>
            </a:r>
          </a:p>
          <a:p>
            <a:pPr lvl="0" marL="457200" indent="-228600">
              <a:buFont typeface="Calibri"/>
              <a:spcAft>
                <a:spcPts val="1000"/>
              </a:spcAft>
              <a:buSzPct val="100000"/>
              <a:buChar char="•"/>
              <a:lnSpc>
                <a:spcPts val="2200"/>
              </a:lnSpc>
            </a:pPr>
            <a:r>
              <a:rPr sz="2000" b="0">
                <a:solidFill>
                  <a:srgbClr val="333333"/>
                </a:solidFill>
                <a:latin typeface="Calibri"/>
              </a:rPr>
              <a:t>Typical steps include summarizing variables, visualizing relationships</a:t>
            </a:r>
          </a:p>
          <a:p>
            <a:pPr lvl="0" marL="457200" indent="-228600">
              <a:buFont typeface="Calibri"/>
              <a:spcAft>
                <a:spcPts val="1000"/>
              </a:spcAft>
              <a:buSzPct val="100000"/>
              <a:buChar char="•"/>
              <a:lnSpc>
                <a:spcPts val="2200"/>
              </a:lnSpc>
            </a:pPr>
            <a:r>
              <a:rPr sz="2000" b="0">
                <a:solidFill>
                  <a:srgbClr val="333333"/>
                </a:solidFill>
                <a:latin typeface="Calibri"/>
              </a:rPr>
              <a:t>The objective is to understand the data itself before choosing models or tests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EDA versus earlier chapters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Chapter 1 introduced a minimal exploration mindset</a:t>
            </a:r>
          </a:p>
          <a:p>
            <a:pPr lvl="0" marL="457200" indent="-228600">
              <a:buFont typeface="Calibri"/>
              <a:spcAft>
                <a:spcPts val="1000"/>
              </a:spcAft>
              <a:buSzPct val="100000"/>
              <a:buChar char="•"/>
              <a:lnSpc>
                <a:spcPts val="2200"/>
              </a:lnSpc>
            </a:pPr>
            <a:r>
              <a:rPr sz="2000" b="0">
                <a:solidFill>
                  <a:srgbClr val="333333"/>
                </a:solidFill>
                <a:latin typeface="Calibri"/>
              </a:rPr>
              <a:t>This chapter is the authoritative home for exploration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 — E-commerce customer EDA pass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6.1 sketches a first pass on a customer table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EDA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Guides hypothesis formation from patterns you did not expect</a:t>
            </a:r>
          </a:p>
          <a:p>
            <a:pPr lvl="0" marL="457200" indent="-228600">
              <a:buFont typeface="Calibri"/>
              <a:spcAft>
                <a:spcPts val="1000"/>
              </a:spcAft>
              <a:buSzPct val="100000"/>
              <a:buChar char="•"/>
              <a:lnSpc>
                <a:spcPts val="2200"/>
              </a:lnSpc>
            </a:pPr>
            <a:r>
              <a:rPr sz="2000" b="0">
                <a:solidFill>
                  <a:srgbClr val="333333"/>
                </a:solidFill>
                <a:latin typeface="Calibri"/>
              </a:rPr>
              <a:t>Example 6.4 contrasts linear and nonlinear cues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6.4 — Linear versus nonlinear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6.4 notes that a strong linear scatter suggests linear regression may fit</a:t>
            </a:r>
          </a:p>
          <a:p>
            <a:pPr lvl="0" marL="457200" indent="-228600">
              <a:buFont typeface="Calibri"/>
              <a:spcAft>
                <a:spcPts val="1000"/>
              </a:spcAft>
              <a:buSzPct val="100000"/>
              <a:buChar char="•"/>
              <a:lnSpc>
                <a:spcPts val="2200"/>
              </a:lnSpc>
            </a:pPr>
            <a:r>
              <a:rPr sz="2000" b="0">
                <a:solidFill>
                  <a:srgbClr val="333333"/>
                </a:solidFill>
                <a:latin typeface="Calibri"/>
              </a:rPr>
              <a:t>Shape checks from Example 6.2 should precede algorithm selection</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EDA is observation-first exploration before modeling</a:t>
            </a:r>
          </a:p>
          <a:p>
            <a:pPr lvl="0" marL="457200" indent="-228600">
              <a:buFont typeface="Calibri"/>
              <a:spcAft>
                <a:spcPts val="1000"/>
              </a:spcAft>
              <a:buSzPct val="100000"/>
              <a:buChar char="•"/>
              <a:lnSpc>
                <a:spcPts val="2200"/>
              </a:lnSpc>
            </a:pPr>
            <a:r>
              <a:rPr sz="2000" b="0">
                <a:solidFill>
                  <a:srgbClr val="333333"/>
                </a:solidFill>
                <a:latin typeface="Calibri"/>
              </a:rPr>
              <a:t>It iterates with cleaning</a:t>
            </a:r>
          </a:p>
          <a:p>
            <a:pPr lvl="0" marL="457200" indent="-228600">
              <a:buFont typeface="Calibri"/>
              <a:spcAft>
                <a:spcPts val="1000"/>
              </a:spcAft>
              <a:buSzPct val="100000"/>
              <a:buChar char="•"/>
              <a:lnSpc>
                <a:spcPts val="2200"/>
              </a:lnSpc>
            </a:pPr>
            <a:r>
              <a:rPr sz="2000" b="0">
                <a:solidFill>
                  <a:srgbClr val="333333"/>
                </a:solidFill>
                <a:latin typeface="Calibri"/>
              </a:rPr>
              <a:t>Summaries plus plots form the core toolkit introduced in the parts that follow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data types and measures of central tendency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Introduction To Eda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