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5 repaired defects in a table; this chapter asks how to explore that table before formal modeling. Exploratory Data Analysis summarizes and visualizes datasets to understand structure, spot anomalies, and form questions—not to confirm pre-chosen hypotheses.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EDA, explain how it differs from confirmatory analysis, and describe how exploration and cleaning iterate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EDA combines descriptive statistics, graphical plots, and light transformations. Typical steps include summarizing variables, visualizing relationships, and flagging missing values, outliers, or inconsistencies for repair. The objective is to understand the data itself before choosing models or tests.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introduced a minimal exploration mindset; Chapter 5 covered repairing defects once found. This chapter is the authoritative home for exploration: plots and summaries reveal problems, and cleaning restores a table you can explore again with confidence.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6.1 sketches a first pass on a customer table: review mean, median, and standard deviation for age, income, and purchase frequency, then histogram age and scatter income versus spending. Open the example 1 module for this chapter to walk through that sequence.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EDA clarifies data structure, surfaces quality issues for Chapter 5 repair, informs model choice, and guides hypothesis formation from patterns you did not expect. Example 6.4 contrasts linear and nonlinear cues; Example 6.5 shows a sales–weather relationship prompting seasonal questions.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6.4 notes that a strong linear scatter suggests linear regression may fit, while curved or clustered patterns may favor trees or neural networks. Shape checks from Example 6.2 should precede algorithm selection.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EDA is observation-first exploration before modeling. It iterates with cleaning. Summaries plus plots form the core toolkit introduced in the parts that follow.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data types and measures of central tendency.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6 — Introduction to EDA</a:t>
            </a:r>
          </a:p>
          <a:p>
            <a:pPr algn="ctr">
              <a:lnSpc>
                <a:spcPts val="2200"/>
              </a:lnSpc>
              <a:spcBef>
                <a:spcPts val="1400"/>
              </a:spcBef>
            </a:pPr>
            <a:r>
              <a:rPr sz="2600" b="0">
                <a:solidFill>
                  <a:srgbClr val="333333"/>
                </a:solidFill>
                <a:latin typeface="Calibri"/>
              </a:rPr>
              <a:t>Chapter 5 repaired defects in a table; this chapter asks how to explore that table before formal modeling</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Introduction To Eda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Define EDA, explain how it differs from confirmatory analysis</a:t>
            </a:r>
          </a:p>
          <a:p>
            <a:pPr>
              <a:spcAft>
                <a:spcPts val="1000"/>
              </a:spcAft>
              <a:buChar char="•"/>
              <a:lnSpc>
                <a:spcPts val="2200"/>
              </a:lnSpc>
            </a:pPr>
            <a:r>
              <a:rPr sz="2000" b="0">
                <a:solidFill>
                  <a:srgbClr val="333333"/>
                </a:solidFill>
                <a:latin typeface="Calibri"/>
              </a:rPr>
              <a:t>Describe how exploration and cleaning iterate in practice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Introduction To Eda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EDA does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EDA combines descriptive statistics, graphical plots, and light transformations</a:t>
            </a:r>
          </a:p>
          <a:p>
            <a:pPr>
              <a:spcAft>
                <a:spcPts val="1000"/>
              </a:spcAft>
              <a:buChar char="•"/>
              <a:lnSpc>
                <a:spcPts val="2200"/>
              </a:lnSpc>
            </a:pPr>
            <a:r>
              <a:rPr sz="2000" b="0">
                <a:solidFill>
                  <a:srgbClr val="333333"/>
                </a:solidFill>
                <a:latin typeface="Calibri"/>
              </a:rPr>
              <a:t>Typical steps include summarizing variables, visualizing relationships</a:t>
            </a:r>
          </a:p>
          <a:p>
            <a:pPr>
              <a:spcAft>
                <a:spcPts val="1000"/>
              </a:spcAft>
              <a:buChar char="•"/>
              <a:lnSpc>
                <a:spcPts val="2200"/>
              </a:lnSpc>
            </a:pPr>
            <a:r>
              <a:rPr sz="2000" b="0">
                <a:solidFill>
                  <a:srgbClr val="333333"/>
                </a:solidFill>
                <a:latin typeface="Calibri"/>
              </a:rPr>
              <a:t>The objective is to understand the data itself before choosing models or tests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Introduction To Eda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EDA versus earlier chapters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Chapter 1 introduced a minimal exploration mindset</a:t>
            </a:r>
          </a:p>
          <a:p>
            <a:pPr>
              <a:spcAft>
                <a:spcPts val="1000"/>
              </a:spcAft>
              <a:buChar char="•"/>
              <a:lnSpc>
                <a:spcPts val="2200"/>
              </a:lnSpc>
            </a:pPr>
            <a:r>
              <a:rPr sz="2000" b="0">
                <a:solidFill>
                  <a:srgbClr val="333333"/>
                </a:solidFill>
                <a:latin typeface="Calibri"/>
              </a:rPr>
              <a:t>This chapter is the authoritative home for exploration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Introduction To Eda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6.1 — E-commerce customer EDA pass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6.1 — hands-on module</a:t>
            </a:r>
          </a:p>
          <a:p>
            <a:pPr>
              <a:spcAft>
                <a:spcPts val="1000"/>
              </a:spcAft>
              <a:buChar char="•"/>
              <a:lnSpc>
                <a:spcPts val="2200"/>
              </a:lnSpc>
            </a:pPr>
            <a:r>
              <a:rPr sz="2000" b="0">
                <a:solidFill>
                  <a:srgbClr val="333333"/>
                </a:solidFill>
                <a:latin typeface="Calibri"/>
              </a:rPr>
              <a:t>Example 6.1 sketches a first pass on a customer table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`modules/chapter6/example1/`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Introduction To Eda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EDA matters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Guides hypothesis formation from patterns you did not expect</a:t>
            </a:r>
          </a:p>
          <a:p>
            <a:pPr>
              <a:spcAft>
                <a:spcPts val="1000"/>
              </a:spcAft>
              <a:buChar char="•"/>
              <a:lnSpc>
                <a:spcPts val="2200"/>
              </a:lnSpc>
            </a:pPr>
            <a:r>
              <a:rPr sz="2000" b="0">
                <a:solidFill>
                  <a:srgbClr val="333333"/>
                </a:solidFill>
                <a:latin typeface="Calibri"/>
              </a:rPr>
              <a:t>Example 6.4 contrasts linear and nonlinear cues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Introduction To Eda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6.4 — Linear versus nonlinear patterns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6.4 — hands-on module</a:t>
            </a:r>
          </a:p>
          <a:p>
            <a:pPr>
              <a:spcAft>
                <a:spcPts val="1000"/>
              </a:spcAft>
              <a:buChar char="•"/>
              <a:lnSpc>
                <a:spcPts val="2200"/>
              </a:lnSpc>
            </a:pPr>
            <a:r>
              <a:rPr sz="2000" b="0">
                <a:solidFill>
                  <a:srgbClr val="333333"/>
                </a:solidFill>
                <a:latin typeface="Calibri"/>
              </a:rPr>
              <a:t>Example 6.4 notes that a strong linear scatter suggests linear regression may fit</a:t>
            </a:r>
          </a:p>
          <a:p>
            <a:pPr>
              <a:spcAft>
                <a:spcPts val="1000"/>
              </a:spcAft>
              <a:buChar char="•"/>
              <a:lnSpc>
                <a:spcPts val="2200"/>
              </a:lnSpc>
            </a:pPr>
            <a:r>
              <a:rPr sz="2000" b="0">
                <a:solidFill>
                  <a:srgbClr val="333333"/>
                </a:solidFill>
                <a:latin typeface="Calibri"/>
              </a:rPr>
              <a:t>Shape checks from Example 6.2 should precede algorithm selection</a:t>
            </a:r>
          </a:p>
          <a:p>
            <a:pPr>
              <a:spcAft>
                <a:spcPts val="1000"/>
              </a:spcAft>
              <a:buChar char="•"/>
              <a:lnSpc>
                <a:spcPts val="2200"/>
              </a:lnSpc>
            </a:pPr>
            <a:r>
              <a:rPr sz="2000" b="0">
                <a:solidFill>
                  <a:srgbClr val="333333"/>
                </a:solidFill>
                <a:latin typeface="Calibri"/>
              </a:rPr>
              <a:t>View files: `modules/chapter6/example4/`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Introduction To Eda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EDA is observation-first exploration before modeling</a:t>
            </a:r>
          </a:p>
          <a:p>
            <a:pPr>
              <a:spcAft>
                <a:spcPts val="1000"/>
              </a:spcAft>
              <a:buChar char="•"/>
              <a:lnSpc>
                <a:spcPts val="2200"/>
              </a:lnSpc>
            </a:pPr>
            <a:r>
              <a:rPr sz="2000" b="0">
                <a:solidFill>
                  <a:srgbClr val="333333"/>
                </a:solidFill>
                <a:latin typeface="Calibri"/>
              </a:rPr>
              <a:t>It iterates with cleaning</a:t>
            </a:r>
          </a:p>
          <a:p>
            <a:pPr>
              <a:spcAft>
                <a:spcPts val="1000"/>
              </a:spcAft>
              <a:buChar char="•"/>
              <a:lnSpc>
                <a:spcPts val="2200"/>
              </a:lnSpc>
            </a:pPr>
            <a:r>
              <a:rPr sz="2000" b="0">
                <a:solidFill>
                  <a:srgbClr val="333333"/>
                </a:solidFill>
                <a:latin typeface="Calibri"/>
              </a:rPr>
              <a:t>Summaries plus plots form the core toolkit introduced in the parts that follow</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Introduction To Eda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data types and measures of central tendency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Introduction To Eda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