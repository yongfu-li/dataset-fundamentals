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plotting, classify each column: continuous versus discrete numerics, nominal versus ordinal categories. Then choose summaries—mean, median, mode—that match the measurement scale.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distinguish four common data types, compute mean, median, and mode, and state when each central tendency measure is appropriate.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variables take any value in an interval—height, income, sales totals. Discrete variables are counts—purchases per month, items in a basket. Nominal categories have no order—product type, color. Ordinal categories have meaningful order—satisfaction ratings, education bands.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6.10 lists continuous physical measures; Example 6.11 shows monetary totals; Example 6.12 gives discrete counts. Example 6.13 shows nominal product categories; Example 6.14 shows an ordinal satisfaction scale. Open the example 10 module to practice typing columns before summarizing.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mean is the arithmetic average—sum divided by count. Example 6.15 computes mean income. Use means for roughly symmetric continuous data; skew or outliers pull the mean away from typical values.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median is the middle value when sorted—or the average of the two middle values for even counts. Example 6.16 contrasts odd and even samples. Median resists outliers and suits skewed income or spend distributions.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 is the most frequent value—especially useful for categorical data. Example 6.17 shows a simple numeric mode. A multimodal distribution may indicate subpopulations worth splitting.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means and medians for numeric exploration; use mode or frequency tables for categories. Report all three for numeric fields during early EDA so skew is visible when mean and median diverge.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Variable type dictates valid summaries. Mean, median, and mode answer different questions about center. Always inspect type before computing describe() output blindly.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dispersion, shape, frequency tables, and grouping.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6 — Data types and central tendency</a:t>
            </a:r>
          </a:p>
          <a:p>
            <a:pPr algn="ctr">
              <a:lnSpc>
                <a:spcPts val="2200"/>
              </a:lnSpc>
              <a:spcBef>
                <a:spcPts val="1400"/>
              </a:spcBef>
            </a:pPr>
            <a:r>
              <a:rPr sz="2600" b="0">
                <a:solidFill>
                  <a:srgbClr val="333333"/>
                </a:solidFill>
                <a:latin typeface="Calibri"/>
              </a:rPr>
              <a:t>Before plotting, classify each column: continuous versus discrete numerics, nominal versus ordinal categories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Types And Central Tendency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Distinguish four common data types, compute mean, median</a:t>
            </a:r>
          </a:p>
          <a:p>
            <a:pPr>
              <a:spcAft>
                <a:spcPts val="1000"/>
              </a:spcAft>
              <a:buChar char="•"/>
              <a:lnSpc>
                <a:spcPts val="2200"/>
              </a:lnSpc>
            </a:pPr>
            <a:r>
              <a:rPr sz="2000" b="0">
                <a:solidFill>
                  <a:srgbClr val="333333"/>
                </a:solidFill>
                <a:latin typeface="Calibri"/>
              </a:rPr>
              <a:t>Mode</a:t>
            </a:r>
          </a:p>
          <a:p>
            <a:pPr>
              <a:spcAft>
                <a:spcPts val="1000"/>
              </a:spcAft>
              <a:buChar char="•"/>
              <a:lnSpc>
                <a:spcPts val="2200"/>
              </a:lnSpc>
            </a:pPr>
            <a:r>
              <a:rPr sz="2000" b="0">
                <a:solidFill>
                  <a:srgbClr val="333333"/>
                </a:solidFill>
                <a:latin typeface="Calibri"/>
              </a:rPr>
              <a:t>State when each central tendency measure is appropriate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Types And Central Tendency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Types of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Continuous variables take any value in an interval, height, income, sales totals</a:t>
            </a:r>
          </a:p>
          <a:p>
            <a:pPr>
              <a:spcAft>
                <a:spcPts val="1000"/>
              </a:spcAft>
              <a:buChar char="•"/>
              <a:lnSpc>
                <a:spcPts val="2200"/>
              </a:lnSpc>
            </a:pPr>
            <a:r>
              <a:rPr sz="2000" b="0">
                <a:solidFill>
                  <a:srgbClr val="333333"/>
                </a:solidFill>
                <a:latin typeface="Calibri"/>
              </a:rPr>
              <a:t>Discrete variables are counts, purchases per month, items in a basket</a:t>
            </a:r>
          </a:p>
          <a:p>
            <a:pPr>
              <a:spcAft>
                <a:spcPts val="1000"/>
              </a:spcAft>
              <a:buChar char="•"/>
              <a:lnSpc>
                <a:spcPts val="2200"/>
              </a:lnSpc>
            </a:pPr>
            <a:r>
              <a:rPr sz="2000" b="0">
                <a:solidFill>
                  <a:srgbClr val="333333"/>
                </a:solidFill>
                <a:latin typeface="Calibri"/>
              </a:rPr>
              <a:t>Nominal categories have no order, product type, color</a:t>
            </a:r>
          </a:p>
          <a:p>
            <a:pPr>
              <a:spcAft>
                <a:spcPts val="1000"/>
              </a:spcAft>
              <a:buChar char="•"/>
              <a:lnSpc>
                <a:spcPts val="2200"/>
              </a:lnSpc>
            </a:pPr>
            <a:r>
              <a:rPr sz="2000" b="0">
                <a:solidFill>
                  <a:srgbClr val="333333"/>
                </a:solidFill>
                <a:latin typeface="Calibri"/>
              </a:rPr>
              <a:t>Ordinal categories have meaningful order, satisfaction ratings, education bands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Types And Central Tendency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6.10 and 6.13 — Continuous and nominal cases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6.10 — hands-on module</a:t>
            </a:r>
          </a:p>
          <a:p>
            <a:pPr>
              <a:spcAft>
                <a:spcPts val="1000"/>
              </a:spcAft>
              <a:buChar char="•"/>
              <a:lnSpc>
                <a:spcPts val="2200"/>
              </a:lnSpc>
            </a:pPr>
            <a:r>
              <a:rPr sz="2000" b="0">
                <a:solidFill>
                  <a:srgbClr val="333333"/>
                </a:solidFill>
                <a:latin typeface="Calibri"/>
              </a:rPr>
              <a:t>Example 6.10 lists continuous physical measures</a:t>
            </a:r>
          </a:p>
          <a:p>
            <a:pPr>
              <a:spcAft>
                <a:spcPts val="1000"/>
              </a:spcAft>
              <a:buChar char="•"/>
              <a:lnSpc>
                <a:spcPts val="2200"/>
              </a:lnSpc>
            </a:pPr>
            <a:r>
              <a:rPr sz="2000" b="0">
                <a:solidFill>
                  <a:srgbClr val="333333"/>
                </a:solidFill>
                <a:latin typeface="Calibri"/>
              </a:rPr>
              <a:t>Example 6.13 shows nominal product categories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`modules/chapter6/example10/`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Types And Central Tendency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Mean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mean is the arithmetic average, sum divided by count</a:t>
            </a:r>
          </a:p>
          <a:p>
            <a:pPr>
              <a:spcAft>
                <a:spcPts val="1000"/>
              </a:spcAft>
              <a:buChar char="•"/>
              <a:lnSpc>
                <a:spcPts val="2200"/>
              </a:lnSpc>
            </a:pPr>
            <a:r>
              <a:rPr sz="2000" b="0">
                <a:solidFill>
                  <a:srgbClr val="333333"/>
                </a:solidFill>
                <a:latin typeface="Calibri"/>
              </a:rPr>
              <a:t>Example 6.15 computes mean income</a:t>
            </a:r>
          </a:p>
          <a:p>
            <a:pPr>
              <a:spcAft>
                <a:spcPts val="1000"/>
              </a:spcAft>
              <a:buChar char="•"/>
              <a:lnSpc>
                <a:spcPts val="2200"/>
              </a:lnSpc>
            </a:pPr>
            <a:r>
              <a:rPr sz="2000" b="0">
                <a:solidFill>
                  <a:srgbClr val="333333"/>
                </a:solidFill>
                <a:latin typeface="Calibri"/>
              </a:rPr>
              <a:t>Use means for roughly symmetric continuous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Types And Central Tendency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Median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median is the middle value when sorted</a:t>
            </a:r>
          </a:p>
          <a:p>
            <a:pPr>
              <a:spcAft>
                <a:spcPts val="1000"/>
              </a:spcAft>
              <a:buChar char="•"/>
              <a:lnSpc>
                <a:spcPts val="2200"/>
              </a:lnSpc>
            </a:pPr>
            <a:r>
              <a:rPr sz="2000" b="0">
                <a:solidFill>
                  <a:srgbClr val="333333"/>
                </a:solidFill>
                <a:latin typeface="Calibri"/>
              </a:rPr>
              <a:t>Example 6.16 contrasts odd and even samples</a:t>
            </a:r>
          </a:p>
          <a:p>
            <a:pPr>
              <a:spcAft>
                <a:spcPts val="1000"/>
              </a:spcAft>
              <a:buChar char="•"/>
              <a:lnSpc>
                <a:spcPts val="2200"/>
              </a:lnSpc>
            </a:pPr>
            <a:r>
              <a:rPr sz="2000" b="0">
                <a:solidFill>
                  <a:srgbClr val="333333"/>
                </a:solidFill>
                <a:latin typeface="Calibri"/>
              </a:rPr>
              <a:t>Median resists outliers and suits skewed income or spend distributions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Types And Central Tendency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Mode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mode is the most frequent value, especially useful for categorical data</a:t>
            </a:r>
          </a:p>
          <a:p>
            <a:pPr>
              <a:spcAft>
                <a:spcPts val="1000"/>
              </a:spcAft>
              <a:buChar char="•"/>
              <a:lnSpc>
                <a:spcPts val="2200"/>
              </a:lnSpc>
            </a:pPr>
            <a:r>
              <a:rPr sz="2000" b="0">
                <a:solidFill>
                  <a:srgbClr val="333333"/>
                </a:solidFill>
                <a:latin typeface="Calibri"/>
              </a:rPr>
              <a:t>Example 6.17 shows a simple numeric mode</a:t>
            </a:r>
          </a:p>
          <a:p>
            <a:pPr>
              <a:spcAft>
                <a:spcPts val="1000"/>
              </a:spcAft>
              <a:buChar char="•"/>
              <a:lnSpc>
                <a:spcPts val="2200"/>
              </a:lnSpc>
            </a:pPr>
            <a:r>
              <a:rPr sz="2000" b="0">
                <a:solidFill>
                  <a:srgbClr val="333333"/>
                </a:solidFill>
                <a:latin typeface="Calibri"/>
              </a:rPr>
              <a:t>A multimodal distribution may indicate subpopulations worth splitting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Types And Central Tendency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Matching summary to type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Use means and medians for numeric exploration; use mode or frequency tables for categories</a:t>
            </a:r>
          </a:p>
          <a:p>
            <a:pPr>
              <a:spcAft>
                <a:spcPts val="1000"/>
              </a:spcAft>
              <a:buChar char="•"/>
              <a:lnSpc>
                <a:spcPts val="2200"/>
              </a:lnSpc>
            </a:pPr>
            <a:r>
              <a:rPr sz="2000" b="0">
                <a:solidFill>
                  <a:srgbClr val="333333"/>
                </a:solidFill>
                <a:latin typeface="Calibri"/>
              </a:rPr>
              <a:t>Report all three for numeric fields during early EDA so skew is visible when mean 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Types And Central Tendency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Variable type dictates valid summaries</a:t>
            </a:r>
          </a:p>
          <a:p>
            <a:pPr>
              <a:spcAft>
                <a:spcPts val="1000"/>
              </a:spcAft>
              <a:buChar char="•"/>
              <a:lnSpc>
                <a:spcPts val="2200"/>
              </a:lnSpc>
            </a:pPr>
            <a:r>
              <a:rPr sz="2000" b="0">
                <a:solidFill>
                  <a:srgbClr val="333333"/>
                </a:solidFill>
                <a:latin typeface="Calibri"/>
              </a:rPr>
              <a:t>Mean, median, and mode answer different questions about center</a:t>
            </a:r>
          </a:p>
          <a:p>
            <a:pPr>
              <a:spcAft>
                <a:spcPts val="1000"/>
              </a:spcAft>
              <a:buChar char="•"/>
              <a:lnSpc>
                <a:spcPts val="2200"/>
              </a:lnSpc>
            </a:pPr>
            <a:r>
              <a:rPr sz="2000" b="0">
                <a:solidFill>
                  <a:srgbClr val="333333"/>
                </a:solidFill>
                <a:latin typeface="Calibri"/>
              </a:rPr>
              <a:t>Always inspect type before computing describe() output blindly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Types And Central Tendency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dispersion, shape, frequency tables, and grouping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Types And Central Tendency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