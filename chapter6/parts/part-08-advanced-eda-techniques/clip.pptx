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first-pass plots, analysts need principled correlation analysis and related methods for multicollinearity, nonlinear association, and high-dimensional structure.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contrast Pearson and Spearman correlation, interpret correlation heatmaps cautiously, and name additional advanced techniques surveyed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Pearson correlation measures linear association between continuous pairs. Spearman uses ranks and tolerates monotonic nonlinear relationships better. Coefficients live on minus one to plus one—magnitude and sign guide which pairs deserve scatter follow-up.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Correlation heatmaps make strong pairs easy to scan but do not prove causation. Confounding and small samples can inflate or hide relationships. Confirm interesting cells with scatter plots and domain reasoning.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6.4 reminds you that high Pearson correlation implies linearity; curved relationships may show low Pearson but strong Spearman—or need transformation. Open the example 4 module to compare linear and nonlinear scatter patterns.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surveys partial correlation, mutual information, autocorrelation for time series, and links PCA and t-SNE from visualization to structural exploration. Use these when pairwise screens are insufficient for dimensionality or temporal dependence.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methods still serve exploration—not final inference. Document which correlations or components motivated feature selection or transforms before modeling chapters.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Pearson or Spearman based on shape and scale. Heatmaps screen; scatter plots verify. Advanced tools extend EDA when many features or time order matter.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best practices for reproducible, clear EDA.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6 — Advanced EDA techniques</a:t>
            </a:r>
          </a:p>
          <a:p>
            <a:pPr algn="ctr">
              <a:lnSpc>
                <a:spcPts val="2200"/>
              </a:lnSpc>
              <a:spcBef>
                <a:spcPts val="1400"/>
              </a:spcBef>
            </a:pPr>
            <a:r>
              <a:rPr sz="2600" b="0">
                <a:solidFill>
                  <a:srgbClr val="333333"/>
                </a:solidFill>
                <a:latin typeface="Calibri"/>
              </a:rPr>
              <a:t>High-dimensional structure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08 Advanced Eda Techniques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Contrast Pearson and Spearman correlation, interpret correlation heatmaps cautiously</a:t>
            </a:r>
          </a:p>
          <a:p>
            <a:pPr>
              <a:spcAft>
                <a:spcPts val="1000"/>
              </a:spcAft>
              <a:buChar char="•"/>
              <a:lnSpc>
                <a:spcPts val="2200"/>
              </a:lnSpc>
            </a:pPr>
            <a:r>
              <a:rPr sz="2000" b="0">
                <a:solidFill>
                  <a:srgbClr val="333333"/>
                </a:solidFill>
                <a:latin typeface="Calibri"/>
              </a:rPr>
              <a:t>Name additional advanced techniques surveyed in the chapter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08 Advanced Eda Techniques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Correlation analysis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Pearson correlation measures linear association between continuous pairs</a:t>
            </a:r>
          </a:p>
          <a:p>
            <a:pPr>
              <a:spcAft>
                <a:spcPts val="1000"/>
              </a:spcAft>
              <a:buChar char="•"/>
              <a:lnSpc>
                <a:spcPts val="2200"/>
              </a:lnSpc>
            </a:pPr>
            <a:r>
              <a:rPr sz="2000" b="0">
                <a:solidFill>
                  <a:srgbClr val="333333"/>
                </a:solidFill>
                <a:latin typeface="Calibri"/>
              </a:rPr>
              <a:t>Spearman uses ranks and tolerates monotonic nonlinear relationships better</a:t>
            </a:r>
          </a:p>
          <a:p>
            <a:pPr>
              <a:spcAft>
                <a:spcPts val="1000"/>
              </a:spcAft>
              <a:buChar char="•"/>
              <a:lnSpc>
                <a:spcPts val="2200"/>
              </a:lnSpc>
            </a:pPr>
            <a:r>
              <a:rPr sz="2000" b="0">
                <a:solidFill>
                  <a:srgbClr val="333333"/>
                </a:solidFill>
                <a:latin typeface="Calibri"/>
              </a:rPr>
              <a:t>Coefficients live on minus one to plus 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08 Advanced Eda Techniques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Reading heatmaps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Correlation heatmaps make strong pairs easy to scan but do not prove causation</a:t>
            </a:r>
          </a:p>
          <a:p>
            <a:pPr>
              <a:spcAft>
                <a:spcPts val="1000"/>
              </a:spcAft>
              <a:buChar char="•"/>
              <a:lnSpc>
                <a:spcPts val="2200"/>
              </a:lnSpc>
            </a:pPr>
            <a:r>
              <a:rPr sz="2000" b="0">
                <a:solidFill>
                  <a:srgbClr val="333333"/>
                </a:solidFill>
                <a:latin typeface="Calibri"/>
              </a:rPr>
              <a:t>Confounding and small samples can inflate or hide relationships</a:t>
            </a:r>
          </a:p>
          <a:p>
            <a:pPr>
              <a:spcAft>
                <a:spcPts val="1000"/>
              </a:spcAft>
              <a:buChar char="•"/>
              <a:lnSpc>
                <a:spcPts val="2200"/>
              </a:lnSpc>
            </a:pPr>
            <a:r>
              <a:rPr sz="2000" b="0">
                <a:solidFill>
                  <a:srgbClr val="333333"/>
                </a:solidFill>
                <a:latin typeface="Calibri"/>
              </a:rPr>
              <a:t>Confirm interesting cells with scatter plots and domain reasoning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08 Advanced Eda Techniques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6.4 — Linear versus nonlinear patterns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6.4 — hands-on module</a:t>
            </a:r>
          </a:p>
          <a:p>
            <a:pPr>
              <a:spcAft>
                <a:spcPts val="1000"/>
              </a:spcAft>
              <a:buChar char="•"/>
              <a:lnSpc>
                <a:spcPts val="2200"/>
              </a:lnSpc>
            </a:pPr>
            <a:r>
              <a:rPr sz="2000" b="0">
                <a:solidFill>
                  <a:srgbClr val="333333"/>
                </a:solidFill>
                <a:latin typeface="Calibri"/>
              </a:rPr>
              <a:t>Example 6.4 reminds you that high Pearson correlation implies linearity</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08 Advanced Eda Techniques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Additional advanced techniques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Links PCA and t-SNE from visualization to structural exploration</a:t>
            </a:r>
          </a:p>
          <a:p>
            <a:pPr>
              <a:spcAft>
                <a:spcPts val="1000"/>
              </a:spcAft>
              <a:buChar char="•"/>
              <a:lnSpc>
                <a:spcPts val="2200"/>
              </a:lnSpc>
            </a:pPr>
            <a:r>
              <a:rPr sz="2000" b="0">
                <a:solidFill>
                  <a:srgbClr val="333333"/>
                </a:solidFill>
                <a:latin typeface="Calibri"/>
              </a:rPr>
              <a:t>Use these when pairwise screens are insufficient for dimensionality or temporal dependence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08 Advanced Eda Techniques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When to stop exploring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Advanced methods still serve exploration, not final inference</a:t>
            </a:r>
          </a:p>
          <a:p>
            <a:pPr>
              <a:spcAft>
                <a:spcPts val="1000"/>
              </a:spcAft>
              <a:buChar char="•"/>
              <a:lnSpc>
                <a:spcPts val="2200"/>
              </a:lnSpc>
            </a:pPr>
            <a:r>
              <a:rPr sz="2000" b="0">
                <a:solidFill>
                  <a:srgbClr val="333333"/>
                </a:solidFill>
                <a:latin typeface="Calibri"/>
              </a:rPr>
              <a:t>Document which correlations or components motivated feature selection or transforms before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08 Advanced Eda Techniques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Choose Pearson or Spearman based on shape and scale</a:t>
            </a:r>
          </a:p>
          <a:p>
            <a:pPr>
              <a:spcAft>
                <a:spcPts val="1000"/>
              </a:spcAft>
              <a:buChar char="•"/>
              <a:lnSpc>
                <a:spcPts val="2200"/>
              </a:lnSpc>
            </a:pPr>
            <a:r>
              <a:rPr sz="2000" b="0">
                <a:solidFill>
                  <a:srgbClr val="333333"/>
                </a:solidFill>
                <a:latin typeface="Calibri"/>
              </a:rPr>
              <a:t>Heatmaps screen; scatter plots verify</a:t>
            </a:r>
          </a:p>
          <a:p>
            <a:pPr>
              <a:spcAft>
                <a:spcPts val="1000"/>
              </a:spcAft>
              <a:buChar char="•"/>
              <a:lnSpc>
                <a:spcPts val="2200"/>
              </a:lnSpc>
            </a:pPr>
            <a:r>
              <a:rPr sz="2000" b="0">
                <a:solidFill>
                  <a:srgbClr val="333333"/>
                </a:solidFill>
                <a:latin typeface="Calibri"/>
              </a:rPr>
              <a:t>Advanced tools extend EDA when many features or time order matter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08 Advanced Eda Techniques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best practices for reproducible, clear EDA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08 Advanced Eda Techniques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