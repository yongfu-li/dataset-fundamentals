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first-pass plots, analysts need principled correlation analysis and related methods for multicollinearity, nonlinear association, and high-dimensional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Pearson and Spearman correlation, interpret correlation heatmaps cautiously, and name additional advanced techniques surveyed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Pearson correlation measures linear association between continuous pairs. Spearman uses ranks and tolerates monotonic nonlinear relationships better. Coefficients live on minus one to plus one—magnitude and sign guide which pairs deserve scatter follow-up.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heatmaps make strong pairs easy to scan but do not prove causation. Confounding and small samples can inflate or hide relationships. Confirm interesting cells with scatter plots and domain reasoning.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reminds you that high Pearson correlation implies linearity; curved relationships may show low Pearson but strong Spearman—or need transformation. Open the example 4 module to compare linear and nonlinear scatter patterns.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surveys partial correlation, mutual information, autocorrelation for time series, and links PCA and t-SNE from visualization to structural exploration. Use these when pairwise screens are insufficient for dimensionality or temporal dependence.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still serve exploration—not final inference. Document which correlations or components motivated feature selection or transforms before modeling chapters.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Pearson or Spearman based on shape and scale. Heatmaps screen; scatter plots verify. Advanced tools extend EDA when many features or time order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best practices for reproducible, clear EDA.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Advanced EDA techniques</a:t>
            </a:r>
          </a:p>
          <a:p>
            <a:pPr algn="ctr">
              <a:lnSpc>
                <a:spcPts val="2200"/>
              </a:lnSpc>
              <a:spcBef>
                <a:spcPts val="1400"/>
              </a:spcBef>
            </a:pPr>
            <a:r>
              <a:rPr sz="2600" b="0">
                <a:solidFill>
                  <a:srgbClr val="333333"/>
                </a:solidFill>
                <a:latin typeface="Calibri"/>
              </a:rPr>
              <a:t>High-dimensional structure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Contrast Pearson and Spearman correlation, interpret correlation heatmaps cautiously</a:t>
            </a:r>
          </a:p>
          <a:p>
            <a:pPr lvl="0" marL="457200" indent="-228600">
              <a:buFont typeface="Calibri"/>
              <a:spcAft>
                <a:spcPts val="1000"/>
              </a:spcAft>
              <a:buSzPct val="100000"/>
              <a:buChar char="•"/>
              <a:lnSpc>
                <a:spcPts val="2200"/>
              </a:lnSpc>
            </a:pPr>
            <a:r>
              <a:rPr sz="2000" b="0">
                <a:solidFill>
                  <a:srgbClr val="333333"/>
                </a:solidFill>
                <a:latin typeface="Calibri"/>
              </a:rPr>
              <a:t>Name additional advanced techniques surveyed in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 analysis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Pearson correlation measures linear association between continuous pairs</a:t>
            </a:r>
          </a:p>
          <a:p>
            <a:pPr lvl="0" marL="457200" indent="-228600">
              <a:buFont typeface="Calibri"/>
              <a:spcAft>
                <a:spcPts val="1000"/>
              </a:spcAft>
              <a:buSzPct val="100000"/>
              <a:buChar char="•"/>
              <a:lnSpc>
                <a:spcPts val="2200"/>
              </a:lnSpc>
            </a:pPr>
            <a:r>
              <a:rPr sz="2000" b="0">
                <a:solidFill>
                  <a:srgbClr val="333333"/>
                </a:solidFill>
                <a:latin typeface="Calibri"/>
              </a:rPr>
              <a:t>Spearman uses ranks and tolerates monotonic nonlinear relationships better</a:t>
            </a:r>
          </a:p>
          <a:p>
            <a:pPr lvl="0" marL="457200" indent="-228600">
              <a:buFont typeface="Calibri"/>
              <a:spcAft>
                <a:spcPts val="1000"/>
              </a:spcAft>
              <a:buSzPct val="100000"/>
              <a:buChar char="•"/>
              <a:lnSpc>
                <a:spcPts val="2200"/>
              </a:lnSpc>
            </a:pPr>
            <a:r>
              <a:rPr sz="2000" b="0">
                <a:solidFill>
                  <a:srgbClr val="333333"/>
                </a:solidFill>
                <a:latin typeface="Calibri"/>
              </a:rPr>
              <a:t>Coefficients live on minus one to plus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Reading heatmaps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Correlation heatmaps make strong pairs easy to scan but do not prove causation</a:t>
            </a:r>
          </a:p>
          <a:p>
            <a:pPr lvl="0" marL="457200" indent="-228600">
              <a:buFont typeface="Calibri"/>
              <a:spcAft>
                <a:spcPts val="1000"/>
              </a:spcAft>
              <a:buSzPct val="100000"/>
              <a:buChar char="•"/>
              <a:lnSpc>
                <a:spcPts val="2200"/>
              </a:lnSpc>
            </a:pPr>
            <a:r>
              <a:rPr sz="2000" b="0">
                <a:solidFill>
                  <a:srgbClr val="333333"/>
                </a:solidFill>
                <a:latin typeface="Calibri"/>
              </a:rPr>
              <a:t>Confounding and small samples can inflate or hide relationships</a:t>
            </a:r>
          </a:p>
          <a:p>
            <a:pPr lvl="0" marL="457200" indent="-228600">
              <a:buFont typeface="Calibri"/>
              <a:spcAft>
                <a:spcPts val="1000"/>
              </a:spcAft>
              <a:buSzPct val="100000"/>
              <a:buChar char="•"/>
              <a:lnSpc>
                <a:spcPts val="2200"/>
              </a:lnSpc>
            </a:pPr>
            <a:r>
              <a:rPr sz="2000" b="0">
                <a:solidFill>
                  <a:srgbClr val="333333"/>
                </a:solidFill>
                <a:latin typeface="Calibri"/>
              </a:rPr>
              <a:t>Confirm interesting cells with scatter plots and domain reasoning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6.4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6.4 reminds you that high Pearson correlation implies linearity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Additional advanced techniques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Links PCA and t-SNE from visualization to structural exploration</a:t>
            </a:r>
          </a:p>
          <a:p>
            <a:pPr lvl="0" marL="457200" indent="-228600">
              <a:buFont typeface="Calibri"/>
              <a:spcAft>
                <a:spcPts val="1000"/>
              </a:spcAft>
              <a:buSzPct val="100000"/>
              <a:buChar char="•"/>
              <a:lnSpc>
                <a:spcPts val="2200"/>
              </a:lnSpc>
            </a:pPr>
            <a:r>
              <a:rPr sz="2000" b="0">
                <a:solidFill>
                  <a:srgbClr val="333333"/>
                </a:solidFill>
                <a:latin typeface="Calibri"/>
              </a:rPr>
              <a:t>Use these when pairwise screens are insufficient for dimensionality or temporal dependence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to stop exploring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methods still serve exploration, not final inference</a:t>
            </a:r>
          </a:p>
          <a:p>
            <a:pPr lvl="0" marL="457200" indent="-228600">
              <a:buFont typeface="Calibri"/>
              <a:spcAft>
                <a:spcPts val="1000"/>
              </a:spcAft>
              <a:buSzPct val="100000"/>
              <a:buChar char="•"/>
              <a:lnSpc>
                <a:spcPts val="2200"/>
              </a:lnSpc>
            </a:pPr>
            <a:r>
              <a:rPr sz="2000" b="0">
                <a:solidFill>
                  <a:srgbClr val="333333"/>
                </a:solidFill>
                <a:latin typeface="Calibri"/>
              </a:rPr>
              <a:t>Document which correlations or components motivated feature selection or transforms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Pearson or Spearman based on shape and scale</a:t>
            </a:r>
          </a:p>
          <a:p>
            <a:pPr lvl="0" marL="457200" indent="-228600">
              <a:buFont typeface="Calibri"/>
              <a:spcAft>
                <a:spcPts val="1000"/>
              </a:spcAft>
              <a:buSzPct val="100000"/>
              <a:buChar char="•"/>
              <a:lnSpc>
                <a:spcPts val="2200"/>
              </a:lnSpc>
            </a:pPr>
            <a:r>
              <a:rPr sz="2000" b="0">
                <a:solidFill>
                  <a:srgbClr val="333333"/>
                </a:solidFill>
                <a:latin typeface="Calibri"/>
              </a:rPr>
              <a:t>Heatmaps screen; scatter plots verify</a:t>
            </a:r>
          </a:p>
          <a:p>
            <a:pPr lvl="0" marL="457200" indent="-228600">
              <a:buFont typeface="Calibri"/>
              <a:spcAft>
                <a:spcPts val="1000"/>
              </a:spcAft>
              <a:buSzPct val="100000"/>
              <a:buChar char="•"/>
              <a:lnSpc>
                <a:spcPts val="2200"/>
              </a:lnSpc>
            </a:pPr>
            <a:r>
              <a:rPr sz="2000" b="0">
                <a:solidFill>
                  <a:srgbClr val="333333"/>
                </a:solidFill>
                <a:latin typeface="Calibri"/>
              </a:rPr>
              <a:t>Advanced tools extend EDA when many features or time order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best practices for reproducible, clear EDA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Advanced Eda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