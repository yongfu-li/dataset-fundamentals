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5 repaired defects in a table; this chapter asks how to explore that table before formal modeling. Exploratory Data Analysis summarizes and visualizes datasets to understand structure, spot anomalies, and form questions—not to confirm pre-chosen hypotheses.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define EDA, explain how it differs from confirmatory analysis, and describe how exploration and cleaning iterate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EDA combines descriptive statistics, graphical plots, and light transformations. Typical steps include summarizing variables, visualizing relationships, and flagging missing values, outliers, or inconsistencies for repair. The objective is to understand the data itself before choosing models or tests.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 introduced a minimal exploration mindset; Chapter 5 covered repairing defects once found. This chapter is the authoritative home for exploration: plots and summaries reveal problems, and cleaning restores a table you can explore again with confidence.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6.1 sketches a first pass on a customer table: review mean, median, and standard deviation for age, income, and purchase frequency, then histogram age and scatter income versus spending. Open the example 1 module for this chapter to walk through that sequence.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EDA clarifies data structure, surfaces quality issues for Chapter 5 repair, informs model choice, and guides hypothesis formation from patterns you did not expect. Example 6.4 contrasts linear and nonlinear cues; Example 6.5 shows a sales–weather relationship prompting seasonal questions.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6.4 notes that a strong linear scatter suggests linear regression may fit, while curved or clustered patterns may favor trees or neural networks. Shape checks from Example 6.2 should precede algorithm selection.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EDA is observation-first exploration before modeling. It iterates with cleaning. Summaries plus plots form the core toolkit introduced in the parts that follow.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data types and measures of central tendency.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distinguish four common data types, compute mean, median, and mode, and state when each central tendency measure is appropriate.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variables take any value in an interval—height, income, sales totals. Discrete variables are counts—purchases per month, items in a basket. Nominal categories have no order—product type, color. Ordinal categories have meaningful order—satisfaction ratings, education bands.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6.10 lists continuous physical measures; Example 6.11 shows monetary totals; Example 6.12 gives discrete counts. Example 6.13 shows nominal product categories; Example 6.14 shows an ordinal satisfaction scale. Open the example 10 module to practice typing columns before summarizing.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mean is the arithmetic average—sum divided by count. Example 6.15 computes mean income. Use means for roughly symmetric continuous data; skew or outliers pull the mean away from typical values.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median is the middle value when sorted—or the average of the two middle values for even counts. Example 6.16 contrasts odd and even samples. Median resists outliers and suits skewed income or spend distributions.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 is the most frequent value—especially useful for categorical data. Example 6.17 shows a simple numeric mode. A multimodal distribution may indicate subpopulations worth splitting.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means and medians for numeric exploration; use mode or frequency tables for categories. Report all three for numeric fields during early EDA so skew is visible when mean and median diverge.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Variable type dictates valid summaries. Mean, median, and mode answer different questions about center. Always inspect type before computing describe() output blindly.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dispersion, shape, frequency tables, and grouping.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compute variance and standard deviation, interpret range, read skewness cues, build frequency distributions, and summarize by groups.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Variance averages squared deviations from the mean; standard deviation is its square root in the original units. Example 6.18 sketches variance for a small sample; Example 6.19 takes the square root. Larger standard deviation means more spread around the center.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6.18 uses the sample values two, four, four, six, and eight. Open the example 18 module for this chapter to follow the deviation steps. Standard deviation complements mean in describe() output.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Range is max minus min—Example 6.20 on a small sample. Simple but sensitive to outliers. Pair range with quartiles or IQR for robust spread views in later plots.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Skewness indicates asymmetry: right-skewed income tails pull the mean above the median. Kurtosis relates to tail heaviness. Example 6.2 from the introduction linked skewness to model choice—log transforms or robust methods may follow.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Frequency tables count category occurrences or bin counts for numerics. Group-by summaries compute mean spend by region or category—Example 6.9 illustrates geography and purchase frequency hypotheses. Aggregation reveals segment differences raw global means hide.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 center and spread together. Shape guides transforms and model families. Frequency and group-by tables bridge summaries to the visual techniques in the next parts.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univariate and bivariate visualization.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choose univariate plots for distribution checks, use scatter plots for pairwise relationships, and read a correlation heatmap at a screening level.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Visualization supports pattern recognition, quality assessment, hypothesis generation, and communication. In EDA, charts often detect missingness patterns, odd scales, and inconsistent categories before formal repair.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Histograms show frequency by bin—useful for age or spend shape. Box plots summarize median, quartiles, and outlier candidates via the IQR rule. Pie charts work for quick share checks with few categories; prefer bar charts when precision matters.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6.2 ties histogram or density shape to later methods. Open the example 2 module for this chapter to inspect skewed versus near-normal views. Box plots of income often show right-tail outliers matching Chapter 5 discussions.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Scatter plots expose linear or nonlinear association, clusters, and outliers—classic screens include advertising spend versus revenue. Correlation matrices store pairwise coefficients, often shown as heatmaps for scanning strong positive, negative, or near-zero pairs.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plots by category compare spend across product types; bar charts compare group means or totals. These views support segment comparisons that group-by tables started numerically.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 chart type to variable count and question. Univariate plots check shape and outliers; bivariate plots screen relationships. Correlation heatmaps prioritize pairs for deeper analysis in later parts.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multivariate and high-dimensional visualization.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explain pair plots and parallel-coordinate uses, describe PCA as a variance-maximizing projection, and state cautions for t-SNE cluster views.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Heatmaps color-code matrix values—default for correlation tables. Pair plots show every pairwise scatter for continuous features, giving a quick tour of age, income, spend, and frequency together.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variable is a vertical axis; each row is a polyline across axes. Useful for finding similar customer profiles in moderate dimensions—color by category to separate product mixes.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PCA builds orthogonal components capturing successive maximum variance directions. Plotting the first two or three components can reveal clusters invisible in raw feature space. PCA is linear; nonlinear structure may need other tools.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t-SNE emphasizes local neighborhoods in two or three dimensions—helpful for cluster discovery after optional PCA pre-reduction on large tables. Interpret distances between distant clusters cautiously; t-SNE is primarily a local structure tool.</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6.9 links geography to purchase hypotheses—multivariate views help test whether regional segments differ once several features are viewed together. Open the example 9 module for this chapter to explore grouped and reduced views.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Escalate plot complexity only when the question requires it. PCA and t-SNE are exploratory projections, not replacements for domain validation. Pair plots remain the honest first multivariate screen.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detecting data issues during EDA.</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name detection methods for five defect classes and explain the explore-then-repair loop with Chapter 5.</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null counts, column-wise sums, and missingness heatmaps. Example 6.6 profiles clinical missingness. Classify MCAR, MAR, or MNAR, then choose imputation or deletion in Chapter 5—not during blind exploration without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6.6 shows how missing labs appear across patients. Open the example 6 module for this chapter to read a missingness heatmap narrative. Document patterns before imputing.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 outliers with box plots, scatter plots, Z-scores, and IQR rules. Example 6.7 places outliers in a fraud transaction setting. Find duplicates with duplicated checks on keys. Decide whether outliers are errors, rare valid events, or noise before treatment.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Frequency tables surface format drift—Example 6.8 shows city name inconsistency. Bar charts of class counts reveal imbalance typical in fraud screens. Standardize labels in Chapter 5; address imbalance with resampling or weights before modeling.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6.8 is a geographic label conflict visible in value counts. Try the example 8 module to see how exploration precedes standardization. Keep a log of plots that motivated each cleaning action.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EDA detection is deliberate routing, not silent fixing. Each defect class has visual and tabular signals. Repair workflows live in Chapter 5; exploration returns after fixes.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the EDA workflow and tools.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outline the four-step EDA process, name core Python libraries for tables and plots, and recognize when automated profiling accelerates a first pass.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structure with head, dtypes, and missing or duplicate flags. Know which columns are numeric, categorical, or temporal before summarizing. Example 6.1 begins here on the e-commerce customer table.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 means, medians, modes, variance, and standard deviation for numerics; counts and percentages for categories. describe() in pandas bundles many numeric summaries—interpret alongside type checks from the previous part.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Apply histograms, box plots, scatter plots, and bar charts from earlier parts. Visualization reveals patterns summaries alone miss and supports stakeholder 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Section 6.4 as a checklist, repair in Chapter 5, then re-explore. Iteration is normal: a fixed table may expose new relationship questions.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pandas handles tables—read_csv, describe, isnull, drop_duplicates. matplotlib provides base plotting; seaborn adds statistical aesthetics like histplot with KDE. R users mirror many steps with dplyr and ggplot2 mentioned in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Libraries such as pandas-profiling or ydata-profiling generate summary reports quickly—useful for wide tables, but review automated outputs critically and document overrides. Automation starts exploration; it does not replace domain questions.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understand, summarize, visualize, quality-check in order. pandas plus seaborn cover most chapter workflows. Automate the first pass, then drill into anomalies manually.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advanced EDA techniques including correlation depth.</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contrast Pearson and Spearman correlation, interpret correlation heatmaps cautiously, and name additional advanced techniques surveyed in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Pearson correlation measures linear association between continuous pairs. Spearman uses ranks and tolerates monotonic nonlinear relationships better. Coefficients live on minus one to plus one—magnitude and sign guide which pairs deserve scatter follow-up.</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Correlation heatmaps make strong pairs easy to scan but do not prove causation. Confounding and small samples can inflate or hide relationships. Confirm interesting cells with scatter plots and domain reasoning.</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6.4 reminds you that high Pearson correlation implies linearity; curved relationships may show low Pearson but strong Spearman—or need transformation. Open the example 4 module to compare linear and nonlinear scatter patterns.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surveys partial correlation, mutual information, autocorrelation for time series, and links PCA and t-SNE from visualization to structural exploration. Use these when pairwise screens are insufficient for dimensionality or temporal dependence.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Advanced methods still serve exploration—not final inference. Document which correlations or components motivated feature selection or transforms before modeling chapters.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Pearson or Spearman based on shape and scale. Heatmaps screen; scatter plots verify. Advanced tools extend EDA when many features or time order matter.</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best practices for reproducible, clear EDA.</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select charts by analysis type, avoid misleading visual design, document EDA steps, and tailor presentations to technical versus non-technical audiences.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EDA surfaces defects, log what you found and apply Chapter 5 repairs. Short notes tying plots to cleaning actions support reproducibility and later model audits.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Histograms and box plots for univariate numerics; bar charts for categories; scatter plots for two continuous variables; heatmaps for correlation matrices; pair plots for multivariate tours. Simplicity beats decorative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truncate axes to exaggerate differences, overload color, or cherry-pick time windows. Anscombe's quartet reminds us identical summaries can hide different shapes—plots must be read carefully.</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steps in notebooks or scripts; explain why transforms or charts were chosen. Use version control for analysis artifacts. Markdown cells in Jupyter should state the question each plot answers.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Tailor depth to the audience—statistical detail for engineers, decisions and recommendations for executives. Each chart should convey one message; sequence visuals to build a narrative from distributions to relationships to actions.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EDA is reproducible and honest. Chart choice and annotation matter as much as code. Link exploration logs to cleaning and modeling downstream.</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common pitfalls in EDA.</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recognize visualization overfitting, confirmation bias, neglected quality checks, and premature closure of exploration.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 many variables, categories, or colors clutter charts and invite false patterns. Spurious correlations and cherry-picked time ranges can look convincing. Prefer simple charts, fair axes, and follow-up checks.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one-day sales spike may be a promotion, not a trend. Weak correlations become overstated when charts are tuned to impress. Example 6.5's weather cue still needs confirmatory analysis—not instant causation claims.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Skipping missingness, duplicates, or inconsistent labels undermines every plot built on top. Section 6.4 exists to prevent exploring broken tables as if they were ground truth.</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Searching only for evidence that supports a favored hypothesis hides contradictory views. EDA should be iterative: new plots after cleaning, new questions after surprises. Example 6.4 warns against forcing linear stories on nonlinear data.</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Simplify visuals, validate patterns, fix quality first, and iterate. Pitfalls are cognitive as much as technical—process discipline reduces them.</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domain case studies.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outline EDA steps for retail segmentation and clinical outcome tables and identify exploration priorities in fraud and climate settings.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E-commerce segmentation faces missing age or frequency fields, inconsistent product capitalization, and mixed currencies. EDA profiles missingness, standardizes text and currency, scales spend features, then supports clustering for targeted campaigns.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Clinical records mix labs, history, and outcomes with missing vitals, outlier readings, and inconsistent smoker labels. Box plots and IQR screens flag vitals; categorical standardization and scaling precede outcome models.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Transaction EDA emphasizes extreme amounts, rare positive class counts, and time patterns. Example 6.7 places outliers in a financial setting—explore class imbalance before trusting accuracy. Open the example 7 module for fraud-oriented summaries.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Customer segmentation repeats retail motifs—RFM-style features, geography, and product mix. Climate monitoring stresses temporal plots, missing sensors, and distribution shifts across regions or seasons.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6.5 shows how exploratory correlation can suggest seasonal hypotheses worth later testing. Try the example 5 module to connect domain questions with plot choices.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studies share a pattern: profile, visualize, detect issues, clean, re-explore. Domain dictates which defects and relationships matter most.</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advanced topics and future directions.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name trends in automated EDA, outline challenges for streaming exploration, and describe how EDA hooks into ML pipelines.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 generators and AutoML front-ends accelerate first passes on wide tables. They help triage columns and missingness but require human review for domain validity, leakage, and fairness implications connected to Chapter 7.</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Batch assumptions fail when data never stops arriving. Sliding windows, online summaries, and sampled visualizations replace full-table scans. Latency and consistency constraints mirror Chapter 5 streaming preprocessing themes.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Exploration informs feature stores, train-validation splits, and monitoring baselines. Documented EDA artifacts become regression tests when production data drifts—summary stats and plot templates detect shift early.</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7 deepens bias and fairness analysis once exploration reveals segment disparities. Strong EDA logs make later modeling and auditing more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Automation scales the first pass; humans keep domain judgment. Streaming and pipeline integration extend EDA beyond one-off notebooks.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You have completed the Chapter 6 learning path—return to the chapter landing page for the full deck or browse module examples.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6 — Introduction to EDA</a:t>
            </a:r>
          </a:p>
          <a:p>
            <a:pPr algn="ctr">
              <a:lnSpc>
                <a:spcPts val="2200"/>
              </a:lnSpc>
              <a:spcBef>
                <a:spcPts val="1400"/>
              </a:spcBef>
            </a:pPr>
            <a:r>
              <a:rPr sz="2600" b="0">
                <a:solidFill>
                  <a:srgbClr val="333333"/>
                </a:solidFill>
                <a:latin typeface="Calibri"/>
              </a:rPr>
              <a:t>Chapter 5 repaired defects in a table; this chapter asks how to explore that table before formal modeling</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Define EDA, explain how it differs from confirmatory analysis</a:t>
            </a:r>
          </a:p>
          <a:p>
            <a:pPr lvl="0" marL="457200" indent="-228600">
              <a:buFont typeface="Calibri"/>
              <a:spcAft>
                <a:spcPts val="1000"/>
              </a:spcAft>
              <a:buSzPct val="100000"/>
              <a:buChar char="•"/>
              <a:lnSpc>
                <a:spcPts val="2200"/>
              </a:lnSpc>
            </a:pPr>
            <a:r>
              <a:rPr sz="2000" b="0">
                <a:solidFill>
                  <a:srgbClr val="333333"/>
                </a:solidFill>
                <a:latin typeface="Calibri"/>
              </a:rPr>
              <a:t>Describe how exploration and cleaning iterate in practice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EDA does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EDA combines descriptive statistics, graphical plots, and light transformations</a:t>
            </a:r>
          </a:p>
          <a:p>
            <a:pPr lvl="0" marL="457200" indent="-228600">
              <a:buFont typeface="Calibri"/>
              <a:spcAft>
                <a:spcPts val="1000"/>
              </a:spcAft>
              <a:buSzPct val="100000"/>
              <a:buChar char="•"/>
              <a:lnSpc>
                <a:spcPts val="2200"/>
              </a:lnSpc>
            </a:pPr>
            <a:r>
              <a:rPr sz="2000" b="0">
                <a:solidFill>
                  <a:srgbClr val="333333"/>
                </a:solidFill>
                <a:latin typeface="Calibri"/>
              </a:rPr>
              <a:t>Typical steps include summarizing variables, visualizing relationships</a:t>
            </a:r>
          </a:p>
          <a:p>
            <a:pPr lvl="0" marL="457200" indent="-228600">
              <a:buFont typeface="Calibri"/>
              <a:spcAft>
                <a:spcPts val="1000"/>
              </a:spcAft>
              <a:buSzPct val="100000"/>
              <a:buChar char="•"/>
              <a:lnSpc>
                <a:spcPts val="2200"/>
              </a:lnSpc>
            </a:pPr>
            <a:r>
              <a:rPr sz="2000" b="0">
                <a:solidFill>
                  <a:srgbClr val="333333"/>
                </a:solidFill>
                <a:latin typeface="Calibri"/>
              </a:rPr>
              <a:t>The objective is to understand the data itself before choosing models or tests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EDA versus earlier chapters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Chapter 1 introduced a minimal exploration mindset</a:t>
            </a:r>
          </a:p>
          <a:p>
            <a:pPr lvl="0" marL="457200" indent="-228600">
              <a:buFont typeface="Calibri"/>
              <a:spcAft>
                <a:spcPts val="1000"/>
              </a:spcAft>
              <a:buSzPct val="100000"/>
              <a:buChar char="•"/>
              <a:lnSpc>
                <a:spcPts val="2200"/>
              </a:lnSpc>
            </a:pPr>
            <a:r>
              <a:rPr sz="2000" b="0">
                <a:solidFill>
                  <a:srgbClr val="333333"/>
                </a:solidFill>
                <a:latin typeface="Calibri"/>
              </a:rPr>
              <a:t>This chapter is the authoritative home for exploration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6.1 — E-commerce customer EDA pass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6.1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6.1 sketches a first pass on a customer table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`modules/chapter6/example1/`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EDA matters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Guides hypothesis formation from patterns you did not expect</a:t>
            </a:r>
          </a:p>
          <a:p>
            <a:pPr lvl="0" marL="457200" indent="-228600">
              <a:buFont typeface="Calibri"/>
              <a:spcAft>
                <a:spcPts val="1000"/>
              </a:spcAft>
              <a:buSzPct val="100000"/>
              <a:buChar char="•"/>
              <a:lnSpc>
                <a:spcPts val="2200"/>
              </a:lnSpc>
            </a:pPr>
            <a:r>
              <a:rPr sz="2000" b="0">
                <a:solidFill>
                  <a:srgbClr val="333333"/>
                </a:solidFill>
                <a:latin typeface="Calibri"/>
              </a:rPr>
              <a:t>Example 6.4 contrasts linear and nonlinear cues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6.4 — Linear versus nonlinear patterns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6.4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6.4 notes that a strong linear scatter suggests linear regression may fit</a:t>
            </a:r>
          </a:p>
          <a:p>
            <a:pPr lvl="0" marL="457200" indent="-228600">
              <a:buFont typeface="Calibri"/>
              <a:spcAft>
                <a:spcPts val="1000"/>
              </a:spcAft>
              <a:buSzPct val="100000"/>
              <a:buChar char="•"/>
              <a:lnSpc>
                <a:spcPts val="2200"/>
              </a:lnSpc>
            </a:pPr>
            <a:r>
              <a:rPr sz="2000" b="0">
                <a:solidFill>
                  <a:srgbClr val="333333"/>
                </a:solidFill>
                <a:latin typeface="Calibri"/>
              </a:rPr>
              <a:t>Shape checks from Example 6.2 should precede algorithm selection</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`modules/chapter6/example4/`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EDA is observation-first exploration before modeling</a:t>
            </a:r>
          </a:p>
          <a:p>
            <a:pPr lvl="0" marL="457200" indent="-228600">
              <a:buFont typeface="Calibri"/>
              <a:spcAft>
                <a:spcPts val="1000"/>
              </a:spcAft>
              <a:buSzPct val="100000"/>
              <a:buChar char="•"/>
              <a:lnSpc>
                <a:spcPts val="2200"/>
              </a:lnSpc>
            </a:pPr>
            <a:r>
              <a:rPr sz="2000" b="0">
                <a:solidFill>
                  <a:srgbClr val="333333"/>
                </a:solidFill>
                <a:latin typeface="Calibri"/>
              </a:rPr>
              <a:t>It iterates with cleaning</a:t>
            </a:r>
          </a:p>
          <a:p>
            <a:pPr lvl="0" marL="457200" indent="-228600">
              <a:buFont typeface="Calibri"/>
              <a:spcAft>
                <a:spcPts val="1000"/>
              </a:spcAft>
              <a:buSzPct val="100000"/>
              <a:buChar char="•"/>
              <a:lnSpc>
                <a:spcPts val="2200"/>
              </a:lnSpc>
            </a:pPr>
            <a:r>
              <a:rPr sz="2000" b="0">
                <a:solidFill>
                  <a:srgbClr val="333333"/>
                </a:solidFill>
                <a:latin typeface="Calibri"/>
              </a:rPr>
              <a:t>Summaries plus plots form the core toolkit introduced in the parts that follow</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data types and measures of central tendency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Distinguish four common data types, compute mean, median</a:t>
            </a:r>
          </a:p>
          <a:p>
            <a:pPr lvl="0" marL="457200" indent="-228600">
              <a:buFont typeface="Calibri"/>
              <a:spcAft>
                <a:spcPts val="1000"/>
              </a:spcAft>
              <a:buSzPct val="100000"/>
              <a:buChar char="•"/>
              <a:lnSpc>
                <a:spcPts val="2200"/>
              </a:lnSpc>
            </a:pPr>
            <a:r>
              <a:rPr sz="2000" b="0">
                <a:solidFill>
                  <a:srgbClr val="333333"/>
                </a:solidFill>
                <a:latin typeface="Calibri"/>
              </a:rPr>
              <a:t>Mode</a:t>
            </a:r>
          </a:p>
          <a:p>
            <a:pPr lvl="0" marL="457200" indent="-228600">
              <a:buFont typeface="Calibri"/>
              <a:spcAft>
                <a:spcPts val="1000"/>
              </a:spcAft>
              <a:buSzPct val="100000"/>
              <a:buChar char="•"/>
              <a:lnSpc>
                <a:spcPts val="2200"/>
              </a:lnSpc>
            </a:pPr>
            <a:r>
              <a:rPr sz="2000" b="0">
                <a:solidFill>
                  <a:srgbClr val="333333"/>
                </a:solidFill>
                <a:latin typeface="Calibri"/>
              </a:rPr>
              <a:t>State when each central tendency measure is appropriate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Types of data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Continuous variables take any value in an interval, height, income, sales totals</a:t>
            </a:r>
          </a:p>
          <a:p>
            <a:pPr lvl="0" marL="457200" indent="-228600">
              <a:buFont typeface="Calibri"/>
              <a:spcAft>
                <a:spcPts val="1000"/>
              </a:spcAft>
              <a:buSzPct val="100000"/>
              <a:buChar char="•"/>
              <a:lnSpc>
                <a:spcPts val="2200"/>
              </a:lnSpc>
            </a:pPr>
            <a:r>
              <a:rPr sz="2000" b="0">
                <a:solidFill>
                  <a:srgbClr val="333333"/>
                </a:solidFill>
                <a:latin typeface="Calibri"/>
              </a:rPr>
              <a:t>Discrete variables are counts, purchases per month, items in a basket</a:t>
            </a:r>
          </a:p>
          <a:p>
            <a:pPr lvl="0" marL="457200" indent="-228600">
              <a:buFont typeface="Calibri"/>
              <a:spcAft>
                <a:spcPts val="1000"/>
              </a:spcAft>
              <a:buSzPct val="100000"/>
              <a:buChar char="•"/>
              <a:lnSpc>
                <a:spcPts val="2200"/>
              </a:lnSpc>
            </a:pPr>
            <a:r>
              <a:rPr sz="2000" b="0">
                <a:solidFill>
                  <a:srgbClr val="333333"/>
                </a:solidFill>
                <a:latin typeface="Calibri"/>
              </a:rPr>
              <a:t>Nominal categories have no order, product type, color</a:t>
            </a:r>
          </a:p>
          <a:p>
            <a:pPr lvl="0" marL="457200" indent="-228600">
              <a:buFont typeface="Calibri"/>
              <a:spcAft>
                <a:spcPts val="1000"/>
              </a:spcAft>
              <a:buSzPct val="100000"/>
              <a:buChar char="•"/>
              <a:lnSpc>
                <a:spcPts val="2200"/>
              </a:lnSpc>
            </a:pPr>
            <a:r>
              <a:rPr sz="2000" b="0">
                <a:solidFill>
                  <a:srgbClr val="333333"/>
                </a:solidFill>
                <a:latin typeface="Calibri"/>
              </a:rPr>
              <a:t>Ordinal categories have meaningful order, satisfaction ratings, education bands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6.10 and 6.13 — Continuous and nominal cases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6.10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6.10 lists continuous physical measures</a:t>
            </a:r>
          </a:p>
          <a:p>
            <a:pPr lvl="0" marL="457200" indent="-228600">
              <a:buFont typeface="Calibri"/>
              <a:spcAft>
                <a:spcPts val="1000"/>
              </a:spcAft>
              <a:buSzPct val="100000"/>
              <a:buChar char="•"/>
              <a:lnSpc>
                <a:spcPts val="2200"/>
              </a:lnSpc>
            </a:pPr>
            <a:r>
              <a:rPr sz="2000" b="0">
                <a:solidFill>
                  <a:srgbClr val="333333"/>
                </a:solidFill>
                <a:latin typeface="Calibri"/>
              </a:rPr>
              <a:t>Example 6.13 shows nominal product categories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`modules/chapter6/example10/`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Mean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mean is the arithmetic average, sum divided by count</a:t>
            </a:r>
          </a:p>
          <a:p>
            <a:pPr lvl="0" marL="457200" indent="-228600">
              <a:buFont typeface="Calibri"/>
              <a:spcAft>
                <a:spcPts val="1000"/>
              </a:spcAft>
              <a:buSzPct val="100000"/>
              <a:buChar char="•"/>
              <a:lnSpc>
                <a:spcPts val="2200"/>
              </a:lnSpc>
            </a:pPr>
            <a:r>
              <a:rPr sz="2000" b="0">
                <a:solidFill>
                  <a:srgbClr val="333333"/>
                </a:solidFill>
                <a:latin typeface="Calibri"/>
              </a:rPr>
              <a:t>Example 6.15 computes mean income</a:t>
            </a:r>
          </a:p>
          <a:p>
            <a:pPr lvl="0" marL="457200" indent="-228600">
              <a:buFont typeface="Calibri"/>
              <a:spcAft>
                <a:spcPts val="1000"/>
              </a:spcAft>
              <a:buSzPct val="100000"/>
              <a:buChar char="•"/>
              <a:lnSpc>
                <a:spcPts val="2200"/>
              </a:lnSpc>
            </a:pPr>
            <a:r>
              <a:rPr sz="2000" b="0">
                <a:solidFill>
                  <a:srgbClr val="333333"/>
                </a:solidFill>
                <a:latin typeface="Calibri"/>
              </a:rPr>
              <a:t>Use means for roughly symmetric continuous 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Median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median is the middle value when sorted</a:t>
            </a:r>
          </a:p>
          <a:p>
            <a:pPr lvl="0" marL="457200" indent="-228600">
              <a:buFont typeface="Calibri"/>
              <a:spcAft>
                <a:spcPts val="1000"/>
              </a:spcAft>
              <a:buSzPct val="100000"/>
              <a:buChar char="•"/>
              <a:lnSpc>
                <a:spcPts val="2200"/>
              </a:lnSpc>
            </a:pPr>
            <a:r>
              <a:rPr sz="2000" b="0">
                <a:solidFill>
                  <a:srgbClr val="333333"/>
                </a:solidFill>
                <a:latin typeface="Calibri"/>
              </a:rPr>
              <a:t>Example 6.16 contrasts odd and even samples</a:t>
            </a:r>
          </a:p>
          <a:p>
            <a:pPr lvl="0" marL="457200" indent="-228600">
              <a:buFont typeface="Calibri"/>
              <a:spcAft>
                <a:spcPts val="1000"/>
              </a:spcAft>
              <a:buSzPct val="100000"/>
              <a:buChar char="•"/>
              <a:lnSpc>
                <a:spcPts val="2200"/>
              </a:lnSpc>
            </a:pPr>
            <a:r>
              <a:rPr sz="2000" b="0">
                <a:solidFill>
                  <a:srgbClr val="333333"/>
                </a:solidFill>
                <a:latin typeface="Calibri"/>
              </a:rPr>
              <a:t>Median resists outliers and suits skewed income or spend distributions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Mode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mode is the most frequent value, especially useful for categorical data</a:t>
            </a:r>
          </a:p>
          <a:p>
            <a:pPr lvl="0" marL="457200" indent="-228600">
              <a:buFont typeface="Calibri"/>
              <a:spcAft>
                <a:spcPts val="1000"/>
              </a:spcAft>
              <a:buSzPct val="100000"/>
              <a:buChar char="•"/>
              <a:lnSpc>
                <a:spcPts val="2200"/>
              </a:lnSpc>
            </a:pPr>
            <a:r>
              <a:rPr sz="2000" b="0">
                <a:solidFill>
                  <a:srgbClr val="333333"/>
                </a:solidFill>
                <a:latin typeface="Calibri"/>
              </a:rPr>
              <a:t>Example 6.17 shows a simple numeric mode</a:t>
            </a:r>
          </a:p>
          <a:p>
            <a:pPr lvl="0" marL="457200" indent="-228600">
              <a:buFont typeface="Calibri"/>
              <a:spcAft>
                <a:spcPts val="1000"/>
              </a:spcAft>
              <a:buSzPct val="100000"/>
              <a:buChar char="•"/>
              <a:lnSpc>
                <a:spcPts val="2200"/>
              </a:lnSpc>
            </a:pPr>
            <a:r>
              <a:rPr sz="2000" b="0">
                <a:solidFill>
                  <a:srgbClr val="333333"/>
                </a:solidFill>
                <a:latin typeface="Calibri"/>
              </a:rPr>
              <a:t>A multimodal distribution may indicate subpopulations worth splitting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Matching summary to type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Use means and medians for numeric exploration; use mode or frequency tables for categories</a:t>
            </a:r>
          </a:p>
          <a:p>
            <a:pPr lvl="0" marL="457200" indent="-228600">
              <a:buFont typeface="Calibri"/>
              <a:spcAft>
                <a:spcPts val="1000"/>
              </a:spcAft>
              <a:buSzPct val="100000"/>
              <a:buChar char="•"/>
              <a:lnSpc>
                <a:spcPts val="2200"/>
              </a:lnSpc>
            </a:pPr>
            <a:r>
              <a:rPr sz="2000" b="0">
                <a:solidFill>
                  <a:srgbClr val="333333"/>
                </a:solidFill>
                <a:latin typeface="Calibri"/>
              </a:rPr>
              <a:t>Report all three for numeric fields during early EDA so skew is visible when mean and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Variable type dictates valid summaries</a:t>
            </a:r>
          </a:p>
          <a:p>
            <a:pPr lvl="0" marL="457200" indent="-228600">
              <a:buFont typeface="Calibri"/>
              <a:spcAft>
                <a:spcPts val="1000"/>
              </a:spcAft>
              <a:buSzPct val="100000"/>
              <a:buChar char="•"/>
              <a:lnSpc>
                <a:spcPts val="2200"/>
              </a:lnSpc>
            </a:pPr>
            <a:r>
              <a:rPr sz="2000" b="0">
                <a:solidFill>
                  <a:srgbClr val="333333"/>
                </a:solidFill>
                <a:latin typeface="Calibri"/>
              </a:rPr>
              <a:t>Mean, median, and mode answer different questions about center</a:t>
            </a:r>
          </a:p>
          <a:p>
            <a:pPr lvl="0" marL="457200" indent="-228600">
              <a:buFont typeface="Calibri"/>
              <a:spcAft>
                <a:spcPts val="1000"/>
              </a:spcAft>
              <a:buSzPct val="100000"/>
              <a:buChar char="•"/>
              <a:lnSpc>
                <a:spcPts val="2200"/>
              </a:lnSpc>
            </a:pPr>
            <a:r>
              <a:rPr sz="2000" b="0">
                <a:solidFill>
                  <a:srgbClr val="333333"/>
                </a:solidFill>
                <a:latin typeface="Calibri"/>
              </a:rPr>
              <a:t>Always inspect type before computing describe() output blindly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dispersion, shape, frequency tables, and grouping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Compute variance and standard deviation</a:t>
            </a:r>
          </a:p>
          <a:p>
            <a:pPr lvl="0" marL="457200" indent="-228600">
              <a:buFont typeface="Calibri"/>
              <a:spcAft>
                <a:spcPts val="1000"/>
              </a:spcAft>
              <a:buSzPct val="100000"/>
              <a:buChar char="•"/>
              <a:lnSpc>
                <a:spcPts val="2200"/>
              </a:lnSpc>
            </a:pPr>
            <a:r>
              <a:rPr sz="2000" b="0">
                <a:solidFill>
                  <a:srgbClr val="333333"/>
                </a:solidFill>
                <a:latin typeface="Calibri"/>
              </a:rPr>
              <a:t>Summarize by groups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Variance and standard deviation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Variance averages squared deviations from the mean</a:t>
            </a:r>
          </a:p>
          <a:p>
            <a:pPr lvl="0" marL="457200" indent="-228600">
              <a:buFont typeface="Calibri"/>
              <a:spcAft>
                <a:spcPts val="1000"/>
              </a:spcAft>
              <a:buSzPct val="100000"/>
              <a:buChar char="•"/>
              <a:lnSpc>
                <a:spcPts val="2200"/>
              </a:lnSpc>
            </a:pPr>
            <a:r>
              <a:rPr sz="2000" b="0">
                <a:solidFill>
                  <a:srgbClr val="333333"/>
                </a:solidFill>
                <a:latin typeface="Calibri"/>
              </a:rPr>
              <a:t>Example 6.18 sketches variance for a small sample; Example 6.19 takes the square root</a:t>
            </a:r>
          </a:p>
          <a:p>
            <a:pPr lvl="0" marL="457200" indent="-228600">
              <a:buFont typeface="Calibri"/>
              <a:spcAft>
                <a:spcPts val="1000"/>
              </a:spcAft>
              <a:buSzPct val="100000"/>
              <a:buChar char="•"/>
              <a:lnSpc>
                <a:spcPts val="2200"/>
              </a:lnSpc>
            </a:pPr>
            <a:r>
              <a:rPr sz="2000" b="0">
                <a:solidFill>
                  <a:srgbClr val="333333"/>
                </a:solidFill>
                <a:latin typeface="Calibri"/>
              </a:rPr>
              <a:t>Larger standard deviation means more spread around the center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6.18 — Variance sketch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6.18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6.18 uses the sample values two, four, four, six, and eight</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`modules/chapter6/example18/`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6.18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"""Calculate variance from Example 6.18."""</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statistics import fmean, pvariance, variance</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main() -&gt; None:</a:t>
            </a:r>
          </a:p>
          <a:p>
            <a:pPr>
              <a:lnSpc>
                <a:spcPts val="2200"/>
              </a:lnSpc>
              <a:spcAft>
                <a:spcPts val="400"/>
              </a:spcAft>
            </a:pPr>
            <a:r>
              <a:rPr sz="2000" b="0">
                <a:solidFill>
                  <a:srgbClr val="333333"/>
                </a:solidFill>
                <a:latin typeface="Consolas"/>
              </a:rPr>
              <a:t>    """Print deviations and both population and sample variance."""</a:t>
            </a:r>
          </a:p>
          <a:p>
            <a:pPr>
              <a:lnSpc>
                <a:spcPts val="2200"/>
              </a:lnSpc>
              <a:spcAft>
                <a:spcPts val="400"/>
              </a:spcAft>
            </a:pPr>
            <a:r>
              <a:rPr sz="2000" b="0">
                <a:solidFill>
                  <a:srgbClr val="333333"/>
                </a:solidFill>
                <a:latin typeface="Consolas"/>
              </a:rPr>
              <a:t>    values: list[int] = [2, 4, 4, 6, 8]</a:t>
            </a:r>
          </a:p>
          <a:p>
            <a:pPr>
              <a:lnSpc>
                <a:spcPts val="2200"/>
              </a:lnSpc>
              <a:spcAft>
                <a:spcPts val="400"/>
              </a:spcAft>
            </a:pPr>
            <a:r>
              <a:rPr sz="2000" b="0">
                <a:solidFill>
                  <a:srgbClr val="333333"/>
                </a:solidFill>
                <a:latin typeface="Consolas"/>
              </a:rPr>
              <a:t>    mean_value: float = fmean(values)</a:t>
            </a:r>
          </a:p>
          <a:p>
            <a:pPr>
              <a:lnSpc>
                <a:spcPts val="2200"/>
              </a:lnSpc>
              <a:spcAft>
                <a:spcPts val="400"/>
              </a:spcAft>
            </a:pPr>
            <a:r>
              <a:rPr sz="2000" b="0">
                <a:solidFill>
                  <a:srgbClr val="333333"/>
                </a:solidFill>
                <a:latin typeface="Consolas"/>
              </a:rPr>
              <a:t>    squared_deviations: list[float] = [</a:t>
            </a:r>
          </a:p>
          <a:p>
            <a:pPr>
              <a:lnSpc>
                <a:spcPts val="2200"/>
              </a:lnSpc>
              <a:spcAft>
                <a:spcPts val="400"/>
              </a:spcAft>
            </a:pPr>
            <a:r>
              <a:rPr sz="2000" b="0">
                <a:solidFill>
                  <a:srgbClr val="333333"/>
                </a:solidFill>
                <a:latin typeface="Consolas"/>
              </a:rPr>
              <a:t>        (value - mean_value) ** 2 for value in values</a:t>
            </a:r>
          </a:p>
          <a:p>
            <a:pPr>
              <a:lnSpc>
                <a:spcPts val="2200"/>
              </a:lnSpc>
              <a:spcAft>
                <a:spcPts val="400"/>
              </a:spcAft>
            </a:pPr>
            <a:r>
              <a:rPr sz="2000" b="0">
                <a:solidFill>
                  <a:srgbClr val="333333"/>
                </a:solidFill>
                <a:latin typeface="Consolas"/>
              </a:rPr>
              <a:t>    ]</a:t>
            </a:r>
          </a:p>
          <a:p>
            <a:pPr>
              <a:lnSpc>
                <a:spcPts val="2200"/>
              </a:lnSpc>
              <a:spcAft>
                <a:spcPts val="400"/>
              </a:spcAft>
            </a:pPr>
            <a:r>
              <a:rPr sz="2000" b="0">
                <a:solidFill>
                  <a:srgbClr val="333333"/>
                </a:solidFill>
                <a:latin typeface="Consolas"/>
              </a:rPr>
              <a:t>    print("Values:", values)</a:t>
            </a:r>
          </a:p>
          <a:p>
            <a:pPr>
              <a:lnSpc>
                <a:spcPts val="2200"/>
              </a:lnSpc>
              <a:spcAft>
                <a:spcPts val="400"/>
              </a:spcAft>
            </a:pPr>
            <a:r>
              <a:rPr sz="2000" b="0">
                <a:solidFill>
                  <a:srgbClr val="333333"/>
                </a:solidFill>
                <a:latin typeface="Consolas"/>
              </a:rPr>
              <a:t>    print("Mean:", mean_value)</a:t>
            </a:r>
          </a:p>
          <a:p>
            <a:pPr>
              <a:lnSpc>
                <a:spcPts val="2200"/>
              </a:lnSpc>
              <a:spcAft>
                <a:spcPts val="4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Range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Range is max minus min, Example 6.20 on a small sample</a:t>
            </a:r>
          </a:p>
          <a:p>
            <a:pPr lvl="0" marL="457200" indent="-228600">
              <a:buFont typeface="Calibri"/>
              <a:spcAft>
                <a:spcPts val="1000"/>
              </a:spcAft>
              <a:buSzPct val="100000"/>
              <a:buChar char="•"/>
              <a:lnSpc>
                <a:spcPts val="2200"/>
              </a:lnSpc>
            </a:pPr>
            <a:r>
              <a:rPr sz="2000" b="0">
                <a:solidFill>
                  <a:srgbClr val="333333"/>
                </a:solidFill>
                <a:latin typeface="Calibri"/>
              </a:rPr>
              <a:t>Simple but sensitive to outliers</a:t>
            </a:r>
          </a:p>
          <a:p>
            <a:pPr lvl="0" marL="457200" indent="-228600">
              <a:buFont typeface="Calibri"/>
              <a:spcAft>
                <a:spcPts val="1000"/>
              </a:spcAft>
              <a:buSzPct val="100000"/>
              <a:buChar char="•"/>
              <a:lnSpc>
                <a:spcPts val="2200"/>
              </a:lnSpc>
            </a:pPr>
            <a:r>
              <a:rPr sz="2000" b="0">
                <a:solidFill>
                  <a:srgbClr val="333333"/>
                </a:solidFill>
                <a:latin typeface="Calibri"/>
              </a:rPr>
              <a:t>Pair range with quartiles or IQR for robust spread views in later plots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Measures of shape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Skewness indicates asymmetry: right-skewed income tails pull the mean above the median</a:t>
            </a:r>
          </a:p>
          <a:p>
            <a:pPr lvl="0" marL="457200" indent="-228600">
              <a:buFont typeface="Calibri"/>
              <a:spcAft>
                <a:spcPts val="1000"/>
              </a:spcAft>
              <a:buSzPct val="100000"/>
              <a:buChar char="•"/>
              <a:lnSpc>
                <a:spcPts val="2200"/>
              </a:lnSpc>
            </a:pPr>
            <a:r>
              <a:rPr sz="2000" b="0">
                <a:solidFill>
                  <a:srgbClr val="333333"/>
                </a:solidFill>
                <a:latin typeface="Calibri"/>
              </a:rPr>
              <a:t>Kurtosis relates to tail heaviness</a:t>
            </a:r>
          </a:p>
          <a:p>
            <a:pPr lvl="0" marL="457200" indent="-228600">
              <a:buFont typeface="Calibri"/>
              <a:spcAft>
                <a:spcPts val="1000"/>
              </a:spcAft>
              <a:buSzPct val="100000"/>
              <a:buChar char="•"/>
              <a:lnSpc>
                <a:spcPts val="2200"/>
              </a:lnSpc>
            </a:pPr>
            <a:r>
              <a:rPr sz="2000" b="0">
                <a:solidFill>
                  <a:srgbClr val="333333"/>
                </a:solidFill>
                <a:latin typeface="Calibri"/>
              </a:rPr>
              <a:t>Example 6.2 from the introduction linked skewness to model choice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Frequency distributions and grouping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Frequency tables count category occurrences or bin counts for numerics</a:t>
            </a:r>
          </a:p>
          <a:p>
            <a:pPr lvl="0" marL="457200" indent="-228600">
              <a:buFont typeface="Calibri"/>
              <a:spcAft>
                <a:spcPts val="1000"/>
              </a:spcAft>
              <a:buSzPct val="100000"/>
              <a:buChar char="•"/>
              <a:lnSpc>
                <a:spcPts val="2200"/>
              </a:lnSpc>
            </a:pPr>
            <a:r>
              <a:rPr sz="2000" b="0">
                <a:solidFill>
                  <a:srgbClr val="333333"/>
                </a:solidFill>
                <a:latin typeface="Calibri"/>
              </a:rPr>
              <a:t>Group-by summaries compute mean spend by region or category</a:t>
            </a:r>
          </a:p>
          <a:p>
            <a:pPr lvl="0" marL="457200" indent="-228600">
              <a:buFont typeface="Calibri"/>
              <a:spcAft>
                <a:spcPts val="1000"/>
              </a:spcAft>
              <a:buSzPct val="100000"/>
              <a:buChar char="•"/>
              <a:lnSpc>
                <a:spcPts val="2200"/>
              </a:lnSpc>
            </a:pPr>
            <a:r>
              <a:rPr sz="2000" b="0">
                <a:solidFill>
                  <a:srgbClr val="333333"/>
                </a:solidFill>
                <a:latin typeface="Calibri"/>
              </a:rPr>
              <a:t>Aggregation reveals segment differences raw global means hide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Report center and spread together</a:t>
            </a:r>
          </a:p>
          <a:p>
            <a:pPr lvl="0" marL="457200" indent="-228600">
              <a:buFont typeface="Calibri"/>
              <a:spcAft>
                <a:spcPts val="1000"/>
              </a:spcAft>
              <a:buSzPct val="100000"/>
              <a:buChar char="•"/>
              <a:lnSpc>
                <a:spcPts val="2200"/>
              </a:lnSpc>
            </a:pPr>
            <a:r>
              <a:rPr sz="2000" b="0">
                <a:solidFill>
                  <a:srgbClr val="333333"/>
                </a:solidFill>
                <a:latin typeface="Calibri"/>
              </a:rPr>
              <a:t>Shape guides transforms and model families</a:t>
            </a:r>
          </a:p>
          <a:p>
            <a:pPr lvl="0" marL="457200" indent="-228600">
              <a:buFont typeface="Calibri"/>
              <a:spcAft>
                <a:spcPts val="1000"/>
              </a:spcAft>
              <a:buSzPct val="100000"/>
              <a:buChar char="•"/>
              <a:lnSpc>
                <a:spcPts val="2200"/>
              </a:lnSpc>
            </a:pPr>
            <a:r>
              <a:rPr sz="2000" b="0">
                <a:solidFill>
                  <a:srgbClr val="333333"/>
                </a:solidFill>
                <a:latin typeface="Calibri"/>
              </a:rPr>
              <a:t>Frequency and group-by tables bridge summaries to the visual techniques in the next parts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univariate and bivariate visualization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Choose univariate plots for distribution checks</a:t>
            </a:r>
          </a:p>
          <a:p>
            <a:pPr lvl="0" marL="457200" indent="-228600">
              <a:buFont typeface="Calibri"/>
              <a:spcAft>
                <a:spcPts val="1000"/>
              </a:spcAft>
              <a:buSzPct val="100000"/>
              <a:buChar char="•"/>
              <a:lnSpc>
                <a:spcPts val="2200"/>
              </a:lnSpc>
            </a:pPr>
            <a:r>
              <a:rPr sz="2000" b="0">
                <a:solidFill>
                  <a:srgbClr val="333333"/>
                </a:solidFill>
                <a:latin typeface="Calibri"/>
              </a:rPr>
              <a:t>Read a correlation heatmap at a screening level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visualize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Visualization supports pattern recognition, quality assessment, hypothesis generation</a:t>
            </a:r>
          </a:p>
          <a:p>
            <a:pPr lvl="0" marL="457200" indent="-228600">
              <a:buFont typeface="Calibri"/>
              <a:spcAft>
                <a:spcPts val="1000"/>
              </a:spcAft>
              <a:buSzPct val="100000"/>
              <a:buChar char="•"/>
              <a:lnSpc>
                <a:spcPts val="2200"/>
              </a:lnSpc>
            </a:pPr>
            <a:r>
              <a:rPr sz="2000" b="0">
                <a:solidFill>
                  <a:srgbClr val="333333"/>
                </a:solidFill>
                <a:latin typeface="Calibri"/>
              </a:rPr>
              <a:t>In EDA, charts often detect missingness patterns, odd scales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Univariate plots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Histograms show frequency by bin, useful for age or spend shape</a:t>
            </a:r>
          </a:p>
          <a:p>
            <a:pPr lvl="0" marL="457200" indent="-228600">
              <a:buFont typeface="Calibri"/>
              <a:spcAft>
                <a:spcPts val="1000"/>
              </a:spcAft>
              <a:buSzPct val="100000"/>
              <a:buChar char="•"/>
              <a:lnSpc>
                <a:spcPts val="2200"/>
              </a:lnSpc>
            </a:pPr>
            <a:r>
              <a:rPr sz="2000" b="0">
                <a:solidFill>
                  <a:srgbClr val="333333"/>
                </a:solidFill>
                <a:latin typeface="Calibri"/>
              </a:rPr>
              <a:t>Box plots summarize median, quartiles, and outlier candidates via the IQR rule</a:t>
            </a:r>
          </a:p>
          <a:p>
            <a:pPr lvl="0" marL="457200" indent="-228600">
              <a:buFont typeface="Calibri"/>
              <a:spcAft>
                <a:spcPts val="1000"/>
              </a:spcAft>
              <a:buSzPct val="100000"/>
              <a:buChar char="•"/>
              <a:lnSpc>
                <a:spcPts val="2200"/>
              </a:lnSpc>
            </a:pPr>
            <a:r>
              <a:rPr sz="2000" b="0">
                <a:solidFill>
                  <a:srgbClr val="333333"/>
                </a:solidFill>
                <a:latin typeface="Calibri"/>
              </a:rPr>
              <a:t>Pie charts work for quick share checks with few categories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6.2 — Skewness informs model choice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6.2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6.2 ties histogram or density shape to later methods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`modules/chapter6/example2/`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Bivariate plots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Scatter plots expose linear or nonlinear association, clusters</a:t>
            </a:r>
          </a:p>
          <a:p>
            <a:pPr lvl="0" marL="457200" indent="-228600">
              <a:buFont typeface="Calibri"/>
              <a:spcAft>
                <a:spcPts val="1000"/>
              </a:spcAft>
              <a:buSzPct val="100000"/>
              <a:buChar char="•"/>
              <a:lnSpc>
                <a:spcPts val="2200"/>
              </a:lnSpc>
            </a:pPr>
            <a:r>
              <a:rPr sz="2000" b="0">
                <a:solidFill>
                  <a:srgbClr val="333333"/>
                </a:solidFill>
                <a:latin typeface="Calibri"/>
              </a:rPr>
              <a:t>Correlation matrices store pairwise coefficients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Categorical–numerical views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Box plots by category compare spend across product types</a:t>
            </a:r>
          </a:p>
          <a:p>
            <a:pPr lvl="0" marL="457200" indent="-228600">
              <a:buFont typeface="Calibri"/>
              <a:spcAft>
                <a:spcPts val="1000"/>
              </a:spcAft>
              <a:buSzPct val="100000"/>
              <a:buChar char="•"/>
              <a:lnSpc>
                <a:spcPts val="2200"/>
              </a:lnSpc>
            </a:pPr>
            <a:r>
              <a:rPr sz="2000" b="0">
                <a:solidFill>
                  <a:srgbClr val="333333"/>
                </a:solidFill>
                <a:latin typeface="Calibri"/>
              </a:rPr>
              <a:t>These views support segment comparisons that group-by tables started numerically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Match chart type to variable count and question</a:t>
            </a:r>
          </a:p>
          <a:p>
            <a:pPr lvl="0" marL="457200" indent="-228600">
              <a:buFont typeface="Calibri"/>
              <a:spcAft>
                <a:spcPts val="1000"/>
              </a:spcAft>
              <a:buSzPct val="100000"/>
              <a:buChar char="•"/>
              <a:lnSpc>
                <a:spcPts val="2200"/>
              </a:lnSpc>
            </a:pPr>
            <a:r>
              <a:rPr sz="2000" b="0">
                <a:solidFill>
                  <a:srgbClr val="333333"/>
                </a:solidFill>
                <a:latin typeface="Calibri"/>
              </a:rPr>
              <a:t>Univariate plots check shape and outliers; bivariate plots screen relationships</a:t>
            </a:r>
          </a:p>
          <a:p>
            <a:pPr lvl="0" marL="457200" indent="-228600">
              <a:buFont typeface="Calibri"/>
              <a:spcAft>
                <a:spcPts val="1000"/>
              </a:spcAft>
              <a:buSzPct val="100000"/>
              <a:buChar char="•"/>
              <a:lnSpc>
                <a:spcPts val="2200"/>
              </a:lnSpc>
            </a:pPr>
            <a:r>
              <a:rPr sz="2000" b="0">
                <a:solidFill>
                  <a:srgbClr val="333333"/>
                </a:solidFill>
                <a:latin typeface="Calibri"/>
              </a:rPr>
              <a:t>Correlation heatmaps prioritize pairs for deeper analysis in later parts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multivariate and high-dimensional visualization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Explain pair plots and parallel-coordinate uses</a:t>
            </a:r>
          </a:p>
          <a:p>
            <a:pPr lvl="0" marL="457200" indent="-228600">
              <a:buFont typeface="Calibri"/>
              <a:spcAft>
                <a:spcPts val="1000"/>
              </a:spcAft>
              <a:buSzPct val="100000"/>
              <a:buChar char="•"/>
              <a:lnSpc>
                <a:spcPts val="2200"/>
              </a:lnSpc>
            </a:pPr>
            <a:r>
              <a:rPr sz="2000" b="0">
                <a:solidFill>
                  <a:srgbClr val="333333"/>
                </a:solidFill>
                <a:latin typeface="Calibri"/>
              </a:rPr>
              <a:t>State cautions for t-SNE cluster views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Heatmaps and pair plots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Heatmaps color-code matrix values, default for correlation tables</a:t>
            </a:r>
          </a:p>
          <a:p>
            <a:pPr lvl="0" marL="457200" indent="-228600">
              <a:buFont typeface="Calibri"/>
              <a:spcAft>
                <a:spcPts val="1000"/>
              </a:spcAft>
              <a:buSzPct val="100000"/>
              <a:buChar char="•"/>
              <a:lnSpc>
                <a:spcPts val="2200"/>
              </a:lnSpc>
            </a:pPr>
            <a:r>
              <a:rPr sz="2000" b="0">
                <a:solidFill>
                  <a:srgbClr val="333333"/>
                </a:solidFill>
                <a:latin typeface="Calibri"/>
              </a:rPr>
              <a:t>Frequency together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Parallel coordinates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Each variable is a vertical axis; each row is a polyline across axes</a:t>
            </a:r>
          </a:p>
          <a:p>
            <a:pPr lvl="0" marL="457200" indent="-228600">
              <a:buFont typeface="Calibri"/>
              <a:spcAft>
                <a:spcPts val="1000"/>
              </a:spcAft>
              <a:buSzPct val="100000"/>
              <a:buChar char="•"/>
              <a:lnSpc>
                <a:spcPts val="2200"/>
              </a:lnSpc>
            </a:pPr>
            <a:r>
              <a:rPr sz="2000" b="0">
                <a:solidFill>
                  <a:srgbClr val="333333"/>
                </a:solidFill>
                <a:latin typeface="Calibri"/>
              </a:rPr>
              <a:t>Useful for finding similar customer profiles in moderate dimensions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Principal component analysis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PCA builds orthogonal components capturing successive maximum variance directions</a:t>
            </a:r>
          </a:p>
          <a:p>
            <a:pPr lvl="0" marL="457200" indent="-228600">
              <a:buFont typeface="Calibri"/>
              <a:spcAft>
                <a:spcPts val="1000"/>
              </a:spcAft>
              <a:buSzPct val="100000"/>
              <a:buChar char="•"/>
              <a:lnSpc>
                <a:spcPts val="2200"/>
              </a:lnSpc>
            </a:pPr>
            <a:r>
              <a:rPr sz="2000" b="0">
                <a:solidFill>
                  <a:srgbClr val="333333"/>
                </a:solidFill>
                <a:latin typeface="Calibri"/>
              </a:rPr>
              <a:t>Plotting the first two or three components can reveal clusters invisible in raw feature</a:t>
            </a:r>
          </a:p>
          <a:p>
            <a:pPr lvl="0" marL="457200" indent="-228600">
              <a:buFont typeface="Calibri"/>
              <a:spcAft>
                <a:spcPts val="1000"/>
              </a:spcAft>
              <a:buSzPct val="100000"/>
              <a:buChar char="•"/>
              <a:lnSpc>
                <a:spcPts val="2200"/>
              </a:lnSpc>
            </a:pPr>
            <a:r>
              <a:rPr sz="2000" b="0">
                <a:solidFill>
                  <a:srgbClr val="333333"/>
                </a:solidFill>
                <a:latin typeface="Calibri"/>
              </a:rPr>
              <a:t>PCA is linear; nonlinear structure may need other tools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t-SNE embeddings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T-SNE emphasizes local neighborhoods in two or three dimensions</a:t>
            </a:r>
          </a:p>
          <a:p>
            <a:pPr lvl="0" marL="457200" indent="-228600">
              <a:buFont typeface="Calibri"/>
              <a:spcAft>
                <a:spcPts val="1000"/>
              </a:spcAft>
              <a:buSzPct val="100000"/>
              <a:buChar char="•"/>
              <a:lnSpc>
                <a:spcPts val="2200"/>
              </a:lnSpc>
            </a:pPr>
            <a:r>
              <a:rPr sz="2000" b="0">
                <a:solidFill>
                  <a:srgbClr val="333333"/>
                </a:solidFill>
                <a:latin typeface="Calibri"/>
              </a:rPr>
              <a:t>Interpret distances between distant clusters cautiously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6.9 — Geography and purchase frequency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6.9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6.9 links geography to purchase hypotheses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`modules/chapter6/example9/`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Escalate plot complexity only when the question requires it</a:t>
            </a:r>
          </a:p>
          <a:p>
            <a:pPr lvl="0" marL="457200" indent="-228600">
              <a:buFont typeface="Calibri"/>
              <a:spcAft>
                <a:spcPts val="1000"/>
              </a:spcAft>
              <a:buSzPct val="100000"/>
              <a:buChar char="•"/>
              <a:lnSpc>
                <a:spcPts val="2200"/>
              </a:lnSpc>
            </a:pPr>
            <a:r>
              <a:rPr sz="2000" b="0">
                <a:solidFill>
                  <a:srgbClr val="333333"/>
                </a:solidFill>
                <a:latin typeface="Calibri"/>
              </a:rPr>
              <a:t>PCA and t-SNE are exploratory projections, not replacements for domain validation</a:t>
            </a:r>
          </a:p>
          <a:p>
            <a:pPr lvl="0" marL="457200" indent="-228600">
              <a:buFont typeface="Calibri"/>
              <a:spcAft>
                <a:spcPts val="1000"/>
              </a:spcAft>
              <a:buSzPct val="100000"/>
              <a:buChar char="•"/>
              <a:lnSpc>
                <a:spcPts val="2200"/>
              </a:lnSpc>
            </a:pPr>
            <a:r>
              <a:rPr sz="2000" b="0">
                <a:solidFill>
                  <a:srgbClr val="333333"/>
                </a:solidFill>
                <a:latin typeface="Calibri"/>
              </a:rPr>
              <a:t>Pair plots remain the honest first multivariate screen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detecting data issues during EDA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Name detection methods for five defect classes</a:t>
            </a:r>
          </a:p>
          <a:p>
            <a:pPr lvl="0" marL="457200" indent="-228600">
              <a:buFont typeface="Calibri"/>
              <a:spcAft>
                <a:spcPts val="1000"/>
              </a:spcAft>
              <a:buSzPct val="100000"/>
              <a:buChar char="•"/>
              <a:lnSpc>
                <a:spcPts val="2200"/>
              </a:lnSpc>
            </a:pPr>
            <a:r>
              <a:rPr sz="2000" b="0">
                <a:solidFill>
                  <a:srgbClr val="333333"/>
                </a:solidFill>
                <a:latin typeface="Calibri"/>
              </a:rPr>
              <a:t>Explain the explore-then-repair loop with Chapter 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Missing data detection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Use null counts, column-wise sums, and missingness heatmaps</a:t>
            </a:r>
          </a:p>
          <a:p>
            <a:pPr lvl="0" marL="457200" indent="-228600">
              <a:buFont typeface="Calibri"/>
              <a:spcAft>
                <a:spcPts val="1000"/>
              </a:spcAft>
              <a:buSzPct val="100000"/>
              <a:buChar char="•"/>
              <a:lnSpc>
                <a:spcPts val="2200"/>
              </a:lnSpc>
            </a:pPr>
            <a:r>
              <a:rPr sz="2000" b="0">
                <a:solidFill>
                  <a:srgbClr val="333333"/>
                </a:solidFill>
                <a:latin typeface="Calibri"/>
              </a:rPr>
              <a:t>Example 6.6 profiles clinical missingness</a:t>
            </a:r>
          </a:p>
          <a:p>
            <a:pPr lvl="0" marL="457200" indent="-228600">
              <a:buFont typeface="Calibri"/>
              <a:spcAft>
                <a:spcPts val="1000"/>
              </a:spcAft>
              <a:buSzPct val="100000"/>
              <a:buChar char="•"/>
              <a:lnSpc>
                <a:spcPts val="2200"/>
              </a:lnSpc>
            </a:pPr>
            <a:r>
              <a:rPr sz="2000" b="0">
                <a:solidFill>
                  <a:srgbClr val="333333"/>
                </a:solidFill>
                <a:latin typeface="Calibri"/>
              </a:rPr>
              <a:t>Classify MCAR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6.6 — Healthcare missingness profile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6.6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6.6 shows how missing labs appear across patients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`modules/chapter6/example6/`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Outliers and duplicates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Detect outliers with box plots, scatter plots, Z-scores, and IQR rules</a:t>
            </a:r>
          </a:p>
          <a:p>
            <a:pPr lvl="0" marL="457200" indent="-228600">
              <a:buFont typeface="Calibri"/>
              <a:spcAft>
                <a:spcPts val="1000"/>
              </a:spcAft>
              <a:buSzPct val="100000"/>
              <a:buChar char="•"/>
              <a:lnSpc>
                <a:spcPts val="2200"/>
              </a:lnSpc>
            </a:pPr>
            <a:r>
              <a:rPr sz="2000" b="0">
                <a:solidFill>
                  <a:srgbClr val="333333"/>
                </a:solidFill>
                <a:latin typeface="Calibri"/>
              </a:rPr>
              <a:t>Example 6.7 places outliers in a fraud transaction setting</a:t>
            </a:r>
          </a:p>
          <a:p>
            <a:pPr lvl="0" marL="457200" indent="-228600">
              <a:buFont typeface="Calibri"/>
              <a:spcAft>
                <a:spcPts val="1000"/>
              </a:spcAft>
              <a:buSzPct val="100000"/>
              <a:buChar char="•"/>
              <a:lnSpc>
                <a:spcPts val="2200"/>
              </a:lnSpc>
            </a:pPr>
            <a:r>
              <a:rPr sz="2000" b="0">
                <a:solidFill>
                  <a:srgbClr val="333333"/>
                </a:solidFill>
                <a:latin typeface="Calibri"/>
              </a:rPr>
              <a:t>Find duplicates with duplicated checks on keys</a:t>
            </a:r>
          </a:p>
          <a:p>
            <a:pPr lvl="0" marL="457200" indent="-228600">
              <a:buFont typeface="Calibri"/>
              <a:spcAft>
                <a:spcPts val="1000"/>
              </a:spcAft>
              <a:buSzPct val="100000"/>
              <a:buChar char="•"/>
              <a:lnSpc>
                <a:spcPts val="2200"/>
              </a:lnSpc>
            </a:pPr>
            <a:r>
              <a:rPr sz="2000" b="0">
                <a:solidFill>
                  <a:srgbClr val="333333"/>
                </a:solidFill>
                <a:latin typeface="Calibri"/>
              </a:rPr>
              <a:t>Decide whether outliers are errors, rare valid events, or noise before treatment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Inconsistency and imbalance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Frequency tables surface format drift, Example 6.8 shows city name inconsistency</a:t>
            </a:r>
          </a:p>
          <a:p>
            <a:pPr lvl="0" marL="457200" indent="-228600">
              <a:buFont typeface="Calibri"/>
              <a:spcAft>
                <a:spcPts val="1000"/>
              </a:spcAft>
              <a:buSzPct val="100000"/>
              <a:buChar char="•"/>
              <a:lnSpc>
                <a:spcPts val="2200"/>
              </a:lnSpc>
            </a:pPr>
            <a:r>
              <a:rPr sz="2000" b="0">
                <a:solidFill>
                  <a:srgbClr val="333333"/>
                </a:solidFill>
                <a:latin typeface="Calibri"/>
              </a:rPr>
              <a:t>Bar charts of class counts reveal imbalance typical in fraud screens</a:t>
            </a:r>
          </a:p>
          <a:p>
            <a:pPr lvl="0" marL="457200" indent="-228600">
              <a:buFont typeface="Calibri"/>
              <a:spcAft>
                <a:spcPts val="1000"/>
              </a:spcAft>
              <a:buSzPct val="100000"/>
              <a:buChar char="•"/>
              <a:lnSpc>
                <a:spcPts val="2200"/>
              </a:lnSpc>
            </a:pPr>
            <a:r>
              <a:rPr sz="2000" b="0">
                <a:solidFill>
                  <a:srgbClr val="333333"/>
                </a:solidFill>
                <a:latin typeface="Calibri"/>
              </a:rPr>
              <a:t>Standardize labels in Chapter 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6.8 — City name inconsistency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6.8 — hands-on module</a:t>
            </a:r>
          </a:p>
          <a:p>
            <a:pPr lvl="0" marL="457200" indent="-228600">
              <a:buFont typeface="Calibri"/>
              <a:spcAft>
                <a:spcPts val="1000"/>
              </a:spcAft>
              <a:buSzPct val="100000"/>
              <a:buChar char="•"/>
              <a:lnSpc>
                <a:spcPts val="2200"/>
              </a:lnSpc>
            </a:pPr>
            <a:r>
              <a:rPr sz="2000" b="0">
                <a:solidFill>
                  <a:srgbClr val="333333"/>
                </a:solidFill>
                <a:latin typeface="Calibri"/>
              </a:rPr>
              <a:t>A geographic label conflict visible in value counts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`modules/chapter6/example8/`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EDA detection is deliberate routing, not silent fixing</a:t>
            </a:r>
          </a:p>
          <a:p>
            <a:pPr lvl="0" marL="457200" indent="-228600">
              <a:buFont typeface="Calibri"/>
              <a:spcAft>
                <a:spcPts val="1000"/>
              </a:spcAft>
              <a:buSzPct val="100000"/>
              <a:buChar char="•"/>
              <a:lnSpc>
                <a:spcPts val="2200"/>
              </a:lnSpc>
            </a:pPr>
            <a:r>
              <a:rPr sz="2000" b="0">
                <a:solidFill>
                  <a:srgbClr val="333333"/>
                </a:solidFill>
                <a:latin typeface="Calibri"/>
              </a:rPr>
              <a:t>Each defect class has visual and tabular signals</a:t>
            </a:r>
          </a:p>
          <a:p>
            <a:pPr lvl="0" marL="457200" indent="-228600">
              <a:buFont typeface="Calibri"/>
              <a:spcAft>
                <a:spcPts val="1000"/>
              </a:spcAft>
              <a:buSzPct val="100000"/>
              <a:buChar char="•"/>
              <a:lnSpc>
                <a:spcPts val="2200"/>
              </a:lnSpc>
            </a:pPr>
            <a:r>
              <a:rPr sz="2000" b="0">
                <a:solidFill>
                  <a:srgbClr val="333333"/>
                </a:solidFill>
                <a:latin typeface="Calibri"/>
              </a:rPr>
              <a:t>Repair workflows live in Chapter 5; exploration returns after fixes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the EDA workflow and tools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Pass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Step 1 — Data understanding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Review structure with head, dtypes, and missing or duplicate flags</a:t>
            </a:r>
          </a:p>
          <a:p>
            <a:pPr lvl="0" marL="457200" indent="-228600">
              <a:buFont typeface="Calibri"/>
              <a:spcAft>
                <a:spcPts val="1000"/>
              </a:spcAft>
              <a:buSzPct val="100000"/>
              <a:buChar char="•"/>
              <a:lnSpc>
                <a:spcPts val="2200"/>
              </a:lnSpc>
            </a:pPr>
            <a:r>
              <a:rPr sz="2000" b="0">
                <a:solidFill>
                  <a:srgbClr val="333333"/>
                </a:solidFill>
                <a:latin typeface="Calibri"/>
              </a:rPr>
              <a:t>Know which columns are numeric, categorical, or temporal before summarizing</a:t>
            </a:r>
          </a:p>
          <a:p>
            <a:pPr lvl="0" marL="457200" indent="-228600">
              <a:buFont typeface="Calibri"/>
              <a:spcAft>
                <a:spcPts val="1000"/>
              </a:spcAft>
              <a:buSzPct val="100000"/>
              <a:buChar char="•"/>
              <a:lnSpc>
                <a:spcPts val="2200"/>
              </a:lnSpc>
            </a:pPr>
            <a:r>
              <a:rPr sz="2000" b="0">
                <a:solidFill>
                  <a:srgbClr val="333333"/>
                </a:solidFill>
                <a:latin typeface="Calibri"/>
              </a:rPr>
              <a:t>Example 6.1 begins here on the e-commerce customer table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Step 2 — Descriptive statistics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Compute means, medians, modes, variance, and standard deviation for numerics</a:t>
            </a:r>
          </a:p>
          <a:p>
            <a:pPr lvl="0" marL="457200" indent="-228600">
              <a:buFont typeface="Calibri"/>
              <a:spcAft>
                <a:spcPts val="1000"/>
              </a:spcAft>
              <a:buSzPct val="100000"/>
              <a:buChar char="•"/>
              <a:lnSpc>
                <a:spcPts val="2200"/>
              </a:lnSpc>
            </a:pPr>
            <a:r>
              <a:rPr sz="2000" b="0">
                <a:solidFill>
                  <a:srgbClr val="333333"/>
                </a:solidFill>
                <a:latin typeface="Calibri"/>
              </a:rPr>
              <a:t>Describe() in pandas bundles many numeric summaries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Step 3 — Visualization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Apply histograms, box plots, scatter plots, and bar charts from earlier parts</a:t>
            </a:r>
          </a:p>
          <a:p>
            <a:pPr lvl="0" marL="457200" indent="-228600">
              <a:buFont typeface="Calibri"/>
              <a:spcAft>
                <a:spcPts val="1000"/>
              </a:spcAft>
              <a:buSzPct val="100000"/>
              <a:buChar char="•"/>
              <a:lnSpc>
                <a:spcPts val="2200"/>
              </a:lnSpc>
            </a:pPr>
            <a:r>
              <a:rPr sz="2000" b="0">
                <a:solidFill>
                  <a:srgbClr val="333333"/>
                </a:solidFill>
                <a:latin typeface="Calibri"/>
              </a:rPr>
              <a:t>Visualization reveals patterns summaries alone miss and supports stakeholder communication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Step 4 — Data quality checks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Use Section 6.4 as a checklist, repair in Chapter 5, then re-explore</a:t>
            </a:r>
          </a:p>
          <a:p>
            <a:pPr lvl="0" marL="457200" indent="-228600">
              <a:buFont typeface="Calibri"/>
              <a:spcAft>
                <a:spcPts val="1000"/>
              </a:spcAft>
              <a:buSzPct val="100000"/>
              <a:buChar char="•"/>
              <a:lnSpc>
                <a:spcPts val="2200"/>
              </a:lnSpc>
            </a:pPr>
            <a:r>
              <a:rPr sz="2000" b="0">
                <a:solidFill>
                  <a:srgbClr val="333333"/>
                </a:solidFill>
                <a:latin typeface="Calibri"/>
              </a:rPr>
              <a:t>Iteration is normal: a fixed table may expose new relationship questions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Tools — pandas, matplotlib, seaborn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Pandas handles tables, read_csv, describe, isnull, drop_duplicates</a:t>
            </a:r>
          </a:p>
          <a:p>
            <a:pPr lvl="0" marL="457200" indent="-228600">
              <a:buFont typeface="Calibri"/>
              <a:spcAft>
                <a:spcPts val="1000"/>
              </a:spcAft>
              <a:buSzPct val="100000"/>
              <a:buChar char="•"/>
              <a:lnSpc>
                <a:spcPts val="2200"/>
              </a:lnSpc>
            </a:pPr>
            <a:r>
              <a:rPr sz="2000" b="0">
                <a:solidFill>
                  <a:srgbClr val="333333"/>
                </a:solidFill>
                <a:latin typeface="Calibri"/>
              </a:rPr>
              <a:t>Matplotlib provides base plotting</a:t>
            </a:r>
          </a:p>
          <a:p>
            <a:pPr lvl="0" marL="457200" indent="-228600">
              <a:buFont typeface="Calibri"/>
              <a:spcAft>
                <a:spcPts val="1000"/>
              </a:spcAft>
              <a:buSzPct val="100000"/>
              <a:buChar char="•"/>
              <a:lnSpc>
                <a:spcPts val="2200"/>
              </a:lnSpc>
            </a:pPr>
            <a:r>
              <a:rPr sz="2000" b="0">
                <a:solidFill>
                  <a:srgbClr val="333333"/>
                </a:solidFill>
                <a:latin typeface="Calibri"/>
              </a:rPr>
              <a:t>R users mirror many steps with dplyr and ggplot2 mentioned in the chapter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Automating EDA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Libraries such as pandas-profiling or ydata-profiling generate summary reports quickly</a:t>
            </a:r>
          </a:p>
          <a:p>
            <a:pPr lvl="0" marL="457200" indent="-228600">
              <a:buFont typeface="Calibri"/>
              <a:spcAft>
                <a:spcPts val="1000"/>
              </a:spcAft>
              <a:buSzPct val="100000"/>
              <a:buChar char="•"/>
              <a:lnSpc>
                <a:spcPts val="2200"/>
              </a:lnSpc>
            </a:pPr>
            <a:r>
              <a:rPr sz="2000" b="0">
                <a:solidFill>
                  <a:srgbClr val="333333"/>
                </a:solidFill>
                <a:latin typeface="Calibri"/>
              </a:rPr>
              <a:t>Automation starts exploration; it does not replace domain questions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Follow understand, summarize, visualize, quality-check in order</a:t>
            </a:r>
          </a:p>
          <a:p>
            <a:pPr lvl="0" marL="457200" indent="-228600">
              <a:buFont typeface="Calibri"/>
              <a:spcAft>
                <a:spcPts val="1000"/>
              </a:spcAft>
              <a:buSzPct val="100000"/>
              <a:buChar char="•"/>
              <a:lnSpc>
                <a:spcPts val="2200"/>
              </a:lnSpc>
            </a:pPr>
            <a:r>
              <a:rPr sz="2000" b="0">
                <a:solidFill>
                  <a:srgbClr val="333333"/>
                </a:solidFill>
                <a:latin typeface="Calibri"/>
              </a:rPr>
              <a:t>Pandas plus seaborn cover most chapter workflows</a:t>
            </a:r>
          </a:p>
          <a:p>
            <a:pPr lvl="0" marL="457200" indent="-228600">
              <a:buFont typeface="Calibri"/>
              <a:spcAft>
                <a:spcPts val="1000"/>
              </a:spcAft>
              <a:buSzPct val="100000"/>
              <a:buChar char="•"/>
              <a:lnSpc>
                <a:spcPts val="2200"/>
              </a:lnSpc>
            </a:pPr>
            <a:r>
              <a:rPr sz="2000" b="0">
                <a:solidFill>
                  <a:srgbClr val="333333"/>
                </a:solidFill>
                <a:latin typeface="Calibri"/>
              </a:rPr>
              <a:t>Automate the first pass, then drill into anomalies manually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advanced EDA techniques including correlation depth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Contrast Pearson and Spearman correlation, interpret correlation heatmaps cautiously</a:t>
            </a:r>
          </a:p>
          <a:p>
            <a:pPr lvl="0" marL="457200" indent="-228600">
              <a:buFont typeface="Calibri"/>
              <a:spcAft>
                <a:spcPts val="1000"/>
              </a:spcAft>
              <a:buSzPct val="100000"/>
              <a:buChar char="•"/>
              <a:lnSpc>
                <a:spcPts val="2200"/>
              </a:lnSpc>
            </a:pPr>
            <a:r>
              <a:rPr sz="2000" b="0">
                <a:solidFill>
                  <a:srgbClr val="333333"/>
                </a:solidFill>
                <a:latin typeface="Calibri"/>
              </a:rPr>
              <a:t>Name additional advanced techniques surveyed in the chapter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Correlation analysis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Pearson correlation measures linear association between continuous pairs</a:t>
            </a:r>
          </a:p>
          <a:p>
            <a:pPr lvl="0" marL="457200" indent="-228600">
              <a:buFont typeface="Calibri"/>
              <a:spcAft>
                <a:spcPts val="1000"/>
              </a:spcAft>
              <a:buSzPct val="100000"/>
              <a:buChar char="•"/>
              <a:lnSpc>
                <a:spcPts val="2200"/>
              </a:lnSpc>
            </a:pPr>
            <a:r>
              <a:rPr sz="2000" b="0">
                <a:solidFill>
                  <a:srgbClr val="333333"/>
                </a:solidFill>
                <a:latin typeface="Calibri"/>
              </a:rPr>
              <a:t>Spearman uses ranks and tolerates monotonic nonlinear relationships better</a:t>
            </a:r>
          </a:p>
          <a:p>
            <a:pPr lvl="0" marL="457200" indent="-228600">
              <a:buFont typeface="Calibri"/>
              <a:spcAft>
                <a:spcPts val="1000"/>
              </a:spcAft>
              <a:buSzPct val="100000"/>
              <a:buChar char="•"/>
              <a:lnSpc>
                <a:spcPts val="2200"/>
              </a:lnSpc>
            </a:pPr>
            <a:r>
              <a:rPr sz="2000" b="0">
                <a:solidFill>
                  <a:srgbClr val="333333"/>
                </a:solidFill>
                <a:latin typeface="Calibri"/>
              </a:rPr>
              <a:t>Coefficients live on minus one to plus one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Reading heatmaps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Correlation heatmaps make strong pairs easy to scan but do not prove causation</a:t>
            </a:r>
          </a:p>
          <a:p>
            <a:pPr lvl="0" marL="457200" indent="-228600">
              <a:buFont typeface="Calibri"/>
              <a:spcAft>
                <a:spcPts val="1000"/>
              </a:spcAft>
              <a:buSzPct val="100000"/>
              <a:buChar char="•"/>
              <a:lnSpc>
                <a:spcPts val="2200"/>
              </a:lnSpc>
            </a:pPr>
            <a:r>
              <a:rPr sz="2000" b="0">
                <a:solidFill>
                  <a:srgbClr val="333333"/>
                </a:solidFill>
                <a:latin typeface="Calibri"/>
              </a:rPr>
              <a:t>Confounding and small samples can inflate or hide relationships</a:t>
            </a:r>
          </a:p>
          <a:p>
            <a:pPr lvl="0" marL="457200" indent="-228600">
              <a:buFont typeface="Calibri"/>
              <a:spcAft>
                <a:spcPts val="1000"/>
              </a:spcAft>
              <a:buSzPct val="100000"/>
              <a:buChar char="•"/>
              <a:lnSpc>
                <a:spcPts val="2200"/>
              </a:lnSpc>
            </a:pPr>
            <a:r>
              <a:rPr sz="2000" b="0">
                <a:solidFill>
                  <a:srgbClr val="333333"/>
                </a:solidFill>
                <a:latin typeface="Calibri"/>
              </a:rPr>
              <a:t>Confirm interesting cells with scatter plots and domain reasoning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6.4 — Linear versus nonlinear patterns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6.4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6.4 reminds you that high Pearson correlation implies linearity</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`modules/chapter6/example4/`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Additional advanced techniques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Links PCA and t-SNE from visualization to structural exploration</a:t>
            </a:r>
          </a:p>
          <a:p>
            <a:pPr lvl="0" marL="457200" indent="-228600">
              <a:buFont typeface="Calibri"/>
              <a:spcAft>
                <a:spcPts val="1000"/>
              </a:spcAft>
              <a:buSzPct val="100000"/>
              <a:buChar char="•"/>
              <a:lnSpc>
                <a:spcPts val="2200"/>
              </a:lnSpc>
            </a:pPr>
            <a:r>
              <a:rPr sz="2000" b="0">
                <a:solidFill>
                  <a:srgbClr val="333333"/>
                </a:solidFill>
                <a:latin typeface="Calibri"/>
              </a:rPr>
              <a:t>Use these when pairwise screens are insufficient for dimensionality or temporal dependence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When to stop exploring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Advanced methods still serve exploration, not final inference</a:t>
            </a:r>
          </a:p>
          <a:p>
            <a:pPr lvl="0" marL="457200" indent="-228600">
              <a:buFont typeface="Calibri"/>
              <a:spcAft>
                <a:spcPts val="1000"/>
              </a:spcAft>
              <a:buSzPct val="100000"/>
              <a:buChar char="•"/>
              <a:lnSpc>
                <a:spcPts val="2200"/>
              </a:lnSpc>
            </a:pPr>
            <a:r>
              <a:rPr sz="2000" b="0">
                <a:solidFill>
                  <a:srgbClr val="333333"/>
                </a:solidFill>
                <a:latin typeface="Calibri"/>
              </a:rPr>
              <a:t>Document which correlations or components motivated feature selection or transforms before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Choose Pearson or Spearman based on shape and scale</a:t>
            </a:r>
          </a:p>
          <a:p>
            <a:pPr lvl="0" marL="457200" indent="-228600">
              <a:buFont typeface="Calibri"/>
              <a:spcAft>
                <a:spcPts val="1000"/>
              </a:spcAft>
              <a:buSzPct val="100000"/>
              <a:buChar char="•"/>
              <a:lnSpc>
                <a:spcPts val="2200"/>
              </a:lnSpc>
            </a:pPr>
            <a:r>
              <a:rPr sz="2000" b="0">
                <a:solidFill>
                  <a:srgbClr val="333333"/>
                </a:solidFill>
                <a:latin typeface="Calibri"/>
              </a:rPr>
              <a:t>Heatmaps screen; scatter plots verify</a:t>
            </a:r>
          </a:p>
          <a:p>
            <a:pPr lvl="0" marL="457200" indent="-228600">
              <a:buFont typeface="Calibri"/>
              <a:spcAft>
                <a:spcPts val="1000"/>
              </a:spcAft>
              <a:buSzPct val="100000"/>
              <a:buChar char="•"/>
              <a:lnSpc>
                <a:spcPts val="2200"/>
              </a:lnSpc>
            </a:pPr>
            <a:r>
              <a:rPr sz="2000" b="0">
                <a:solidFill>
                  <a:srgbClr val="333333"/>
                </a:solidFill>
                <a:latin typeface="Calibri"/>
              </a:rPr>
              <a:t>Advanced tools extend EDA when many features or time order matter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best practices for reproducible, clear EDA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Select charts by analysis type, avoid misleading visual design, document EDA steps</a:t>
            </a:r>
          </a:p>
          <a:p>
            <a:pPr lvl="0" marL="457200" indent="-228600">
              <a:buFont typeface="Calibri"/>
              <a:spcAft>
                <a:spcPts val="1000"/>
              </a:spcAft>
              <a:buSzPct val="100000"/>
              <a:buChar char="•"/>
              <a:lnSpc>
                <a:spcPts val="2200"/>
              </a:lnSpc>
            </a:pPr>
            <a:r>
              <a:rPr sz="2000" b="0">
                <a:solidFill>
                  <a:srgbClr val="333333"/>
                </a:solidFill>
                <a:latin typeface="Calibri"/>
              </a:rPr>
              <a:t>Tailor presentations to technical versus non-technical audiences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Linking detection to repair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When EDA surfaces defects, log what you found and apply Chapter 5 repairs</a:t>
            </a:r>
          </a:p>
          <a:p>
            <a:pPr lvl="0" marL="457200" indent="-228600">
              <a:buFont typeface="Calibri"/>
              <a:spcAft>
                <a:spcPts val="1000"/>
              </a:spcAft>
              <a:buSzPct val="100000"/>
              <a:buChar char="•"/>
              <a:lnSpc>
                <a:spcPts val="2200"/>
              </a:lnSpc>
            </a:pPr>
            <a:r>
              <a:rPr sz="2000" b="0">
                <a:solidFill>
                  <a:srgbClr val="333333"/>
                </a:solidFill>
                <a:latin typeface="Calibri"/>
              </a:rPr>
              <a:t>Short notes tying plots to cleaning actions support reproducibility and later model audits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Choosing the right chart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Histograms and box plots for univariate numerics</a:t>
            </a:r>
          </a:p>
          <a:p>
            <a:pPr lvl="0" marL="457200" indent="-228600">
              <a:buFont typeface="Calibri"/>
              <a:spcAft>
                <a:spcPts val="1000"/>
              </a:spcAft>
              <a:buSzPct val="100000"/>
              <a:buChar char="•"/>
              <a:lnSpc>
                <a:spcPts val="2200"/>
              </a:lnSpc>
            </a:pPr>
            <a:r>
              <a:rPr sz="2000" b="0">
                <a:solidFill>
                  <a:srgbClr val="333333"/>
                </a:solidFill>
                <a:latin typeface="Calibri"/>
              </a:rPr>
              <a:t>Simplicity beats decorative complexity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Avoiding misleading visuals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truncate axes to exaggerate differences</a:t>
            </a:r>
          </a:p>
          <a:p>
            <a:pPr lvl="0" marL="457200" indent="-228600">
              <a:buFont typeface="Calibri"/>
              <a:spcAft>
                <a:spcPts val="1000"/>
              </a:spcAft>
              <a:buSzPct val="100000"/>
              <a:buChar char="•"/>
              <a:lnSpc>
                <a:spcPts val="2200"/>
              </a:lnSpc>
            </a:pPr>
            <a:r>
              <a:rPr sz="2000" b="0">
                <a:solidFill>
                  <a:srgbClr val="333333"/>
                </a:solidFill>
                <a:latin typeface="Calibri"/>
              </a:rPr>
              <a:t>Anscombe's quartet reminds us identical summaries can hide different shapes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Reproducibility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Document steps in notebooks or scripts; explain why transforms or charts were chosen</a:t>
            </a:r>
          </a:p>
          <a:p>
            <a:pPr lvl="0" marL="457200" indent="-228600">
              <a:buFont typeface="Calibri"/>
              <a:spcAft>
                <a:spcPts val="1000"/>
              </a:spcAft>
              <a:buSzPct val="100000"/>
              <a:buChar char="•"/>
              <a:lnSpc>
                <a:spcPts val="2200"/>
              </a:lnSpc>
            </a:pPr>
            <a:r>
              <a:rPr sz="2000" b="0">
                <a:solidFill>
                  <a:srgbClr val="333333"/>
                </a:solidFill>
                <a:latin typeface="Calibri"/>
              </a:rPr>
              <a:t>Use version control for analysis artifacts</a:t>
            </a:r>
          </a:p>
          <a:p>
            <a:pPr lvl="0" marL="457200" indent="-228600">
              <a:buFont typeface="Calibri"/>
              <a:spcAft>
                <a:spcPts val="1000"/>
              </a:spcAft>
              <a:buSzPct val="100000"/>
              <a:buChar char="•"/>
              <a:lnSpc>
                <a:spcPts val="2200"/>
              </a:lnSpc>
            </a:pPr>
            <a:r>
              <a:rPr sz="2000" b="0">
                <a:solidFill>
                  <a:srgbClr val="333333"/>
                </a:solidFill>
                <a:latin typeface="Calibri"/>
              </a:rPr>
              <a:t>Markdown cells in Jupyter should state the question each plot answers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Collaboration and storytelling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Tailor depth to the audience</a:t>
            </a:r>
          </a:p>
          <a:p>
            <a:pPr lvl="0" marL="457200" indent="-228600">
              <a:buFont typeface="Calibri"/>
              <a:spcAft>
                <a:spcPts val="1000"/>
              </a:spcAft>
              <a:buSzPct val="100000"/>
              <a:buChar char="•"/>
              <a:lnSpc>
                <a:spcPts val="2200"/>
              </a:lnSpc>
            </a:pPr>
            <a:r>
              <a:rPr sz="2000" b="0">
                <a:solidFill>
                  <a:srgbClr val="333333"/>
                </a:solidFill>
                <a:latin typeface="Calibri"/>
              </a:rPr>
              <a:t>Each chart should convey one message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Good EDA is reproducible and honest</a:t>
            </a:r>
          </a:p>
          <a:p>
            <a:pPr lvl="0" marL="457200" indent="-228600">
              <a:buFont typeface="Calibri"/>
              <a:spcAft>
                <a:spcPts val="1000"/>
              </a:spcAft>
              <a:buSzPct val="100000"/>
              <a:buChar char="•"/>
              <a:lnSpc>
                <a:spcPts val="2200"/>
              </a:lnSpc>
            </a:pPr>
            <a:r>
              <a:rPr sz="2000" b="0">
                <a:solidFill>
                  <a:srgbClr val="333333"/>
                </a:solidFill>
                <a:latin typeface="Calibri"/>
              </a:rPr>
              <a:t>Chart choice and annotation matter as much as code</a:t>
            </a:r>
          </a:p>
          <a:p>
            <a:pPr lvl="0" marL="457200" indent="-228600">
              <a:buFont typeface="Calibri"/>
              <a:spcAft>
                <a:spcPts val="1000"/>
              </a:spcAft>
              <a:buSzPct val="100000"/>
              <a:buChar char="•"/>
              <a:lnSpc>
                <a:spcPts val="2200"/>
              </a:lnSpc>
            </a:pPr>
            <a:r>
              <a:rPr sz="2000" b="0">
                <a:solidFill>
                  <a:srgbClr val="333333"/>
                </a:solidFill>
                <a:latin typeface="Calibri"/>
              </a:rPr>
              <a:t>Link exploration logs to cleaning and modeling downstream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common pitfalls in EDA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Recognize visualization overfitting, confirmation bias, neglected quality checks</a:t>
            </a:r>
          </a:p>
          <a:p>
            <a:pPr lvl="0" marL="457200" indent="-228600">
              <a:buFont typeface="Calibri"/>
              <a:spcAft>
                <a:spcPts val="1000"/>
              </a:spcAft>
              <a:buSzPct val="100000"/>
              <a:buChar char="•"/>
              <a:lnSpc>
                <a:spcPts val="2200"/>
              </a:lnSpc>
            </a:pPr>
            <a:r>
              <a:rPr sz="2000" b="0">
                <a:solidFill>
                  <a:srgbClr val="333333"/>
                </a:solidFill>
                <a:latin typeface="Calibri"/>
              </a:rPr>
              <a:t>Premature closure of exploration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Overfitting with visualization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Too many variables, categories, or colors clutter charts and invite false patterns</a:t>
            </a:r>
          </a:p>
          <a:p>
            <a:pPr lvl="0" marL="457200" indent="-228600">
              <a:buFont typeface="Calibri"/>
              <a:spcAft>
                <a:spcPts val="1000"/>
              </a:spcAft>
              <a:buSzPct val="100000"/>
              <a:buChar char="•"/>
              <a:lnSpc>
                <a:spcPts val="2200"/>
              </a:lnSpc>
            </a:pPr>
            <a:r>
              <a:rPr sz="2000" b="0">
                <a:solidFill>
                  <a:srgbClr val="333333"/>
                </a:solidFill>
                <a:latin typeface="Calibri"/>
              </a:rPr>
              <a:t>Spurious correlations and cherry-picked time ranges can look convincing</a:t>
            </a:r>
          </a:p>
          <a:p>
            <a:pPr lvl="0" marL="457200" indent="-228600">
              <a:buFont typeface="Calibri"/>
              <a:spcAft>
                <a:spcPts val="1000"/>
              </a:spcAft>
              <a:buSzPct val="100000"/>
              <a:buChar char="•"/>
              <a:lnSpc>
                <a:spcPts val="2200"/>
              </a:lnSpc>
            </a:pPr>
            <a:r>
              <a:rPr sz="2000" b="0">
                <a:solidFill>
                  <a:srgbClr val="333333"/>
                </a:solidFill>
                <a:latin typeface="Calibri"/>
              </a:rPr>
              <a:t>Prefer simple charts, fair axes, and follow-up checks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Misreading patterns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one-day sales spike may be a promotion, not a trend</a:t>
            </a:r>
          </a:p>
          <a:p>
            <a:pPr lvl="0" marL="457200" indent="-228600">
              <a:buFont typeface="Calibri"/>
              <a:spcAft>
                <a:spcPts val="1000"/>
              </a:spcAft>
              <a:buSzPct val="100000"/>
              <a:buChar char="•"/>
              <a:lnSpc>
                <a:spcPts val="2200"/>
              </a:lnSpc>
            </a:pPr>
            <a:r>
              <a:rPr sz="2000" b="0">
                <a:solidFill>
                  <a:srgbClr val="333333"/>
                </a:solidFill>
                <a:latin typeface="Calibri"/>
              </a:rPr>
              <a:t>Weak correlations become overstated when charts are tuned to impress</a:t>
            </a:r>
          </a:p>
          <a:p>
            <a:pPr lvl="0" marL="457200" indent="-228600">
              <a:buFont typeface="Calibri"/>
              <a:spcAft>
                <a:spcPts val="1000"/>
              </a:spcAft>
              <a:buSzPct val="100000"/>
              <a:buChar char="•"/>
              <a:lnSpc>
                <a:spcPts val="2200"/>
              </a:lnSpc>
            </a:pPr>
            <a:r>
              <a:rPr sz="2000" b="0">
                <a:solidFill>
                  <a:srgbClr val="333333"/>
                </a:solidFill>
                <a:latin typeface="Calibri"/>
              </a:rPr>
              <a:t>Example 6.5's weather cue still needs confirmatory analysis, not instant causation claims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Ignoring data quality issues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Skipping missingness</a:t>
            </a:r>
          </a:p>
          <a:p>
            <a:pPr lvl="0" marL="457200" indent="-228600">
              <a:buFont typeface="Calibri"/>
              <a:spcAft>
                <a:spcPts val="1000"/>
              </a:spcAft>
              <a:buSzPct val="100000"/>
              <a:buChar char="•"/>
              <a:lnSpc>
                <a:spcPts val="2200"/>
              </a:lnSpc>
            </a:pPr>
            <a:r>
              <a:rPr sz="2000" b="0">
                <a:solidFill>
                  <a:srgbClr val="333333"/>
                </a:solidFill>
                <a:latin typeface="Calibri"/>
              </a:rPr>
              <a:t>Section 6.4 exists to prevent exploring broken tables as if they were ground truth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Confirmation bias and lack of iteration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Searching only for evidence that supports a favored hypothesis hides contradictory views</a:t>
            </a:r>
          </a:p>
          <a:p>
            <a:pPr lvl="0" marL="457200" indent="-228600">
              <a:buFont typeface="Calibri"/>
              <a:spcAft>
                <a:spcPts val="1000"/>
              </a:spcAft>
              <a:buSzPct val="100000"/>
              <a:buChar char="•"/>
              <a:lnSpc>
                <a:spcPts val="2200"/>
              </a:lnSpc>
            </a:pPr>
            <a:r>
              <a:rPr sz="2000" b="0">
                <a:solidFill>
                  <a:srgbClr val="333333"/>
                </a:solidFill>
                <a:latin typeface="Calibri"/>
              </a:rPr>
              <a:t>EDA should be iterative: new plots after cleaning, new questions after surprises</a:t>
            </a:r>
          </a:p>
          <a:p>
            <a:pPr lvl="0" marL="457200" indent="-228600">
              <a:buFont typeface="Calibri"/>
              <a:spcAft>
                <a:spcPts val="1000"/>
              </a:spcAft>
              <a:buSzPct val="100000"/>
              <a:buChar char="•"/>
              <a:lnSpc>
                <a:spcPts val="2200"/>
              </a:lnSpc>
            </a:pPr>
            <a:r>
              <a:rPr sz="2000" b="0">
                <a:solidFill>
                  <a:srgbClr val="333333"/>
                </a:solidFill>
                <a:latin typeface="Calibri"/>
              </a:rPr>
              <a:t>Example 6.4 warns against forcing linear stories on nonlinear 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Simplify visuals, validate patterns, fix quality first, and iterate</a:t>
            </a:r>
          </a:p>
          <a:p>
            <a:pPr lvl="0" marL="457200" indent="-228600">
              <a:buFont typeface="Calibri"/>
              <a:spcAft>
                <a:spcPts val="1000"/>
              </a:spcAft>
              <a:buSzPct val="100000"/>
              <a:buChar char="•"/>
              <a:lnSpc>
                <a:spcPts val="2200"/>
              </a:lnSpc>
            </a:pPr>
            <a:r>
              <a:rPr sz="2000" b="0">
                <a:solidFill>
                  <a:srgbClr val="333333"/>
                </a:solidFill>
                <a:latin typeface="Calibri"/>
              </a:rPr>
              <a:t>Pitfalls are cognitive as much as technical, process discipline reduces them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domain case studies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Outline EDA steps for retail segmentation and clinical outcome tables</a:t>
            </a:r>
          </a:p>
          <a:p>
            <a:pPr lvl="0" marL="457200" indent="-228600">
              <a:buFont typeface="Calibri"/>
              <a:spcAft>
                <a:spcPts val="1000"/>
              </a:spcAft>
              <a:buSzPct val="100000"/>
              <a:buChar char="•"/>
              <a:lnSpc>
                <a:spcPts val="2200"/>
              </a:lnSpc>
            </a:pPr>
            <a:r>
              <a:rPr sz="2000" b="0">
                <a:solidFill>
                  <a:srgbClr val="333333"/>
                </a:solidFill>
                <a:latin typeface="Calibri"/>
              </a:rPr>
              <a:t>Identify exploration priorities in fraud and climate settings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Retail sales analysis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Mixed currencies</a:t>
            </a:r>
          </a:p>
          <a:p>
            <a:pPr lvl="0" marL="457200" indent="-228600">
              <a:buFont typeface="Calibri"/>
              <a:spcAft>
                <a:spcPts val="1000"/>
              </a:spcAft>
              <a:buSzPct val="100000"/>
              <a:buChar char="•"/>
              <a:lnSpc>
                <a:spcPts val="2200"/>
              </a:lnSpc>
            </a:pPr>
            <a:r>
              <a:rPr sz="2000" b="0">
                <a:solidFill>
                  <a:srgbClr val="333333"/>
                </a:solidFill>
                <a:latin typeface="Calibri"/>
              </a:rPr>
              <a:t>EDA profiles missingness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Healthcare data analysis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Clinical records mix labs, history</a:t>
            </a:r>
          </a:p>
          <a:p>
            <a:pPr lvl="0" marL="457200" indent="-228600">
              <a:buFont typeface="Calibri"/>
              <a:spcAft>
                <a:spcPts val="1000"/>
              </a:spcAft>
              <a:buSzPct val="100000"/>
              <a:buChar char="•"/>
              <a:lnSpc>
                <a:spcPts val="2200"/>
              </a:lnSpc>
            </a:pPr>
            <a:r>
              <a:rPr sz="2000" b="0">
                <a:solidFill>
                  <a:srgbClr val="333333"/>
                </a:solidFill>
                <a:latin typeface="Calibri"/>
              </a:rPr>
              <a:t>Box plots and IQR screens flag vitals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Fraud detection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Transaction EDA emphasizes extreme amounts, rare positive class counts, and time patterns</a:t>
            </a:r>
          </a:p>
          <a:p>
            <a:pPr lvl="0" marL="457200" indent="-228600">
              <a:buFont typeface="Calibri"/>
              <a:spcAft>
                <a:spcPts val="1000"/>
              </a:spcAft>
              <a:buSzPct val="100000"/>
              <a:buChar char="•"/>
              <a:lnSpc>
                <a:spcPts val="2200"/>
              </a:lnSpc>
            </a:pPr>
            <a:r>
              <a:rPr sz="2000" b="0">
                <a:solidFill>
                  <a:srgbClr val="333333"/>
                </a:solidFill>
                <a:latin typeface="Calibri"/>
              </a:rPr>
              <a:t>Example 6.7 places outliers in a financial setting</a:t>
            </a:r>
          </a:p>
          <a:p>
            <a:pPr lvl="0" marL="457200" indent="-228600">
              <a:buFont typeface="Calibri"/>
              <a:spcAft>
                <a:spcPts val="1000"/>
              </a:spcAft>
              <a:buSzPct val="100000"/>
              <a:buChar char="•"/>
              <a:lnSpc>
                <a:spcPts val="2200"/>
              </a:lnSpc>
            </a:pPr>
            <a:r>
              <a:rPr sz="2000" b="0">
                <a:solidFill>
                  <a:srgbClr val="333333"/>
                </a:solidFill>
                <a:latin typeface="Calibri"/>
              </a:rPr>
              <a:t>Open the example 7 module for fraud-oriented summaries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E-commerce segmentation and climate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Customer segmentation repeats retail motifs, RFM-style features, geography</a:t>
            </a:r>
          </a:p>
          <a:p>
            <a:pPr lvl="0" marL="457200" indent="-228600">
              <a:buFont typeface="Calibri"/>
              <a:spcAft>
                <a:spcPts val="1000"/>
              </a:spcAft>
              <a:buSzPct val="100000"/>
              <a:buChar char="•"/>
              <a:lnSpc>
                <a:spcPts val="2200"/>
              </a:lnSpc>
            </a:pPr>
            <a:r>
              <a:rPr sz="2000" b="0">
                <a:solidFill>
                  <a:srgbClr val="333333"/>
                </a:solidFill>
                <a:latin typeface="Calibri"/>
              </a:rPr>
              <a:t>Climate monitoring stresses temporal plots, missing sensors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6.5 — Sales and weather hypothesis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6.5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6.5 shows how exploratory correlation can suggest seasonal hypotheses worth later</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`modules/chapter6/example5/`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Case studies share a pattern: profile, visualize, detect issues, clean, re-explore</a:t>
            </a:r>
          </a:p>
          <a:p>
            <a:pPr lvl="0" marL="457200" indent="-228600">
              <a:buFont typeface="Calibri"/>
              <a:spcAft>
                <a:spcPts val="1000"/>
              </a:spcAft>
              <a:buSzPct val="100000"/>
              <a:buChar char="•"/>
              <a:lnSpc>
                <a:spcPts val="2200"/>
              </a:lnSpc>
            </a:pPr>
            <a:r>
              <a:rPr sz="2000" b="0">
                <a:solidFill>
                  <a:srgbClr val="333333"/>
                </a:solidFill>
                <a:latin typeface="Calibri"/>
              </a:rPr>
              <a:t>Domain dictates which defects and relationships matter most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advanced topics and future directions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Name trends in automated EDA, outline challenges for streaming exploration</a:t>
            </a:r>
          </a:p>
          <a:p>
            <a:pPr lvl="0" marL="457200" indent="-228600">
              <a:buFont typeface="Calibri"/>
              <a:spcAft>
                <a:spcPts val="1000"/>
              </a:spcAft>
              <a:buSzPct val="100000"/>
              <a:buChar char="•"/>
              <a:lnSpc>
                <a:spcPts val="2200"/>
              </a:lnSpc>
            </a:pPr>
            <a:r>
              <a:rPr sz="2000" b="0">
                <a:solidFill>
                  <a:srgbClr val="333333"/>
                </a:solidFill>
                <a:latin typeface="Calibri"/>
              </a:rPr>
              <a:t>Describe how EDA hooks into ML pipelines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Automated EDA tools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Report generators and AutoML front-ends accelerate first passes on wide tables</a:t>
            </a:r>
          </a:p>
          <a:p>
            <a:pPr lvl="0" marL="457200" indent="-228600">
              <a:buFont typeface="Calibri"/>
              <a:spcAft>
                <a:spcPts val="1000"/>
              </a:spcAft>
              <a:buSzPct val="100000"/>
              <a:buChar char="•"/>
              <a:lnSpc>
                <a:spcPts val="2200"/>
              </a:lnSpc>
            </a:pPr>
            <a:r>
              <a:rPr sz="2000" b="0">
                <a:solidFill>
                  <a:srgbClr val="333333"/>
                </a:solidFill>
                <a:latin typeface="Calibri"/>
              </a:rPr>
              <a:t>Fairness implications connected to Chapter 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EDA in big data and streaming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Batch assumptions fail when data never stops arriving</a:t>
            </a:r>
          </a:p>
          <a:p>
            <a:pPr lvl="0" marL="457200" indent="-228600">
              <a:buFont typeface="Calibri"/>
              <a:spcAft>
                <a:spcPts val="1000"/>
              </a:spcAft>
              <a:buSzPct val="100000"/>
              <a:buChar char="•"/>
              <a:lnSpc>
                <a:spcPts val="2200"/>
              </a:lnSpc>
            </a:pPr>
            <a:r>
              <a:rPr sz="2000" b="0">
                <a:solidFill>
                  <a:srgbClr val="333333"/>
                </a:solidFill>
                <a:latin typeface="Calibri"/>
              </a:rPr>
              <a:t>Sliding windows, online summaries, and sampled visualizations replace full-table scans</a:t>
            </a:r>
          </a:p>
          <a:p>
            <a:pPr lvl="0" marL="457200" indent="-228600">
              <a:buFont typeface="Calibri"/>
              <a:spcAft>
                <a:spcPts val="1000"/>
              </a:spcAft>
              <a:buSzPct val="100000"/>
              <a:buChar char="•"/>
              <a:lnSpc>
                <a:spcPts val="2200"/>
              </a:lnSpc>
            </a:pPr>
            <a:r>
              <a:rPr sz="2000" b="0">
                <a:solidFill>
                  <a:srgbClr val="333333"/>
                </a:solidFill>
                <a:latin typeface="Calibri"/>
              </a:rPr>
              <a:t>Latency and consistency constraints mirror Chapter 5 streaming preprocessing themes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Integration with ML pipelines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Exploration informs feature stores, train-validation splits, and monitoring baselines</a:t>
            </a:r>
          </a:p>
          <a:p>
            <a:pPr lvl="0" marL="457200" indent="-228600">
              <a:buFont typeface="Calibri"/>
              <a:spcAft>
                <a:spcPts val="1000"/>
              </a:spcAft>
              <a:buSzPct val="100000"/>
              <a:buChar char="•"/>
              <a:lnSpc>
                <a:spcPts val="2200"/>
              </a:lnSpc>
            </a:pPr>
            <a:r>
              <a:rPr sz="2000" b="0">
                <a:solidFill>
                  <a:srgbClr val="333333"/>
                </a:solidFill>
                <a:latin typeface="Calibri"/>
              </a:rPr>
              <a:t>Documented EDA artifacts become regression tests when production data drifts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Looking ahead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Chapter 7 deepens bias and fairness analysis once exploration reveals segment disparities</a:t>
            </a:r>
          </a:p>
          <a:p>
            <a:pPr lvl="0" marL="457200" indent="-228600">
              <a:buFont typeface="Calibri"/>
              <a:spcAft>
                <a:spcPts val="1000"/>
              </a:spcAft>
              <a:buSzPct val="100000"/>
              <a:buChar char="•"/>
              <a:lnSpc>
                <a:spcPts val="2200"/>
              </a:lnSpc>
            </a:pPr>
            <a:r>
              <a:rPr sz="2000" b="0">
                <a:solidFill>
                  <a:srgbClr val="333333"/>
                </a:solidFill>
                <a:latin typeface="Calibri"/>
              </a:rPr>
              <a:t>Strong EDA logs make later modeling and auditing more trustworthy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Automation scales the first pass; humans keep domain judgment</a:t>
            </a:r>
          </a:p>
          <a:p>
            <a:pPr lvl="0" marL="457200" indent="-228600">
              <a:buFont typeface="Calibri"/>
              <a:spcAft>
                <a:spcPts val="1000"/>
              </a:spcAft>
              <a:buSzPct val="100000"/>
              <a:buChar char="•"/>
              <a:lnSpc>
                <a:spcPts val="2200"/>
              </a:lnSpc>
            </a:pPr>
            <a:r>
              <a:rPr sz="2000" b="0">
                <a:solidFill>
                  <a:srgbClr val="333333"/>
                </a:solidFill>
                <a:latin typeface="Calibri"/>
              </a:rPr>
              <a:t>Streaming and pipeline integration extend EDA beyond one-off notebooks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Pause for the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Exploratory Data Analysis (EDA)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