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9 through 11 covered advanced collection, synthetic companions, and annotation at scale. This chapter asks how organizations store, distribute, and operate datasets when volume and concurrency outgrow single-node workflows. This opening part defines scalable data management, its key principles, and the challenges that drive distributed designs.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scalable data management; explain elasticity, efficiency, and resilience as core principles; summarize storage, retrieval, performance, and cost challenges for large datasets; and name storage, query processing, and lineage as core platform components.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data management is the ability to handle growing volume, variety, and velocity of data while keeping performance, reliability, and cost under control. As datasets grow, systems must remain functional without sacrificing speed, accuracy, or cost. The goal is to design storage, processing, and retrieval that stay effective even as data grows exponentially.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Elasticity means the system can expand and contract resources depending on the workload. This is especially useful in cloud environments, where scaling resources on demand can reduce cost and improve performance. Elastic designs avoid permanently over-provisioning for peak 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Efficiency means optimizing storage, compute, and network bandwidth to minimize waste while providing fast responses. Resilience means remaining available and fault-tolerant as the system scales, including replication and redundancy so data stays accessible when components fail. Together with elasticity, these three principles frame later storage and consistency choices.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databases and file systems often struggle to store petabytes or exabytes efficiently. Distributed storage is needed so data is evenly placed, backed up, and retrievable for both structured and unstructured types. Retrieval also grows harder: query optimization and indexing methods that worked at smaller scale become inefficient and need more sophisticated algorithms.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Systems must handle high request rates with low latency while scaling. Network latency and consistency become central concerns in cloud and distributed settings. Scaling also raises operational cost; cloud pricing is flexible, but teams must balance performance against cost through tiering and efficient formats for colder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storage spans machines and data centers, including distributed file systems and cloud object stores that aim for availability, durability, and fault tolerance. Query processing often uses parallel and distributed databases that split work across nodes and scale horizontally. Data lineage tracks origin, transforms, and use so pipelines stay auditable and debuggable; later parts develop lineage at platform scale.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data management keeps volume, variety, and velocity under control without abandoning performance or cost. Elasticity, efficiency, and resilience are the guiding principles. Storage, retrieval, performance, and cost challenges motivate distributed designs. Storage, query processing, and lineage form the core component stack this chapter develops.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database families and cloud storage: relational versus NoSQL trade-offs, and managed object and database services across major cloud providers.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contrast relational and NoSQL design trade-offs; recognize typical NoSQL fits for web, mobile, and Internet of Things streams; and map major cloud offerings for object storage and managed databases across Amazon Web Services, Google Cloud, and Azure.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large-scale data management, choosing the right database and storage solution is a primary design decision. The choice depends on use case, data type, and performance requirements. Broadly, systems fall into databases for structured and unstructured data and storage solutions for organizing and accessing that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Relational databases store data in tables with predefined schemas and enforce integrity through ACID properties: atomicity, consistency, isolation, and durability. They excel in transactional applications that need complex queries and strong consistency, such as financial systems, customer relationship management, and enterprise resource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 stores such as MongoDB, Cassandra, and Redis favor scalability, flexible schemas, and speed for large, rapidly changing data. Models include key-value, document, and graph forms. They are designed to scale horizontally across machines and to handle high-velocity streams, large web applications, and big-data analytics.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12.1 lists typical NoSQL application patterns. NoSQL stores fit real-time social and messaging apps, semi-structured logs for analytics, and high-ingest Internet of Things streams where schemas evolve faster than relational tables allow. The example 1 module for this chapter summarizes those patterns.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comparison table contrasts data model, scaling, consistency, transactions, and best fit. SQL systems favor tables, often vertical scale first, strong consistency with ACID, and complex joins. NoSQL systems favor flexible models, horizontal scale-out, often eventual consistency, limited transactions, and high-volume semi-structured or rapidly changing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 summarizes managed storage and database options from major clouds. Amazon Web Services pairs S3 object storage with RDS and DynamoDB; Google Cloud offers Cloud Storage, Cloud SQL, BigQuery, and Datastore; Azure offers Blob Storage, Azure SQL Database, and Cosmos DB for globally distributed NoSQL workloads. The example 2 module for this chapter frames that provider map.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Relational stores fit structured transactional work with strong consistency; NoSQL fits horizontal scale and flexible schemas. Web, mobile, and Internet of Things streams often prefer NoSQL when schemas evolve quickly. Major clouds package object storage with managed SQL and NoSQL services so teams reduce operational burden while scaling.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storage formats and media types: Parquet, Avro, and ORC for analytics and streams, then object versus block storage for archives and low-latency databases.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Parquet suits columnar analytics; contrast Avro row encoding with ORC for Hive-style warehouses; distinguish object and block storage models; and apply Examples 12.3 through 12.6 to format and media choices.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efficiently storing large datasets in distributed systems or cloud platforms, formats such as Parquet, Avro, and ORC are widely used. Format choice affects compression, schema evolution, and how much data a query must read from disk or object storage.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12.3 highlights Parquet for analytical scans. Parquet stores data by column with compression and encoding suited to Spark and Hadoop analytics, so queries read only needed columns and cut input and output. The example 3 module for this chapter summarizes that columnar analytics pattern.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12.4 contrasts Avro row encoding with ORC columnar Hive storage. Avro is a row-oriented format common in Kafka-style streaming with schema evolution; ORC is a columnar format optimized for Hive and other read-heavy Hadoop warehouses. The example 4 module for this chapter frames that contrast.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 storage systems, such as Amazon S3 or Google Cloud Storage, treat data as objects in a flat namespace. This model is highly scalable and suitable for unstructured data such as videos, images, and backups. Object storage is optimized for large-scale archiving and retrieval over an HTTP-style API rather than block device semantics.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12.5 places object storage in large unstructured workloads. Object stores keep objects in a flat namespace with high durability, fitting media, backups, and lakehouse files that grow without block-device provisioning. The example 5 module for this chapter covers that archive pattern.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 storage divides data into blocks and provides low-latency access, as with Amazon Elastic Block Store or Azure block volumes. It is ideal for transactional systems that need fast reads and writes, such as database applications. Example 12.6 shows block volumes attaching low-latency disks to virtual machines running transactional databases that need POSIX-like input and output rather than object get and put semantics. The example 6 module for this chapter summarizes that low-latency database case.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practice, teams place lakehouse files, media, and backups on object storage and attach block volumes only where databases or virtual machines need low-latency block input and output. Columnar formats such as Parquet and ORC sit on object stores for analytics, while Avro often rides streaming buses before landing in lakes or warehouses.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Parquet favors columnar analytics with selective column reads. Avro fits streaming with schema evolution; ORC fits read-heavy Hive warehouses. Object storage scales unstructured archives and lakehouse files; block storage serves low-latency transactional databases. Format and media choices should follow query and latency needs, not a single default.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distributed systems characteristics and concrete examples: HDFS partitioning and replication, Cassandra for multi-datacenter writes, and Kafka for real-time event streams.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key distributed-system characteristics such as partitioning, replication, and fault tolerance; explain how HDFS illustrates block partitioning and replication; position Cassandra for write-heavy multi-datacenter apps; and describe Kafka as a durable partitioned event log.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systems sit at the heart of scalable data management. They enable data to be stored, processed, and queried across multiple machines so large datasets can be handled efficiently. Chapter 9 introduced streaming collection from an acquisition angle; here the focus is storage layout, consistency, and operational trade-offs once data already live in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systems aim for high availability, fault tolerance, and horizontal scalability. Core characteristics include data partitioning across nodes; replication for redundancy; consistency models from strong to eventual; coordination among nodes; fault tolerance when components fail; and scaling out by adding nodes without sacrificing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12.7 walks through HDFS blocks as a distributed-file pattern. HDFS splits large files into blocks, often around 128 megabytes, places replicas on multiple nodes, and keeps serving data when a node fails, illustrating partitioning, replication, and horizontal scale. The example 7 module for this chapter summarizes that pattern.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12.8 positions Cassandra for write-heavy global apps. Apache Cassandra is a distributed NoSQL store built for high write throughput and multi-datacenter availability when horizontal scale matters more than single-key ACID transactions. The example 8 module for this chapter frames that write-oriented design.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12.9 uses Kafka as the streaming backbone. Apache Kafka ingests and buffers event streams with durable, partitioned logs so analytics and services can consume the same feed at scale. The example 9 module for this chapter covers that event-stream role.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HDFS, Cassandra, and Kafka illustrate partitioning, replication, and streaming patterns that recur throughout later distributed-system topics. File blocks, write-optimized tablet stores, and durable logs are complementary layers rather than competing single answers for every workload.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systems store and process data across nodes with partitioning, replication, coordination, and fault tolerance. HDFS shows block placement and replica recovery. Cassandra targets multi-datacenter write scale. Kafka provides durable partitioned logs for real-time consumers. These patterns prepare the CAP and consistency discussion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the CAP theorem, sharding and replication patterns, and when strong versus eventual consistency is appropriate for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state the CAP theorem and why partitions force a consistency-versus-availability choice; explain sharding and replication for scale and fault tolerance; contrast strong and eventual consistency with Examples 12.11 and 12.13; and relate those choices to workload cost of stale reads versus temporary unavailability.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 theorem states that a distributed system cannot guarantee consistency, availability, and partition tolerance simultaneously. Consistency means every read returns the most recent write. Availability means every request receives a response even if some nodes are down. Partition tolerance means the system continues when the network splits nodes apart.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partitions are unavoidable in real networks, practical datastores sit on a partition-tolerant edge and choose either consistency or availability when a partition occurs. Under partition, CP systems may reject writes until replicas agree, whereas AP systems accept traffic and reconcile later. The choice depends on whether stale reads or temporary unavailability is more costly for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sharding partitions data across servers to improve scalability, fault tolerance, and performance. Example 12.10 shows a common sharding key choice: customer tables are often sharded by geography or customer ID so each node owns a slice of keys and write load spreads across the cluster. The example 10 module for this chapter summarizes that keying pattern. Replication duplicates data across nodes or data centers so another replica can take over if one node fails.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 consistency guarantees that any read returns the most recent write regardless of which replica is accessed. Example 12.11 requires that guarantee for balances: in payments and ledger systems, strong consistency is preferred so concurrent transfers cannot leave accounts in conflicting states visible to different clients. The example 11 module for this chapter covers that ledger case.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Eventual consistency sacrifices immediate agreement for availability and partition tolerance: writes propagate to other nodes, but nodes may temporarily disagree. Example 12.13 lists stores that favor availability under partition. Amazon DynamoDB and Apache Cassandra commonly emphasize availability and partition tolerance with eventual consistency tunable by client read and write quorums. The example 13 module for this chapter frames that availability-first pattern.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many web and social applications, temporary discrepancies are acceptable and eventual consistency is a useful trade-off. E-commerce platforms, content delivery networks, and social media often favor availability and throughput. Conversely, sensitive financial or health-related data often require strong consistency to prevent critical errors. Design hinges on application needs and the consistency, availability, and scalability trade-offs already surveyed.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 says partitions force a choice between consistency and availability in practice. Sharding spreads keys; replication preserves availability after failures. Strong consistency fits ledgers and similar integrity-critical work; eventual consistency fits availability-first web and social stores. Match the model to whether stale reads or downtime hurts more.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shifts from storage mechanics to dataset versioning at platform scale: DVC remotes on object storage, Pachyderm partition recompute, Delta Lake time travel, and Iceberg snapshots—distinct from Chapter 8 team-scale Git workflows.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distinguish Chapter 8 team versioning from Chapter 12 platform-scale lakehouse and object-store versioning; describe collaborative pinning of training runs to snapshots; and explain DVC remotes, Pachyderm partition recompute, Delta Lake time travel, and Iceberg snapshot rollback through Examples 12.14 through 12.17.</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scale, multiple engineers and models share the same raw and feature tables. Without immutable version identifiers, notebooks drift to latest partitions and become unreproducible. Teams pin training runs to explicit dataset revisions or snapshot IDs, branch feature tables for parallel experiments, and record who promoted a candidate version into production—the same discipline as Chapter 8, applied to lakehouse and object-store layouts rather than only Git-tracked files.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machine-learning projects whose primary assets are still files beside code, DVC and Git LFS patterns from Chapter 8 remain useful. Example 12.14 ties DVC metadata to cloud remotes: a team keeps DVC hash files in Git while the actual training shards live in an S3 or GCS remote, so scalable object storage holds bytes and DVC records which version a run used. The example 14 module for this chapter summarizes that remote pattern.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Pachyderm targets data-driven pipelines with automatic versioning of inputs and outputs. Example 12.15 shows pipeline versioning that recomputes only changed partitions: a new raw partition triggers only downstream stages that depend on that slice rather than rebuilding the entire lake. The example 15 module for this chapter covers that selective recompute idea.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Lake, Apache Hudi, and Apache Iceberg store incremental changes and point-in-time snapshots on object storage, enabling ACID-style table operations and time travel without duplicating entire datasets. Example 12.16 uses Delta Lake: a transaction log over Parquet files on object storage lets teams time-travel to prior table versions without copying every file. The example 16 module for this chapter frames that time-travel pattern.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Snapshot-based versioning captures a point-in-time view of a table for rollback and incremental processing across distributed nodes. Example 12.17 rolls back via table snapshots: Apache Iceberg and similar lakehouse formats expose snapshots so operators can point readers at a prior table state after a bad overwrite without restoring an entire warehouse backup. The example 17 module for this chapter summarizes that rollback path.</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remains the file-and-pipeline companion when code, models, and large files share remotes. Lakehouse formats are the scalable counterpart to file-level DVC commits: they version partitions inside the storage layer. Regulated domains still need an auditable history of which snapshot trained which model, addressable across clusters and regions without copying every petabyte on each commit.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Platform-scale versioning extends Chapter 8 discipline to object stores and lakehouse tables. DVC remotes record versions while cloud storage holds bytes. Pachyderm recomputes only changed partitions. Delta Lake and Iceberg provide time travel and snapshot rollback without full warehouse restores. Pin experiments to explicit snapshots rather than latest.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why versioning matters at scale—rollback and reproducibility benefits—then storage overhead and schema-evolution challenges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state distinctive scale benefits of dataset versioning beyond Chapter 8 documentation practices; explain rollback after a corrupt preprocessing job using Example 12.18; and identify storage-overhead and schema-evolution challenges under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and audit benefits of versioning are developed in Chapters 8 and 13. At scale, the distinctive gains are different: pin training to a lakehouse snapshot without re-copying petabytes; roll back a bad partition write without restoring an entire warehouse; and evolve schemas while concurrent readers stay on a prior snapshot.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12.18 shows why rollback matters when a transform corrupts shared data. If a preprocessing job corrupts a shared feature table, teams roll back to the last good snapshot and rerun from a known state instead of rebuilding from scratch. The example 18 module for this chapter summarizes that recovery path.</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General versioning discipline—commit hygiene, readable changelogs, documentation of each release—belongs in Chapter 8. At lakehouse and object-store scale, storage overhead dominates. Full copies of petabyte tables are rarely affordable. Delta and snapshot formats keep costs manageable by storing diffs, but teams must still tier cold snapshots and expire unused history.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columns or changing types while readers and writers share a table requires coordinated metadata and compatible readers. Lakehouse formats such as Delta Lake, Hudi, and Iceberg provide schema-evolution primitives, yet operators still need conventions for when a breaking change warrants a new table identity rather than an in-place evolve.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 tools reduce byte-level copying, but they do not remove the need for clear promotion rules, ownership of production snapshots, and agreement on when a schema break is a new table. Versioning succeeds when engineering practice and lakehouse primitives reinforce each other.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scale, versioning enables snapshot pinning, partition rollback, and schema evolution with concurrent readers. Example 12.18 shows rollback after corrupt preprocessing instead of a full rebuild. Storage overhead and concurrent schema change remain the main challenges. Chapter 8 still governs team hygiene; Chapter 12 governs lakehouse cost and concurrency.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from what changed to how data moved: platform-scale data lineage, metadata and automated capture techniques, catalog tools, and cross-platform lineage gaps.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data lineage and why it matters for compliance and debugging; describe metadata management and automated capture with Examples 12.19 and 12.20; recognize catalog tools such as Apache Atlas and Amundsen; and explain cross-platform lineage gaps with Example 12.22.</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lineage tracks where data came from, how it was transformed, and which systems consume it. At scale, the same questions apply across dozens of pipelines rather than a single notebook: origin, transforms and aggregations, and downstream dependents. Chapter 8 covers provenance as documentation for individual datasets; Chapter 13 returns to research reproducibility. Here the focus is enterprise metadata platforms that capture table and stream movement across warehouses, lakes, and engines.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Regulated industries need lineage evidence for regimes such as GDPR and HIPAA. Large platforms also use lineage to debug broken dashboards by walking upstream transforms. Operational gains include proving which jobs touched regulated tables and coordinating ownership so parallel teams do not silently overwrite shared feature tables.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is central to lineage: it describes source, format, transformations, and usage. Example 12.19 lists fields that feed lineage views. Lineage catalogs record schema versions, transform job IDs, and update timestamps so operators can reconstruct how a table was produced. The example 19 module for this chapter summarizes those metadata fields.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tracking systems monitor pipelines and capture lineage without manual input. Example 12.20 captures lineage when a training job starts: an automated tracker records the input table version, feature job ID, and model artifact URI so later audits can reconstruct the run. The example 20 module for this chapter covers that capture pattern.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Apache Atlas is an open-source metadata and governance tool for lineage, cataloging, and security, with strong Hadoop ecosystem integration and lineage visualization. Amundsen, developed at Lyft, emphasizes data discovery and integrates with Airflow and dbt for pipeline lineage. Example 12.21 uses lineage graphs to find a bad filter step: a lineage UI can show how a cohort table was filtered and joined so analysts locate which transform introduced an empty partition. The example 21 module for this chapter frames that debugging use case.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distinctive platform-scale challenge is cross-system coverage. Organizations mix cloud storage, Spark, Hadoop, Kafka, and machine-learning platforms; connectors that omit a hop create gaps. Example 12.22 shows lineage breaking across boundaries: data may land in object storage, transform in Spark, then train in an ML platform; without connectors, lineage stops at each boundary and audits cannot walk the full path. The example 22 module for this chapter summarizes that gap risk.</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Lineage answers origin, transform, and dependency questions across pipelines. Metadata and automated capture keep records current; Atlas and Amundsen illustrate enterprise catalogs. Visualization helps debug empty partitions and broken dashboards. Cross-platform gaps remain the hard problem when connectors stop at system boundaries. Distinguish Chapter 8 per-dataset provenance from Chapter 12 platform catalogs.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applies storage, streaming, and governance patterns in short case studies: Netflix-scale streaming, Spotify-style real-time analytics, and healthcare imaging archives.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how global streaming platforms combine object storage, CDNs, and real-time pipelines; outline music-platform analytics that mix SQL, NoSQL, and Spark-style frameworks; and apply object-store patterns to governed healthcare imaging archives using Examples 12.23 through 12.25.</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parts assembled storage formats, consistency trade-offs, lakehouse versioning, and platform lineage. The short case sketches below show how those pieces combine in production domains without repeating the tool tutorials already given. The same object-store and streaming patterns recur across media and clinical settings.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12.23 sketches Netflix-scale streaming storage needs. Global streaming platforms combine object storage, content delivery networks, and real-time pipelines so viewing events and catalog metadata remain available under heavy concurrent load. Seamless integration of these technologies delivers high performance while keeping storage and egress costs manageable. The example 23 module for this chapter summarizes that architecture sketch.</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12.24 sketches Spotify-style analytics on listening events. Music platforms stream listening events into cloud storage and real-time analytics so recommendations and charts update without nightly batch-only warehouses. A mix of SQL and NoSQL stores with frameworks such as Apache Spark lets the infrastructure absorb traffic spikes and serve millions of users globally. The example 24 module for this chapter frames that analytics pipeline.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12.25 applies scalable stores to clinical imaging archives. Healthcare imaging vendors store large DICOM archives in object storage with governed access so studies remain durable while analytics run on derived feature tables. Durability and access control matter as much as raw throughput in regulated clinical settings. The example 25 module for this chapter covers that imaging pattern.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media and music analytics lean on object storage plus real-time buses and mixed database families. Healthcare imaging reuses object storage for large binary archives but adds stronger governance around access. Across all three cases, scale is achieved by composing earlier chapter building blocks rather than inventing a one-off stack.</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Netflix-style streaming pairs object storage, CDNs, and real-time pipelines under concurrent load. Spotify-style analytics stream events into cloud storage with SQL, NoSQL, and Spark for live recommendations. Healthcare imaging keeps DICOM archives on governed object storage with analytics on derived tables. Production scale is composition of storage, streaming, and governance patterns already covered.</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surveys emerging trends: serverless compute over object storage, graph and time-series specialty stores, and high-throughput messaging platforms that shape the next generation of scalable pipelines.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serverless compute paired with durable object storage; position Neo4j for relationship-heavy graphs and InfluxDB for timestamped metrics; describe Kafka as a high-throughput messaging backbone for live analytics; and connect these trends to the storage foundations covered earlier in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12.2 already covered cloud object stores, SQL versus NoSQL trade-offs, and CAP-style consistency. This closing section highlights directions that are still shifting how teams operate those foundations: serverless compute over object storage, specialized database engines, and automated pipelines that keep storage and analytics synchronized.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managed buckets themselves, teams often attach event-driven functions so compute scales independently of durable storage capacity. Example 12.26 pairs S3-class storage with serverless compute: object stores hold durable blobs while serverless functions process events on ingest, scaling compute independently of storage capacity. The example 26 module for this chapter summarizes that separation of concerns. Cloud-native databases such as Aurora and Spanner further reduce operational burden with automatic scaling for transactional workloads.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Horizontal NoSQL stores remain important; the emerging pattern is purpose-built engines for relationship and time-series workloads, often as database-as-a-service. Example 12.27 places graph databases in network-style apps. Graph databases such as Neo4j fit social graphs and fraud rings where multi-hop relationships are the primary query pattern. The example 27 module for this chapter covers that graph fit.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12.28 places time-series stores in monitoring workloads. Time-series databases such as InfluxDB store high-rate sensor and market ticks for real-time monitoring and rollups. Purpose-built engines avoid forcing every metric into a general document or relational schema. The example 28 module for this chapter frames that time-series role.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9 covers streaming collection; here the operational concern is wiring durable buses so storage and analytics stay synchronized. Example 12.29 returns to Kafka in the pipeline-automation context: Kafka sustains high message rates across producers and consumers, making it a common backbone for fraud detection and live analytics pipelines. The example 29 module for this chapter summarizes that messaging role.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Scalable management provides the storage, consistency, versioning, and lineage substrate for production datasets. Chapter 13 turns to reproducibility and open science: pinning analyses to the versions and provenance records that platforms like those in this chapter must expose. Emerging tools matter only when they still expose addressable versions and auditable lineage.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Serverless compute scales independently of durable object storage. Neo4j and InfluxDB illustrate purpose-built graph and time-series engines. Kafka remains a high-throughput messaging backbone for live pipelines. Trends build on earlier foundations rather than replacing CAP, formats, versioning, and lineage. Chapter 13 consumes the managed assets this chapter prepares.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to finish Chapter 12. The course continues in Chapter 13 with reproducibility and open-science practices that rely on the versions and provenance records scalable platforms must expose.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Introduction to scalable data management</a:t>
            </a:r>
          </a:p>
          <a:p>
            <a:pPr algn="ctr">
              <a:lnSpc>
                <a:spcPts val="2200"/>
              </a:lnSpc>
              <a:spcBef>
                <a:spcPts val="1400"/>
              </a:spcBef>
            </a:pPr>
            <a:r>
              <a:rPr sz="2600" b="0">
                <a:solidFill>
                  <a:srgbClr val="333333"/>
                </a:solidFill>
                <a:latin typeface="Calibri"/>
              </a:rPr>
              <a:t>Chapters 9 through 11 covered advanced collection, synthetic companions, and annotation at scale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 learners should be able to define scalable data management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scalable data management means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Scalable data management is the ability to handle growing volume, variety</a:t>
            </a:r>
          </a:p>
          <a:p>
            <a:pPr lvl="0" marL="457200" indent="-228600">
              <a:buFont typeface="Calibri"/>
              <a:spcAft>
                <a:spcPts val="1000"/>
              </a:spcAft>
              <a:buSzPct val="100000"/>
              <a:buChar char="•"/>
              <a:lnSpc>
                <a:spcPts val="2200"/>
              </a:lnSpc>
            </a:pPr>
            <a:r>
              <a:rPr sz="2000" b="0">
                <a:solidFill>
                  <a:srgbClr val="333333"/>
                </a:solidFill>
                <a:latin typeface="Calibri"/>
              </a:rPr>
              <a:t>As datasets grow</a:t>
            </a:r>
          </a:p>
          <a:p>
            <a:pPr lvl="0" marL="457200" indent="-228600">
              <a:buFont typeface="Calibri"/>
              <a:spcAft>
                <a:spcPts val="1000"/>
              </a:spcAft>
              <a:buSzPct val="100000"/>
              <a:buChar char="•"/>
              <a:lnSpc>
                <a:spcPts val="2200"/>
              </a:lnSpc>
            </a:pPr>
            <a:r>
              <a:rPr sz="2000" b="0">
                <a:solidFill>
                  <a:srgbClr val="333333"/>
                </a:solidFill>
                <a:latin typeface="Calibri"/>
              </a:rPr>
              <a:t>The goal is to design storage, processing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Principle: elasticity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Elasticity means the system can expand and contract resources depending on the workload</a:t>
            </a:r>
          </a:p>
          <a:p>
            <a:pPr lvl="0" marL="457200" indent="-228600">
              <a:buFont typeface="Calibri"/>
              <a:spcAft>
                <a:spcPts val="1000"/>
              </a:spcAft>
              <a:buSzPct val="100000"/>
              <a:buChar char="•"/>
              <a:lnSpc>
                <a:spcPts val="2200"/>
              </a:lnSpc>
            </a:pPr>
            <a:r>
              <a:rPr sz="2000" b="0">
                <a:solidFill>
                  <a:srgbClr val="333333"/>
                </a:solidFill>
                <a:latin typeface="Calibri"/>
              </a:rPr>
              <a:t>This is especially useful in cloud environments</a:t>
            </a:r>
          </a:p>
          <a:p>
            <a:pPr lvl="0" marL="457200" indent="-228600">
              <a:buFont typeface="Calibri"/>
              <a:spcAft>
                <a:spcPts val="1000"/>
              </a:spcAft>
              <a:buSzPct val="100000"/>
              <a:buChar char="•"/>
              <a:lnSpc>
                <a:spcPts val="2200"/>
              </a:lnSpc>
            </a:pPr>
            <a:r>
              <a:rPr sz="2000" b="0">
                <a:solidFill>
                  <a:srgbClr val="333333"/>
                </a:solidFill>
                <a:latin typeface="Calibri"/>
              </a:rPr>
              <a:t>Elastic designs avoid permanently over-provisioning for peak load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Principles: efficiency and resilience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Efficiency means optimizing storage, compute</a:t>
            </a:r>
          </a:p>
          <a:p>
            <a:pPr lvl="0" marL="457200" indent="-228600">
              <a:buFont typeface="Calibri"/>
              <a:spcAft>
                <a:spcPts val="1000"/>
              </a:spcAft>
              <a:buSzPct val="100000"/>
              <a:buChar char="•"/>
              <a:lnSpc>
                <a:spcPts val="2200"/>
              </a:lnSpc>
            </a:pPr>
            <a:r>
              <a:rPr sz="2000" b="0">
                <a:solidFill>
                  <a:srgbClr val="333333"/>
                </a:solidFill>
                <a:latin typeface="Calibri"/>
              </a:rPr>
              <a:t>Resilience means remaining available and fault-tolerant as the system scales</a:t>
            </a:r>
          </a:p>
          <a:p>
            <a:pPr lvl="0" marL="457200" indent="-228600">
              <a:buFont typeface="Calibri"/>
              <a:spcAft>
                <a:spcPts val="1000"/>
              </a:spcAft>
              <a:buSzPct val="100000"/>
              <a:buChar char="•"/>
              <a:lnSpc>
                <a:spcPts val="2200"/>
              </a:lnSpc>
            </a:pPr>
            <a:r>
              <a:rPr sz="2000" b="0">
                <a:solidFill>
                  <a:srgbClr val="333333"/>
                </a:solidFill>
                <a:latin typeface="Calibri"/>
              </a:rPr>
              <a:t>Together with elasticity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storage and retrieval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Traditional databases and file systems often struggle to store petabytes or exabytes</a:t>
            </a:r>
          </a:p>
          <a:p>
            <a:pPr lvl="0" marL="457200" indent="-228600">
              <a:buFont typeface="Calibri"/>
              <a:spcAft>
                <a:spcPts val="1000"/>
              </a:spcAft>
              <a:buSzPct val="100000"/>
              <a:buChar char="•"/>
              <a:lnSpc>
                <a:spcPts val="2200"/>
              </a:lnSpc>
            </a:pPr>
            <a:r>
              <a:rPr sz="2000" b="0">
                <a:solidFill>
                  <a:srgbClr val="333333"/>
                </a:solidFill>
                <a:latin typeface="Calibri"/>
              </a:rPr>
              <a:t>Distributed storage is needed so data is evenly placed, backed up</a:t>
            </a:r>
          </a:p>
          <a:p>
            <a:pPr lvl="0" marL="457200" indent="-228600">
              <a:buFont typeface="Calibri"/>
              <a:spcAft>
                <a:spcPts val="1000"/>
              </a:spcAft>
              <a:buSzPct val="100000"/>
              <a:buChar char="•"/>
              <a:lnSpc>
                <a:spcPts val="2200"/>
              </a:lnSpc>
            </a:pPr>
            <a:r>
              <a:rPr sz="2000" b="0">
                <a:solidFill>
                  <a:srgbClr val="333333"/>
                </a:solidFill>
                <a:latin typeface="Calibri"/>
              </a:rPr>
              <a:t>Retrieval also grows harder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performance and cost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Systems must handle high request rates with low latency while scaling</a:t>
            </a:r>
          </a:p>
          <a:p>
            <a:pPr lvl="0" marL="457200" indent="-228600">
              <a:buFont typeface="Calibri"/>
              <a:spcAft>
                <a:spcPts val="1000"/>
              </a:spcAft>
              <a:buSzPct val="100000"/>
              <a:buChar char="•"/>
              <a:lnSpc>
                <a:spcPts val="2200"/>
              </a:lnSpc>
            </a:pPr>
            <a:r>
              <a:rPr sz="2000" b="0">
                <a:solidFill>
                  <a:srgbClr val="333333"/>
                </a:solidFill>
                <a:latin typeface="Calibri"/>
              </a:rPr>
              <a:t>Network latency and consistency become central concerns in cloud and distributed settings</a:t>
            </a:r>
          </a:p>
          <a:p>
            <a:pPr lvl="0" marL="457200" indent="-228600">
              <a:buFont typeface="Calibri"/>
              <a:spcAft>
                <a:spcPts val="1000"/>
              </a:spcAft>
              <a:buSzPct val="100000"/>
              <a:buChar char="•"/>
              <a:lnSpc>
                <a:spcPts val="2200"/>
              </a:lnSpc>
            </a:pPr>
            <a:r>
              <a:rPr sz="2000" b="0">
                <a:solidFill>
                  <a:srgbClr val="333333"/>
                </a:solidFill>
                <a:latin typeface="Calibri"/>
              </a:rPr>
              <a:t>Scaling also raises operational cost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components of the platform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Fault tolerance</a:t>
            </a:r>
          </a:p>
          <a:p>
            <a:pPr lvl="0" marL="457200" indent="-228600">
              <a:buFont typeface="Calibri"/>
              <a:spcAft>
                <a:spcPts val="1000"/>
              </a:spcAft>
              <a:buSzPct val="100000"/>
              <a:buChar char="•"/>
              <a:lnSpc>
                <a:spcPts val="2200"/>
              </a:lnSpc>
            </a:pPr>
            <a:r>
              <a:rPr sz="2000" b="0">
                <a:solidFill>
                  <a:srgbClr val="333333"/>
                </a:solidFill>
                <a:latin typeface="Calibri"/>
              </a:rPr>
              <a:t>Query processing often uses parallel and distributed databases that split work across</a:t>
            </a:r>
          </a:p>
          <a:p>
            <a:pPr lvl="0" marL="457200" indent="-228600">
              <a:buFont typeface="Calibri"/>
              <a:spcAft>
                <a:spcPts val="1000"/>
              </a:spcAft>
              <a:buSzPct val="100000"/>
              <a:buChar char="•"/>
              <a:lnSpc>
                <a:spcPts val="2200"/>
              </a:lnSpc>
            </a:pPr>
            <a:r>
              <a:rPr sz="2000" b="0">
                <a:solidFill>
                  <a:srgbClr val="333333"/>
                </a:solidFill>
                <a:latin typeface="Calibri"/>
              </a:rPr>
              <a:t>Data lineage tracks origin, transforms, and use so pipelines stay auditable and debuggable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Scalable data management keeps volume, variety</a:t>
            </a:r>
          </a:p>
          <a:p>
            <a:pPr lvl="0" marL="457200" indent="-228600">
              <a:buFont typeface="Calibri"/>
              <a:spcAft>
                <a:spcPts val="1000"/>
              </a:spcAft>
              <a:buSzPct val="100000"/>
              <a:buChar char="•"/>
              <a:lnSpc>
                <a:spcPts val="2200"/>
              </a:lnSpc>
            </a:pPr>
            <a:r>
              <a:rPr sz="2000" b="0">
                <a:solidFill>
                  <a:srgbClr val="333333"/>
                </a:solidFill>
                <a:latin typeface="Calibri"/>
              </a:rPr>
              <a:t>Elasticity, efficiency, and resilience are the guiding principles</a:t>
            </a:r>
          </a:p>
          <a:p>
            <a:pPr lvl="0" marL="457200" indent="-228600">
              <a:buFont typeface="Calibri"/>
              <a:spcAft>
                <a:spcPts val="1000"/>
              </a:spcAft>
              <a:buSzPct val="100000"/>
              <a:buChar char="•"/>
              <a:lnSpc>
                <a:spcPts val="2200"/>
              </a:lnSpc>
            </a:pPr>
            <a:r>
              <a:rPr sz="2000" b="0">
                <a:solidFill>
                  <a:srgbClr val="333333"/>
                </a:solidFill>
                <a:latin typeface="Calibri"/>
              </a:rPr>
              <a:t>Storage, retrieval, performance, and cost challenges motivate distributed designs</a:t>
            </a:r>
          </a:p>
          <a:p>
            <a:pPr lvl="0" marL="457200" indent="-228600">
              <a:buFont typeface="Calibri"/>
              <a:spcAft>
                <a:spcPts val="1000"/>
              </a:spcAft>
              <a:buSzPct val="100000"/>
              <a:buChar char="•"/>
              <a:lnSpc>
                <a:spcPts val="2200"/>
              </a:lnSpc>
            </a:pPr>
            <a:r>
              <a:rPr sz="2000" b="0">
                <a:solidFill>
                  <a:srgbClr val="333333"/>
                </a:solidFill>
                <a:latin typeface="Calibri"/>
              </a:rPr>
              <a:t>Storage, query processing, and lineage form the core component stack this chapter develops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surveys database families and cloud storage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databases and storage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large-scale data management</a:t>
            </a:r>
          </a:p>
          <a:p>
            <a:pPr lvl="0" marL="457200" indent="-228600">
              <a:buFont typeface="Calibri"/>
              <a:spcAft>
                <a:spcPts val="1000"/>
              </a:spcAft>
              <a:buSzPct val="100000"/>
              <a:buChar char="•"/>
              <a:lnSpc>
                <a:spcPts val="2200"/>
              </a:lnSpc>
            </a:pPr>
            <a:r>
              <a:rPr sz="2000" b="0">
                <a:solidFill>
                  <a:srgbClr val="333333"/>
                </a:solidFill>
                <a:latin typeface="Calibri"/>
              </a:rPr>
              <a:t>The choice depends on use case, data type, and performance requirements</a:t>
            </a:r>
          </a:p>
          <a:p>
            <a:pPr lvl="0" marL="457200" indent="-228600">
              <a:buFont typeface="Calibri"/>
              <a:spcAft>
                <a:spcPts val="1000"/>
              </a:spcAft>
              <a:buSzPct val="100000"/>
              <a:buChar char="•"/>
              <a:lnSpc>
                <a:spcPts val="2200"/>
              </a:lnSpc>
            </a:pPr>
            <a:r>
              <a:rPr sz="2000" b="0">
                <a:solidFill>
                  <a:srgbClr val="333333"/>
                </a:solidFill>
                <a:latin typeface="Calibri"/>
              </a:rPr>
              <a:t>Broadly, systems fall into databases for structured and unstructured data and storage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Relational databases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Atomicity, consistency, isolation, and durability</a:t>
            </a:r>
          </a:p>
          <a:p>
            <a:pPr lvl="0" marL="457200" indent="-228600">
              <a:buFont typeface="Calibri"/>
              <a:spcAft>
                <a:spcPts val="1000"/>
              </a:spcAft>
              <a:buSzPct val="100000"/>
              <a:buChar char="•"/>
              <a:lnSpc>
                <a:spcPts val="2200"/>
              </a:lnSpc>
            </a:pPr>
            <a:r>
              <a:rPr sz="2000" b="0">
                <a:solidFill>
                  <a:srgbClr val="333333"/>
                </a:solidFill>
                <a:latin typeface="Calibri"/>
              </a:rPr>
              <a:t>Enterprise resource planning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NoSQL databases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NoSQL stores such as MongoDB, Cassandra</a:t>
            </a:r>
          </a:p>
          <a:p>
            <a:pPr lvl="0" marL="457200" indent="-228600">
              <a:buFont typeface="Calibri"/>
              <a:spcAft>
                <a:spcPts val="1000"/>
              </a:spcAft>
              <a:buSzPct val="100000"/>
              <a:buChar char="•"/>
              <a:lnSpc>
                <a:spcPts val="2200"/>
              </a:lnSpc>
            </a:pPr>
            <a:r>
              <a:rPr sz="2000" b="0">
                <a:solidFill>
                  <a:srgbClr val="333333"/>
                </a:solidFill>
                <a:latin typeface="Calibri"/>
              </a:rPr>
              <a:t>Models include key-value, document, and graph forms</a:t>
            </a:r>
          </a:p>
          <a:p>
            <a:pPr lvl="0" marL="457200" indent="-228600">
              <a:buFont typeface="Calibri"/>
              <a:spcAft>
                <a:spcPts val="1000"/>
              </a:spcAft>
              <a:buSzPct val="100000"/>
              <a:buChar char="•"/>
              <a:lnSpc>
                <a:spcPts val="2200"/>
              </a:lnSpc>
            </a:pPr>
            <a:r>
              <a:rPr sz="2000" b="0">
                <a:solidFill>
                  <a:srgbClr val="333333"/>
                </a:solidFill>
                <a:latin typeface="Calibri"/>
              </a:rPr>
              <a:t>Big-data analytics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 — NoSQL for Web Mobile and IoT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12.1 lists typical NoSQL application patterns</a:t>
            </a:r>
          </a:p>
          <a:p>
            <a:pPr lvl="0" marL="457200" indent="-228600">
              <a:buFont typeface="Calibri"/>
              <a:spcAft>
                <a:spcPts val="1000"/>
              </a:spcAft>
              <a:buSzPct val="100000"/>
              <a:buChar char="•"/>
              <a:lnSpc>
                <a:spcPts val="2200"/>
              </a:lnSpc>
            </a:pPr>
            <a:r>
              <a:rPr sz="2000" b="0">
                <a:solidFill>
                  <a:srgbClr val="333333"/>
                </a:solidFill>
                <a:latin typeface="Calibri"/>
              </a:rPr>
              <a:t>NoSQL stores fit real-time social and messaging apps, semi-structured logs for analytics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SQL versus NoSQL trade-offs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chapter comparison table contrasts data model, scaling, consistency, transactions</a:t>
            </a:r>
          </a:p>
          <a:p>
            <a:pPr lvl="0" marL="457200" indent="-228600">
              <a:buFont typeface="Calibri"/>
              <a:spcAft>
                <a:spcPts val="1000"/>
              </a:spcAft>
              <a:buSzPct val="100000"/>
              <a:buChar char="•"/>
              <a:lnSpc>
                <a:spcPts val="2200"/>
              </a:lnSpc>
            </a:pPr>
            <a:r>
              <a:rPr sz="2000" b="0">
                <a:solidFill>
                  <a:srgbClr val="333333"/>
                </a:solidFill>
                <a:latin typeface="Calibri"/>
              </a:rPr>
              <a:t>SQL systems favor tables, often vertical scale first, strong consistency with ACID</a:t>
            </a:r>
          </a:p>
          <a:p>
            <a:pPr lvl="0" marL="457200" indent="-228600">
              <a:buFont typeface="Calibri"/>
              <a:spcAft>
                <a:spcPts val="1000"/>
              </a:spcAft>
              <a:buSzPct val="100000"/>
              <a:buChar char="•"/>
              <a:lnSpc>
                <a:spcPts val="2200"/>
              </a:lnSpc>
            </a:pPr>
            <a:r>
              <a:rPr sz="2000" b="0">
                <a:solidFill>
                  <a:srgbClr val="333333"/>
                </a:solidFill>
                <a:latin typeface="Calibri"/>
              </a:rPr>
              <a:t>High-volume semi-structured or rapidly changing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 — Cloud Storage Across AWS GCP Azure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12.2 summarizes managed storage and database options from major clouds</a:t>
            </a:r>
          </a:p>
          <a:p>
            <a:pPr lvl="0" marL="457200" indent="-228600">
              <a:buFont typeface="Calibri"/>
              <a:spcAft>
                <a:spcPts val="1000"/>
              </a:spcAft>
              <a:buSzPct val="100000"/>
              <a:buChar char="•"/>
              <a:lnSpc>
                <a:spcPts val="2200"/>
              </a:lnSpc>
            </a:pPr>
            <a:r>
              <a:rPr sz="2000" b="0">
                <a:solidFill>
                  <a:srgbClr val="333333"/>
                </a:solidFill>
                <a:latin typeface="Calibri"/>
              </a:rPr>
              <a:t>Amazon Web Services pairs S3 object storage with RDS and DynamoDB</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Relational stores fit structured transactional work with strong consistency</a:t>
            </a:r>
          </a:p>
          <a:p>
            <a:pPr lvl="0" marL="457200" indent="-228600">
              <a:buFont typeface="Calibri"/>
              <a:spcAft>
                <a:spcPts val="1000"/>
              </a:spcAft>
              <a:buSzPct val="100000"/>
              <a:buChar char="•"/>
              <a:lnSpc>
                <a:spcPts val="2200"/>
              </a:lnSpc>
            </a:pPr>
            <a:r>
              <a:rPr sz="2000" b="0">
                <a:solidFill>
                  <a:srgbClr val="333333"/>
                </a:solidFill>
                <a:latin typeface="Calibri"/>
              </a:rPr>
              <a:t>Web, mobile, and Internet of Things streams often prefer NoSQL when schemas evolve quickly</a:t>
            </a:r>
          </a:p>
          <a:p>
            <a:pPr lvl="0" marL="457200" indent="-228600">
              <a:buFont typeface="Calibri"/>
              <a:spcAft>
                <a:spcPts val="1000"/>
              </a:spcAft>
              <a:buSzPct val="100000"/>
              <a:buChar char="•"/>
              <a:lnSpc>
                <a:spcPts val="2200"/>
              </a:lnSpc>
            </a:pPr>
            <a:r>
              <a:rPr sz="2000" b="0">
                <a:solidFill>
                  <a:srgbClr val="333333"/>
                </a:solidFill>
                <a:latin typeface="Calibri"/>
              </a:rPr>
              <a:t>Major clouds package object storage with managed SQL and NoSQL services so teams reduce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storage formats and media types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storage formats matter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ORC are widely used</a:t>
            </a:r>
          </a:p>
          <a:p>
            <a:pPr lvl="0" marL="457200" indent="-228600">
              <a:buFont typeface="Calibri"/>
              <a:spcAft>
                <a:spcPts val="1000"/>
              </a:spcAft>
              <a:buSzPct val="100000"/>
              <a:buChar char="•"/>
              <a:lnSpc>
                <a:spcPts val="2200"/>
              </a:lnSpc>
            </a:pPr>
            <a:r>
              <a:rPr sz="2000" b="0">
                <a:solidFill>
                  <a:srgbClr val="333333"/>
                </a:solidFill>
                <a:latin typeface="Calibri"/>
              </a:rPr>
              <a:t>Format choice affects compression, schema evolution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12.3 — Parquet Columnar Analytics Format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12.3 highlights Parquet for analytical scans</a:t>
            </a:r>
          </a:p>
          <a:p>
            <a:pPr lvl="0" marL="457200" indent="-228600">
              <a:buFont typeface="Calibri"/>
              <a:spcAft>
                <a:spcPts val="1000"/>
              </a:spcAft>
              <a:buSzPct val="100000"/>
              <a:buChar char="•"/>
              <a:lnSpc>
                <a:spcPts val="2200"/>
              </a:lnSpc>
            </a:pPr>
            <a:r>
              <a:rPr sz="2000" b="0">
                <a:solidFill>
                  <a:srgbClr val="333333"/>
                </a:solidFill>
                <a:latin typeface="Calibri"/>
              </a:rPr>
              <a:t>So queries read only needed columns and cut input and output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12.4 — Avro and ORC for Streams and Hive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12.4 contrasts Avro row encoding with ORC columnar Hive storage</a:t>
            </a:r>
          </a:p>
          <a:p>
            <a:pPr lvl="0" marL="457200" indent="-228600">
              <a:buFont typeface="Calibri"/>
              <a:spcAft>
                <a:spcPts val="1000"/>
              </a:spcAft>
              <a:buSzPct val="100000"/>
              <a:buChar char="•"/>
              <a:lnSpc>
                <a:spcPts val="2200"/>
              </a:lnSpc>
            </a:pPr>
            <a:r>
              <a:rPr sz="2000" b="0">
                <a:solidFill>
                  <a:srgbClr val="333333"/>
                </a:solidFill>
                <a:latin typeface="Calibri"/>
              </a:rPr>
              <a:t>Avro is a row-oriented format common in Kafka-style streaming with schema evolution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Object storage model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Object storage systems</a:t>
            </a:r>
          </a:p>
          <a:p>
            <a:pPr lvl="0" marL="457200" indent="-228600">
              <a:buFont typeface="Calibri"/>
              <a:spcAft>
                <a:spcPts val="1000"/>
              </a:spcAft>
              <a:buSzPct val="100000"/>
              <a:buChar char="•"/>
              <a:lnSpc>
                <a:spcPts val="2200"/>
              </a:lnSpc>
            </a:pPr>
            <a:r>
              <a:rPr sz="2000" b="0">
                <a:solidFill>
                  <a:srgbClr val="333333"/>
                </a:solidFill>
                <a:latin typeface="Calibri"/>
              </a:rPr>
              <a:t>This model is highly scalable and suitable for unstructured data such as videos, images</a:t>
            </a:r>
          </a:p>
          <a:p>
            <a:pPr lvl="0" marL="457200" indent="-228600">
              <a:buFont typeface="Calibri"/>
              <a:spcAft>
                <a:spcPts val="1000"/>
              </a:spcAft>
              <a:buSzPct val="100000"/>
              <a:buChar char="•"/>
              <a:lnSpc>
                <a:spcPts val="2200"/>
              </a:lnSpc>
            </a:pPr>
            <a:r>
              <a:rPr sz="2000" b="0">
                <a:solidFill>
                  <a:srgbClr val="333333"/>
                </a:solidFill>
                <a:latin typeface="Calibri"/>
              </a:rPr>
              <a:t>Object storage is optimized for large-scale archiving and retrieval over an HTTP-style API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12.5 — Object Storage for Unstructured Archives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12.5 places object storage in large unstructured workloads</a:t>
            </a:r>
          </a:p>
          <a:p>
            <a:pPr lvl="0" marL="457200" indent="-228600">
              <a:buFont typeface="Calibri"/>
              <a:spcAft>
                <a:spcPts val="1000"/>
              </a:spcAft>
              <a:buSzPct val="100000"/>
              <a:buChar char="•"/>
              <a:lnSpc>
                <a:spcPts val="2200"/>
              </a:lnSpc>
            </a:pPr>
            <a:r>
              <a:rPr sz="2000" b="0">
                <a:solidFill>
                  <a:srgbClr val="333333"/>
                </a:solidFill>
                <a:latin typeface="Calibri"/>
              </a:rPr>
              <a:t>Lakehouse files that grow without block-device provisioning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Block storage and Example 12.6</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12.6 — hands-on module</a:t>
            </a:r>
          </a:p>
          <a:p>
            <a:pPr lvl="0" marL="457200" indent="-228600">
              <a:buFont typeface="Calibri"/>
              <a:spcAft>
                <a:spcPts val="1000"/>
              </a:spcAft>
              <a:buSzPct val="100000"/>
              <a:buChar char="•"/>
              <a:lnSpc>
                <a:spcPts val="2200"/>
              </a:lnSpc>
            </a:pPr>
            <a:r>
              <a:rPr sz="2000" b="0">
                <a:solidFill>
                  <a:srgbClr val="333333"/>
                </a:solidFill>
                <a:latin typeface="Calibri"/>
              </a:rPr>
              <a:t>Block storage divides data into blocks and provides low-latency access</a:t>
            </a:r>
          </a:p>
          <a:p>
            <a:pPr lvl="0" marL="457200" indent="-228600">
              <a:buFont typeface="Calibri"/>
              <a:spcAft>
                <a:spcPts val="1000"/>
              </a:spcAft>
              <a:buSzPct val="100000"/>
              <a:buChar char="•"/>
              <a:lnSpc>
                <a:spcPts val="2200"/>
              </a:lnSpc>
            </a:pPr>
            <a:r>
              <a:rPr sz="2000" b="0">
                <a:solidFill>
                  <a:srgbClr val="333333"/>
                </a:solidFill>
                <a:latin typeface="Calibri"/>
              </a:rPr>
              <a:t>It is ideal for transactional systems that need fast reads and writes</a:t>
            </a:r>
          </a:p>
          <a:p>
            <a:pPr lvl="0" marL="457200" indent="-228600">
              <a:buFont typeface="Calibri"/>
              <a:spcAft>
                <a:spcPts val="1000"/>
              </a:spcAft>
              <a:buSzPct val="100000"/>
              <a:buChar char="•"/>
              <a:lnSpc>
                <a:spcPts val="2200"/>
              </a:lnSpc>
            </a:pPr>
            <a:r>
              <a:rPr sz="2000" b="0">
                <a:solidFill>
                  <a:srgbClr val="333333"/>
                </a:solidFill>
                <a:latin typeface="Calibri"/>
              </a:rPr>
              <a:t>Example 12.6 shows block volumes attaching low-latency disks to virtual machines running</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Putting formats and media together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practice, teams place lakehouse files, media</a:t>
            </a:r>
          </a:p>
          <a:p>
            <a:pPr lvl="0" marL="457200" indent="-228600">
              <a:buFont typeface="Calibri"/>
              <a:spcAft>
                <a:spcPts val="1000"/>
              </a:spcAft>
              <a:buSzPct val="100000"/>
              <a:buChar char="•"/>
              <a:lnSpc>
                <a:spcPts val="2200"/>
              </a:lnSpc>
            </a:pPr>
            <a:r>
              <a:rPr sz="2000" b="0">
                <a:solidFill>
                  <a:srgbClr val="333333"/>
                </a:solidFill>
                <a:latin typeface="Calibri"/>
              </a:rPr>
              <a:t>Columnar formats such as Parquet and ORC sit on object stores for analytics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Parquet favors columnar analytics with selective column reads</a:t>
            </a:r>
          </a:p>
          <a:p>
            <a:pPr lvl="0" marL="457200" indent="-228600">
              <a:buFont typeface="Calibri"/>
              <a:spcAft>
                <a:spcPts val="1000"/>
              </a:spcAft>
              <a:buSzPct val="100000"/>
              <a:buChar char="•"/>
              <a:lnSpc>
                <a:spcPts val="2200"/>
              </a:lnSpc>
            </a:pPr>
            <a:r>
              <a:rPr sz="2000" b="0">
                <a:solidFill>
                  <a:srgbClr val="333333"/>
                </a:solidFill>
                <a:latin typeface="Calibri"/>
              </a:rPr>
              <a:t>Avro fits streaming with schema evolution; ORC fits read-heavy Hive warehouses</a:t>
            </a:r>
          </a:p>
          <a:p>
            <a:pPr lvl="0" marL="457200" indent="-228600">
              <a:buFont typeface="Calibri"/>
              <a:spcAft>
                <a:spcPts val="1000"/>
              </a:spcAft>
              <a:buSzPct val="100000"/>
              <a:buChar char="•"/>
              <a:lnSpc>
                <a:spcPts val="2200"/>
              </a:lnSpc>
            </a:pPr>
            <a:r>
              <a:rPr sz="2000" b="0">
                <a:solidFill>
                  <a:srgbClr val="333333"/>
                </a:solidFill>
                <a:latin typeface="Calibri"/>
              </a:rPr>
              <a:t>Object storage scales unstructured archives and lakehouse files</a:t>
            </a:r>
          </a:p>
          <a:p>
            <a:pPr lvl="0" marL="457200" indent="-228600">
              <a:buFont typeface="Calibri"/>
              <a:spcAft>
                <a:spcPts val="1000"/>
              </a:spcAft>
              <a:buSzPct val="100000"/>
              <a:buChar char="•"/>
              <a:lnSpc>
                <a:spcPts val="2200"/>
              </a:lnSpc>
            </a:pPr>
            <a:r>
              <a:rPr sz="2000" b="0">
                <a:solidFill>
                  <a:srgbClr val="333333"/>
                </a:solidFill>
                <a:latin typeface="Calibri"/>
              </a:rPr>
              <a:t>Format and media choices should follow query and latency needs, not a single default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introduces distributed systems characteristics and concrete examples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distributed systems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Distributed systems sit at the heart of scalable data management</a:t>
            </a:r>
          </a:p>
          <a:p>
            <a:pPr lvl="0" marL="457200" indent="-228600">
              <a:buFont typeface="Calibri"/>
              <a:spcAft>
                <a:spcPts val="1000"/>
              </a:spcAft>
              <a:buSzPct val="100000"/>
              <a:buChar char="•"/>
              <a:lnSpc>
                <a:spcPts val="2200"/>
              </a:lnSpc>
            </a:pPr>
            <a:r>
              <a:rPr sz="2000" b="0">
                <a:solidFill>
                  <a:srgbClr val="333333"/>
                </a:solidFill>
                <a:latin typeface="Calibri"/>
              </a:rPr>
              <a:t>They enable data to be stored, processed</a:t>
            </a:r>
          </a:p>
          <a:p>
            <a:pPr lvl="0" marL="457200" indent="-228600">
              <a:buFont typeface="Calibri"/>
              <a:spcAft>
                <a:spcPts val="1000"/>
              </a:spcAft>
              <a:buSzPct val="100000"/>
              <a:buChar char="•"/>
              <a:lnSpc>
                <a:spcPts val="2200"/>
              </a:lnSpc>
            </a:pPr>
            <a:r>
              <a:rPr sz="2000" b="0">
                <a:solidFill>
                  <a:srgbClr val="333333"/>
                </a:solidFill>
                <a:latin typeface="Calibri"/>
              </a:rPr>
              <a:t>Chapter 9 introduced streaming collection from an acquisition angle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Key characteristics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Distributed systems aim for high availability, fault tolerance, and horizontal scalability</a:t>
            </a:r>
          </a:p>
          <a:p>
            <a:pPr lvl="0" marL="457200" indent="-228600">
              <a:buFont typeface="Calibri"/>
              <a:spcAft>
                <a:spcPts val="1000"/>
              </a:spcAft>
              <a:buSzPct val="100000"/>
              <a:buChar char="•"/>
              <a:lnSpc>
                <a:spcPts val="2200"/>
              </a:lnSpc>
            </a:pPr>
            <a:r>
              <a:rPr sz="2000" b="0">
                <a:solidFill>
                  <a:srgbClr val="333333"/>
                </a:solidFill>
                <a:latin typeface="Calibri"/>
              </a:rPr>
              <a:t>Core characteristics include data partitioning across nodes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12.7 — HDFS Partitioning and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12.7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12.7 walks through HDFS blocks as a distributed-file pattern</a:t>
            </a:r>
          </a:p>
          <a:p>
            <a:pPr lvl="0" marL="457200" indent="-228600">
              <a:buFont typeface="Calibri"/>
              <a:spcAft>
                <a:spcPts val="1000"/>
              </a:spcAft>
              <a:buSzPct val="100000"/>
              <a:buChar char="•"/>
              <a:lnSpc>
                <a:spcPts val="2200"/>
              </a:lnSpc>
            </a:pPr>
            <a:r>
              <a:rPr sz="2000" b="0">
                <a:solidFill>
                  <a:srgbClr val="333333"/>
                </a:solidFill>
                <a:latin typeface="Calibri"/>
              </a:rPr>
              <a:t>HDFS splits large files into blocks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12.8 — Cassandra for Multi-Datacenter Writes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12.8 positions Cassandra for write-heavy global apps</a:t>
            </a:r>
          </a:p>
          <a:p>
            <a:pPr lvl="0" marL="457200" indent="-228600">
              <a:buFont typeface="Calibri"/>
              <a:spcAft>
                <a:spcPts val="1000"/>
              </a:spcAft>
              <a:buSzPct val="100000"/>
              <a:buChar char="•"/>
              <a:lnSpc>
                <a:spcPts val="2200"/>
              </a:lnSpc>
            </a:pPr>
            <a:r>
              <a:rPr sz="2000" b="0">
                <a:solidFill>
                  <a:srgbClr val="333333"/>
                </a:solidFill>
                <a:latin typeface="Calibri"/>
              </a:rPr>
              <a:t>Apache Cassandra is a distributed NoSQL store built for high write throughput and</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12.9 — Kafka for Real-Time Event Streams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12.9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12.9 uses Kafka as the streaming backbone</a:t>
            </a:r>
          </a:p>
          <a:p>
            <a:pPr lvl="0" marL="457200" indent="-228600">
              <a:buFont typeface="Calibri"/>
              <a:spcAft>
                <a:spcPts val="1000"/>
              </a:spcAft>
              <a:buSzPct val="100000"/>
              <a:buChar char="•"/>
              <a:lnSpc>
                <a:spcPts val="2200"/>
              </a:lnSpc>
            </a:pPr>
            <a:r>
              <a:rPr sz="2000" b="0">
                <a:solidFill>
                  <a:srgbClr val="333333"/>
                </a:solidFill>
                <a:latin typeface="Calibri"/>
              </a:rPr>
              <a:t>Apache Kafka ingests and buffers event streams with durable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Patterns that recur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Together, HDFS, Cassandra</a:t>
            </a:r>
          </a:p>
          <a:p>
            <a:pPr lvl="0" marL="457200" indent="-228600">
              <a:buFont typeface="Calibri"/>
              <a:spcAft>
                <a:spcPts val="1000"/>
              </a:spcAft>
              <a:buSzPct val="100000"/>
              <a:buChar char="•"/>
              <a:lnSpc>
                <a:spcPts val="2200"/>
              </a:lnSpc>
            </a:pPr>
            <a:r>
              <a:rPr sz="2000" b="0">
                <a:solidFill>
                  <a:srgbClr val="333333"/>
                </a:solidFill>
                <a:latin typeface="Calibri"/>
              </a:rPr>
              <a:t>File blocks, write-optimized tablet stores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Fault tolerance</a:t>
            </a:r>
          </a:p>
          <a:p>
            <a:pPr lvl="0" marL="457200" indent="-228600">
              <a:buFont typeface="Calibri"/>
              <a:spcAft>
                <a:spcPts val="1000"/>
              </a:spcAft>
              <a:buSzPct val="100000"/>
              <a:buChar char="•"/>
              <a:lnSpc>
                <a:spcPts val="2200"/>
              </a:lnSpc>
            </a:pPr>
            <a:r>
              <a:rPr sz="2000" b="0">
                <a:solidFill>
                  <a:srgbClr val="333333"/>
                </a:solidFill>
                <a:latin typeface="Calibri"/>
              </a:rPr>
              <a:t>HDFS shows block placement and replica recovery</a:t>
            </a:r>
          </a:p>
          <a:p>
            <a:pPr lvl="0" marL="457200" indent="-228600">
              <a:buFont typeface="Calibri"/>
              <a:spcAft>
                <a:spcPts val="1000"/>
              </a:spcAft>
              <a:buSzPct val="100000"/>
              <a:buChar char="•"/>
              <a:lnSpc>
                <a:spcPts val="2200"/>
              </a:lnSpc>
            </a:pPr>
            <a:r>
              <a:rPr sz="2000" b="0">
                <a:solidFill>
                  <a:srgbClr val="333333"/>
                </a:solidFill>
                <a:latin typeface="Calibri"/>
              </a:rPr>
              <a:t>Cassandra targets multi-datacenter write scale</a:t>
            </a:r>
          </a:p>
          <a:p>
            <a:pPr lvl="0" marL="457200" indent="-228600">
              <a:buFont typeface="Calibri"/>
              <a:spcAft>
                <a:spcPts val="1000"/>
              </a:spcAft>
              <a:buSzPct val="100000"/>
              <a:buChar char="•"/>
              <a:lnSpc>
                <a:spcPts val="2200"/>
              </a:lnSpc>
            </a:pPr>
            <a:r>
              <a:rPr sz="2000" b="0">
                <a:solidFill>
                  <a:srgbClr val="333333"/>
                </a:solidFill>
                <a:latin typeface="Calibri"/>
              </a:rPr>
              <a:t>Kafka provides durable partitioned logs for real-time consumers</a:t>
            </a:r>
          </a:p>
          <a:p>
            <a:pPr lvl="0" marL="457200" indent="-228600">
              <a:buFont typeface="Calibri"/>
              <a:spcAft>
                <a:spcPts val="1000"/>
              </a:spcAft>
              <a:buSzPct val="100000"/>
              <a:buChar char="•"/>
              <a:lnSpc>
                <a:spcPts val="2200"/>
              </a:lnSpc>
            </a:pPr>
            <a:r>
              <a:rPr sz="2000" b="0">
                <a:solidFill>
                  <a:srgbClr val="333333"/>
                </a:solidFill>
                <a:latin typeface="Calibri"/>
              </a:rPr>
              <a:t>These patterns prepare the CAP and consistency discussion that follows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the CAP theorem, sharding and replication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CAP theorem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Partition tolerance simultaneously</a:t>
            </a:r>
          </a:p>
          <a:p>
            <a:pPr lvl="0" marL="457200" indent="-228600">
              <a:buFont typeface="Calibri"/>
              <a:spcAft>
                <a:spcPts val="1000"/>
              </a:spcAft>
              <a:buSzPct val="100000"/>
              <a:buChar char="•"/>
              <a:lnSpc>
                <a:spcPts val="2200"/>
              </a:lnSpc>
            </a:pPr>
            <a:r>
              <a:rPr sz="2000" b="0">
                <a:solidFill>
                  <a:srgbClr val="333333"/>
                </a:solidFill>
                <a:latin typeface="Calibri"/>
              </a:rPr>
              <a:t>Consistency means every read returns the most recent write</a:t>
            </a:r>
          </a:p>
          <a:p>
            <a:pPr lvl="0" marL="457200" indent="-228600">
              <a:buFont typeface="Calibri"/>
              <a:spcAft>
                <a:spcPts val="1000"/>
              </a:spcAft>
              <a:buSzPct val="100000"/>
              <a:buChar char="•"/>
              <a:lnSpc>
                <a:spcPts val="2200"/>
              </a:lnSpc>
            </a:pPr>
            <a:r>
              <a:rPr sz="2000" b="0">
                <a:solidFill>
                  <a:srgbClr val="333333"/>
                </a:solidFill>
                <a:latin typeface="Calibri"/>
              </a:rPr>
              <a:t>Availability means every request receives a response even if some nodes are down</a:t>
            </a:r>
          </a:p>
          <a:p>
            <a:pPr lvl="0" marL="457200" indent="-228600">
              <a:buFont typeface="Calibri"/>
              <a:spcAft>
                <a:spcPts val="1000"/>
              </a:spcAft>
              <a:buSzPct val="100000"/>
              <a:buChar char="•"/>
              <a:lnSpc>
                <a:spcPts val="2200"/>
              </a:lnSpc>
            </a:pPr>
            <a:r>
              <a:rPr sz="2000" b="0">
                <a:solidFill>
                  <a:srgbClr val="333333"/>
                </a:solidFill>
                <a:latin typeface="Calibri"/>
              </a:rPr>
              <a:t>Partition tolerance means the system continues when the network splits nodes apart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CP versus AP under partition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Because partitions are unavoidable in real networks</a:t>
            </a:r>
          </a:p>
          <a:p>
            <a:pPr lvl="0" marL="457200" indent="-228600">
              <a:buFont typeface="Calibri"/>
              <a:spcAft>
                <a:spcPts val="1000"/>
              </a:spcAft>
              <a:buSzPct val="100000"/>
              <a:buChar char="•"/>
              <a:lnSpc>
                <a:spcPts val="2200"/>
              </a:lnSpc>
            </a:pPr>
            <a:r>
              <a:rPr sz="2000" b="0">
                <a:solidFill>
                  <a:srgbClr val="333333"/>
                </a:solidFill>
                <a:latin typeface="Calibri"/>
              </a:rPr>
              <a:t>Under partition</a:t>
            </a:r>
          </a:p>
          <a:p>
            <a:pPr lvl="0" marL="457200" indent="-228600">
              <a:buFont typeface="Calibri"/>
              <a:spcAft>
                <a:spcPts val="1000"/>
              </a:spcAft>
              <a:buSzPct val="100000"/>
              <a:buChar char="•"/>
              <a:lnSpc>
                <a:spcPts val="2200"/>
              </a:lnSpc>
            </a:pPr>
            <a:r>
              <a:rPr sz="2000" b="0">
                <a:solidFill>
                  <a:srgbClr val="333333"/>
                </a:solidFill>
                <a:latin typeface="Calibri"/>
              </a:rPr>
              <a:t>The choice depends on whether stale reads or temporary unavailability is more costly for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Sharding and Example 12.10</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12.10 — hands-on module</a:t>
            </a:r>
          </a:p>
          <a:p>
            <a:pPr lvl="0" marL="457200" indent="-228600">
              <a:buFont typeface="Calibri"/>
              <a:spcAft>
                <a:spcPts val="1000"/>
              </a:spcAft>
              <a:buSzPct val="100000"/>
              <a:buChar char="•"/>
              <a:lnSpc>
                <a:spcPts val="2200"/>
              </a:lnSpc>
            </a:pPr>
            <a:r>
              <a:rPr sz="2000" b="0">
                <a:solidFill>
                  <a:srgbClr val="333333"/>
                </a:solidFill>
                <a:latin typeface="Calibri"/>
              </a:rPr>
              <a:t>Data sharding partitions data across servers to improve scalability, fault tolerance</a:t>
            </a:r>
          </a:p>
          <a:p>
            <a:pPr lvl="0" marL="457200" indent="-228600">
              <a:buFont typeface="Calibri"/>
              <a:spcAft>
                <a:spcPts val="1000"/>
              </a:spcAft>
              <a:buSzPct val="100000"/>
              <a:buChar char="•"/>
              <a:lnSpc>
                <a:spcPts val="2200"/>
              </a:lnSpc>
            </a:pPr>
            <a:r>
              <a:rPr sz="2000" b="0">
                <a:solidFill>
                  <a:srgbClr val="333333"/>
                </a:solidFill>
                <a:latin typeface="Calibri"/>
              </a:rPr>
              <a:t>Example 12.10 shows a common sharding key choice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12.10 — shard customer keys by geography or customer ID."""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hashlib</a:t>
            </a:r>
          </a:p>
          <a:p>
            <a:pPr>
              <a:lnSpc>
                <a:spcPts val="2200"/>
              </a:lnSpc>
              <a:spcAft>
                <a:spcPts val="400"/>
              </a:spcAft>
            </a:pPr>
            <a:r>
              <a:rPr sz="2000" b="0">
                <a:solidFill>
                  <a:srgbClr val="333333"/>
                </a:solidFill>
                <a:latin typeface="Consolas"/>
              </a:rPr>
              <a:t>from collections import Counter</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shard_for_customer(customer_id: str, n_shards: int) -&gt; int:</a:t>
            </a:r>
          </a:p>
          <a:p>
            <a:pPr>
              <a:lnSpc>
                <a:spcPts val="2200"/>
              </a:lnSpc>
              <a:spcAft>
                <a:spcPts val="400"/>
              </a:spcAft>
            </a:pPr>
            <a:r>
              <a:rPr sz="2000" b="0">
                <a:solidFill>
                  <a:srgbClr val="333333"/>
                </a:solidFill>
                <a:latin typeface="Consolas"/>
              </a:rPr>
              <a:t>    """Return a stable shard index for a customer ID."""</a:t>
            </a:r>
          </a:p>
          <a:p>
            <a:pPr>
              <a:lnSpc>
                <a:spcPts val="2200"/>
              </a:lnSpc>
              <a:spcAft>
                <a:spcPts val="400"/>
              </a:spcAft>
            </a:pPr>
            <a:r>
              <a:rPr sz="2000" b="0">
                <a:solidFill>
                  <a:srgbClr val="333333"/>
                </a:solidFill>
                <a:latin typeface="Consolas"/>
              </a:rPr>
              <a:t>    digest = hashlib.md5(customer_id.encode("utf-8")).hexdigest()</a:t>
            </a:r>
          </a:p>
          <a:p>
            <a:pPr>
              <a:lnSpc>
                <a:spcPts val="2200"/>
              </a:lnSpc>
              <a:spcAft>
                <a:spcPts val="400"/>
              </a:spcAft>
            </a:pPr>
            <a:r>
              <a:rPr sz="2000" b="0">
                <a:solidFill>
                  <a:srgbClr val="333333"/>
                </a:solidFill>
                <a:latin typeface="Consolas"/>
              </a:rPr>
              <a:t>    return int(digest, 16) % n_shards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"""Show ID hashing and region mapping as two common sharding</a:t>
            </a:r>
          </a:p>
          <a:p>
            <a:pPr>
              <a:lnSpc>
                <a:spcPts val="2200"/>
              </a:lnSpc>
              <a:spcAft>
                <a:spcPts val="400"/>
              </a:spcAft>
            </a:pPr>
            <a:r>
              <a:rPr sz="2000" b="0">
                <a:solidFill>
                  <a:srgbClr val="333333"/>
                </a:solidFill>
                <a:latin typeface="Consolas"/>
              </a:rPr>
              <a:t>keys."""</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12.11 — Strong Consistency in Financial Ledgers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12.11 — hands-on module</a:t>
            </a:r>
          </a:p>
          <a:p>
            <a:pPr lvl="0" marL="457200" indent="-228600">
              <a:buFont typeface="Calibri"/>
              <a:spcAft>
                <a:spcPts val="1000"/>
              </a:spcAft>
              <a:buSzPct val="100000"/>
              <a:buChar char="•"/>
              <a:lnSpc>
                <a:spcPts val="2200"/>
              </a:lnSpc>
            </a:pPr>
            <a:r>
              <a:rPr sz="2000" b="0">
                <a:solidFill>
                  <a:srgbClr val="333333"/>
                </a:solidFill>
                <a:latin typeface="Calibri"/>
              </a:rPr>
              <a:t>Strong consistency guarantees that any read returns the most recent write regardless of</a:t>
            </a:r>
          </a:p>
          <a:p>
            <a:pPr lvl="0" marL="457200" indent="-228600">
              <a:buFont typeface="Calibri"/>
              <a:spcAft>
                <a:spcPts val="1000"/>
              </a:spcAft>
              <a:buSzPct val="100000"/>
              <a:buChar char="•"/>
              <a:lnSpc>
                <a:spcPts val="2200"/>
              </a:lnSpc>
            </a:pPr>
            <a:r>
              <a:rPr sz="2000" b="0">
                <a:solidFill>
                  <a:srgbClr val="333333"/>
                </a:solidFill>
                <a:latin typeface="Calibri"/>
              </a:rPr>
              <a:t>Example 12.11 requires that guarantee for balances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12.13 — Eventual Consistency in DynamoDB and Cassandra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12.13 — hands-on module</a:t>
            </a:r>
          </a:p>
          <a:p>
            <a:pPr lvl="0" marL="457200" indent="-228600">
              <a:buFont typeface="Calibri"/>
              <a:spcAft>
                <a:spcPts val="1000"/>
              </a:spcAft>
              <a:buSzPct val="100000"/>
              <a:buChar char="•"/>
              <a:lnSpc>
                <a:spcPts val="2200"/>
              </a:lnSpc>
            </a:pPr>
            <a:r>
              <a:rPr sz="2000" b="0">
                <a:solidFill>
                  <a:srgbClr val="333333"/>
                </a:solidFill>
                <a:latin typeface="Calibri"/>
              </a:rPr>
              <a:t>Writes propagate to other nodes, but nodes may temporarily disagree</a:t>
            </a:r>
          </a:p>
          <a:p>
            <a:pPr lvl="0" marL="457200" indent="-228600">
              <a:buFont typeface="Calibri"/>
              <a:spcAft>
                <a:spcPts val="1000"/>
              </a:spcAft>
              <a:buSzPct val="100000"/>
              <a:buChar char="•"/>
              <a:lnSpc>
                <a:spcPts val="2200"/>
              </a:lnSpc>
            </a:pPr>
            <a:r>
              <a:rPr sz="2000" b="0">
                <a:solidFill>
                  <a:srgbClr val="333333"/>
                </a:solidFill>
                <a:latin typeface="Calibri"/>
              </a:rPr>
              <a:t>Example 12.13 lists stores that favor availability under partition</a:t>
            </a:r>
          </a:p>
          <a:p>
            <a:pPr lvl="0" marL="457200" indent="-228600">
              <a:buFont typeface="Calibri"/>
              <a:spcAft>
                <a:spcPts val="1000"/>
              </a:spcAft>
              <a:buSzPct val="100000"/>
              <a:buChar char="•"/>
              <a:lnSpc>
                <a:spcPts val="2200"/>
              </a:lnSpc>
            </a:pPr>
            <a:r>
              <a:rPr sz="2000" b="0">
                <a:solidFill>
                  <a:srgbClr val="333333"/>
                </a:solidFill>
                <a:latin typeface="Calibri"/>
              </a:rPr>
              <a:t>Amazon DynamoDB and Apache Cassandra commonly emphasize availability and partition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 consistency model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many web and social applications</a:t>
            </a:r>
          </a:p>
          <a:p>
            <a:pPr lvl="0" marL="457200" indent="-228600">
              <a:buFont typeface="Calibri"/>
              <a:spcAft>
                <a:spcPts val="1000"/>
              </a:spcAft>
              <a:buSzPct val="100000"/>
              <a:buChar char="•"/>
              <a:lnSpc>
                <a:spcPts val="2200"/>
              </a:lnSpc>
            </a:pPr>
            <a:r>
              <a:rPr sz="2000" b="0">
                <a:solidFill>
                  <a:srgbClr val="333333"/>
                </a:solidFill>
                <a:latin typeface="Calibri"/>
              </a:rPr>
              <a:t>E-commerce platforms, content delivery networks</a:t>
            </a:r>
          </a:p>
          <a:p>
            <a:pPr lvl="0" marL="457200" indent="-228600">
              <a:buFont typeface="Calibri"/>
              <a:spcAft>
                <a:spcPts val="1000"/>
              </a:spcAft>
              <a:buSzPct val="100000"/>
              <a:buChar char="•"/>
              <a:lnSpc>
                <a:spcPts val="2200"/>
              </a:lnSpc>
            </a:pPr>
            <a:r>
              <a:rPr sz="2000" b="0">
                <a:solidFill>
                  <a:srgbClr val="333333"/>
                </a:solidFill>
                <a:latin typeface="Calibri"/>
              </a:rPr>
              <a:t>Conversely, sensitive financial or health-related data often require strong consistency to</a:t>
            </a:r>
          </a:p>
          <a:p>
            <a:pPr lvl="0" marL="457200" indent="-228600">
              <a:buFont typeface="Calibri"/>
              <a:spcAft>
                <a:spcPts val="1000"/>
              </a:spcAft>
              <a:buSzPct val="100000"/>
              <a:buChar char="•"/>
              <a:lnSpc>
                <a:spcPts val="2200"/>
              </a:lnSpc>
            </a:pPr>
            <a:r>
              <a:rPr sz="2000" b="0">
                <a:solidFill>
                  <a:srgbClr val="333333"/>
                </a:solidFill>
                <a:latin typeface="Calibri"/>
              </a:rPr>
              <a:t>Design hinges on application needs and the consistency, availability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CAP says partitions force a choice between consistency and availability in practice</a:t>
            </a:r>
          </a:p>
          <a:p>
            <a:pPr lvl="0" marL="457200" indent="-228600">
              <a:buFont typeface="Calibri"/>
              <a:spcAft>
                <a:spcPts val="1000"/>
              </a:spcAft>
              <a:buSzPct val="100000"/>
              <a:buChar char="•"/>
              <a:lnSpc>
                <a:spcPts val="2200"/>
              </a:lnSpc>
            </a:pPr>
            <a:r>
              <a:rPr sz="2000" b="0">
                <a:solidFill>
                  <a:srgbClr val="333333"/>
                </a:solidFill>
                <a:latin typeface="Calibri"/>
              </a:rPr>
              <a:t>Sharding spreads keys; replication preserves availability after failures</a:t>
            </a:r>
          </a:p>
          <a:p>
            <a:pPr lvl="0" marL="457200" indent="-228600">
              <a:buFont typeface="Calibri"/>
              <a:spcAft>
                <a:spcPts val="1000"/>
              </a:spcAft>
              <a:buSzPct val="100000"/>
              <a:buChar char="•"/>
              <a:lnSpc>
                <a:spcPts val="2200"/>
              </a:lnSpc>
            </a:pPr>
            <a:r>
              <a:rPr sz="2000" b="0">
                <a:solidFill>
                  <a:srgbClr val="333333"/>
                </a:solidFill>
                <a:latin typeface="Calibri"/>
              </a:rPr>
              <a:t>Strong consistency fits ledgers and similar integrity-critical work</a:t>
            </a:r>
          </a:p>
          <a:p>
            <a:pPr lvl="0" marL="457200" indent="-228600">
              <a:buFont typeface="Calibri"/>
              <a:spcAft>
                <a:spcPts val="1000"/>
              </a:spcAft>
              <a:buSzPct val="100000"/>
              <a:buChar char="•"/>
              <a:lnSpc>
                <a:spcPts val="2200"/>
              </a:lnSpc>
            </a:pPr>
            <a:r>
              <a:rPr sz="2000" b="0">
                <a:solidFill>
                  <a:srgbClr val="333333"/>
                </a:solidFill>
                <a:latin typeface="Calibri"/>
              </a:rPr>
              <a:t>Match the model to whether stale reads or downtime hurts more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shifts from storage mechanics to dataset versioning at platform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Iceberg snapshot rollback through Examples 12.14 through 12.17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Collaborative workflows at scale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 scale, multiple engineers and models share the same raw and feature tables</a:t>
            </a:r>
          </a:p>
          <a:p>
            <a:pPr lvl="0" marL="457200" indent="-228600">
              <a:buFont typeface="Calibri"/>
              <a:spcAft>
                <a:spcPts val="1000"/>
              </a:spcAft>
              <a:buSzPct val="100000"/>
              <a:buChar char="•"/>
              <a:lnSpc>
                <a:spcPts val="2200"/>
              </a:lnSpc>
            </a:pPr>
            <a:r>
              <a:rPr sz="2000" b="0">
                <a:solidFill>
                  <a:srgbClr val="333333"/>
                </a:solidFill>
                <a:latin typeface="Calibri"/>
              </a:rPr>
              <a:t>Without immutable version identifiers</a:t>
            </a:r>
          </a:p>
          <a:p>
            <a:pPr lvl="0" marL="457200" indent="-228600">
              <a:buFont typeface="Calibri"/>
              <a:spcAft>
                <a:spcPts val="1000"/>
              </a:spcAft>
              <a:buSzPct val="100000"/>
              <a:buChar char="•"/>
              <a:lnSpc>
                <a:spcPts val="2200"/>
              </a:lnSpc>
            </a:pPr>
            <a:r>
              <a:rPr sz="2000" b="0">
                <a:solidFill>
                  <a:srgbClr val="333333"/>
                </a:solidFill>
                <a:latin typeface="Calibri"/>
              </a:rPr>
              <a:t>Teams pin training runs to explicit dataset revisions or snapshot IDs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12.14 — DVC Remotes on Object Storage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12.14 — hands-on module</a:t>
            </a:r>
          </a:p>
          <a:p>
            <a:pPr lvl="0" marL="457200" indent="-228600">
              <a:buFont typeface="Calibri"/>
              <a:spcAft>
                <a:spcPts val="1000"/>
              </a:spcAft>
              <a:buSzPct val="100000"/>
              <a:buChar char="•"/>
              <a:lnSpc>
                <a:spcPts val="2200"/>
              </a:lnSpc>
            </a:pPr>
            <a:r>
              <a:rPr sz="2000" b="0">
                <a:solidFill>
                  <a:srgbClr val="333333"/>
                </a:solidFill>
                <a:latin typeface="Calibri"/>
              </a:rPr>
              <a:t>For machine-learning projects whose primary assets are still files beside code</a:t>
            </a:r>
          </a:p>
          <a:p>
            <a:pPr lvl="0" marL="457200" indent="-228600">
              <a:buFont typeface="Calibri"/>
              <a:spcAft>
                <a:spcPts val="1000"/>
              </a:spcAft>
              <a:buSzPct val="100000"/>
              <a:buChar char="•"/>
              <a:lnSpc>
                <a:spcPts val="2200"/>
              </a:lnSpc>
            </a:pPr>
            <a:r>
              <a:rPr sz="2000" b="0">
                <a:solidFill>
                  <a:srgbClr val="333333"/>
                </a:solidFill>
                <a:latin typeface="Calibri"/>
              </a:rPr>
              <a:t>Example 12.14 ties DVC metadata to cloud remotes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12.15 — Pachyderm Partition Recompute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12.15 — hands-on module</a:t>
            </a:r>
          </a:p>
          <a:p>
            <a:pPr lvl="0" marL="457200" indent="-228600">
              <a:buFont typeface="Calibri"/>
              <a:spcAft>
                <a:spcPts val="1000"/>
              </a:spcAft>
              <a:buSzPct val="100000"/>
              <a:buChar char="•"/>
              <a:lnSpc>
                <a:spcPts val="2200"/>
              </a:lnSpc>
            </a:pPr>
            <a:r>
              <a:rPr sz="2000" b="0">
                <a:solidFill>
                  <a:srgbClr val="333333"/>
                </a:solidFill>
                <a:latin typeface="Calibri"/>
              </a:rPr>
              <a:t>Pachyderm targets data-driven pipelines with automatic versioning of inputs and outputs</a:t>
            </a:r>
          </a:p>
          <a:p>
            <a:pPr lvl="0" marL="457200" indent="-228600">
              <a:buFont typeface="Calibri"/>
              <a:spcAft>
                <a:spcPts val="1000"/>
              </a:spcAft>
              <a:buSzPct val="100000"/>
              <a:buChar char="•"/>
              <a:lnSpc>
                <a:spcPts val="2200"/>
              </a:lnSpc>
            </a:pPr>
            <a:r>
              <a:rPr sz="2000" b="0">
                <a:solidFill>
                  <a:srgbClr val="333333"/>
                </a:solidFill>
                <a:latin typeface="Calibri"/>
              </a:rPr>
              <a:t>Example 12.15 shows pipeline versioning that recomputes only changed partitions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12.16 — Delta Lake Time Travel on Object Stores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12.16 — hands-on module</a:t>
            </a:r>
          </a:p>
          <a:p>
            <a:pPr lvl="0" marL="457200" indent="-228600">
              <a:buFont typeface="Calibri"/>
              <a:spcAft>
                <a:spcPts val="1000"/>
              </a:spcAft>
              <a:buSzPct val="100000"/>
              <a:buChar char="•"/>
              <a:lnSpc>
                <a:spcPts val="2200"/>
              </a:lnSpc>
            </a:pPr>
            <a:r>
              <a:rPr sz="2000" b="0">
                <a:solidFill>
                  <a:srgbClr val="333333"/>
                </a:solidFill>
                <a:latin typeface="Calibri"/>
              </a:rPr>
              <a:t>Delta Lake, Apache Hudi</a:t>
            </a:r>
          </a:p>
          <a:p>
            <a:pPr lvl="0" marL="457200" indent="-228600">
              <a:buFont typeface="Calibri"/>
              <a:spcAft>
                <a:spcPts val="1000"/>
              </a:spcAft>
              <a:buSzPct val="100000"/>
              <a:buChar char="•"/>
              <a:lnSpc>
                <a:spcPts val="2200"/>
              </a:lnSpc>
            </a:pPr>
            <a:r>
              <a:rPr sz="2000" b="0">
                <a:solidFill>
                  <a:srgbClr val="333333"/>
                </a:solidFill>
                <a:latin typeface="Calibri"/>
              </a:rPr>
              <a:t>Example 12.16 uses Delta Lake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12.17 — Iceberg Snapshot Rollback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12.17 — hands-on module</a:t>
            </a:r>
          </a:p>
          <a:p>
            <a:pPr lvl="0" marL="457200" indent="-228600">
              <a:buFont typeface="Calibri"/>
              <a:spcAft>
                <a:spcPts val="1000"/>
              </a:spcAft>
              <a:buSzPct val="100000"/>
              <a:buChar char="•"/>
              <a:lnSpc>
                <a:spcPts val="2200"/>
              </a:lnSpc>
            </a:pPr>
            <a:r>
              <a:rPr sz="2000" b="0">
                <a:solidFill>
                  <a:srgbClr val="333333"/>
                </a:solidFill>
                <a:latin typeface="Calibri"/>
              </a:rPr>
              <a:t>Snapshot-based versioning captures a point-in-time view of a table for rollback and</a:t>
            </a:r>
          </a:p>
          <a:p>
            <a:pPr lvl="0" marL="457200" indent="-228600">
              <a:buFont typeface="Calibri"/>
              <a:spcAft>
                <a:spcPts val="1000"/>
              </a:spcAft>
              <a:buSzPct val="100000"/>
              <a:buChar char="•"/>
              <a:lnSpc>
                <a:spcPts val="2200"/>
              </a:lnSpc>
            </a:pPr>
            <a:r>
              <a:rPr sz="2000" b="0">
                <a:solidFill>
                  <a:srgbClr val="333333"/>
                </a:solidFill>
                <a:latin typeface="Calibri"/>
              </a:rPr>
              <a:t>Example 12.17 rolls back via table snapshots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File-level versus table-level versioning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DVC remains the file-and-pipeline companion when code, models</a:t>
            </a:r>
          </a:p>
          <a:p>
            <a:pPr lvl="0" marL="457200" indent="-228600">
              <a:buFont typeface="Calibri"/>
              <a:spcAft>
                <a:spcPts val="1000"/>
              </a:spcAft>
              <a:buSzPct val="100000"/>
              <a:buChar char="•"/>
              <a:lnSpc>
                <a:spcPts val="2200"/>
              </a:lnSpc>
            </a:pPr>
            <a:r>
              <a:rPr sz="2000" b="0">
                <a:solidFill>
                  <a:srgbClr val="333333"/>
                </a:solidFill>
                <a:latin typeface="Calibri"/>
              </a:rPr>
              <a:t>Lakehouse formats are the scalable counterpart to file-level DVC commits</a:t>
            </a:r>
          </a:p>
          <a:p>
            <a:pPr lvl="0" marL="457200" indent="-228600">
              <a:buFont typeface="Calibri"/>
              <a:spcAft>
                <a:spcPts val="1000"/>
              </a:spcAft>
              <a:buSzPct val="100000"/>
              <a:buChar char="•"/>
              <a:lnSpc>
                <a:spcPts val="2200"/>
              </a:lnSpc>
            </a:pPr>
            <a:r>
              <a:rPr sz="2000" b="0">
                <a:solidFill>
                  <a:srgbClr val="333333"/>
                </a:solidFill>
                <a:latin typeface="Calibri"/>
              </a:rPr>
              <a:t>Regulated domains still need an auditable history of which snapshot trained which model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Platform-scale versioning extends Chapter 8 discipline to object stores and lakehouse</a:t>
            </a:r>
          </a:p>
          <a:p>
            <a:pPr lvl="0" marL="457200" indent="-228600">
              <a:buFont typeface="Calibri"/>
              <a:spcAft>
                <a:spcPts val="1000"/>
              </a:spcAft>
              <a:buSzPct val="100000"/>
              <a:buChar char="•"/>
              <a:lnSpc>
                <a:spcPts val="2200"/>
              </a:lnSpc>
            </a:pPr>
            <a:r>
              <a:rPr sz="2000" b="0">
                <a:solidFill>
                  <a:srgbClr val="333333"/>
                </a:solidFill>
                <a:latin typeface="Calibri"/>
              </a:rPr>
              <a:t>DVC remotes record versions while cloud storage holds bytes</a:t>
            </a:r>
          </a:p>
          <a:p>
            <a:pPr lvl="0" marL="457200" indent="-228600">
              <a:buFont typeface="Calibri"/>
              <a:spcAft>
                <a:spcPts val="1000"/>
              </a:spcAft>
              <a:buSzPct val="100000"/>
              <a:buChar char="•"/>
              <a:lnSpc>
                <a:spcPts val="2200"/>
              </a:lnSpc>
            </a:pPr>
            <a:r>
              <a:rPr sz="2000" b="0">
                <a:solidFill>
                  <a:srgbClr val="333333"/>
                </a:solidFill>
                <a:latin typeface="Calibri"/>
              </a:rPr>
              <a:t>Pachyderm recomputes only changed partitions</a:t>
            </a:r>
          </a:p>
          <a:p>
            <a:pPr lvl="0" marL="457200" indent="-228600">
              <a:buFont typeface="Calibri"/>
              <a:spcAft>
                <a:spcPts val="1000"/>
              </a:spcAft>
              <a:buSzPct val="100000"/>
              <a:buChar char="•"/>
              <a:lnSpc>
                <a:spcPts val="2200"/>
              </a:lnSpc>
            </a:pPr>
            <a:r>
              <a:rPr sz="2000" b="0">
                <a:solidFill>
                  <a:srgbClr val="333333"/>
                </a:solidFill>
                <a:latin typeface="Calibri"/>
              </a:rPr>
              <a:t>Delta Lake and Iceberg provide time travel and snapshot rollback without full warehouse</a:t>
            </a:r>
          </a:p>
          <a:p>
            <a:pPr lvl="0" marL="457200" indent="-228600">
              <a:buFont typeface="Calibri"/>
              <a:spcAft>
                <a:spcPts val="1000"/>
              </a:spcAft>
              <a:buSzPct val="100000"/>
              <a:buChar char="•"/>
              <a:lnSpc>
                <a:spcPts val="2200"/>
              </a:lnSpc>
            </a:pPr>
            <a:r>
              <a:rPr sz="2000" b="0">
                <a:solidFill>
                  <a:srgbClr val="333333"/>
                </a:solidFill>
                <a:latin typeface="Calibri"/>
              </a:rPr>
              <a:t>Pin experiments to explicit snapshots rather than latest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why versioning matters at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Benefits at platform scale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Reproducibility and audit benefits of versioning are developed in Chapters 8 and 13</a:t>
            </a:r>
          </a:p>
          <a:p>
            <a:pPr lvl="0" marL="457200" indent="-228600">
              <a:buFont typeface="Calibri"/>
              <a:spcAft>
                <a:spcPts val="1000"/>
              </a:spcAft>
              <a:buSzPct val="100000"/>
              <a:buChar char="•"/>
              <a:lnSpc>
                <a:spcPts val="2200"/>
              </a:lnSpc>
            </a:pPr>
            <a:r>
              <a:rPr sz="2000" b="0">
                <a:solidFill>
                  <a:srgbClr val="333333"/>
                </a:solidFill>
                <a:latin typeface="Calibri"/>
              </a:rPr>
              <a:t>At scale, the distinctive gains are different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12.18 — Rollback After Corrupt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12.18 shows why rollback matters when a transform corrupts shared data</a:t>
            </a:r>
          </a:p>
          <a:p>
            <a:pPr lvl="0" marL="457200" indent="-228600">
              <a:buFont typeface="Calibri"/>
              <a:spcAft>
                <a:spcPts val="1000"/>
              </a:spcAft>
              <a:buSzPct val="100000"/>
              <a:buChar char="•"/>
              <a:lnSpc>
                <a:spcPts val="2200"/>
              </a:lnSpc>
            </a:pPr>
            <a:r>
              <a:rPr sz="2000" b="0">
                <a:solidFill>
                  <a:srgbClr val="333333"/>
                </a:solidFill>
                <a:latin typeface="Calibri"/>
              </a:rPr>
              <a:t>If a preprocessing job corrupts a shared feature table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 storage overhead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General versioning discipline</a:t>
            </a:r>
          </a:p>
          <a:p>
            <a:pPr lvl="0" marL="457200" indent="-228600">
              <a:buFont typeface="Calibri"/>
              <a:spcAft>
                <a:spcPts val="1000"/>
              </a:spcAft>
              <a:buSzPct val="100000"/>
              <a:buChar char="•"/>
              <a:lnSpc>
                <a:spcPts val="2200"/>
              </a:lnSpc>
            </a:pPr>
            <a:r>
              <a:rPr sz="2000" b="0">
                <a:solidFill>
                  <a:srgbClr val="333333"/>
                </a:solidFill>
                <a:latin typeface="Calibri"/>
              </a:rPr>
              <a:t>At lakehouse and object-store scale, storage overhead dominates</a:t>
            </a:r>
          </a:p>
          <a:p>
            <a:pPr lvl="0" marL="457200" indent="-228600">
              <a:buFont typeface="Calibri"/>
              <a:spcAft>
                <a:spcPts val="1000"/>
              </a:spcAft>
              <a:buSzPct val="100000"/>
              <a:buChar char="•"/>
              <a:lnSpc>
                <a:spcPts val="2200"/>
              </a:lnSpc>
            </a:pPr>
            <a:r>
              <a:rPr sz="2000" b="0">
                <a:solidFill>
                  <a:srgbClr val="333333"/>
                </a:solidFill>
                <a:latin typeface="Calibri"/>
              </a:rPr>
              <a:t>Full copies of petabyte tables are rarely affordable</a:t>
            </a:r>
          </a:p>
          <a:p>
            <a:pPr lvl="0" marL="457200" indent="-228600">
              <a:buFont typeface="Calibri"/>
              <a:spcAft>
                <a:spcPts val="1000"/>
              </a:spcAft>
              <a:buSzPct val="100000"/>
              <a:buChar char="•"/>
              <a:lnSpc>
                <a:spcPts val="2200"/>
              </a:lnSpc>
            </a:pPr>
            <a:r>
              <a:rPr sz="2000" b="0">
                <a:solidFill>
                  <a:srgbClr val="333333"/>
                </a:solidFill>
                <a:latin typeface="Calibri"/>
              </a:rPr>
              <a:t>Delta and snapshot formats keep costs manageable by storing diffs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 schema evolution under concurrency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Adding columns or changing types while readers and writers share a table requires</a:t>
            </a:r>
          </a:p>
          <a:p>
            <a:pPr lvl="0" marL="457200" indent="-228600">
              <a:buFont typeface="Calibri"/>
              <a:spcAft>
                <a:spcPts val="1000"/>
              </a:spcAft>
              <a:buSzPct val="100000"/>
              <a:buChar char="•"/>
              <a:lnSpc>
                <a:spcPts val="2200"/>
              </a:lnSpc>
            </a:pPr>
            <a:r>
              <a:rPr sz="2000" b="0">
                <a:solidFill>
                  <a:srgbClr val="333333"/>
                </a:solidFill>
                <a:latin typeface="Calibri"/>
              </a:rPr>
              <a:t>Lakehouse formats such as Delta Lake, Hudi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Discipline still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Agreement on when a schema break is a new table</a:t>
            </a:r>
          </a:p>
          <a:p>
            <a:pPr lvl="0" marL="457200" indent="-228600">
              <a:buFont typeface="Calibri"/>
              <a:spcAft>
                <a:spcPts val="1000"/>
              </a:spcAft>
              <a:buSzPct val="100000"/>
              <a:buChar char="•"/>
              <a:lnSpc>
                <a:spcPts val="2200"/>
              </a:lnSpc>
            </a:pPr>
            <a:r>
              <a:rPr sz="2000" b="0">
                <a:solidFill>
                  <a:srgbClr val="333333"/>
                </a:solidFill>
                <a:latin typeface="Calibri"/>
              </a:rPr>
              <a:t>Versioning succeeds when engineering practice and lakehouse primitives reinforce each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 scale, versioning enables snapshot pinning, partition rollback</a:t>
            </a:r>
          </a:p>
          <a:p>
            <a:pPr lvl="0" marL="457200" indent="-228600">
              <a:buFont typeface="Calibri"/>
              <a:spcAft>
                <a:spcPts val="1000"/>
              </a:spcAft>
              <a:buSzPct val="100000"/>
              <a:buChar char="•"/>
              <a:lnSpc>
                <a:spcPts val="2200"/>
              </a:lnSpc>
            </a:pPr>
            <a:r>
              <a:rPr sz="2000" b="0">
                <a:solidFill>
                  <a:srgbClr val="333333"/>
                </a:solidFill>
                <a:latin typeface="Calibri"/>
              </a:rPr>
              <a:t>Example 12.18 shows rollback after corrupt preprocessing instead of a full rebuild</a:t>
            </a:r>
          </a:p>
          <a:p>
            <a:pPr lvl="0" marL="457200" indent="-228600">
              <a:buFont typeface="Calibri"/>
              <a:spcAft>
                <a:spcPts val="1000"/>
              </a:spcAft>
              <a:buSzPct val="100000"/>
              <a:buChar char="•"/>
              <a:lnSpc>
                <a:spcPts val="2200"/>
              </a:lnSpc>
            </a:pPr>
            <a:r>
              <a:rPr sz="2000" b="0">
                <a:solidFill>
                  <a:srgbClr val="333333"/>
                </a:solidFill>
                <a:latin typeface="Calibri"/>
              </a:rPr>
              <a:t>Storage overhead and concurrent schema change remain the main challenges</a:t>
            </a:r>
          </a:p>
          <a:p>
            <a:pPr lvl="0" marL="457200" indent="-228600">
              <a:buFont typeface="Calibri"/>
              <a:spcAft>
                <a:spcPts val="1000"/>
              </a:spcAft>
              <a:buSzPct val="100000"/>
              <a:buChar char="•"/>
              <a:lnSpc>
                <a:spcPts val="2200"/>
              </a:lnSpc>
            </a:pPr>
            <a:r>
              <a:rPr sz="2000" b="0">
                <a:solidFill>
                  <a:srgbClr val="333333"/>
                </a:solidFill>
                <a:latin typeface="Calibri"/>
              </a:rPr>
              <a:t>Chapter 8 still governs team hygiene; Chapter 12 governs lakehouse cost and concurrency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turns from what changed to how data moved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and importance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lineage tracks where data came from, how it was transformed</a:t>
            </a:r>
          </a:p>
          <a:p>
            <a:pPr lvl="0" marL="457200" indent="-228600">
              <a:buFont typeface="Calibri"/>
              <a:spcAft>
                <a:spcPts val="1000"/>
              </a:spcAft>
              <a:buSzPct val="100000"/>
              <a:buChar char="•"/>
              <a:lnSpc>
                <a:spcPts val="2200"/>
              </a:lnSpc>
            </a:pPr>
            <a:r>
              <a:rPr sz="2000" b="0">
                <a:solidFill>
                  <a:srgbClr val="333333"/>
                </a:solidFill>
                <a:latin typeface="Calibri"/>
              </a:rPr>
              <a:t>Origin, transforms and aggregations, and downstream dependents</a:t>
            </a:r>
          </a:p>
          <a:p>
            <a:pPr lvl="0" marL="457200" indent="-228600">
              <a:buFont typeface="Calibri"/>
              <a:spcAft>
                <a:spcPts val="1000"/>
              </a:spcAft>
              <a:buSzPct val="100000"/>
              <a:buChar char="•"/>
              <a:lnSpc>
                <a:spcPts val="2200"/>
              </a:lnSpc>
            </a:pPr>
            <a:r>
              <a:rPr sz="2000" b="0">
                <a:solidFill>
                  <a:srgbClr val="333333"/>
                </a:solidFill>
                <a:latin typeface="Calibri"/>
              </a:rPr>
              <a:t>Chapter 8 covers provenance as documentation for individual datasets</a:t>
            </a:r>
          </a:p>
          <a:p>
            <a:pPr lvl="0" marL="457200" indent="-228600">
              <a:buFont typeface="Calibri"/>
              <a:spcAft>
                <a:spcPts val="1000"/>
              </a:spcAft>
              <a:buSzPct val="100000"/>
              <a:buChar char="•"/>
              <a:lnSpc>
                <a:spcPts val="2200"/>
              </a:lnSpc>
            </a:pPr>
            <a:r>
              <a:rPr sz="2000" b="0">
                <a:solidFill>
                  <a:srgbClr val="333333"/>
                </a:solidFill>
                <a:latin typeface="Calibri"/>
              </a:rPr>
              <a:t>Lakes, and engines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Compliance and debugging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Regulated industries need lineage evidence for regimes such as GDPR and HIPAA</a:t>
            </a:r>
          </a:p>
          <a:p>
            <a:pPr lvl="0" marL="457200" indent="-228600">
              <a:buFont typeface="Calibri"/>
              <a:spcAft>
                <a:spcPts val="1000"/>
              </a:spcAft>
              <a:buSzPct val="100000"/>
              <a:buChar char="•"/>
              <a:lnSpc>
                <a:spcPts val="2200"/>
              </a:lnSpc>
            </a:pPr>
            <a:r>
              <a:rPr sz="2000" b="0">
                <a:solidFill>
                  <a:srgbClr val="333333"/>
                </a:solidFill>
                <a:latin typeface="Calibri"/>
              </a:rPr>
              <a:t>Large platforms also use lineage to debug broken dashboards by walking upstream transforms</a:t>
            </a:r>
          </a:p>
          <a:p>
            <a:pPr lvl="0" marL="457200" indent="-228600">
              <a:buFont typeface="Calibri"/>
              <a:spcAft>
                <a:spcPts val="1000"/>
              </a:spcAft>
              <a:buSzPct val="100000"/>
              <a:buChar char="•"/>
              <a:lnSpc>
                <a:spcPts val="2200"/>
              </a:lnSpc>
            </a:pPr>
            <a:r>
              <a:rPr sz="2000" b="0">
                <a:solidFill>
                  <a:srgbClr val="333333"/>
                </a:solidFill>
                <a:latin typeface="Calibri"/>
              </a:rPr>
              <a:t>Operational gains include proving which jobs touched regulated tables and coordinating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12.19 — Lineage Metadata on Schema and Steps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12.19 — hands-on module</a:t>
            </a:r>
          </a:p>
          <a:p>
            <a:pPr lvl="0" marL="457200" indent="-228600">
              <a:buFont typeface="Calibri"/>
              <a:spcAft>
                <a:spcPts val="1000"/>
              </a:spcAft>
              <a:buSzPct val="100000"/>
              <a:buChar char="•"/>
              <a:lnSpc>
                <a:spcPts val="2200"/>
              </a:lnSpc>
            </a:pPr>
            <a:r>
              <a:rPr sz="2000" b="0">
                <a:solidFill>
                  <a:srgbClr val="333333"/>
                </a:solidFill>
                <a:latin typeface="Calibri"/>
              </a:rPr>
              <a:t>Metadata is central to lineage: it describes source, format, transformations, and usage</a:t>
            </a:r>
          </a:p>
          <a:p>
            <a:pPr lvl="0" marL="457200" indent="-228600">
              <a:buFont typeface="Calibri"/>
              <a:spcAft>
                <a:spcPts val="1000"/>
              </a:spcAft>
              <a:buSzPct val="100000"/>
              <a:buChar char="•"/>
              <a:lnSpc>
                <a:spcPts val="2200"/>
              </a:lnSpc>
            </a:pPr>
            <a:r>
              <a:rPr sz="2000" b="0">
                <a:solidFill>
                  <a:srgbClr val="333333"/>
                </a:solidFill>
                <a:latin typeface="Calibri"/>
              </a:rPr>
              <a:t>Example 12.19 lists fields that feed lineage views</a:t>
            </a:r>
          </a:p>
          <a:p>
            <a:pPr lvl="0" marL="457200" indent="-228600">
              <a:buFont typeface="Calibri"/>
              <a:spcAft>
                <a:spcPts val="1000"/>
              </a:spcAft>
              <a:buSzPct val="100000"/>
              <a:buChar char="•"/>
              <a:lnSpc>
                <a:spcPts val="2200"/>
              </a:lnSpc>
            </a:pPr>
            <a:r>
              <a:rPr sz="2000" b="0">
                <a:solidFill>
                  <a:srgbClr val="333333"/>
                </a:solidFill>
                <a:latin typeface="Calibri"/>
              </a:rPr>
              <a:t>Lineage catalogs record schema versions, transform job IDs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12.20 — Automated Lineage Capture on Model Runs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12.20 — hands-on module</a:t>
            </a:r>
          </a:p>
          <a:p>
            <a:pPr lvl="0" marL="457200" indent="-228600">
              <a:buFont typeface="Calibri"/>
              <a:spcAft>
                <a:spcPts val="1000"/>
              </a:spcAft>
              <a:buSzPct val="100000"/>
              <a:buChar char="•"/>
              <a:lnSpc>
                <a:spcPts val="2200"/>
              </a:lnSpc>
            </a:pPr>
            <a:r>
              <a:rPr sz="2000" b="0">
                <a:solidFill>
                  <a:srgbClr val="333333"/>
                </a:solidFill>
                <a:latin typeface="Calibri"/>
              </a:rPr>
              <a:t>Automated tracking systems monitor pipelines and capture lineage without manual input</a:t>
            </a:r>
          </a:p>
          <a:p>
            <a:pPr lvl="0" marL="457200" indent="-228600">
              <a:buFont typeface="Calibri"/>
              <a:spcAft>
                <a:spcPts val="1000"/>
              </a:spcAft>
              <a:buSzPct val="100000"/>
              <a:buChar char="•"/>
              <a:lnSpc>
                <a:spcPts val="2200"/>
              </a:lnSpc>
            </a:pPr>
            <a:r>
              <a:rPr sz="2000" b="0">
                <a:solidFill>
                  <a:srgbClr val="333333"/>
                </a:solidFill>
                <a:latin typeface="Calibri"/>
              </a:rPr>
              <a:t>Example 12.20 captures lineage when a training job starts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and Example 12.21</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12.21 — hands-on module</a:t>
            </a:r>
          </a:p>
          <a:p>
            <a:pPr lvl="0" marL="457200" indent="-228600">
              <a:buFont typeface="Calibri"/>
              <a:spcAft>
                <a:spcPts val="1000"/>
              </a:spcAft>
              <a:buSzPct val="100000"/>
              <a:buChar char="•"/>
              <a:lnSpc>
                <a:spcPts val="2200"/>
              </a:lnSpc>
            </a:pPr>
            <a:r>
              <a:rPr sz="2000" b="0">
                <a:solidFill>
                  <a:srgbClr val="333333"/>
                </a:solidFill>
                <a:latin typeface="Calibri"/>
              </a:rPr>
              <a:t>Apache Atlas is an open-source metadata and governance tool for lineage, cataloging</a:t>
            </a:r>
          </a:p>
          <a:p>
            <a:pPr lvl="0" marL="457200" indent="-228600">
              <a:buFont typeface="Calibri"/>
              <a:spcAft>
                <a:spcPts val="1000"/>
              </a:spcAft>
              <a:buSzPct val="100000"/>
              <a:buChar char="•"/>
              <a:lnSpc>
                <a:spcPts val="2200"/>
              </a:lnSpc>
            </a:pPr>
            <a:r>
              <a:rPr sz="2000" b="0">
                <a:solidFill>
                  <a:srgbClr val="333333"/>
                </a:solidFill>
                <a:latin typeface="Calibri"/>
              </a:rPr>
              <a:t>Amundsen, developed at Lyft, emphasizes data discovery and integrates with Airflow and dbt</a:t>
            </a:r>
          </a:p>
          <a:p>
            <a:pPr lvl="0" marL="457200" indent="-228600">
              <a:buFont typeface="Calibri"/>
              <a:spcAft>
                <a:spcPts val="1000"/>
              </a:spcAft>
              <a:buSzPct val="100000"/>
              <a:buChar char="•"/>
              <a:lnSpc>
                <a:spcPts val="2200"/>
              </a:lnSpc>
            </a:pPr>
            <a:r>
              <a:rPr sz="2000" b="0">
                <a:solidFill>
                  <a:srgbClr val="333333"/>
                </a:solidFill>
                <a:latin typeface="Calibri"/>
              </a:rPr>
              <a:t>Example 12.21 uses lineage graphs to find a bad filter step</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12.22 — Cross-Platform Lineage Gaps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12.22 — hands-on module</a:t>
            </a:r>
          </a:p>
          <a:p>
            <a:pPr lvl="0" marL="457200" indent="-228600">
              <a:buFont typeface="Calibri"/>
              <a:spcAft>
                <a:spcPts val="1000"/>
              </a:spcAft>
              <a:buSzPct val="100000"/>
              <a:buChar char="•"/>
              <a:lnSpc>
                <a:spcPts val="2200"/>
              </a:lnSpc>
            </a:pPr>
            <a:r>
              <a:rPr sz="2000" b="0">
                <a:solidFill>
                  <a:srgbClr val="333333"/>
                </a:solidFill>
                <a:latin typeface="Calibri"/>
              </a:rPr>
              <a:t>The distinctive platform-scale challenge is cross-system coverage</a:t>
            </a:r>
          </a:p>
          <a:p>
            <a:pPr lvl="0" marL="457200" indent="-228600">
              <a:buFont typeface="Calibri"/>
              <a:spcAft>
                <a:spcPts val="1000"/>
              </a:spcAft>
              <a:buSzPct val="100000"/>
              <a:buChar char="•"/>
              <a:lnSpc>
                <a:spcPts val="2200"/>
              </a:lnSpc>
            </a:pPr>
            <a:r>
              <a:rPr sz="2000" b="0">
                <a:solidFill>
                  <a:srgbClr val="333333"/>
                </a:solidFill>
                <a:latin typeface="Calibri"/>
              </a:rPr>
              <a:t>Organizations mix cloud storage, Spark, Hadoop, Kafka, and machine-learning platforms</a:t>
            </a:r>
          </a:p>
          <a:p>
            <a:pPr lvl="0" marL="457200" indent="-228600">
              <a:buFont typeface="Calibri"/>
              <a:spcAft>
                <a:spcPts val="1000"/>
              </a:spcAft>
              <a:buSzPct val="100000"/>
              <a:buChar char="•"/>
              <a:lnSpc>
                <a:spcPts val="2200"/>
              </a:lnSpc>
            </a:pPr>
            <a:r>
              <a:rPr sz="2000" b="0">
                <a:solidFill>
                  <a:srgbClr val="333333"/>
                </a:solidFill>
                <a:latin typeface="Calibri"/>
              </a:rPr>
              <a:t>Example 12.22 shows lineage breaking across boundaries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Lineage answers origin, transform, and dependency questions across pipelines</a:t>
            </a:r>
          </a:p>
          <a:p>
            <a:pPr lvl="0" marL="457200" indent="-228600">
              <a:buFont typeface="Calibri"/>
              <a:spcAft>
                <a:spcPts val="1000"/>
              </a:spcAft>
              <a:buSzPct val="100000"/>
              <a:buChar char="•"/>
              <a:lnSpc>
                <a:spcPts val="2200"/>
              </a:lnSpc>
            </a:pPr>
            <a:r>
              <a:rPr sz="2000" b="0">
                <a:solidFill>
                  <a:srgbClr val="333333"/>
                </a:solidFill>
                <a:latin typeface="Calibri"/>
              </a:rPr>
              <a:t>Metadata and automated capture keep records current</a:t>
            </a:r>
          </a:p>
          <a:p>
            <a:pPr lvl="0" marL="457200" indent="-228600">
              <a:buFont typeface="Calibri"/>
              <a:spcAft>
                <a:spcPts val="1000"/>
              </a:spcAft>
              <a:buSzPct val="100000"/>
              <a:buChar char="•"/>
              <a:lnSpc>
                <a:spcPts val="2200"/>
              </a:lnSpc>
            </a:pPr>
            <a:r>
              <a:rPr sz="2000" b="0">
                <a:solidFill>
                  <a:srgbClr val="333333"/>
                </a:solidFill>
                <a:latin typeface="Calibri"/>
              </a:rPr>
              <a:t>Visualization helps debug empty partitions and broken dashboards</a:t>
            </a:r>
          </a:p>
          <a:p>
            <a:pPr lvl="0" marL="457200" indent="-228600">
              <a:buFont typeface="Calibri"/>
              <a:spcAft>
                <a:spcPts val="1000"/>
              </a:spcAft>
              <a:buSzPct val="100000"/>
              <a:buChar char="•"/>
              <a:lnSpc>
                <a:spcPts val="2200"/>
              </a:lnSpc>
            </a:pPr>
            <a:r>
              <a:rPr sz="2000" b="0">
                <a:solidFill>
                  <a:srgbClr val="333333"/>
                </a:solidFill>
                <a:latin typeface="Calibri"/>
              </a:rPr>
              <a:t>Cross-platform gaps remain the hard problem when connectors stop at system boundaries</a:t>
            </a:r>
          </a:p>
          <a:p>
            <a:pPr lvl="0" marL="457200" indent="-228600">
              <a:buFont typeface="Calibri"/>
              <a:spcAft>
                <a:spcPts val="1000"/>
              </a:spcAft>
              <a:buSzPct val="100000"/>
              <a:buChar char="•"/>
              <a:lnSpc>
                <a:spcPts val="2200"/>
              </a:lnSpc>
            </a:pPr>
            <a:r>
              <a:rPr sz="2000" b="0">
                <a:solidFill>
                  <a:srgbClr val="333333"/>
                </a:solidFill>
                <a:latin typeface="Calibri"/>
              </a:rPr>
              <a:t>Distinguish Chapter 8 per-dataset provenance from Chapter 12 platform catalogs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applies storage, streaming, and governance patterns in short case studies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mechanisms to production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Earlier parts assembled storage formats, consistency trade-offs, lakehouse versioning</a:t>
            </a:r>
          </a:p>
          <a:p>
            <a:pPr lvl="0" marL="457200" indent="-228600">
              <a:buFont typeface="Calibri"/>
              <a:spcAft>
                <a:spcPts val="1000"/>
              </a:spcAft>
              <a:buSzPct val="100000"/>
              <a:buChar char="•"/>
              <a:lnSpc>
                <a:spcPts val="2200"/>
              </a:lnSpc>
            </a:pPr>
            <a:r>
              <a:rPr sz="2000" b="0">
                <a:solidFill>
                  <a:srgbClr val="333333"/>
                </a:solidFill>
                <a:latin typeface="Calibri"/>
              </a:rPr>
              <a:t>The short case sketches below show how those pieces combine in production domains without</a:t>
            </a:r>
          </a:p>
          <a:p>
            <a:pPr lvl="0" marL="457200" indent="-228600">
              <a:buFont typeface="Calibri"/>
              <a:spcAft>
                <a:spcPts val="1000"/>
              </a:spcAft>
              <a:buSzPct val="100000"/>
              <a:buChar char="•"/>
              <a:lnSpc>
                <a:spcPts val="2200"/>
              </a:lnSpc>
            </a:pPr>
            <a:r>
              <a:rPr sz="2000" b="0">
                <a:solidFill>
                  <a:srgbClr val="333333"/>
                </a:solidFill>
                <a:latin typeface="Calibri"/>
              </a:rPr>
              <a:t>The same object-store and streaming patterns recur across media and clinical settings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12.23 — Netflix Scale Streaming Architecture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12.23 sketches Netflix-scale streaming storage needs</a:t>
            </a:r>
          </a:p>
          <a:p>
            <a:pPr lvl="0" marL="457200" indent="-228600">
              <a:buFont typeface="Calibri"/>
              <a:spcAft>
                <a:spcPts val="1000"/>
              </a:spcAft>
              <a:buSzPct val="100000"/>
              <a:buChar char="•"/>
              <a:lnSpc>
                <a:spcPts val="2200"/>
              </a:lnSpc>
            </a:pPr>
            <a:r>
              <a:rPr sz="2000" b="0">
                <a:solidFill>
                  <a:srgbClr val="333333"/>
                </a:solidFill>
                <a:latin typeface="Calibri"/>
              </a:rPr>
              <a:t>Global streaming platforms combine object storage, content delivery networks</a:t>
            </a:r>
          </a:p>
          <a:p>
            <a:pPr lvl="0" marL="457200" indent="-228600">
              <a:buFont typeface="Calibri"/>
              <a:spcAft>
                <a:spcPts val="1000"/>
              </a:spcAft>
              <a:buSzPct val="100000"/>
              <a:buChar char="•"/>
              <a:lnSpc>
                <a:spcPts val="2200"/>
              </a:lnSpc>
            </a:pPr>
            <a:r>
              <a:rPr sz="2000" b="0">
                <a:solidFill>
                  <a:srgbClr val="333333"/>
                </a:solidFill>
                <a:latin typeface="Calibri"/>
              </a:rPr>
              <a:t>Seamless integration of these technologies delivers high performance while keeping storage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12.24 — Spotify Real-Time Analytics Pipelines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12.24 sketches Spotify-style analytics on listening events</a:t>
            </a:r>
          </a:p>
          <a:p>
            <a:pPr lvl="0" marL="457200" indent="-228600">
              <a:buFont typeface="Calibri"/>
              <a:spcAft>
                <a:spcPts val="1000"/>
              </a:spcAft>
              <a:buSzPct val="100000"/>
              <a:buChar char="•"/>
              <a:lnSpc>
                <a:spcPts val="2200"/>
              </a:lnSpc>
            </a:pPr>
            <a:r>
              <a:rPr sz="2000" b="0">
                <a:solidFill>
                  <a:srgbClr val="333333"/>
                </a:solidFill>
                <a:latin typeface="Calibri"/>
              </a:rPr>
              <a:t>Music platforms stream listening events into cloud storage and real-time analytics so</a:t>
            </a:r>
          </a:p>
          <a:p>
            <a:pPr lvl="0" marL="457200" indent="-228600">
              <a:buFont typeface="Calibri"/>
              <a:spcAft>
                <a:spcPts val="1000"/>
              </a:spcAft>
              <a:buSzPct val="100000"/>
              <a:buChar char="•"/>
              <a:lnSpc>
                <a:spcPts val="2200"/>
              </a:lnSpc>
            </a:pPr>
            <a:r>
              <a:rPr sz="2000" b="0">
                <a:solidFill>
                  <a:srgbClr val="333333"/>
                </a:solidFill>
                <a:latin typeface="Calibri"/>
              </a:rPr>
              <a:t>A mix of SQL and NoSQL stores with frameworks such as Apache Spark lets the infrastructure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12.25 — Healthcare Imaging at Scale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12.25 applies scalable stores to clinical imaging archives</a:t>
            </a:r>
          </a:p>
          <a:p>
            <a:pPr lvl="0" marL="457200" indent="-228600">
              <a:buFont typeface="Calibri"/>
              <a:spcAft>
                <a:spcPts val="1000"/>
              </a:spcAft>
              <a:buSzPct val="100000"/>
              <a:buChar char="•"/>
              <a:lnSpc>
                <a:spcPts val="2200"/>
              </a:lnSpc>
            </a:pPr>
            <a:r>
              <a:rPr sz="2000" b="0">
                <a:solidFill>
                  <a:srgbClr val="333333"/>
                </a:solidFill>
                <a:latin typeface="Calibri"/>
              </a:rPr>
              <a:t>Healthcare imaging vendors store large DICOM archives in object storage with governed</a:t>
            </a:r>
          </a:p>
          <a:p>
            <a:pPr lvl="0" marL="457200" indent="-228600">
              <a:buFont typeface="Calibri"/>
              <a:spcAft>
                <a:spcPts val="1000"/>
              </a:spcAft>
              <a:buSzPct val="100000"/>
              <a:buChar char="•"/>
              <a:lnSpc>
                <a:spcPts val="2200"/>
              </a:lnSpc>
            </a:pPr>
            <a:r>
              <a:rPr sz="2000" b="0">
                <a:solidFill>
                  <a:srgbClr val="333333"/>
                </a:solidFill>
                <a:latin typeface="Calibri"/>
              </a:rPr>
              <a:t>Durability and access control matter as much as raw throughput in regulated clinical</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patterns across domains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Streaming media and music analytics lean on object storage plus real-time buses and mixed</a:t>
            </a:r>
          </a:p>
          <a:p>
            <a:pPr lvl="0" marL="457200" indent="-228600">
              <a:buFont typeface="Calibri"/>
              <a:spcAft>
                <a:spcPts val="1000"/>
              </a:spcAft>
              <a:buSzPct val="100000"/>
              <a:buChar char="•"/>
              <a:lnSpc>
                <a:spcPts val="2200"/>
              </a:lnSpc>
            </a:pPr>
            <a:r>
              <a:rPr sz="2000" b="0">
                <a:solidFill>
                  <a:srgbClr val="333333"/>
                </a:solidFill>
                <a:latin typeface="Calibri"/>
              </a:rPr>
              <a:t>Healthcare imaging reuses object storage for large binary archives but adds stronger</a:t>
            </a:r>
          </a:p>
          <a:p>
            <a:pPr lvl="0" marL="457200" indent="-228600">
              <a:buFont typeface="Calibri"/>
              <a:spcAft>
                <a:spcPts val="1000"/>
              </a:spcAft>
              <a:buSzPct val="100000"/>
              <a:buChar char="•"/>
              <a:lnSpc>
                <a:spcPts val="2200"/>
              </a:lnSpc>
            </a:pPr>
            <a:r>
              <a:rPr sz="2000" b="0">
                <a:solidFill>
                  <a:srgbClr val="333333"/>
                </a:solidFill>
                <a:latin typeface="Calibri"/>
              </a:rPr>
              <a:t>Across all three cases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Netflix-style streaming pairs object storage, CDNs</a:t>
            </a:r>
          </a:p>
          <a:p>
            <a:pPr lvl="0" marL="457200" indent="-228600">
              <a:buFont typeface="Calibri"/>
              <a:spcAft>
                <a:spcPts val="1000"/>
              </a:spcAft>
              <a:buSzPct val="100000"/>
              <a:buChar char="•"/>
              <a:lnSpc>
                <a:spcPts val="2200"/>
              </a:lnSpc>
            </a:pPr>
            <a:r>
              <a:rPr sz="2000" b="0">
                <a:solidFill>
                  <a:srgbClr val="333333"/>
                </a:solidFill>
                <a:latin typeface="Calibri"/>
              </a:rPr>
              <a:t>Spotify-style analytics stream events into cloud storage with SQL, NoSQL</a:t>
            </a:r>
          </a:p>
          <a:p>
            <a:pPr lvl="0" marL="457200" indent="-228600">
              <a:buFont typeface="Calibri"/>
              <a:spcAft>
                <a:spcPts val="1000"/>
              </a:spcAft>
              <a:buSzPct val="100000"/>
              <a:buChar char="•"/>
              <a:lnSpc>
                <a:spcPts val="2200"/>
              </a:lnSpc>
            </a:pPr>
            <a:r>
              <a:rPr sz="2000" b="0">
                <a:solidFill>
                  <a:srgbClr val="333333"/>
                </a:solidFill>
                <a:latin typeface="Calibri"/>
              </a:rPr>
              <a:t>Healthcare imaging keeps DICOM archives on governed object storage with analytics on</a:t>
            </a:r>
          </a:p>
          <a:p>
            <a:pPr lvl="0" marL="457200" indent="-228600">
              <a:buFont typeface="Calibri"/>
              <a:spcAft>
                <a:spcPts val="1000"/>
              </a:spcAft>
              <a:buSzPct val="100000"/>
              <a:buChar char="•"/>
              <a:lnSpc>
                <a:spcPts val="2200"/>
              </a:lnSpc>
            </a:pPr>
            <a:r>
              <a:rPr sz="2000" b="0">
                <a:solidFill>
                  <a:srgbClr val="333333"/>
                </a:solidFill>
                <a:latin typeface="Calibri"/>
              </a:rPr>
              <a:t>Production scale is composition of storage, streaming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final part surveys emerging trends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Directions still shifting operations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Section 12.2 already covered cloud object stores, SQL versus NoSQL trade-offs</a:t>
            </a:r>
          </a:p>
          <a:p>
            <a:pPr lvl="0" marL="457200" indent="-228600">
              <a:buFont typeface="Calibri"/>
              <a:spcAft>
                <a:spcPts val="1000"/>
              </a:spcAft>
              <a:buSzPct val="100000"/>
              <a:buChar char="•"/>
              <a:lnSpc>
                <a:spcPts val="2200"/>
              </a:lnSpc>
            </a:pPr>
            <a:r>
              <a:rPr sz="2000" b="0">
                <a:solidFill>
                  <a:srgbClr val="333333"/>
                </a:solidFill>
                <a:latin typeface="Calibri"/>
              </a:rPr>
              <a:t>Automated pipelines that keep storage and analytics synchronized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12.26 — Serverless Compute Over Object Storage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12.26 — hands-on module</a:t>
            </a:r>
          </a:p>
          <a:p>
            <a:pPr lvl="0" marL="457200" indent="-228600">
              <a:buFont typeface="Calibri"/>
              <a:spcAft>
                <a:spcPts val="1000"/>
              </a:spcAft>
              <a:buSzPct val="100000"/>
              <a:buChar char="•"/>
              <a:lnSpc>
                <a:spcPts val="2200"/>
              </a:lnSpc>
            </a:pPr>
            <a:r>
              <a:rPr sz="2000" b="0">
                <a:solidFill>
                  <a:srgbClr val="333333"/>
                </a:solidFill>
                <a:latin typeface="Calibri"/>
              </a:rPr>
              <a:t>Beyond managed buckets themselves</a:t>
            </a:r>
          </a:p>
          <a:p>
            <a:pPr lvl="0" marL="457200" indent="-228600">
              <a:buFont typeface="Calibri"/>
              <a:spcAft>
                <a:spcPts val="1000"/>
              </a:spcAft>
              <a:buSzPct val="100000"/>
              <a:buChar char="•"/>
              <a:lnSpc>
                <a:spcPts val="2200"/>
              </a:lnSpc>
            </a:pPr>
            <a:r>
              <a:rPr sz="2000" b="0">
                <a:solidFill>
                  <a:srgbClr val="333333"/>
                </a:solidFill>
                <a:latin typeface="Calibri"/>
              </a:rPr>
              <a:t>Example 12.26 pairs S3-class storage with serverless compute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12.27 — Neo4j for Relationship-Heavy Graphs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12.27 — hands-on module</a:t>
            </a:r>
          </a:p>
          <a:p>
            <a:pPr lvl="0" marL="457200" indent="-228600">
              <a:buFont typeface="Calibri"/>
              <a:spcAft>
                <a:spcPts val="1000"/>
              </a:spcAft>
              <a:buSzPct val="100000"/>
              <a:buChar char="•"/>
              <a:lnSpc>
                <a:spcPts val="2200"/>
              </a:lnSpc>
            </a:pPr>
            <a:r>
              <a:rPr sz="2000" b="0">
                <a:solidFill>
                  <a:srgbClr val="333333"/>
                </a:solidFill>
                <a:latin typeface="Calibri"/>
              </a:rPr>
              <a:t>Horizontal NoSQL stores remain important</a:t>
            </a:r>
          </a:p>
          <a:p>
            <a:pPr lvl="0" marL="457200" indent="-228600">
              <a:buFont typeface="Calibri"/>
              <a:spcAft>
                <a:spcPts val="1000"/>
              </a:spcAft>
              <a:buSzPct val="100000"/>
              <a:buChar char="•"/>
              <a:lnSpc>
                <a:spcPts val="2200"/>
              </a:lnSpc>
            </a:pPr>
            <a:r>
              <a:rPr sz="2000" b="0">
                <a:solidFill>
                  <a:srgbClr val="333333"/>
                </a:solidFill>
                <a:latin typeface="Calibri"/>
              </a:rPr>
              <a:t>Example 12.27 places graph databases in network-style apps</a:t>
            </a:r>
          </a:p>
          <a:p>
            <a:pPr lvl="0" marL="457200" indent="-228600">
              <a:buFont typeface="Calibri"/>
              <a:spcAft>
                <a:spcPts val="1000"/>
              </a:spcAft>
              <a:buSzPct val="100000"/>
              <a:buChar char="•"/>
              <a:lnSpc>
                <a:spcPts val="2200"/>
              </a:lnSpc>
            </a:pPr>
            <a:r>
              <a:rPr sz="2000" b="0">
                <a:solidFill>
                  <a:srgbClr val="333333"/>
                </a:solidFill>
                <a:latin typeface="Calibri"/>
              </a:rPr>
              <a:t>Graph databases such as Neo4j fit social graphs and fraud rings where multi-hop</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12.28 — InfluxDB for Timestamped Metrics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12.28 places time-series stores in monitoring workloads</a:t>
            </a:r>
          </a:p>
          <a:p>
            <a:pPr lvl="0" marL="457200" indent="-228600">
              <a:buFont typeface="Calibri"/>
              <a:spcAft>
                <a:spcPts val="1000"/>
              </a:spcAft>
              <a:buSzPct val="100000"/>
              <a:buChar char="•"/>
              <a:lnSpc>
                <a:spcPts val="2200"/>
              </a:lnSpc>
            </a:pPr>
            <a:r>
              <a:rPr sz="2000" b="0">
                <a:solidFill>
                  <a:srgbClr val="333333"/>
                </a:solidFill>
                <a:latin typeface="Calibri"/>
              </a:rPr>
              <a:t>Time-series databases such as InfluxDB store high-rate sensor and market ticks for</a:t>
            </a:r>
          </a:p>
          <a:p>
            <a:pPr lvl="0" marL="457200" indent="-228600">
              <a:buFont typeface="Calibri"/>
              <a:spcAft>
                <a:spcPts val="1000"/>
              </a:spcAft>
              <a:buSzPct val="100000"/>
              <a:buChar char="•"/>
              <a:lnSpc>
                <a:spcPts val="2200"/>
              </a:lnSpc>
            </a:pPr>
            <a:r>
              <a:rPr sz="2000" b="0">
                <a:solidFill>
                  <a:srgbClr val="333333"/>
                </a:solidFill>
                <a:latin typeface="Calibri"/>
              </a:rPr>
              <a:t>Purpose-built engines avoid forcing every metric into a general document or relational</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12.29 — Kafka High-Throughput Messaging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12.29 — hands-on module</a:t>
            </a:r>
          </a:p>
          <a:p>
            <a:pPr lvl="0" marL="457200" indent="-228600">
              <a:buFont typeface="Calibri"/>
              <a:spcAft>
                <a:spcPts val="1000"/>
              </a:spcAft>
              <a:buSzPct val="100000"/>
              <a:buChar char="•"/>
              <a:lnSpc>
                <a:spcPts val="2200"/>
              </a:lnSpc>
            </a:pPr>
            <a:r>
              <a:rPr sz="2000" b="0">
                <a:solidFill>
                  <a:srgbClr val="333333"/>
                </a:solidFill>
                <a:latin typeface="Calibri"/>
              </a:rPr>
              <a:t>Chapter 9 covers streaming collection</a:t>
            </a:r>
          </a:p>
          <a:p>
            <a:pPr lvl="0" marL="457200" indent="-228600">
              <a:buFont typeface="Calibri"/>
              <a:spcAft>
                <a:spcPts val="1000"/>
              </a:spcAft>
              <a:buSzPct val="100000"/>
              <a:buChar char="•"/>
              <a:lnSpc>
                <a:spcPts val="2200"/>
              </a:lnSpc>
            </a:pPr>
            <a:r>
              <a:rPr sz="2000" b="0">
                <a:solidFill>
                  <a:srgbClr val="333333"/>
                </a:solidFill>
                <a:latin typeface="Calibri"/>
              </a:rPr>
              <a:t>Example 12.29 returns to Kafka in the pipeline-automation context</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 to Chapter 13</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Scalable management provides the storage, consistency, versioning</a:t>
            </a:r>
          </a:p>
          <a:p>
            <a:pPr lvl="0" marL="457200" indent="-228600">
              <a:buFont typeface="Calibri"/>
              <a:spcAft>
                <a:spcPts val="1000"/>
              </a:spcAft>
              <a:buSzPct val="100000"/>
              <a:buChar char="•"/>
              <a:lnSpc>
                <a:spcPts val="2200"/>
              </a:lnSpc>
            </a:pPr>
            <a:r>
              <a:rPr sz="2000" b="0">
                <a:solidFill>
                  <a:srgbClr val="333333"/>
                </a:solidFill>
                <a:latin typeface="Calibri"/>
              </a:rPr>
              <a:t>Chapter 13 turns to reproducibility and open science</a:t>
            </a:r>
          </a:p>
          <a:p>
            <a:pPr lvl="0" marL="457200" indent="-228600">
              <a:buFont typeface="Calibri"/>
              <a:spcAft>
                <a:spcPts val="1000"/>
              </a:spcAft>
              <a:buSzPct val="100000"/>
              <a:buChar char="•"/>
              <a:lnSpc>
                <a:spcPts val="2200"/>
              </a:lnSpc>
            </a:pPr>
            <a:r>
              <a:rPr sz="2000" b="0">
                <a:solidFill>
                  <a:srgbClr val="333333"/>
                </a:solidFill>
                <a:latin typeface="Calibri"/>
              </a:rPr>
              <a:t>Emerging tools matter only when they still expose addressable versions and auditable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Serverless compute scales independently of durable object storage</a:t>
            </a:r>
          </a:p>
          <a:p>
            <a:pPr lvl="0" marL="457200" indent="-228600">
              <a:buFont typeface="Calibri"/>
              <a:spcAft>
                <a:spcPts val="1000"/>
              </a:spcAft>
              <a:buSzPct val="100000"/>
              <a:buChar char="•"/>
              <a:lnSpc>
                <a:spcPts val="2200"/>
              </a:lnSpc>
            </a:pPr>
            <a:r>
              <a:rPr sz="2000" b="0">
                <a:solidFill>
                  <a:srgbClr val="333333"/>
                </a:solidFill>
                <a:latin typeface="Calibri"/>
              </a:rPr>
              <a:t>Neo4j and InfluxDB illustrate purpose-built graph and time-series engines</a:t>
            </a:r>
          </a:p>
          <a:p>
            <a:pPr lvl="0" marL="457200" indent="-228600">
              <a:buFont typeface="Calibri"/>
              <a:spcAft>
                <a:spcPts val="1000"/>
              </a:spcAft>
              <a:buSzPct val="100000"/>
              <a:buChar char="•"/>
              <a:lnSpc>
                <a:spcPts val="2200"/>
              </a:lnSpc>
            </a:pPr>
            <a:r>
              <a:rPr sz="2000" b="0">
                <a:solidFill>
                  <a:srgbClr val="333333"/>
                </a:solidFill>
                <a:latin typeface="Calibri"/>
              </a:rPr>
              <a:t>Kafka remains a high-throughput messaging backbone for live pipelines</a:t>
            </a:r>
          </a:p>
          <a:p>
            <a:pPr lvl="0" marL="457200" indent="-228600">
              <a:buFont typeface="Calibri"/>
              <a:spcAft>
                <a:spcPts val="1000"/>
              </a:spcAft>
              <a:buSzPct val="100000"/>
              <a:buChar char="•"/>
              <a:lnSpc>
                <a:spcPts val="2200"/>
              </a:lnSpc>
            </a:pPr>
            <a:r>
              <a:rPr sz="2000" b="0">
                <a:solidFill>
                  <a:srgbClr val="333333"/>
                </a:solidFill>
                <a:latin typeface="Calibri"/>
              </a:rPr>
              <a:t>Trends build on earlier foundations rather than replacing CAP, formats, versioning</a:t>
            </a:r>
          </a:p>
          <a:p>
            <a:pPr lvl="0" marL="457200" indent="-228600">
              <a:buFont typeface="Calibri"/>
              <a:spcAft>
                <a:spcPts val="1000"/>
              </a:spcAft>
              <a:buSzPct val="100000"/>
              <a:buChar char="•"/>
              <a:lnSpc>
                <a:spcPts val="2200"/>
              </a:lnSpc>
            </a:pPr>
            <a:r>
              <a:rPr sz="2000" b="0">
                <a:solidFill>
                  <a:srgbClr val="333333"/>
                </a:solidFill>
                <a:latin typeface="Calibri"/>
              </a:rPr>
              <a:t>Chapter 13 consumes the managed assets this chapter prepares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 to finish Chapter 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Scalable Data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