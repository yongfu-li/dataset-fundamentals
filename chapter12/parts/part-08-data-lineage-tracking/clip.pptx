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Versioning records what changed; lineage records how data moved and transformed. This part defines provenance at platform scale, metadata and automated capture techniques, visualization for debugging, and cross-platform lineage gaps.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data lineage and why it matters for compliance and debugging; describe metadata management and automated capture with Examples 12.19 and 12.20; recognize catalog tools such as Apache Atlas and Amundsen; and explain cross-platform lineage gaps with Example 12.22.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lineage tracks where data came from, how it was transformed, and which systems consume it. At scale, the same questions apply across dozens of pipelines rather than a single notebook: origin, transforms and aggregations, and downstream dependents. Chapter 8 covers provenance as documentation for individual datasets; Chapter 13 returns to research reproducibility. Here the focus is enterprise metadata platforms that capture table and stream movement across warehouses, lakes, and engines.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Regulated industries need lineage evidence for regimes such as GDPR and HIPAA. Large platforms also use lineage to debug broken dashboards by walking upstream transforms. Operational gains include proving which jobs touched regulated tables and coordinating ownership so parallel teams do not silently overwrite shared feature tables.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is central to lineage: it describes source, format, transformations, and usage. Example 12.19 lists fields that feed lineage views. Lineage catalogs record schema versions, transform job IDs, and update timestamps so operators can reconstruct how a table was produced. The example 19 module for this chapter summarizes those metadata fields.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tracking systems monitor pipelines and capture lineage without manual input. Example 12.20 captures lineage when a training job starts: an automated tracker records the input table version, feature job ID, and model artifact URI so later audits can reconstruct the run. The example 20 module for this chapter covers that capture pattern.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Apache Atlas is an open-source metadata and governance tool for lineage, cataloging, and security, with strong Hadoop ecosystem integration and lineage visualization. Amundsen, developed at Lyft, emphasizes data discovery and integrates with Airflow and dbt for pipeline lineage. Example 12.21 uses lineage graphs to find a bad filter step: a lineage UI can show how a cohort table was filtered and joined so analysts locate which transform introduced an empty partition. The example 21 module for this chapter frames that debugging use case.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distinctive platform-scale challenge is cross-system coverage. Organizations mix cloud storage, Spark, Hadoop, Kafka, and machine-learning platforms; connectors that omit a hop create gaps. Example 12.22 shows lineage breaking across boundaries: data may land in object storage, transform in Spark, then train in an ML platform; without connectors, lineage stops at each boundary and audits cannot walk the full path. The example 22 module for this chapter summarizes that gap risk.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Lineage answers origin, transform, and dependency questions across pipelines. Metadata and automated capture keep records current; Atlas and Amundsen illustrate enterprise catalogs. Visualization helps debug empty partitions and broken dashboards. Cross-platform gaps remain the hard problem when connectors stop at system boundaries. Distinguish Chapter 8 per-dataset provenance from Chapter 12 platform catalogs.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applies storage, streaming, and governance patterns in short case studies: Netflix-scale streaming, Spotify-style real-time analytics, and healthcare imaging archives.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12 — Data lineage tracking</a:t>
            </a:r>
          </a:p>
          <a:p>
            <a:pPr algn="ctr">
              <a:lnSpc>
                <a:spcPts val="2200"/>
              </a:lnSpc>
              <a:spcBef>
                <a:spcPts val="1400"/>
              </a:spcBef>
            </a:pPr>
            <a:r>
              <a:rPr sz="2600" b="0">
                <a:solidFill>
                  <a:srgbClr val="333333"/>
                </a:solidFill>
                <a:latin typeface="Calibri"/>
              </a:rPr>
              <a:t>Versioning records what changed; lineage records how data moved and transformed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 Lineage Tracking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 Lineage Tracking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Definition and importance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Data lineage tracks where data came from, how it was transformed</a:t>
            </a:r>
          </a:p>
          <a:p>
            <a:pPr lvl="0" marL="457200" indent="-228600">
              <a:buFont typeface="Calibri"/>
              <a:spcAft>
                <a:spcPts val="1000"/>
              </a:spcAft>
              <a:buSzPct val="100000"/>
              <a:buChar char="•"/>
              <a:lnSpc>
                <a:spcPts val="2200"/>
              </a:lnSpc>
            </a:pPr>
            <a:r>
              <a:rPr sz="2000" b="0">
                <a:solidFill>
                  <a:srgbClr val="333333"/>
                </a:solidFill>
                <a:latin typeface="Calibri"/>
              </a:rPr>
              <a:t>Origin, transforms and aggregations, and downstream dependents</a:t>
            </a:r>
          </a:p>
          <a:p>
            <a:pPr lvl="0" marL="457200" indent="-228600">
              <a:buFont typeface="Calibri"/>
              <a:spcAft>
                <a:spcPts val="1000"/>
              </a:spcAft>
              <a:buSzPct val="100000"/>
              <a:buChar char="•"/>
              <a:lnSpc>
                <a:spcPts val="2200"/>
              </a:lnSpc>
            </a:pPr>
            <a:r>
              <a:rPr sz="2000" b="0">
                <a:solidFill>
                  <a:srgbClr val="333333"/>
                </a:solidFill>
                <a:latin typeface="Calibri"/>
              </a:rPr>
              <a:t>Chapter 8 covers provenance as documentation for individual datasets</a:t>
            </a:r>
          </a:p>
          <a:p>
            <a:pPr lvl="0" marL="457200" indent="-228600">
              <a:buFont typeface="Calibri"/>
              <a:spcAft>
                <a:spcPts val="1000"/>
              </a:spcAft>
              <a:buSzPct val="100000"/>
              <a:buChar char="•"/>
              <a:lnSpc>
                <a:spcPts val="2200"/>
              </a:lnSpc>
            </a:pPr>
            <a:r>
              <a:rPr sz="2000" b="0">
                <a:solidFill>
                  <a:srgbClr val="333333"/>
                </a:solidFill>
                <a:latin typeface="Calibri"/>
              </a:rPr>
              <a:t>Lakes, and engines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 Lineage Tracking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Compliance and debugging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Regulated industries need lineage evidence for regimes such as GDPR and HIPAA</a:t>
            </a:r>
          </a:p>
          <a:p>
            <a:pPr lvl="0" marL="457200" indent="-228600">
              <a:buFont typeface="Calibri"/>
              <a:spcAft>
                <a:spcPts val="1000"/>
              </a:spcAft>
              <a:buSzPct val="100000"/>
              <a:buChar char="•"/>
              <a:lnSpc>
                <a:spcPts val="2200"/>
              </a:lnSpc>
            </a:pPr>
            <a:r>
              <a:rPr sz="2000" b="0">
                <a:solidFill>
                  <a:srgbClr val="333333"/>
                </a:solidFill>
                <a:latin typeface="Calibri"/>
              </a:rPr>
              <a:t>Large platforms also use lineage to debug broken dashboards by walking upstream transforms</a:t>
            </a:r>
          </a:p>
          <a:p>
            <a:pPr lvl="0" marL="457200" indent="-228600">
              <a:buFont typeface="Calibri"/>
              <a:spcAft>
                <a:spcPts val="1000"/>
              </a:spcAft>
              <a:buSzPct val="100000"/>
              <a:buChar char="•"/>
              <a:lnSpc>
                <a:spcPts val="2200"/>
              </a:lnSpc>
            </a:pPr>
            <a:r>
              <a:rPr sz="2000" b="0">
                <a:solidFill>
                  <a:srgbClr val="333333"/>
                </a:solidFill>
                <a:latin typeface="Calibri"/>
              </a:rPr>
              <a:t>Operational gains include proving which jobs touched regulated tables and coordinating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 Lineage Tracking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12.19 — Lineage Metadata on Schema and Steps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12.19 — hands-on module</a:t>
            </a:r>
          </a:p>
          <a:p>
            <a:pPr lvl="0" marL="457200" indent="-228600">
              <a:buFont typeface="Calibri"/>
              <a:spcAft>
                <a:spcPts val="1000"/>
              </a:spcAft>
              <a:buSzPct val="100000"/>
              <a:buChar char="•"/>
              <a:lnSpc>
                <a:spcPts val="2200"/>
              </a:lnSpc>
            </a:pPr>
            <a:r>
              <a:rPr sz="2000" b="0">
                <a:solidFill>
                  <a:srgbClr val="333333"/>
                </a:solidFill>
                <a:latin typeface="Calibri"/>
              </a:rPr>
              <a:t>Metadata is central to lineage: it describes source, format, transformations, and usage</a:t>
            </a:r>
          </a:p>
          <a:p>
            <a:pPr lvl="0" marL="457200" indent="-228600">
              <a:buFont typeface="Calibri"/>
              <a:spcAft>
                <a:spcPts val="1000"/>
              </a:spcAft>
              <a:buSzPct val="100000"/>
              <a:buChar char="•"/>
              <a:lnSpc>
                <a:spcPts val="2200"/>
              </a:lnSpc>
            </a:pPr>
            <a:r>
              <a:rPr sz="2000" b="0">
                <a:solidFill>
                  <a:srgbClr val="333333"/>
                </a:solidFill>
                <a:latin typeface="Calibri"/>
              </a:rPr>
              <a:t>Example 12.19 lists fields that feed lineage views</a:t>
            </a:r>
          </a:p>
          <a:p>
            <a:pPr lvl="0" marL="457200" indent="-228600">
              <a:buFont typeface="Calibri"/>
              <a:spcAft>
                <a:spcPts val="1000"/>
              </a:spcAft>
              <a:buSzPct val="100000"/>
              <a:buChar char="•"/>
              <a:lnSpc>
                <a:spcPts val="2200"/>
              </a:lnSpc>
            </a:pPr>
            <a:r>
              <a:rPr sz="2000" b="0">
                <a:solidFill>
                  <a:srgbClr val="333333"/>
                </a:solidFill>
                <a:latin typeface="Calibri"/>
              </a:rPr>
              <a:t>Lineage catalogs record schema versions, transform job IDs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 Lineage Tracking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12.20 — Automated Lineage Capture on Model Runs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12.20 — hands-on module</a:t>
            </a:r>
          </a:p>
          <a:p>
            <a:pPr lvl="0" marL="457200" indent="-228600">
              <a:buFont typeface="Calibri"/>
              <a:spcAft>
                <a:spcPts val="1000"/>
              </a:spcAft>
              <a:buSzPct val="100000"/>
              <a:buChar char="•"/>
              <a:lnSpc>
                <a:spcPts val="2200"/>
              </a:lnSpc>
            </a:pPr>
            <a:r>
              <a:rPr sz="2000" b="0">
                <a:solidFill>
                  <a:srgbClr val="333333"/>
                </a:solidFill>
                <a:latin typeface="Calibri"/>
              </a:rPr>
              <a:t>Automated tracking systems monitor pipelines and capture lineage without manual input</a:t>
            </a:r>
          </a:p>
          <a:p>
            <a:pPr lvl="0" marL="457200" indent="-228600">
              <a:buFont typeface="Calibri"/>
              <a:spcAft>
                <a:spcPts val="1000"/>
              </a:spcAft>
              <a:buSzPct val="100000"/>
              <a:buChar char="•"/>
              <a:lnSpc>
                <a:spcPts val="2200"/>
              </a:lnSpc>
            </a:pPr>
            <a:r>
              <a:rPr sz="2000" b="0">
                <a:solidFill>
                  <a:srgbClr val="333333"/>
                </a:solidFill>
                <a:latin typeface="Calibri"/>
              </a:rPr>
              <a:t>Example 12.20 captures lineage when a training job starts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`modules/chapter12/example20/`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 Lineage Tracking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Tools and Example 12.21</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12.21 — hands-on module</a:t>
            </a:r>
          </a:p>
          <a:p>
            <a:pPr lvl="0" marL="457200" indent="-228600">
              <a:buFont typeface="Calibri"/>
              <a:spcAft>
                <a:spcPts val="1000"/>
              </a:spcAft>
              <a:buSzPct val="100000"/>
              <a:buChar char="•"/>
              <a:lnSpc>
                <a:spcPts val="2200"/>
              </a:lnSpc>
            </a:pPr>
            <a:r>
              <a:rPr sz="2000" b="0">
                <a:solidFill>
                  <a:srgbClr val="333333"/>
                </a:solidFill>
                <a:latin typeface="Calibri"/>
              </a:rPr>
              <a:t>Apache Atlas is an open-source metadata and governance tool for lineage, cataloging</a:t>
            </a:r>
          </a:p>
          <a:p>
            <a:pPr lvl="0" marL="457200" indent="-228600">
              <a:buFont typeface="Calibri"/>
              <a:spcAft>
                <a:spcPts val="1000"/>
              </a:spcAft>
              <a:buSzPct val="100000"/>
              <a:buChar char="•"/>
              <a:lnSpc>
                <a:spcPts val="2200"/>
              </a:lnSpc>
            </a:pPr>
            <a:r>
              <a:rPr sz="2000" b="0">
                <a:solidFill>
                  <a:srgbClr val="333333"/>
                </a:solidFill>
                <a:latin typeface="Calibri"/>
              </a:rPr>
              <a:t>Amundsen, developed at Lyft, emphasizes data discovery and integrates with Airflow and dbt</a:t>
            </a:r>
          </a:p>
          <a:p>
            <a:pPr lvl="0" marL="457200" indent="-228600">
              <a:buFont typeface="Calibri"/>
              <a:spcAft>
                <a:spcPts val="1000"/>
              </a:spcAft>
              <a:buSzPct val="100000"/>
              <a:buChar char="•"/>
              <a:lnSpc>
                <a:spcPts val="2200"/>
              </a:lnSpc>
            </a:pPr>
            <a:r>
              <a:rPr sz="2000" b="0">
                <a:solidFill>
                  <a:srgbClr val="333333"/>
                </a:solidFill>
                <a:latin typeface="Calibri"/>
              </a:rPr>
              <a:t>Example 12.21 uses lineage graphs to find a bad filter step</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`modules/chapter12/example21/`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 Lineage Tracking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12.22 — Cross-Platform Lineage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12.22 — hands-on module</a:t>
            </a:r>
          </a:p>
          <a:p>
            <a:pPr lvl="0" marL="457200" indent="-228600">
              <a:buFont typeface="Calibri"/>
              <a:spcAft>
                <a:spcPts val="1000"/>
              </a:spcAft>
              <a:buSzPct val="100000"/>
              <a:buChar char="•"/>
              <a:lnSpc>
                <a:spcPts val="2200"/>
              </a:lnSpc>
            </a:pPr>
            <a:r>
              <a:rPr sz="2000" b="0">
                <a:solidFill>
                  <a:srgbClr val="333333"/>
                </a:solidFill>
                <a:latin typeface="Calibri"/>
              </a:rPr>
              <a:t>The distinctive platform-scale challenge is cross-system coverage</a:t>
            </a:r>
          </a:p>
          <a:p>
            <a:pPr lvl="0" marL="457200" indent="-228600">
              <a:buFont typeface="Calibri"/>
              <a:spcAft>
                <a:spcPts val="1000"/>
              </a:spcAft>
              <a:buSzPct val="100000"/>
              <a:buChar char="•"/>
              <a:lnSpc>
                <a:spcPts val="2200"/>
              </a:lnSpc>
            </a:pPr>
            <a:r>
              <a:rPr sz="2000" b="0">
                <a:solidFill>
                  <a:srgbClr val="333333"/>
                </a:solidFill>
                <a:latin typeface="Calibri"/>
              </a:rPr>
              <a:t>Organizations mix cloud storage, Spark, Hadoop, Kafka, and machine-learning platforms</a:t>
            </a:r>
          </a:p>
          <a:p>
            <a:pPr lvl="0" marL="457200" indent="-228600">
              <a:buFont typeface="Calibri"/>
              <a:spcAft>
                <a:spcPts val="1000"/>
              </a:spcAft>
              <a:buSzPct val="100000"/>
              <a:buChar char="•"/>
              <a:lnSpc>
                <a:spcPts val="2200"/>
              </a:lnSpc>
            </a:pPr>
            <a:r>
              <a:rPr sz="2000" b="0">
                <a:solidFill>
                  <a:srgbClr val="333333"/>
                </a:solidFill>
                <a:latin typeface="Calibri"/>
              </a:rPr>
              <a:t>Example 12.22 shows lineage breaking across boundaries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`modules/chapter12/example22/`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 Lineage Tracking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Lineage answers origin, transform, and dependency questions across pipelines</a:t>
            </a:r>
          </a:p>
          <a:p>
            <a:pPr lvl="0" marL="457200" indent="-228600">
              <a:buFont typeface="Calibri"/>
              <a:spcAft>
                <a:spcPts val="1000"/>
              </a:spcAft>
              <a:buSzPct val="100000"/>
              <a:buChar char="•"/>
              <a:lnSpc>
                <a:spcPts val="2200"/>
              </a:lnSpc>
            </a:pPr>
            <a:r>
              <a:rPr sz="2000" b="0">
                <a:solidFill>
                  <a:srgbClr val="333333"/>
                </a:solidFill>
                <a:latin typeface="Calibri"/>
              </a:rPr>
              <a:t>Metadata and automated capture keep records current</a:t>
            </a:r>
          </a:p>
          <a:p>
            <a:pPr lvl="0" marL="457200" indent="-228600">
              <a:buFont typeface="Calibri"/>
              <a:spcAft>
                <a:spcPts val="1000"/>
              </a:spcAft>
              <a:buSzPct val="100000"/>
              <a:buChar char="•"/>
              <a:lnSpc>
                <a:spcPts val="2200"/>
              </a:lnSpc>
            </a:pPr>
            <a:r>
              <a:rPr sz="2000" b="0">
                <a:solidFill>
                  <a:srgbClr val="333333"/>
                </a:solidFill>
                <a:latin typeface="Calibri"/>
              </a:rPr>
              <a:t>Visualization helps debug empty partitions and broken dashboards</a:t>
            </a:r>
          </a:p>
          <a:p>
            <a:pPr lvl="0" marL="457200" indent="-228600">
              <a:buFont typeface="Calibri"/>
              <a:spcAft>
                <a:spcPts val="1000"/>
              </a:spcAft>
              <a:buSzPct val="100000"/>
              <a:buChar char="•"/>
              <a:lnSpc>
                <a:spcPts val="2200"/>
              </a:lnSpc>
            </a:pPr>
            <a:r>
              <a:rPr sz="2000" b="0">
                <a:solidFill>
                  <a:srgbClr val="333333"/>
                </a:solidFill>
                <a:latin typeface="Calibri"/>
              </a:rPr>
              <a:t>Cross-platform gaps remain the hard problem when connectors stop at system boundaries</a:t>
            </a:r>
          </a:p>
          <a:p>
            <a:pPr lvl="0" marL="457200" indent="-228600">
              <a:buFont typeface="Calibri"/>
              <a:spcAft>
                <a:spcPts val="1000"/>
              </a:spcAft>
              <a:buSzPct val="100000"/>
              <a:buChar char="•"/>
              <a:lnSpc>
                <a:spcPts val="2200"/>
              </a:lnSpc>
            </a:pPr>
            <a:r>
              <a:rPr sz="2000" b="0">
                <a:solidFill>
                  <a:srgbClr val="333333"/>
                </a:solidFill>
                <a:latin typeface="Calibri"/>
              </a:rPr>
              <a:t>Distinguish Chapter 8 per-dataset provenance from Chapter 12 platform catalogs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 Lineage Tracking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applies storage, streaming, and governance patterns in short case studies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Data Lineage Tracking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