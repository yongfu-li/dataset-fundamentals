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closes by looking ahead. This final part surveys serverless compute over object storage, graph and time-series specialty stores, and high-throughput messaging platforms that shape the next generation of scalable pipelines.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serverless compute paired with durable object storage; position Neo4j for relationship-heavy graphs and InfluxDB for timestamped metrics; describe Kafka as a high-throughput messaging backbone for live analytics; and connect these trends to the storage foundations covered earlier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12.2 already covered cloud object stores, SQL versus NoSQL trade-offs, and CAP-style consistency. This closing section highlights directions that are still shifting how teams operate those foundations: serverless compute over object storage, specialized database engines, and automated pipelines that keep storage and analytics synchronized.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managed buckets themselves, teams often attach event-driven functions so compute scales independently of durable storage capacity. Example 12.26 pairs S3-class storage with serverless compute: object stores hold durable blobs while serverless functions process events on ingest, scaling compute independently of storage capacity. The example 26 module for this chapter summarizes that separation of concerns. Cloud-native databases such as Aurora and Spanner further reduce operational burden with automatic scaling for transactional workloads.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Horizontal NoSQL stores remain important; the emerging pattern is purpose-built engines for relationship and time-series workloads, often as database-as-a-service. Example 12.27 places graph databases in network-style apps. Graph databases such as Neo4j fit social graphs and fraud rings where multi-hop relationships are the primary query pattern. The example 27 module for this chapter covers that graph fit.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12.28 places time-series stores in monitoring workloads. Time-series databases such as InfluxDB store high-rate sensor and market ticks for real-time monitoring and rollups. Purpose-built engines avoid forcing every metric into a general document or relational schema. The example 28 module for this chapter frames that time-series role.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covers streaming collection; here the operational concern is wiring durable buses so storage and analytics stay synchronized. Example 12.29 returns to Kafka in the pipeline-automation context: Kafka sustains high message rates across producers and consumers, making it a common backbone for fraud detection and live analytics pipelines. The example 29 module for this chapter summarizes that messaging role.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management provides the storage, consistency, versioning, and lineage substrate for production datasets. Chapter 13 turns to reproducibility and open science: pinning analyses to the versions and provenance records that platforms like those in this chapter must expose. Emerging tools matter only when they still expose addressable versions and auditable lineage.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compute scales independently of durable object storage. Neo4j and InfluxDB illustrate purpose-built graph and time-series engines. Kafka remains a high-throughput messaging backbone for live pipelines. Trends build on earlier foundations rather than replacing CAP, formats, versioning, and lineage. Chapter 13 consumes the managed assets this chapter prepares.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to finish Chapter 12. The course continues in Chapter 13 with reproducibility and open-science practices that rely on the versions and provenance records scalable platforms must expose.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Emerging trends</a:t>
            </a:r>
          </a:p>
          <a:p>
            <a:pPr algn="ctr">
              <a:lnSpc>
                <a:spcPts val="2200"/>
              </a:lnSpc>
              <a:spcBef>
                <a:spcPts val="1400"/>
              </a:spcBef>
            </a:pPr>
            <a:r>
              <a:rPr sz="2600" b="0">
                <a:solidFill>
                  <a:srgbClr val="333333"/>
                </a:solidFill>
                <a:latin typeface="Calibri"/>
              </a:rPr>
              <a:t>The chapter closes by looking ahead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Directions still shifting operations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Section 12.2 already covered cloud object stores, SQL versus NoSQL trade-offs</a:t>
            </a:r>
          </a:p>
          <a:p>
            <a:pPr>
              <a:spcAft>
                <a:spcPts val="1000"/>
              </a:spcAft>
              <a:buChar char="•"/>
              <a:lnSpc>
                <a:spcPts val="2200"/>
              </a:lnSpc>
            </a:pPr>
            <a:r>
              <a:rPr sz="2000" b="0">
                <a:solidFill>
                  <a:srgbClr val="333333"/>
                </a:solidFill>
                <a:latin typeface="Calibri"/>
              </a:rPr>
              <a:t>Automated pipelines that keep storage and analytics synchronized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12.26 — Serverless Compute Over Object Storage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12.26 — hands-on module</a:t>
            </a:r>
          </a:p>
          <a:p>
            <a:pPr>
              <a:spcAft>
                <a:spcPts val="1000"/>
              </a:spcAft>
              <a:buChar char="•"/>
              <a:lnSpc>
                <a:spcPts val="2200"/>
              </a:lnSpc>
            </a:pPr>
            <a:r>
              <a:rPr sz="2000" b="0">
                <a:solidFill>
                  <a:srgbClr val="333333"/>
                </a:solidFill>
                <a:latin typeface="Calibri"/>
              </a:rPr>
              <a:t>Beyond managed buckets themselves</a:t>
            </a:r>
          </a:p>
          <a:p>
            <a:pPr>
              <a:spcAft>
                <a:spcPts val="1000"/>
              </a:spcAft>
              <a:buChar char="•"/>
              <a:lnSpc>
                <a:spcPts val="2200"/>
              </a:lnSpc>
            </a:pPr>
            <a:r>
              <a:rPr sz="2000" b="0">
                <a:solidFill>
                  <a:srgbClr val="333333"/>
                </a:solidFill>
                <a:latin typeface="Calibri"/>
              </a:rPr>
              <a:t>Example 12.26 pairs S3-class storage with serverless compute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12.27 — Neo4j for Relationship-Heavy Graphs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12.27 — hands-on module</a:t>
            </a:r>
          </a:p>
          <a:p>
            <a:pPr>
              <a:spcAft>
                <a:spcPts val="1000"/>
              </a:spcAft>
              <a:buChar char="•"/>
              <a:lnSpc>
                <a:spcPts val="2200"/>
              </a:lnSpc>
            </a:pPr>
            <a:r>
              <a:rPr sz="2000" b="0">
                <a:solidFill>
                  <a:srgbClr val="333333"/>
                </a:solidFill>
                <a:latin typeface="Calibri"/>
              </a:rPr>
              <a:t>Horizontal NoSQL stores remain important</a:t>
            </a:r>
          </a:p>
          <a:p>
            <a:pPr>
              <a:spcAft>
                <a:spcPts val="1000"/>
              </a:spcAft>
              <a:buChar char="•"/>
              <a:lnSpc>
                <a:spcPts val="2200"/>
              </a:lnSpc>
            </a:pPr>
            <a:r>
              <a:rPr sz="2000" b="0">
                <a:solidFill>
                  <a:srgbClr val="333333"/>
                </a:solidFill>
                <a:latin typeface="Calibri"/>
              </a:rPr>
              <a:t>Example 12.27 places graph databases in network-style apps</a:t>
            </a:r>
          </a:p>
          <a:p>
            <a:pPr>
              <a:spcAft>
                <a:spcPts val="1000"/>
              </a:spcAft>
              <a:buChar char="•"/>
              <a:lnSpc>
                <a:spcPts val="2200"/>
              </a:lnSpc>
            </a:pPr>
            <a:r>
              <a:rPr sz="2000" b="0">
                <a:solidFill>
                  <a:srgbClr val="333333"/>
                </a:solidFill>
                <a:latin typeface="Calibri"/>
              </a:rPr>
              <a:t>Graph databases such as Neo4j fit social graphs and fraud rings where multi-hop</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12.28 — InfluxDB for Timestamped Metrics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12.28 — hands-on module</a:t>
            </a:r>
          </a:p>
          <a:p>
            <a:pPr>
              <a:spcAft>
                <a:spcPts val="1000"/>
              </a:spcAft>
              <a:buChar char="•"/>
              <a:lnSpc>
                <a:spcPts val="2200"/>
              </a:lnSpc>
            </a:pPr>
            <a:r>
              <a:rPr sz="2000" b="0">
                <a:solidFill>
                  <a:srgbClr val="333333"/>
                </a:solidFill>
                <a:latin typeface="Calibri"/>
              </a:rPr>
              <a:t>Example 12.28 places time-series stores in monitoring workloads</a:t>
            </a:r>
          </a:p>
          <a:p>
            <a:pPr>
              <a:spcAft>
                <a:spcPts val="1000"/>
              </a:spcAft>
              <a:buChar char="•"/>
              <a:lnSpc>
                <a:spcPts val="2200"/>
              </a:lnSpc>
            </a:pPr>
            <a:r>
              <a:rPr sz="2000" b="0">
                <a:solidFill>
                  <a:srgbClr val="333333"/>
                </a:solidFill>
                <a:latin typeface="Calibri"/>
              </a:rPr>
              <a:t>Time-series databases such as InfluxDB store high-rate sensor and market ticks for</a:t>
            </a:r>
          </a:p>
          <a:p>
            <a:pPr>
              <a:spcAft>
                <a:spcPts val="1000"/>
              </a:spcAft>
              <a:buChar char="•"/>
              <a:lnSpc>
                <a:spcPts val="2200"/>
              </a:lnSpc>
            </a:pPr>
            <a:r>
              <a:rPr sz="2000" b="0">
                <a:solidFill>
                  <a:srgbClr val="333333"/>
                </a:solidFill>
                <a:latin typeface="Calibri"/>
              </a:rPr>
              <a:t>Purpose-built engines avoid forcing every metric into a general document or relational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12.29 — Kafka High-Throughput Messaging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12.29 — hands-on module</a:t>
            </a:r>
          </a:p>
          <a:p>
            <a:pPr>
              <a:spcAft>
                <a:spcPts val="1000"/>
              </a:spcAft>
              <a:buChar char="•"/>
              <a:lnSpc>
                <a:spcPts val="2200"/>
              </a:lnSpc>
            </a:pPr>
            <a:r>
              <a:rPr sz="2000" b="0">
                <a:solidFill>
                  <a:srgbClr val="333333"/>
                </a:solidFill>
                <a:latin typeface="Calibri"/>
              </a:rPr>
              <a:t>Chapter 9 covers streaming collection</a:t>
            </a:r>
          </a:p>
          <a:p>
            <a:pPr>
              <a:spcAft>
                <a:spcPts val="1000"/>
              </a:spcAft>
              <a:buChar char="•"/>
              <a:lnSpc>
                <a:spcPts val="2200"/>
              </a:lnSpc>
            </a:pPr>
            <a:r>
              <a:rPr sz="2000" b="0">
                <a:solidFill>
                  <a:srgbClr val="333333"/>
                </a:solidFill>
                <a:latin typeface="Calibri"/>
              </a:rPr>
              <a:t>Example 12.29 returns to Kafka in the pipeline-automation context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 to Chapter 13</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Scalable management provides the storage, consistency, versioning</a:t>
            </a:r>
          </a:p>
          <a:p>
            <a:pPr>
              <a:spcAft>
                <a:spcPts val="1000"/>
              </a:spcAft>
              <a:buChar char="•"/>
              <a:lnSpc>
                <a:spcPts val="2200"/>
              </a:lnSpc>
            </a:pPr>
            <a:r>
              <a:rPr sz="2000" b="0">
                <a:solidFill>
                  <a:srgbClr val="333333"/>
                </a:solidFill>
                <a:latin typeface="Calibri"/>
              </a:rPr>
              <a:t>Chapter 13 turns to reproducibility and open science</a:t>
            </a:r>
          </a:p>
          <a:p>
            <a:pPr>
              <a:spcAft>
                <a:spcPts val="1000"/>
              </a:spcAft>
              <a:buChar char="•"/>
              <a:lnSpc>
                <a:spcPts val="2200"/>
              </a:lnSpc>
            </a:pPr>
            <a:r>
              <a:rPr sz="2000" b="0">
                <a:solidFill>
                  <a:srgbClr val="333333"/>
                </a:solidFill>
                <a:latin typeface="Calibri"/>
              </a:rPr>
              <a:t>Emerging tools matter only when they still expose addressable versions and auditable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Serverless compute scales independently of durable object storage</a:t>
            </a:r>
          </a:p>
          <a:p>
            <a:pPr>
              <a:spcAft>
                <a:spcPts val="1000"/>
              </a:spcAft>
              <a:buChar char="•"/>
              <a:lnSpc>
                <a:spcPts val="2200"/>
              </a:lnSpc>
            </a:pPr>
            <a:r>
              <a:rPr sz="2000" b="0">
                <a:solidFill>
                  <a:srgbClr val="333333"/>
                </a:solidFill>
                <a:latin typeface="Calibri"/>
              </a:rPr>
              <a:t>Neo4j and InfluxDB illustrate purpose-built graph and time-series engines</a:t>
            </a:r>
          </a:p>
          <a:p>
            <a:pPr>
              <a:spcAft>
                <a:spcPts val="1000"/>
              </a:spcAft>
              <a:buChar char="•"/>
              <a:lnSpc>
                <a:spcPts val="2200"/>
              </a:lnSpc>
            </a:pPr>
            <a:r>
              <a:rPr sz="2000" b="0">
                <a:solidFill>
                  <a:srgbClr val="333333"/>
                </a:solidFill>
                <a:latin typeface="Calibri"/>
              </a:rPr>
              <a:t>Kafka remains a high-throughput messaging backbone for live pipelines</a:t>
            </a:r>
          </a:p>
          <a:p>
            <a:pPr>
              <a:spcAft>
                <a:spcPts val="1000"/>
              </a:spcAft>
              <a:buChar char="•"/>
              <a:lnSpc>
                <a:spcPts val="2200"/>
              </a:lnSpc>
            </a:pPr>
            <a:r>
              <a:rPr sz="2000" b="0">
                <a:solidFill>
                  <a:srgbClr val="333333"/>
                </a:solidFill>
                <a:latin typeface="Calibri"/>
              </a:rPr>
              <a:t>Trends build on earlier foundations rather than replacing CAP, formats, versioning</a:t>
            </a:r>
          </a:p>
          <a:p>
            <a:pPr>
              <a:spcAft>
                <a:spcPts val="1000"/>
              </a:spcAft>
              <a:buChar char="•"/>
              <a:lnSpc>
                <a:spcPts val="2200"/>
              </a:lnSpc>
            </a:pPr>
            <a:r>
              <a:rPr sz="2000" b="0">
                <a:solidFill>
                  <a:srgbClr val="333333"/>
                </a:solidFill>
                <a:latin typeface="Calibri"/>
              </a:rPr>
              <a:t>Chapter 13 consumes the managed assets this chapter prepares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for this part to finish Chapter 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Emerging Trends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