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database is only half the storage decision. Columnar formats and object versus block media determine how analytics and low-latency services perform. This part covers Parquet, Avro, ORC, and when object or block storage fits.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Parquet suits columnar analytics; contrast Avro row encoding with ORC for Hive-style warehouses; distinguish object and block storage models; and apply Examples 12.3 through 12.6 to format and media choices.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efficiently storing large datasets in distributed systems or cloud platforms, formats such as Parquet, Avro, and ORC are widely used. Format choice affects compression, schema evolution, and how much data a query must read from disk or object storage.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12.3 highlights Parquet for analytical scans. Parquet stores data by column with compression and encoding suited to Spark and Hadoop analytics, so queries read only needed columns and cut input and output. The example 3 module for this chapter summarizes that columnar analytics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12.4 contrasts Avro row encoding with ORC columnar Hive storage. Avro is a row-oriented format common in Kafka-style streaming with schema evolution; ORC is a columnar format optimized for Hive and other read-heavy Hadoop warehouses. The example 4 module for this chapter frames that contrast.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 storage systems, such as Amazon S3 or Google Cloud Storage, treat data as objects in a flat namespace. This model is highly scalable and suitable for unstructured data such as videos, images, and backups. Object storage is optimized for large-scale archiving and retrieval over an HTTP-style API rather than block device semantics.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12.5 places object storage in large unstructured workloads. Object stores keep objects in a flat namespace with high durability, fitting media, backups, and lakehouse files that grow without block-device provisioning. The example 5 module for this chapter covers that archive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 storage divides data into blocks and provides low-latency access, as with Amazon Elastic Block Store or Azure block volumes. It is ideal for transactional systems that need fast reads and writes, such as database applications. Example 12.6 shows block volumes attaching low-latency disks to virtual machines running transactional databases that need POSIX-like input and output rather than object get and put semantics. The example 6 module for this chapter summarizes that low-latency database case.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practice, teams place lakehouse files, media, and backups on object storage and attach block volumes only where databases or virtual machines need low-latency block input and output. Columnar formats such as Parquet and ORC sit on object stores for analytics, while Avro often rides streaming buses before landing in lakes or warehouses.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Parquet favors columnar analytics with selective column reads. Avro fits streaming with schema evolution; ORC fits read-heavy Hive warehouses. Object storage scales unstructured archives and lakehouse files; block storage serves low-latency transactional databases. Format and media choices should follow query and latency needs, not a single default.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distributed systems characteristics and concrete examples: HDFS partitioning and replication, Cassandra for multi-datacenter writes, and Kafka for real-time event streams.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Formats and storage types</a:t>
            </a:r>
          </a:p>
          <a:p>
            <a:pPr algn="ctr">
              <a:lnSpc>
                <a:spcPts val="2200"/>
              </a:lnSpc>
              <a:spcBef>
                <a:spcPts val="1400"/>
              </a:spcBef>
            </a:pPr>
            <a:r>
              <a:rPr sz="2600" b="0">
                <a:solidFill>
                  <a:srgbClr val="333333"/>
                </a:solidFill>
                <a:latin typeface="Calibri"/>
              </a:rPr>
              <a:t>Choosing a database is only half the storage decision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storage formats matter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ORC are widely used</a:t>
            </a:r>
          </a:p>
          <a:p>
            <a:pPr lvl="0" marL="457200" indent="-228600">
              <a:buFont typeface="Calibri"/>
              <a:spcAft>
                <a:spcPts val="1000"/>
              </a:spcAft>
              <a:buSzPct val="100000"/>
              <a:buChar char="•"/>
              <a:lnSpc>
                <a:spcPts val="2200"/>
              </a:lnSpc>
            </a:pPr>
            <a:r>
              <a:rPr sz="2000" b="0">
                <a:solidFill>
                  <a:srgbClr val="333333"/>
                </a:solidFill>
                <a:latin typeface="Calibri"/>
              </a:rPr>
              <a:t>Format choice affects compression, schema evolution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12.3 — Parquet Columnar Analytics Format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12.3 highlights Parquet for analytical scans</a:t>
            </a:r>
          </a:p>
          <a:p>
            <a:pPr lvl="0" marL="457200" indent="-228600">
              <a:buFont typeface="Calibri"/>
              <a:spcAft>
                <a:spcPts val="1000"/>
              </a:spcAft>
              <a:buSzPct val="100000"/>
              <a:buChar char="•"/>
              <a:lnSpc>
                <a:spcPts val="2200"/>
              </a:lnSpc>
            </a:pPr>
            <a:r>
              <a:rPr sz="2000" b="0">
                <a:solidFill>
                  <a:srgbClr val="333333"/>
                </a:solidFill>
                <a:latin typeface="Calibri"/>
              </a:rPr>
              <a:t>So queries read only needed columns and cut input and output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12.4 — Avro and ORC for Streams and Hive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12.4 contrasts Avro row encoding with ORC columnar Hive storage</a:t>
            </a:r>
          </a:p>
          <a:p>
            <a:pPr lvl="0" marL="457200" indent="-228600">
              <a:buFont typeface="Calibri"/>
              <a:spcAft>
                <a:spcPts val="1000"/>
              </a:spcAft>
              <a:buSzPct val="100000"/>
              <a:buChar char="•"/>
              <a:lnSpc>
                <a:spcPts val="2200"/>
              </a:lnSpc>
            </a:pPr>
            <a:r>
              <a:rPr sz="2000" b="0">
                <a:solidFill>
                  <a:srgbClr val="333333"/>
                </a:solidFill>
                <a:latin typeface="Calibri"/>
              </a:rPr>
              <a:t>Avro is a row-oriented format common in Kafka-style streaming with schema evolution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Object storage model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Object storage systems</a:t>
            </a:r>
          </a:p>
          <a:p>
            <a:pPr lvl="0" marL="457200" indent="-228600">
              <a:buFont typeface="Calibri"/>
              <a:spcAft>
                <a:spcPts val="1000"/>
              </a:spcAft>
              <a:buSzPct val="100000"/>
              <a:buChar char="•"/>
              <a:lnSpc>
                <a:spcPts val="2200"/>
              </a:lnSpc>
            </a:pPr>
            <a:r>
              <a:rPr sz="2000" b="0">
                <a:solidFill>
                  <a:srgbClr val="333333"/>
                </a:solidFill>
                <a:latin typeface="Calibri"/>
              </a:rPr>
              <a:t>This model is highly scalable and suitable for unstructured data such as videos, images</a:t>
            </a:r>
          </a:p>
          <a:p>
            <a:pPr lvl="0" marL="457200" indent="-228600">
              <a:buFont typeface="Calibri"/>
              <a:spcAft>
                <a:spcPts val="1000"/>
              </a:spcAft>
              <a:buSzPct val="100000"/>
              <a:buChar char="•"/>
              <a:lnSpc>
                <a:spcPts val="2200"/>
              </a:lnSpc>
            </a:pPr>
            <a:r>
              <a:rPr sz="2000" b="0">
                <a:solidFill>
                  <a:srgbClr val="333333"/>
                </a:solidFill>
                <a:latin typeface="Calibri"/>
              </a:rPr>
              <a:t>Object storage is optimized for large-scale archiving and retrieval over an HTTP-style API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12.5 — Object Storage for Unstructured Archives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12.5 places object storage in large unstructured workloads</a:t>
            </a:r>
          </a:p>
          <a:p>
            <a:pPr lvl="0" marL="457200" indent="-228600">
              <a:buFont typeface="Calibri"/>
              <a:spcAft>
                <a:spcPts val="1000"/>
              </a:spcAft>
              <a:buSzPct val="100000"/>
              <a:buChar char="•"/>
              <a:lnSpc>
                <a:spcPts val="2200"/>
              </a:lnSpc>
            </a:pPr>
            <a:r>
              <a:rPr sz="2000" b="0">
                <a:solidFill>
                  <a:srgbClr val="333333"/>
                </a:solidFill>
                <a:latin typeface="Calibri"/>
              </a:rPr>
              <a:t>Lakehouse files that grow without block-device provisioning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Block storage and Example 12.6</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12.6 — hands-on module</a:t>
            </a:r>
          </a:p>
          <a:p>
            <a:pPr lvl="0" marL="457200" indent="-228600">
              <a:buFont typeface="Calibri"/>
              <a:spcAft>
                <a:spcPts val="1000"/>
              </a:spcAft>
              <a:buSzPct val="100000"/>
              <a:buChar char="•"/>
              <a:lnSpc>
                <a:spcPts val="2200"/>
              </a:lnSpc>
            </a:pPr>
            <a:r>
              <a:rPr sz="2000" b="0">
                <a:solidFill>
                  <a:srgbClr val="333333"/>
                </a:solidFill>
                <a:latin typeface="Calibri"/>
              </a:rPr>
              <a:t>Block storage divides data into blocks and provides low-latency access</a:t>
            </a:r>
          </a:p>
          <a:p>
            <a:pPr lvl="0" marL="457200" indent="-228600">
              <a:buFont typeface="Calibri"/>
              <a:spcAft>
                <a:spcPts val="1000"/>
              </a:spcAft>
              <a:buSzPct val="100000"/>
              <a:buChar char="•"/>
              <a:lnSpc>
                <a:spcPts val="2200"/>
              </a:lnSpc>
            </a:pPr>
            <a:r>
              <a:rPr sz="2000" b="0">
                <a:solidFill>
                  <a:srgbClr val="333333"/>
                </a:solidFill>
                <a:latin typeface="Calibri"/>
              </a:rPr>
              <a:t>It is ideal for transactional systems that need fast reads and writes</a:t>
            </a:r>
          </a:p>
          <a:p>
            <a:pPr lvl="0" marL="457200" indent="-228600">
              <a:buFont typeface="Calibri"/>
              <a:spcAft>
                <a:spcPts val="1000"/>
              </a:spcAft>
              <a:buSzPct val="100000"/>
              <a:buChar char="•"/>
              <a:lnSpc>
                <a:spcPts val="2200"/>
              </a:lnSpc>
            </a:pPr>
            <a:r>
              <a:rPr sz="2000" b="0">
                <a:solidFill>
                  <a:srgbClr val="333333"/>
                </a:solidFill>
                <a:latin typeface="Calibri"/>
              </a:rPr>
              <a:t>Example 12.6 shows block volumes attaching low-latency disks to virtual machines running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Putting formats and media together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practice, teams place lakehouse files, media</a:t>
            </a:r>
          </a:p>
          <a:p>
            <a:pPr lvl="0" marL="457200" indent="-228600">
              <a:buFont typeface="Calibri"/>
              <a:spcAft>
                <a:spcPts val="1000"/>
              </a:spcAft>
              <a:buSzPct val="100000"/>
              <a:buChar char="•"/>
              <a:lnSpc>
                <a:spcPts val="2200"/>
              </a:lnSpc>
            </a:pPr>
            <a:r>
              <a:rPr sz="2000" b="0">
                <a:solidFill>
                  <a:srgbClr val="333333"/>
                </a:solidFill>
                <a:latin typeface="Calibri"/>
              </a:rPr>
              <a:t>Columnar formats such as Parquet and ORC sit on object stores for analytics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Parquet favors columnar analytics with selective column reads</a:t>
            </a:r>
          </a:p>
          <a:p>
            <a:pPr lvl="0" marL="457200" indent="-228600">
              <a:buFont typeface="Calibri"/>
              <a:spcAft>
                <a:spcPts val="1000"/>
              </a:spcAft>
              <a:buSzPct val="100000"/>
              <a:buChar char="•"/>
              <a:lnSpc>
                <a:spcPts val="2200"/>
              </a:lnSpc>
            </a:pPr>
            <a:r>
              <a:rPr sz="2000" b="0">
                <a:solidFill>
                  <a:srgbClr val="333333"/>
                </a:solidFill>
                <a:latin typeface="Calibri"/>
              </a:rPr>
              <a:t>Avro fits streaming with schema evolution; ORC fits read-heavy Hive warehouses</a:t>
            </a:r>
          </a:p>
          <a:p>
            <a:pPr lvl="0" marL="457200" indent="-228600">
              <a:buFont typeface="Calibri"/>
              <a:spcAft>
                <a:spcPts val="1000"/>
              </a:spcAft>
              <a:buSzPct val="100000"/>
              <a:buChar char="•"/>
              <a:lnSpc>
                <a:spcPts val="2200"/>
              </a:lnSpc>
            </a:pPr>
            <a:r>
              <a:rPr sz="2000" b="0">
                <a:solidFill>
                  <a:srgbClr val="333333"/>
                </a:solidFill>
                <a:latin typeface="Calibri"/>
              </a:rPr>
              <a:t>Object storage scales unstructured archives and lakehouse files</a:t>
            </a:r>
          </a:p>
          <a:p>
            <a:pPr lvl="0" marL="457200" indent="-228600">
              <a:buFont typeface="Calibri"/>
              <a:spcAft>
                <a:spcPts val="1000"/>
              </a:spcAft>
              <a:buSzPct val="100000"/>
              <a:buChar char="•"/>
              <a:lnSpc>
                <a:spcPts val="2200"/>
              </a:lnSpc>
            </a:pPr>
            <a:r>
              <a:rPr sz="2000" b="0">
                <a:solidFill>
                  <a:srgbClr val="333333"/>
                </a:solidFill>
                <a:latin typeface="Calibri"/>
              </a:rPr>
              <a:t>Format and media choices should follow query and latency needs, not a single default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introduces distributed systems characteristics and concrete examples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Formats And Storage Types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