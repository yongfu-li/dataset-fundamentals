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Distribution introduces trade-offs among consistency, availability, and partition tolerance. This part covers the CAP theorem, sharding and replication patterns, and when strong versus eventual consistency is appropriate.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learners should be able to state the CAP theorem and why partitions force a consistency-versus-availability choice; explain sharding and replication for scale and fault tolerance; contrast strong and eventual consistency with Examples 12.11 and 12.13; and relate those choices to workload cost of stale reads versus temporary unavailability.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CAP theorem states that a distributed system cannot guarantee consistency, availability, and partition tolerance simultaneously. Consistency means every read returns the most recent write. Availability means every request receives a response even if some nodes are down. Partition tolerance means the system continues when the network splits nodes apart.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Because partitions are unavoidable in real networks, practical datastores sit on a partition-tolerant edge and choose either consistency or availability when a partition occurs. Under partition, CP systems may reject writes until replicas agree, whereas AP systems accept traffic and reconcile later. The choice depends on whether stale reads or temporary unavailability is more costly for the workload.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 sharding partitions data across servers to improve scalability, fault tolerance, and performance. Example 12.10 shows a common sharding key choice: customer tables are often sharded by geography or customer ID so each node owns a slice of keys and write load spreads across the cluster. The example 10 module for this chapter summarizes that keying pattern. Replication duplicates data across nodes or data centers so another replica can take over if one node fails.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Strong consistency guarantees that any read returns the most recent write regardless of which replica is accessed. Example 12.11 requires that guarantee for balances: in payments and ledger systems, strong consistency is preferred so concurrent transfers cannot leave accounts in conflicting states visible to different clients. The example 11 module for this chapter covers that ledger case.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Eventual consistency sacrifices immediate agreement for availability and partition tolerance: writes propagate to other nodes, but nodes may temporarily disagree. Example 12.13 lists stores that favor availability under partition. Amazon DynamoDB and Apache Cassandra commonly emphasize availability and partition tolerance with eventual consistency tunable by client read and write quorums. The example 13 module for this chapter frames that availability-first pattern.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many web and social applications, temporary discrepancies are acceptable and eventual consistency is a useful trade-off. E-commerce platforms, content delivery networks, and social media often favor availability and throughput. Conversely, sensitive financial or health-related data often require strong consistency to prevent critical errors. Design hinges on application needs and the consistency, availability, and scalability trade-offs already surveyed.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 says partitions force a choice between consistency and availability in practice. Sharding spreads keys; replication preserves availability after failures. Strong consistency fits ledgers and similar integrity-critical work; eventual consistency fits availability-first web and social stores. Match the model to whether stale reads or downtime hurts more.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next part shifts from storage mechanics to dataset versioning at platform scale: DVC remotes on object storage, Pachyderm partition recompute, Delta Lake time travel, and Iceberg snapshots—distinct from Chapter 8 team-scale Git workflows.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Chapter 12 — CAP, sharding, and consistency</a:t>
            </a:r>
          </a:p>
          <a:p>
            <a:pPr algn="ctr">
              <a:lnSpc>
                <a:spcPts val="2200"/>
              </a:lnSpc>
              <a:spcBef>
                <a:spcPts val="1400"/>
              </a:spcBef>
            </a:pPr>
            <a:r>
              <a:rPr sz="2600" b="0">
                <a:solidFill>
                  <a:srgbClr val="333333"/>
                </a:solidFill>
                <a:latin typeface="Calibri"/>
              </a:rPr>
              <a:t>Distribution introduces trade-offs among consistency, availability, and partition tolerance</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Cap Sharding Consistency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By the end of this part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Cap Sharding Consistency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The CAP theorem</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Partition tolerance simultaneously</a:t>
            </a:r>
          </a:p>
          <a:p>
            <a:pPr lvl="0" marL="457200" indent="-228600">
              <a:buFont typeface="Calibri"/>
              <a:spcAft>
                <a:spcPts val="1000"/>
              </a:spcAft>
              <a:buSzPct val="100000"/>
              <a:buChar char="•"/>
              <a:lnSpc>
                <a:spcPts val="2200"/>
              </a:lnSpc>
            </a:pPr>
            <a:r>
              <a:rPr sz="2000" b="0">
                <a:solidFill>
                  <a:srgbClr val="333333"/>
                </a:solidFill>
                <a:latin typeface="Calibri"/>
              </a:rPr>
              <a:t>Consistency means every read returns the most recent write</a:t>
            </a:r>
          </a:p>
          <a:p>
            <a:pPr lvl="0" marL="457200" indent="-228600">
              <a:buFont typeface="Calibri"/>
              <a:spcAft>
                <a:spcPts val="1000"/>
              </a:spcAft>
              <a:buSzPct val="100000"/>
              <a:buChar char="•"/>
              <a:lnSpc>
                <a:spcPts val="2200"/>
              </a:lnSpc>
            </a:pPr>
            <a:r>
              <a:rPr sz="2000" b="0">
                <a:solidFill>
                  <a:srgbClr val="333333"/>
                </a:solidFill>
                <a:latin typeface="Calibri"/>
              </a:rPr>
              <a:t>Availability means every request receives a response even if some nodes are down</a:t>
            </a:r>
          </a:p>
          <a:p>
            <a:pPr lvl="0" marL="457200" indent="-228600">
              <a:buFont typeface="Calibri"/>
              <a:spcAft>
                <a:spcPts val="1000"/>
              </a:spcAft>
              <a:buSzPct val="100000"/>
              <a:buChar char="•"/>
              <a:lnSpc>
                <a:spcPts val="2200"/>
              </a:lnSpc>
            </a:pPr>
            <a:r>
              <a:rPr sz="2000" b="0">
                <a:solidFill>
                  <a:srgbClr val="333333"/>
                </a:solidFill>
                <a:latin typeface="Calibri"/>
              </a:rPr>
              <a:t>Partition tolerance means the system continues when the network splits nodes apart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Cap Sharding Consistency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CP versus AP under partition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Because partitions are unavoidable in real networks</a:t>
            </a:r>
          </a:p>
          <a:p>
            <a:pPr lvl="0" marL="457200" indent="-228600">
              <a:buFont typeface="Calibri"/>
              <a:spcAft>
                <a:spcPts val="1000"/>
              </a:spcAft>
              <a:buSzPct val="100000"/>
              <a:buChar char="•"/>
              <a:lnSpc>
                <a:spcPts val="2200"/>
              </a:lnSpc>
            </a:pPr>
            <a:r>
              <a:rPr sz="2000" b="0">
                <a:solidFill>
                  <a:srgbClr val="333333"/>
                </a:solidFill>
                <a:latin typeface="Calibri"/>
              </a:rPr>
              <a:t>Under partition</a:t>
            </a:r>
          </a:p>
          <a:p>
            <a:pPr lvl="0" marL="457200" indent="-228600">
              <a:buFont typeface="Calibri"/>
              <a:spcAft>
                <a:spcPts val="1000"/>
              </a:spcAft>
              <a:buSzPct val="100000"/>
              <a:buChar char="•"/>
              <a:lnSpc>
                <a:spcPts val="2200"/>
              </a:lnSpc>
            </a:pPr>
            <a:r>
              <a:rPr sz="2000" b="0">
                <a:solidFill>
                  <a:srgbClr val="333333"/>
                </a:solidFill>
                <a:latin typeface="Calibri"/>
              </a:rPr>
              <a:t>The choice depends on whether stale reads or temporary unavailability is more costly for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Cap Sharding Consistency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Sharding and Example 12.10</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12.10 — hands-on module</a:t>
            </a:r>
          </a:p>
          <a:p>
            <a:pPr lvl="0" marL="457200" indent="-228600">
              <a:buFont typeface="Calibri"/>
              <a:spcAft>
                <a:spcPts val="1000"/>
              </a:spcAft>
              <a:buSzPct val="100000"/>
              <a:buChar char="•"/>
              <a:lnSpc>
                <a:spcPts val="2200"/>
              </a:lnSpc>
            </a:pPr>
            <a:r>
              <a:rPr sz="2000" b="0">
                <a:solidFill>
                  <a:srgbClr val="333333"/>
                </a:solidFill>
                <a:latin typeface="Calibri"/>
              </a:rPr>
              <a:t>Data sharding partitions data across servers to improve scalability, fault tolerance</a:t>
            </a:r>
          </a:p>
          <a:p>
            <a:pPr lvl="0" marL="457200" indent="-228600">
              <a:buFont typeface="Calibri"/>
              <a:spcAft>
                <a:spcPts val="1000"/>
              </a:spcAft>
              <a:buSzPct val="100000"/>
              <a:buChar char="•"/>
              <a:lnSpc>
                <a:spcPts val="2200"/>
              </a:lnSpc>
            </a:pPr>
            <a:r>
              <a:rPr sz="2000" b="0">
                <a:solidFill>
                  <a:srgbClr val="333333"/>
                </a:solidFill>
                <a:latin typeface="Calibri"/>
              </a:rPr>
              <a:t>Example 12.10 shows a common sharding key choice</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`modules/chapter12/example10/`</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Cap Sharding Consistency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12.10 — listing</a:t>
            </a:r>
          </a:p>
        </p:txBody>
      </p:sp>
      <p:sp>
        <p:nvSpPr>
          <p:cNvPr id="3" name="TextBox 2"/>
          <p:cNvSpPr txBox="1"/>
          <p:nvPr/>
        </p:nvSpPr>
        <p:spPr>
          <a:xfrm>
            <a:off x="548640" y="1143000"/>
            <a:ext cx="11064240" cy="5029200"/>
          </a:xfrm>
          <a:prstGeom prst="rect">
            <a:avLst/>
          </a:prstGeom>
          <a:solidFill>
            <a:srgbClr val="F4F4F4"/>
          </a:solidFill>
        </p:spPr>
        <p:txBody>
          <a:bodyPr wrap="square">
            <a:noAutofit/>
          </a:bodyPr>
          <a:lstStyle/>
          <a:p>
            <a:pPr>
              <a:lnSpc>
                <a:spcPts val="2200"/>
              </a:lnSpc>
              <a:spcAft>
                <a:spcPts val="400"/>
              </a:spcAft>
            </a:pPr>
            <a:r>
              <a:rPr sz="2000" b="0">
                <a:solidFill>
                  <a:srgbClr val="333333"/>
                </a:solidFill>
                <a:latin typeface="Consolas"/>
              </a:rPr>
              <a:t>"""Example 12.10 — shard customer keys by geography or customer ID."""</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from __future__ import annotations</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import hashlib</a:t>
            </a:r>
          </a:p>
          <a:p>
            <a:pPr>
              <a:lnSpc>
                <a:spcPts val="2200"/>
              </a:lnSpc>
              <a:spcAft>
                <a:spcPts val="400"/>
              </a:spcAft>
            </a:pPr>
            <a:r>
              <a:rPr sz="2000" b="0">
                <a:solidFill>
                  <a:srgbClr val="333333"/>
                </a:solidFill>
                <a:latin typeface="Consolas"/>
              </a:rPr>
              <a:t>from collections import Counter</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def shard_for_customer(customer_id: str, n_shards: int) -&gt; int:</a:t>
            </a:r>
          </a:p>
          <a:p>
            <a:pPr>
              <a:lnSpc>
                <a:spcPts val="2200"/>
              </a:lnSpc>
              <a:spcAft>
                <a:spcPts val="400"/>
              </a:spcAft>
            </a:pPr>
            <a:r>
              <a:rPr sz="2000" b="0">
                <a:solidFill>
                  <a:srgbClr val="333333"/>
                </a:solidFill>
                <a:latin typeface="Consolas"/>
              </a:rPr>
              <a:t>    """Return a stable shard index for a customer ID."""</a:t>
            </a:r>
          </a:p>
          <a:p>
            <a:pPr>
              <a:lnSpc>
                <a:spcPts val="2200"/>
              </a:lnSpc>
              <a:spcAft>
                <a:spcPts val="400"/>
              </a:spcAft>
            </a:pPr>
            <a:r>
              <a:rPr sz="2000" b="0">
                <a:solidFill>
                  <a:srgbClr val="333333"/>
                </a:solidFill>
                <a:latin typeface="Consolas"/>
              </a:rPr>
              <a:t>    digest = hashlib.md5(customer_id.encode("utf-8")).hexdigest()</a:t>
            </a:r>
          </a:p>
          <a:p>
            <a:pPr>
              <a:lnSpc>
                <a:spcPts val="2200"/>
              </a:lnSpc>
              <a:spcAft>
                <a:spcPts val="400"/>
              </a:spcAft>
            </a:pPr>
            <a:r>
              <a:rPr sz="2000" b="0">
                <a:solidFill>
                  <a:srgbClr val="333333"/>
                </a:solidFill>
                <a:latin typeface="Consolas"/>
              </a:rPr>
              <a:t>    return int(digest, 16) % n_shards</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
            </a:r>
          </a:p>
          <a:p>
            <a:pPr>
              <a:lnSpc>
                <a:spcPts val="2200"/>
              </a:lnSpc>
              <a:spcAft>
                <a:spcPts val="400"/>
              </a:spcAft>
            </a:pPr>
            <a:r>
              <a:rPr sz="2000" b="0">
                <a:solidFill>
                  <a:srgbClr val="333333"/>
                </a:solidFill>
                <a:latin typeface="Consolas"/>
              </a:rPr>
              <a:t>def main() -&gt; None:</a:t>
            </a:r>
          </a:p>
          <a:p>
            <a:pPr>
              <a:lnSpc>
                <a:spcPts val="2200"/>
              </a:lnSpc>
              <a:spcAft>
                <a:spcPts val="400"/>
              </a:spcAft>
            </a:pPr>
            <a:r>
              <a:rPr sz="2000" b="0">
                <a:solidFill>
                  <a:srgbClr val="333333"/>
                </a:solidFill>
                <a:latin typeface="Consolas"/>
              </a:rPr>
              <a:t>    """Show ID hashing and region mapping as two common sharding</a:t>
            </a:r>
          </a:p>
          <a:p>
            <a:pPr>
              <a:lnSpc>
                <a:spcPts val="2200"/>
              </a:lnSpc>
              <a:spcAft>
                <a:spcPts val="400"/>
              </a:spcAft>
            </a:pPr>
            <a:r>
              <a:rPr sz="2000" b="0">
                <a:solidFill>
                  <a:srgbClr val="333333"/>
                </a:solidFill>
                <a:latin typeface="Consolas"/>
              </a:rPr>
              <a:t>keys."""</a:t>
            </a:r>
          </a:p>
          <a:p>
            <a:pPr>
              <a:lnSpc>
                <a:spcPts val="2200"/>
              </a:lnSpc>
              <a:spcAft>
                <a:spcPts val="400"/>
              </a:spcAft>
            </a:pPr>
            <a:r>
              <a:rPr sz="2000" b="0">
                <a:solidFill>
                  <a:srgbClr val="333333"/>
                </a:solidFill>
                <a:latin typeface="Consolas"/>
              </a:rPr>
              <a:t># ...</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Cap Sharding Consistency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12.11 — Strong Consistency in Financial Ledgers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12.11 — hands-on module</a:t>
            </a:r>
          </a:p>
          <a:p>
            <a:pPr lvl="0" marL="457200" indent="-228600">
              <a:buFont typeface="Calibri"/>
              <a:spcAft>
                <a:spcPts val="1000"/>
              </a:spcAft>
              <a:buSzPct val="100000"/>
              <a:buChar char="•"/>
              <a:lnSpc>
                <a:spcPts val="2200"/>
              </a:lnSpc>
            </a:pPr>
            <a:r>
              <a:rPr sz="2000" b="0">
                <a:solidFill>
                  <a:srgbClr val="333333"/>
                </a:solidFill>
                <a:latin typeface="Calibri"/>
              </a:rPr>
              <a:t>Strong consistency guarantees that any read returns the most recent write regardless of</a:t>
            </a:r>
          </a:p>
          <a:p>
            <a:pPr lvl="0" marL="457200" indent="-228600">
              <a:buFont typeface="Calibri"/>
              <a:spcAft>
                <a:spcPts val="1000"/>
              </a:spcAft>
              <a:buSzPct val="100000"/>
              <a:buChar char="•"/>
              <a:lnSpc>
                <a:spcPts val="2200"/>
              </a:lnSpc>
            </a:pPr>
            <a:r>
              <a:rPr sz="2000" b="0">
                <a:solidFill>
                  <a:srgbClr val="333333"/>
                </a:solidFill>
                <a:latin typeface="Calibri"/>
              </a:rPr>
              <a:t>Example 12.11 requires that guarantee for balances</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`modules/chapter12/example11/`</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Cap Sharding Consistency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12.13 — Eventual Consistency in DynamoDB and Cassandra</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12.13 — hands-on module</a:t>
            </a:r>
          </a:p>
          <a:p>
            <a:pPr lvl="0" marL="457200" indent="-228600">
              <a:buFont typeface="Calibri"/>
              <a:spcAft>
                <a:spcPts val="1000"/>
              </a:spcAft>
              <a:buSzPct val="100000"/>
              <a:buChar char="•"/>
              <a:lnSpc>
                <a:spcPts val="2200"/>
              </a:lnSpc>
            </a:pPr>
            <a:r>
              <a:rPr sz="2000" b="0">
                <a:solidFill>
                  <a:srgbClr val="333333"/>
                </a:solidFill>
                <a:latin typeface="Calibri"/>
              </a:rPr>
              <a:t>Writes propagate to other nodes, but nodes may temporarily disagree</a:t>
            </a:r>
          </a:p>
          <a:p>
            <a:pPr lvl="0" marL="457200" indent="-228600">
              <a:buFont typeface="Calibri"/>
              <a:spcAft>
                <a:spcPts val="1000"/>
              </a:spcAft>
              <a:buSzPct val="100000"/>
              <a:buChar char="•"/>
              <a:lnSpc>
                <a:spcPts val="2200"/>
              </a:lnSpc>
            </a:pPr>
            <a:r>
              <a:rPr sz="2000" b="0">
                <a:solidFill>
                  <a:srgbClr val="333333"/>
                </a:solidFill>
                <a:latin typeface="Calibri"/>
              </a:rPr>
              <a:t>Example 12.13 lists stores that favor availability under partition</a:t>
            </a:r>
          </a:p>
          <a:p>
            <a:pPr lvl="0" marL="457200" indent="-228600">
              <a:buFont typeface="Calibri"/>
              <a:spcAft>
                <a:spcPts val="1000"/>
              </a:spcAft>
              <a:buSzPct val="100000"/>
              <a:buChar char="•"/>
              <a:lnSpc>
                <a:spcPts val="2200"/>
              </a:lnSpc>
            </a:pPr>
            <a:r>
              <a:rPr sz="2000" b="0">
                <a:solidFill>
                  <a:srgbClr val="333333"/>
                </a:solidFill>
                <a:latin typeface="Calibri"/>
              </a:rPr>
              <a:t>Amazon DynamoDB and Apache Cassandra commonly emphasize availability and partition</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`modules/chapter12/example13/`</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Cap Sharding Consistency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Choosing a consistency model</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For many web and social applications</a:t>
            </a:r>
          </a:p>
          <a:p>
            <a:pPr lvl="0" marL="457200" indent="-228600">
              <a:buFont typeface="Calibri"/>
              <a:spcAft>
                <a:spcPts val="1000"/>
              </a:spcAft>
              <a:buSzPct val="100000"/>
              <a:buChar char="•"/>
              <a:lnSpc>
                <a:spcPts val="2200"/>
              </a:lnSpc>
            </a:pPr>
            <a:r>
              <a:rPr sz="2000" b="0">
                <a:solidFill>
                  <a:srgbClr val="333333"/>
                </a:solidFill>
                <a:latin typeface="Calibri"/>
              </a:rPr>
              <a:t>E-commerce platforms, content delivery networks</a:t>
            </a:r>
          </a:p>
          <a:p>
            <a:pPr lvl="0" marL="457200" indent="-228600">
              <a:buFont typeface="Calibri"/>
              <a:spcAft>
                <a:spcPts val="1000"/>
              </a:spcAft>
              <a:buSzPct val="100000"/>
              <a:buChar char="•"/>
              <a:lnSpc>
                <a:spcPts val="2200"/>
              </a:lnSpc>
            </a:pPr>
            <a:r>
              <a:rPr sz="2000" b="0">
                <a:solidFill>
                  <a:srgbClr val="333333"/>
                </a:solidFill>
                <a:latin typeface="Calibri"/>
              </a:rPr>
              <a:t>Conversely, sensitive financial or health-related data often require strong consistency to</a:t>
            </a:r>
          </a:p>
          <a:p>
            <a:pPr lvl="0" marL="457200" indent="-228600">
              <a:buFont typeface="Calibri"/>
              <a:spcAft>
                <a:spcPts val="1000"/>
              </a:spcAft>
              <a:buSzPct val="100000"/>
              <a:buChar char="•"/>
              <a:lnSpc>
                <a:spcPts val="2200"/>
              </a:lnSpc>
            </a:pPr>
            <a:r>
              <a:rPr sz="2000" b="0">
                <a:solidFill>
                  <a:srgbClr val="333333"/>
                </a:solidFill>
                <a:latin typeface="Calibri"/>
              </a:rPr>
              <a:t>Design hinges on application needs and the consistency, availability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Cap Sharding Consistency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CAP says partitions force a choice between consistency and availability in practice</a:t>
            </a:r>
          </a:p>
          <a:p>
            <a:pPr lvl="0" marL="457200" indent="-228600">
              <a:buFont typeface="Calibri"/>
              <a:spcAft>
                <a:spcPts val="1000"/>
              </a:spcAft>
              <a:buSzPct val="100000"/>
              <a:buChar char="•"/>
              <a:lnSpc>
                <a:spcPts val="2200"/>
              </a:lnSpc>
            </a:pPr>
            <a:r>
              <a:rPr sz="2000" b="0">
                <a:solidFill>
                  <a:srgbClr val="333333"/>
                </a:solidFill>
                <a:latin typeface="Calibri"/>
              </a:rPr>
              <a:t>Sharding spreads keys; replication preserves availability after failures</a:t>
            </a:r>
          </a:p>
          <a:p>
            <a:pPr lvl="0" marL="457200" indent="-228600">
              <a:buFont typeface="Calibri"/>
              <a:spcAft>
                <a:spcPts val="1000"/>
              </a:spcAft>
              <a:buSzPct val="100000"/>
              <a:buChar char="•"/>
              <a:lnSpc>
                <a:spcPts val="2200"/>
              </a:lnSpc>
            </a:pPr>
            <a:r>
              <a:rPr sz="2000" b="0">
                <a:solidFill>
                  <a:srgbClr val="333333"/>
                </a:solidFill>
                <a:latin typeface="Calibri"/>
              </a:rPr>
              <a:t>Strong consistency fits ledgers and similar integrity-critical work</a:t>
            </a:r>
          </a:p>
          <a:p>
            <a:pPr lvl="0" marL="457200" indent="-228600">
              <a:buFont typeface="Calibri"/>
              <a:spcAft>
                <a:spcPts val="1000"/>
              </a:spcAft>
              <a:buSzPct val="100000"/>
              <a:buChar char="•"/>
              <a:lnSpc>
                <a:spcPts val="2200"/>
              </a:lnSpc>
            </a:pPr>
            <a:r>
              <a:rPr sz="2000" b="0">
                <a:solidFill>
                  <a:srgbClr val="333333"/>
                </a:solidFill>
                <a:latin typeface="Calibri"/>
              </a:rPr>
              <a:t>Match the model to whether stale reads or downtime hurts more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Cap Sharding Consistency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quiz for this part</a:t>
            </a:r>
          </a:p>
          <a:p>
            <a:pPr lvl="0" marL="457200" indent="-228600">
              <a:buFont typeface="Calibri"/>
              <a:spcAft>
                <a:spcPts val="1000"/>
              </a:spcAft>
              <a:buSzPct val="100000"/>
              <a:buChar char="•"/>
              <a:lnSpc>
                <a:spcPts val="2200"/>
              </a:lnSpc>
            </a:pPr>
            <a:r>
              <a:rPr sz="2000" b="0">
                <a:solidFill>
                  <a:srgbClr val="333333"/>
                </a:solidFill>
                <a:latin typeface="Calibri"/>
              </a:rPr>
              <a:t>The next part shifts from storage mechanics to dataset versioning at platform scale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Cap Sharding Consistency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