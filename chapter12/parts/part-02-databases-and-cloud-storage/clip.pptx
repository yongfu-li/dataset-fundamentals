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Principles alone do not pick a store. Teams need concrete database and storage families for web, mobile, Internet of Things, and analytics workloads. This part surveys database types, NoSQL use cases, and cloud object storage across major providers.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contrast relational and NoSQL design trade-offs; recognize typical NoSQL fits for web, mobile, and Internet of Things streams; and map major cloud offerings for object storage and managed databases across Amazon Web Services, Google Cloud, and Azure.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large-scale data management, choosing the right database and storage solution is a primary design decision. The choice depends on use case, data type, and performance requirements. Broadly, systems fall into databases for structured and unstructured data and storage solutions for organizing and accessing that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Relational databases store data in tables with predefined schemas and enforce integrity through ACID properties: atomicity, consistency, isolation, and durability. They excel in transactional applications that need complex queries and strong consistency, such as financial systems, customer relationship management, and enterprise resource planning.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NoSQL stores such as MongoDB, Cassandra, and Redis favor scalability, flexible schemas, and speed for large, rapidly changing data. Models include key-value, document, and graph forms. They are designed to scale horizontally across machines and to handle high-velocity streams, large web applications, and big-data analytics.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12.1 lists typical NoSQL application patterns. NoSQL stores fit real-time social and messaging apps, semi-structured logs for analytics, and high-ingest Internet of Things streams where schemas evolve faster than relational tables allow. The example 1 module for this chapter summarizes those patterns.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comparison table contrasts data model, scaling, consistency, transactions, and best fit. SQL systems favor tables, often vertical scale first, strong consistency with ACID, and complex joins. NoSQL systems favor flexible models, horizontal scale-out, often eventual consistency, limited transactions, and high-volume semi-structured or rapidly changing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12.2 summarizes managed storage and database options from major clouds. Amazon Web Services pairs S3 object storage with RDS and DynamoDB; Google Cloud offers Cloud Storage, Cloud SQL, BigQuery, and Datastore; Azure offers Blob Storage, Azure SQL Database, and Cosmos DB for globally distributed NoSQL workloads. The example 2 module for this chapter frames that provider map.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Relational stores fit structured transactional work with strong consistency; NoSQL fits horizontal scale and flexible schemas. Web, mobile, and Internet of Things streams often prefer NoSQL when schemas evolve quickly. Major clouds package object storage with managed SQL and NoSQL services so teams reduce operational burden while scaling.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storage formats and media types: Parquet, Avro, and ORC for analytics and streams, then object versus block storage for archives and low-latency databases.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12 — Databases and cloud storage</a:t>
            </a:r>
          </a:p>
          <a:p>
            <a:pPr algn="ctr">
              <a:lnSpc>
                <a:spcPts val="2200"/>
              </a:lnSpc>
              <a:spcBef>
                <a:spcPts val="1400"/>
              </a:spcBef>
            </a:pPr>
            <a:r>
              <a:rPr sz="2600" b="0">
                <a:solidFill>
                  <a:srgbClr val="333333"/>
                </a:solidFill>
                <a:latin typeface="Calibri"/>
              </a:rPr>
              <a:t>Principles alone do not pick a store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Databases And Cloud Storage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Databases And Cloud Storage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databases and storage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 large-scale data management</a:t>
            </a:r>
          </a:p>
          <a:p>
            <a:pPr>
              <a:spcAft>
                <a:spcPts val="1000"/>
              </a:spcAft>
              <a:buChar char="•"/>
              <a:lnSpc>
                <a:spcPts val="2200"/>
              </a:lnSpc>
            </a:pPr>
            <a:r>
              <a:rPr sz="2000" b="0">
                <a:solidFill>
                  <a:srgbClr val="333333"/>
                </a:solidFill>
                <a:latin typeface="Calibri"/>
              </a:rPr>
              <a:t>The choice depends on use case, data type, and performance requirements</a:t>
            </a:r>
          </a:p>
          <a:p>
            <a:pPr>
              <a:spcAft>
                <a:spcPts val="1000"/>
              </a:spcAft>
              <a:buChar char="•"/>
              <a:lnSpc>
                <a:spcPts val="2200"/>
              </a:lnSpc>
            </a:pPr>
            <a:r>
              <a:rPr sz="2000" b="0">
                <a:solidFill>
                  <a:srgbClr val="333333"/>
                </a:solidFill>
                <a:latin typeface="Calibri"/>
              </a:rPr>
              <a:t>Broadly, systems fall into databases for structured and unstructured data and storage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Databases And Cloud Storage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Relational databases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Atomicity, consistency, isolation, and durability</a:t>
            </a:r>
          </a:p>
          <a:p>
            <a:pPr>
              <a:spcAft>
                <a:spcPts val="1000"/>
              </a:spcAft>
              <a:buChar char="•"/>
              <a:lnSpc>
                <a:spcPts val="2200"/>
              </a:lnSpc>
            </a:pPr>
            <a:r>
              <a:rPr sz="2000" b="0">
                <a:solidFill>
                  <a:srgbClr val="333333"/>
                </a:solidFill>
                <a:latin typeface="Calibri"/>
              </a:rPr>
              <a:t>Enterprise resource planning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Databases And Cloud Storage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NoSQL databases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NoSQL stores such as MongoDB, Cassandra</a:t>
            </a:r>
          </a:p>
          <a:p>
            <a:pPr>
              <a:spcAft>
                <a:spcPts val="1000"/>
              </a:spcAft>
              <a:buChar char="•"/>
              <a:lnSpc>
                <a:spcPts val="2200"/>
              </a:lnSpc>
            </a:pPr>
            <a:r>
              <a:rPr sz="2000" b="0">
                <a:solidFill>
                  <a:srgbClr val="333333"/>
                </a:solidFill>
                <a:latin typeface="Calibri"/>
              </a:rPr>
              <a:t>Models include key-value, document, and graph forms</a:t>
            </a:r>
          </a:p>
          <a:p>
            <a:pPr>
              <a:spcAft>
                <a:spcPts val="1000"/>
              </a:spcAft>
              <a:buChar char="•"/>
              <a:lnSpc>
                <a:spcPts val="2200"/>
              </a:lnSpc>
            </a:pPr>
            <a:r>
              <a:rPr sz="2000" b="0">
                <a:solidFill>
                  <a:srgbClr val="333333"/>
                </a:solidFill>
                <a:latin typeface="Calibri"/>
              </a:rPr>
              <a:t>Big-data analytics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Databases And Cloud Storage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 — NoSQL for Web Mobile and IoT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12.1 — hands-on module</a:t>
            </a:r>
          </a:p>
          <a:p>
            <a:pPr>
              <a:spcAft>
                <a:spcPts val="1000"/>
              </a:spcAft>
              <a:buChar char="•"/>
              <a:lnSpc>
                <a:spcPts val="2200"/>
              </a:lnSpc>
            </a:pPr>
            <a:r>
              <a:rPr sz="2000" b="0">
                <a:solidFill>
                  <a:srgbClr val="333333"/>
                </a:solidFill>
                <a:latin typeface="Calibri"/>
              </a:rPr>
              <a:t>Example 12.1 lists typical NoSQL application patterns</a:t>
            </a:r>
          </a:p>
          <a:p>
            <a:pPr>
              <a:spcAft>
                <a:spcPts val="1000"/>
              </a:spcAft>
              <a:buChar char="•"/>
              <a:lnSpc>
                <a:spcPts val="2200"/>
              </a:lnSpc>
            </a:pPr>
            <a:r>
              <a:rPr sz="2000" b="0">
                <a:solidFill>
                  <a:srgbClr val="333333"/>
                </a:solidFill>
                <a:latin typeface="Calibri"/>
              </a:rPr>
              <a:t>NoSQL stores fit real-time social and messaging apps, semi-structured logs for analytics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Databases And Cloud Storage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SQL versus NoSQL trade-offs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chapter comparison table contrasts data model, scaling, consistency, transactions</a:t>
            </a:r>
          </a:p>
          <a:p>
            <a:pPr>
              <a:spcAft>
                <a:spcPts val="1000"/>
              </a:spcAft>
              <a:buChar char="•"/>
              <a:lnSpc>
                <a:spcPts val="2200"/>
              </a:lnSpc>
            </a:pPr>
            <a:r>
              <a:rPr sz="2000" b="0">
                <a:solidFill>
                  <a:srgbClr val="333333"/>
                </a:solidFill>
                <a:latin typeface="Calibri"/>
              </a:rPr>
              <a:t>SQL systems favor tables, often vertical scale first, strong consistency with ACID</a:t>
            </a:r>
          </a:p>
          <a:p>
            <a:pPr>
              <a:spcAft>
                <a:spcPts val="1000"/>
              </a:spcAft>
              <a:buChar char="•"/>
              <a:lnSpc>
                <a:spcPts val="2200"/>
              </a:lnSpc>
            </a:pPr>
            <a:r>
              <a:rPr sz="2000" b="0">
                <a:solidFill>
                  <a:srgbClr val="333333"/>
                </a:solidFill>
                <a:latin typeface="Calibri"/>
              </a:rPr>
              <a:t>High-volume semi-structured or rapidly changing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Databases And Cloud Storage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 — Cloud Storage Across AWS GCP Azure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12.2 — hands-on module</a:t>
            </a:r>
          </a:p>
          <a:p>
            <a:pPr>
              <a:spcAft>
                <a:spcPts val="1000"/>
              </a:spcAft>
              <a:buChar char="•"/>
              <a:lnSpc>
                <a:spcPts val="2200"/>
              </a:lnSpc>
            </a:pPr>
            <a:r>
              <a:rPr sz="2000" b="0">
                <a:solidFill>
                  <a:srgbClr val="333333"/>
                </a:solidFill>
                <a:latin typeface="Calibri"/>
              </a:rPr>
              <a:t>Example 12.2 summarizes managed storage and database options from major clouds</a:t>
            </a:r>
          </a:p>
          <a:p>
            <a:pPr>
              <a:spcAft>
                <a:spcPts val="1000"/>
              </a:spcAft>
              <a:buChar char="•"/>
              <a:lnSpc>
                <a:spcPts val="2200"/>
              </a:lnSpc>
            </a:pPr>
            <a:r>
              <a:rPr sz="2000" b="0">
                <a:solidFill>
                  <a:srgbClr val="333333"/>
                </a:solidFill>
                <a:latin typeface="Calibri"/>
              </a:rPr>
              <a:t>Amazon Web Services pairs S3 object storage with RDS and DynamoDB</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Databases And Cloud Storage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Relational stores fit structured transactional work with strong consistency</a:t>
            </a:r>
          </a:p>
          <a:p>
            <a:pPr>
              <a:spcAft>
                <a:spcPts val="1000"/>
              </a:spcAft>
              <a:buChar char="•"/>
              <a:lnSpc>
                <a:spcPts val="2200"/>
              </a:lnSpc>
            </a:pPr>
            <a:r>
              <a:rPr sz="2000" b="0">
                <a:solidFill>
                  <a:srgbClr val="333333"/>
                </a:solidFill>
                <a:latin typeface="Calibri"/>
              </a:rPr>
              <a:t>Web, mobile, and Internet of Things streams often prefer NoSQL when schemas evolve quickly</a:t>
            </a:r>
          </a:p>
          <a:p>
            <a:pPr>
              <a:spcAft>
                <a:spcPts val="1000"/>
              </a:spcAft>
              <a:buChar char="•"/>
              <a:lnSpc>
                <a:spcPts val="2200"/>
              </a:lnSpc>
            </a:pPr>
            <a:r>
              <a:rPr sz="2000" b="0">
                <a:solidFill>
                  <a:srgbClr val="333333"/>
                </a:solidFill>
                <a:latin typeface="Calibri"/>
              </a:rPr>
              <a:t>Major clouds package object storage with managed SQL and NoSQL services so teams reduce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Databases And Cloud Storage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covers storage formats and media types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Databases And Cloud Storage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