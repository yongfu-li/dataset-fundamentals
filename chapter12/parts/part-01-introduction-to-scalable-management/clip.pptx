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9 through 11 covered advanced collection, synthetic companions, and annotation at scale. This chapter asks how organizations store, distribute, and operate datasets when volume and concurrency outgrow single-node workflows. This opening part defines scalable data management, its key principles, and the challenges that drive distributed designs.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scalable data management; explain elasticity, efficiency, and resilience as core principles; summarize storage, retrieval, performance, and cost challenges for large datasets; and name storage, query processing, and lineage as core platform components.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data management is the ability to handle growing volume, variety, and velocity of data while keeping performance, reliability, and cost under control. As datasets grow, systems must remain functional without sacrificing speed, accuracy, or cost. The goal is to design storage, processing, and retrieval that stay effective even as data grows exponentially.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Elasticity means the system can expand and contract resources depending on the workload. This is especially useful in cloud environments, where scaling resources on demand can reduce cost and improve performance. Elastic designs avoid permanently over-provisioning for peak 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Efficiency means optimizing storage, compute, and network bandwidth to minimize waste while providing fast responses. Resilience means remaining available and fault-tolerant as the system scales, including replication and redundancy so data stays accessible when components fail. Together with elasticity, these three principles frame later storage and consistency choices.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databases and file systems often struggle to store petabytes or exabytes efficiently. Distributed storage is needed so data is evenly placed, backed up, and retrievable for both structured and unstructured types. Retrieval also grows harder: query optimization and indexing methods that worked at smaller scale become inefficient and need more sophisticated algorithms.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must handle high request rates with low latency while scaling. Network latency and consistency become central concerns in cloud and distributed settings. Scaling also raises operational cost; cloud pricing is flexible, but teams must balance performance against cost through tiering and efficient formats for colder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storage spans machines and data centers, including distributed file systems and cloud object stores that aim for availability, durability, and fault tolerance. Query processing often uses parallel and distributed databases that split work across nodes and scale horizontally. Data lineage tracks origin, transforms, and use so pipelines stay auditable and debuggable; later parts develop lineage at platform scale.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data management keeps volume, variety, and velocity under control without abandoning performance or cost. Elasticity, efficiency, and resilience are the guiding principles. Storage, retrieval, performance, and cost challenges motivate distributed designs. Storage, query processing, and lineage form the core component stack this chapter develops.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database families and cloud storage: relational versus NoSQL trade-offs, and managed object and database services across major cloud providers.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Introduction to scalable data management</a:t>
            </a:r>
          </a:p>
          <a:p>
            <a:pPr algn="ctr">
              <a:lnSpc>
                <a:spcPts val="2200"/>
              </a:lnSpc>
              <a:spcBef>
                <a:spcPts val="1400"/>
              </a:spcBef>
            </a:pPr>
            <a:r>
              <a:rPr sz="2600" b="0">
                <a:solidFill>
                  <a:srgbClr val="333333"/>
                </a:solidFill>
                <a:latin typeface="Calibri"/>
              </a:rPr>
              <a:t>Chapters 9 through 11 covered advanced collection, synthetic companions, and annotation at scale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define scalable data management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scalable data management means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Scalable data management is the ability to handle growing volume, variety</a:t>
            </a:r>
          </a:p>
          <a:p>
            <a:pPr lvl="0" marL="457200" indent="-228600">
              <a:buFont typeface="Calibri"/>
              <a:spcAft>
                <a:spcPts val="1000"/>
              </a:spcAft>
              <a:buSzPct val="100000"/>
              <a:buChar char="•"/>
              <a:lnSpc>
                <a:spcPts val="2200"/>
              </a:lnSpc>
            </a:pPr>
            <a:r>
              <a:rPr sz="2000" b="0">
                <a:solidFill>
                  <a:srgbClr val="333333"/>
                </a:solidFill>
                <a:latin typeface="Calibri"/>
              </a:rPr>
              <a:t>As datasets grow</a:t>
            </a:r>
          </a:p>
          <a:p>
            <a:pPr lvl="0" marL="457200" indent="-228600">
              <a:buFont typeface="Calibri"/>
              <a:spcAft>
                <a:spcPts val="1000"/>
              </a:spcAft>
              <a:buSzPct val="100000"/>
              <a:buChar char="•"/>
              <a:lnSpc>
                <a:spcPts val="2200"/>
              </a:lnSpc>
            </a:pPr>
            <a:r>
              <a:rPr sz="2000" b="0">
                <a:solidFill>
                  <a:srgbClr val="333333"/>
                </a:solidFill>
                <a:latin typeface="Calibri"/>
              </a:rPr>
              <a:t>The goal is to design storage, processing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Principle: elasticity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Elasticity means the system can expand and contract resources depending on the workload</a:t>
            </a:r>
          </a:p>
          <a:p>
            <a:pPr lvl="0" marL="457200" indent="-228600">
              <a:buFont typeface="Calibri"/>
              <a:spcAft>
                <a:spcPts val="1000"/>
              </a:spcAft>
              <a:buSzPct val="100000"/>
              <a:buChar char="•"/>
              <a:lnSpc>
                <a:spcPts val="2200"/>
              </a:lnSpc>
            </a:pPr>
            <a:r>
              <a:rPr sz="2000" b="0">
                <a:solidFill>
                  <a:srgbClr val="333333"/>
                </a:solidFill>
                <a:latin typeface="Calibri"/>
              </a:rPr>
              <a:t>This is especially useful in cloud environments</a:t>
            </a:r>
          </a:p>
          <a:p>
            <a:pPr lvl="0" marL="457200" indent="-228600">
              <a:buFont typeface="Calibri"/>
              <a:spcAft>
                <a:spcPts val="1000"/>
              </a:spcAft>
              <a:buSzPct val="100000"/>
              <a:buChar char="•"/>
              <a:lnSpc>
                <a:spcPts val="2200"/>
              </a:lnSpc>
            </a:pPr>
            <a:r>
              <a:rPr sz="2000" b="0">
                <a:solidFill>
                  <a:srgbClr val="333333"/>
                </a:solidFill>
                <a:latin typeface="Calibri"/>
              </a:rPr>
              <a:t>Elastic designs avoid permanently over-provisioning for peak load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Principles: efficiency and resilience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Efficiency means optimizing storage, compute</a:t>
            </a:r>
          </a:p>
          <a:p>
            <a:pPr lvl="0" marL="457200" indent="-228600">
              <a:buFont typeface="Calibri"/>
              <a:spcAft>
                <a:spcPts val="1000"/>
              </a:spcAft>
              <a:buSzPct val="100000"/>
              <a:buChar char="•"/>
              <a:lnSpc>
                <a:spcPts val="2200"/>
              </a:lnSpc>
            </a:pPr>
            <a:r>
              <a:rPr sz="2000" b="0">
                <a:solidFill>
                  <a:srgbClr val="333333"/>
                </a:solidFill>
                <a:latin typeface="Calibri"/>
              </a:rPr>
              <a:t>Resilience means remaining available and fault-tolerant as the system scales</a:t>
            </a:r>
          </a:p>
          <a:p>
            <a:pPr lvl="0" marL="457200" indent="-228600">
              <a:buFont typeface="Calibri"/>
              <a:spcAft>
                <a:spcPts val="1000"/>
              </a:spcAft>
              <a:buSzPct val="100000"/>
              <a:buChar char="•"/>
              <a:lnSpc>
                <a:spcPts val="2200"/>
              </a:lnSpc>
            </a:pPr>
            <a:r>
              <a:rPr sz="2000" b="0">
                <a:solidFill>
                  <a:srgbClr val="333333"/>
                </a:solidFill>
                <a:latin typeface="Calibri"/>
              </a:rPr>
              <a:t>Together with elasticity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storage and retrieval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Traditional databases and file systems often struggle to store petabytes or exabytes</a:t>
            </a:r>
          </a:p>
          <a:p>
            <a:pPr lvl="0" marL="457200" indent="-228600">
              <a:buFont typeface="Calibri"/>
              <a:spcAft>
                <a:spcPts val="1000"/>
              </a:spcAft>
              <a:buSzPct val="100000"/>
              <a:buChar char="•"/>
              <a:lnSpc>
                <a:spcPts val="2200"/>
              </a:lnSpc>
            </a:pPr>
            <a:r>
              <a:rPr sz="2000" b="0">
                <a:solidFill>
                  <a:srgbClr val="333333"/>
                </a:solidFill>
                <a:latin typeface="Calibri"/>
              </a:rPr>
              <a:t>Distributed storage is needed so data is evenly placed, backed up</a:t>
            </a:r>
          </a:p>
          <a:p>
            <a:pPr lvl="0" marL="457200" indent="-228600">
              <a:buFont typeface="Calibri"/>
              <a:spcAft>
                <a:spcPts val="1000"/>
              </a:spcAft>
              <a:buSzPct val="100000"/>
              <a:buChar char="•"/>
              <a:lnSpc>
                <a:spcPts val="2200"/>
              </a:lnSpc>
            </a:pPr>
            <a:r>
              <a:rPr sz="2000" b="0">
                <a:solidFill>
                  <a:srgbClr val="333333"/>
                </a:solidFill>
                <a:latin typeface="Calibri"/>
              </a:rPr>
              <a:t>Retrieval also grows harder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performance and cost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Systems must handle high request rates with low latency while scaling</a:t>
            </a:r>
          </a:p>
          <a:p>
            <a:pPr lvl="0" marL="457200" indent="-228600">
              <a:buFont typeface="Calibri"/>
              <a:spcAft>
                <a:spcPts val="1000"/>
              </a:spcAft>
              <a:buSzPct val="100000"/>
              <a:buChar char="•"/>
              <a:lnSpc>
                <a:spcPts val="2200"/>
              </a:lnSpc>
            </a:pPr>
            <a:r>
              <a:rPr sz="2000" b="0">
                <a:solidFill>
                  <a:srgbClr val="333333"/>
                </a:solidFill>
                <a:latin typeface="Calibri"/>
              </a:rPr>
              <a:t>Network latency and consistency become central concerns in cloud and distributed settings</a:t>
            </a:r>
          </a:p>
          <a:p>
            <a:pPr lvl="0" marL="457200" indent="-228600">
              <a:buFont typeface="Calibri"/>
              <a:spcAft>
                <a:spcPts val="1000"/>
              </a:spcAft>
              <a:buSzPct val="100000"/>
              <a:buChar char="•"/>
              <a:lnSpc>
                <a:spcPts val="2200"/>
              </a:lnSpc>
            </a:pPr>
            <a:r>
              <a:rPr sz="2000" b="0">
                <a:solidFill>
                  <a:srgbClr val="333333"/>
                </a:solidFill>
                <a:latin typeface="Calibri"/>
              </a:rPr>
              <a:t>Scaling also raises operational cost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components of the platform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Fault tolerance</a:t>
            </a:r>
          </a:p>
          <a:p>
            <a:pPr lvl="0" marL="457200" indent="-228600">
              <a:buFont typeface="Calibri"/>
              <a:spcAft>
                <a:spcPts val="1000"/>
              </a:spcAft>
              <a:buSzPct val="100000"/>
              <a:buChar char="•"/>
              <a:lnSpc>
                <a:spcPts val="2200"/>
              </a:lnSpc>
            </a:pPr>
            <a:r>
              <a:rPr sz="2000" b="0">
                <a:solidFill>
                  <a:srgbClr val="333333"/>
                </a:solidFill>
                <a:latin typeface="Calibri"/>
              </a:rPr>
              <a:t>Query processing often uses parallel and distributed databases that split work across</a:t>
            </a:r>
          </a:p>
          <a:p>
            <a:pPr lvl="0" marL="457200" indent="-228600">
              <a:buFont typeface="Calibri"/>
              <a:spcAft>
                <a:spcPts val="1000"/>
              </a:spcAft>
              <a:buSzPct val="100000"/>
              <a:buChar char="•"/>
              <a:lnSpc>
                <a:spcPts val="2200"/>
              </a:lnSpc>
            </a:pPr>
            <a:r>
              <a:rPr sz="2000" b="0">
                <a:solidFill>
                  <a:srgbClr val="333333"/>
                </a:solidFill>
                <a:latin typeface="Calibri"/>
              </a:rPr>
              <a:t>Data lineage tracks origin, transforms, and use so pipelines stay auditable and debuggable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Scalable data management keeps volume, variety</a:t>
            </a:r>
          </a:p>
          <a:p>
            <a:pPr lvl="0" marL="457200" indent="-228600">
              <a:buFont typeface="Calibri"/>
              <a:spcAft>
                <a:spcPts val="1000"/>
              </a:spcAft>
              <a:buSzPct val="100000"/>
              <a:buChar char="•"/>
              <a:lnSpc>
                <a:spcPts val="2200"/>
              </a:lnSpc>
            </a:pPr>
            <a:r>
              <a:rPr sz="2000" b="0">
                <a:solidFill>
                  <a:srgbClr val="333333"/>
                </a:solidFill>
                <a:latin typeface="Calibri"/>
              </a:rPr>
              <a:t>Elasticity, efficiency, and resilience are the guiding principles</a:t>
            </a:r>
          </a:p>
          <a:p>
            <a:pPr lvl="0" marL="457200" indent="-228600">
              <a:buFont typeface="Calibri"/>
              <a:spcAft>
                <a:spcPts val="1000"/>
              </a:spcAft>
              <a:buSzPct val="100000"/>
              <a:buChar char="•"/>
              <a:lnSpc>
                <a:spcPts val="2200"/>
              </a:lnSpc>
            </a:pPr>
            <a:r>
              <a:rPr sz="2000" b="0">
                <a:solidFill>
                  <a:srgbClr val="333333"/>
                </a:solidFill>
                <a:latin typeface="Calibri"/>
              </a:rPr>
              <a:t>Storage, retrieval, performance, and cost challenges motivate distributed designs</a:t>
            </a:r>
          </a:p>
          <a:p>
            <a:pPr lvl="0" marL="457200" indent="-228600">
              <a:buFont typeface="Calibri"/>
              <a:spcAft>
                <a:spcPts val="1000"/>
              </a:spcAft>
              <a:buSzPct val="100000"/>
              <a:buChar char="•"/>
              <a:lnSpc>
                <a:spcPts val="2200"/>
              </a:lnSpc>
            </a:pPr>
            <a:r>
              <a:rPr sz="2000" b="0">
                <a:solidFill>
                  <a:srgbClr val="333333"/>
                </a:solidFill>
                <a:latin typeface="Calibri"/>
              </a:rPr>
              <a:t>Storage, query processing, and lineage form the core component stack this chapter develops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surveys database families and cloud storage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Introduction To Scalable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