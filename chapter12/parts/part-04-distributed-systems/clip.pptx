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Single-node disks cannot hold petabyte corpora. Distributed systems partition and replicate data across machines. This part introduces distributed characteristics and concrete examples: HDFS, Cassandra, and Kafka for streams.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list key distributed-system characteristics such as partitioning, replication, and fault tolerance; explain how HDFS illustrates block partitioning and replication; position Cassandra for write-heavy multi-datacenter apps; and describe Kafka as a durable partitioned event log.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systems sit at the heart of scalable data management. They enable data to be stored, processed, and queried across multiple machines so large datasets can be handled efficiently. Chapter 9 introduced streaming collection from an acquisition angle; here the focus is storage layout, consistency, and operational trade-offs once data already live in the platform.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systems aim for high availability, fault tolerance, and horizontal scalability. Core characteristics include data partitioning across nodes; replication for redundancy; consistency models from strong to eventual; coordination among nodes; fault tolerance when components fail; and scaling out by adding nodes without sacrificing performance.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12.7 walks through HDFS blocks as a distributed-file pattern. HDFS splits large files into blocks, often around 128 megabytes, places replicas on multiple nodes, and keeps serving data when a node fails, illustrating partitioning, replication, and horizontal scale. The example 7 module for this chapter summarizes that pattern.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12.8 positions Cassandra for write-heavy global apps. Apache Cassandra is a distributed NoSQL store built for high write throughput and multi-datacenter availability when horizontal scale matters more than single-key ACID transactions. The example 8 module for this chapter frames that write-oriented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12.9 uses Kafka as the streaming backbone. Apache Kafka ingests and buffers event streams with durable, partitioned logs so analytics and services can consume the same feed at scale. The example 9 module for this chapter covers that event-stream role.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Together, HDFS, Cassandra, and Kafka illustrate partitioning, replication, and streaming patterns that recur throughout later distributed-system topics. File blocks, write-optimized tablet stores, and durable logs are complementary layers rather than competing single answers for every workload.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Distributed systems store and process data across nodes with partitioning, replication, coordination, and fault tolerance. HDFS shows block placement and replica recovery. Cassandra targets multi-datacenter write scale. Kafka provides durable partitioned logs for real-time consumers. These patterns prepare the CAP and consistency discussion that follows.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covers the CAP theorem, sharding and replication patterns, and when strong versus eventual consistency is appropriate for the workload.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12 — Distributed systems overview</a:t>
            </a:r>
          </a:p>
          <a:p>
            <a:pPr algn="ctr">
              <a:lnSpc>
                <a:spcPts val="2200"/>
              </a:lnSpc>
              <a:spcBef>
                <a:spcPts val="1400"/>
              </a:spcBef>
            </a:pPr>
            <a:r>
              <a:rPr sz="2600" b="0">
                <a:solidFill>
                  <a:srgbClr val="333333"/>
                </a:solidFill>
                <a:latin typeface="Calibri"/>
              </a:rPr>
              <a:t>Single-node disks cannot hold petabyte corpora</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Distributed Systems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Distributed Systems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distributed systems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Distributed systems sit at the heart of scalable data management</a:t>
            </a:r>
          </a:p>
          <a:p>
            <a:pPr>
              <a:spcAft>
                <a:spcPts val="1000"/>
              </a:spcAft>
              <a:buChar char="•"/>
              <a:lnSpc>
                <a:spcPts val="2200"/>
              </a:lnSpc>
            </a:pPr>
            <a:r>
              <a:rPr sz="2000" b="0">
                <a:solidFill>
                  <a:srgbClr val="333333"/>
                </a:solidFill>
                <a:latin typeface="Calibri"/>
              </a:rPr>
              <a:t>They enable data to be stored, processed</a:t>
            </a:r>
          </a:p>
          <a:p>
            <a:pPr>
              <a:spcAft>
                <a:spcPts val="1000"/>
              </a:spcAft>
              <a:buChar char="•"/>
              <a:lnSpc>
                <a:spcPts val="2200"/>
              </a:lnSpc>
            </a:pPr>
            <a:r>
              <a:rPr sz="2000" b="0">
                <a:solidFill>
                  <a:srgbClr val="333333"/>
                </a:solidFill>
                <a:latin typeface="Calibri"/>
              </a:rPr>
              <a:t>Chapter 9 introduced streaming collection from an acquisition angle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Distributed Systems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Key characteristics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Distributed systems aim for high availability, fault tolerance, and horizontal scalability</a:t>
            </a:r>
          </a:p>
          <a:p>
            <a:pPr>
              <a:spcAft>
                <a:spcPts val="1000"/>
              </a:spcAft>
              <a:buChar char="•"/>
              <a:lnSpc>
                <a:spcPts val="2200"/>
              </a:lnSpc>
            </a:pPr>
            <a:r>
              <a:rPr sz="2000" b="0">
                <a:solidFill>
                  <a:srgbClr val="333333"/>
                </a:solidFill>
                <a:latin typeface="Calibri"/>
              </a:rPr>
              <a:t>Core characteristics include data partitioning across nodes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Distributed Systems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12.7 — HDFS Partitioning and Replication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12.7 — hands-on module</a:t>
            </a:r>
          </a:p>
          <a:p>
            <a:pPr>
              <a:spcAft>
                <a:spcPts val="1000"/>
              </a:spcAft>
              <a:buChar char="•"/>
              <a:lnSpc>
                <a:spcPts val="2200"/>
              </a:lnSpc>
            </a:pPr>
            <a:r>
              <a:rPr sz="2000" b="0">
                <a:solidFill>
                  <a:srgbClr val="333333"/>
                </a:solidFill>
                <a:latin typeface="Calibri"/>
              </a:rPr>
              <a:t>Example 12.7 walks through HDFS blocks as a distributed-file pattern</a:t>
            </a:r>
          </a:p>
          <a:p>
            <a:pPr>
              <a:spcAft>
                <a:spcPts val="1000"/>
              </a:spcAft>
              <a:buChar char="•"/>
              <a:lnSpc>
                <a:spcPts val="2200"/>
              </a:lnSpc>
            </a:pPr>
            <a:r>
              <a:rPr sz="2000" b="0">
                <a:solidFill>
                  <a:srgbClr val="333333"/>
                </a:solidFill>
                <a:latin typeface="Calibri"/>
              </a:rPr>
              <a:t>HDFS splits large files into blocks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Distributed Systems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12.8 — Cassandra for Multi-Datacenter Writes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12.8 — hands-on module</a:t>
            </a:r>
          </a:p>
          <a:p>
            <a:pPr>
              <a:spcAft>
                <a:spcPts val="1000"/>
              </a:spcAft>
              <a:buChar char="•"/>
              <a:lnSpc>
                <a:spcPts val="2200"/>
              </a:lnSpc>
            </a:pPr>
            <a:r>
              <a:rPr sz="2000" b="0">
                <a:solidFill>
                  <a:srgbClr val="333333"/>
                </a:solidFill>
                <a:latin typeface="Calibri"/>
              </a:rPr>
              <a:t>Example 12.8 positions Cassandra for write-heavy global apps</a:t>
            </a:r>
          </a:p>
          <a:p>
            <a:pPr>
              <a:spcAft>
                <a:spcPts val="1000"/>
              </a:spcAft>
              <a:buChar char="•"/>
              <a:lnSpc>
                <a:spcPts val="2200"/>
              </a:lnSpc>
            </a:pPr>
            <a:r>
              <a:rPr sz="2000" b="0">
                <a:solidFill>
                  <a:srgbClr val="333333"/>
                </a:solidFill>
                <a:latin typeface="Calibri"/>
              </a:rPr>
              <a:t>Apache Cassandra is a distributed NoSQL store built for high write throughput and</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Distributed Systems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12.9 — Kafka for Real-Time Event Streams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12.9 — hands-on module</a:t>
            </a:r>
          </a:p>
          <a:p>
            <a:pPr>
              <a:spcAft>
                <a:spcPts val="1000"/>
              </a:spcAft>
              <a:buChar char="•"/>
              <a:lnSpc>
                <a:spcPts val="2200"/>
              </a:lnSpc>
            </a:pPr>
            <a:r>
              <a:rPr sz="2000" b="0">
                <a:solidFill>
                  <a:srgbClr val="333333"/>
                </a:solidFill>
                <a:latin typeface="Calibri"/>
              </a:rPr>
              <a:t>Example 12.9 uses Kafka as the streaming backbone</a:t>
            </a:r>
          </a:p>
          <a:p>
            <a:pPr>
              <a:spcAft>
                <a:spcPts val="1000"/>
              </a:spcAft>
              <a:buChar char="•"/>
              <a:lnSpc>
                <a:spcPts val="2200"/>
              </a:lnSpc>
            </a:pPr>
            <a:r>
              <a:rPr sz="2000" b="0">
                <a:solidFill>
                  <a:srgbClr val="333333"/>
                </a:solidFill>
                <a:latin typeface="Calibri"/>
              </a:rPr>
              <a:t>Apache Kafka ingests and buffers event streams with durable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`modules/chapter12/example9/`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Distributed Systems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Patterns that recur</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Together, HDFS, Cassandra</a:t>
            </a:r>
          </a:p>
          <a:p>
            <a:pPr>
              <a:spcAft>
                <a:spcPts val="1000"/>
              </a:spcAft>
              <a:buChar char="•"/>
              <a:lnSpc>
                <a:spcPts val="2200"/>
              </a:lnSpc>
            </a:pPr>
            <a:r>
              <a:rPr sz="2000" b="0">
                <a:solidFill>
                  <a:srgbClr val="333333"/>
                </a:solidFill>
                <a:latin typeface="Calibri"/>
              </a:rPr>
              <a:t>File blocks, write-optimized tablet stores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Distributed Systems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Fault tolerance</a:t>
            </a:r>
          </a:p>
          <a:p>
            <a:pPr>
              <a:spcAft>
                <a:spcPts val="1000"/>
              </a:spcAft>
              <a:buChar char="•"/>
              <a:lnSpc>
                <a:spcPts val="2200"/>
              </a:lnSpc>
            </a:pPr>
            <a:r>
              <a:rPr sz="2000" b="0">
                <a:solidFill>
                  <a:srgbClr val="333333"/>
                </a:solidFill>
                <a:latin typeface="Calibri"/>
              </a:rPr>
              <a:t>HDFS shows block placement and replica recovery</a:t>
            </a:r>
          </a:p>
          <a:p>
            <a:pPr>
              <a:spcAft>
                <a:spcPts val="1000"/>
              </a:spcAft>
              <a:buChar char="•"/>
              <a:lnSpc>
                <a:spcPts val="2200"/>
              </a:lnSpc>
            </a:pPr>
            <a:r>
              <a:rPr sz="2000" b="0">
                <a:solidFill>
                  <a:srgbClr val="333333"/>
                </a:solidFill>
                <a:latin typeface="Calibri"/>
              </a:rPr>
              <a:t>Cassandra targets multi-datacenter write scale</a:t>
            </a:r>
          </a:p>
          <a:p>
            <a:pPr>
              <a:spcAft>
                <a:spcPts val="1000"/>
              </a:spcAft>
              <a:buChar char="•"/>
              <a:lnSpc>
                <a:spcPts val="2200"/>
              </a:lnSpc>
            </a:pPr>
            <a:r>
              <a:rPr sz="2000" b="0">
                <a:solidFill>
                  <a:srgbClr val="333333"/>
                </a:solidFill>
                <a:latin typeface="Calibri"/>
              </a:rPr>
              <a:t>Kafka provides durable partitioned logs for real-time consumers</a:t>
            </a:r>
          </a:p>
          <a:p>
            <a:pPr>
              <a:spcAft>
                <a:spcPts val="1000"/>
              </a:spcAft>
              <a:buChar char="•"/>
              <a:lnSpc>
                <a:spcPts val="2200"/>
              </a:lnSpc>
            </a:pPr>
            <a:r>
              <a:rPr sz="2000" b="0">
                <a:solidFill>
                  <a:srgbClr val="333333"/>
                </a:solidFill>
                <a:latin typeface="Calibri"/>
              </a:rPr>
              <a:t>These patterns prepare the CAP and consistency discussion that follows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Distributed Systems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covers the CAP theorem, sharding and replication patterns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12 — Distributed Systems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