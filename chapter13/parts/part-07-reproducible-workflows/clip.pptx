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Licenses and documentation still leave an execution gap. Reproducible workflows capture ordered steps, notebooks, and containerized environments so others can rerun analyses. This part covers workflow files, Jupyter notebooks, and Docker for fixed tool stacks.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how workflow files automate multi-step pipelines; describe Jupyter notebooks as literate pipelines from load to plots; recognize Docker images that pin bioinformatics tools; and apply the same container idea to machine-learning training stacks.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Reproducible research workflows couple datasets with automation, notebooks, version control, and containers so analyses can be independently verified. Automation tools such as Make, Snakemake, or Nextflow define a sequence of jobs with clear dependencies so the same procedure runs regardless of who executes it or when. Consistency also requires a stable environment: the same configurations, tools, and dependency versions across stages.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13.29 captures a multi-step bioinformatics pipeline in a workflow definition. A typical pipeline might involve data preprocessing, alignment, and statistical analysis. With automation tools, the entire process can be captured in a workflow file so each researcher follows the same procedure without ad-hoc manual intervention. The example 29 module for this chapter summarizes that workflow-file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Jupyter notebooks integrate code, data, and documentation in a single document. Example 13.31 sketches a typical analysis narrative: data loading, cleaning, exploratory analysis, model fitting, and result visualization, with decisions documented beside executable code. Interactivity and sharing—including static exports or runnable environments—help collaboration, but large data and environment drift still require version control and containers. The example 31 module for this chapter covers that notebook pipeline.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depends on a stable computational environment. Docker packages code, dependencies, and system settings into a container that can run consistently across machines. Example 13.34 pins bioinformatics tool versions inside a Docker image, bundling preprocessing software and specific versions such as BWA for sequence alignment or Samtools for manipulating alignments. The example 34 module for this chapter frames that pinned-tool container.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container pattern applies to machine learning. Example 13.36 freezes Python library versions for model training: a Docker image can bundle dependencies for a training script and fix library versions such as TensorFlow, NumPy, and pandas. Shared images reduce “it works on my machine” failures across local, cluster, and cloud runs. The example 36 module for this chapter covers that ML training stack image.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files encode ordered, dependency-aware pipelines so analyses run the same way each time. Notebooks make methods and results literate and shareable, but still need environment discipline. Docker pins tools and libraries so bioinformatics and machine-learning stacks travel with the analysis. Containers and workflow definitions close the execution gap left by licenses and prose alone.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continuous integration and automated tests that catch broken preprocessing, environment mismatches, and model regressions before results are published.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Reproducible research workflows</a:t>
            </a:r>
          </a:p>
          <a:p>
            <a:pPr algn="ctr">
              <a:lnSpc>
                <a:spcPts val="2200"/>
              </a:lnSpc>
              <a:spcBef>
                <a:spcPts val="1400"/>
              </a:spcBef>
            </a:pPr>
            <a:r>
              <a:rPr sz="2600" b="0">
                <a:solidFill>
                  <a:srgbClr val="333333"/>
                </a:solidFill>
                <a:latin typeface="Calibri"/>
              </a:rPr>
              <a:t>Licenses and documentation still leave an execution gap</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Workflow automation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Containers so analyses can be independently verified</a:t>
            </a:r>
          </a:p>
          <a:p>
            <a:pPr>
              <a:spcAft>
                <a:spcPts val="1000"/>
              </a:spcAft>
              <a:buChar char="•"/>
              <a:lnSpc>
                <a:spcPts val="2200"/>
              </a:lnSpc>
            </a:pPr>
            <a:r>
              <a:rPr sz="2000" b="0">
                <a:solidFill>
                  <a:srgbClr val="333333"/>
                </a:solidFill>
                <a:latin typeface="Calibri"/>
              </a:rPr>
              <a:t>Automation tools such as Make</a:t>
            </a:r>
          </a:p>
          <a:p>
            <a:pPr>
              <a:spcAft>
                <a:spcPts val="1000"/>
              </a:spcAft>
              <a:buChar char="•"/>
              <a:lnSpc>
                <a:spcPts val="2200"/>
              </a:lnSpc>
            </a:pPr>
            <a:r>
              <a:rPr sz="2000" b="0">
                <a:solidFill>
                  <a:srgbClr val="333333"/>
                </a:solidFill>
                <a:latin typeface="Calibri"/>
              </a:rPr>
              <a:t>Consistency also requires a stable environment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13.29 — Automated Bioinformatics Workflow File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13.29 — hands-on module</a:t>
            </a:r>
          </a:p>
          <a:p>
            <a:pPr>
              <a:spcAft>
                <a:spcPts val="1000"/>
              </a:spcAft>
              <a:buChar char="•"/>
              <a:lnSpc>
                <a:spcPts val="2200"/>
              </a:lnSpc>
            </a:pPr>
            <a:r>
              <a:rPr sz="2000" b="0">
                <a:solidFill>
                  <a:srgbClr val="333333"/>
                </a:solidFill>
                <a:latin typeface="Calibri"/>
              </a:rPr>
              <a:t>Example 13.29 captures a multi-step bioinformatics pipeline in a workflow definition</a:t>
            </a:r>
          </a:p>
          <a:p>
            <a:pPr>
              <a:spcAft>
                <a:spcPts val="1000"/>
              </a:spcAft>
              <a:buChar char="•"/>
              <a:lnSpc>
                <a:spcPts val="2200"/>
              </a:lnSpc>
            </a:pPr>
            <a:r>
              <a:rPr sz="2000" b="0">
                <a:solidFill>
                  <a:srgbClr val="333333"/>
                </a:solidFill>
                <a:latin typeface="Calibri"/>
              </a:rPr>
              <a:t>A typical pipeline might involve data preprocessing, alignment, and statistical analysis</a:t>
            </a:r>
          </a:p>
          <a:p>
            <a:pPr>
              <a:spcAft>
                <a:spcPts val="1000"/>
              </a:spcAft>
              <a:buChar char="•"/>
              <a:lnSpc>
                <a:spcPts val="2200"/>
              </a:lnSpc>
            </a:pPr>
            <a:r>
              <a:rPr sz="2000" b="0">
                <a:solidFill>
                  <a:srgbClr val="333333"/>
                </a:solidFill>
                <a:latin typeface="Calibri"/>
              </a:rPr>
              <a:t>With automation tools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13.31 — Notebook Pipeline from Load to Plots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13.31 — hands-on module</a:t>
            </a:r>
          </a:p>
          <a:p>
            <a:pPr>
              <a:spcAft>
                <a:spcPts val="1000"/>
              </a:spcAft>
              <a:buChar char="•"/>
              <a:lnSpc>
                <a:spcPts val="2200"/>
              </a:lnSpc>
            </a:pPr>
            <a:r>
              <a:rPr sz="2000" b="0">
                <a:solidFill>
                  <a:srgbClr val="333333"/>
                </a:solidFill>
                <a:latin typeface="Calibri"/>
              </a:rPr>
              <a:t>Jupyter notebooks integrate code, data, and documentation in a single document</a:t>
            </a:r>
          </a:p>
          <a:p>
            <a:pPr>
              <a:spcAft>
                <a:spcPts val="1000"/>
              </a:spcAft>
              <a:buChar char="•"/>
              <a:lnSpc>
                <a:spcPts val="2200"/>
              </a:lnSpc>
            </a:pPr>
            <a:r>
              <a:rPr sz="2000" b="0">
                <a:solidFill>
                  <a:srgbClr val="333333"/>
                </a:solidFill>
                <a:latin typeface="Calibri"/>
              </a:rPr>
              <a:t>Example 13.31 sketches a typical analysis narrative</a:t>
            </a:r>
          </a:p>
          <a:p>
            <a:pPr>
              <a:spcAft>
                <a:spcPts val="1000"/>
              </a:spcAft>
              <a:buChar char="•"/>
              <a:lnSpc>
                <a:spcPts val="2200"/>
              </a:lnSpc>
            </a:pPr>
            <a:r>
              <a:rPr sz="2000" b="0">
                <a:solidFill>
                  <a:srgbClr val="333333"/>
                </a:solidFill>
                <a:latin typeface="Calibri"/>
              </a:rPr>
              <a:t>Interactivity and sharing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13.34 — Docker Image for Sequence Alignment Tools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13.34 — hands-on module</a:t>
            </a:r>
          </a:p>
          <a:p>
            <a:pPr>
              <a:spcAft>
                <a:spcPts val="1000"/>
              </a:spcAft>
              <a:buChar char="•"/>
              <a:lnSpc>
                <a:spcPts val="2200"/>
              </a:lnSpc>
            </a:pPr>
            <a:r>
              <a:rPr sz="2000" b="0">
                <a:solidFill>
                  <a:srgbClr val="333333"/>
                </a:solidFill>
                <a:latin typeface="Calibri"/>
              </a:rPr>
              <a:t>Reproducibility depends on a stable computational environment</a:t>
            </a:r>
          </a:p>
          <a:p>
            <a:pPr>
              <a:spcAft>
                <a:spcPts val="1000"/>
              </a:spcAft>
              <a:buChar char="•"/>
              <a:lnSpc>
                <a:spcPts val="2200"/>
              </a:lnSpc>
            </a:pPr>
            <a:r>
              <a:rPr sz="2000" b="0">
                <a:solidFill>
                  <a:srgbClr val="333333"/>
                </a:solidFill>
                <a:latin typeface="Calibri"/>
              </a:rPr>
              <a:t>Docker packages code, dependencies</a:t>
            </a:r>
          </a:p>
          <a:p>
            <a:pPr>
              <a:spcAft>
                <a:spcPts val="1000"/>
              </a:spcAft>
              <a:buChar char="•"/>
              <a:lnSpc>
                <a:spcPts val="2200"/>
              </a:lnSpc>
            </a:pPr>
            <a:r>
              <a:rPr sz="2000" b="0">
                <a:solidFill>
                  <a:srgbClr val="333333"/>
                </a:solidFill>
                <a:latin typeface="Calibri"/>
              </a:rPr>
              <a:t>Example 13.34 pins bioinformatics tool versions inside a Docker image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13.36 — Docker Image for ML Training Stack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13.36 — hands-on module</a:t>
            </a:r>
          </a:p>
          <a:p>
            <a:pPr>
              <a:spcAft>
                <a:spcPts val="1000"/>
              </a:spcAft>
              <a:buChar char="•"/>
              <a:lnSpc>
                <a:spcPts val="2200"/>
              </a:lnSpc>
            </a:pPr>
            <a:r>
              <a:rPr sz="2000" b="0">
                <a:solidFill>
                  <a:srgbClr val="333333"/>
                </a:solidFill>
                <a:latin typeface="Calibri"/>
              </a:rPr>
              <a:t>The same container pattern applies to machine learning</a:t>
            </a:r>
          </a:p>
          <a:p>
            <a:pPr>
              <a:spcAft>
                <a:spcPts val="1000"/>
              </a:spcAft>
              <a:buChar char="•"/>
              <a:lnSpc>
                <a:spcPts val="2200"/>
              </a:lnSpc>
            </a:pPr>
            <a:r>
              <a:rPr sz="2000" b="0">
                <a:solidFill>
                  <a:srgbClr val="333333"/>
                </a:solidFill>
                <a:latin typeface="Calibri"/>
              </a:rPr>
              <a:t>Example 13.36 freezes Python library versions for model training</a:t>
            </a:r>
          </a:p>
          <a:p>
            <a:pPr>
              <a:spcAft>
                <a:spcPts val="1000"/>
              </a:spcAft>
              <a:buChar char="•"/>
              <a:lnSpc>
                <a:spcPts val="2200"/>
              </a:lnSpc>
            </a:pPr>
            <a:r>
              <a:rPr sz="2000" b="0">
                <a:solidFill>
                  <a:srgbClr val="333333"/>
                </a:solidFill>
                <a:latin typeface="Calibri"/>
              </a:rPr>
              <a:t>Shared images reduce “it works on my machine” failures across local, cluster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Workflow files encode ordered</a:t>
            </a:r>
          </a:p>
          <a:p>
            <a:pPr>
              <a:spcAft>
                <a:spcPts val="1000"/>
              </a:spcAft>
              <a:buChar char="•"/>
              <a:lnSpc>
                <a:spcPts val="2200"/>
              </a:lnSpc>
            </a:pPr>
            <a:r>
              <a:rPr sz="2000" b="0">
                <a:solidFill>
                  <a:srgbClr val="333333"/>
                </a:solidFill>
                <a:latin typeface="Calibri"/>
              </a:rPr>
              <a:t>Notebooks make methods and results literate and shareable</a:t>
            </a:r>
          </a:p>
          <a:p>
            <a:pPr>
              <a:spcAft>
                <a:spcPts val="1000"/>
              </a:spcAft>
              <a:buChar char="•"/>
              <a:lnSpc>
                <a:spcPts val="2200"/>
              </a:lnSpc>
            </a:pPr>
            <a:r>
              <a:rPr sz="2000" b="0">
                <a:solidFill>
                  <a:srgbClr val="333333"/>
                </a:solidFill>
                <a:latin typeface="Calibri"/>
              </a:rPr>
              <a:t>Docker pins tools and libraries so bioinformatics and machine-learning stacks travel with</a:t>
            </a:r>
          </a:p>
          <a:p>
            <a:pPr>
              <a:spcAft>
                <a:spcPts val="1000"/>
              </a:spcAft>
              <a:buChar char="•"/>
              <a:lnSpc>
                <a:spcPts val="2200"/>
              </a:lnSpc>
            </a:pPr>
            <a:r>
              <a:rPr sz="2000" b="0">
                <a:solidFill>
                  <a:srgbClr val="333333"/>
                </a:solidFill>
                <a:latin typeface="Calibri"/>
              </a:rPr>
              <a:t>Containers and workflow definitions close the execution gap left by licenses and prose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Model regressions before results are published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Reproducible Workflows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