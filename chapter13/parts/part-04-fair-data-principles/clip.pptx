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supports humans; FAIR principles make datasets findable, accessible, interoperable, and reusable by people and machines. This part introduces FAIR and shows how indexing, access controls, formats, and community standards put the principles into practice.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name the four FAIR principles; explain Findable through public-archive indexing; describe Accessible sharing with clear terms and access controls; recognize Interoperable formats and controlled vocabularies; and apply Reusable community file formats for new research uses.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FAIR principles—Findable, Accessible, Interoperable, and Reusable—have become a widely adopted standard for managing and sharing scientific data. Findable means datasets can be located through identifiers and rich metadata. Accessible means retrieval under clear, standardized terms, which may include restrictions. Interoperable means formats and vocabularies support combination with other datasets and tools. Reusable means documentation, metadata, and licensing enable new research uses beyond the original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13.12 illustrates Findable sharing. When a cancer genomics dataset is published, it should be indexed in public archives such as NCBI or the European Nucleotide Archive. Researchers can then locate it through keywords, metadata, or other relevant fields. Indexing is what turns a deposited file into a discoverable research asset. The example 12 module for this chapter covers that archive-indexing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Accessible does not mean every dataset must be free of restrictions. Data must be available under clear terms, often via widely accepted repositories with open retrieval protocols. Example 13.13 shows datasets hosted on Zenodo or Figshare, which can allow access while respecting privacy or ethical restrictions, for example through de-identified data and licensing agreements. The example 13 module for this chapter summarizes controlled accessibility.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Interoperable data is structured for integration with other datasets and analytical tools. Example 13.14 shows genomic data formatted in standard file types such as FASTQ or VCF so bioinformatics tools and databases can consume it. Controlled vocabularies such as Gene Ontology or the Unified Medical Language System standardize meaning and help link data to other resources. The example 14 module for this chapter frames that format-and-vocabulary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Reusable data is accompanied by documentation, metadata, and licensing that enable new research uses. Example 13.15 prefers community formats such as CSV or JSON for tabular data, HDF5 for large arrays, or NetCDF for climate data, because these formats are widely supported by analysis tools. Choosing formats the community already understands is a practical Reusable choice. The example 15 module for this chapter covers that format guidance.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means Findable, Accessible, Interoperable, and Reusable for people and machines. Public-archive indexing makes genomics and other deposits discoverable. Accessibility allows clear terms and access controls, not only unrestricted dumps. Standard formats and controlled vocabularies support interoperability. Community file formats and licensing documentation enable reuse beyond the original study.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data-quality standards for reproducibility and research-facing provenance that tracks how datasets were created and updated.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FAIR data principles</a:t>
            </a:r>
          </a:p>
          <a:p>
            <a:pPr algn="ctr">
              <a:lnSpc>
                <a:spcPts val="2200"/>
              </a:lnSpc>
              <a:spcBef>
                <a:spcPts val="1400"/>
              </a:spcBef>
            </a:pPr>
            <a:r>
              <a:rPr sz="2600" b="0">
                <a:solidFill>
                  <a:srgbClr val="333333"/>
                </a:solidFill>
                <a:latin typeface="Calibri"/>
              </a:rPr>
              <a:t>Documentation supports humans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name the four FAIR principles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FAIR means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FAIR principles, Findable, Accessible, Interoperable</a:t>
            </a:r>
          </a:p>
          <a:p>
            <a:pPr lvl="0" marL="457200" indent="-228600">
              <a:buFont typeface="Calibri"/>
              <a:spcAft>
                <a:spcPts val="1000"/>
              </a:spcAft>
              <a:buSzPct val="100000"/>
              <a:buChar char="•"/>
              <a:lnSpc>
                <a:spcPts val="2200"/>
              </a:lnSpc>
            </a:pPr>
            <a:r>
              <a:rPr sz="2000" b="0">
                <a:solidFill>
                  <a:srgbClr val="333333"/>
                </a:solidFill>
                <a:latin typeface="Calibri"/>
              </a:rPr>
              <a:t>Findable means datasets can be located through identifiers and rich metadata</a:t>
            </a:r>
          </a:p>
          <a:p>
            <a:pPr lvl="0" marL="457200" indent="-228600">
              <a:buFont typeface="Calibri"/>
              <a:spcAft>
                <a:spcPts val="1000"/>
              </a:spcAft>
              <a:buSzPct val="100000"/>
              <a:buChar char="•"/>
              <a:lnSpc>
                <a:spcPts val="2200"/>
              </a:lnSpc>
            </a:pPr>
            <a:r>
              <a:rPr sz="2000" b="0">
                <a:solidFill>
                  <a:srgbClr val="333333"/>
                </a:solidFill>
                <a:latin typeface="Calibri"/>
              </a:rPr>
              <a:t>Accessible means retrieval under clear, standardized terms, which may include restrictions</a:t>
            </a:r>
          </a:p>
          <a:p>
            <a:pPr lvl="0" marL="457200" indent="-228600">
              <a:buFont typeface="Calibri"/>
              <a:spcAft>
                <a:spcPts val="1000"/>
              </a:spcAft>
              <a:buSzPct val="100000"/>
              <a:buChar char="•"/>
              <a:lnSpc>
                <a:spcPts val="2200"/>
              </a:lnSpc>
            </a:pPr>
            <a:r>
              <a:rPr sz="2000" b="0">
                <a:solidFill>
                  <a:srgbClr val="333333"/>
                </a:solidFill>
                <a:latin typeface="Calibri"/>
              </a:rPr>
              <a:t>Interoperable means formats and vocabularies support combination with other datasets and</a:t>
            </a:r>
          </a:p>
          <a:p>
            <a:pPr lvl="0" marL="457200" indent="-228600">
              <a:buFont typeface="Calibri"/>
              <a:spcAft>
                <a:spcPts val="1000"/>
              </a:spcAft>
              <a:buSzPct val="100000"/>
              <a:buChar char="•"/>
              <a:lnSpc>
                <a:spcPts val="2200"/>
              </a:lnSpc>
            </a:pPr>
            <a:r>
              <a:rPr sz="2000" b="0">
                <a:solidFill>
                  <a:srgbClr val="333333"/>
                </a:solidFill>
                <a:latin typeface="Calibri"/>
              </a:rPr>
              <a:t>Reusable means documentation, metadata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13.12 — Indexing Genomics Data in Public Archives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13.12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13.12 illustrates Findable sharing</a:t>
            </a:r>
          </a:p>
          <a:p>
            <a:pPr lvl="0" marL="457200" indent="-228600">
              <a:buFont typeface="Calibri"/>
              <a:spcAft>
                <a:spcPts val="1000"/>
              </a:spcAft>
              <a:buSzPct val="100000"/>
              <a:buChar char="•"/>
              <a:lnSpc>
                <a:spcPts val="2200"/>
              </a:lnSpc>
            </a:pPr>
            <a:r>
              <a:rPr sz="2000" b="0">
                <a:solidFill>
                  <a:srgbClr val="333333"/>
                </a:solidFill>
                <a:latin typeface="Calibri"/>
              </a:rPr>
              <a:t>When a cancer genomics dataset is published</a:t>
            </a:r>
          </a:p>
          <a:p>
            <a:pPr lvl="0" marL="457200" indent="-228600">
              <a:buFont typeface="Calibri"/>
              <a:spcAft>
                <a:spcPts val="1000"/>
              </a:spcAft>
              <a:buSzPct val="100000"/>
              <a:buChar char="•"/>
              <a:lnSpc>
                <a:spcPts val="2200"/>
              </a:lnSpc>
            </a:pPr>
            <a:r>
              <a:rPr sz="2000" b="0">
                <a:solidFill>
                  <a:srgbClr val="333333"/>
                </a:solidFill>
                <a:latin typeface="Calibri"/>
              </a:rPr>
              <a:t>Researchers can then locate it through keywords, metadata, or other relevant fields</a:t>
            </a:r>
          </a:p>
          <a:p>
            <a:pPr lvl="0" marL="457200" indent="-228600">
              <a:buFont typeface="Calibri"/>
              <a:spcAft>
                <a:spcPts val="1000"/>
              </a:spcAft>
              <a:buSzPct val="100000"/>
              <a:buChar char="•"/>
              <a:lnSpc>
                <a:spcPts val="2200"/>
              </a:lnSpc>
            </a:pPr>
            <a:r>
              <a:rPr sz="2000" b="0">
                <a:solidFill>
                  <a:srgbClr val="333333"/>
                </a:solidFill>
                <a:latin typeface="Calibri"/>
              </a:rPr>
              <a:t>Indexing is what turns a deposited file into a discoverable research asset</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13.13 — Zenodo and Figshare with Access Controls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13.13 — hands-on module</a:t>
            </a:r>
          </a:p>
          <a:p>
            <a:pPr lvl="0" marL="457200" indent="-228600">
              <a:buFont typeface="Calibri"/>
              <a:spcAft>
                <a:spcPts val="1000"/>
              </a:spcAft>
              <a:buSzPct val="100000"/>
              <a:buChar char="•"/>
              <a:lnSpc>
                <a:spcPts val="2200"/>
              </a:lnSpc>
            </a:pPr>
            <a:r>
              <a:rPr sz="2000" b="0">
                <a:solidFill>
                  <a:srgbClr val="333333"/>
                </a:solidFill>
                <a:latin typeface="Calibri"/>
              </a:rPr>
              <a:t>Accessible does not mean every dataset must be free of restrictions</a:t>
            </a:r>
          </a:p>
          <a:p>
            <a:pPr lvl="0" marL="457200" indent="-228600">
              <a:buFont typeface="Calibri"/>
              <a:spcAft>
                <a:spcPts val="1000"/>
              </a:spcAft>
              <a:buSzPct val="100000"/>
              <a:buChar char="•"/>
              <a:lnSpc>
                <a:spcPts val="2200"/>
              </a:lnSpc>
            </a:pPr>
            <a:r>
              <a:rPr sz="2000" b="0">
                <a:solidFill>
                  <a:srgbClr val="333333"/>
                </a:solidFill>
                <a:latin typeface="Calibri"/>
              </a:rPr>
              <a:t>Data must be available under clear terms</a:t>
            </a:r>
          </a:p>
          <a:p>
            <a:pPr lvl="0" marL="457200" indent="-228600">
              <a:buFont typeface="Calibri"/>
              <a:spcAft>
                <a:spcPts val="1000"/>
              </a:spcAft>
              <a:buSzPct val="100000"/>
              <a:buChar char="•"/>
              <a:lnSpc>
                <a:spcPts val="2200"/>
              </a:lnSpc>
            </a:pPr>
            <a:r>
              <a:rPr sz="2000" b="0">
                <a:solidFill>
                  <a:srgbClr val="333333"/>
                </a:solidFill>
                <a:latin typeface="Calibri"/>
              </a:rPr>
              <a:t>Example 13.13 shows datasets hosted on Zenodo or Figshare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13.14 — FASTQ VCF and Controlled Vocabularies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13.14 — hands-on module</a:t>
            </a:r>
          </a:p>
          <a:p>
            <a:pPr lvl="0" marL="457200" indent="-228600">
              <a:buFont typeface="Calibri"/>
              <a:spcAft>
                <a:spcPts val="1000"/>
              </a:spcAft>
              <a:buSzPct val="100000"/>
              <a:buChar char="•"/>
              <a:lnSpc>
                <a:spcPts val="2200"/>
              </a:lnSpc>
            </a:pPr>
            <a:r>
              <a:rPr sz="2000" b="0">
                <a:solidFill>
                  <a:srgbClr val="333333"/>
                </a:solidFill>
                <a:latin typeface="Calibri"/>
              </a:rPr>
              <a:t>Interoperable data is structured for integration with other datasets and analytical tools</a:t>
            </a:r>
          </a:p>
          <a:p>
            <a:pPr lvl="0" marL="457200" indent="-228600">
              <a:buFont typeface="Calibri"/>
              <a:spcAft>
                <a:spcPts val="1000"/>
              </a:spcAft>
              <a:buSzPct val="100000"/>
              <a:buChar char="•"/>
              <a:lnSpc>
                <a:spcPts val="2200"/>
              </a:lnSpc>
            </a:pPr>
            <a:r>
              <a:rPr sz="2000" b="0">
                <a:solidFill>
                  <a:srgbClr val="333333"/>
                </a:solidFill>
                <a:latin typeface="Calibri"/>
              </a:rPr>
              <a:t>Example 13.14 shows genomic data formatted in standard file types such as FASTQ or VCF so</a:t>
            </a:r>
          </a:p>
          <a:p>
            <a:pPr lvl="0" marL="457200" indent="-228600">
              <a:buFont typeface="Calibri"/>
              <a:spcAft>
                <a:spcPts val="1000"/>
              </a:spcAft>
              <a:buSzPct val="100000"/>
              <a:buChar char="•"/>
              <a:lnSpc>
                <a:spcPts val="2200"/>
              </a:lnSpc>
            </a:pPr>
            <a:r>
              <a:rPr sz="2000" b="0">
                <a:solidFill>
                  <a:srgbClr val="333333"/>
                </a:solidFill>
                <a:latin typeface="Calibri"/>
              </a:rPr>
              <a:t>Controlled vocabularies such as Gene Ontology or the Unified Medical Language System</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13.15 — Community File Formats for Reuse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13.15 — hands-on module</a:t>
            </a:r>
          </a:p>
          <a:p>
            <a:pPr lvl="0" marL="457200" indent="-228600">
              <a:buFont typeface="Calibri"/>
              <a:spcAft>
                <a:spcPts val="1000"/>
              </a:spcAft>
              <a:buSzPct val="100000"/>
              <a:buChar char="•"/>
              <a:lnSpc>
                <a:spcPts val="2200"/>
              </a:lnSpc>
            </a:pPr>
            <a:r>
              <a:rPr sz="2000" b="0">
                <a:solidFill>
                  <a:srgbClr val="333333"/>
                </a:solidFill>
                <a:latin typeface="Calibri"/>
              </a:rPr>
              <a:t>Reusable data is accompanied by documentation, metadata</a:t>
            </a:r>
          </a:p>
          <a:p>
            <a:pPr lvl="0" marL="457200" indent="-228600">
              <a:buFont typeface="Calibri"/>
              <a:spcAft>
                <a:spcPts val="1000"/>
              </a:spcAft>
              <a:buSzPct val="100000"/>
              <a:buChar char="•"/>
              <a:lnSpc>
                <a:spcPts val="2200"/>
              </a:lnSpc>
            </a:pPr>
            <a:r>
              <a:rPr sz="2000" b="0">
                <a:solidFill>
                  <a:srgbClr val="333333"/>
                </a:solidFill>
                <a:latin typeface="Calibri"/>
              </a:rPr>
              <a:t>Example 13.15 prefers community formats such as CSV or JSON for tabular data</a:t>
            </a:r>
          </a:p>
          <a:p>
            <a:pPr lvl="0" marL="457200" indent="-228600">
              <a:buFont typeface="Calibri"/>
              <a:spcAft>
                <a:spcPts val="1000"/>
              </a:spcAft>
              <a:buSzPct val="100000"/>
              <a:buChar char="•"/>
              <a:lnSpc>
                <a:spcPts val="2200"/>
              </a:lnSpc>
            </a:pPr>
            <a:r>
              <a:rPr sz="2000" b="0">
                <a:solidFill>
                  <a:srgbClr val="333333"/>
                </a:solidFill>
                <a:latin typeface="Calibri"/>
              </a:rPr>
              <a:t>Choosing formats the community already understands is a practical Reusable choice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FAIR means Findable, Accessible, Interoperable, and Reusable for people and machines</a:t>
            </a:r>
          </a:p>
          <a:p>
            <a:pPr lvl="0" marL="457200" indent="-228600">
              <a:buFont typeface="Calibri"/>
              <a:spcAft>
                <a:spcPts val="1000"/>
              </a:spcAft>
              <a:buSzPct val="100000"/>
              <a:buChar char="•"/>
              <a:lnSpc>
                <a:spcPts val="2200"/>
              </a:lnSpc>
            </a:pPr>
            <a:r>
              <a:rPr sz="2000" b="0">
                <a:solidFill>
                  <a:srgbClr val="333333"/>
                </a:solidFill>
                <a:latin typeface="Calibri"/>
              </a:rPr>
              <a:t>Public-archive indexing makes genomics and other deposits discoverable</a:t>
            </a:r>
          </a:p>
          <a:p>
            <a:pPr lvl="0" marL="457200" indent="-228600">
              <a:buFont typeface="Calibri"/>
              <a:spcAft>
                <a:spcPts val="1000"/>
              </a:spcAft>
              <a:buSzPct val="100000"/>
              <a:buChar char="•"/>
              <a:lnSpc>
                <a:spcPts val="2200"/>
              </a:lnSpc>
            </a:pPr>
            <a:r>
              <a:rPr sz="2000" b="0">
                <a:solidFill>
                  <a:srgbClr val="333333"/>
                </a:solidFill>
                <a:latin typeface="Calibri"/>
              </a:rPr>
              <a:t>Accessibility allows clear terms and access controls, not only unrestricted dumps</a:t>
            </a:r>
          </a:p>
          <a:p>
            <a:pPr lvl="0" marL="457200" indent="-228600">
              <a:buFont typeface="Calibri"/>
              <a:spcAft>
                <a:spcPts val="1000"/>
              </a:spcAft>
              <a:buSzPct val="100000"/>
              <a:buChar char="•"/>
              <a:lnSpc>
                <a:spcPts val="2200"/>
              </a:lnSpc>
            </a:pPr>
            <a:r>
              <a:rPr sz="2000" b="0">
                <a:solidFill>
                  <a:srgbClr val="333333"/>
                </a:solidFill>
                <a:latin typeface="Calibri"/>
              </a:rPr>
              <a:t>Standard formats and controlled vocabularies support interoperability</a:t>
            </a:r>
          </a:p>
          <a:p>
            <a:pPr lvl="0" marL="457200" indent="-228600">
              <a:buFont typeface="Calibri"/>
              <a:spcAft>
                <a:spcPts val="1000"/>
              </a:spcAft>
              <a:buSzPct val="100000"/>
              <a:buChar char="•"/>
              <a:lnSpc>
                <a:spcPts val="2200"/>
              </a:lnSpc>
            </a:pPr>
            <a:r>
              <a:rPr sz="2000" b="0">
                <a:solidFill>
                  <a:srgbClr val="333333"/>
                </a:solidFill>
                <a:latin typeface="Calibri"/>
              </a:rPr>
              <a:t>Community file formats and licensing documentation enable reuse beyond the original study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data-quality standards for reproducibility and research-facing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Fair Data Principles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