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 sharing without quality and provenance still yields fragile science. This part covers data-quality standards for reproducibility and research-facing provenance that tracks how datasets were created and updated. Platform-scale lineage catalogs remain a Chapter 12 operational topic; here provenance is evidence for open, checkable research.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explain why quality decisions must be documented for reproducibility; illustrate completeness documentation with clinical trial dropouts; define provenance as origin, transforms, and context; and describe how tracking updates preserves integrity across dataset versions.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quality dimensions and cleaning procedures are treated in earlier chapters. For reproducibility, quality decisions—imputation, exclusion, correction—must be documented so the published analysis can be repeated under the same conditions. Completeness, consistency, and accuracy support that goal. Completeness in particular requires clear documentation of missing data and the reasons for absence, not silent omission.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13.18 shows completeness documentation for missing participants. In clinical trials, if certain participants dropped out of the study, that should be noted in the dataset along with the impact on the analysis. Future users need those facts to interpret results and to repeat the analysis under comparable conditions. The example 18 module for this chapter covers that dropout documentation pattern.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provenance is the documentation and tracking of origin and transformations throughout a dataset’s lifecycle. It records where data came from, how they were collected, what processes were applied, and the decisions made during processing. Provenance provides transparency and accountability so researchers can verify credibility and locate biases introduced during cleaning or errors from specific analytical steps. Unlike Chapter 12’s enterprise lineage catalogs, the emphasis here is evidence for reproducible research and open science.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13.24 shows the provenance fields a genomics study should record. Provenance should capture the sequencing technology, preprocessing steps, and curation decisions so future researchers can validate findings or repeat the analysis on related datasets. Without such documentation, a dataset becomes a black box whose reliability cannot be assessed. The example 24 module for this chapter summarizes those genomics provenance fields.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Provenance also improves traceability when datasets change. Example 13.25 shows that if a dataset undergoes modifications or updates, tracking those changes preserves integrity and lets future users understand how the dataset evolved. In regulated fields such as healthcare or finance, provenance further supports auditability and compliance by showing ethical collection and appropriate processing. The example 25 module for this chapter frames update tracking over time.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Quality decisions must be documented if published analyses are to be repeated faithfully. Completeness includes recording dropouts and other missingness with analytical impact. Provenance records origin, transforms, context, and processing decisions as research evidence. Tracking updates links versions so integrity and audits remain possible. Distinguish Chapter 12 platform lineage from this chapter’s research-facing provenance record.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covers open-data licensing, balancing openness with privacy, and ethical risks such as bias and community control over shared data.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13 — Data quality and provenance</a:t>
            </a:r>
          </a:p>
          <a:p>
            <a:pPr algn="ctr">
              <a:lnSpc>
                <a:spcPts val="2200"/>
              </a:lnSpc>
              <a:spcBef>
                <a:spcPts val="1400"/>
              </a:spcBef>
            </a:pPr>
            <a:r>
              <a:rPr sz="2600" b="0">
                <a:solidFill>
                  <a:srgbClr val="333333"/>
                </a:solidFill>
                <a:latin typeface="Calibri"/>
              </a:rPr>
              <a:t>FAIR sharing without quality and provenance still yields fragile science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Quality And Provenance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Context; and describe how tracking updates preserves integrity across dataset versions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Quality And Provenance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Quality standards for reproducibility</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Data quality dimensions and cleaning procedures are treated in earlier chapters</a:t>
            </a:r>
          </a:p>
          <a:p>
            <a:pPr lvl="0" marL="457200" indent="-228600">
              <a:buFont typeface="Calibri"/>
              <a:spcAft>
                <a:spcPts val="1000"/>
              </a:spcAft>
              <a:buSzPct val="100000"/>
              <a:buChar char="•"/>
              <a:lnSpc>
                <a:spcPts val="2200"/>
              </a:lnSpc>
            </a:pPr>
            <a:r>
              <a:rPr sz="2000" b="0">
                <a:solidFill>
                  <a:srgbClr val="333333"/>
                </a:solidFill>
                <a:latin typeface="Calibri"/>
              </a:rPr>
              <a:t>For reproducibility</a:t>
            </a:r>
          </a:p>
          <a:p>
            <a:pPr lvl="0" marL="457200" indent="-228600">
              <a:buFont typeface="Calibri"/>
              <a:spcAft>
                <a:spcPts val="1000"/>
              </a:spcAft>
              <a:buSzPct val="100000"/>
              <a:buChar char="•"/>
              <a:lnSpc>
                <a:spcPts val="2200"/>
              </a:lnSpc>
            </a:pPr>
            <a:r>
              <a:rPr sz="2000" b="0">
                <a:solidFill>
                  <a:srgbClr val="333333"/>
                </a:solidFill>
                <a:latin typeface="Calibri"/>
              </a:rPr>
              <a:t>Completeness, consistency, and accuracy support that goal</a:t>
            </a:r>
          </a:p>
          <a:p>
            <a:pPr lvl="0" marL="457200" indent="-228600">
              <a:buFont typeface="Calibri"/>
              <a:spcAft>
                <a:spcPts val="1000"/>
              </a:spcAft>
              <a:buSzPct val="100000"/>
              <a:buChar char="•"/>
              <a:lnSpc>
                <a:spcPts val="2200"/>
              </a:lnSpc>
            </a:pPr>
            <a:r>
              <a:rPr sz="2000" b="0">
                <a:solidFill>
                  <a:srgbClr val="333333"/>
                </a:solidFill>
                <a:latin typeface="Calibri"/>
              </a:rPr>
              <a:t>Not silent omission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Quality And Provenance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13.18 — Documenting Clinical Trial Dropouts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13.18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13.18 shows completeness documentation for missing participants</a:t>
            </a:r>
          </a:p>
          <a:p>
            <a:pPr lvl="0" marL="457200" indent="-228600">
              <a:buFont typeface="Calibri"/>
              <a:spcAft>
                <a:spcPts val="1000"/>
              </a:spcAft>
              <a:buSzPct val="100000"/>
              <a:buChar char="•"/>
              <a:lnSpc>
                <a:spcPts val="2200"/>
              </a:lnSpc>
            </a:pPr>
            <a:r>
              <a:rPr sz="2000" b="0">
                <a:solidFill>
                  <a:srgbClr val="333333"/>
                </a:solidFill>
                <a:latin typeface="Calibri"/>
              </a:rPr>
              <a:t>In clinical trials</a:t>
            </a:r>
          </a:p>
          <a:p>
            <a:pPr lvl="0" marL="457200" indent="-228600">
              <a:buFont typeface="Calibri"/>
              <a:spcAft>
                <a:spcPts val="1000"/>
              </a:spcAft>
              <a:buSzPct val="100000"/>
              <a:buChar char="•"/>
              <a:lnSpc>
                <a:spcPts val="2200"/>
              </a:lnSpc>
            </a:pPr>
            <a:r>
              <a:rPr sz="2000" b="0">
                <a:solidFill>
                  <a:srgbClr val="333333"/>
                </a:solidFill>
                <a:latin typeface="Calibri"/>
              </a:rPr>
              <a:t>Future users need those facts to interpret results and to repeat the analysis under</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`modules/chapter13/example18/`</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Quality And Provenance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Provenance as research evidence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Data provenance is the documentation and tracking of origin and transformations throughout</a:t>
            </a:r>
          </a:p>
          <a:p>
            <a:pPr lvl="0" marL="457200" indent="-228600">
              <a:buFont typeface="Calibri"/>
              <a:spcAft>
                <a:spcPts val="1000"/>
              </a:spcAft>
              <a:buSzPct val="100000"/>
              <a:buChar char="•"/>
              <a:lnSpc>
                <a:spcPts val="2200"/>
              </a:lnSpc>
            </a:pPr>
            <a:r>
              <a:rPr sz="2000" b="0">
                <a:solidFill>
                  <a:srgbClr val="333333"/>
                </a:solidFill>
                <a:latin typeface="Calibri"/>
              </a:rPr>
              <a:t>It records where data came from, how they were collected, what processes were applied</a:t>
            </a:r>
          </a:p>
          <a:p>
            <a:pPr lvl="0" marL="457200" indent="-228600">
              <a:buFont typeface="Calibri"/>
              <a:spcAft>
                <a:spcPts val="1000"/>
              </a:spcAft>
              <a:buSzPct val="100000"/>
              <a:buChar char="•"/>
              <a:lnSpc>
                <a:spcPts val="2200"/>
              </a:lnSpc>
            </a:pPr>
            <a:r>
              <a:rPr sz="2000" b="0">
                <a:solidFill>
                  <a:srgbClr val="333333"/>
                </a:solidFill>
                <a:latin typeface="Calibri"/>
              </a:rPr>
              <a:t>Provenance provides transparency and accountability so researchers can verify credibility</a:t>
            </a:r>
          </a:p>
          <a:p>
            <a:pPr lvl="0" marL="457200" indent="-228600">
              <a:buFont typeface="Calibri"/>
              <a:spcAft>
                <a:spcPts val="1000"/>
              </a:spcAft>
              <a:buSzPct val="100000"/>
              <a:buChar char="•"/>
              <a:lnSpc>
                <a:spcPts val="2200"/>
              </a:lnSpc>
            </a:pPr>
            <a:r>
              <a:rPr sz="2000" b="0">
                <a:solidFill>
                  <a:srgbClr val="333333"/>
                </a:solidFill>
                <a:latin typeface="Calibri"/>
              </a:rPr>
              <a:t>The emphasis here is evidence for reproducible research and open science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Quality And Provenance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13.24 — Genomics Provenance for Sequencing Pipelines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13.24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13.24 shows the provenance fields a genomics study should record</a:t>
            </a:r>
          </a:p>
          <a:p>
            <a:pPr lvl="0" marL="457200" indent="-228600">
              <a:buFont typeface="Calibri"/>
              <a:spcAft>
                <a:spcPts val="1000"/>
              </a:spcAft>
              <a:buSzPct val="100000"/>
              <a:buChar char="•"/>
              <a:lnSpc>
                <a:spcPts val="2200"/>
              </a:lnSpc>
            </a:pPr>
            <a:r>
              <a:rPr sz="2000" b="0">
                <a:solidFill>
                  <a:srgbClr val="333333"/>
                </a:solidFill>
                <a:latin typeface="Calibri"/>
              </a:rPr>
              <a:t>Provenance should capture the sequencing technology, preprocessing steps</a:t>
            </a:r>
          </a:p>
          <a:p>
            <a:pPr lvl="0" marL="457200" indent="-228600">
              <a:buFont typeface="Calibri"/>
              <a:spcAft>
                <a:spcPts val="1000"/>
              </a:spcAft>
              <a:buSzPct val="100000"/>
              <a:buChar char="•"/>
              <a:lnSpc>
                <a:spcPts val="2200"/>
              </a:lnSpc>
            </a:pPr>
            <a:r>
              <a:rPr sz="2000" b="0">
                <a:solidFill>
                  <a:srgbClr val="333333"/>
                </a:solidFill>
                <a:latin typeface="Calibri"/>
              </a:rPr>
              <a:t>Without such documentation</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`modules/chapter13/example24/`</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Quality And Provenance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13.25 — Tracking Dataset Updates Over Time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13.25 — hands-on module</a:t>
            </a:r>
          </a:p>
          <a:p>
            <a:pPr lvl="0" marL="457200" indent="-228600">
              <a:buFont typeface="Calibri"/>
              <a:spcAft>
                <a:spcPts val="1000"/>
              </a:spcAft>
              <a:buSzPct val="100000"/>
              <a:buChar char="•"/>
              <a:lnSpc>
                <a:spcPts val="2200"/>
              </a:lnSpc>
            </a:pPr>
            <a:r>
              <a:rPr sz="2000" b="0">
                <a:solidFill>
                  <a:srgbClr val="333333"/>
                </a:solidFill>
                <a:latin typeface="Calibri"/>
              </a:rPr>
              <a:t>Provenance also improves traceability when datasets change</a:t>
            </a:r>
          </a:p>
          <a:p>
            <a:pPr lvl="0" marL="457200" indent="-228600">
              <a:buFont typeface="Calibri"/>
              <a:spcAft>
                <a:spcPts val="1000"/>
              </a:spcAft>
              <a:buSzPct val="100000"/>
              <a:buChar char="•"/>
              <a:lnSpc>
                <a:spcPts val="2200"/>
              </a:lnSpc>
            </a:pPr>
            <a:r>
              <a:rPr sz="2000" b="0">
                <a:solidFill>
                  <a:srgbClr val="333333"/>
                </a:solidFill>
                <a:latin typeface="Calibri"/>
              </a:rPr>
              <a:t>Example 13.25 shows that if a dataset undergoes modifications or updates</a:t>
            </a:r>
          </a:p>
          <a:p>
            <a:pPr lvl="0" marL="457200" indent="-228600">
              <a:buFont typeface="Calibri"/>
              <a:spcAft>
                <a:spcPts val="1000"/>
              </a:spcAft>
              <a:buSzPct val="100000"/>
              <a:buChar char="•"/>
              <a:lnSpc>
                <a:spcPts val="2200"/>
              </a:lnSpc>
            </a:pPr>
            <a:r>
              <a:rPr sz="2000" b="0">
                <a:solidFill>
                  <a:srgbClr val="333333"/>
                </a:solidFill>
                <a:latin typeface="Calibri"/>
              </a:rPr>
              <a:t>In regulated fields such as healthcare or finance</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`modules/chapter13/example25/`</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Quality And Provenance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Quality decisions must be documented if published analyses are to be repeated faithfully</a:t>
            </a:r>
          </a:p>
          <a:p>
            <a:pPr lvl="0" marL="457200" indent="-228600">
              <a:buFont typeface="Calibri"/>
              <a:spcAft>
                <a:spcPts val="1000"/>
              </a:spcAft>
              <a:buSzPct val="100000"/>
              <a:buChar char="•"/>
              <a:lnSpc>
                <a:spcPts val="2200"/>
              </a:lnSpc>
            </a:pPr>
            <a:r>
              <a:rPr sz="2000" b="0">
                <a:solidFill>
                  <a:srgbClr val="333333"/>
                </a:solidFill>
                <a:latin typeface="Calibri"/>
              </a:rPr>
              <a:t>Completeness includes recording dropouts and other missingness with analytical impact</a:t>
            </a:r>
          </a:p>
          <a:p>
            <a:pPr lvl="0" marL="457200" indent="-228600">
              <a:buFont typeface="Calibri"/>
              <a:spcAft>
                <a:spcPts val="1000"/>
              </a:spcAft>
              <a:buSzPct val="100000"/>
              <a:buChar char="•"/>
              <a:lnSpc>
                <a:spcPts val="2200"/>
              </a:lnSpc>
            </a:pPr>
            <a:r>
              <a:rPr sz="2000" b="0">
                <a:solidFill>
                  <a:srgbClr val="333333"/>
                </a:solidFill>
                <a:latin typeface="Calibri"/>
              </a:rPr>
              <a:t>Provenance records origin, transforms, context</a:t>
            </a:r>
          </a:p>
          <a:p>
            <a:pPr lvl="0" marL="457200" indent="-228600">
              <a:buFont typeface="Calibri"/>
              <a:spcAft>
                <a:spcPts val="1000"/>
              </a:spcAft>
              <a:buSzPct val="100000"/>
              <a:buChar char="•"/>
              <a:lnSpc>
                <a:spcPts val="2200"/>
              </a:lnSpc>
            </a:pPr>
            <a:r>
              <a:rPr sz="2000" b="0">
                <a:solidFill>
                  <a:srgbClr val="333333"/>
                </a:solidFill>
                <a:latin typeface="Calibri"/>
              </a:rPr>
              <a:t>Tracking updates links versions so integrity and audits remain possible</a:t>
            </a:r>
          </a:p>
          <a:p>
            <a:pPr lvl="0" marL="457200" indent="-228600">
              <a:buFont typeface="Calibri"/>
              <a:spcAft>
                <a:spcPts val="1000"/>
              </a:spcAft>
              <a:buSzPct val="100000"/>
              <a:buChar char="•"/>
              <a:lnSpc>
                <a:spcPts val="2200"/>
              </a:lnSpc>
            </a:pPr>
            <a:r>
              <a:rPr sz="2000" b="0">
                <a:solidFill>
                  <a:srgbClr val="333333"/>
                </a:solidFill>
                <a:latin typeface="Calibri"/>
              </a:rPr>
              <a:t>Distinguish Chapter 12 platform lineage from this chapter’s research-facing provenance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Quality And Provenance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The next part covers open-data licensing, balancing openness with privacy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13 — Quality And Provenance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