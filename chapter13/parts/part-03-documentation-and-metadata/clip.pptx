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Standards require concrete records. Undocumented methods and unpinned dataset versions break replication even when code is public. This part covers research documentation, repository metadata for discovery, and why dataset versions must be pinned for published analyses.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undocumented methodology blocks replication; describe publication-grade repository metadata that supports discovery; state why the exact dataset version used in a published analysis must be identifiable; and distinguish Chapter 8’s operational documentation toolkit from this chapter’s research-facing reuse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the documentation components listed in Chapter 8, reproducible research documentation should record the exact conditions of the published analysis: which dataset version was used, which transformations were applied in which order, and which known limitations—such as missing values or biases—could alter downstream conclusions. The goal is a checkable published path, not only an internal ops record.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13.9 shows the cost of unclear methods. In a medical study, if the methodology for collecting patient data is unclear, another researcher cannot evaluate reliability or replicate the study. Surveys of researchers have long found that inadequate documentation of methods and data is among the leading causes of failed reproduction attempts. The example 9 module for this chapter summarizes that documentation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types and roles are covered in Chapter 8. What matters for open science is publication-grade metadata: standardized formats and controlled vocabularies that let repositories index a dataset so others can find it. Example 13.10 shows a plant-genetics dataset uploaded with standards-compliant metadata—title, keywords, methodology, and license—so related searches can discover it beyond the original study. The example 10 module for this chapter covers that discovery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Versioning tools are developed in Chapters 8 and 12; for reproducibility the essential requirement is narrower. The exact dataset version used in a published analysis must be identifiable and retrievable even as the data continues to evolve. Example 13.11 shows what breaks without pinned versions: if a dataset is updated after publication and the original version was never archived, replication attempts silently compare against different data. The example 11 module for this chapter frames that pinning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Undocumented methods leave published findings checkable only in name. Publication-grade metadata turns repositories into discovery systems, not dump sites. Pinning the exact dataset version used in a paper is required for faithful replication. Chapter 8 and Chapter 12 supply the operational toolkit; this chapter asks what those records must prove for open, research-facing reuse.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introduces FAIR principles—Findable, Accessible, Interoperable, and Reusable—and shows how indexing, access controls, formats, and community standards put them into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Documentation and metadata</a:t>
            </a:r>
          </a:p>
          <a:p>
            <a:pPr algn="ctr">
              <a:lnSpc>
                <a:spcPts val="2200"/>
              </a:lnSpc>
              <a:spcBef>
                <a:spcPts val="1400"/>
              </a:spcBef>
            </a:pPr>
            <a:r>
              <a:rPr sz="2600" b="0">
                <a:solidFill>
                  <a:srgbClr val="333333"/>
                </a:solidFill>
                <a:latin typeface="Calibri"/>
              </a:rPr>
              <a:t>Standards require concrete records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Research documentation demands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Beyond the documentation components listed in Chapter 8</a:t>
            </a:r>
          </a:p>
          <a:p>
            <a:pPr>
              <a:spcAft>
                <a:spcPts val="1000"/>
              </a:spcAft>
              <a:buChar char="•"/>
              <a:lnSpc>
                <a:spcPts val="2200"/>
              </a:lnSpc>
            </a:pPr>
            <a:r>
              <a:rPr sz="2000" b="0">
                <a:solidFill>
                  <a:srgbClr val="333333"/>
                </a:solidFill>
                <a:latin typeface="Calibri"/>
              </a:rPr>
              <a:t>The goal is a checkable published path, not only an internal ops record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13.9 — Undocumented Methodology Blocks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13.9 — hands-on module</a:t>
            </a:r>
          </a:p>
          <a:p>
            <a:pPr>
              <a:spcAft>
                <a:spcPts val="1000"/>
              </a:spcAft>
              <a:buChar char="•"/>
              <a:lnSpc>
                <a:spcPts val="2200"/>
              </a:lnSpc>
            </a:pPr>
            <a:r>
              <a:rPr sz="2000" b="0">
                <a:solidFill>
                  <a:srgbClr val="333333"/>
                </a:solidFill>
                <a:latin typeface="Calibri"/>
              </a:rPr>
              <a:t>Example 13.9 shows the cost of unclear methods</a:t>
            </a:r>
          </a:p>
          <a:p>
            <a:pPr>
              <a:spcAft>
                <a:spcPts val="1000"/>
              </a:spcAft>
              <a:buChar char="•"/>
              <a:lnSpc>
                <a:spcPts val="2200"/>
              </a:lnSpc>
            </a:pPr>
            <a:r>
              <a:rPr sz="2000" b="0">
                <a:solidFill>
                  <a:srgbClr val="333333"/>
                </a:solidFill>
                <a:latin typeface="Calibri"/>
              </a:rPr>
              <a:t>In a medical study</a:t>
            </a:r>
          </a:p>
          <a:p>
            <a:pPr>
              <a:spcAft>
                <a:spcPts val="1000"/>
              </a:spcAft>
              <a:buChar char="•"/>
              <a:lnSpc>
                <a:spcPts val="2200"/>
              </a:lnSpc>
            </a:pPr>
            <a:r>
              <a:rPr sz="2000" b="0">
                <a:solidFill>
                  <a:srgbClr val="333333"/>
                </a:solidFill>
                <a:latin typeface="Calibri"/>
              </a:rPr>
              <a:t>Surveys of researchers have long found that inadequate documentation of methods and data</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13.10 — Repository Metadata Enables Discovery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13.10 — hands-on module</a:t>
            </a:r>
          </a:p>
          <a:p>
            <a:pPr>
              <a:spcAft>
                <a:spcPts val="1000"/>
              </a:spcAft>
              <a:buChar char="•"/>
              <a:lnSpc>
                <a:spcPts val="2200"/>
              </a:lnSpc>
            </a:pPr>
            <a:r>
              <a:rPr sz="2000" b="0">
                <a:solidFill>
                  <a:srgbClr val="333333"/>
                </a:solidFill>
                <a:latin typeface="Calibri"/>
              </a:rPr>
              <a:t>Metadata types and roles are covered in Chapter 8</a:t>
            </a:r>
          </a:p>
          <a:p>
            <a:pPr>
              <a:spcAft>
                <a:spcPts val="1000"/>
              </a:spcAft>
              <a:buChar char="•"/>
              <a:lnSpc>
                <a:spcPts val="2200"/>
              </a:lnSpc>
            </a:pPr>
            <a:r>
              <a:rPr sz="2000" b="0">
                <a:solidFill>
                  <a:srgbClr val="333333"/>
                </a:solidFill>
                <a:latin typeface="Calibri"/>
              </a:rPr>
              <a:t>What matters for open science is publication-grade metadata</a:t>
            </a:r>
          </a:p>
          <a:p>
            <a:pPr>
              <a:spcAft>
                <a:spcPts val="1000"/>
              </a:spcAft>
              <a:buChar char="•"/>
              <a:lnSpc>
                <a:spcPts val="2200"/>
              </a:lnSpc>
            </a:pPr>
            <a:r>
              <a:rPr sz="2000" b="0">
                <a:solidFill>
                  <a:srgbClr val="333333"/>
                </a:solidFill>
                <a:latin typeface="Calibri"/>
              </a:rPr>
              <a:t>License, so related searches can discover it beyond the original study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13.11 — Unpinned Dataset Versions Break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13.11 — hands-on module</a:t>
            </a:r>
          </a:p>
          <a:p>
            <a:pPr>
              <a:spcAft>
                <a:spcPts val="1000"/>
              </a:spcAft>
              <a:buChar char="•"/>
              <a:lnSpc>
                <a:spcPts val="2200"/>
              </a:lnSpc>
            </a:pPr>
            <a:r>
              <a:rPr sz="2000" b="0">
                <a:solidFill>
                  <a:srgbClr val="333333"/>
                </a:solidFill>
                <a:latin typeface="Calibri"/>
              </a:rPr>
              <a:t>Versioning tools are developed in Chapters 8 and 12</a:t>
            </a:r>
          </a:p>
          <a:p>
            <a:pPr>
              <a:spcAft>
                <a:spcPts val="1000"/>
              </a:spcAft>
              <a:buChar char="•"/>
              <a:lnSpc>
                <a:spcPts val="2200"/>
              </a:lnSpc>
            </a:pPr>
            <a:r>
              <a:rPr sz="2000" b="0">
                <a:solidFill>
                  <a:srgbClr val="333333"/>
                </a:solidFill>
                <a:latin typeface="Calibri"/>
              </a:rPr>
              <a:t>The exact dataset version used in a published analysis must be identifiable and</a:t>
            </a:r>
          </a:p>
          <a:p>
            <a:pPr>
              <a:spcAft>
                <a:spcPts val="1000"/>
              </a:spcAft>
              <a:buChar char="•"/>
              <a:lnSpc>
                <a:spcPts val="2200"/>
              </a:lnSpc>
            </a:pPr>
            <a:r>
              <a:rPr sz="2000" b="0">
                <a:solidFill>
                  <a:srgbClr val="333333"/>
                </a:solidFill>
                <a:latin typeface="Calibri"/>
              </a:rPr>
              <a:t>Example 13.11 shows what breaks without pinned versions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`modules/chapter13/example11/`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Undocumented methods leave published findings checkable only in name</a:t>
            </a:r>
          </a:p>
          <a:p>
            <a:pPr>
              <a:spcAft>
                <a:spcPts val="1000"/>
              </a:spcAft>
              <a:buChar char="•"/>
              <a:lnSpc>
                <a:spcPts val="2200"/>
              </a:lnSpc>
            </a:pPr>
            <a:r>
              <a:rPr sz="2000" b="0">
                <a:solidFill>
                  <a:srgbClr val="333333"/>
                </a:solidFill>
                <a:latin typeface="Calibri"/>
              </a:rPr>
              <a:t>Publication-grade metadata turns repositories into discovery systems, not dump sites</a:t>
            </a:r>
          </a:p>
          <a:p>
            <a:pPr>
              <a:spcAft>
                <a:spcPts val="1000"/>
              </a:spcAft>
              <a:buChar char="•"/>
              <a:lnSpc>
                <a:spcPts val="2200"/>
              </a:lnSpc>
            </a:pPr>
            <a:r>
              <a:rPr sz="2000" b="0">
                <a:solidFill>
                  <a:srgbClr val="333333"/>
                </a:solidFill>
                <a:latin typeface="Calibri"/>
              </a:rPr>
              <a:t>Pinning the exact dataset version used in a paper is required for faithful replication</a:t>
            </a:r>
          </a:p>
          <a:p>
            <a:pPr>
              <a:spcAft>
                <a:spcPts val="1000"/>
              </a:spcAft>
              <a:buChar char="•"/>
              <a:lnSpc>
                <a:spcPts val="2200"/>
              </a:lnSpc>
            </a:pPr>
            <a:r>
              <a:rPr sz="2000" b="0">
                <a:solidFill>
                  <a:srgbClr val="333333"/>
                </a:solidFill>
                <a:latin typeface="Calibri"/>
              </a:rPr>
              <a:t>Chapter 8 and Chapter 12 supply the operational toolkit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introduces FAIR principles, Findable, Accessible, Interoperable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Documentation And Metadata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