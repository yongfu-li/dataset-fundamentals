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Openness is not unlimited. Licenses, privacy, bias, and community control constrain what can be shared. This part covers open-data licensing, balancing openness with privacy, and ethical risks in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why sensitive health data may require restricted licenses; describe the openness-versus-privacy trade-off for license choice; recognize ethical risks of reinforcing bias with open datasets; and state why communities, including indigenous communities, should control how their data are shared.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Responsible open science depends on clear licenses and ethical constraints. Some teams draft custom or restricted licenses that limit redistribution, require ethical use, or control who may access the data. Privacy principles and techniques are developed in Chapter 3; the open-science question is how those constraints interact with license choice. An unrestricted open license signals broad reuse and is appropriate only after privacy techniques have made that reuse safe.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13.26 illustrates restricted licensing for sensitive health data. Use may be limited to qualified researchers or specific contexts such as academic or non-profit use. Clinical trial data and patient records cannot carry an unrestricted open license when regulation requires de-identification first, and even de-identified data may remain re-identifiable when combined with other releases. The example 26 module for this chapter summarizes that restricted-license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principles for collection and privacy are covered in Chapter 3. Open science adds obligations that arise from making data public: minimize risk to participants, and state what the published data can and cannot support. Researchers should document scope and limitations, including biases or collection gaps that could affect downstream research or policy. Consent obtained during collection must also cover the intended public release.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Ethical concerns do not end when data are shared; they extend to reuse. Example 13.27 warns against discriminatory reuse of hiring or healthcare datasets. Such data should not be used to reinforce biases or perpetuate systemic inequalities. If data reveal disparities, analysis should proceed with care to avoid reinforcing stereotypes or unjust practices. The example 27 module for this chapter frames that non-discrimination obligation.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science must respect the rights and wishes of people and communities whose data are used. Communities involved in collection, especially marginalized or vulnerable populations, should have a say in how their data are used and shared. Example 13.28 emphasizes that indigenous communities involved in ecological or environmental research should control how their data are used and shared so that sharing aligns with cultural values and ethical standards. The example 28 module for this chapter covers community authority over shared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Licenses can be open or restricted; health data often need limited-access terms. License choice must follow a privacy assessment, not precede it. Open release creates ongoing ethical duties around bias, security, attribution, and scope. Communities, including indigenous communities, retain legitimate control over sharing decisions. Openness without ethics and privacy is not responsible open science.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reproducible research workflows: workflow files, Jupyter notebooks, and Docker containers for fixed tool and machine-learning stacks.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13 — Licensing and ethical considerations</a:t>
            </a:r>
          </a:p>
          <a:p>
            <a:pPr algn="ctr">
              <a:lnSpc>
                <a:spcPts val="2200"/>
              </a:lnSpc>
              <a:spcBef>
                <a:spcPts val="1400"/>
              </a:spcBef>
            </a:pPr>
            <a:r>
              <a:rPr sz="2600" b="0">
                <a:solidFill>
                  <a:srgbClr val="333333"/>
                </a:solidFill>
                <a:latin typeface="Calibri"/>
              </a:rPr>
              <a:t>Openness is not unlimited</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Licenses and the privacy trade-off</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Responsible open science depends on clear licenses and ethical constraints</a:t>
            </a:r>
          </a:p>
          <a:p>
            <a:pPr>
              <a:spcAft>
                <a:spcPts val="1000"/>
              </a:spcAft>
              <a:buChar char="•"/>
              <a:lnSpc>
                <a:spcPts val="2200"/>
              </a:lnSpc>
            </a:pPr>
            <a:r>
              <a:rPr sz="2000" b="0">
                <a:solidFill>
                  <a:srgbClr val="333333"/>
                </a:solidFill>
                <a:latin typeface="Calibri"/>
              </a:rPr>
              <a:t>Some teams draft custom or restricted licenses that limit redistribution</a:t>
            </a:r>
          </a:p>
          <a:p>
            <a:pPr>
              <a:spcAft>
                <a:spcPts val="1000"/>
              </a:spcAft>
              <a:buChar char="•"/>
              <a:lnSpc>
                <a:spcPts val="2200"/>
              </a:lnSpc>
            </a:pPr>
            <a:r>
              <a:rPr sz="2000" b="0">
                <a:solidFill>
                  <a:srgbClr val="333333"/>
                </a:solidFill>
                <a:latin typeface="Calibri"/>
              </a:rPr>
              <a:t>Privacy principles and techniques are developed in Chapter 3</a:t>
            </a:r>
          </a:p>
          <a:p>
            <a:pPr>
              <a:spcAft>
                <a:spcPts val="1000"/>
              </a:spcAft>
              <a:buChar char="•"/>
              <a:lnSpc>
                <a:spcPts val="2200"/>
              </a:lnSpc>
            </a:pPr>
            <a:r>
              <a:rPr sz="2000" b="0">
                <a:solidFill>
                  <a:srgbClr val="333333"/>
                </a:solidFill>
                <a:latin typeface="Calibri"/>
              </a:rPr>
              <a:t>An unrestricted open license signals broad reuse and is appropriate only after privacy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13.26 — Restricted Licenses for Health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13.26 — hands-on module</a:t>
            </a:r>
          </a:p>
          <a:p>
            <a:pPr>
              <a:spcAft>
                <a:spcPts val="1000"/>
              </a:spcAft>
              <a:buChar char="•"/>
              <a:lnSpc>
                <a:spcPts val="2200"/>
              </a:lnSpc>
            </a:pPr>
            <a:r>
              <a:rPr sz="2000" b="0">
                <a:solidFill>
                  <a:srgbClr val="333333"/>
                </a:solidFill>
                <a:latin typeface="Calibri"/>
              </a:rPr>
              <a:t>Example 13.26 illustrates restricted licensing for sensitive health data</a:t>
            </a:r>
          </a:p>
          <a:p>
            <a:pPr>
              <a:spcAft>
                <a:spcPts val="1000"/>
              </a:spcAft>
              <a:buChar char="•"/>
              <a:lnSpc>
                <a:spcPts val="2200"/>
              </a:lnSpc>
            </a:pPr>
            <a:r>
              <a:rPr sz="2000" b="0">
                <a:solidFill>
                  <a:srgbClr val="333333"/>
                </a:solidFill>
                <a:latin typeface="Calibri"/>
              </a:rPr>
              <a:t>Use may be limited to qualified researchers or specific contexts such as academic or</a:t>
            </a:r>
          </a:p>
          <a:p>
            <a:pPr>
              <a:spcAft>
                <a:spcPts val="1000"/>
              </a:spcAft>
              <a:buChar char="•"/>
              <a:lnSpc>
                <a:spcPts val="2200"/>
              </a:lnSpc>
            </a:pPr>
            <a:r>
              <a:rPr sz="2000" b="0">
                <a:solidFill>
                  <a:srgbClr val="333333"/>
                </a:solidFill>
                <a:latin typeface="Calibri"/>
              </a:rPr>
              <a:t>Even de-identified data may remain re-identifiable when combined with other releases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obligations after sharing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Ethical principles for collection and privacy are covered in Chapter 3</a:t>
            </a:r>
          </a:p>
          <a:p>
            <a:pPr>
              <a:spcAft>
                <a:spcPts val="1000"/>
              </a:spcAft>
              <a:buChar char="•"/>
              <a:lnSpc>
                <a:spcPts val="2200"/>
              </a:lnSpc>
            </a:pPr>
            <a:r>
              <a:rPr sz="2000" b="0">
                <a:solidFill>
                  <a:srgbClr val="333333"/>
                </a:solidFill>
                <a:latin typeface="Calibri"/>
              </a:rPr>
              <a:t>Open science adds obligations that arise from making data public</a:t>
            </a:r>
          </a:p>
          <a:p>
            <a:pPr>
              <a:spcAft>
                <a:spcPts val="1000"/>
              </a:spcAft>
              <a:buChar char="•"/>
              <a:lnSpc>
                <a:spcPts val="2200"/>
              </a:lnSpc>
            </a:pPr>
            <a:r>
              <a:rPr sz="2000" b="0">
                <a:solidFill>
                  <a:srgbClr val="333333"/>
                </a:solidFill>
                <a:latin typeface="Calibri"/>
              </a:rPr>
              <a:t>Researchers should document scope and limitations</a:t>
            </a:r>
          </a:p>
          <a:p>
            <a:pPr>
              <a:spcAft>
                <a:spcPts val="1000"/>
              </a:spcAft>
              <a:buChar char="•"/>
              <a:lnSpc>
                <a:spcPts val="2200"/>
              </a:lnSpc>
            </a:pPr>
            <a:r>
              <a:rPr sz="2000" b="0">
                <a:solidFill>
                  <a:srgbClr val="333333"/>
                </a:solidFill>
                <a:latin typeface="Calibri"/>
              </a:rPr>
              <a:t>Consent obtained during collection must also cover the intended public release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13.27 — Avoid Reinforcing Bias with Open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13.27 — hands-on module</a:t>
            </a:r>
          </a:p>
          <a:p>
            <a:pPr>
              <a:spcAft>
                <a:spcPts val="1000"/>
              </a:spcAft>
              <a:buChar char="•"/>
              <a:lnSpc>
                <a:spcPts val="2200"/>
              </a:lnSpc>
            </a:pPr>
            <a:r>
              <a:rPr sz="2000" b="0">
                <a:solidFill>
                  <a:srgbClr val="333333"/>
                </a:solidFill>
                <a:latin typeface="Calibri"/>
              </a:rPr>
              <a:t>Ethical concerns do not end when data are shared; they extend to reuse</a:t>
            </a:r>
          </a:p>
          <a:p>
            <a:pPr>
              <a:spcAft>
                <a:spcPts val="1000"/>
              </a:spcAft>
              <a:buChar char="•"/>
              <a:lnSpc>
                <a:spcPts val="2200"/>
              </a:lnSpc>
            </a:pPr>
            <a:r>
              <a:rPr sz="2000" b="0">
                <a:solidFill>
                  <a:srgbClr val="333333"/>
                </a:solidFill>
                <a:latin typeface="Calibri"/>
              </a:rPr>
              <a:t>Example 13.27 warns against discriminatory reuse of hiring or healthcare datasets</a:t>
            </a:r>
          </a:p>
          <a:p>
            <a:pPr>
              <a:spcAft>
                <a:spcPts val="1000"/>
              </a:spcAft>
              <a:buChar char="•"/>
              <a:lnSpc>
                <a:spcPts val="2200"/>
              </a:lnSpc>
            </a:pPr>
            <a:r>
              <a:rPr sz="2000" b="0">
                <a:solidFill>
                  <a:srgbClr val="333333"/>
                </a:solidFill>
                <a:latin typeface="Calibri"/>
              </a:rPr>
              <a:t>Such data should not be used to reinforce biases or perpetuate systemic inequalities</a:t>
            </a:r>
          </a:p>
          <a:p>
            <a:pPr>
              <a:spcAft>
                <a:spcPts val="1000"/>
              </a:spcAft>
              <a:buChar char="•"/>
              <a:lnSpc>
                <a:spcPts val="2200"/>
              </a:lnSpc>
            </a:pPr>
            <a:r>
              <a:rPr sz="2000" b="0">
                <a:solidFill>
                  <a:srgbClr val="333333"/>
                </a:solidFill>
                <a:latin typeface="Calibri"/>
              </a:rPr>
              <a:t>If data reveal disparities</a:t>
            </a:r>
          </a:p>
          <a:p>
            <a:pPr>
              <a:spcAft>
                <a:spcPts val="1000"/>
              </a:spcAft>
              <a:buChar char="•"/>
              <a:lnSpc>
                <a:spcPts val="2200"/>
              </a:lnSpc>
            </a:pPr>
            <a:r>
              <a:rPr sz="2000" b="0">
                <a:solidFill>
                  <a:srgbClr val="333333"/>
                </a:solidFill>
                <a:latin typeface="Calibri"/>
              </a:rPr>
              <a:t>View files: `modules/chapter13/example27/`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13.28 — Indigenous Control Over Shared 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13.28 — hands-on module</a:t>
            </a:r>
          </a:p>
          <a:p>
            <a:pPr>
              <a:spcAft>
                <a:spcPts val="1000"/>
              </a:spcAft>
              <a:buChar char="•"/>
              <a:lnSpc>
                <a:spcPts val="2200"/>
              </a:lnSpc>
            </a:pPr>
            <a:r>
              <a:rPr sz="2000" b="0">
                <a:solidFill>
                  <a:srgbClr val="333333"/>
                </a:solidFill>
                <a:latin typeface="Calibri"/>
              </a:rPr>
              <a:t>Open science must respect the rights and wishes of people and communities whose data are</a:t>
            </a:r>
          </a:p>
          <a:p>
            <a:pPr>
              <a:spcAft>
                <a:spcPts val="1000"/>
              </a:spcAft>
              <a:buChar char="•"/>
              <a:lnSpc>
                <a:spcPts val="2200"/>
              </a:lnSpc>
            </a:pPr>
            <a:r>
              <a:rPr sz="2000" b="0">
                <a:solidFill>
                  <a:srgbClr val="333333"/>
                </a:solidFill>
                <a:latin typeface="Calibri"/>
              </a:rPr>
              <a:t>Communities involved in collection</a:t>
            </a:r>
          </a:p>
          <a:p>
            <a:pPr>
              <a:spcAft>
                <a:spcPts val="1000"/>
              </a:spcAft>
              <a:buChar char="•"/>
              <a:lnSpc>
                <a:spcPts val="2200"/>
              </a:lnSpc>
            </a:pPr>
            <a:r>
              <a:rPr sz="2000" b="0">
                <a:solidFill>
                  <a:srgbClr val="333333"/>
                </a:solidFill>
                <a:latin typeface="Calibri"/>
              </a:rPr>
              <a:t>Example 13.28 emphasizes that indigenous communities involved in ecological or</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`modules/chapter13/example28/`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Licenses can be open or restricted; health data often need limited-access terms</a:t>
            </a:r>
          </a:p>
          <a:p>
            <a:pPr>
              <a:spcAft>
                <a:spcPts val="1000"/>
              </a:spcAft>
              <a:buChar char="•"/>
              <a:lnSpc>
                <a:spcPts val="2200"/>
              </a:lnSpc>
            </a:pPr>
            <a:r>
              <a:rPr sz="2000" b="0">
                <a:solidFill>
                  <a:srgbClr val="333333"/>
                </a:solidFill>
                <a:latin typeface="Calibri"/>
              </a:rPr>
              <a:t>License choice must follow a privacy assessment, not precede it</a:t>
            </a:r>
          </a:p>
          <a:p>
            <a:pPr>
              <a:spcAft>
                <a:spcPts val="1000"/>
              </a:spcAft>
              <a:buChar char="•"/>
              <a:lnSpc>
                <a:spcPts val="2200"/>
              </a:lnSpc>
            </a:pPr>
            <a:r>
              <a:rPr sz="2000" b="0">
                <a:solidFill>
                  <a:srgbClr val="333333"/>
                </a:solidFill>
                <a:latin typeface="Calibri"/>
              </a:rPr>
              <a:t>Open release creates ongoing ethical duties around bias, security, attribution, and scope</a:t>
            </a:r>
          </a:p>
          <a:p>
            <a:pPr>
              <a:spcAft>
                <a:spcPts val="1000"/>
              </a:spcAft>
              <a:buChar char="•"/>
              <a:lnSpc>
                <a:spcPts val="2200"/>
              </a:lnSpc>
            </a:pPr>
            <a:r>
              <a:rPr sz="2000" b="0">
                <a:solidFill>
                  <a:srgbClr val="333333"/>
                </a:solidFill>
                <a:latin typeface="Calibri"/>
              </a:rPr>
              <a:t>Including indigenous communities, retain legitimate control over sharing decisions</a:t>
            </a:r>
          </a:p>
          <a:p>
            <a:pPr>
              <a:spcAft>
                <a:spcPts val="1000"/>
              </a:spcAft>
              <a:buChar char="•"/>
              <a:lnSpc>
                <a:spcPts val="2200"/>
              </a:lnSpc>
            </a:pPr>
            <a:r>
              <a:rPr sz="2000" b="0">
                <a:solidFill>
                  <a:srgbClr val="333333"/>
                </a:solidFill>
                <a:latin typeface="Calibri"/>
              </a:rPr>
              <a:t>Openness without ethics and privacy is not responsible open science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covers reproducible research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13 — Licensing And Ethics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