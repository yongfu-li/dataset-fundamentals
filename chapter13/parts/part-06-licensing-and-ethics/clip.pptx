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Openness is not unlimited. Licenses, privacy, bias, and community control constrain what can be shared. This part covers open-data licensing families, balancing openness with privacy, ethical risks in open science, and a use-case license chooser.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match common Creative Commons and Open Data Commons licenses to reuse goals; explain why sensitive or community-controlled data need restricted access; distinguish dataset licenses from companion software licenses; describe the openness-versus-privacy trade-off; recognize ethical risks of reinforcing bias with open datasets; and state why communities, including Indigenous communities, should control how their data are shared.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Creative Commons covers CC0, CC BY, CC BY-SA, CC BY-NC, and CC BY-NC-SA. Open Data Commons adds database-oriented paths: ODC-By, ODbL, and PDDL. Companion code beside a dataset usually needs a software license such as MIT, BSD-3-Clause, Apache-2.0, or GPL-3.0—not a Creative Commons deed by default. License choice follows the intended reuse, not the row layout of a CSV.</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whether the release is sensitive or community-controlled; whether commercial reuse is allowed; whether attribution is required; whether derivatives must ShareAlike; and whether the artifact is data or companion code. Public-domain paths suit government tables; CC BY or ODC-By suit research data that need credit; ShareAlike suits collaborative commons; NonCommercial suits education-only releases; restricted access suits health and community-controlled data. Practice these paths in the course license chooser.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Responsible open science depends on clear licenses and ethical constraints. Some teams draft custom or restricted licenses that limit redistribution, require ethical use, or control who may access the data. Privacy principles and techniques are developed in Chapter 3; the open-science question is how those constraints interact with license choice. An unrestricted open license signals broad reuse and is appropriate only after privacy techniques have made that reuse safe.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13.26 illustrates restricted licensing for sensitive health data. Use may be limited to qualified researchers or specific contexts such as academic or non-profit use. Clinical trial data and patient records cannot carry an unrestricted open license when regulation requires de-identification first, and even de-identified data may remain re-identifiable when combined with other releases. The example 26 module for this chapter summarizes that restricted-license pattern.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Ethical principles for collection and privacy are covered in Chapter 3. Open science adds obligations that arise from making data public: minimize risk to participants, and state what the published data can and cannot support. Researchers should document scope and limitations, including biases or collection gaps that could affect downstream research or policy. Consent obtained during collection must also cover the intended public release.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Ethical concerns do not end when data are shared; they extend to reuse. Example 13.27 warns against discriminatory reuse of hiring or healthcare datasets. Such data should not be used to reinforce biases or perpetuate systemic inequalities. If data reveal disparities, analysis should proceed with care to avoid reinforcing stereotypes or unjust practices. The example 27 module for this chapter frames that non-discrimination obligation.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science must respect the rights and wishes of people and communities whose data are used. Communities involved in collection, especially marginalized or vulnerable populations, should have a say in how their data are used and shared. Example 13.28 emphasizes that Indigenous communities involved in ecological or environmental research should control how their data are used and shared so that sharing aligns with cultural values and ethical standards. The example 28 module for this chapter covers community authority over shared data.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Match the license family to the artifact: Creative Commons or Open Data Commons for data, software licenses for companion code. Restricted access—not an open deed—for sensitive health or community-controlled data. License choice must follow a privacy assessment, not precede it. Open release creates ongoing ethical duties around bias, security, attribution, and scope. Communities, including Indigenous communities, retain legitimate control over sharing decisions.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part covers reproducible research workflows: workflow files, Jupyter notebooks, and Docker containers for fixed tool and machine-learning stacks.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13 — Licensing and ethical considerations</a:t>
            </a:r>
          </a:p>
          <a:p>
            <a:pPr algn="ctr">
              <a:lnSpc>
                <a:spcPts val="2200"/>
              </a:lnSpc>
              <a:spcBef>
                <a:spcPts val="1400"/>
              </a:spcBef>
            </a:pPr>
            <a:r>
              <a:rPr sz="2600" b="0">
                <a:solidFill>
                  <a:srgbClr val="333333"/>
                </a:solidFill>
                <a:latin typeface="Calibri"/>
              </a:rPr>
              <a:t>Openness is not unlimited</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Licensing And Ethics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By the end of this part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Licensing And Ethics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Open license menu</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Creative Commons covers CC0, CC BY, CC BY-SA, CC BY-NC, and CC BY-NC-SA</a:t>
            </a:r>
          </a:p>
          <a:p>
            <a:pPr lvl="0" marL="457200" indent="-228600">
              <a:buFont typeface="Calibri"/>
              <a:spcAft>
                <a:spcPts val="1000"/>
              </a:spcAft>
              <a:buSzPct val="100000"/>
              <a:buChar char="•"/>
              <a:lnSpc>
                <a:spcPts val="2200"/>
              </a:lnSpc>
            </a:pPr>
            <a:r>
              <a:rPr sz="2000" b="0">
                <a:solidFill>
                  <a:srgbClr val="333333"/>
                </a:solidFill>
                <a:latin typeface="Calibri"/>
              </a:rPr>
              <a:t>Open Data Commons adds database-oriented paths: ODC-By, ODbL, and PDDL</a:t>
            </a:r>
          </a:p>
          <a:p>
            <a:pPr lvl="0" marL="457200" indent="-228600">
              <a:buFont typeface="Calibri"/>
              <a:spcAft>
                <a:spcPts val="1000"/>
              </a:spcAft>
              <a:buSzPct val="100000"/>
              <a:buChar char="•"/>
              <a:lnSpc>
                <a:spcPts val="2200"/>
              </a:lnSpc>
            </a:pPr>
            <a:r>
              <a:rPr sz="2000" b="0">
                <a:solidFill>
                  <a:srgbClr val="333333"/>
                </a:solidFill>
                <a:latin typeface="Calibri"/>
              </a:rPr>
              <a:t>Companion code beside a dataset usually needs a software license such as MIT</a:t>
            </a:r>
          </a:p>
          <a:p>
            <a:pPr lvl="0" marL="457200" indent="-228600">
              <a:buFont typeface="Calibri"/>
              <a:spcAft>
                <a:spcPts val="1000"/>
              </a:spcAft>
              <a:buSzPct val="100000"/>
              <a:buChar char="•"/>
              <a:lnSpc>
                <a:spcPts val="2200"/>
              </a:lnSpc>
            </a:pPr>
            <a:r>
              <a:rPr sz="2000" b="0">
                <a:solidFill>
                  <a:srgbClr val="333333"/>
                </a:solidFill>
                <a:latin typeface="Calibri"/>
              </a:rPr>
              <a:t>License choice follows the intended reuse, not the row layout of a CSV</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Licensing And Ethics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Choosing from the use case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Ask whether the release is sensitive or community-controlled</a:t>
            </a:r>
          </a:p>
          <a:p>
            <a:pPr lvl="0" marL="457200" indent="-228600">
              <a:buFont typeface="Calibri"/>
              <a:spcAft>
                <a:spcPts val="1000"/>
              </a:spcAft>
              <a:buSzPct val="100000"/>
              <a:buChar char="•"/>
              <a:lnSpc>
                <a:spcPts val="2200"/>
              </a:lnSpc>
            </a:pPr>
            <a:r>
              <a:rPr sz="2000" b="0">
                <a:solidFill>
                  <a:srgbClr val="333333"/>
                </a:solidFill>
                <a:latin typeface="Calibri"/>
              </a:rPr>
              <a:t>Public-domain paths suit government tables</a:t>
            </a:r>
          </a:p>
          <a:p>
            <a:pPr lvl="0" marL="457200" indent="-228600">
              <a:buFont typeface="Calibri"/>
              <a:spcAft>
                <a:spcPts val="1000"/>
              </a:spcAft>
              <a:buSzPct val="100000"/>
              <a:buChar char="•"/>
              <a:lnSpc>
                <a:spcPts val="2200"/>
              </a:lnSpc>
            </a:pPr>
            <a:r>
              <a:rPr sz="2000" b="0">
                <a:solidFill>
                  <a:srgbClr val="333333"/>
                </a:solidFill>
                <a:latin typeface="Calibri"/>
              </a:rPr>
              <a:t>Practice these paths in the course license chooser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Licensing And Ethics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Licenses and the privacy trade-off</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Responsible open science depends on clear licenses and ethical constraints</a:t>
            </a:r>
          </a:p>
          <a:p>
            <a:pPr lvl="0" marL="457200" indent="-228600">
              <a:buFont typeface="Calibri"/>
              <a:spcAft>
                <a:spcPts val="1000"/>
              </a:spcAft>
              <a:buSzPct val="100000"/>
              <a:buChar char="•"/>
              <a:lnSpc>
                <a:spcPts val="2200"/>
              </a:lnSpc>
            </a:pPr>
            <a:r>
              <a:rPr sz="2000" b="0">
                <a:solidFill>
                  <a:srgbClr val="333333"/>
                </a:solidFill>
                <a:latin typeface="Calibri"/>
              </a:rPr>
              <a:t>Some teams draft custom or restricted licenses that limit redistribution</a:t>
            </a:r>
          </a:p>
          <a:p>
            <a:pPr lvl="0" marL="457200" indent="-228600">
              <a:buFont typeface="Calibri"/>
              <a:spcAft>
                <a:spcPts val="1000"/>
              </a:spcAft>
              <a:buSzPct val="100000"/>
              <a:buChar char="•"/>
              <a:lnSpc>
                <a:spcPts val="2200"/>
              </a:lnSpc>
            </a:pPr>
            <a:r>
              <a:rPr sz="2000" b="0">
                <a:solidFill>
                  <a:srgbClr val="333333"/>
                </a:solidFill>
                <a:latin typeface="Calibri"/>
              </a:rPr>
              <a:t>Privacy principles and techniques are developed in Chapter 3</a:t>
            </a:r>
          </a:p>
          <a:p>
            <a:pPr lvl="0" marL="457200" indent="-228600">
              <a:buFont typeface="Calibri"/>
              <a:spcAft>
                <a:spcPts val="1000"/>
              </a:spcAft>
              <a:buSzPct val="100000"/>
              <a:buChar char="•"/>
              <a:lnSpc>
                <a:spcPts val="2200"/>
              </a:lnSpc>
            </a:pPr>
            <a:r>
              <a:rPr sz="2000" b="0">
                <a:solidFill>
                  <a:srgbClr val="333333"/>
                </a:solidFill>
                <a:latin typeface="Calibri"/>
              </a:rPr>
              <a:t>An unrestricted open license signals broad reuse and is appropriate only after privacy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Licensing And Ethics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13.26 — Restricted Licenses for Health Data</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13.26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13.26 illustrates restricted licensing for sensitive health data</a:t>
            </a:r>
          </a:p>
          <a:p>
            <a:pPr lvl="0" marL="457200" indent="-228600">
              <a:buFont typeface="Calibri"/>
              <a:spcAft>
                <a:spcPts val="1000"/>
              </a:spcAft>
              <a:buSzPct val="100000"/>
              <a:buChar char="•"/>
              <a:lnSpc>
                <a:spcPts val="2200"/>
              </a:lnSpc>
            </a:pPr>
            <a:r>
              <a:rPr sz="2000" b="0">
                <a:solidFill>
                  <a:srgbClr val="333333"/>
                </a:solidFill>
                <a:latin typeface="Calibri"/>
              </a:rPr>
              <a:t>Use may be limited to qualified researchers or specific contexts such as academic or</a:t>
            </a:r>
          </a:p>
          <a:p>
            <a:pPr lvl="0" marL="457200" indent="-228600">
              <a:buFont typeface="Calibri"/>
              <a:spcAft>
                <a:spcPts val="1000"/>
              </a:spcAft>
              <a:buSzPct val="100000"/>
              <a:buChar char="•"/>
              <a:lnSpc>
                <a:spcPts val="2200"/>
              </a:lnSpc>
            </a:pPr>
            <a:r>
              <a:rPr sz="2000" b="0">
                <a:solidFill>
                  <a:srgbClr val="333333"/>
                </a:solidFill>
                <a:latin typeface="Calibri"/>
              </a:rPr>
              <a:t>Even de-identified data may remain re-identifiable when combined with other releases</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`modules/chapter13/example26/`</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Licensing And Ethics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Ethical obligations after sharing</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Ethical principles for collection and privacy are covered in Chapter 3</a:t>
            </a:r>
          </a:p>
          <a:p>
            <a:pPr lvl="0" marL="457200" indent="-228600">
              <a:buFont typeface="Calibri"/>
              <a:spcAft>
                <a:spcPts val="1000"/>
              </a:spcAft>
              <a:buSzPct val="100000"/>
              <a:buChar char="•"/>
              <a:lnSpc>
                <a:spcPts val="2200"/>
              </a:lnSpc>
            </a:pPr>
            <a:r>
              <a:rPr sz="2000" b="0">
                <a:solidFill>
                  <a:srgbClr val="333333"/>
                </a:solidFill>
                <a:latin typeface="Calibri"/>
              </a:rPr>
              <a:t>Open science adds obligations that arise from making data public</a:t>
            </a:r>
          </a:p>
          <a:p>
            <a:pPr lvl="0" marL="457200" indent="-228600">
              <a:buFont typeface="Calibri"/>
              <a:spcAft>
                <a:spcPts val="1000"/>
              </a:spcAft>
              <a:buSzPct val="100000"/>
              <a:buChar char="•"/>
              <a:lnSpc>
                <a:spcPts val="2200"/>
              </a:lnSpc>
            </a:pPr>
            <a:r>
              <a:rPr sz="2000" b="0">
                <a:solidFill>
                  <a:srgbClr val="333333"/>
                </a:solidFill>
                <a:latin typeface="Calibri"/>
              </a:rPr>
              <a:t>Researchers should document scope and limitations</a:t>
            </a:r>
          </a:p>
          <a:p>
            <a:pPr lvl="0" marL="457200" indent="-228600">
              <a:buFont typeface="Calibri"/>
              <a:spcAft>
                <a:spcPts val="1000"/>
              </a:spcAft>
              <a:buSzPct val="100000"/>
              <a:buChar char="•"/>
              <a:lnSpc>
                <a:spcPts val="2200"/>
              </a:lnSpc>
            </a:pPr>
            <a:r>
              <a:rPr sz="2000" b="0">
                <a:solidFill>
                  <a:srgbClr val="333333"/>
                </a:solidFill>
                <a:latin typeface="Calibri"/>
              </a:rPr>
              <a:t>Consent obtained during collection must also cover the intended public release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Licensing And Ethics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13.27 — Avoid Reinforcing Bias with Open Data</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13.27 — hands-on module</a:t>
            </a:r>
          </a:p>
          <a:p>
            <a:pPr lvl="0" marL="457200" indent="-228600">
              <a:buFont typeface="Calibri"/>
              <a:spcAft>
                <a:spcPts val="1000"/>
              </a:spcAft>
              <a:buSzPct val="100000"/>
              <a:buChar char="•"/>
              <a:lnSpc>
                <a:spcPts val="2200"/>
              </a:lnSpc>
            </a:pPr>
            <a:r>
              <a:rPr sz="2000" b="0">
                <a:solidFill>
                  <a:srgbClr val="333333"/>
                </a:solidFill>
                <a:latin typeface="Calibri"/>
              </a:rPr>
              <a:t>Ethical concerns do not end when data are shared; they extend to reuse</a:t>
            </a:r>
          </a:p>
          <a:p>
            <a:pPr lvl="0" marL="457200" indent="-228600">
              <a:buFont typeface="Calibri"/>
              <a:spcAft>
                <a:spcPts val="1000"/>
              </a:spcAft>
              <a:buSzPct val="100000"/>
              <a:buChar char="•"/>
              <a:lnSpc>
                <a:spcPts val="2200"/>
              </a:lnSpc>
            </a:pPr>
            <a:r>
              <a:rPr sz="2000" b="0">
                <a:solidFill>
                  <a:srgbClr val="333333"/>
                </a:solidFill>
                <a:latin typeface="Calibri"/>
              </a:rPr>
              <a:t>Example 13.27 warns against discriminatory reuse of hiring or healthcare datasets</a:t>
            </a:r>
          </a:p>
          <a:p>
            <a:pPr lvl="0" marL="457200" indent="-228600">
              <a:buFont typeface="Calibri"/>
              <a:spcAft>
                <a:spcPts val="1000"/>
              </a:spcAft>
              <a:buSzPct val="100000"/>
              <a:buChar char="•"/>
              <a:lnSpc>
                <a:spcPts val="2200"/>
              </a:lnSpc>
            </a:pPr>
            <a:r>
              <a:rPr sz="2000" b="0">
                <a:solidFill>
                  <a:srgbClr val="333333"/>
                </a:solidFill>
                <a:latin typeface="Calibri"/>
              </a:rPr>
              <a:t>Such data should not be used to reinforce biases or perpetuate systemic inequalities</a:t>
            </a:r>
          </a:p>
          <a:p>
            <a:pPr lvl="0" marL="457200" indent="-228600">
              <a:buFont typeface="Calibri"/>
              <a:spcAft>
                <a:spcPts val="1000"/>
              </a:spcAft>
              <a:buSzPct val="100000"/>
              <a:buChar char="•"/>
              <a:lnSpc>
                <a:spcPts val="2200"/>
              </a:lnSpc>
            </a:pPr>
            <a:r>
              <a:rPr sz="2000" b="0">
                <a:solidFill>
                  <a:srgbClr val="333333"/>
                </a:solidFill>
                <a:latin typeface="Calibri"/>
              </a:rPr>
              <a:t>If data reveal disparities</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`modules/chapter13/example27/`</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Licensing And Ethics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13.28 — Indigenous Control Over Shared Data</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13.28 — hands-on module</a:t>
            </a:r>
          </a:p>
          <a:p>
            <a:pPr lvl="0" marL="457200" indent="-228600">
              <a:buFont typeface="Calibri"/>
              <a:spcAft>
                <a:spcPts val="1000"/>
              </a:spcAft>
              <a:buSzPct val="100000"/>
              <a:buChar char="•"/>
              <a:lnSpc>
                <a:spcPts val="2200"/>
              </a:lnSpc>
            </a:pPr>
            <a:r>
              <a:rPr sz="2000" b="0">
                <a:solidFill>
                  <a:srgbClr val="333333"/>
                </a:solidFill>
                <a:latin typeface="Calibri"/>
              </a:rPr>
              <a:t>Open science must respect the rights and wishes of people and communities whose data are</a:t>
            </a:r>
          </a:p>
          <a:p>
            <a:pPr lvl="0" marL="457200" indent="-228600">
              <a:buFont typeface="Calibri"/>
              <a:spcAft>
                <a:spcPts val="1000"/>
              </a:spcAft>
              <a:buSzPct val="100000"/>
              <a:buChar char="•"/>
              <a:lnSpc>
                <a:spcPts val="2200"/>
              </a:lnSpc>
            </a:pPr>
            <a:r>
              <a:rPr sz="2000" b="0">
                <a:solidFill>
                  <a:srgbClr val="333333"/>
                </a:solidFill>
                <a:latin typeface="Calibri"/>
              </a:rPr>
              <a:t>Communities involved in collection</a:t>
            </a:r>
          </a:p>
          <a:p>
            <a:pPr lvl="0" marL="457200" indent="-228600">
              <a:buFont typeface="Calibri"/>
              <a:spcAft>
                <a:spcPts val="1000"/>
              </a:spcAft>
              <a:buSzPct val="100000"/>
              <a:buChar char="•"/>
              <a:lnSpc>
                <a:spcPts val="2200"/>
              </a:lnSpc>
            </a:pPr>
            <a:r>
              <a:rPr sz="2000" b="0">
                <a:solidFill>
                  <a:srgbClr val="333333"/>
                </a:solidFill>
                <a:latin typeface="Calibri"/>
              </a:rPr>
              <a:t>Example 13.28 emphasizes that Indigenous communities involved in ecological or</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`modules/chapter13/example28/`</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Licensing And Ethics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Match the license family to the artifact</a:t>
            </a:r>
          </a:p>
          <a:p>
            <a:pPr lvl="0" marL="457200" indent="-228600">
              <a:buFont typeface="Calibri"/>
              <a:spcAft>
                <a:spcPts val="1000"/>
              </a:spcAft>
              <a:buSzPct val="100000"/>
              <a:buChar char="•"/>
              <a:lnSpc>
                <a:spcPts val="2200"/>
              </a:lnSpc>
            </a:pPr>
            <a:r>
              <a:rPr sz="2000" b="0">
                <a:solidFill>
                  <a:srgbClr val="333333"/>
                </a:solidFill>
                <a:latin typeface="Calibri"/>
              </a:rPr>
              <a:t>Restricted access, not an open deed, for sensitive health or community-controlled data</a:t>
            </a:r>
          </a:p>
          <a:p>
            <a:pPr lvl="0" marL="457200" indent="-228600">
              <a:buFont typeface="Calibri"/>
              <a:spcAft>
                <a:spcPts val="1000"/>
              </a:spcAft>
              <a:buSzPct val="100000"/>
              <a:buChar char="•"/>
              <a:lnSpc>
                <a:spcPts val="2200"/>
              </a:lnSpc>
            </a:pPr>
            <a:r>
              <a:rPr sz="2000" b="0">
                <a:solidFill>
                  <a:srgbClr val="333333"/>
                </a:solidFill>
                <a:latin typeface="Calibri"/>
              </a:rPr>
              <a:t>License choice must follow a privacy assessment, not precede it</a:t>
            </a:r>
          </a:p>
          <a:p>
            <a:pPr lvl="0" marL="457200" indent="-228600">
              <a:buFont typeface="Calibri"/>
              <a:spcAft>
                <a:spcPts val="1000"/>
              </a:spcAft>
              <a:buSzPct val="100000"/>
              <a:buChar char="•"/>
              <a:lnSpc>
                <a:spcPts val="2200"/>
              </a:lnSpc>
            </a:pPr>
            <a:r>
              <a:rPr sz="2000" b="0">
                <a:solidFill>
                  <a:srgbClr val="333333"/>
                </a:solidFill>
                <a:latin typeface="Calibri"/>
              </a:rPr>
              <a:t>Open release creates ongoing ethical duties around bias, security, attribution, and scope</a:t>
            </a:r>
          </a:p>
          <a:p>
            <a:pPr lvl="0" marL="457200" indent="-228600">
              <a:buFont typeface="Calibri"/>
              <a:spcAft>
                <a:spcPts val="1000"/>
              </a:spcAft>
              <a:buSzPct val="100000"/>
              <a:buChar char="•"/>
              <a:lnSpc>
                <a:spcPts val="2200"/>
              </a:lnSpc>
            </a:pPr>
            <a:r>
              <a:rPr sz="2000" b="0">
                <a:solidFill>
                  <a:srgbClr val="333333"/>
                </a:solidFill>
                <a:latin typeface="Calibri"/>
              </a:rPr>
              <a:t>Including Indigenous communities, retain legitimate control over sharing decisions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Licensing And Ethics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The next part covers reproducible research workflows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Licensing And Ethics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