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alone do not make studies checkable. Privacy limits, missing hyperparameters, and incompatible standards still block replication. This part covers those barriers, why reproducibility standards matter for high-stakes decisions, and how documentation and versioning form the bridge into the rest of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inaccessible data, undocumented methods, and missing standards as recurring barriers; explain how privacy rules such as HIPAA constrain clinical sharing; recognize why missing hyperparameters and incompatible naming block reuse; and state why reproducibility standards support trust, collaboration, and research integrity.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Achieving reproducibility in practice remains difficult. Three barriers recur across fields: inaccessible datasets, undocumented methods, and lack of standards. Datasets may be unavailable because of privacy, proprietary restrictions, or poor management. Methods may be published without enough detail to rerun the analysis. Without shared conventions for documentation, versioning, and metadata, teams invent incompatible practices that hinder comparison and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13.5 shows how privacy law can block open sharing of clinical data. Clinical research often involves sensitive patient data that cannot be shared openly under rules such as HIPAA. Open science therefore pairs sharing goals with de-identification and anonymization so data can be released safely and ethically. The example 5 module for this chapter summarizes that privacy constraint and the need for protective release practices.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13.6 shows how undocumented methods prevent replication of a machine learning experiment. A researcher might describe a model in a paper without providing hyperparameters or data preprocessing steps, making it impossible for others to replicate the experiment. Incomplete method records can be intentional competitive withholding or simply poor practice; either way, the computational path cannot be checked. The example 6 module for this chapter frames that documentation gap.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13.7 shows how missing community standards hinder cross-lab comparison. In bioinformatics, different labs may use different standards for naming genes or describing experimental conditions, making it hard to integrate and compare datasets from multiple studies. Shared naming and metadata conventions are therefore part of reproducibility infrastructure, not optional polish. The example 7 module for this chapter covers that interoperability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13.8 ties reproducibility standards to high-stakes decisions. A pharmaceutical company may base drug development on clinical trial results; if those results cannot be reproduced, the approval process can be compromised. Standards also support interdisciplinary collaboration through clear methods and standardized repositories, and they reinforce research integrity when findings affect policy and public health. The example 8 module for this chapter highlights that trust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of reproducible research still lies in proper dataset documentation and versioning. Chapter 8 develops templates, metadata, data dictionaries, provenance records, and version-control workflows in full. The next parts therefore do not repeat that operational material; they summarize what research-facing reproducibility specifically demands from documentation and versioning, then move to FAIR sharing, licensing, and pipelines.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Inaccessible data, undocumented methods, and missing standards are recurring blockers. Privacy regimes such as HIPAA require safe release practices rather than unrestricted dumps. Missing hyperparameters and incompatible naming prevent faithful reruns and cross-study integration. Reproducibility standards protect trust in high-stakes settings such as drug decisions. Documentation and versioning remain the bridge from Chapters 8 and 12 into research-facing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research documentation, repository metadata for discovery, and why dataset versions must be pinned for published analyses.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Challenges and why standards matter</a:t>
            </a:r>
          </a:p>
          <a:p>
            <a:pPr algn="ctr">
              <a:lnSpc>
                <a:spcPts val="2200"/>
              </a:lnSpc>
              <a:spcBef>
                <a:spcPts val="1400"/>
              </a:spcBef>
            </a:pPr>
            <a:r>
              <a:rPr sz="2600" b="0">
                <a:solidFill>
                  <a:srgbClr val="333333"/>
                </a:solidFill>
                <a:latin typeface="Calibri"/>
              </a:rPr>
              <a:t>Definitions alone do not make studies checkable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recurring barriers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Achieving reproducibility in practice remains difficult</a:t>
            </a:r>
          </a:p>
          <a:p>
            <a:pPr>
              <a:spcAft>
                <a:spcPts val="1000"/>
              </a:spcAft>
              <a:buChar char="•"/>
              <a:lnSpc>
                <a:spcPts val="2200"/>
              </a:lnSpc>
            </a:pPr>
            <a:r>
              <a:rPr sz="2000" b="0">
                <a:solidFill>
                  <a:srgbClr val="333333"/>
                </a:solidFill>
                <a:latin typeface="Calibri"/>
              </a:rPr>
              <a:t>Three barriers recur across fields</a:t>
            </a:r>
          </a:p>
          <a:p>
            <a:pPr>
              <a:spcAft>
                <a:spcPts val="1000"/>
              </a:spcAft>
              <a:buChar char="•"/>
              <a:lnSpc>
                <a:spcPts val="2200"/>
              </a:lnSpc>
            </a:pPr>
            <a:r>
              <a:rPr sz="2000" b="0">
                <a:solidFill>
                  <a:srgbClr val="333333"/>
                </a:solidFill>
                <a:latin typeface="Calibri"/>
              </a:rPr>
              <a:t>Datasets may be unavailable because of privacy</a:t>
            </a:r>
          </a:p>
          <a:p>
            <a:pPr>
              <a:spcAft>
                <a:spcPts val="1000"/>
              </a:spcAft>
              <a:buChar char="•"/>
              <a:lnSpc>
                <a:spcPts val="2200"/>
              </a:lnSpc>
            </a:pPr>
            <a:r>
              <a:rPr sz="2000" b="0">
                <a:solidFill>
                  <a:srgbClr val="333333"/>
                </a:solidFill>
                <a:latin typeface="Calibri"/>
              </a:rPr>
              <a:t>Methods may be published without enough detail to rerun the analysis</a:t>
            </a:r>
          </a:p>
          <a:p>
            <a:pPr>
              <a:spcAft>
                <a:spcPts val="1000"/>
              </a:spcAft>
              <a:buChar char="•"/>
              <a:lnSpc>
                <a:spcPts val="2200"/>
              </a:lnSpc>
            </a:pPr>
            <a:r>
              <a:rPr sz="2000" b="0">
                <a:solidFill>
                  <a:srgbClr val="333333"/>
                </a:solidFill>
                <a:latin typeface="Calibri"/>
              </a:rPr>
              <a:t>Without shared conventions for documentation, versioning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13.5 — HIPAA Limits on Clinical Data Sharing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13.5 — hands-on module</a:t>
            </a:r>
          </a:p>
          <a:p>
            <a:pPr>
              <a:spcAft>
                <a:spcPts val="1000"/>
              </a:spcAft>
              <a:buChar char="•"/>
              <a:lnSpc>
                <a:spcPts val="2200"/>
              </a:lnSpc>
            </a:pPr>
            <a:r>
              <a:rPr sz="2000" b="0">
                <a:solidFill>
                  <a:srgbClr val="333333"/>
                </a:solidFill>
                <a:latin typeface="Calibri"/>
              </a:rPr>
              <a:t>Example 13.5 shows how privacy law can block open sharing of clinical data</a:t>
            </a:r>
          </a:p>
          <a:p>
            <a:pPr>
              <a:spcAft>
                <a:spcPts val="1000"/>
              </a:spcAft>
              <a:buChar char="•"/>
              <a:lnSpc>
                <a:spcPts val="2200"/>
              </a:lnSpc>
            </a:pPr>
            <a:r>
              <a:rPr sz="2000" b="0">
                <a:solidFill>
                  <a:srgbClr val="333333"/>
                </a:solidFill>
                <a:latin typeface="Calibri"/>
              </a:rPr>
              <a:t>Clinical research often involves sensitive patient data that cannot be shared openly under</a:t>
            </a:r>
          </a:p>
          <a:p>
            <a:pPr>
              <a:spcAft>
                <a:spcPts val="1000"/>
              </a:spcAft>
              <a:buChar char="•"/>
              <a:lnSpc>
                <a:spcPts val="2200"/>
              </a:lnSpc>
            </a:pPr>
            <a:r>
              <a:rPr sz="2000" b="0">
                <a:solidFill>
                  <a:srgbClr val="333333"/>
                </a:solidFill>
                <a:latin typeface="Calibri"/>
              </a:rPr>
              <a:t>Open science therefore pairs sharing goals with de-identification and anonymization so</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13.6 — Missing Hyperparameters Block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13.6 — hands-on module</a:t>
            </a:r>
          </a:p>
          <a:p>
            <a:pPr>
              <a:spcAft>
                <a:spcPts val="1000"/>
              </a:spcAft>
              <a:buChar char="•"/>
              <a:lnSpc>
                <a:spcPts val="2200"/>
              </a:lnSpc>
            </a:pPr>
            <a:r>
              <a:rPr sz="2000" b="0">
                <a:solidFill>
                  <a:srgbClr val="333333"/>
                </a:solidFill>
                <a:latin typeface="Calibri"/>
              </a:rPr>
              <a:t>Example 13.6 shows how undocumented methods prevent replication of a machine learning</a:t>
            </a:r>
          </a:p>
          <a:p>
            <a:pPr>
              <a:spcAft>
                <a:spcPts val="1000"/>
              </a:spcAft>
              <a:buChar char="•"/>
              <a:lnSpc>
                <a:spcPts val="2200"/>
              </a:lnSpc>
            </a:pPr>
            <a:r>
              <a:rPr sz="2000" b="0">
                <a:solidFill>
                  <a:srgbClr val="333333"/>
                </a:solidFill>
                <a:latin typeface="Calibri"/>
              </a:rPr>
              <a:t>Making it impossible for others to replicate the experiment</a:t>
            </a:r>
          </a:p>
          <a:p>
            <a:pPr>
              <a:spcAft>
                <a:spcPts val="1000"/>
              </a:spcAft>
              <a:buChar char="•"/>
              <a:lnSpc>
                <a:spcPts val="2200"/>
              </a:lnSpc>
            </a:pPr>
            <a:r>
              <a:rPr sz="2000" b="0">
                <a:solidFill>
                  <a:srgbClr val="333333"/>
                </a:solidFill>
                <a:latin typeface="Calibri"/>
              </a:rPr>
              <a:t>Either way, the computational path cannot be checked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13.7 — Incompatible Bioinformatics Naming Standards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13.7 — hands-on module</a:t>
            </a:r>
          </a:p>
          <a:p>
            <a:pPr>
              <a:spcAft>
                <a:spcPts val="1000"/>
              </a:spcAft>
              <a:buChar char="•"/>
              <a:lnSpc>
                <a:spcPts val="2200"/>
              </a:lnSpc>
            </a:pPr>
            <a:r>
              <a:rPr sz="2000" b="0">
                <a:solidFill>
                  <a:srgbClr val="333333"/>
                </a:solidFill>
                <a:latin typeface="Calibri"/>
              </a:rPr>
              <a:t>Example 13.7 shows how missing community standards hinder cross-lab comparison</a:t>
            </a:r>
          </a:p>
          <a:p>
            <a:pPr>
              <a:spcAft>
                <a:spcPts val="1000"/>
              </a:spcAft>
              <a:buChar char="•"/>
              <a:lnSpc>
                <a:spcPts val="2200"/>
              </a:lnSpc>
            </a:pPr>
            <a:r>
              <a:rPr sz="2000" b="0">
                <a:solidFill>
                  <a:srgbClr val="333333"/>
                </a:solidFill>
                <a:latin typeface="Calibri"/>
              </a:rPr>
              <a:t>In bioinformatics</a:t>
            </a:r>
          </a:p>
          <a:p>
            <a:pPr>
              <a:spcAft>
                <a:spcPts val="1000"/>
              </a:spcAft>
              <a:buChar char="•"/>
              <a:lnSpc>
                <a:spcPts val="2200"/>
              </a:lnSpc>
            </a:pPr>
            <a:r>
              <a:rPr sz="2000" b="0">
                <a:solidFill>
                  <a:srgbClr val="333333"/>
                </a:solidFill>
                <a:latin typeface="Calibri"/>
              </a:rPr>
              <a:t>Not optional polish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13.8 — Drug Decisions Depend on Reproducible Trials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13.8 — hands-on module</a:t>
            </a:r>
          </a:p>
          <a:p>
            <a:pPr>
              <a:spcAft>
                <a:spcPts val="1000"/>
              </a:spcAft>
              <a:buChar char="•"/>
              <a:lnSpc>
                <a:spcPts val="2200"/>
              </a:lnSpc>
            </a:pPr>
            <a:r>
              <a:rPr sz="2000" b="0">
                <a:solidFill>
                  <a:srgbClr val="333333"/>
                </a:solidFill>
                <a:latin typeface="Calibri"/>
              </a:rPr>
              <a:t>Example 13.8 ties reproducibility standards to high-stakes decisions</a:t>
            </a:r>
          </a:p>
          <a:p>
            <a:pPr>
              <a:spcAft>
                <a:spcPts val="1000"/>
              </a:spcAft>
              <a:buChar char="•"/>
              <a:lnSpc>
                <a:spcPts val="2200"/>
              </a:lnSpc>
            </a:pPr>
            <a:r>
              <a:rPr sz="2000" b="0">
                <a:solidFill>
                  <a:srgbClr val="333333"/>
                </a:solidFill>
                <a:latin typeface="Calibri"/>
              </a:rPr>
              <a:t>A pharmaceutical company may base drug development on clinical trial results</a:t>
            </a:r>
          </a:p>
          <a:p>
            <a:pPr>
              <a:spcAft>
                <a:spcPts val="1000"/>
              </a:spcAft>
              <a:buChar char="•"/>
              <a:lnSpc>
                <a:spcPts val="2200"/>
              </a:lnSpc>
            </a:pPr>
            <a:r>
              <a:rPr sz="2000" b="0">
                <a:solidFill>
                  <a:srgbClr val="333333"/>
                </a:solidFill>
                <a:latin typeface="Calibri"/>
              </a:rPr>
              <a:t>They reinforce research integrity when findings affect policy and public health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Foundations bridge to documentation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foundation of reproducible research still lies in proper dataset documentation and</a:t>
            </a:r>
          </a:p>
          <a:p>
            <a:pPr>
              <a:spcAft>
                <a:spcPts val="1000"/>
              </a:spcAft>
              <a:buChar char="•"/>
              <a:lnSpc>
                <a:spcPts val="2200"/>
              </a:lnSpc>
            </a:pPr>
            <a:r>
              <a:rPr sz="2000" b="0">
                <a:solidFill>
                  <a:srgbClr val="333333"/>
                </a:solidFill>
                <a:latin typeface="Calibri"/>
              </a:rPr>
              <a:t>Chapter 8 develops templates, metadata, data dictionaries, provenance records</a:t>
            </a:r>
          </a:p>
          <a:p>
            <a:pPr>
              <a:spcAft>
                <a:spcPts val="1000"/>
              </a:spcAft>
              <a:buChar char="•"/>
              <a:lnSpc>
                <a:spcPts val="2200"/>
              </a:lnSpc>
            </a:pPr>
            <a:r>
              <a:rPr sz="2000" b="0">
                <a:solidFill>
                  <a:srgbClr val="333333"/>
                </a:solidFill>
                <a:latin typeface="Calibri"/>
              </a:rPr>
              <a:t>The next parts therefore do not repeat that operational material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Inaccessible data, undocumented methods, and missing standards are recurring blockers</a:t>
            </a:r>
          </a:p>
          <a:p>
            <a:pPr>
              <a:spcAft>
                <a:spcPts val="1000"/>
              </a:spcAft>
              <a:buChar char="•"/>
              <a:lnSpc>
                <a:spcPts val="2200"/>
              </a:lnSpc>
            </a:pPr>
            <a:r>
              <a:rPr sz="2000" b="0">
                <a:solidFill>
                  <a:srgbClr val="333333"/>
                </a:solidFill>
                <a:latin typeface="Calibri"/>
              </a:rPr>
              <a:t>Privacy regimes such as HIPAA require safe release practices rather than unrestricted</a:t>
            </a:r>
          </a:p>
          <a:p>
            <a:pPr>
              <a:spcAft>
                <a:spcPts val="1000"/>
              </a:spcAft>
              <a:buChar char="•"/>
              <a:lnSpc>
                <a:spcPts val="2200"/>
              </a:lnSpc>
            </a:pPr>
            <a:r>
              <a:rPr sz="2000" b="0">
                <a:solidFill>
                  <a:srgbClr val="333333"/>
                </a:solidFill>
                <a:latin typeface="Calibri"/>
              </a:rPr>
              <a:t>Missing hyperparameters and incompatible naming prevent faithful reruns and cross-study</a:t>
            </a:r>
          </a:p>
          <a:p>
            <a:pPr>
              <a:spcAft>
                <a:spcPts val="1000"/>
              </a:spcAft>
              <a:buChar char="•"/>
              <a:lnSpc>
                <a:spcPts val="2200"/>
              </a:lnSpc>
            </a:pPr>
            <a:r>
              <a:rPr sz="2000" b="0">
                <a:solidFill>
                  <a:srgbClr val="333333"/>
                </a:solidFill>
                <a:latin typeface="Calibri"/>
              </a:rPr>
              <a:t>Reproducibility standards protect trust in high-stakes settings such as drug decisions</a:t>
            </a:r>
          </a:p>
          <a:p>
            <a:pPr>
              <a:spcAft>
                <a:spcPts val="1000"/>
              </a:spcAft>
              <a:buChar char="•"/>
              <a:lnSpc>
                <a:spcPts val="2200"/>
              </a:lnSpc>
            </a:pPr>
            <a:r>
              <a:rPr sz="2000" b="0">
                <a:solidFill>
                  <a:srgbClr val="333333"/>
                </a:solidFill>
                <a:latin typeface="Calibri"/>
              </a:rPr>
              <a:t>Documentation and versioning remain the bridge from Chapters 8 and 12 into research-facing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research documentation, repository metadata for discovery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Challenges And Standards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