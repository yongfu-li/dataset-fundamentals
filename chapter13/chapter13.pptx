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Chapters 8 and 12 covered operational documentation, versioning, storage, and lineage. This chapter turns those assets toward research-facing reproducibility and open science. This opening part defines reproducibility versus replicability and the core principles of open sharing.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learners should be able to distinguish reproducibility from replicability; state accessibility, transparency, and collaboration as open-science principles; recognize open repositories such as the Open Science Framework and Zenodo; and explain why publishing scripts and notebooks supports transparent reuse.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Reproducibility and replicability are often used interchangeably, but they mean different things. Reproducibility is obtaining the same results from the same dataset when the same computational methods are applied. Replicability is obtaining consistent findings when the research is conducted independently, often with a new dataset or under different conditions. Both matter: reproducibility checks that a published computational path is faithful, while replicability tests whether the finding holds under new data or independent conditions.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13.1 illustrates methods reproducibility. If a researcher publishes a study using a dataset and a specific analytical technique, other researchers should be able to use the exact same dataset and method to obtain identical results. That identity is a measure of transparency and robustness in the scientific process. The example 1 module for this chapter demonstrates how fixing a seed and transform can make processed results match by hash.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13.2 contrasts replicability. A climate model may be replicated by a different team using a new set of environmental data to see whether the original findings hold under a different context or dataset. Replicability can thus be seen as an extension of reproducibility, testing generalizability across conditions or data sources. The example 2 module for this chapter frames that independent-team check.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science seeks to make research and data publicly accessible, transparent, and collaborative. Accessibility means research outputs—datasets, software, and methods—are available beyond journal articles alone. Transparency means making processes visible: which data were used, which methods were applied, and how analyses were conducted. Collaboration means sharing knowledge and resources across disciplines and institutions so complex problems can be tackled jointly.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13.3 names widely used platforms for open sharing. The Open Science Framework and Zenodo provide places where researchers can share datasets, code, and preprints with the global community. Accessibility is not only about publishing a paper; it includes providing the tools and data that underpin the findings. The example 3 module for this chapter summarizes that repository pattern.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13.4 shows transparency through released analysis assets. Researchers may release the scripts or notebooks used to process their data so others can follow the exact workflow. Transparency also encourages accountability through disclosure of conflicts of interest, funding sources, and methodological limitations. The example 4 module for this chapter covers publishing executable analysis artifacts.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Reproducibility checks the same data and methods; replicability tests findings with new data or independent teams. Open science rests on accessibility, transparency, and collaboration. Repositories such as the Open Science Framework and Zenodo support open sharing of data, code, and preprints. Publishing scripts and notebooks makes workflows checkable by others. This chapter’s focus is research-facing practice, building on—but not repeating—Chapter 8 and Chapter 12 operations.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part covers barriers that still block reproducible work: privacy limits, missing hyperparameters, incompatible naming standards, and why reproducibility standards matter for high-stakes decisions.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learners should be able to name inaccessible data, undocumented methods, and missing standards as recurring barriers; explain how privacy rules such as HIPAA constrain clinical sharing; recognize why missing hyperparameters and incompatible naming block reuse; and state why reproducibility standards support trust, collaboration, and research integrity.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Achieving reproducibility in practice remains difficult. Three barriers recur across fields: inaccessible datasets, undocumented methods, and lack of standards. Datasets may be unavailable because of privacy, proprietary restrictions, or poor management. Methods may be published without enough detail to rerun the analysis. Without shared conventions for documentation, versioning, and metadata, teams invent incompatible practices that hinder comparison and collaboration.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13.5 shows how privacy law can block open sharing of clinical data. Clinical research often involves sensitive patient data that cannot be shared openly under rules such as HIPAA. Open science therefore pairs sharing goals with de-identification and anonymization so data can be released safely and ethically. The example 5 module for this chapter summarizes that privacy constraint and the need for protective release practices.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13.6 shows how undocumented methods prevent replication of a machine learning experiment. A researcher might describe a model in a paper without providing hyperparameters or data preprocessing steps, making it impossible for others to replicate the experiment. Incomplete method records can be intentional competitive withholding or simply poor practice; either way, the computational path cannot be checked. The example 6 module for this chapter frames that documentation gap.</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13.7 shows how missing community standards hinder cross-lab comparison. In bioinformatics, different labs may use different standards for naming genes or describing experimental conditions, making it hard to integrate and compare datasets from multiple studies. Shared naming and metadata conventions are therefore part of reproducibility infrastructure, not optional polish. The example 7 module for this chapter covers that interoperability failure mode.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13.8 ties reproducibility standards to high-stakes decisions. A pharmaceutical company may base drug development on clinical trial results; if those results cannot be reproduced, the approval process can be compromised. Standards also support interdisciplinary collaboration through clear methods and standardized repositories, and they reinforce research integrity when findings affect policy and public health. The example 8 module for this chapter highlights that trust requirement.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foundation of reproducible research still lies in proper dataset documentation and versioning. Chapter 8 develops templates, metadata, data dictionaries, provenance records, and version-control workflows in full. The next parts therefore do not repeat that operational material; they summarize what research-facing reproducibility specifically demands from documentation and versioning, then move to FAIR sharing, licensing, and pipelines.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Inaccessible data, undocumented methods, and missing standards are recurring blockers. Privacy regimes such as HIPAA require safe release practices rather than unrestricted dumps. Missing hyperparameters and incompatible naming prevent faithful reruns and cross-study integration. Reproducibility standards protect trust in high-stakes settings such as drug decisions. Documentation and versioning remain the bridge from Chapters 8 and 12 into research-facing open science.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part covers research documentation, repository metadata for discovery, and why dataset versions must be pinned for published analyses.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learners should be able to explain why undocumented methodology blocks replication; describe publication-grade repository metadata that supports discovery; state why the exact dataset version used in a published analysis must be identifiable; and distinguish Chapter 8’s operational documentation toolkit from this chapter’s research-facing reuse requirements.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Beyond the documentation components listed in Chapter 8, reproducible research documentation should record the exact conditions of the published analysis: which dataset version was used, which transformations were applied in which order, and which known limitations—such as missing values or biases—could alter downstream conclusions. The goal is a checkable published path, not only an internal ops record.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13.9 shows the cost of unclear methods. In a medical study, if the methodology for collecting patient data is unclear, another researcher cannot evaluate reliability or replicate the study. Surveys of researchers have long found that inadequate documentation of methods and data is among the leading causes of failed reproduction attempts. The example 9 module for this chapter summarizes that documentation failure mode.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Metadata types and roles are covered in Chapter 8. What matters for open science is publication-grade metadata: standardized formats and controlled vocabularies that let repositories index a dataset so others can find it. Example 13.10 shows a plant-genetics dataset uploaded with standards-compliant metadata—title, keywords, methodology, and license—so related searches can discover it beyond the original study. The example 10 module for this chapter covers that discovery pattern.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Versioning tools are developed in Chapters 8 and 12; for reproducibility the essential requirement is narrower. The exact dataset version used in a published analysis must be identifiable and retrievable even as the data continues to evolve. Example 13.11 shows what breaks without pinned versions: if a dataset is updated after publication and the original version was never archived, replication attempts silently compare against different data. The example 11 module for this chapter frames that pinning requirement.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Undocumented methods leave published findings checkable only in name. Publication-grade metadata turns repositories into discovery systems, not dump sites. Pinning the exact dataset version used in a paper is required for faithful replication. Chapter 8 and Chapter 12 supply the operational toolkit; this chapter asks what those records must prove for open, research-facing reuse.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part introduces FAIR principles—Findable, Accessible, Interoperable, and Reusable—and shows how indexing, access controls, formats, and community standards put them into practice.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learners should be able to name the four FAIR principles; explain Findable through public-archive indexing; describe Accessible sharing with clear terms and access controls; recognize Interoperable formats and controlled vocabularies; and apply Reusable community file formats for new research uses.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FAIR principles—Findable, Accessible, Interoperable, and Reusable—have become a widely adopted standard for managing and sharing scientific data. Findable means datasets can be located through identifiers and rich metadata. Accessible means retrieval under clear, standardized terms, which may include restrictions. Interoperable means formats and vocabularies support combination with other datasets and tools. Reusable means documentation, metadata, and licensing enable new research uses beyond the original study.</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13.12 illustrates Findable sharing. When a cancer genomics dataset is published, it should be indexed in public archives such as NCBI or the European Nucleotide Archive. Researchers can then locate it through keywords, metadata, or other relevant fields. Indexing is what turns a deposited file into a discoverable research asset. The example 12 module for this chapter covers that archive-indexing pattern.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Accessible does not mean every dataset must be free of restrictions. Data must be available under clear terms, often via widely accepted repositories with open retrieval protocols. Example 13.13 shows datasets hosted on Zenodo or Figshare, which can allow access while respecting privacy or ethical restrictions, for example through de-identified data and licensing agreements. The example 13 module for this chapter summarizes controlled accessibility.</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Interoperable data is structured for integration with other datasets and analytical tools. Example 13.14 shows genomic data formatted in standard file types such as FASTQ or VCF so bioinformatics tools and databases can consume it. Controlled vocabularies such as Gene Ontology or the Unified Medical Language System standardize meaning and help link data to other resources. The example 14 module for this chapter frames that format-and-vocabulary practice.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Reusable data is accompanied by documentation, metadata, and licensing that enable new research uses. Example 13.15 prefers community formats such as CSV or JSON for tabular data, HDF5 for large arrays, or NetCDF for climate data, because these formats are widely supported by analysis tools. Choosing formats the community already understands is a practical Reusable choice. The example 15 module for this chapter covers that format guidance.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 means Findable, Accessible, Interoperable, and Reusable for people and machines. Public-archive indexing makes genomics and other deposits discoverable. Accessibility allows clear terms and access controls, not only unrestricted dumps. Standard formats and controlled vocabularies support interoperability. Community file formats and licensing documentation enable reuse beyond the original study.</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part covers data-quality standards for reproducibility and research-facing provenance that tracks how datasets were created and updated.</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learners should be able to explain why quality decisions must be documented for reproducibility; illustrate completeness documentation with clinical trial dropouts; define provenance as origin, transforms, and context; and describe how tracking updates preserves integrity across dataset versions.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quality dimensions and cleaning procedures are treated in earlier chapters. For reproducibility, quality decisions—imputation, exclusion, correction—must be documented so the published analysis can be repeated under the same conditions. Completeness, consistency, and accuracy support that goal. Completeness in particular requires clear documentation of missing data and the reasons for absence, not silent omission.</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13.18 shows completeness documentation for missing participants. In clinical trials, if certain participants dropped out of the study, that should be noted in the dataset along with the impact on the analysis. Future users need those facts to interpret results and to repeat the analysis under comparable conditions. The example 18 module for this chapter covers that dropout documentation pattern.</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provenance is the documentation and tracking of origin and transformations throughout a dataset’s lifecycle. It records where data came from, how they were collected, what processes were applied, and the decisions made during processing. Provenance provides transparency and accountability so researchers can verify credibility and locate biases introduced during cleaning or errors from specific analytical steps. Unlike Chapter 12’s enterprise lineage catalogs, the emphasis here is evidence for reproducible research and open science.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13.24 shows the provenance fields a genomics study should record. Provenance should capture the sequencing technology, preprocessing steps, and curation decisions so future researchers can validate findings or repeat the analysis on related datasets. Without such documentation, a dataset becomes a black box whose reliability cannot be assessed. The example 24 module for this chapter summarizes those genomics provenance fields.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Provenance also improves traceability when datasets change. Example 13.25 shows that if a dataset undergoes modifications or updates, tracking those changes preserves integrity and lets future users understand how the dataset evolved. In regulated fields such as healthcare or finance, provenance further supports auditability and compliance by showing ethical collection and appropriate processing. The example 25 module for this chapter frames update tracking over time.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Quality decisions must be documented if published analyses are to be repeated faithfully. Completeness includes recording dropouts and other missingness with analytical impact. Provenance records origin, transforms, context, and processing decisions as research evidence. Tracking updates links versions so integrity and audits remain possible. Distinguish Chapter 12 platform lineage from this chapter’s research-facing provenance record.</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part covers open-data licensing, balancing openness with privacy, and ethical risks such as bias and community control over shared data.</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learners should be able to explain why sensitive health data may require restricted licenses; describe the openness-versus-privacy trade-off for license choice; recognize ethical risks of reinforcing bias with open datasets; and state why communities, including indigenous communities, should control how their data are shared.</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Responsible open science depends on clear licenses and ethical constraints. Some teams draft custom or restricted licenses that limit redistribution, require ethical use, or control who may access the data. Privacy principles and techniques are developed in Chapter 3; the open-science question is how those constraints interact with license choice. An unrestricted open license signals broad reuse and is appropriate only after privacy techniques have made that reuse safe.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13.26 illustrates restricted licensing for sensitive health data. Use may be limited to qualified researchers or specific contexts such as academic or non-profit use. Clinical trial data and patient records cannot carry an unrestricted open license when regulation requires de-identification first, and even de-identified data may remain re-identifiable when combined with other releases. The example 26 module for this chapter summarizes that restricted-license pattern.</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Ethical principles for collection and privacy are covered in Chapter 3. Open science adds obligations that arise from making data public: minimize risk to participants, and state what the published data can and cannot support. Researchers should document scope and limitations, including biases or collection gaps that could affect downstream research or policy. Consent obtained during collection must also cover the intended public release.</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Ethical concerns do not end when data are shared; they extend to reuse. Example 13.27 warns against discriminatory reuse of hiring or healthcare datasets. Such data should not be used to reinforce biases or perpetuate systemic inequalities. If data reveal disparities, analysis should proceed with care to avoid reinforcing stereotypes or unjust practices. The example 27 module for this chapter frames that non-discrimination obligation.</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science must respect the rights and wishes of people and communities whose data are used. Communities involved in collection, especially marginalized or vulnerable populations, should have a say in how their data are used and shared. Example 13.28 emphasizes that indigenous communities involved in ecological or environmental research should control how their data are used and shared so that sharing aligns with cultural values and ethical standards. The example 28 module for this chapter covers community authority over shared data.</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Licenses can be open or restricted; health data often need limited-access terms. License choice must follow a privacy assessment, not precede it. Open release creates ongoing ethical duties around bias, security, attribution, and scope. Communities, including indigenous communities, retain legitimate control over sharing decisions. Openness without ethics and privacy is not responsible open science.</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part covers reproducible research workflows: workflow files, Jupyter notebooks, and Docker containers for fixed tool and machine-learning stacks.</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learners should be able to explain how workflow files automate multi-step pipelines; describe Jupyter notebooks as literate pipelines from load to plots; recognize Docker images that pin bioinformatics tools; and apply the same container idea to machine-learning training stacks.</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Reproducible research workflows couple datasets with automation, notebooks, version control, and containers so analyses can be independently verified. Automation tools such as Make, Snakemake, or Nextflow define a sequence of jobs with clear dependencies so the same procedure runs regardless of who executes it or when. Consistency also requires a stable environment: the same configurations, tools, and dependency versions across stages.</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13.29 captures a multi-step bioinformatics pipeline in a workflow definition. A typical pipeline might involve data preprocessing, alignment, and statistical analysis. With automation tools, the entire process can be captured in a workflow file so each researcher follows the same procedure without ad-hoc manual intervention. The example 29 module for this chapter summarizes that workflow-file pattern.</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Jupyter notebooks integrate code, data, and documentation in a single document. Example 13.31 sketches a typical analysis narrative: data loading, cleaning, exploratory analysis, model fitting, and result visualization, with decisions documented beside executable code. Interactivity and sharing—including static exports or runnable environments—help collaboration, but large data and environment drift still require version control and containers. The example 31 module for this chapter covers that notebook pipeline.</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Reproducibility depends on a stable computational environment. Docker packages code, dependencies, and system settings into a container that can run consistently across machines. Example 13.34 pins bioinformatics tool versions inside a Docker image, bundling preprocessing software and specific versions such as BWA for sequence alignment or Samtools for manipulating alignments. The example 34 module for this chapter frames that pinned-tool container.</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container pattern applies to machine learning. Example 13.36 freezes Python library versions for model training: a Docker image can bundle dependencies for a training script and fix library versions such as TensorFlow, NumPy, and pandas. Shared images reduce “it works on my machine” failures across local, cluster, and cloud runs. The example 36 module for this chapter covers that ML training stack image.</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Workflow files encode ordered, dependency-aware pipelines so analyses run the same way each time. Notebooks make methods and results literate and shareable, but still need environment discipline. Docker pins tools and libraries so bioinformatics and machine-learning stacks travel with the analysis. Containers and workflow definitions close the execution gap left by licenses and prose alone.</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part covers continuous integration and automated tests that catch broken preprocessing, environment mismatches, and model regressions before results are published.</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learners should be able to explain continuous integration for research pipelines; describe CI checks on preprocessing and inputs; recognize cross-environment consistency tests; and state why CI should retest model training after updates.</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Continuous integration automatically integrates contributor changes into a shared repository and, for research workflows, tests and validates changes to code or data pipelines. Services such as GitHub Actions, GitLab CI, and Travis CI can run tests whenever code or data pipelines change. The goal is to catch silent breaks early: a small edit should not quietly alter published results.</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13.37 uses continuous integration to validate pipeline prerequisites. Automated checks can verify that preprocessing steps run and that required inputs are present and well-formed before downstream analysis proceeds. Catching input and preprocessing failures in CI prevents wasted compute and unreproducible partial runs. The example 37 module for this chapter covers those preprocessing and input checks.</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Environment drift is a common reproducibility failure. Example 13.38 emphasizes tests for cross-environment consistency: the same pipeline should produce expected results across machines or container images used by the team. Automated tests that compare outputs or checksums across environments expose dependency mismatches before collaborators publish conflicting numbers. The example 38 module for this chapter frames that consistency-testing pattern.</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Machine-learning pipelines change when data, features, or training code update. Example 13.39 shows CI retesting model training after such updates so regressions in metrics or training failures are caught automatically. Continuous checks keep the published training path aligned with the current repository state rather than relying on a one-time local success. The example 39 module for this chapter summarizes retrain-oriented CI.</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Automation also supports workflow documentation: logs, regenerated reports, and machine-readable records of what ran. When documentation is produced as part of the pipeline rather than hand-written after the fact, the published narrative stays synchronized with the executable path. Combined with CI, automated documentation reduces the gap between what the paper claims and what the repository actually runs.</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Continuous integration turns reproducibility from a manual hope into a repeated check. CI can validate preprocessing and inputs before costly downstream stages. Cross-environment tests catch dependency drift across machines and containers. Retrain CI detects model regressions when data or code change. Automated documentation keeps published workflows aligned with what actually executed.</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part covers R Markdown reports and DVC for tracking training data, model weights, and pipeline stages.</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learners should be able to explain how R Markdown keeps code, narrative, and results synchronized; describe DVC tracking of training data and model weights; and outline a DVC pipeline that versions preprocess, train, and evaluate stages.</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 Markdown creates dynamic, reproducible reports that integrate code, data, and results in a single document. When the document is compiled, embedded code executes and tables, figures, and statistical outputs are inserted automatically. That coupling keeps analysis, narrative, and visualization synchronized and supports version control so collaborators track changes over time. Outputs can include HTML, PDF, or Word for flexible sharing.</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13.41 regenerates an analysis report from an R Markdown source. A researcher analyzing a public health dataset might load data, clean it, run statistical analyses, and generate visualizations in one document. As the report compiles, code and narrative stay synchronized, reducing the risk that a paper figure drifts from the script that produced it. The example 41 module for this chapter covers that public-health report pattern.</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Large datasets in genomics, climate modeling, or machine learning are difficult to track with Git alone. DVC versions large datasets and models so they remain reproducible and shareable: metadata and pointers live in the repository, while the bytes live in external storage such as cloud object stores. Every modification remains traceable, improving integrity for published results that depend on heavy artifacts.</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13.44 versions training data, model weights, and evaluation outputs with DVC. In a machine learning project, managing these dependencies helps ensure that the data and models used to produce published results can be retrieved later. Without that linkage, a paper may cite results that cannot be rebuilt from the current repository. The example 44 module for this chapter summarizes tracking data and weights together.</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DVC also supports data pipelines that automate flow through the research process. Example 13.45 defines a versioned pipeline across preprocessing, model training, and evaluation. Each step’s inputs and outputs are tracked so regenerating results is a single pipeline run rather than a fragile sequence of manual scripts. The example 45 module for this chapter frames that preprocess–train–evaluate pipeline.</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 Markdown couples narrative and executable analysis so published reports recompile faithfully. DVC keeps large training data and model weights retrievable alongside code. Versioned DVC pipelines encode preprocess, train, and evaluate stages as a single reproducible path. Literate reports plus data versioning close the gap between papers and the artifacts they claim.</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final part covers cloud collaboration, audit trails that link retraining to data versions, common pitfalls such as environment drift, and a brief climate-modeling outlook.</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learners should be able to explain cloud virtual machines for consistent collaborative workflows; recognize environment drift as a common reproducibility pitfall; describe DVC audit links between retraining and data versions; and summarize how climate-scale case studies and future directions reinforce the chapter’s practices.</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Distributed teams need shared infrastructure for large datasets and scalable computation without breaking reproducibility. Cloud platforms such as Amazon Web Services, Google Cloud, and Microsoft Azure provide elastic compute and storage. Chapter 12 covers storage architectures and platform operations; here the goal is consistent research environments and reliable access so collaborators rerun the same workflow at scale.</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13.47 provisions cloud virtual machines so collaborators share the same runtime. Cloud-based VMs can be configured to run specific research workflows, ensuring the environment is consistent across users. Pairing VMs with containers or orchestration further reduces environment-related failures when the same software, dependencies, and data move between local machines, clusters, and the cloud. The example 47 module for this chapter covers that consistent-VM pattern.</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Even with mature tools, full reproducibility often fails. Example 13.50 shows environment drift as a common pitfall: code that runs perfectly on one researcher’s system may fail or produce different outputs elsewhere because of discrepancies in installed dependencies or the computational environment. Containerization tools such as Docker or virtual environments such as conda encapsulate dependencies so the code runs consistently across machines. The example 50 module for this chapter frames that drift failure mode.</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Maintaining audit trails is essential for checkable research. Just as code is versioned with Git, datasets and models should be versioned so every analysis links to its inputs. Example 13.55 shows DVC linking retraining runs to data versions: each time a model is retrained with new data, DVC can track the new dataset and updated model parameters, creating an audit trail from data to final model. The example 55 module for this chapter summarizes that retraining audit link.</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Large collaborative programs such as CMIP6 illustrate why these practices matter at climate-modeling scale: petabyte-class datasets, long-running simulations, and multi-institution comparison require versioned data, controlled environments, and transparent sharing if policy-facing outputs are to be independently verified. Looking ahead, reproducibility will continue to depend on FAIR sharing, containers, automated testing, data versioning, and ethical licensing as research becomes more computational and collaborative. The chapter’s tools are not optional polish; they are the infrastructure of trustworthy open science.</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Cloud VMs and containers help teams share consistent runtimes at scale. Environment drift remains a top failure mode when dependencies are unpinned. Audit trails that link retraining to data versions make published models checkable. Climate-scale collaborations show why FAIR, versioning, and environments must travel together. The chapter closes by tying research-facing reproducibility to the operational foundations built in Chapters 8 and 12.</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quiz for this part to finish Chapter 13. Review any weak objectives, then continue to the next chapter in the course sequence when ready.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13 — Reproducibility and open science</a:t>
            </a:r>
          </a:p>
          <a:p>
            <a:pPr algn="ctr">
              <a:lnSpc>
                <a:spcPts val="2200"/>
              </a:lnSpc>
              <a:spcBef>
                <a:spcPts val="1400"/>
              </a:spcBef>
            </a:pPr>
            <a:r>
              <a:rPr sz="2600" b="0">
                <a:solidFill>
                  <a:srgbClr val="333333"/>
                </a:solidFill>
                <a:latin typeface="Calibri"/>
              </a:rPr>
              <a:t>Chapters 8 and 12 covered operational documentation, versioning, storage, and lineage</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Reproducibility and Open Science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By the end of this part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Reproducibility and Open Science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Reproducibility versus replicability</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Reproducibility and replicability are often used interchangeably</a:t>
            </a:r>
          </a:p>
          <a:p>
            <a:pPr>
              <a:spcAft>
                <a:spcPts val="1000"/>
              </a:spcAft>
              <a:buChar char="•"/>
              <a:lnSpc>
                <a:spcPts val="2200"/>
              </a:lnSpc>
            </a:pPr>
            <a:r>
              <a:rPr sz="2000" b="0">
                <a:solidFill>
                  <a:srgbClr val="333333"/>
                </a:solidFill>
                <a:latin typeface="Calibri"/>
              </a:rPr>
              <a:t>Reproducibility is obtaining the same results from the same dataset when the same</a:t>
            </a:r>
          </a:p>
          <a:p>
            <a:pPr>
              <a:spcAft>
                <a:spcPts val="1000"/>
              </a:spcAft>
              <a:buChar char="•"/>
              <a:lnSpc>
                <a:spcPts val="2200"/>
              </a:lnSpc>
            </a:pPr>
            <a:r>
              <a:rPr sz="2000" b="0">
                <a:solidFill>
                  <a:srgbClr val="333333"/>
                </a:solidFill>
                <a:latin typeface="Calibri"/>
              </a:rPr>
              <a:t>Often with a new dataset or under different conditions</a:t>
            </a:r>
          </a:p>
          <a:p>
            <a:pPr>
              <a:spcAft>
                <a:spcPts val="1000"/>
              </a:spcAft>
              <a:buChar char="•"/>
              <a:lnSpc>
                <a:spcPts val="2200"/>
              </a:lnSpc>
            </a:pPr>
            <a:r>
              <a:rPr sz="2000" b="0">
                <a:solidFill>
                  <a:srgbClr val="333333"/>
                </a:solidFill>
                <a:latin typeface="Calibri"/>
              </a:rPr>
              <a:t>Both matter: reproducibility checks that a published computational path is faithful</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Reproducibility and Open Science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13.1 — Same Data and Methods Yield Identical Results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13.1 — hands-on module</a:t>
            </a:r>
          </a:p>
          <a:p>
            <a:pPr>
              <a:spcAft>
                <a:spcPts val="1000"/>
              </a:spcAft>
              <a:buChar char="•"/>
              <a:lnSpc>
                <a:spcPts val="2200"/>
              </a:lnSpc>
            </a:pPr>
            <a:r>
              <a:rPr sz="2000" b="0">
                <a:solidFill>
                  <a:srgbClr val="333333"/>
                </a:solidFill>
                <a:latin typeface="Calibri"/>
              </a:rPr>
              <a:t>Example 13.1 illustrates methods reproducibility</a:t>
            </a:r>
          </a:p>
          <a:p>
            <a:pPr>
              <a:spcAft>
                <a:spcPts val="1000"/>
              </a:spcAft>
              <a:buChar char="•"/>
              <a:lnSpc>
                <a:spcPts val="2200"/>
              </a:lnSpc>
            </a:pPr>
            <a:r>
              <a:rPr sz="2000" b="0">
                <a:solidFill>
                  <a:srgbClr val="333333"/>
                </a:solidFill>
                <a:latin typeface="Calibri"/>
              </a:rPr>
              <a:t>If a researcher publishes a study using a dataset and a specific analytical technique</a:t>
            </a:r>
          </a:p>
          <a:p>
            <a:pPr>
              <a:spcAft>
                <a:spcPts val="1000"/>
              </a:spcAft>
              <a:buChar char="•"/>
              <a:lnSpc>
                <a:spcPts val="2200"/>
              </a:lnSpc>
            </a:pPr>
            <a:r>
              <a:rPr sz="2000" b="0">
                <a:solidFill>
                  <a:srgbClr val="333333"/>
                </a:solidFill>
                <a:latin typeface="Calibri"/>
              </a:rPr>
              <a:t>That identity is a measure of transparency and robustness in the scientific process</a:t>
            </a:r>
          </a:p>
          <a:p>
            <a:pPr>
              <a:spcAft>
                <a:spcPts val="1000"/>
              </a:spcAft>
              <a:buChar char="•"/>
              <a:lnSpc>
                <a:spcPts val="2200"/>
              </a:lnSpc>
            </a:pPr>
            <a:r>
              <a:rPr sz="2000" b="0">
                <a:solidFill>
                  <a:srgbClr val="333333"/>
                </a:solidFill>
                <a:latin typeface="Calibri"/>
              </a:rPr>
              <a:t>View files: `modules/chapter13/example1/`</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Reproducibility and Open Science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13.1 — listing</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400"/>
              </a:spcAft>
            </a:pPr>
            <a:r>
              <a:rPr sz="2000" b="0">
                <a:solidFill>
                  <a:srgbClr val="333333"/>
                </a:solidFill>
                <a:latin typeface="Consolas"/>
              </a:rPr>
              <a:t>"""Example 13.1 — same data and methods yield identical results.</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Demonstrates computational (methods) reproducibility with the standard</a:t>
            </a:r>
          </a:p>
          <a:p>
            <a:pPr>
              <a:lnSpc>
                <a:spcPts val="2200"/>
              </a:lnSpc>
              <a:spcAft>
                <a:spcPts val="400"/>
              </a:spcAft>
            </a:pPr>
            <a:r>
              <a:rPr sz="2000" b="0">
                <a:solidFill>
                  <a:srgbClr val="333333"/>
                </a:solidFill>
                <a:latin typeface="Consolas"/>
              </a:rPr>
              <a:t>library:</a:t>
            </a:r>
          </a:p>
          <a:p>
            <a:pPr>
              <a:lnSpc>
                <a:spcPts val="2200"/>
              </a:lnSpc>
              <a:spcAft>
                <a:spcPts val="400"/>
              </a:spcAft>
            </a:pPr>
            <a:r>
              <a:rPr sz="2000" b="0">
                <a:solidFill>
                  <a:srgbClr val="333333"/>
                </a:solidFill>
                <a:latin typeface="Consolas"/>
              </a:rPr>
              <a:t>a seeded pipeline produces a byte-identical result across runs, while</a:t>
            </a:r>
          </a:p>
          <a:p>
            <a:pPr>
              <a:lnSpc>
                <a:spcPts val="2200"/>
              </a:lnSpc>
              <a:spcAft>
                <a:spcPts val="400"/>
              </a:spcAft>
            </a:pPr>
            <a:r>
              <a:rPr sz="2000" b="0">
                <a:solidFill>
                  <a:srgbClr val="333333"/>
                </a:solidFill>
                <a:latin typeface="Consolas"/>
              </a:rPr>
              <a:t>changing</a:t>
            </a:r>
          </a:p>
          <a:p>
            <a:pPr>
              <a:lnSpc>
                <a:spcPts val="2200"/>
              </a:lnSpc>
              <a:spcAft>
                <a:spcPts val="400"/>
              </a:spcAft>
            </a:pPr>
            <a:r>
              <a:rPr sz="2000" b="0">
                <a:solidFill>
                  <a:srgbClr val="333333"/>
                </a:solidFill>
                <a:latin typeface="Consolas"/>
              </a:rPr>
              <a:t>the seed or a step breaks that guarantee.</a:t>
            </a:r>
          </a:p>
          <a:p>
            <a:pPr>
              <a:lnSpc>
                <a:spcPts val="2200"/>
              </a:lnSpc>
              <a:spcAft>
                <a:spcPts val="400"/>
              </a:spcAft>
            </a:pPr>
            <a:r>
              <a:rPr sz="2000" b="0">
                <a:solidFill>
                  <a:srgbClr val="333333"/>
                </a:solidFill>
                <a:latin typeface="Consolas"/>
              </a:rPr>
              <a:t>"""</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from __future__ import annotations</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import hashlib</a:t>
            </a:r>
          </a:p>
          <a:p>
            <a:pPr>
              <a:lnSpc>
                <a:spcPts val="2200"/>
              </a:lnSpc>
              <a:spcAft>
                <a:spcPts val="400"/>
              </a:spcAft>
            </a:pPr>
            <a:r>
              <a:rPr sz="2000" b="0">
                <a:solidFill>
                  <a:srgbClr val="333333"/>
                </a:solidFill>
                <a:latin typeface="Consolas"/>
              </a:rPr>
              <a:t>import random</a:t>
            </a:r>
          </a:p>
          <a:p>
            <a:pPr>
              <a:lnSpc>
                <a:spcPts val="2200"/>
              </a:lnSpc>
              <a:spcAft>
                <a:spcPts val="400"/>
              </a:spcAft>
            </a:pPr>
            <a:r>
              <a:rPr sz="2000" b="0">
                <a:solidFill>
                  <a:srgbClr val="333333"/>
                </a:solidFill>
                <a:latin typeface="Consolas"/>
              </a:rPr>
              <a:t>import statistics</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def analysis(seed: int, transform: str = "zscore") -&gt; str:</a:t>
            </a:r>
          </a:p>
          <a:p>
            <a:pPr>
              <a:lnSpc>
                <a:spcPts val="2200"/>
              </a:lnSpc>
              <a:spcAft>
                <a:spcPts val="400"/>
              </a:spcAft>
            </a:pPr>
            <a:r>
              <a:rPr sz="2000" b="0">
                <a:solidFill>
                  <a:srgbClr val="333333"/>
                </a:solidFill>
                <a:latin typeface="Consolas"/>
              </a:rPr>
              <a:t>    """Run a small deterministic 'analysis' and return a hash of its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Reproducibility and Open Science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13.2 — Replication with New Climate Data</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13.2 — hands-on module</a:t>
            </a:r>
          </a:p>
          <a:p>
            <a:pPr>
              <a:spcAft>
                <a:spcPts val="1000"/>
              </a:spcAft>
              <a:buChar char="•"/>
              <a:lnSpc>
                <a:spcPts val="2200"/>
              </a:lnSpc>
            </a:pPr>
            <a:r>
              <a:rPr sz="2000" b="0">
                <a:solidFill>
                  <a:srgbClr val="333333"/>
                </a:solidFill>
                <a:latin typeface="Calibri"/>
              </a:rPr>
              <a:t>Example 13.2 contrasts replicability</a:t>
            </a:r>
          </a:p>
          <a:p>
            <a:pPr>
              <a:spcAft>
                <a:spcPts val="1000"/>
              </a:spcAft>
              <a:buChar char="•"/>
              <a:lnSpc>
                <a:spcPts val="2200"/>
              </a:lnSpc>
            </a:pPr>
            <a:r>
              <a:rPr sz="2000" b="0">
                <a:solidFill>
                  <a:srgbClr val="333333"/>
                </a:solidFill>
                <a:latin typeface="Calibri"/>
              </a:rPr>
              <a:t>A climate model may be replicated by a different team using a new set of environmental</a:t>
            </a:r>
          </a:p>
          <a:p>
            <a:pPr>
              <a:spcAft>
                <a:spcPts val="1000"/>
              </a:spcAft>
              <a:buChar char="•"/>
              <a:lnSpc>
                <a:spcPts val="2200"/>
              </a:lnSpc>
            </a:pPr>
            <a:r>
              <a:rPr sz="2000" b="0">
                <a:solidFill>
                  <a:srgbClr val="333333"/>
                </a:solidFill>
                <a:latin typeface="Calibri"/>
              </a:rPr>
              <a:t>Replicability can thus be seen as an extension of reproducibility</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`modules/chapter13/example2/`</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Reproducibility and Open Science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Core principles of open science</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Open science seeks to make research and data publicly accessible, transparent</a:t>
            </a:r>
          </a:p>
          <a:p>
            <a:pPr>
              <a:spcAft>
                <a:spcPts val="1000"/>
              </a:spcAft>
              <a:buChar char="•"/>
              <a:lnSpc>
                <a:spcPts val="2200"/>
              </a:lnSpc>
            </a:pPr>
            <a:r>
              <a:rPr sz="2000" b="0">
                <a:solidFill>
                  <a:srgbClr val="333333"/>
                </a:solidFill>
                <a:latin typeface="Calibri"/>
              </a:rPr>
              <a:t>Accessibility means research outputs, datasets, software</a:t>
            </a:r>
          </a:p>
          <a:p>
            <a:pPr>
              <a:spcAft>
                <a:spcPts val="1000"/>
              </a:spcAft>
              <a:buChar char="•"/>
              <a:lnSpc>
                <a:spcPts val="2200"/>
              </a:lnSpc>
            </a:pPr>
            <a:r>
              <a:rPr sz="2000" b="0">
                <a:solidFill>
                  <a:srgbClr val="333333"/>
                </a:solidFill>
                <a:latin typeface="Calibri"/>
              </a:rPr>
              <a:t>Transparency means making processes visible</a:t>
            </a:r>
          </a:p>
          <a:p>
            <a:pPr>
              <a:spcAft>
                <a:spcPts val="1000"/>
              </a:spcAft>
              <a:buChar char="•"/>
              <a:lnSpc>
                <a:spcPts val="2200"/>
              </a:lnSpc>
            </a:pPr>
            <a:r>
              <a:rPr sz="2000" b="0">
                <a:solidFill>
                  <a:srgbClr val="333333"/>
                </a:solidFill>
                <a:latin typeface="Calibri"/>
              </a:rPr>
              <a:t>Collaboration means sharing knowledge and resources across disciplines and institutions so</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Reproducibility and Open Science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13.3 — OSF and Zenodo for Open Sharing</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13.3 — hands-on module</a:t>
            </a:r>
          </a:p>
          <a:p>
            <a:pPr>
              <a:spcAft>
                <a:spcPts val="1000"/>
              </a:spcAft>
              <a:buChar char="•"/>
              <a:lnSpc>
                <a:spcPts val="2200"/>
              </a:lnSpc>
            </a:pPr>
            <a:r>
              <a:rPr sz="2000" b="0">
                <a:solidFill>
                  <a:srgbClr val="333333"/>
                </a:solidFill>
                <a:latin typeface="Calibri"/>
              </a:rPr>
              <a:t>Example 13.3 names widely used platforms for open sharing</a:t>
            </a:r>
          </a:p>
          <a:p>
            <a:pPr>
              <a:spcAft>
                <a:spcPts val="1000"/>
              </a:spcAft>
              <a:buChar char="•"/>
              <a:lnSpc>
                <a:spcPts val="2200"/>
              </a:lnSpc>
            </a:pPr>
            <a:r>
              <a:rPr sz="2000" b="0">
                <a:solidFill>
                  <a:srgbClr val="333333"/>
                </a:solidFill>
                <a:latin typeface="Calibri"/>
              </a:rPr>
              <a:t>Preprints with the global community</a:t>
            </a:r>
          </a:p>
          <a:p>
            <a:pPr>
              <a:spcAft>
                <a:spcPts val="1000"/>
              </a:spcAft>
              <a:buChar char="•"/>
              <a:lnSpc>
                <a:spcPts val="2200"/>
              </a:lnSpc>
            </a:pPr>
            <a:r>
              <a:rPr sz="2000" b="0">
                <a:solidFill>
                  <a:srgbClr val="333333"/>
                </a:solidFill>
                <a:latin typeface="Calibri"/>
              </a:rPr>
              <a:t>Accessibility is not only about publishing a paper</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`modules/chapter13/example3/`</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Reproducibility and Open Science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13.4 — Publishing Scripts and Notebooks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13.4 — hands-on module</a:t>
            </a:r>
          </a:p>
          <a:p>
            <a:pPr>
              <a:spcAft>
                <a:spcPts val="1000"/>
              </a:spcAft>
              <a:buChar char="•"/>
              <a:lnSpc>
                <a:spcPts val="2200"/>
              </a:lnSpc>
            </a:pPr>
            <a:r>
              <a:rPr sz="2000" b="0">
                <a:solidFill>
                  <a:srgbClr val="333333"/>
                </a:solidFill>
                <a:latin typeface="Calibri"/>
              </a:rPr>
              <a:t>Example 13.4 shows transparency through released analysis assets</a:t>
            </a:r>
          </a:p>
          <a:p>
            <a:pPr>
              <a:spcAft>
                <a:spcPts val="1000"/>
              </a:spcAft>
              <a:buChar char="•"/>
              <a:lnSpc>
                <a:spcPts val="2200"/>
              </a:lnSpc>
            </a:pPr>
            <a:r>
              <a:rPr sz="2000" b="0">
                <a:solidFill>
                  <a:srgbClr val="333333"/>
                </a:solidFill>
                <a:latin typeface="Calibri"/>
              </a:rPr>
              <a:t>Researchers may release the scripts or notebooks used to process their data so others can</a:t>
            </a:r>
          </a:p>
          <a:p>
            <a:pPr>
              <a:spcAft>
                <a:spcPts val="1000"/>
              </a:spcAft>
              <a:buChar char="•"/>
              <a:lnSpc>
                <a:spcPts val="2200"/>
              </a:lnSpc>
            </a:pPr>
            <a:r>
              <a:rPr sz="2000" b="0">
                <a:solidFill>
                  <a:srgbClr val="333333"/>
                </a:solidFill>
                <a:latin typeface="Calibri"/>
              </a:rPr>
              <a:t>Methodological limitations</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`modules/chapter13/example4/`</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Reproducibility and Open Science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Reproducibility checks the same data and methods</a:t>
            </a:r>
          </a:p>
          <a:p>
            <a:pPr>
              <a:spcAft>
                <a:spcPts val="1000"/>
              </a:spcAft>
              <a:buChar char="•"/>
              <a:lnSpc>
                <a:spcPts val="2200"/>
              </a:lnSpc>
            </a:pPr>
            <a:r>
              <a:rPr sz="2000" b="0">
                <a:solidFill>
                  <a:srgbClr val="333333"/>
                </a:solidFill>
                <a:latin typeface="Calibri"/>
              </a:rPr>
              <a:t>Open science rests on accessibility, transparency, and collaboration</a:t>
            </a:r>
          </a:p>
          <a:p>
            <a:pPr>
              <a:spcAft>
                <a:spcPts val="1000"/>
              </a:spcAft>
              <a:buChar char="•"/>
              <a:lnSpc>
                <a:spcPts val="2200"/>
              </a:lnSpc>
            </a:pPr>
            <a:r>
              <a:rPr sz="2000" b="0">
                <a:solidFill>
                  <a:srgbClr val="333333"/>
                </a:solidFill>
                <a:latin typeface="Calibri"/>
              </a:rPr>
              <a:t>Repositories such as the Open Science Framework and Zenodo support open sharing of data</a:t>
            </a:r>
          </a:p>
          <a:p>
            <a:pPr>
              <a:spcAft>
                <a:spcPts val="1000"/>
              </a:spcAft>
              <a:buChar char="•"/>
              <a:lnSpc>
                <a:spcPts val="2200"/>
              </a:lnSpc>
            </a:pPr>
            <a:r>
              <a:rPr sz="2000" b="0">
                <a:solidFill>
                  <a:srgbClr val="333333"/>
                </a:solidFill>
                <a:latin typeface="Calibri"/>
              </a:rPr>
              <a:t>Publishing scripts and notebooks makes workflows checkable by others</a:t>
            </a:r>
          </a:p>
          <a:p>
            <a:pPr>
              <a:spcAft>
                <a:spcPts val="1000"/>
              </a:spcAft>
              <a:buChar char="•"/>
              <a:lnSpc>
                <a:spcPts val="2200"/>
              </a:lnSpc>
            </a:pPr>
            <a:r>
              <a:rPr sz="2000" b="0">
                <a:solidFill>
                  <a:srgbClr val="333333"/>
                </a:solidFill>
                <a:latin typeface="Calibri"/>
              </a:rPr>
              <a:t>This chapter’s focus is research-facing practice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Reproducibility and Open Science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The next part covers barriers that still block reproducible work</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Reproducibility and Open Science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By the end of this part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Reproducibility and Open Science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Three recurring barriers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Achieving reproducibility in practice remains difficult</a:t>
            </a:r>
          </a:p>
          <a:p>
            <a:pPr>
              <a:spcAft>
                <a:spcPts val="1000"/>
              </a:spcAft>
              <a:buChar char="•"/>
              <a:lnSpc>
                <a:spcPts val="2200"/>
              </a:lnSpc>
            </a:pPr>
            <a:r>
              <a:rPr sz="2000" b="0">
                <a:solidFill>
                  <a:srgbClr val="333333"/>
                </a:solidFill>
                <a:latin typeface="Calibri"/>
              </a:rPr>
              <a:t>Three barriers recur across fields</a:t>
            </a:r>
          </a:p>
          <a:p>
            <a:pPr>
              <a:spcAft>
                <a:spcPts val="1000"/>
              </a:spcAft>
              <a:buChar char="•"/>
              <a:lnSpc>
                <a:spcPts val="2200"/>
              </a:lnSpc>
            </a:pPr>
            <a:r>
              <a:rPr sz="2000" b="0">
                <a:solidFill>
                  <a:srgbClr val="333333"/>
                </a:solidFill>
                <a:latin typeface="Calibri"/>
              </a:rPr>
              <a:t>Datasets may be unavailable because of privacy</a:t>
            </a:r>
          </a:p>
          <a:p>
            <a:pPr>
              <a:spcAft>
                <a:spcPts val="1000"/>
              </a:spcAft>
              <a:buChar char="•"/>
              <a:lnSpc>
                <a:spcPts val="2200"/>
              </a:lnSpc>
            </a:pPr>
            <a:r>
              <a:rPr sz="2000" b="0">
                <a:solidFill>
                  <a:srgbClr val="333333"/>
                </a:solidFill>
                <a:latin typeface="Calibri"/>
              </a:rPr>
              <a:t>Methods may be published without enough detail to rerun the analysis</a:t>
            </a:r>
          </a:p>
          <a:p>
            <a:pPr>
              <a:spcAft>
                <a:spcPts val="1000"/>
              </a:spcAft>
              <a:buChar char="•"/>
              <a:lnSpc>
                <a:spcPts val="2200"/>
              </a:lnSpc>
            </a:pPr>
            <a:r>
              <a:rPr sz="2000" b="0">
                <a:solidFill>
                  <a:srgbClr val="333333"/>
                </a:solidFill>
                <a:latin typeface="Calibri"/>
              </a:rPr>
              <a:t>Without shared conventions for documentation, versioning</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Reproducibility and Open Science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13.5 — HIPAA Limits on Clinical Data Sharing</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13.5 — hands-on module</a:t>
            </a:r>
          </a:p>
          <a:p>
            <a:pPr>
              <a:spcAft>
                <a:spcPts val="1000"/>
              </a:spcAft>
              <a:buChar char="•"/>
              <a:lnSpc>
                <a:spcPts val="2200"/>
              </a:lnSpc>
            </a:pPr>
            <a:r>
              <a:rPr sz="2000" b="0">
                <a:solidFill>
                  <a:srgbClr val="333333"/>
                </a:solidFill>
                <a:latin typeface="Calibri"/>
              </a:rPr>
              <a:t>Example 13.5 shows how privacy law can block open sharing of clinical data</a:t>
            </a:r>
          </a:p>
          <a:p>
            <a:pPr>
              <a:spcAft>
                <a:spcPts val="1000"/>
              </a:spcAft>
              <a:buChar char="•"/>
              <a:lnSpc>
                <a:spcPts val="2200"/>
              </a:lnSpc>
            </a:pPr>
            <a:r>
              <a:rPr sz="2000" b="0">
                <a:solidFill>
                  <a:srgbClr val="333333"/>
                </a:solidFill>
                <a:latin typeface="Calibri"/>
              </a:rPr>
              <a:t>Clinical research often involves sensitive patient data that cannot be shared openly under</a:t>
            </a:r>
          </a:p>
          <a:p>
            <a:pPr>
              <a:spcAft>
                <a:spcPts val="1000"/>
              </a:spcAft>
              <a:buChar char="•"/>
              <a:lnSpc>
                <a:spcPts val="2200"/>
              </a:lnSpc>
            </a:pPr>
            <a:r>
              <a:rPr sz="2000" b="0">
                <a:solidFill>
                  <a:srgbClr val="333333"/>
                </a:solidFill>
                <a:latin typeface="Calibri"/>
              </a:rPr>
              <a:t>Open science therefore pairs sharing goals with de-identification and anonymization so</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`modules/chapter13/example5/`</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Reproducibility and Open Science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13.6 — Missing Hyperparameters Block Replication</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13.6 — hands-on module</a:t>
            </a:r>
          </a:p>
          <a:p>
            <a:pPr>
              <a:spcAft>
                <a:spcPts val="1000"/>
              </a:spcAft>
              <a:buChar char="•"/>
              <a:lnSpc>
                <a:spcPts val="2200"/>
              </a:lnSpc>
            </a:pPr>
            <a:r>
              <a:rPr sz="2000" b="0">
                <a:solidFill>
                  <a:srgbClr val="333333"/>
                </a:solidFill>
                <a:latin typeface="Calibri"/>
              </a:rPr>
              <a:t>Example 13.6 shows how undocumented methods prevent replication of a machine learning</a:t>
            </a:r>
          </a:p>
          <a:p>
            <a:pPr>
              <a:spcAft>
                <a:spcPts val="1000"/>
              </a:spcAft>
              <a:buChar char="•"/>
              <a:lnSpc>
                <a:spcPts val="2200"/>
              </a:lnSpc>
            </a:pPr>
            <a:r>
              <a:rPr sz="2000" b="0">
                <a:solidFill>
                  <a:srgbClr val="333333"/>
                </a:solidFill>
                <a:latin typeface="Calibri"/>
              </a:rPr>
              <a:t>Making it impossible for others to replicate the experiment</a:t>
            </a:r>
          </a:p>
          <a:p>
            <a:pPr>
              <a:spcAft>
                <a:spcPts val="1000"/>
              </a:spcAft>
              <a:buChar char="•"/>
              <a:lnSpc>
                <a:spcPts val="2200"/>
              </a:lnSpc>
            </a:pPr>
            <a:r>
              <a:rPr sz="2000" b="0">
                <a:solidFill>
                  <a:srgbClr val="333333"/>
                </a:solidFill>
                <a:latin typeface="Calibri"/>
              </a:rPr>
              <a:t>Either way, the computational path cannot be checked</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`modules/chapter13/example6/`</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Reproducibility and Open Science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13.7 — Incompatible Bioinformatics Naming Standards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13.7 — hands-on module</a:t>
            </a:r>
          </a:p>
          <a:p>
            <a:pPr>
              <a:spcAft>
                <a:spcPts val="1000"/>
              </a:spcAft>
              <a:buChar char="•"/>
              <a:lnSpc>
                <a:spcPts val="2200"/>
              </a:lnSpc>
            </a:pPr>
            <a:r>
              <a:rPr sz="2000" b="0">
                <a:solidFill>
                  <a:srgbClr val="333333"/>
                </a:solidFill>
                <a:latin typeface="Calibri"/>
              </a:rPr>
              <a:t>Example 13.7 shows how missing community standards hinder cross-lab comparison</a:t>
            </a:r>
          </a:p>
          <a:p>
            <a:pPr>
              <a:spcAft>
                <a:spcPts val="1000"/>
              </a:spcAft>
              <a:buChar char="•"/>
              <a:lnSpc>
                <a:spcPts val="2200"/>
              </a:lnSpc>
            </a:pPr>
            <a:r>
              <a:rPr sz="2000" b="0">
                <a:solidFill>
                  <a:srgbClr val="333333"/>
                </a:solidFill>
                <a:latin typeface="Calibri"/>
              </a:rPr>
              <a:t>In bioinformatics</a:t>
            </a:r>
          </a:p>
          <a:p>
            <a:pPr>
              <a:spcAft>
                <a:spcPts val="1000"/>
              </a:spcAft>
              <a:buChar char="•"/>
              <a:lnSpc>
                <a:spcPts val="2200"/>
              </a:lnSpc>
            </a:pPr>
            <a:r>
              <a:rPr sz="2000" b="0">
                <a:solidFill>
                  <a:srgbClr val="333333"/>
                </a:solidFill>
                <a:latin typeface="Calibri"/>
              </a:rPr>
              <a:t>Not optional polish</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`modules/chapter13/example7/`</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Reproducibility and Open Science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13.8 — Drug Decisions Depend on Reproducible Trials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13.8 — hands-on module</a:t>
            </a:r>
          </a:p>
          <a:p>
            <a:pPr>
              <a:spcAft>
                <a:spcPts val="1000"/>
              </a:spcAft>
              <a:buChar char="•"/>
              <a:lnSpc>
                <a:spcPts val="2200"/>
              </a:lnSpc>
            </a:pPr>
            <a:r>
              <a:rPr sz="2000" b="0">
                <a:solidFill>
                  <a:srgbClr val="333333"/>
                </a:solidFill>
                <a:latin typeface="Calibri"/>
              </a:rPr>
              <a:t>Example 13.8 ties reproducibility standards to high-stakes decisions</a:t>
            </a:r>
          </a:p>
          <a:p>
            <a:pPr>
              <a:spcAft>
                <a:spcPts val="1000"/>
              </a:spcAft>
              <a:buChar char="•"/>
              <a:lnSpc>
                <a:spcPts val="2200"/>
              </a:lnSpc>
            </a:pPr>
            <a:r>
              <a:rPr sz="2000" b="0">
                <a:solidFill>
                  <a:srgbClr val="333333"/>
                </a:solidFill>
                <a:latin typeface="Calibri"/>
              </a:rPr>
              <a:t>A pharmaceutical company may base drug development on clinical trial results</a:t>
            </a:r>
          </a:p>
          <a:p>
            <a:pPr>
              <a:spcAft>
                <a:spcPts val="1000"/>
              </a:spcAft>
              <a:buChar char="•"/>
              <a:lnSpc>
                <a:spcPts val="2200"/>
              </a:lnSpc>
            </a:pPr>
            <a:r>
              <a:rPr sz="2000" b="0">
                <a:solidFill>
                  <a:srgbClr val="333333"/>
                </a:solidFill>
                <a:latin typeface="Calibri"/>
              </a:rPr>
              <a:t>They reinforce research integrity when findings affect policy and public health</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`modules/chapter13/example8/`</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Reproducibility and Open Science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Foundations bridge to documentation</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The foundation of reproducible research still lies in proper dataset documentation and</a:t>
            </a:r>
          </a:p>
          <a:p>
            <a:pPr>
              <a:spcAft>
                <a:spcPts val="1000"/>
              </a:spcAft>
              <a:buChar char="•"/>
              <a:lnSpc>
                <a:spcPts val="2200"/>
              </a:lnSpc>
            </a:pPr>
            <a:r>
              <a:rPr sz="2000" b="0">
                <a:solidFill>
                  <a:srgbClr val="333333"/>
                </a:solidFill>
                <a:latin typeface="Calibri"/>
              </a:rPr>
              <a:t>Chapter 8 develops templates, metadata, data dictionaries, provenance records</a:t>
            </a:r>
          </a:p>
          <a:p>
            <a:pPr>
              <a:spcAft>
                <a:spcPts val="1000"/>
              </a:spcAft>
              <a:buChar char="•"/>
              <a:lnSpc>
                <a:spcPts val="2200"/>
              </a:lnSpc>
            </a:pPr>
            <a:r>
              <a:rPr sz="2000" b="0">
                <a:solidFill>
                  <a:srgbClr val="333333"/>
                </a:solidFill>
                <a:latin typeface="Calibri"/>
              </a:rPr>
              <a:t>The next parts therefore do not repeat that operational material</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Reproducibility and Open Science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Inaccessible data, undocumented methods, and missing standards are recurring blockers</a:t>
            </a:r>
          </a:p>
          <a:p>
            <a:pPr>
              <a:spcAft>
                <a:spcPts val="1000"/>
              </a:spcAft>
              <a:buChar char="•"/>
              <a:lnSpc>
                <a:spcPts val="2200"/>
              </a:lnSpc>
            </a:pPr>
            <a:r>
              <a:rPr sz="2000" b="0">
                <a:solidFill>
                  <a:srgbClr val="333333"/>
                </a:solidFill>
                <a:latin typeface="Calibri"/>
              </a:rPr>
              <a:t>Privacy regimes such as HIPAA require safe release practices rather than unrestricted</a:t>
            </a:r>
          </a:p>
          <a:p>
            <a:pPr>
              <a:spcAft>
                <a:spcPts val="1000"/>
              </a:spcAft>
              <a:buChar char="•"/>
              <a:lnSpc>
                <a:spcPts val="2200"/>
              </a:lnSpc>
            </a:pPr>
            <a:r>
              <a:rPr sz="2000" b="0">
                <a:solidFill>
                  <a:srgbClr val="333333"/>
                </a:solidFill>
                <a:latin typeface="Calibri"/>
              </a:rPr>
              <a:t>Missing hyperparameters and incompatible naming prevent faithful reruns and cross-study</a:t>
            </a:r>
          </a:p>
          <a:p>
            <a:pPr>
              <a:spcAft>
                <a:spcPts val="1000"/>
              </a:spcAft>
              <a:buChar char="•"/>
              <a:lnSpc>
                <a:spcPts val="2200"/>
              </a:lnSpc>
            </a:pPr>
            <a:r>
              <a:rPr sz="2000" b="0">
                <a:solidFill>
                  <a:srgbClr val="333333"/>
                </a:solidFill>
                <a:latin typeface="Calibri"/>
              </a:rPr>
              <a:t>Reproducibility standards protect trust in high-stakes settings such as drug decisions</a:t>
            </a:r>
          </a:p>
          <a:p>
            <a:pPr>
              <a:spcAft>
                <a:spcPts val="1000"/>
              </a:spcAft>
              <a:buChar char="•"/>
              <a:lnSpc>
                <a:spcPts val="2200"/>
              </a:lnSpc>
            </a:pPr>
            <a:r>
              <a:rPr sz="2000" b="0">
                <a:solidFill>
                  <a:srgbClr val="333333"/>
                </a:solidFill>
                <a:latin typeface="Calibri"/>
              </a:rPr>
              <a:t>Documentation and versioning remain the bridge from Chapters 8 and 12 into research-facing</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Reproducibility and Open Science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The next part covers research documentation, repository metadata for discovery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Reproducibility and Open Science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By the end of this part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Reproducibility and Open Science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Research documentation demands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Beyond the documentation components listed in Chapter 8</a:t>
            </a:r>
          </a:p>
          <a:p>
            <a:pPr>
              <a:spcAft>
                <a:spcPts val="1000"/>
              </a:spcAft>
              <a:buChar char="•"/>
              <a:lnSpc>
                <a:spcPts val="2200"/>
              </a:lnSpc>
            </a:pPr>
            <a:r>
              <a:rPr sz="2000" b="0">
                <a:solidFill>
                  <a:srgbClr val="333333"/>
                </a:solidFill>
                <a:latin typeface="Calibri"/>
              </a:rPr>
              <a:t>The goal is a checkable published path, not only an internal ops record</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Reproducibility and Open Science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13.9 — Undocumented Methodology Blocks Replication</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13.9 — hands-on module</a:t>
            </a:r>
          </a:p>
          <a:p>
            <a:pPr>
              <a:spcAft>
                <a:spcPts val="1000"/>
              </a:spcAft>
              <a:buChar char="•"/>
              <a:lnSpc>
                <a:spcPts val="2200"/>
              </a:lnSpc>
            </a:pPr>
            <a:r>
              <a:rPr sz="2000" b="0">
                <a:solidFill>
                  <a:srgbClr val="333333"/>
                </a:solidFill>
                <a:latin typeface="Calibri"/>
              </a:rPr>
              <a:t>Example 13.9 shows the cost of unclear methods</a:t>
            </a:r>
          </a:p>
          <a:p>
            <a:pPr>
              <a:spcAft>
                <a:spcPts val="1000"/>
              </a:spcAft>
              <a:buChar char="•"/>
              <a:lnSpc>
                <a:spcPts val="2200"/>
              </a:lnSpc>
            </a:pPr>
            <a:r>
              <a:rPr sz="2000" b="0">
                <a:solidFill>
                  <a:srgbClr val="333333"/>
                </a:solidFill>
                <a:latin typeface="Calibri"/>
              </a:rPr>
              <a:t>In a medical study</a:t>
            </a:r>
          </a:p>
          <a:p>
            <a:pPr>
              <a:spcAft>
                <a:spcPts val="1000"/>
              </a:spcAft>
              <a:buChar char="•"/>
              <a:lnSpc>
                <a:spcPts val="2200"/>
              </a:lnSpc>
            </a:pPr>
            <a:r>
              <a:rPr sz="2000" b="0">
                <a:solidFill>
                  <a:srgbClr val="333333"/>
                </a:solidFill>
                <a:latin typeface="Calibri"/>
              </a:rPr>
              <a:t>Surveys of researchers have long found that inadequate documentation of methods and data</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`modules/chapter13/example9/`</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Reproducibility and Open Science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13.10 — Repository Metadata Enables Discovery</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13.10 — hands-on module</a:t>
            </a:r>
          </a:p>
          <a:p>
            <a:pPr>
              <a:spcAft>
                <a:spcPts val="1000"/>
              </a:spcAft>
              <a:buChar char="•"/>
              <a:lnSpc>
                <a:spcPts val="2200"/>
              </a:lnSpc>
            </a:pPr>
            <a:r>
              <a:rPr sz="2000" b="0">
                <a:solidFill>
                  <a:srgbClr val="333333"/>
                </a:solidFill>
                <a:latin typeface="Calibri"/>
              </a:rPr>
              <a:t>Metadata types and roles are covered in Chapter 8</a:t>
            </a:r>
          </a:p>
          <a:p>
            <a:pPr>
              <a:spcAft>
                <a:spcPts val="1000"/>
              </a:spcAft>
              <a:buChar char="•"/>
              <a:lnSpc>
                <a:spcPts val="2200"/>
              </a:lnSpc>
            </a:pPr>
            <a:r>
              <a:rPr sz="2000" b="0">
                <a:solidFill>
                  <a:srgbClr val="333333"/>
                </a:solidFill>
                <a:latin typeface="Calibri"/>
              </a:rPr>
              <a:t>What matters for open science is publication-grade metadata</a:t>
            </a:r>
          </a:p>
          <a:p>
            <a:pPr>
              <a:spcAft>
                <a:spcPts val="1000"/>
              </a:spcAft>
              <a:buChar char="•"/>
              <a:lnSpc>
                <a:spcPts val="2200"/>
              </a:lnSpc>
            </a:pPr>
            <a:r>
              <a:rPr sz="2000" b="0">
                <a:solidFill>
                  <a:srgbClr val="333333"/>
                </a:solidFill>
                <a:latin typeface="Calibri"/>
              </a:rPr>
              <a:t>License, so related searches can discover it beyond the original study</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`modules/chapter13/example10/`</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Reproducibility and Open Science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13.11 — Unpinned Dataset Versions Break Replication</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13.11 — hands-on module</a:t>
            </a:r>
          </a:p>
          <a:p>
            <a:pPr>
              <a:spcAft>
                <a:spcPts val="1000"/>
              </a:spcAft>
              <a:buChar char="•"/>
              <a:lnSpc>
                <a:spcPts val="2200"/>
              </a:lnSpc>
            </a:pPr>
            <a:r>
              <a:rPr sz="2000" b="0">
                <a:solidFill>
                  <a:srgbClr val="333333"/>
                </a:solidFill>
                <a:latin typeface="Calibri"/>
              </a:rPr>
              <a:t>Versioning tools are developed in Chapters 8 and 12</a:t>
            </a:r>
          </a:p>
          <a:p>
            <a:pPr>
              <a:spcAft>
                <a:spcPts val="1000"/>
              </a:spcAft>
              <a:buChar char="•"/>
              <a:lnSpc>
                <a:spcPts val="2200"/>
              </a:lnSpc>
            </a:pPr>
            <a:r>
              <a:rPr sz="2000" b="0">
                <a:solidFill>
                  <a:srgbClr val="333333"/>
                </a:solidFill>
                <a:latin typeface="Calibri"/>
              </a:rPr>
              <a:t>The exact dataset version used in a published analysis must be identifiable and</a:t>
            </a:r>
          </a:p>
          <a:p>
            <a:pPr>
              <a:spcAft>
                <a:spcPts val="1000"/>
              </a:spcAft>
              <a:buChar char="•"/>
              <a:lnSpc>
                <a:spcPts val="2200"/>
              </a:lnSpc>
            </a:pPr>
            <a:r>
              <a:rPr sz="2000" b="0">
                <a:solidFill>
                  <a:srgbClr val="333333"/>
                </a:solidFill>
                <a:latin typeface="Calibri"/>
              </a:rPr>
              <a:t>Example 13.11 shows what breaks without pinned versions</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`modules/chapter13/example11/`</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Reproducibility and Open Science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Undocumented methods leave published findings checkable only in name</a:t>
            </a:r>
          </a:p>
          <a:p>
            <a:pPr>
              <a:spcAft>
                <a:spcPts val="1000"/>
              </a:spcAft>
              <a:buChar char="•"/>
              <a:lnSpc>
                <a:spcPts val="2200"/>
              </a:lnSpc>
            </a:pPr>
            <a:r>
              <a:rPr sz="2000" b="0">
                <a:solidFill>
                  <a:srgbClr val="333333"/>
                </a:solidFill>
                <a:latin typeface="Calibri"/>
              </a:rPr>
              <a:t>Publication-grade metadata turns repositories into discovery systems, not dump sites</a:t>
            </a:r>
          </a:p>
          <a:p>
            <a:pPr>
              <a:spcAft>
                <a:spcPts val="1000"/>
              </a:spcAft>
              <a:buChar char="•"/>
              <a:lnSpc>
                <a:spcPts val="2200"/>
              </a:lnSpc>
            </a:pPr>
            <a:r>
              <a:rPr sz="2000" b="0">
                <a:solidFill>
                  <a:srgbClr val="333333"/>
                </a:solidFill>
                <a:latin typeface="Calibri"/>
              </a:rPr>
              <a:t>Pinning the exact dataset version used in a paper is required for faithful replication</a:t>
            </a:r>
          </a:p>
          <a:p>
            <a:pPr>
              <a:spcAft>
                <a:spcPts val="1000"/>
              </a:spcAft>
              <a:buChar char="•"/>
              <a:lnSpc>
                <a:spcPts val="2200"/>
              </a:lnSpc>
            </a:pPr>
            <a:r>
              <a:rPr sz="2000" b="0">
                <a:solidFill>
                  <a:srgbClr val="333333"/>
                </a:solidFill>
                <a:latin typeface="Calibri"/>
              </a:rPr>
              <a:t>Chapter 8 and Chapter 12 supply the operational toolkit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Reproducibility and Open Science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The next part introduces FAIR principles, Findable, Accessible, Interoperable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Reproducibility and Open Science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By the end of this part, learners should be able to name the four FAIR principles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Reproducibility and Open Science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What FAIR means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The FAIR principles, Findable, Accessible, Interoperable</a:t>
            </a:r>
          </a:p>
          <a:p>
            <a:pPr>
              <a:spcAft>
                <a:spcPts val="1000"/>
              </a:spcAft>
              <a:buChar char="•"/>
              <a:lnSpc>
                <a:spcPts val="2200"/>
              </a:lnSpc>
            </a:pPr>
            <a:r>
              <a:rPr sz="2000" b="0">
                <a:solidFill>
                  <a:srgbClr val="333333"/>
                </a:solidFill>
                <a:latin typeface="Calibri"/>
              </a:rPr>
              <a:t>Findable means datasets can be located through identifiers and rich metadata</a:t>
            </a:r>
          </a:p>
          <a:p>
            <a:pPr>
              <a:spcAft>
                <a:spcPts val="1000"/>
              </a:spcAft>
              <a:buChar char="•"/>
              <a:lnSpc>
                <a:spcPts val="2200"/>
              </a:lnSpc>
            </a:pPr>
            <a:r>
              <a:rPr sz="2000" b="0">
                <a:solidFill>
                  <a:srgbClr val="333333"/>
                </a:solidFill>
                <a:latin typeface="Calibri"/>
              </a:rPr>
              <a:t>Accessible means retrieval under clear, standardized terms, which may include restrictions</a:t>
            </a:r>
          </a:p>
          <a:p>
            <a:pPr>
              <a:spcAft>
                <a:spcPts val="1000"/>
              </a:spcAft>
              <a:buChar char="•"/>
              <a:lnSpc>
                <a:spcPts val="2200"/>
              </a:lnSpc>
            </a:pPr>
            <a:r>
              <a:rPr sz="2000" b="0">
                <a:solidFill>
                  <a:srgbClr val="333333"/>
                </a:solidFill>
                <a:latin typeface="Calibri"/>
              </a:rPr>
              <a:t>Interoperable means formats and vocabularies support combination with other datasets and</a:t>
            </a:r>
          </a:p>
          <a:p>
            <a:pPr>
              <a:spcAft>
                <a:spcPts val="1000"/>
              </a:spcAft>
              <a:buChar char="•"/>
              <a:lnSpc>
                <a:spcPts val="2200"/>
              </a:lnSpc>
            </a:pPr>
            <a:r>
              <a:rPr sz="2000" b="0">
                <a:solidFill>
                  <a:srgbClr val="333333"/>
                </a:solidFill>
                <a:latin typeface="Calibri"/>
              </a:rPr>
              <a:t>Reusable means documentation, metadata</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Reproducibility and Open Science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13.12 — Indexing Genomics Data in Public Archives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13.12 — hands-on module</a:t>
            </a:r>
          </a:p>
          <a:p>
            <a:pPr>
              <a:spcAft>
                <a:spcPts val="1000"/>
              </a:spcAft>
              <a:buChar char="•"/>
              <a:lnSpc>
                <a:spcPts val="2200"/>
              </a:lnSpc>
            </a:pPr>
            <a:r>
              <a:rPr sz="2000" b="0">
                <a:solidFill>
                  <a:srgbClr val="333333"/>
                </a:solidFill>
                <a:latin typeface="Calibri"/>
              </a:rPr>
              <a:t>Example 13.12 illustrates Findable sharing</a:t>
            </a:r>
          </a:p>
          <a:p>
            <a:pPr>
              <a:spcAft>
                <a:spcPts val="1000"/>
              </a:spcAft>
              <a:buChar char="•"/>
              <a:lnSpc>
                <a:spcPts val="2200"/>
              </a:lnSpc>
            </a:pPr>
            <a:r>
              <a:rPr sz="2000" b="0">
                <a:solidFill>
                  <a:srgbClr val="333333"/>
                </a:solidFill>
                <a:latin typeface="Calibri"/>
              </a:rPr>
              <a:t>When a cancer genomics dataset is published</a:t>
            </a:r>
          </a:p>
          <a:p>
            <a:pPr>
              <a:spcAft>
                <a:spcPts val="1000"/>
              </a:spcAft>
              <a:buChar char="•"/>
              <a:lnSpc>
                <a:spcPts val="2200"/>
              </a:lnSpc>
            </a:pPr>
            <a:r>
              <a:rPr sz="2000" b="0">
                <a:solidFill>
                  <a:srgbClr val="333333"/>
                </a:solidFill>
                <a:latin typeface="Calibri"/>
              </a:rPr>
              <a:t>Researchers can then locate it through keywords, metadata, or other relevant fields</a:t>
            </a:r>
          </a:p>
          <a:p>
            <a:pPr>
              <a:spcAft>
                <a:spcPts val="1000"/>
              </a:spcAft>
              <a:buChar char="•"/>
              <a:lnSpc>
                <a:spcPts val="2200"/>
              </a:lnSpc>
            </a:pPr>
            <a:r>
              <a:rPr sz="2000" b="0">
                <a:solidFill>
                  <a:srgbClr val="333333"/>
                </a:solidFill>
                <a:latin typeface="Calibri"/>
              </a:rPr>
              <a:t>Indexing is what turns a deposited file into a discoverable research asset</a:t>
            </a:r>
          </a:p>
          <a:p>
            <a:pPr>
              <a:spcAft>
                <a:spcPts val="1000"/>
              </a:spcAft>
              <a:buChar char="•"/>
              <a:lnSpc>
                <a:spcPts val="2200"/>
              </a:lnSpc>
            </a:pPr>
            <a:r>
              <a:rPr sz="2000" b="0">
                <a:solidFill>
                  <a:srgbClr val="333333"/>
                </a:solidFill>
                <a:latin typeface="Calibri"/>
              </a:rPr>
              <a:t>View files: `modules/chapter13/example12/`</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Reproducibility and Open Science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13.13 — Zenodo and Figshare with Access Controls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13.13 — hands-on module</a:t>
            </a:r>
          </a:p>
          <a:p>
            <a:pPr>
              <a:spcAft>
                <a:spcPts val="1000"/>
              </a:spcAft>
              <a:buChar char="•"/>
              <a:lnSpc>
                <a:spcPts val="2200"/>
              </a:lnSpc>
            </a:pPr>
            <a:r>
              <a:rPr sz="2000" b="0">
                <a:solidFill>
                  <a:srgbClr val="333333"/>
                </a:solidFill>
                <a:latin typeface="Calibri"/>
              </a:rPr>
              <a:t>Accessible does not mean every dataset must be free of restrictions</a:t>
            </a:r>
          </a:p>
          <a:p>
            <a:pPr>
              <a:spcAft>
                <a:spcPts val="1000"/>
              </a:spcAft>
              <a:buChar char="•"/>
              <a:lnSpc>
                <a:spcPts val="2200"/>
              </a:lnSpc>
            </a:pPr>
            <a:r>
              <a:rPr sz="2000" b="0">
                <a:solidFill>
                  <a:srgbClr val="333333"/>
                </a:solidFill>
                <a:latin typeface="Calibri"/>
              </a:rPr>
              <a:t>Data must be available under clear terms</a:t>
            </a:r>
          </a:p>
          <a:p>
            <a:pPr>
              <a:spcAft>
                <a:spcPts val="1000"/>
              </a:spcAft>
              <a:buChar char="•"/>
              <a:lnSpc>
                <a:spcPts val="2200"/>
              </a:lnSpc>
            </a:pPr>
            <a:r>
              <a:rPr sz="2000" b="0">
                <a:solidFill>
                  <a:srgbClr val="333333"/>
                </a:solidFill>
                <a:latin typeface="Calibri"/>
              </a:rPr>
              <a:t>Example 13.13 shows datasets hosted on Zenodo or Figshare</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`modules/chapter13/example13/`</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Reproducibility and Open Science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13.14 — FASTQ VCF and Controlled Vocabularies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13.14 — hands-on module</a:t>
            </a:r>
          </a:p>
          <a:p>
            <a:pPr>
              <a:spcAft>
                <a:spcPts val="1000"/>
              </a:spcAft>
              <a:buChar char="•"/>
              <a:lnSpc>
                <a:spcPts val="2200"/>
              </a:lnSpc>
            </a:pPr>
            <a:r>
              <a:rPr sz="2000" b="0">
                <a:solidFill>
                  <a:srgbClr val="333333"/>
                </a:solidFill>
                <a:latin typeface="Calibri"/>
              </a:rPr>
              <a:t>Interoperable data is structured for integration with other datasets and analytical tools</a:t>
            </a:r>
          </a:p>
          <a:p>
            <a:pPr>
              <a:spcAft>
                <a:spcPts val="1000"/>
              </a:spcAft>
              <a:buChar char="•"/>
              <a:lnSpc>
                <a:spcPts val="2200"/>
              </a:lnSpc>
            </a:pPr>
            <a:r>
              <a:rPr sz="2000" b="0">
                <a:solidFill>
                  <a:srgbClr val="333333"/>
                </a:solidFill>
                <a:latin typeface="Calibri"/>
              </a:rPr>
              <a:t>Example 13.14 shows genomic data formatted in standard file types such as FASTQ or VCF so</a:t>
            </a:r>
          </a:p>
          <a:p>
            <a:pPr>
              <a:spcAft>
                <a:spcPts val="1000"/>
              </a:spcAft>
              <a:buChar char="•"/>
              <a:lnSpc>
                <a:spcPts val="2200"/>
              </a:lnSpc>
            </a:pPr>
            <a:r>
              <a:rPr sz="2000" b="0">
                <a:solidFill>
                  <a:srgbClr val="333333"/>
                </a:solidFill>
                <a:latin typeface="Calibri"/>
              </a:rPr>
              <a:t>Controlled vocabularies such as Gene Ontology or the Unified Medical Language System</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`modules/chapter13/example14/`</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Reproducibility and Open Science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13.15 — Community File Formats for Reuse</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13.15 — hands-on module</a:t>
            </a:r>
          </a:p>
          <a:p>
            <a:pPr>
              <a:spcAft>
                <a:spcPts val="1000"/>
              </a:spcAft>
              <a:buChar char="•"/>
              <a:lnSpc>
                <a:spcPts val="2200"/>
              </a:lnSpc>
            </a:pPr>
            <a:r>
              <a:rPr sz="2000" b="0">
                <a:solidFill>
                  <a:srgbClr val="333333"/>
                </a:solidFill>
                <a:latin typeface="Calibri"/>
              </a:rPr>
              <a:t>Reusable data is accompanied by documentation, metadata</a:t>
            </a:r>
          </a:p>
          <a:p>
            <a:pPr>
              <a:spcAft>
                <a:spcPts val="1000"/>
              </a:spcAft>
              <a:buChar char="•"/>
              <a:lnSpc>
                <a:spcPts val="2200"/>
              </a:lnSpc>
            </a:pPr>
            <a:r>
              <a:rPr sz="2000" b="0">
                <a:solidFill>
                  <a:srgbClr val="333333"/>
                </a:solidFill>
                <a:latin typeface="Calibri"/>
              </a:rPr>
              <a:t>Example 13.15 prefers community formats such as CSV or JSON for tabular data</a:t>
            </a:r>
          </a:p>
          <a:p>
            <a:pPr>
              <a:spcAft>
                <a:spcPts val="1000"/>
              </a:spcAft>
              <a:buChar char="•"/>
              <a:lnSpc>
                <a:spcPts val="2200"/>
              </a:lnSpc>
            </a:pPr>
            <a:r>
              <a:rPr sz="2000" b="0">
                <a:solidFill>
                  <a:srgbClr val="333333"/>
                </a:solidFill>
                <a:latin typeface="Calibri"/>
              </a:rPr>
              <a:t>Choosing formats the community already understands is a practical Reusable choice</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`modules/chapter13/example15/`</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Reproducibility and Open Science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FAIR means Findable, Accessible, Interoperable, and Reusable for people and machines</a:t>
            </a:r>
          </a:p>
          <a:p>
            <a:pPr>
              <a:spcAft>
                <a:spcPts val="1000"/>
              </a:spcAft>
              <a:buChar char="•"/>
              <a:lnSpc>
                <a:spcPts val="2200"/>
              </a:lnSpc>
            </a:pPr>
            <a:r>
              <a:rPr sz="2000" b="0">
                <a:solidFill>
                  <a:srgbClr val="333333"/>
                </a:solidFill>
                <a:latin typeface="Calibri"/>
              </a:rPr>
              <a:t>Public-archive indexing makes genomics and other deposits discoverable</a:t>
            </a:r>
          </a:p>
          <a:p>
            <a:pPr>
              <a:spcAft>
                <a:spcPts val="1000"/>
              </a:spcAft>
              <a:buChar char="•"/>
              <a:lnSpc>
                <a:spcPts val="2200"/>
              </a:lnSpc>
            </a:pPr>
            <a:r>
              <a:rPr sz="2000" b="0">
                <a:solidFill>
                  <a:srgbClr val="333333"/>
                </a:solidFill>
                <a:latin typeface="Calibri"/>
              </a:rPr>
              <a:t>Accessibility allows clear terms and access controls, not only unrestricted dumps</a:t>
            </a:r>
          </a:p>
          <a:p>
            <a:pPr>
              <a:spcAft>
                <a:spcPts val="1000"/>
              </a:spcAft>
              <a:buChar char="•"/>
              <a:lnSpc>
                <a:spcPts val="2200"/>
              </a:lnSpc>
            </a:pPr>
            <a:r>
              <a:rPr sz="2000" b="0">
                <a:solidFill>
                  <a:srgbClr val="333333"/>
                </a:solidFill>
                <a:latin typeface="Calibri"/>
              </a:rPr>
              <a:t>Standard formats and controlled vocabularies support interoperability</a:t>
            </a:r>
          </a:p>
          <a:p>
            <a:pPr>
              <a:spcAft>
                <a:spcPts val="1000"/>
              </a:spcAft>
              <a:buChar char="•"/>
              <a:lnSpc>
                <a:spcPts val="2200"/>
              </a:lnSpc>
            </a:pPr>
            <a:r>
              <a:rPr sz="2000" b="0">
                <a:solidFill>
                  <a:srgbClr val="333333"/>
                </a:solidFill>
                <a:latin typeface="Calibri"/>
              </a:rPr>
              <a:t>Community file formats and licensing documentation enable reuse beyond the original study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Reproducibility and Open Science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The next part covers data-quality standards for reproducibility and research-facing</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Reproducibility and Open Science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Context; and describe how tracking updates preserves integrity across dataset versions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Reproducibility and Open Science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Quality standards for reproducibility</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Data quality dimensions and cleaning procedures are treated in earlier chapters</a:t>
            </a:r>
          </a:p>
          <a:p>
            <a:pPr>
              <a:spcAft>
                <a:spcPts val="1000"/>
              </a:spcAft>
              <a:buChar char="•"/>
              <a:lnSpc>
                <a:spcPts val="2200"/>
              </a:lnSpc>
            </a:pPr>
            <a:r>
              <a:rPr sz="2000" b="0">
                <a:solidFill>
                  <a:srgbClr val="333333"/>
                </a:solidFill>
                <a:latin typeface="Calibri"/>
              </a:rPr>
              <a:t>For reproducibility</a:t>
            </a:r>
          </a:p>
          <a:p>
            <a:pPr>
              <a:spcAft>
                <a:spcPts val="1000"/>
              </a:spcAft>
              <a:buChar char="•"/>
              <a:lnSpc>
                <a:spcPts val="2200"/>
              </a:lnSpc>
            </a:pPr>
            <a:r>
              <a:rPr sz="2000" b="0">
                <a:solidFill>
                  <a:srgbClr val="333333"/>
                </a:solidFill>
                <a:latin typeface="Calibri"/>
              </a:rPr>
              <a:t>Completeness, consistency, and accuracy support that goal</a:t>
            </a:r>
          </a:p>
          <a:p>
            <a:pPr>
              <a:spcAft>
                <a:spcPts val="1000"/>
              </a:spcAft>
              <a:buChar char="•"/>
              <a:lnSpc>
                <a:spcPts val="2200"/>
              </a:lnSpc>
            </a:pPr>
            <a:r>
              <a:rPr sz="2000" b="0">
                <a:solidFill>
                  <a:srgbClr val="333333"/>
                </a:solidFill>
                <a:latin typeface="Calibri"/>
              </a:rPr>
              <a:t>Not silent omission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Reproducibility and Open Science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13.18 — Documenting Clinical Trial Dropouts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13.18 — hands-on module</a:t>
            </a:r>
          </a:p>
          <a:p>
            <a:pPr>
              <a:spcAft>
                <a:spcPts val="1000"/>
              </a:spcAft>
              <a:buChar char="•"/>
              <a:lnSpc>
                <a:spcPts val="2200"/>
              </a:lnSpc>
            </a:pPr>
            <a:r>
              <a:rPr sz="2000" b="0">
                <a:solidFill>
                  <a:srgbClr val="333333"/>
                </a:solidFill>
                <a:latin typeface="Calibri"/>
              </a:rPr>
              <a:t>Example 13.18 shows completeness documentation for missing participants</a:t>
            </a:r>
          </a:p>
          <a:p>
            <a:pPr>
              <a:spcAft>
                <a:spcPts val="1000"/>
              </a:spcAft>
              <a:buChar char="•"/>
              <a:lnSpc>
                <a:spcPts val="2200"/>
              </a:lnSpc>
            </a:pPr>
            <a:r>
              <a:rPr sz="2000" b="0">
                <a:solidFill>
                  <a:srgbClr val="333333"/>
                </a:solidFill>
                <a:latin typeface="Calibri"/>
              </a:rPr>
              <a:t>In clinical trials</a:t>
            </a:r>
          </a:p>
          <a:p>
            <a:pPr>
              <a:spcAft>
                <a:spcPts val="1000"/>
              </a:spcAft>
              <a:buChar char="•"/>
              <a:lnSpc>
                <a:spcPts val="2200"/>
              </a:lnSpc>
            </a:pPr>
            <a:r>
              <a:rPr sz="2000" b="0">
                <a:solidFill>
                  <a:srgbClr val="333333"/>
                </a:solidFill>
                <a:latin typeface="Calibri"/>
              </a:rPr>
              <a:t>Future users need those facts to interpret results and to repeat the analysis under</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`modules/chapter13/example18/`</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Reproducibility and Open Science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Provenance as research evidence</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Data provenance is the documentation and tracking of origin and transformations throughout</a:t>
            </a:r>
          </a:p>
          <a:p>
            <a:pPr>
              <a:spcAft>
                <a:spcPts val="1000"/>
              </a:spcAft>
              <a:buChar char="•"/>
              <a:lnSpc>
                <a:spcPts val="2200"/>
              </a:lnSpc>
            </a:pPr>
            <a:r>
              <a:rPr sz="2000" b="0">
                <a:solidFill>
                  <a:srgbClr val="333333"/>
                </a:solidFill>
                <a:latin typeface="Calibri"/>
              </a:rPr>
              <a:t>It records where data came from, how they were collected, what processes were applied</a:t>
            </a:r>
          </a:p>
          <a:p>
            <a:pPr>
              <a:spcAft>
                <a:spcPts val="1000"/>
              </a:spcAft>
              <a:buChar char="•"/>
              <a:lnSpc>
                <a:spcPts val="2200"/>
              </a:lnSpc>
            </a:pPr>
            <a:r>
              <a:rPr sz="2000" b="0">
                <a:solidFill>
                  <a:srgbClr val="333333"/>
                </a:solidFill>
                <a:latin typeface="Calibri"/>
              </a:rPr>
              <a:t>Provenance provides transparency and accountability so researchers can verify credibility</a:t>
            </a:r>
          </a:p>
          <a:p>
            <a:pPr>
              <a:spcAft>
                <a:spcPts val="1000"/>
              </a:spcAft>
              <a:buChar char="•"/>
              <a:lnSpc>
                <a:spcPts val="2200"/>
              </a:lnSpc>
            </a:pPr>
            <a:r>
              <a:rPr sz="2000" b="0">
                <a:solidFill>
                  <a:srgbClr val="333333"/>
                </a:solidFill>
                <a:latin typeface="Calibri"/>
              </a:rPr>
              <a:t>The emphasis here is evidence for reproducible research and open science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Reproducibility and Open Science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13.24 — Genomics Provenance for Sequencing Pipelines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13.24 — hands-on module</a:t>
            </a:r>
          </a:p>
          <a:p>
            <a:pPr>
              <a:spcAft>
                <a:spcPts val="1000"/>
              </a:spcAft>
              <a:buChar char="•"/>
              <a:lnSpc>
                <a:spcPts val="2200"/>
              </a:lnSpc>
            </a:pPr>
            <a:r>
              <a:rPr sz="2000" b="0">
                <a:solidFill>
                  <a:srgbClr val="333333"/>
                </a:solidFill>
                <a:latin typeface="Calibri"/>
              </a:rPr>
              <a:t>Example 13.24 shows the provenance fields a genomics study should record</a:t>
            </a:r>
          </a:p>
          <a:p>
            <a:pPr>
              <a:spcAft>
                <a:spcPts val="1000"/>
              </a:spcAft>
              <a:buChar char="•"/>
              <a:lnSpc>
                <a:spcPts val="2200"/>
              </a:lnSpc>
            </a:pPr>
            <a:r>
              <a:rPr sz="2000" b="0">
                <a:solidFill>
                  <a:srgbClr val="333333"/>
                </a:solidFill>
                <a:latin typeface="Calibri"/>
              </a:rPr>
              <a:t>Provenance should capture the sequencing technology, preprocessing steps</a:t>
            </a:r>
          </a:p>
          <a:p>
            <a:pPr>
              <a:spcAft>
                <a:spcPts val="1000"/>
              </a:spcAft>
              <a:buChar char="•"/>
              <a:lnSpc>
                <a:spcPts val="2200"/>
              </a:lnSpc>
            </a:pPr>
            <a:r>
              <a:rPr sz="2000" b="0">
                <a:solidFill>
                  <a:srgbClr val="333333"/>
                </a:solidFill>
                <a:latin typeface="Calibri"/>
              </a:rPr>
              <a:t>Without such documentation</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`modules/chapter13/example24/`</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Reproducibility and Open Science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13.25 — Tracking Dataset Updates Over Time</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13.25 — hands-on module</a:t>
            </a:r>
          </a:p>
          <a:p>
            <a:pPr>
              <a:spcAft>
                <a:spcPts val="1000"/>
              </a:spcAft>
              <a:buChar char="•"/>
              <a:lnSpc>
                <a:spcPts val="2200"/>
              </a:lnSpc>
            </a:pPr>
            <a:r>
              <a:rPr sz="2000" b="0">
                <a:solidFill>
                  <a:srgbClr val="333333"/>
                </a:solidFill>
                <a:latin typeface="Calibri"/>
              </a:rPr>
              <a:t>Provenance also improves traceability when datasets change</a:t>
            </a:r>
          </a:p>
          <a:p>
            <a:pPr>
              <a:spcAft>
                <a:spcPts val="1000"/>
              </a:spcAft>
              <a:buChar char="•"/>
              <a:lnSpc>
                <a:spcPts val="2200"/>
              </a:lnSpc>
            </a:pPr>
            <a:r>
              <a:rPr sz="2000" b="0">
                <a:solidFill>
                  <a:srgbClr val="333333"/>
                </a:solidFill>
                <a:latin typeface="Calibri"/>
              </a:rPr>
              <a:t>Example 13.25 shows that if a dataset undergoes modifications or updates</a:t>
            </a:r>
          </a:p>
          <a:p>
            <a:pPr>
              <a:spcAft>
                <a:spcPts val="1000"/>
              </a:spcAft>
              <a:buChar char="•"/>
              <a:lnSpc>
                <a:spcPts val="2200"/>
              </a:lnSpc>
            </a:pPr>
            <a:r>
              <a:rPr sz="2000" b="0">
                <a:solidFill>
                  <a:srgbClr val="333333"/>
                </a:solidFill>
                <a:latin typeface="Calibri"/>
              </a:rPr>
              <a:t>In regulated fields such as healthcare or finance</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`modules/chapter13/example25/`</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Reproducibility and Open Science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Quality decisions must be documented if published analyses are to be repeated faithfully</a:t>
            </a:r>
          </a:p>
          <a:p>
            <a:pPr>
              <a:spcAft>
                <a:spcPts val="1000"/>
              </a:spcAft>
              <a:buChar char="•"/>
              <a:lnSpc>
                <a:spcPts val="2200"/>
              </a:lnSpc>
            </a:pPr>
            <a:r>
              <a:rPr sz="2000" b="0">
                <a:solidFill>
                  <a:srgbClr val="333333"/>
                </a:solidFill>
                <a:latin typeface="Calibri"/>
              </a:rPr>
              <a:t>Completeness includes recording dropouts and other missingness with analytical impact</a:t>
            </a:r>
          </a:p>
          <a:p>
            <a:pPr>
              <a:spcAft>
                <a:spcPts val="1000"/>
              </a:spcAft>
              <a:buChar char="•"/>
              <a:lnSpc>
                <a:spcPts val="2200"/>
              </a:lnSpc>
            </a:pPr>
            <a:r>
              <a:rPr sz="2000" b="0">
                <a:solidFill>
                  <a:srgbClr val="333333"/>
                </a:solidFill>
                <a:latin typeface="Calibri"/>
              </a:rPr>
              <a:t>Provenance records origin, transforms, context</a:t>
            </a:r>
          </a:p>
          <a:p>
            <a:pPr>
              <a:spcAft>
                <a:spcPts val="1000"/>
              </a:spcAft>
              <a:buChar char="•"/>
              <a:lnSpc>
                <a:spcPts val="2200"/>
              </a:lnSpc>
            </a:pPr>
            <a:r>
              <a:rPr sz="2000" b="0">
                <a:solidFill>
                  <a:srgbClr val="333333"/>
                </a:solidFill>
                <a:latin typeface="Calibri"/>
              </a:rPr>
              <a:t>Tracking updates links versions so integrity and audits remain possible</a:t>
            </a:r>
          </a:p>
          <a:p>
            <a:pPr>
              <a:spcAft>
                <a:spcPts val="1000"/>
              </a:spcAft>
              <a:buChar char="•"/>
              <a:lnSpc>
                <a:spcPts val="2200"/>
              </a:lnSpc>
            </a:pPr>
            <a:r>
              <a:rPr sz="2000" b="0">
                <a:solidFill>
                  <a:srgbClr val="333333"/>
                </a:solidFill>
                <a:latin typeface="Calibri"/>
              </a:rPr>
              <a:t>Distinguish Chapter 12 platform lineage from this chapter’s research-facing provenance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Reproducibility and Open Science</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The next part covers open-data licensing, balancing openness with privacy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Reproducibility and Open Science</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By the end of this part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Reproducibility and Open Science</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Licenses and the privacy trade-off</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Responsible open science depends on clear licenses and ethical constraints</a:t>
            </a:r>
          </a:p>
          <a:p>
            <a:pPr>
              <a:spcAft>
                <a:spcPts val="1000"/>
              </a:spcAft>
              <a:buChar char="•"/>
              <a:lnSpc>
                <a:spcPts val="2200"/>
              </a:lnSpc>
            </a:pPr>
            <a:r>
              <a:rPr sz="2000" b="0">
                <a:solidFill>
                  <a:srgbClr val="333333"/>
                </a:solidFill>
                <a:latin typeface="Calibri"/>
              </a:rPr>
              <a:t>Some teams draft custom or restricted licenses that limit redistribution</a:t>
            </a:r>
          </a:p>
          <a:p>
            <a:pPr>
              <a:spcAft>
                <a:spcPts val="1000"/>
              </a:spcAft>
              <a:buChar char="•"/>
              <a:lnSpc>
                <a:spcPts val="2200"/>
              </a:lnSpc>
            </a:pPr>
            <a:r>
              <a:rPr sz="2000" b="0">
                <a:solidFill>
                  <a:srgbClr val="333333"/>
                </a:solidFill>
                <a:latin typeface="Calibri"/>
              </a:rPr>
              <a:t>Privacy principles and techniques are developed in Chapter 3</a:t>
            </a:r>
          </a:p>
          <a:p>
            <a:pPr>
              <a:spcAft>
                <a:spcPts val="1000"/>
              </a:spcAft>
              <a:buChar char="•"/>
              <a:lnSpc>
                <a:spcPts val="2200"/>
              </a:lnSpc>
            </a:pPr>
            <a:r>
              <a:rPr sz="2000" b="0">
                <a:solidFill>
                  <a:srgbClr val="333333"/>
                </a:solidFill>
                <a:latin typeface="Calibri"/>
              </a:rPr>
              <a:t>An unrestricted open license signals broad reuse and is appropriate only after privacy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Reproducibility and Open Science</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13.26 — Restricted Licenses for Health Data</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13.26 — hands-on module</a:t>
            </a:r>
          </a:p>
          <a:p>
            <a:pPr>
              <a:spcAft>
                <a:spcPts val="1000"/>
              </a:spcAft>
              <a:buChar char="•"/>
              <a:lnSpc>
                <a:spcPts val="2200"/>
              </a:lnSpc>
            </a:pPr>
            <a:r>
              <a:rPr sz="2000" b="0">
                <a:solidFill>
                  <a:srgbClr val="333333"/>
                </a:solidFill>
                <a:latin typeface="Calibri"/>
              </a:rPr>
              <a:t>Example 13.26 illustrates restricted licensing for sensitive health data</a:t>
            </a:r>
          </a:p>
          <a:p>
            <a:pPr>
              <a:spcAft>
                <a:spcPts val="1000"/>
              </a:spcAft>
              <a:buChar char="•"/>
              <a:lnSpc>
                <a:spcPts val="2200"/>
              </a:lnSpc>
            </a:pPr>
            <a:r>
              <a:rPr sz="2000" b="0">
                <a:solidFill>
                  <a:srgbClr val="333333"/>
                </a:solidFill>
                <a:latin typeface="Calibri"/>
              </a:rPr>
              <a:t>Use may be limited to qualified researchers or specific contexts such as academic or</a:t>
            </a:r>
          </a:p>
          <a:p>
            <a:pPr>
              <a:spcAft>
                <a:spcPts val="1000"/>
              </a:spcAft>
              <a:buChar char="•"/>
              <a:lnSpc>
                <a:spcPts val="2200"/>
              </a:lnSpc>
            </a:pPr>
            <a:r>
              <a:rPr sz="2000" b="0">
                <a:solidFill>
                  <a:srgbClr val="333333"/>
                </a:solidFill>
                <a:latin typeface="Calibri"/>
              </a:rPr>
              <a:t>Even de-identified data may remain re-identifiable when combined with other releases</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`modules/chapter13/example26/`</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Reproducibility and Open Science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Ethical obligations after sharing</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Ethical principles for collection and privacy are covered in Chapter 3</a:t>
            </a:r>
          </a:p>
          <a:p>
            <a:pPr>
              <a:spcAft>
                <a:spcPts val="1000"/>
              </a:spcAft>
              <a:buChar char="•"/>
              <a:lnSpc>
                <a:spcPts val="2200"/>
              </a:lnSpc>
            </a:pPr>
            <a:r>
              <a:rPr sz="2000" b="0">
                <a:solidFill>
                  <a:srgbClr val="333333"/>
                </a:solidFill>
                <a:latin typeface="Calibri"/>
              </a:rPr>
              <a:t>Open science adds obligations that arise from making data public</a:t>
            </a:r>
          </a:p>
          <a:p>
            <a:pPr>
              <a:spcAft>
                <a:spcPts val="1000"/>
              </a:spcAft>
              <a:buChar char="•"/>
              <a:lnSpc>
                <a:spcPts val="2200"/>
              </a:lnSpc>
            </a:pPr>
            <a:r>
              <a:rPr sz="2000" b="0">
                <a:solidFill>
                  <a:srgbClr val="333333"/>
                </a:solidFill>
                <a:latin typeface="Calibri"/>
              </a:rPr>
              <a:t>Researchers should document scope and limitations</a:t>
            </a:r>
          </a:p>
          <a:p>
            <a:pPr>
              <a:spcAft>
                <a:spcPts val="1000"/>
              </a:spcAft>
              <a:buChar char="•"/>
              <a:lnSpc>
                <a:spcPts val="2200"/>
              </a:lnSpc>
            </a:pPr>
            <a:r>
              <a:rPr sz="2000" b="0">
                <a:solidFill>
                  <a:srgbClr val="333333"/>
                </a:solidFill>
                <a:latin typeface="Calibri"/>
              </a:rPr>
              <a:t>Consent obtained during collection must also cover the intended public release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Reproducibility and Open Science</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13.27 — Avoid Reinforcing Bias with Open Data</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13.27 — hands-on module</a:t>
            </a:r>
          </a:p>
          <a:p>
            <a:pPr>
              <a:spcAft>
                <a:spcPts val="1000"/>
              </a:spcAft>
              <a:buChar char="•"/>
              <a:lnSpc>
                <a:spcPts val="2200"/>
              </a:lnSpc>
            </a:pPr>
            <a:r>
              <a:rPr sz="2000" b="0">
                <a:solidFill>
                  <a:srgbClr val="333333"/>
                </a:solidFill>
                <a:latin typeface="Calibri"/>
              </a:rPr>
              <a:t>Ethical concerns do not end when data are shared; they extend to reuse</a:t>
            </a:r>
          </a:p>
          <a:p>
            <a:pPr>
              <a:spcAft>
                <a:spcPts val="1000"/>
              </a:spcAft>
              <a:buChar char="•"/>
              <a:lnSpc>
                <a:spcPts val="2200"/>
              </a:lnSpc>
            </a:pPr>
            <a:r>
              <a:rPr sz="2000" b="0">
                <a:solidFill>
                  <a:srgbClr val="333333"/>
                </a:solidFill>
                <a:latin typeface="Calibri"/>
              </a:rPr>
              <a:t>Example 13.27 warns against discriminatory reuse of hiring or healthcare datasets</a:t>
            </a:r>
          </a:p>
          <a:p>
            <a:pPr>
              <a:spcAft>
                <a:spcPts val="1000"/>
              </a:spcAft>
              <a:buChar char="•"/>
              <a:lnSpc>
                <a:spcPts val="2200"/>
              </a:lnSpc>
            </a:pPr>
            <a:r>
              <a:rPr sz="2000" b="0">
                <a:solidFill>
                  <a:srgbClr val="333333"/>
                </a:solidFill>
                <a:latin typeface="Calibri"/>
              </a:rPr>
              <a:t>Such data should not be used to reinforce biases or perpetuate systemic inequalities</a:t>
            </a:r>
          </a:p>
          <a:p>
            <a:pPr>
              <a:spcAft>
                <a:spcPts val="1000"/>
              </a:spcAft>
              <a:buChar char="•"/>
              <a:lnSpc>
                <a:spcPts val="2200"/>
              </a:lnSpc>
            </a:pPr>
            <a:r>
              <a:rPr sz="2000" b="0">
                <a:solidFill>
                  <a:srgbClr val="333333"/>
                </a:solidFill>
                <a:latin typeface="Calibri"/>
              </a:rPr>
              <a:t>If data reveal disparities</a:t>
            </a:r>
          </a:p>
          <a:p>
            <a:pPr>
              <a:spcAft>
                <a:spcPts val="1000"/>
              </a:spcAft>
              <a:buChar char="•"/>
              <a:lnSpc>
                <a:spcPts val="2200"/>
              </a:lnSpc>
            </a:pPr>
            <a:r>
              <a:rPr sz="2000" b="0">
                <a:solidFill>
                  <a:srgbClr val="333333"/>
                </a:solidFill>
                <a:latin typeface="Calibri"/>
              </a:rPr>
              <a:t>View files: `modules/chapter13/example27/`</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Reproducibility and Open Science</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13.28 — Indigenous Control Over Shared Data</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13.28 — hands-on module</a:t>
            </a:r>
          </a:p>
          <a:p>
            <a:pPr>
              <a:spcAft>
                <a:spcPts val="1000"/>
              </a:spcAft>
              <a:buChar char="•"/>
              <a:lnSpc>
                <a:spcPts val="2200"/>
              </a:lnSpc>
            </a:pPr>
            <a:r>
              <a:rPr sz="2000" b="0">
                <a:solidFill>
                  <a:srgbClr val="333333"/>
                </a:solidFill>
                <a:latin typeface="Calibri"/>
              </a:rPr>
              <a:t>Open science must respect the rights and wishes of people and communities whose data are</a:t>
            </a:r>
          </a:p>
          <a:p>
            <a:pPr>
              <a:spcAft>
                <a:spcPts val="1000"/>
              </a:spcAft>
              <a:buChar char="•"/>
              <a:lnSpc>
                <a:spcPts val="2200"/>
              </a:lnSpc>
            </a:pPr>
            <a:r>
              <a:rPr sz="2000" b="0">
                <a:solidFill>
                  <a:srgbClr val="333333"/>
                </a:solidFill>
                <a:latin typeface="Calibri"/>
              </a:rPr>
              <a:t>Communities involved in collection</a:t>
            </a:r>
          </a:p>
          <a:p>
            <a:pPr>
              <a:spcAft>
                <a:spcPts val="1000"/>
              </a:spcAft>
              <a:buChar char="•"/>
              <a:lnSpc>
                <a:spcPts val="2200"/>
              </a:lnSpc>
            </a:pPr>
            <a:r>
              <a:rPr sz="2000" b="0">
                <a:solidFill>
                  <a:srgbClr val="333333"/>
                </a:solidFill>
                <a:latin typeface="Calibri"/>
              </a:rPr>
              <a:t>Example 13.28 emphasizes that indigenous communities involved in ecological or</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`modules/chapter13/example28/`</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Reproducibility and Open Science</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Licenses can be open or restricted; health data often need limited-access terms</a:t>
            </a:r>
          </a:p>
          <a:p>
            <a:pPr>
              <a:spcAft>
                <a:spcPts val="1000"/>
              </a:spcAft>
              <a:buChar char="•"/>
              <a:lnSpc>
                <a:spcPts val="2200"/>
              </a:lnSpc>
            </a:pPr>
            <a:r>
              <a:rPr sz="2000" b="0">
                <a:solidFill>
                  <a:srgbClr val="333333"/>
                </a:solidFill>
                <a:latin typeface="Calibri"/>
              </a:rPr>
              <a:t>License choice must follow a privacy assessment, not precede it</a:t>
            </a:r>
          </a:p>
          <a:p>
            <a:pPr>
              <a:spcAft>
                <a:spcPts val="1000"/>
              </a:spcAft>
              <a:buChar char="•"/>
              <a:lnSpc>
                <a:spcPts val="2200"/>
              </a:lnSpc>
            </a:pPr>
            <a:r>
              <a:rPr sz="2000" b="0">
                <a:solidFill>
                  <a:srgbClr val="333333"/>
                </a:solidFill>
                <a:latin typeface="Calibri"/>
              </a:rPr>
              <a:t>Open release creates ongoing ethical duties around bias, security, attribution, and scope</a:t>
            </a:r>
          </a:p>
          <a:p>
            <a:pPr>
              <a:spcAft>
                <a:spcPts val="1000"/>
              </a:spcAft>
              <a:buChar char="•"/>
              <a:lnSpc>
                <a:spcPts val="2200"/>
              </a:lnSpc>
            </a:pPr>
            <a:r>
              <a:rPr sz="2000" b="0">
                <a:solidFill>
                  <a:srgbClr val="333333"/>
                </a:solidFill>
                <a:latin typeface="Calibri"/>
              </a:rPr>
              <a:t>Including indigenous communities, retain legitimate control over sharing decisions</a:t>
            </a:r>
          </a:p>
          <a:p>
            <a:pPr>
              <a:spcAft>
                <a:spcPts val="1000"/>
              </a:spcAft>
              <a:buChar char="•"/>
              <a:lnSpc>
                <a:spcPts val="2200"/>
              </a:lnSpc>
            </a:pPr>
            <a:r>
              <a:rPr sz="2000" b="0">
                <a:solidFill>
                  <a:srgbClr val="333333"/>
                </a:solidFill>
                <a:latin typeface="Calibri"/>
              </a:rPr>
              <a:t>Openness without ethics and privacy is not responsible open science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Reproducibility and Open Science</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The next part covers reproducible research workflows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Reproducibility and Open Science</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By the end of this part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Reproducibility and Open Science</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Workflow automation</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Containers so analyses can be independently verified</a:t>
            </a:r>
          </a:p>
          <a:p>
            <a:pPr>
              <a:spcAft>
                <a:spcPts val="1000"/>
              </a:spcAft>
              <a:buChar char="•"/>
              <a:lnSpc>
                <a:spcPts val="2200"/>
              </a:lnSpc>
            </a:pPr>
            <a:r>
              <a:rPr sz="2000" b="0">
                <a:solidFill>
                  <a:srgbClr val="333333"/>
                </a:solidFill>
                <a:latin typeface="Calibri"/>
              </a:rPr>
              <a:t>Automation tools such as Make</a:t>
            </a:r>
          </a:p>
          <a:p>
            <a:pPr>
              <a:spcAft>
                <a:spcPts val="1000"/>
              </a:spcAft>
              <a:buChar char="•"/>
              <a:lnSpc>
                <a:spcPts val="2200"/>
              </a:lnSpc>
            </a:pPr>
            <a:r>
              <a:rPr sz="2000" b="0">
                <a:solidFill>
                  <a:srgbClr val="333333"/>
                </a:solidFill>
                <a:latin typeface="Calibri"/>
              </a:rPr>
              <a:t>Consistency also requires a stable environment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Reproducibility and Open Science</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13.29 — Automated Bioinformatics Workflow File</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13.29 — hands-on module</a:t>
            </a:r>
          </a:p>
          <a:p>
            <a:pPr>
              <a:spcAft>
                <a:spcPts val="1000"/>
              </a:spcAft>
              <a:buChar char="•"/>
              <a:lnSpc>
                <a:spcPts val="2200"/>
              </a:lnSpc>
            </a:pPr>
            <a:r>
              <a:rPr sz="2000" b="0">
                <a:solidFill>
                  <a:srgbClr val="333333"/>
                </a:solidFill>
                <a:latin typeface="Calibri"/>
              </a:rPr>
              <a:t>Example 13.29 captures a multi-step bioinformatics pipeline in a workflow definition</a:t>
            </a:r>
          </a:p>
          <a:p>
            <a:pPr>
              <a:spcAft>
                <a:spcPts val="1000"/>
              </a:spcAft>
              <a:buChar char="•"/>
              <a:lnSpc>
                <a:spcPts val="2200"/>
              </a:lnSpc>
            </a:pPr>
            <a:r>
              <a:rPr sz="2000" b="0">
                <a:solidFill>
                  <a:srgbClr val="333333"/>
                </a:solidFill>
                <a:latin typeface="Calibri"/>
              </a:rPr>
              <a:t>A typical pipeline might involve data preprocessing, alignment, and statistical analysis</a:t>
            </a:r>
          </a:p>
          <a:p>
            <a:pPr>
              <a:spcAft>
                <a:spcPts val="1000"/>
              </a:spcAft>
              <a:buChar char="•"/>
              <a:lnSpc>
                <a:spcPts val="2200"/>
              </a:lnSpc>
            </a:pPr>
            <a:r>
              <a:rPr sz="2000" b="0">
                <a:solidFill>
                  <a:srgbClr val="333333"/>
                </a:solidFill>
                <a:latin typeface="Calibri"/>
              </a:rPr>
              <a:t>With automation tools</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`modules/chapter13/example29/`</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Reproducibility and Open Science</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13.31 — Notebook Pipeline from Load to Plots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13.31 — hands-on module</a:t>
            </a:r>
          </a:p>
          <a:p>
            <a:pPr>
              <a:spcAft>
                <a:spcPts val="1000"/>
              </a:spcAft>
              <a:buChar char="•"/>
              <a:lnSpc>
                <a:spcPts val="2200"/>
              </a:lnSpc>
            </a:pPr>
            <a:r>
              <a:rPr sz="2000" b="0">
                <a:solidFill>
                  <a:srgbClr val="333333"/>
                </a:solidFill>
                <a:latin typeface="Calibri"/>
              </a:rPr>
              <a:t>Jupyter notebooks integrate code, data, and documentation in a single document</a:t>
            </a:r>
          </a:p>
          <a:p>
            <a:pPr>
              <a:spcAft>
                <a:spcPts val="1000"/>
              </a:spcAft>
              <a:buChar char="•"/>
              <a:lnSpc>
                <a:spcPts val="2200"/>
              </a:lnSpc>
            </a:pPr>
            <a:r>
              <a:rPr sz="2000" b="0">
                <a:solidFill>
                  <a:srgbClr val="333333"/>
                </a:solidFill>
                <a:latin typeface="Calibri"/>
              </a:rPr>
              <a:t>Example 13.31 sketches a typical analysis narrative</a:t>
            </a:r>
          </a:p>
          <a:p>
            <a:pPr>
              <a:spcAft>
                <a:spcPts val="1000"/>
              </a:spcAft>
              <a:buChar char="•"/>
              <a:lnSpc>
                <a:spcPts val="2200"/>
              </a:lnSpc>
            </a:pPr>
            <a:r>
              <a:rPr sz="2000" b="0">
                <a:solidFill>
                  <a:srgbClr val="333333"/>
                </a:solidFill>
                <a:latin typeface="Calibri"/>
              </a:rPr>
              <a:t>Interactivity and sharing</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`modules/chapter13/example31/`</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Reproducibility and Open Science</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13.34 — Docker Image for Sequence Alignment Tools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13.34 — hands-on module</a:t>
            </a:r>
          </a:p>
          <a:p>
            <a:pPr>
              <a:spcAft>
                <a:spcPts val="1000"/>
              </a:spcAft>
              <a:buChar char="•"/>
              <a:lnSpc>
                <a:spcPts val="2200"/>
              </a:lnSpc>
            </a:pPr>
            <a:r>
              <a:rPr sz="2000" b="0">
                <a:solidFill>
                  <a:srgbClr val="333333"/>
                </a:solidFill>
                <a:latin typeface="Calibri"/>
              </a:rPr>
              <a:t>Reproducibility depends on a stable computational environment</a:t>
            </a:r>
          </a:p>
          <a:p>
            <a:pPr>
              <a:spcAft>
                <a:spcPts val="1000"/>
              </a:spcAft>
              <a:buChar char="•"/>
              <a:lnSpc>
                <a:spcPts val="2200"/>
              </a:lnSpc>
            </a:pPr>
            <a:r>
              <a:rPr sz="2000" b="0">
                <a:solidFill>
                  <a:srgbClr val="333333"/>
                </a:solidFill>
                <a:latin typeface="Calibri"/>
              </a:rPr>
              <a:t>Docker packages code, dependencies</a:t>
            </a:r>
          </a:p>
          <a:p>
            <a:pPr>
              <a:spcAft>
                <a:spcPts val="1000"/>
              </a:spcAft>
              <a:buChar char="•"/>
              <a:lnSpc>
                <a:spcPts val="2200"/>
              </a:lnSpc>
            </a:pPr>
            <a:r>
              <a:rPr sz="2000" b="0">
                <a:solidFill>
                  <a:srgbClr val="333333"/>
                </a:solidFill>
                <a:latin typeface="Calibri"/>
              </a:rPr>
              <a:t>Example 13.34 pins bioinformatics tool versions inside a Docker image</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`modules/chapter13/example34/`</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Reproducibility and Open Science</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13.36 — Docker Image for ML Training Stack</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13.36 — hands-on module</a:t>
            </a:r>
          </a:p>
          <a:p>
            <a:pPr>
              <a:spcAft>
                <a:spcPts val="1000"/>
              </a:spcAft>
              <a:buChar char="•"/>
              <a:lnSpc>
                <a:spcPts val="2200"/>
              </a:lnSpc>
            </a:pPr>
            <a:r>
              <a:rPr sz="2000" b="0">
                <a:solidFill>
                  <a:srgbClr val="333333"/>
                </a:solidFill>
                <a:latin typeface="Calibri"/>
              </a:rPr>
              <a:t>The same container pattern applies to machine learning</a:t>
            </a:r>
          </a:p>
          <a:p>
            <a:pPr>
              <a:spcAft>
                <a:spcPts val="1000"/>
              </a:spcAft>
              <a:buChar char="•"/>
              <a:lnSpc>
                <a:spcPts val="2200"/>
              </a:lnSpc>
            </a:pPr>
            <a:r>
              <a:rPr sz="2000" b="0">
                <a:solidFill>
                  <a:srgbClr val="333333"/>
                </a:solidFill>
                <a:latin typeface="Calibri"/>
              </a:rPr>
              <a:t>Example 13.36 freezes Python library versions for model training</a:t>
            </a:r>
          </a:p>
          <a:p>
            <a:pPr>
              <a:spcAft>
                <a:spcPts val="1000"/>
              </a:spcAft>
              <a:buChar char="•"/>
              <a:lnSpc>
                <a:spcPts val="2200"/>
              </a:lnSpc>
            </a:pPr>
            <a:r>
              <a:rPr sz="2000" b="0">
                <a:solidFill>
                  <a:srgbClr val="333333"/>
                </a:solidFill>
                <a:latin typeface="Calibri"/>
              </a:rPr>
              <a:t>Shared images reduce “it works on my machine” failures across local, cluster</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`modules/chapter13/example36/`</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Reproducibility and Open Science</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Workflow files encode ordered</a:t>
            </a:r>
          </a:p>
          <a:p>
            <a:pPr>
              <a:spcAft>
                <a:spcPts val="1000"/>
              </a:spcAft>
              <a:buChar char="•"/>
              <a:lnSpc>
                <a:spcPts val="2200"/>
              </a:lnSpc>
            </a:pPr>
            <a:r>
              <a:rPr sz="2000" b="0">
                <a:solidFill>
                  <a:srgbClr val="333333"/>
                </a:solidFill>
                <a:latin typeface="Calibri"/>
              </a:rPr>
              <a:t>Notebooks make methods and results literate and shareable</a:t>
            </a:r>
          </a:p>
          <a:p>
            <a:pPr>
              <a:spcAft>
                <a:spcPts val="1000"/>
              </a:spcAft>
              <a:buChar char="•"/>
              <a:lnSpc>
                <a:spcPts val="2200"/>
              </a:lnSpc>
            </a:pPr>
            <a:r>
              <a:rPr sz="2000" b="0">
                <a:solidFill>
                  <a:srgbClr val="333333"/>
                </a:solidFill>
                <a:latin typeface="Calibri"/>
              </a:rPr>
              <a:t>Docker pins tools and libraries so bioinformatics and machine-learning stacks travel with</a:t>
            </a:r>
          </a:p>
          <a:p>
            <a:pPr>
              <a:spcAft>
                <a:spcPts val="1000"/>
              </a:spcAft>
              <a:buChar char="•"/>
              <a:lnSpc>
                <a:spcPts val="2200"/>
              </a:lnSpc>
            </a:pPr>
            <a:r>
              <a:rPr sz="2000" b="0">
                <a:solidFill>
                  <a:srgbClr val="333333"/>
                </a:solidFill>
                <a:latin typeface="Calibri"/>
              </a:rPr>
              <a:t>Containers and workflow definitions close the execution gap left by licenses and prose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Reproducibility and Open Science</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Model regressions before results are published</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Reproducibility and Open Science</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By the end of this part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Reproducibility and Open Science</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CI for reproducible research</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For research workflows, tests and validates changes to code or data pipelines</a:t>
            </a:r>
          </a:p>
          <a:p>
            <a:pPr>
              <a:spcAft>
                <a:spcPts val="1000"/>
              </a:spcAft>
              <a:buChar char="•"/>
              <a:lnSpc>
                <a:spcPts val="2200"/>
              </a:lnSpc>
            </a:pPr>
            <a:r>
              <a:rPr sz="2000" b="0">
                <a:solidFill>
                  <a:srgbClr val="333333"/>
                </a:solidFill>
                <a:latin typeface="Calibri"/>
              </a:rPr>
              <a:t>Services such as GitHub Actions, GitLab CI</a:t>
            </a:r>
          </a:p>
          <a:p>
            <a:pPr>
              <a:spcAft>
                <a:spcPts val="1000"/>
              </a:spcAft>
              <a:buChar char="•"/>
              <a:lnSpc>
                <a:spcPts val="2200"/>
              </a:lnSpc>
            </a:pPr>
            <a:r>
              <a:rPr sz="2000" b="0">
                <a:solidFill>
                  <a:srgbClr val="333333"/>
                </a:solidFill>
                <a:latin typeface="Calibri"/>
              </a:rPr>
              <a:t>The goal is to catch silent breaks early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Reproducibility and Open Science</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13.37 — CI Checks Preprocessing and Inputs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13.37 — hands-on module</a:t>
            </a:r>
          </a:p>
          <a:p>
            <a:pPr>
              <a:spcAft>
                <a:spcPts val="1000"/>
              </a:spcAft>
              <a:buChar char="•"/>
              <a:lnSpc>
                <a:spcPts val="2200"/>
              </a:lnSpc>
            </a:pPr>
            <a:r>
              <a:rPr sz="2000" b="0">
                <a:solidFill>
                  <a:srgbClr val="333333"/>
                </a:solidFill>
                <a:latin typeface="Calibri"/>
              </a:rPr>
              <a:t>Example 13.37 uses continuous integration to validate pipeline prerequisites</a:t>
            </a:r>
          </a:p>
          <a:p>
            <a:pPr>
              <a:spcAft>
                <a:spcPts val="1000"/>
              </a:spcAft>
              <a:buChar char="•"/>
              <a:lnSpc>
                <a:spcPts val="2200"/>
              </a:lnSpc>
            </a:pPr>
            <a:r>
              <a:rPr sz="2000" b="0">
                <a:solidFill>
                  <a:srgbClr val="333333"/>
                </a:solidFill>
                <a:latin typeface="Calibri"/>
              </a:rPr>
              <a:t>Automated checks can verify that preprocessing steps run and that required inputs are</a:t>
            </a:r>
          </a:p>
          <a:p>
            <a:pPr>
              <a:spcAft>
                <a:spcPts val="1000"/>
              </a:spcAft>
              <a:buChar char="•"/>
              <a:lnSpc>
                <a:spcPts val="2200"/>
              </a:lnSpc>
            </a:pPr>
            <a:r>
              <a:rPr sz="2000" b="0">
                <a:solidFill>
                  <a:srgbClr val="333333"/>
                </a:solidFill>
                <a:latin typeface="Calibri"/>
              </a:rPr>
              <a:t>Catching input and preprocessing failures in CI prevents wasted compute and unreproducible</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`modules/chapter13/example37/`</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Reproducibility and Open Science</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13.38 — Tests for Cross-Environment Consistency</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13.38 — hands-on module</a:t>
            </a:r>
          </a:p>
          <a:p>
            <a:pPr>
              <a:spcAft>
                <a:spcPts val="1000"/>
              </a:spcAft>
              <a:buChar char="•"/>
              <a:lnSpc>
                <a:spcPts val="2200"/>
              </a:lnSpc>
            </a:pPr>
            <a:r>
              <a:rPr sz="2000" b="0">
                <a:solidFill>
                  <a:srgbClr val="333333"/>
                </a:solidFill>
                <a:latin typeface="Calibri"/>
              </a:rPr>
              <a:t>Environment drift is a common reproducibility failure</a:t>
            </a:r>
          </a:p>
          <a:p>
            <a:pPr>
              <a:spcAft>
                <a:spcPts val="1000"/>
              </a:spcAft>
              <a:buChar char="•"/>
              <a:lnSpc>
                <a:spcPts val="2200"/>
              </a:lnSpc>
            </a:pPr>
            <a:r>
              <a:rPr sz="2000" b="0">
                <a:solidFill>
                  <a:srgbClr val="333333"/>
                </a:solidFill>
                <a:latin typeface="Calibri"/>
              </a:rPr>
              <a:t>Example 13.38 emphasizes tests for cross-environment consistency</a:t>
            </a:r>
          </a:p>
          <a:p>
            <a:pPr>
              <a:spcAft>
                <a:spcPts val="1000"/>
              </a:spcAft>
              <a:buChar char="•"/>
              <a:lnSpc>
                <a:spcPts val="2200"/>
              </a:lnSpc>
            </a:pPr>
            <a:r>
              <a:rPr sz="2000" b="0">
                <a:solidFill>
                  <a:srgbClr val="333333"/>
                </a:solidFill>
                <a:latin typeface="Calibri"/>
              </a:rPr>
              <a:t>Automated tests that compare outputs or checksums across environments expose dependency</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`modules/chapter13/example38/`</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Reproducibility and Open Science</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13.39 — CI Retests Model Training After Updates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13.39 — hands-on module</a:t>
            </a:r>
          </a:p>
          <a:p>
            <a:pPr>
              <a:spcAft>
                <a:spcPts val="1000"/>
              </a:spcAft>
              <a:buChar char="•"/>
              <a:lnSpc>
                <a:spcPts val="2200"/>
              </a:lnSpc>
            </a:pPr>
            <a:r>
              <a:rPr sz="2000" b="0">
                <a:solidFill>
                  <a:srgbClr val="333333"/>
                </a:solidFill>
                <a:latin typeface="Calibri"/>
              </a:rPr>
              <a:t>Machine-learning pipelines change when data, features, or training code update</a:t>
            </a:r>
          </a:p>
          <a:p>
            <a:pPr>
              <a:spcAft>
                <a:spcPts val="1000"/>
              </a:spcAft>
              <a:buChar char="•"/>
              <a:lnSpc>
                <a:spcPts val="2200"/>
              </a:lnSpc>
            </a:pPr>
            <a:r>
              <a:rPr sz="2000" b="0">
                <a:solidFill>
                  <a:srgbClr val="333333"/>
                </a:solidFill>
                <a:latin typeface="Calibri"/>
              </a:rPr>
              <a:t>Example 13.39 shows CI retesting model training after such updates so regressions in</a:t>
            </a:r>
          </a:p>
          <a:p>
            <a:pPr>
              <a:spcAft>
                <a:spcPts val="1000"/>
              </a:spcAft>
              <a:buChar char="•"/>
              <a:lnSpc>
                <a:spcPts val="2200"/>
              </a:lnSpc>
            </a:pPr>
            <a:r>
              <a:rPr sz="2000" b="0">
                <a:solidFill>
                  <a:srgbClr val="333333"/>
                </a:solidFill>
                <a:latin typeface="Calibri"/>
              </a:rPr>
              <a:t>Continuous checks keep the published training path aligned with the current repository</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`modules/chapter13/example39/`</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Reproducibility and Open Science</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Automated workflow documentation</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Automation also supports workflow documentation</a:t>
            </a:r>
          </a:p>
          <a:p>
            <a:pPr>
              <a:spcAft>
                <a:spcPts val="1000"/>
              </a:spcAft>
              <a:buChar char="•"/>
              <a:lnSpc>
                <a:spcPts val="2200"/>
              </a:lnSpc>
            </a:pPr>
            <a:r>
              <a:rPr sz="2000" b="0">
                <a:solidFill>
                  <a:srgbClr val="333333"/>
                </a:solidFill>
                <a:latin typeface="Calibri"/>
              </a:rPr>
              <a:t>The published narrative stays synchronized with the executable path</a:t>
            </a:r>
          </a:p>
          <a:p>
            <a:pPr>
              <a:spcAft>
                <a:spcPts val="1000"/>
              </a:spcAft>
              <a:buChar char="•"/>
              <a:lnSpc>
                <a:spcPts val="2200"/>
              </a:lnSpc>
            </a:pPr>
            <a:r>
              <a:rPr sz="2000" b="0">
                <a:solidFill>
                  <a:srgbClr val="333333"/>
                </a:solidFill>
                <a:latin typeface="Calibri"/>
              </a:rPr>
              <a:t>Combined with CI</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Reproducibility and Open Science</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Continuous integration turns reproducibility from a manual hope into a repeated check</a:t>
            </a:r>
          </a:p>
          <a:p>
            <a:pPr>
              <a:spcAft>
                <a:spcPts val="1000"/>
              </a:spcAft>
              <a:buChar char="•"/>
              <a:lnSpc>
                <a:spcPts val="2200"/>
              </a:lnSpc>
            </a:pPr>
            <a:r>
              <a:rPr sz="2000" b="0">
                <a:solidFill>
                  <a:srgbClr val="333333"/>
                </a:solidFill>
                <a:latin typeface="Calibri"/>
              </a:rPr>
              <a:t>CI can validate preprocessing and inputs before costly downstream stages</a:t>
            </a:r>
          </a:p>
          <a:p>
            <a:pPr>
              <a:spcAft>
                <a:spcPts val="1000"/>
              </a:spcAft>
              <a:buChar char="•"/>
              <a:lnSpc>
                <a:spcPts val="2200"/>
              </a:lnSpc>
            </a:pPr>
            <a:r>
              <a:rPr sz="2000" b="0">
                <a:solidFill>
                  <a:srgbClr val="333333"/>
                </a:solidFill>
                <a:latin typeface="Calibri"/>
              </a:rPr>
              <a:t>Cross-environment tests catch dependency drift across machines and containers</a:t>
            </a:r>
          </a:p>
          <a:p>
            <a:pPr>
              <a:spcAft>
                <a:spcPts val="1000"/>
              </a:spcAft>
              <a:buChar char="•"/>
              <a:lnSpc>
                <a:spcPts val="2200"/>
              </a:lnSpc>
            </a:pPr>
            <a:r>
              <a:rPr sz="2000" b="0">
                <a:solidFill>
                  <a:srgbClr val="333333"/>
                </a:solidFill>
                <a:latin typeface="Calibri"/>
              </a:rPr>
              <a:t>Retrain CI detects model regressions when data or code change</a:t>
            </a:r>
          </a:p>
          <a:p>
            <a:pPr>
              <a:spcAft>
                <a:spcPts val="1000"/>
              </a:spcAft>
              <a:buChar char="•"/>
              <a:lnSpc>
                <a:spcPts val="2200"/>
              </a:lnSpc>
            </a:pPr>
            <a:r>
              <a:rPr sz="2000" b="0">
                <a:solidFill>
                  <a:srgbClr val="333333"/>
                </a:solidFill>
                <a:latin typeface="Calibri"/>
              </a:rPr>
              <a:t>Automated documentation keeps published workflows aligned with what actually executed</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Reproducibility and Open Science</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The next part covers R Markdown reports and DVC for tracking training data, model weights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Reproducibility and Open Science</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By the end of this part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Reproducibility and Open Science</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Literate reporting with R Markdown</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R Markdown creates dynamic, reproducible reports that integrate code, data</a:t>
            </a:r>
          </a:p>
          <a:p>
            <a:pPr>
              <a:spcAft>
                <a:spcPts val="1000"/>
              </a:spcAft>
              <a:buChar char="•"/>
              <a:lnSpc>
                <a:spcPts val="2200"/>
              </a:lnSpc>
            </a:pPr>
            <a:r>
              <a:rPr sz="2000" b="0">
                <a:solidFill>
                  <a:srgbClr val="333333"/>
                </a:solidFill>
                <a:latin typeface="Calibri"/>
              </a:rPr>
              <a:t>When the document is compiled, embedded code executes and tables, figures</a:t>
            </a:r>
          </a:p>
          <a:p>
            <a:pPr>
              <a:spcAft>
                <a:spcPts val="1000"/>
              </a:spcAft>
              <a:buChar char="•"/>
              <a:lnSpc>
                <a:spcPts val="2200"/>
              </a:lnSpc>
            </a:pPr>
            <a:r>
              <a:rPr sz="2000" b="0">
                <a:solidFill>
                  <a:srgbClr val="333333"/>
                </a:solidFill>
                <a:latin typeface="Calibri"/>
              </a:rPr>
              <a:t>That coupling keeps analysis, narrative</a:t>
            </a:r>
          </a:p>
          <a:p>
            <a:pPr>
              <a:spcAft>
                <a:spcPts val="1000"/>
              </a:spcAft>
              <a:buChar char="•"/>
              <a:lnSpc>
                <a:spcPts val="2200"/>
              </a:lnSpc>
            </a:pPr>
            <a:r>
              <a:rPr sz="2000" b="0">
                <a:solidFill>
                  <a:srgbClr val="333333"/>
                </a:solidFill>
                <a:latin typeface="Calibri"/>
              </a:rPr>
              <a:t>Outputs can include HTML, PDF, or Word for flexible sharing</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Reproducibility and Open Science</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13.41 — RMarkdown Public Health Analysis Report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13.41 — hands-on module</a:t>
            </a:r>
          </a:p>
          <a:p>
            <a:pPr>
              <a:spcAft>
                <a:spcPts val="1000"/>
              </a:spcAft>
              <a:buChar char="•"/>
              <a:lnSpc>
                <a:spcPts val="2200"/>
              </a:lnSpc>
            </a:pPr>
            <a:r>
              <a:rPr sz="2000" b="0">
                <a:solidFill>
                  <a:srgbClr val="333333"/>
                </a:solidFill>
                <a:latin typeface="Calibri"/>
              </a:rPr>
              <a:t>Example 13.41 regenerates an analysis report from an R Markdown source</a:t>
            </a:r>
          </a:p>
          <a:p>
            <a:pPr>
              <a:spcAft>
                <a:spcPts val="1000"/>
              </a:spcAft>
              <a:buChar char="•"/>
              <a:lnSpc>
                <a:spcPts val="2200"/>
              </a:lnSpc>
            </a:pPr>
            <a:r>
              <a:rPr sz="2000" b="0">
                <a:solidFill>
                  <a:srgbClr val="333333"/>
                </a:solidFill>
                <a:latin typeface="Calibri"/>
              </a:rPr>
              <a:t>Generate visualizations in one document</a:t>
            </a:r>
          </a:p>
          <a:p>
            <a:pPr>
              <a:spcAft>
                <a:spcPts val="1000"/>
              </a:spcAft>
              <a:buChar char="•"/>
              <a:lnSpc>
                <a:spcPts val="2200"/>
              </a:lnSpc>
            </a:pPr>
            <a:r>
              <a:rPr sz="2000" b="0">
                <a:solidFill>
                  <a:srgbClr val="333333"/>
                </a:solidFill>
                <a:latin typeface="Calibri"/>
              </a:rPr>
              <a:t>As the report compiles</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`modules/chapter13/example41/`</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Reproducibility and Open Science</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DVC for large research artifacts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Large datasets in genomics</a:t>
            </a:r>
          </a:p>
          <a:p>
            <a:pPr>
              <a:spcAft>
                <a:spcPts val="1000"/>
              </a:spcAft>
              <a:buChar char="•"/>
              <a:lnSpc>
                <a:spcPts val="2200"/>
              </a:lnSpc>
            </a:pPr>
            <a:r>
              <a:rPr sz="2000" b="0">
                <a:solidFill>
                  <a:srgbClr val="333333"/>
                </a:solidFill>
                <a:latin typeface="Calibri"/>
              </a:rPr>
              <a:t>DVC versions large datasets and models so they remain reproducible and shareable</a:t>
            </a:r>
          </a:p>
          <a:p>
            <a:pPr>
              <a:spcAft>
                <a:spcPts val="1000"/>
              </a:spcAft>
              <a:buChar char="•"/>
              <a:lnSpc>
                <a:spcPts val="2200"/>
              </a:lnSpc>
            </a:pPr>
            <a:r>
              <a:rPr sz="2000" b="0">
                <a:solidFill>
                  <a:srgbClr val="333333"/>
                </a:solidFill>
                <a:latin typeface="Calibri"/>
              </a:rPr>
              <a:t>Every modification remains traceable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Reproducibility and Open Science</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13.44 — DVC Tracks Training Data and Weights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13.44 — hands-on module</a:t>
            </a:r>
          </a:p>
          <a:p>
            <a:pPr>
              <a:spcAft>
                <a:spcPts val="1000"/>
              </a:spcAft>
              <a:buChar char="•"/>
              <a:lnSpc>
                <a:spcPts val="2200"/>
              </a:lnSpc>
            </a:pPr>
            <a:r>
              <a:rPr sz="2000" b="0">
                <a:solidFill>
                  <a:srgbClr val="333333"/>
                </a:solidFill>
                <a:latin typeface="Calibri"/>
              </a:rPr>
              <a:t>Example 13.44 versions training data, model weights, and evaluation outputs with DVC</a:t>
            </a:r>
          </a:p>
          <a:p>
            <a:pPr>
              <a:spcAft>
                <a:spcPts val="1000"/>
              </a:spcAft>
              <a:buChar char="•"/>
              <a:lnSpc>
                <a:spcPts val="2200"/>
              </a:lnSpc>
            </a:pPr>
            <a:r>
              <a:rPr sz="2000" b="0">
                <a:solidFill>
                  <a:srgbClr val="333333"/>
                </a:solidFill>
                <a:latin typeface="Calibri"/>
              </a:rPr>
              <a:t>In a machine learning project</a:t>
            </a:r>
          </a:p>
          <a:p>
            <a:pPr>
              <a:spcAft>
                <a:spcPts val="1000"/>
              </a:spcAft>
              <a:buChar char="•"/>
              <a:lnSpc>
                <a:spcPts val="2200"/>
              </a:lnSpc>
            </a:pPr>
            <a:r>
              <a:rPr sz="2000" b="0">
                <a:solidFill>
                  <a:srgbClr val="333333"/>
                </a:solidFill>
                <a:latin typeface="Calibri"/>
              </a:rPr>
              <a:t>Without that linkage</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`modules/chapter13/example44/`</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Reproducibility and Open Science</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13.45 — DVC Pipeline for Preprocess Train Evaluate</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13.45 — hands-on module</a:t>
            </a:r>
          </a:p>
          <a:p>
            <a:pPr>
              <a:spcAft>
                <a:spcPts val="1000"/>
              </a:spcAft>
              <a:buChar char="•"/>
              <a:lnSpc>
                <a:spcPts val="2200"/>
              </a:lnSpc>
            </a:pPr>
            <a:r>
              <a:rPr sz="2000" b="0">
                <a:solidFill>
                  <a:srgbClr val="333333"/>
                </a:solidFill>
                <a:latin typeface="Calibri"/>
              </a:rPr>
              <a:t>DVC also supports data pipelines that automate flow through the research process</a:t>
            </a:r>
          </a:p>
          <a:p>
            <a:pPr>
              <a:spcAft>
                <a:spcPts val="1000"/>
              </a:spcAft>
              <a:buChar char="•"/>
              <a:lnSpc>
                <a:spcPts val="2200"/>
              </a:lnSpc>
            </a:pPr>
            <a:r>
              <a:rPr sz="2000" b="0">
                <a:solidFill>
                  <a:srgbClr val="333333"/>
                </a:solidFill>
                <a:latin typeface="Calibri"/>
              </a:rPr>
              <a:t>Example 13.45 defines a versioned pipeline across preprocessing, model training</a:t>
            </a:r>
          </a:p>
          <a:p>
            <a:pPr>
              <a:spcAft>
                <a:spcPts val="1000"/>
              </a:spcAft>
              <a:buChar char="•"/>
              <a:lnSpc>
                <a:spcPts val="2200"/>
              </a:lnSpc>
            </a:pPr>
            <a:r>
              <a:rPr sz="2000" b="0">
                <a:solidFill>
                  <a:srgbClr val="333333"/>
                </a:solidFill>
                <a:latin typeface="Calibri"/>
              </a:rPr>
              <a:t>Each step’s inputs and outputs are tracked so regenerating results is a single pipeline</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`modules/chapter13/example45/`</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Reproducibility and Open Science</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R Markdown couples narrative and executable analysis so published reports recompile</a:t>
            </a:r>
          </a:p>
          <a:p>
            <a:pPr>
              <a:spcAft>
                <a:spcPts val="1000"/>
              </a:spcAft>
              <a:buChar char="•"/>
              <a:lnSpc>
                <a:spcPts val="2200"/>
              </a:lnSpc>
            </a:pPr>
            <a:r>
              <a:rPr sz="2000" b="0">
                <a:solidFill>
                  <a:srgbClr val="333333"/>
                </a:solidFill>
                <a:latin typeface="Calibri"/>
              </a:rPr>
              <a:t>DVC keeps large training data and model weights retrievable alongside code</a:t>
            </a:r>
          </a:p>
          <a:p>
            <a:pPr>
              <a:spcAft>
                <a:spcPts val="1000"/>
              </a:spcAft>
              <a:buChar char="•"/>
              <a:lnSpc>
                <a:spcPts val="2200"/>
              </a:lnSpc>
            </a:pPr>
            <a:r>
              <a:rPr sz="2000" b="0">
                <a:solidFill>
                  <a:srgbClr val="333333"/>
                </a:solidFill>
                <a:latin typeface="Calibri"/>
              </a:rPr>
              <a:t>Versioned DVC pipelines encode preprocess, train</a:t>
            </a:r>
          </a:p>
          <a:p>
            <a:pPr>
              <a:spcAft>
                <a:spcPts val="1000"/>
              </a:spcAft>
              <a:buChar char="•"/>
              <a:lnSpc>
                <a:spcPts val="2200"/>
              </a:lnSpc>
            </a:pPr>
            <a:r>
              <a:rPr sz="2000" b="0">
                <a:solidFill>
                  <a:srgbClr val="333333"/>
                </a:solidFill>
                <a:latin typeface="Calibri"/>
              </a:rPr>
              <a:t>Literate reports plus data versioning close the gap between papers and the artifacts they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Reproducibility and Open Science</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A brief climate-modeling outlook</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Reproducibility and Open Science</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By the end of this part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Reproducibility and Open Science</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Cloud collaboration for scale</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Distributed teams need shared infrastructure for large datasets and scalable computation</a:t>
            </a:r>
          </a:p>
          <a:p>
            <a:pPr>
              <a:spcAft>
                <a:spcPts val="1000"/>
              </a:spcAft>
              <a:buChar char="•"/>
              <a:lnSpc>
                <a:spcPts val="2200"/>
              </a:lnSpc>
            </a:pPr>
            <a:r>
              <a:rPr sz="2000" b="0">
                <a:solidFill>
                  <a:srgbClr val="333333"/>
                </a:solidFill>
                <a:latin typeface="Calibri"/>
              </a:rPr>
              <a:t>Cloud platforms such as Amazon Web Services, Google Cloud</a:t>
            </a:r>
          </a:p>
          <a:p>
            <a:pPr>
              <a:spcAft>
                <a:spcPts val="1000"/>
              </a:spcAft>
              <a:buChar char="•"/>
              <a:lnSpc>
                <a:spcPts val="2200"/>
              </a:lnSpc>
            </a:pPr>
            <a:r>
              <a:rPr sz="2000" b="0">
                <a:solidFill>
                  <a:srgbClr val="333333"/>
                </a:solidFill>
                <a:latin typeface="Calibri"/>
              </a:rPr>
              <a:t>Chapter 12 covers storage architectures and platform operations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Reproducibility and Open Science</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13.47 — Cloud VMs for Consistent Workflows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13.47 — hands-on module</a:t>
            </a:r>
          </a:p>
          <a:p>
            <a:pPr>
              <a:spcAft>
                <a:spcPts val="1000"/>
              </a:spcAft>
              <a:buChar char="•"/>
              <a:lnSpc>
                <a:spcPts val="2200"/>
              </a:lnSpc>
            </a:pPr>
            <a:r>
              <a:rPr sz="2000" b="0">
                <a:solidFill>
                  <a:srgbClr val="333333"/>
                </a:solidFill>
                <a:latin typeface="Calibri"/>
              </a:rPr>
              <a:t>Example 13.47 provisions cloud virtual machines so collaborators share the same runtime</a:t>
            </a:r>
          </a:p>
          <a:p>
            <a:pPr>
              <a:spcAft>
                <a:spcPts val="1000"/>
              </a:spcAft>
              <a:buChar char="•"/>
              <a:lnSpc>
                <a:spcPts val="2200"/>
              </a:lnSpc>
            </a:pPr>
            <a:r>
              <a:rPr sz="2000" b="0">
                <a:solidFill>
                  <a:srgbClr val="333333"/>
                </a:solidFill>
                <a:latin typeface="Calibri"/>
              </a:rPr>
              <a:t>Cloud-based VMs can be configured to run specific research workflows</a:t>
            </a:r>
          </a:p>
          <a:p>
            <a:pPr>
              <a:spcAft>
                <a:spcPts val="1000"/>
              </a:spcAft>
              <a:buChar char="•"/>
              <a:lnSpc>
                <a:spcPts val="2200"/>
              </a:lnSpc>
            </a:pPr>
            <a:r>
              <a:rPr sz="2000" b="0">
                <a:solidFill>
                  <a:srgbClr val="333333"/>
                </a:solidFill>
                <a:latin typeface="Calibri"/>
              </a:rPr>
              <a:t>Data move between local machines, clusters, and the cloud</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`modules/chapter13/example47/`</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Reproducibility and Open Science</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13.50 — Environment Drift Breaks Identical Code</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13.50 — hands-on module</a:t>
            </a:r>
          </a:p>
          <a:p>
            <a:pPr>
              <a:spcAft>
                <a:spcPts val="1000"/>
              </a:spcAft>
              <a:buChar char="•"/>
              <a:lnSpc>
                <a:spcPts val="2200"/>
              </a:lnSpc>
            </a:pPr>
            <a:r>
              <a:rPr sz="2000" b="0">
                <a:solidFill>
                  <a:srgbClr val="333333"/>
                </a:solidFill>
                <a:latin typeface="Calibri"/>
              </a:rPr>
              <a:t>Even with mature tools, full reproducibility often fails</a:t>
            </a:r>
          </a:p>
          <a:p>
            <a:pPr>
              <a:spcAft>
                <a:spcPts val="1000"/>
              </a:spcAft>
              <a:buChar char="•"/>
              <a:lnSpc>
                <a:spcPts val="2200"/>
              </a:lnSpc>
            </a:pPr>
            <a:r>
              <a:rPr sz="2000" b="0">
                <a:solidFill>
                  <a:srgbClr val="333333"/>
                </a:solidFill>
                <a:latin typeface="Calibri"/>
              </a:rPr>
              <a:t>Example 13.50 shows environment drift as a common pitfall</a:t>
            </a:r>
          </a:p>
          <a:p>
            <a:pPr>
              <a:spcAft>
                <a:spcPts val="1000"/>
              </a:spcAft>
              <a:buChar char="•"/>
              <a:lnSpc>
                <a:spcPts val="2200"/>
              </a:lnSpc>
            </a:pPr>
            <a:r>
              <a:rPr sz="2000" b="0">
                <a:solidFill>
                  <a:srgbClr val="333333"/>
                </a:solidFill>
                <a:latin typeface="Calibri"/>
              </a:rPr>
              <a:t>Containerization tools such as Docker or virtual environments such as conda encapsulate</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`modules/chapter13/example50/`</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Reproducibility and Open Science</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13.55 — DVC Links Retraining to Data Versions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13.55 — hands-on module</a:t>
            </a:r>
          </a:p>
          <a:p>
            <a:pPr>
              <a:spcAft>
                <a:spcPts val="1000"/>
              </a:spcAft>
              <a:buChar char="•"/>
              <a:lnSpc>
                <a:spcPts val="2200"/>
              </a:lnSpc>
            </a:pPr>
            <a:r>
              <a:rPr sz="2000" b="0">
                <a:solidFill>
                  <a:srgbClr val="333333"/>
                </a:solidFill>
                <a:latin typeface="Calibri"/>
              </a:rPr>
              <a:t>Maintaining audit trails is essential for checkable research</a:t>
            </a:r>
          </a:p>
          <a:p>
            <a:pPr>
              <a:spcAft>
                <a:spcPts val="1000"/>
              </a:spcAft>
              <a:buChar char="•"/>
              <a:lnSpc>
                <a:spcPts val="2200"/>
              </a:lnSpc>
            </a:pPr>
            <a:r>
              <a:rPr sz="2000" b="0">
                <a:solidFill>
                  <a:srgbClr val="333333"/>
                </a:solidFill>
                <a:latin typeface="Calibri"/>
              </a:rPr>
              <a:t>Just as code is versioned with Git</a:t>
            </a:r>
          </a:p>
          <a:p>
            <a:pPr>
              <a:spcAft>
                <a:spcPts val="1000"/>
              </a:spcAft>
              <a:buChar char="•"/>
              <a:lnSpc>
                <a:spcPts val="2200"/>
              </a:lnSpc>
            </a:pPr>
            <a:r>
              <a:rPr sz="2000" b="0">
                <a:solidFill>
                  <a:srgbClr val="333333"/>
                </a:solidFill>
                <a:latin typeface="Calibri"/>
              </a:rPr>
              <a:t>Example 13.55 shows DVC linking retraining runs to data versions</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`modules/chapter13/example55/`</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Reproducibility and Open Science</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Climate case study and future outlook</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Large collaborative programs such as CMIP6 illustrate why these practices matter at</a:t>
            </a:r>
          </a:p>
          <a:p>
            <a:pPr>
              <a:spcAft>
                <a:spcPts val="1000"/>
              </a:spcAft>
              <a:buChar char="•"/>
              <a:lnSpc>
                <a:spcPts val="2200"/>
              </a:lnSpc>
            </a:pPr>
            <a:r>
              <a:rPr sz="2000" b="0">
                <a:solidFill>
                  <a:srgbClr val="333333"/>
                </a:solidFill>
                <a:latin typeface="Calibri"/>
              </a:rPr>
              <a:t>Ethical licensing as research becomes more computational and collaborative</a:t>
            </a:r>
          </a:p>
          <a:p>
            <a:pPr>
              <a:spcAft>
                <a:spcPts val="1000"/>
              </a:spcAft>
              <a:buChar char="•"/>
              <a:lnSpc>
                <a:spcPts val="2200"/>
              </a:lnSpc>
            </a:pPr>
            <a:r>
              <a:rPr sz="2000" b="0">
                <a:solidFill>
                  <a:srgbClr val="333333"/>
                </a:solidFill>
                <a:latin typeface="Calibri"/>
              </a:rPr>
              <a:t>The chapter’s tools are not optional polish</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Reproducibility and Open Science</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Cloud VMs and containers help teams share consistent runtimes at scale</a:t>
            </a:r>
          </a:p>
          <a:p>
            <a:pPr>
              <a:spcAft>
                <a:spcPts val="1000"/>
              </a:spcAft>
              <a:buChar char="•"/>
              <a:lnSpc>
                <a:spcPts val="2200"/>
              </a:lnSpc>
            </a:pPr>
            <a:r>
              <a:rPr sz="2000" b="0">
                <a:solidFill>
                  <a:srgbClr val="333333"/>
                </a:solidFill>
                <a:latin typeface="Calibri"/>
              </a:rPr>
              <a:t>Environment drift remains a top failure mode when dependencies are unpinned</a:t>
            </a:r>
          </a:p>
          <a:p>
            <a:pPr>
              <a:spcAft>
                <a:spcPts val="1000"/>
              </a:spcAft>
              <a:buChar char="•"/>
              <a:lnSpc>
                <a:spcPts val="2200"/>
              </a:lnSpc>
            </a:pPr>
            <a:r>
              <a:rPr sz="2000" b="0">
                <a:solidFill>
                  <a:srgbClr val="333333"/>
                </a:solidFill>
                <a:latin typeface="Calibri"/>
              </a:rPr>
              <a:t>Audit trails that link retraining to data versions make published models checkable</a:t>
            </a:r>
          </a:p>
          <a:p>
            <a:pPr>
              <a:spcAft>
                <a:spcPts val="1000"/>
              </a:spcAft>
              <a:buChar char="•"/>
              <a:lnSpc>
                <a:spcPts val="2200"/>
              </a:lnSpc>
            </a:pPr>
            <a:r>
              <a:rPr sz="2000" b="0">
                <a:solidFill>
                  <a:srgbClr val="333333"/>
                </a:solidFill>
                <a:latin typeface="Calibri"/>
              </a:rPr>
              <a:t>Climate-scale collaborations show why FAIR, versioning</a:t>
            </a:r>
          </a:p>
          <a:p>
            <a:pPr>
              <a:spcAft>
                <a:spcPts val="1000"/>
              </a:spcAft>
              <a:buChar char="•"/>
              <a:lnSpc>
                <a:spcPts val="2200"/>
              </a:lnSpc>
            </a:pPr>
            <a:r>
              <a:rPr sz="2000" b="0">
                <a:solidFill>
                  <a:srgbClr val="333333"/>
                </a:solidFill>
                <a:latin typeface="Calibri"/>
              </a:rPr>
              <a:t>The chapter closes by tying research-facing reproducibility to the operational foundations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Reproducibility and Open Science</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Complete the quiz for this part to finish Chapter 13</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Reproducibility and Open Science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