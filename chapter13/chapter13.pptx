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8 and 12 covered operational documentation, versioning, storage, and lineage. This chapter turns those assets toward research-facing reproducibility and open science. This opening part defines reproducibility versus replicability and the core principles of open sharing.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distinguish reproducibility from replicability; state accessibility, transparency, and collaboration as open-science principles; recognize open repositories such as the Open Science Framework and Zenodo; and explain why publishing scripts and notebooks supports transparent reuse.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Reproducibility and replicability are often used interchangeably, but they mean different things. Reproducibility is obtaining the same results from the same dataset when the same computational methods are applied. Replicability is obtaining consistent findings when the research is conducted independently, often with a new dataset or under different conditions. Both matter: reproducibility checks that a published computational path is faithful, while replicability tests whether the finding holds under new data or independent conditions.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13.1 illustrates methods reproducibility. If a researcher publishes a study using a dataset and a specific analytical technique, other researchers should be able to use the exact same dataset and method to obtain identical results. That identity is a measure of transparency and robustness in the scientific process. The example 1 module for this chapter demonstrates how fixing a seed and transform can make processed results match by hash.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13.2 contrasts replicability. A climate model may be replicated by a different team using a new set of environmental data to see whether the original findings hold under a different context or dataset. Replicability can thus be seen as an extension of reproducibility, testing generalizability across conditions or data sources. The example 2 module for this chapter frames that independent-team check.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science seeks to make research and data publicly accessible, transparent, and collaborative. Accessibility means research outputs—datasets, software, and methods—are available beyond journal articles alone. Transparency means making processes visible: which data were used, which methods were applied, and how analyses were conducted. Collaboration means sharing knowledge and resources across disciplines and institutions so complex problems can be tackled jointly.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13.3 names widely used platforms for open sharing. The Open Science Framework and Zenodo provide places where researchers can share datasets, code, and preprints with the global community. Accessibility is not only about publishing a paper; it includes providing the tools and data that underpin the findings. The example 3 module for this chapter summarizes that repository pattern.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13.4 shows transparency through released analysis assets. Researchers may release the scripts or notebooks used to process their data so others can follow the exact workflow. Transparency also encourages accountability through disclosure of conflicts of interest, funding sources, and methodological limitations. The example 4 module for this chapter covers publishing executable analysis artifacts.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Reproducibility checks the same data and methods; replicability tests findings with new data or independent teams. Open science rests on accessibility, transparency, and collaboration. Repositories such as the Open Science Framework and Zenodo support open sharing of data, code, and preprints. Publishing scripts and notebooks makes workflows checkable by others. This chapter’s focus is research-facing practice, building on—but not repeating—Chapter 8 and Chapter 12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barriers that still block reproducible work: privacy limits, missing hyperparameters, incompatible naming standards, and why reproducibility standards matter for high-stakes decisions.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name inaccessible data, undocumented methods, and missing standards as recurring barriers; explain how privacy rules such as HIPAA constrain clinical sharing; recognize why missing hyperparameters and incompatible naming block reuse; and state why reproducibility standards support trust, collaboration, and research integrity.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Achieving reproducibility in practice remains difficult. Three barriers recur across fields: inaccessible datasets, undocumented methods, and lack of standards. Datasets may be unavailable because of privacy, proprietary restrictions, or poor management. Methods may be published without enough detail to rerun the analysis. Without shared conventions for documentation, versioning, and metadata, teams invent incompatible practices that hinder comparison and collaboration.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13.5 shows how privacy law can block open sharing of clinical data. Clinical research often involves sensitive patient data that cannot be shared openly under rules such as HIPAA. Open science therefore pairs sharing goals with de-identification and anonymization so data can be released safely and ethically. The example 5 module for this chapter summarizes that privacy constraint and the need for protective release practices.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13.6 shows how undocumented methods prevent replication of a machine learning experiment. A researcher might describe a model in a paper without providing hyperparameters or data preprocessing steps, making it impossible for others to replicate the experiment. Incomplete method records can be intentional competitive withholding or simply poor practice; either way, the computational path cannot be checked. The example 6 module for this chapter frames that documentation gap.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13.7 shows how missing community standards hinder cross-lab comparison. In bioinformatics, different labs may use different standards for naming genes or describing experimental conditions, making it hard to integrate and compare datasets from multiple studies. Shared naming and metadata conventions are therefore part of reproducibility infrastructure, not optional polish. The example 7 module for this chapter covers that interoperability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13.8 ties reproducibility standards to high-stakes decisions. A pharmaceutical company may base drug development on clinical trial results; if those results cannot be reproduced, the approval process can be compromised. Standards also support interdisciplinary collaboration through clear methods and standardized repositories, and they reinforce research integrity when findings affect policy and public health. The example 8 module for this chapter highlights that trust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foundation of reproducible research still lies in proper dataset documentation and versioning. Chapter 8 develops templates, metadata, data dictionaries, provenance records, and version-control workflows in full. The next parts therefore do not repeat that operational material; they summarize what research-facing reproducibility specifically demands from documentation and versioning, then move to FAIR sharing, licensing, and pipelines.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Inaccessible data, undocumented methods, and missing standards are recurring blockers. Privacy regimes such as HIPAA require safe release practices rather than unrestricted dumps. Missing hyperparameters and incompatible naming prevent faithful reruns and cross-study integration. Reproducibility standards protect trust in high-stakes settings such as drug decisions. Documentation and versioning remain the bridge from Chapters 8 and 12 into research-facing open science.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research documentation, repository metadata for discovery, and why dataset versions must be pinned for published analyses.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why undocumented methodology blocks replication; describe publication-grade repository metadata that supports discovery; state why the exact dataset version used in a published analysis must be identifiable; and distinguish Chapter 8’s operational documentation toolkit from this chapter’s research-facing reuse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the documentation components listed in Chapter 8, reproducible research documentation should record the exact conditions of the published analysis: which dataset version was used, which transformations were applied in which order, and which known limitations—such as missing values or biases—could alter downstream conclusions. The goal is a checkable published path, not only an internal ops record.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13.9 shows the cost of unclear methods. In a medical study, if the methodology for collecting patient data is unclear, another researcher cannot evaluate reliability or replicate the study. Surveys of researchers have long found that inadequate documentation of methods and data is among the leading causes of failed reproduction attempts. The example 9 module for this chapter summarizes that documentation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Metadata types and roles are covered in Chapter 8. What matters for open science is publication-grade metadata: standardized formats and controlled vocabularies that let repositories index a dataset so others can find it. Example 13.10 shows a plant-genetics dataset uploaded with standards-compliant metadata—title, keywords, methodology, and license—so related searches can discover it beyond the original study. The example 10 module for this chapter covers that discovery pattern.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Versioning tools are developed in Chapters 8 and 12; for reproducibility the essential requirement is narrower. The exact dataset version used in a published analysis must be identifiable and retrievable even as the data continues to evolve. Example 13.11 shows what breaks without pinned versions: if a dataset is updated after publication and the original version was never archived, replication attempts silently compare against different data. The example 11 module for this chapter frames that pinning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Undocumented methods leave published findings checkable only in name. Publication-grade metadata turns repositories into discovery systems, not dump sites. Pinning the exact dataset version used in a paper is required for faithful replication. Chapter 8 and Chapter 12 supply the operational toolkit; this chapter asks what those records must prove for open, research-facing reuse.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introduces FAIR principles—Findable, Accessible, Interoperable, and Reusable—and shows how indexing, access controls, formats, and community standards put them into practice.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name the four FAIR principles; explain Findable through public-archive indexing; describe Accessible sharing with clear terms and access controls; recognize Interoperable formats and controlled vocabularies; and apply Reusable community file formats for new research uses.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FAIR principles—Findable, Accessible, Interoperable, and Reusable—have become a widely adopted standard for managing and sharing scientific data. Findable means datasets can be located through identifiers and rich metadata. Accessible means retrieval under clear, standardized terms, which may include restrictions. Interoperable means formats and vocabularies support combination with other datasets and tools. Reusable means documentation, metadata, and licensing enable new research uses beyond the original study.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13.12 illustrates Findable sharing. When a cancer genomics dataset is published, it should be indexed in public archives such as NCBI or the European Nucleotide Archive. Researchers can then locate it through keywords, metadata, or other relevant fields. Indexing is what turns a deposited file into a discoverable research asset. The example 12 module for this chapter covers that archive-indexing pattern.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Accessible does not mean every dataset must be free of restrictions. Data must be available under clear terms, often via widely accepted repositories with open retrieval protocols. Example 13.13 shows datasets hosted on Zenodo or Figshare, which can allow access while respecting privacy or ethical restrictions, for example through de-identified data and licensing agreements. The example 13 module for this chapter summarizes controlled accessibility.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Interoperable data is structured for integration with other datasets and analytical tools. Example 13.14 shows genomic data formatted in standard file types such as FASTQ or VCF so bioinformatics tools and databases can consume it. Controlled vocabularies such as Gene Ontology or the Unified Medical Language System standardize meaning and help link data to other resources. The example 14 module for this chapter frames that format-and-vocabulary practice.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Reusable data is accompanied by documentation, metadata, and licensing that enable new research uses. Example 13.15 prefers community formats such as CSV or JSON for tabular data, HDF5 for large arrays, or NetCDF for climate data, because these formats are widely supported by analysis tools. Choosing formats the community already understands is a practical Reusable choice. The example 15 module for this chapter covers that format guidance.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 means Findable, Accessible, Interoperable, and Reusable for people and machines. Public-archive indexing makes genomics and other deposits discoverable. Accessibility allows clear terms and access controls, not only unrestricted dumps. Standard formats and controlled vocabularies support interoperability. Community file formats and licensing documentation enable reuse beyond the original study.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data-quality standards for reproducibility and research-facing provenance that tracks how datasets were created and updated.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why quality decisions must be documented for reproducibility; illustrate completeness documentation with clinical trial dropouts; define provenance as origin, transforms, and context; and describe how tracking updates preserves integrity across dataset versions.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quality dimensions and cleaning procedures are treated in earlier chapters. For reproducibility, quality decisions—imputation, exclusion, correction—must be documented so the published analysis can be repeated under the same conditions. Completeness, consistency, and accuracy support that goal. Completeness in particular requires clear documentation of missing data and the reasons for absence, not silent omission.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13.18 shows completeness documentation for missing participants. In clinical trials, if certain participants dropped out of the study, that should be noted in the dataset along with the impact on the analysis. Future users need those facts to interpret results and to repeat the analysis under comparable conditions. The example 18 module for this chapter covers that dropout documentation pattern.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provenance is the documentation and tracking of origin and transformations throughout a dataset’s lifecycle. It records where data came from, how they were collected, what processes were applied, and the decisions made during processing. Provenance provides transparency and accountability so researchers can verify credibility and locate biases introduced during cleaning or errors from specific analytical steps. Unlike Chapter 12’s enterprise lineage catalogs, the emphasis here is evidence for reproducible research and open science.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13.24 shows the provenance fields a genomics study should record. Provenance should capture the sequencing technology, preprocessing steps, and curation decisions so future researchers can validate findings or repeat the analysis on related datasets. Without such documentation, a dataset becomes a black box whose reliability cannot be assessed. The example 24 module for this chapter summarizes those genomics provenance fields.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also improves traceability when datasets change. Example 13.25 shows that if a dataset undergoes modifications or updates, tracking those changes preserves integrity and lets future users understand how the dataset evolved. In regulated fields such as healthcare or finance, provenance further supports auditability and compliance by showing ethical collection and appropriate processing. The example 25 module for this chapter frames update tracking over time.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decisions must be documented if published analyses are to be repeated faithfully. Completeness includes recording dropouts and other missingness with analytical impact. Provenance records origin, transforms, context, and processing decisions as research evidence. Tracking updates links versions so integrity and audits remain possible. Distinguish Chapter 12 platform lineage from this chapter’s research-facing provenance record.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open-data licensing, balancing openness with privacy, and ethical risks such as bias and community control over shared data.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match common Creative Commons and Open Data Commons licenses to reuse goals; explain why sensitive or community-controlled data need restricted access; distinguish dataset licenses from companion software licenses; describe the openness-versus-privacy trade-off; recognize ethical risks of reinforcing bias with open datasets; and state why communities, including Indigenous communities, should control how their data are shared.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Creative Commons covers CC0, CC BY, CC BY-SA, CC BY-NC, and CC BY-NC-SA. Open Data Commons adds database-oriented paths: ODC-By, ODbL, and PDDL. Companion code beside a dataset usually needs a software license such as MIT, BSD-3-Clause, Apache-2.0, or GPL-3.0—not a Creative Commons deed by default. License choice follows the intended reuse, not the row layout of a CSV.</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whether the release is sensitive or community-controlled; whether commercial reuse is allowed; whether attribution is required; whether derivatives must ShareAlike; and whether the artifact is data or companion code. Public-domain paths suit government tables; CC BY or ODC-By suit research data that need credit; ShareAlike suits collaborative commons; NonCommercial suits education-only releases; restricted access suits health and community-controlled data. Practice these paths in the course license chooser.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Responsible open science depends on clear licenses and ethical constraints. Some teams draft custom or restricted licenses that limit redistribution, require ethical use, or control who may access the data. Privacy principles and techniques are developed in Chapter 3; the open-science question is how those constraints interact with license choice. An unrestricted open license signals broad reuse and is appropriate only after privacy techniques have made that reuse safe.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13.26 illustrates restricted licensing for sensitive health data. Use may be limited to qualified researchers or specific contexts such as academic or non-profit use. Clinical trial data and patient records cannot carry an unrestricted open license when regulation requires de-identification first, and even de-identified data may remain re-identifiable when combined with other releases. The example 26 module for this chapter summarizes that restricted-license pattern.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Ethical principles for collection and privacy are covered in Chapter 3. Open science adds obligations that arise from making data public: minimize risk to participants, and state what the published data can and cannot support. Researchers should document scope and limitations, including biases or collection gaps that could affect downstream research or policy. Consent obtained during collection must also cover the intended public release.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Ethical concerns do not end when data are shared; they extend to reuse. Example 13.27 warns against discriminatory reuse of hiring or healthcare datasets. Such data should not be used to reinforce biases or perpetuate systemic inequalities. If data reveal disparities, analysis should proceed with care to avoid reinforcing stereotypes or unjust practices. The example 27 module for this chapter frames that non-discrimination obligation.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science must respect the rights and wishes of people and communities whose data are used. Communities involved in collection, especially marginalized or vulnerable populations, should have a say in how their data are used and shared. Example 13.28 emphasizes that Indigenous communities involved in ecological or environmental research should control how their data are used and shared so that sharing aligns with cultural values and ethical standards. The example 28 module for this chapter covers community authority over shared data.</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the license family to the artifact: Creative Commons or Open Data Commons for data, software licenses for companion code. Restricted access—not an open deed—for sensitive health or community-controlled data. License choice must follow a privacy assessment, not precede it. Open release creates ongoing ethical duties around bias, security, attribution, and scope. Communities, including Indigenous communities, retain legitimate control over sharing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reproducible research workflows: workflow files, Jupyter notebooks, and Docker containers for fixed tool and machine-learning stacks.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how workflow files automate multi-step pipelines; describe Jupyter notebooks as literate pipelines from load to plots; recognize Docker images that pin bioinformatics tools; and apply the same container idea to machine-learning training stacks.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Reproducible research workflows couple datasets with automation, notebooks, version control, and containers so analyses can be independently verified. Automation tools such as Make, Snakemake, or Nextflow define a sequence of jobs with clear dependencies so the same procedure runs regardless of who executes it or when. Consistency also requires a stable environment: the same configurations, tools, and dependency versions across stages.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13.29 captures a multi-step bioinformatics pipeline in a workflow definition. A typical pipeline might involve data preprocessing, alignment, and statistical analysis. With automation tools, the entire process can be captured in a workflow file so each researcher follows the same procedure without ad-hoc manual intervention. The example 29 module for this chapter summarizes that workflow-file pattern.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Jupyter notebooks integrate code, data, and documentation in a single document. Example 13.31 sketches a typical analysis narrative: data loading, cleaning, exploratory analysis, model fitting, and result visualization, with decisions documented beside executable code. Interactivity and sharing—including static exports or runnable environments—help collaboration, but large data and environment drift still require version control and containers. The example 31 module for this chapter covers that notebook pipeline.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Reproducibility depends on a stable computational environment. Docker packages code, dependencies, and system settings into a container that can run consistently across machines. Example 13.34 pins bioinformatics tool versions inside a Docker image, bundling preprocessing software and specific versions such as BWA for sequence alignment or Samtools for manipulating alignments. The example 34 module for this chapter frames that pinned-tool container.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container pattern applies to machine learning. Example 13.36 freezes Python library versions for model training: a Docker image can bundle dependencies for a training script and fix library versions such as TensorFlow, NumPy, and pandas. Shared images reduce “it works on my machine” failures across local, cluster, and cloud runs. The example 36 module for this chapter covers that ML training stack image.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Workflow files encode ordered, dependency-aware pipelines so analyses run the same way each time. Notebooks make methods and results literate and shareable, but still need environment discipline. Docker pins tools and libraries so bioinformatics and machine-learning stacks travel with the analysis. Containers and workflow definitions close the execution gap left by licenses and prose alone.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continuous integration and automated tests that catch broken preprocessing, environment mismatches, and model regressions before results are published.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continuous integration for research pipelines; describe CI checks on preprocessing and inputs; recognize cross-environment consistency tests; and state why CI should retest model training after updates.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integration automatically integrates contributor changes into a shared repository and, for research workflows, tests and validates changes to code or data pipelines. Services such as GitHub Actions, GitLab CI, and Travis CI can run tests whenever code or data pipelines change. The goal is to catch silent breaks early: a small edit should not quietly alter published results.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13.37 uses continuous integration to validate pipeline prerequisites. Automated checks can verify that preprocessing steps run and that required inputs are present and well-formed before downstream analysis proceeds. Catching input and preprocessing failures in CI prevents wasted compute and unreproducible partial runs. The example 37 module for this chapter covers those preprocessing and input checks.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Environment drift is a common reproducibility failure. Example 13.38 emphasizes tests for cross-environment consistency: the same pipeline should produce expected results across machines or container images used by the team. Automated tests that compare outputs or checksums across environments expose dependency mismatches before collaborators publish conflicting numbers. The example 38 module for this chapter frames that consistency-testing pattern.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Machine-learning pipelines change when data, features, or training code update. Example 13.39 shows CI retesting model training after such updates so regressions in metrics or training failures are caught automatically. Continuous checks keep the published training path aligned with the current repository state rather than relying on a one-time local success. The example 39 module for this chapter summarizes retrain-oriented CI.</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Automation also supports workflow documentation: logs, regenerated reports, and machine-readable records of what ran. When documentation is produced as part of the pipeline rather than hand-written after the fact, the published narrative stays synchronized with the executable path. Combined with CI, automated documentation reduces the gap between what the paper claims and what the repository actually runs.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integration turns reproducibility from a manual hope into a repeated check. CI can validate preprocessing and inputs before costly downstream stages. Cross-environment tests catch dependency drift across machines and containers. Retrain CI detects model regressions when data or code change. Automated documentation keeps published workflows aligned with what actually executed.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R Markdown reports and DVC for tracking training data, model weights, and pipeline stages.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how R Markdown keeps code, narrative, and results synchronized; describe DVC tracking of training data and model weights; and outline a DVC pipeline that versions preprocess, train, and evaluate stages.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Markdown creates dynamic, reproducible reports that integrate code, data, and results in a single document. When the document is compiled, embedded code executes and tables, figures, and statistical outputs are inserted automatically. That coupling keeps analysis, narrative, and visualization synchronized and supports version control so collaborators track changes over time. Outputs can include HTML, PDF, or Word for flexible sharing.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13.41 regenerates an analysis report from an R Markdown source. A researcher analyzing a public health dataset might load data, clean it, run statistical analyses, and generate visualizations in one document. As the report compiles, code and narrative stay synchronized, reducing the risk that a paper figure drifts from the script that produced it. The example 41 module for this chapter covers that public-health report pattern.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 datasets in genomics, climate modeling, or machine learning are difficult to track with Git alone. DVC versions large datasets and models so they remain reproducible and shareable: metadata and pointers live in the repository, while the bytes live in external storage such as cloud object stores. Every modification remains traceable, improving integrity for published results that depend on heavy artifacts.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13.44 versions training data, model weights, and evaluation outputs with DVC. In a machine learning project, managing these dependencies helps ensure that the data and models used to produce published results can be retrieved later. Without that linkage, a paper may cite results that cannot be rebuilt from the current repository. The example 44 module for this chapter summarizes tracking data and weights together.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DVC also supports data pipelines that automate flow through the research process. Example 13.45 defines a versioned pipeline across preprocessing, model training, and evaluation. Each step’s inputs and outputs are tracked so regenerating results is a single pipeline run rather than a fragile sequence of manual scripts. The example 45 module for this chapter frames that preprocess–train–evaluate pipeline.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Markdown couples narrative and executable analysis so published reports recompile faithfully. DVC keeps large training data and model weights retrievable alongside code. Versioned DVC pipelines encode preprocess, train, and evaluate stages as a single reproducible path. Literate reports plus data versioning close the gap between papers and the artifacts they claim.</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part covers cloud collaboration, audit trails that link retraining to data versions, common pitfalls such as environment drift, and a brief climate-modeling outlook.</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cloud virtual machines for consistent collaborative workflows; recognize environment drift as a common reproducibility pitfall; describe DVC audit links between retraining and data versions; and summarize how climate-scale case studies and future directions reinforce the chapter’s practices.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teams need shared infrastructure for large datasets and scalable computation without breaking reproducibility. Cloud platforms such as Amazon Web Services, Google Cloud, and Microsoft Azure provide elastic compute and storage. Chapter 12 covers storage architectures and platform operations; here the goal is consistent research environments and reliable access so collaborators rerun the same workflow at scale.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13.47 provisions cloud virtual machines so collaborators share the same runtime. Cloud-based VMs can be configured to run specific research workflows, ensuring the environment is consistent across users. Pairing VMs with containers or orchestration further reduces environment-related failures when the same software, dependencies, and data move between local machines, clusters, and the cloud. The example 47 module for this chapter covers that consistent-VM pattern.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with mature tools, full reproducibility often fails. Example 13.50 shows environment drift as a common pitfall: code that runs perfectly on one researcher’s system may fail or produce different outputs elsewhere because of discrepancies in installed dependencies or the computational environment. Containerization tools such as Docker or virtual environments such as conda encapsulate dependencies so the code runs consistently across machines. The example 50 module for this chapter frames that drift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Maintaining audit trails is essential for checkable research. Just as code is versioned with Git, datasets and models should be versioned so every analysis links to its inputs. Example 13.55 shows DVC linking retraining runs to data versions: each time a model is retrained with new data, DVC can track the new dataset and updated model parameters, creating an audit trail from data to final model. The example 55 module for this chapter summarizes that retraining audit link.</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 collaborative programs such as CMIP6 illustrate why these practices matter at climate-modeling scale: petabyte-class datasets, long-running simulations, and multi-institution comparison require versioned data, controlled environments, and transparent sharing if policy-facing outputs are to be independently verified. Looking ahead, reproducibility will continue to depend on FAIR sharing, containers, automated testing, data versioning, and ethical licensing as research becomes more computational and collaborative. The chapter’s tools are not optional polish; they are the infrastructure of trustworthy open science.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 VMs and containers help teams share consistent runtimes at scale. Environment drift remains a top failure mode when dependencies are unpinned. Audit trails that link retraining to data versions make published models checkable. Climate-scale collaborations show why FAIR, versioning, and environments must travel together. The chapter closes by tying research-facing reproducibility to the operational foundations built in Chapters 8 and 12.</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for this part to finish Chapter 13. Review any weak objectives, then continue to the next chapter in the course sequence when ready.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13 — Reproducibility and open science</a:t>
            </a:r>
          </a:p>
          <a:p>
            <a:pPr algn="ctr">
              <a:lnSpc>
                <a:spcPts val="2200"/>
              </a:lnSpc>
              <a:spcBef>
                <a:spcPts val="1400"/>
              </a:spcBef>
            </a:pPr>
            <a:r>
              <a:rPr sz="2600" b="0">
                <a:solidFill>
                  <a:srgbClr val="333333"/>
                </a:solidFill>
                <a:latin typeface="Calibri"/>
              </a:rPr>
              <a:t>Chapters 8 and 12 covered operational documentation, versioning, storage, and lineage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Reproducibility versus replicability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Reproducibility and replicability are often used interchangeably</a:t>
            </a:r>
          </a:p>
          <a:p>
            <a:pPr lvl="0" marL="457200" indent="-228600">
              <a:buFont typeface="Calibri"/>
              <a:spcAft>
                <a:spcPts val="1000"/>
              </a:spcAft>
              <a:buSzPct val="100000"/>
              <a:buChar char="•"/>
              <a:lnSpc>
                <a:spcPts val="2200"/>
              </a:lnSpc>
            </a:pPr>
            <a:r>
              <a:rPr sz="2000" b="0">
                <a:solidFill>
                  <a:srgbClr val="333333"/>
                </a:solidFill>
                <a:latin typeface="Calibri"/>
              </a:rPr>
              <a:t>Reproducibility is obtaining the same results from the same dataset when the same</a:t>
            </a:r>
          </a:p>
          <a:p>
            <a:pPr lvl="0" marL="457200" indent="-228600">
              <a:buFont typeface="Calibri"/>
              <a:spcAft>
                <a:spcPts val="1000"/>
              </a:spcAft>
              <a:buSzPct val="100000"/>
              <a:buChar char="•"/>
              <a:lnSpc>
                <a:spcPts val="2200"/>
              </a:lnSpc>
            </a:pPr>
            <a:r>
              <a:rPr sz="2000" b="0">
                <a:solidFill>
                  <a:srgbClr val="333333"/>
                </a:solidFill>
                <a:latin typeface="Calibri"/>
              </a:rPr>
              <a:t>Often with a new dataset or under different conditions</a:t>
            </a:r>
          </a:p>
          <a:p>
            <a:pPr lvl="0" marL="457200" indent="-228600">
              <a:buFont typeface="Calibri"/>
              <a:spcAft>
                <a:spcPts val="1000"/>
              </a:spcAft>
              <a:buSzPct val="100000"/>
              <a:buChar char="•"/>
              <a:lnSpc>
                <a:spcPts val="2200"/>
              </a:lnSpc>
            </a:pPr>
            <a:r>
              <a:rPr sz="2000" b="0">
                <a:solidFill>
                  <a:srgbClr val="333333"/>
                </a:solidFill>
                <a:latin typeface="Calibri"/>
              </a:rPr>
              <a:t>Both matter: reproducibility checks that a published computational path is faithful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 — Same Data and Methods Yield Identical Results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13.1 illustrates methods reproducibility</a:t>
            </a:r>
          </a:p>
          <a:p>
            <a:pPr lvl="0" marL="457200" indent="-228600">
              <a:buFont typeface="Calibri"/>
              <a:spcAft>
                <a:spcPts val="1000"/>
              </a:spcAft>
              <a:buSzPct val="100000"/>
              <a:buChar char="•"/>
              <a:lnSpc>
                <a:spcPts val="2200"/>
              </a:lnSpc>
            </a:pPr>
            <a:r>
              <a:rPr sz="2000" b="0">
                <a:solidFill>
                  <a:srgbClr val="333333"/>
                </a:solidFill>
                <a:latin typeface="Calibri"/>
              </a:rPr>
              <a:t>If a researcher publishes a study using a dataset and a specific analytical technique</a:t>
            </a:r>
          </a:p>
          <a:p>
            <a:pPr lvl="0" marL="457200" indent="-228600">
              <a:buFont typeface="Calibri"/>
              <a:spcAft>
                <a:spcPts val="1000"/>
              </a:spcAft>
              <a:buSzPct val="100000"/>
              <a:buChar char="•"/>
              <a:lnSpc>
                <a:spcPts val="2200"/>
              </a:lnSpc>
            </a:pPr>
            <a:r>
              <a:rPr sz="2000" b="0">
                <a:solidFill>
                  <a:srgbClr val="333333"/>
                </a:solidFill>
                <a:latin typeface="Calibri"/>
              </a:rPr>
              <a:t>That identity is a measure of transparency and robustness in the scientific process</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13.1 — same data and methods yield identical results.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Demonstrates computational (methods) reproducibility with the standard</a:t>
            </a:r>
          </a:p>
          <a:p>
            <a:pPr>
              <a:lnSpc>
                <a:spcPts val="2200"/>
              </a:lnSpc>
              <a:spcAft>
                <a:spcPts val="400"/>
              </a:spcAft>
            </a:pPr>
            <a:r>
              <a:rPr sz="2000" b="0">
                <a:solidFill>
                  <a:srgbClr val="333333"/>
                </a:solidFill>
                <a:latin typeface="Consolas"/>
              </a:rPr>
              <a:t>library:</a:t>
            </a:r>
          </a:p>
          <a:p>
            <a:pPr>
              <a:lnSpc>
                <a:spcPts val="2200"/>
              </a:lnSpc>
              <a:spcAft>
                <a:spcPts val="400"/>
              </a:spcAft>
            </a:pPr>
            <a:r>
              <a:rPr sz="2000" b="0">
                <a:solidFill>
                  <a:srgbClr val="333333"/>
                </a:solidFill>
                <a:latin typeface="Consolas"/>
              </a:rPr>
              <a:t>a seeded pipeline produces a byte-identical result across runs, while</a:t>
            </a:r>
          </a:p>
          <a:p>
            <a:pPr>
              <a:lnSpc>
                <a:spcPts val="2200"/>
              </a:lnSpc>
              <a:spcAft>
                <a:spcPts val="400"/>
              </a:spcAft>
            </a:pPr>
            <a:r>
              <a:rPr sz="2000" b="0">
                <a:solidFill>
                  <a:srgbClr val="333333"/>
                </a:solidFill>
                <a:latin typeface="Consolas"/>
              </a:rPr>
              <a:t>changing</a:t>
            </a:r>
          </a:p>
          <a:p>
            <a:pPr>
              <a:lnSpc>
                <a:spcPts val="2200"/>
              </a:lnSpc>
              <a:spcAft>
                <a:spcPts val="400"/>
              </a:spcAft>
            </a:pPr>
            <a:r>
              <a:rPr sz="2000" b="0">
                <a:solidFill>
                  <a:srgbClr val="333333"/>
                </a:solidFill>
                <a:latin typeface="Consolas"/>
              </a:rPr>
              <a:t>the seed or a step breaks that guarantee.</a:t>
            </a:r>
          </a:p>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import hashlib</a:t>
            </a:r>
          </a:p>
          <a:p>
            <a:pPr>
              <a:lnSpc>
                <a:spcPts val="2200"/>
              </a:lnSpc>
              <a:spcAft>
                <a:spcPts val="400"/>
              </a:spcAft>
            </a:pPr>
            <a:r>
              <a:rPr sz="2000" b="0">
                <a:solidFill>
                  <a:srgbClr val="333333"/>
                </a:solidFill>
                <a:latin typeface="Consolas"/>
              </a:rPr>
              <a:t>import random</a:t>
            </a:r>
          </a:p>
          <a:p>
            <a:pPr>
              <a:lnSpc>
                <a:spcPts val="2200"/>
              </a:lnSpc>
              <a:spcAft>
                <a:spcPts val="400"/>
              </a:spcAft>
            </a:pPr>
            <a:r>
              <a:rPr sz="2000" b="0">
                <a:solidFill>
                  <a:srgbClr val="333333"/>
                </a:solidFill>
                <a:latin typeface="Consolas"/>
              </a:rPr>
              <a:t>import statistics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analysis(seed: int, transform: str = "zscore") -&gt; str:</a:t>
            </a:r>
          </a:p>
          <a:p>
            <a:pPr>
              <a:lnSpc>
                <a:spcPts val="2200"/>
              </a:lnSpc>
              <a:spcAft>
                <a:spcPts val="400"/>
              </a:spcAft>
            </a:pPr>
            <a:r>
              <a:rPr sz="2000" b="0">
                <a:solidFill>
                  <a:srgbClr val="333333"/>
                </a:solidFill>
                <a:latin typeface="Consolas"/>
              </a:rPr>
              <a:t>    """Run a small deterministic 'analysis' and return a hash of its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13.2 — Replication with New Climate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13.2 contrasts replicability</a:t>
            </a:r>
          </a:p>
          <a:p>
            <a:pPr lvl="0" marL="457200" indent="-228600">
              <a:buFont typeface="Calibri"/>
              <a:spcAft>
                <a:spcPts val="1000"/>
              </a:spcAft>
              <a:buSzPct val="100000"/>
              <a:buChar char="•"/>
              <a:lnSpc>
                <a:spcPts val="2200"/>
              </a:lnSpc>
            </a:pPr>
            <a:r>
              <a:rPr sz="2000" b="0">
                <a:solidFill>
                  <a:srgbClr val="333333"/>
                </a:solidFill>
                <a:latin typeface="Calibri"/>
              </a:rPr>
              <a:t>A climate model may be replicated by a different team using a new set of environmental</a:t>
            </a:r>
          </a:p>
          <a:p>
            <a:pPr lvl="0" marL="457200" indent="-228600">
              <a:buFont typeface="Calibri"/>
              <a:spcAft>
                <a:spcPts val="1000"/>
              </a:spcAft>
              <a:buSzPct val="100000"/>
              <a:buChar char="•"/>
              <a:lnSpc>
                <a:spcPts val="2200"/>
              </a:lnSpc>
            </a:pPr>
            <a:r>
              <a:rPr sz="2000" b="0">
                <a:solidFill>
                  <a:srgbClr val="333333"/>
                </a:solidFill>
                <a:latin typeface="Calibri"/>
              </a:rPr>
              <a:t>Replicability can thus be seen as an extension of reproducibility</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Core principles of open science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Open science seeks to make research and data publicly accessible, transparent</a:t>
            </a:r>
          </a:p>
          <a:p>
            <a:pPr lvl="0" marL="457200" indent="-228600">
              <a:buFont typeface="Calibri"/>
              <a:spcAft>
                <a:spcPts val="1000"/>
              </a:spcAft>
              <a:buSzPct val="100000"/>
              <a:buChar char="•"/>
              <a:lnSpc>
                <a:spcPts val="2200"/>
              </a:lnSpc>
            </a:pPr>
            <a:r>
              <a:rPr sz="2000" b="0">
                <a:solidFill>
                  <a:srgbClr val="333333"/>
                </a:solidFill>
                <a:latin typeface="Calibri"/>
              </a:rPr>
              <a:t>Accessibility means research outputs, datasets, software</a:t>
            </a:r>
          </a:p>
          <a:p>
            <a:pPr lvl="0" marL="457200" indent="-228600">
              <a:buFont typeface="Calibri"/>
              <a:spcAft>
                <a:spcPts val="1000"/>
              </a:spcAft>
              <a:buSzPct val="100000"/>
              <a:buChar char="•"/>
              <a:lnSpc>
                <a:spcPts val="2200"/>
              </a:lnSpc>
            </a:pPr>
            <a:r>
              <a:rPr sz="2000" b="0">
                <a:solidFill>
                  <a:srgbClr val="333333"/>
                </a:solidFill>
                <a:latin typeface="Calibri"/>
              </a:rPr>
              <a:t>Transparency means making processes visible</a:t>
            </a:r>
          </a:p>
          <a:p>
            <a:pPr lvl="0" marL="457200" indent="-228600">
              <a:buFont typeface="Calibri"/>
              <a:spcAft>
                <a:spcPts val="1000"/>
              </a:spcAft>
              <a:buSzPct val="100000"/>
              <a:buChar char="•"/>
              <a:lnSpc>
                <a:spcPts val="2200"/>
              </a:lnSpc>
            </a:pPr>
            <a:r>
              <a:rPr sz="2000" b="0">
                <a:solidFill>
                  <a:srgbClr val="333333"/>
                </a:solidFill>
                <a:latin typeface="Calibri"/>
              </a:rPr>
              <a:t>Collaboration means sharing knowledge and resources across disciplines and institutions so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13.3 — OSF and Zenodo for Open Sharing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13.3 names widely used platforms for open sharing</a:t>
            </a:r>
          </a:p>
          <a:p>
            <a:pPr lvl="0" marL="457200" indent="-228600">
              <a:buFont typeface="Calibri"/>
              <a:spcAft>
                <a:spcPts val="1000"/>
              </a:spcAft>
              <a:buSzPct val="100000"/>
              <a:buChar char="•"/>
              <a:lnSpc>
                <a:spcPts val="2200"/>
              </a:lnSpc>
            </a:pPr>
            <a:r>
              <a:rPr sz="2000" b="0">
                <a:solidFill>
                  <a:srgbClr val="333333"/>
                </a:solidFill>
                <a:latin typeface="Calibri"/>
              </a:rPr>
              <a:t>Preprints with the global community</a:t>
            </a:r>
          </a:p>
          <a:p>
            <a:pPr lvl="0" marL="457200" indent="-228600">
              <a:buFont typeface="Calibri"/>
              <a:spcAft>
                <a:spcPts val="1000"/>
              </a:spcAft>
              <a:buSzPct val="100000"/>
              <a:buChar char="•"/>
              <a:lnSpc>
                <a:spcPts val="2200"/>
              </a:lnSpc>
            </a:pPr>
            <a:r>
              <a:rPr sz="2000" b="0">
                <a:solidFill>
                  <a:srgbClr val="333333"/>
                </a:solidFill>
                <a:latin typeface="Calibri"/>
              </a:rPr>
              <a:t>Accessibility is not only about publishing a paper</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13.4 — Publishing Scripts and Notebooks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13.4 shows transparency through released analysis assets</a:t>
            </a:r>
          </a:p>
          <a:p>
            <a:pPr lvl="0" marL="457200" indent="-228600">
              <a:buFont typeface="Calibri"/>
              <a:spcAft>
                <a:spcPts val="1000"/>
              </a:spcAft>
              <a:buSzPct val="100000"/>
              <a:buChar char="•"/>
              <a:lnSpc>
                <a:spcPts val="2200"/>
              </a:lnSpc>
            </a:pPr>
            <a:r>
              <a:rPr sz="2000" b="0">
                <a:solidFill>
                  <a:srgbClr val="333333"/>
                </a:solidFill>
                <a:latin typeface="Calibri"/>
              </a:rPr>
              <a:t>Researchers may release the scripts or notebooks used to process their data so others can</a:t>
            </a:r>
          </a:p>
          <a:p>
            <a:pPr lvl="0" marL="457200" indent="-228600">
              <a:buFont typeface="Calibri"/>
              <a:spcAft>
                <a:spcPts val="1000"/>
              </a:spcAft>
              <a:buSzPct val="100000"/>
              <a:buChar char="•"/>
              <a:lnSpc>
                <a:spcPts val="2200"/>
              </a:lnSpc>
            </a:pPr>
            <a:r>
              <a:rPr sz="2000" b="0">
                <a:solidFill>
                  <a:srgbClr val="333333"/>
                </a:solidFill>
                <a:latin typeface="Calibri"/>
              </a:rPr>
              <a:t>Methodological limitations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Reproducibility checks the same data and methods</a:t>
            </a:r>
          </a:p>
          <a:p>
            <a:pPr lvl="0" marL="457200" indent="-228600">
              <a:buFont typeface="Calibri"/>
              <a:spcAft>
                <a:spcPts val="1000"/>
              </a:spcAft>
              <a:buSzPct val="100000"/>
              <a:buChar char="•"/>
              <a:lnSpc>
                <a:spcPts val="2200"/>
              </a:lnSpc>
            </a:pPr>
            <a:r>
              <a:rPr sz="2000" b="0">
                <a:solidFill>
                  <a:srgbClr val="333333"/>
                </a:solidFill>
                <a:latin typeface="Calibri"/>
              </a:rPr>
              <a:t>Open science rests on accessibility, transparency, and collaboration</a:t>
            </a:r>
          </a:p>
          <a:p>
            <a:pPr lvl="0" marL="457200" indent="-228600">
              <a:buFont typeface="Calibri"/>
              <a:spcAft>
                <a:spcPts val="1000"/>
              </a:spcAft>
              <a:buSzPct val="100000"/>
              <a:buChar char="•"/>
              <a:lnSpc>
                <a:spcPts val="2200"/>
              </a:lnSpc>
            </a:pPr>
            <a:r>
              <a:rPr sz="2000" b="0">
                <a:solidFill>
                  <a:srgbClr val="333333"/>
                </a:solidFill>
                <a:latin typeface="Calibri"/>
              </a:rPr>
              <a:t>Repositories such as the Open Science Framework and Zenodo support open sharing of data</a:t>
            </a:r>
          </a:p>
          <a:p>
            <a:pPr lvl="0" marL="457200" indent="-228600">
              <a:buFont typeface="Calibri"/>
              <a:spcAft>
                <a:spcPts val="1000"/>
              </a:spcAft>
              <a:buSzPct val="100000"/>
              <a:buChar char="•"/>
              <a:lnSpc>
                <a:spcPts val="2200"/>
              </a:lnSpc>
            </a:pPr>
            <a:r>
              <a:rPr sz="2000" b="0">
                <a:solidFill>
                  <a:srgbClr val="333333"/>
                </a:solidFill>
                <a:latin typeface="Calibri"/>
              </a:rPr>
              <a:t>Publishing scripts and notebooks makes workflows checkable by others</a:t>
            </a:r>
          </a:p>
          <a:p>
            <a:pPr lvl="0" marL="457200" indent="-228600">
              <a:buFont typeface="Calibri"/>
              <a:spcAft>
                <a:spcPts val="1000"/>
              </a:spcAft>
              <a:buSzPct val="100000"/>
              <a:buChar char="•"/>
              <a:lnSpc>
                <a:spcPts val="2200"/>
              </a:lnSpc>
            </a:pPr>
            <a:r>
              <a:rPr sz="2000" b="0">
                <a:solidFill>
                  <a:srgbClr val="333333"/>
                </a:solidFill>
                <a:latin typeface="Calibri"/>
              </a:rPr>
              <a:t>This chapter’s focus is research-facing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covers barriers that still block reproducible work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Three recurring barriers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Achieving reproducibility in practice remains difficult</a:t>
            </a:r>
          </a:p>
          <a:p>
            <a:pPr lvl="0" marL="457200" indent="-228600">
              <a:buFont typeface="Calibri"/>
              <a:spcAft>
                <a:spcPts val="1000"/>
              </a:spcAft>
              <a:buSzPct val="100000"/>
              <a:buChar char="•"/>
              <a:lnSpc>
                <a:spcPts val="2200"/>
              </a:lnSpc>
            </a:pPr>
            <a:r>
              <a:rPr sz="2000" b="0">
                <a:solidFill>
                  <a:srgbClr val="333333"/>
                </a:solidFill>
                <a:latin typeface="Calibri"/>
              </a:rPr>
              <a:t>Three barriers recur across fields</a:t>
            </a:r>
          </a:p>
          <a:p>
            <a:pPr lvl="0" marL="457200" indent="-228600">
              <a:buFont typeface="Calibri"/>
              <a:spcAft>
                <a:spcPts val="1000"/>
              </a:spcAft>
              <a:buSzPct val="100000"/>
              <a:buChar char="•"/>
              <a:lnSpc>
                <a:spcPts val="2200"/>
              </a:lnSpc>
            </a:pPr>
            <a:r>
              <a:rPr sz="2000" b="0">
                <a:solidFill>
                  <a:srgbClr val="333333"/>
                </a:solidFill>
                <a:latin typeface="Calibri"/>
              </a:rPr>
              <a:t>Datasets may be unavailable because of privacy</a:t>
            </a:r>
          </a:p>
          <a:p>
            <a:pPr lvl="0" marL="457200" indent="-228600">
              <a:buFont typeface="Calibri"/>
              <a:spcAft>
                <a:spcPts val="1000"/>
              </a:spcAft>
              <a:buSzPct val="100000"/>
              <a:buChar char="•"/>
              <a:lnSpc>
                <a:spcPts val="2200"/>
              </a:lnSpc>
            </a:pPr>
            <a:r>
              <a:rPr sz="2000" b="0">
                <a:solidFill>
                  <a:srgbClr val="333333"/>
                </a:solidFill>
                <a:latin typeface="Calibri"/>
              </a:rPr>
              <a:t>Methods may be published without enough detail to rerun the analysis</a:t>
            </a:r>
          </a:p>
          <a:p>
            <a:pPr lvl="0" marL="457200" indent="-228600">
              <a:buFont typeface="Calibri"/>
              <a:spcAft>
                <a:spcPts val="1000"/>
              </a:spcAft>
              <a:buSzPct val="100000"/>
              <a:buChar char="•"/>
              <a:lnSpc>
                <a:spcPts val="2200"/>
              </a:lnSpc>
            </a:pPr>
            <a:r>
              <a:rPr sz="2000" b="0">
                <a:solidFill>
                  <a:srgbClr val="333333"/>
                </a:solidFill>
                <a:latin typeface="Calibri"/>
              </a:rPr>
              <a:t>Without shared conventions for documentation, versioning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13.5 — HIPAA Limits on Clinical Data Sharing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13.5 shows how privacy law can block open sharing of clinical data</a:t>
            </a:r>
          </a:p>
          <a:p>
            <a:pPr lvl="0" marL="457200" indent="-228600">
              <a:buFont typeface="Calibri"/>
              <a:spcAft>
                <a:spcPts val="1000"/>
              </a:spcAft>
              <a:buSzPct val="100000"/>
              <a:buChar char="•"/>
              <a:lnSpc>
                <a:spcPts val="2200"/>
              </a:lnSpc>
            </a:pPr>
            <a:r>
              <a:rPr sz="2000" b="0">
                <a:solidFill>
                  <a:srgbClr val="333333"/>
                </a:solidFill>
                <a:latin typeface="Calibri"/>
              </a:rPr>
              <a:t>Clinical research often involves sensitive patient data that cannot be shared openly under</a:t>
            </a:r>
          </a:p>
          <a:p>
            <a:pPr lvl="0" marL="457200" indent="-228600">
              <a:buFont typeface="Calibri"/>
              <a:spcAft>
                <a:spcPts val="1000"/>
              </a:spcAft>
              <a:buSzPct val="100000"/>
              <a:buChar char="•"/>
              <a:lnSpc>
                <a:spcPts val="2200"/>
              </a:lnSpc>
            </a:pPr>
            <a:r>
              <a:rPr sz="2000" b="0">
                <a:solidFill>
                  <a:srgbClr val="333333"/>
                </a:solidFill>
                <a:latin typeface="Calibri"/>
              </a:rPr>
              <a:t>Open science therefore pairs sharing goals with de-identification and anonymization so</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13.6 — Missing Hyperparameters Block Replication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13.6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13.6 shows how undocumented methods prevent replication of a machine learning</a:t>
            </a:r>
          </a:p>
          <a:p>
            <a:pPr lvl="0" marL="457200" indent="-228600">
              <a:buFont typeface="Calibri"/>
              <a:spcAft>
                <a:spcPts val="1000"/>
              </a:spcAft>
              <a:buSzPct val="100000"/>
              <a:buChar char="•"/>
              <a:lnSpc>
                <a:spcPts val="2200"/>
              </a:lnSpc>
            </a:pPr>
            <a:r>
              <a:rPr sz="2000" b="0">
                <a:solidFill>
                  <a:srgbClr val="333333"/>
                </a:solidFill>
                <a:latin typeface="Calibri"/>
              </a:rPr>
              <a:t>Making it impossible for others to replicate the experiment</a:t>
            </a:r>
          </a:p>
          <a:p>
            <a:pPr lvl="0" marL="457200" indent="-228600">
              <a:buFont typeface="Calibri"/>
              <a:spcAft>
                <a:spcPts val="1000"/>
              </a:spcAft>
              <a:buSzPct val="100000"/>
              <a:buChar char="•"/>
              <a:lnSpc>
                <a:spcPts val="2200"/>
              </a:lnSpc>
            </a:pPr>
            <a:r>
              <a:rPr sz="2000" b="0">
                <a:solidFill>
                  <a:srgbClr val="333333"/>
                </a:solidFill>
                <a:latin typeface="Calibri"/>
              </a:rPr>
              <a:t>Either way, the computational path cannot be checked</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13.7 — Incompatible Bioinformatics Naming Standards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13.7 shows how missing community standards hinder cross-lab comparison</a:t>
            </a:r>
          </a:p>
          <a:p>
            <a:pPr lvl="0" marL="457200" indent="-228600">
              <a:buFont typeface="Calibri"/>
              <a:spcAft>
                <a:spcPts val="1000"/>
              </a:spcAft>
              <a:buSzPct val="100000"/>
              <a:buChar char="•"/>
              <a:lnSpc>
                <a:spcPts val="2200"/>
              </a:lnSpc>
            </a:pPr>
            <a:r>
              <a:rPr sz="2000" b="0">
                <a:solidFill>
                  <a:srgbClr val="333333"/>
                </a:solidFill>
                <a:latin typeface="Calibri"/>
              </a:rPr>
              <a:t>In bioinformatics</a:t>
            </a:r>
          </a:p>
          <a:p>
            <a:pPr lvl="0" marL="457200" indent="-228600">
              <a:buFont typeface="Calibri"/>
              <a:spcAft>
                <a:spcPts val="1000"/>
              </a:spcAft>
              <a:buSzPct val="100000"/>
              <a:buChar char="•"/>
              <a:lnSpc>
                <a:spcPts val="2200"/>
              </a:lnSpc>
            </a:pPr>
            <a:r>
              <a:rPr sz="2000" b="0">
                <a:solidFill>
                  <a:srgbClr val="333333"/>
                </a:solidFill>
                <a:latin typeface="Calibri"/>
              </a:rPr>
              <a:t>Not optional polish</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13.8 — Drug Decisions Depend on Reproducible Trials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13.8 ties reproducibility standards to high-stakes decisions</a:t>
            </a:r>
          </a:p>
          <a:p>
            <a:pPr lvl="0" marL="457200" indent="-228600">
              <a:buFont typeface="Calibri"/>
              <a:spcAft>
                <a:spcPts val="1000"/>
              </a:spcAft>
              <a:buSzPct val="100000"/>
              <a:buChar char="•"/>
              <a:lnSpc>
                <a:spcPts val="2200"/>
              </a:lnSpc>
            </a:pPr>
            <a:r>
              <a:rPr sz="2000" b="0">
                <a:solidFill>
                  <a:srgbClr val="333333"/>
                </a:solidFill>
                <a:latin typeface="Calibri"/>
              </a:rPr>
              <a:t>A pharmaceutical company may base drug development on clinical trial results</a:t>
            </a:r>
          </a:p>
          <a:p>
            <a:pPr lvl="0" marL="457200" indent="-228600">
              <a:buFont typeface="Calibri"/>
              <a:spcAft>
                <a:spcPts val="1000"/>
              </a:spcAft>
              <a:buSzPct val="100000"/>
              <a:buChar char="•"/>
              <a:lnSpc>
                <a:spcPts val="2200"/>
              </a:lnSpc>
            </a:pPr>
            <a:r>
              <a:rPr sz="2000" b="0">
                <a:solidFill>
                  <a:srgbClr val="333333"/>
                </a:solidFill>
                <a:latin typeface="Calibri"/>
              </a:rPr>
              <a:t>They reinforce research integrity when findings affect policy and public health</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Foundations bridge to documentation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foundation of reproducible research still lies in proper dataset documentation and</a:t>
            </a:r>
          </a:p>
          <a:p>
            <a:pPr lvl="0" marL="457200" indent="-228600">
              <a:buFont typeface="Calibri"/>
              <a:spcAft>
                <a:spcPts val="1000"/>
              </a:spcAft>
              <a:buSzPct val="100000"/>
              <a:buChar char="•"/>
              <a:lnSpc>
                <a:spcPts val="2200"/>
              </a:lnSpc>
            </a:pPr>
            <a:r>
              <a:rPr sz="2000" b="0">
                <a:solidFill>
                  <a:srgbClr val="333333"/>
                </a:solidFill>
                <a:latin typeface="Calibri"/>
              </a:rPr>
              <a:t>Chapter 8 develops templates, metadata, data dictionaries, provenance records</a:t>
            </a:r>
          </a:p>
          <a:p>
            <a:pPr lvl="0" marL="457200" indent="-228600">
              <a:buFont typeface="Calibri"/>
              <a:spcAft>
                <a:spcPts val="1000"/>
              </a:spcAft>
              <a:buSzPct val="100000"/>
              <a:buChar char="•"/>
              <a:lnSpc>
                <a:spcPts val="2200"/>
              </a:lnSpc>
            </a:pPr>
            <a:r>
              <a:rPr sz="2000" b="0">
                <a:solidFill>
                  <a:srgbClr val="333333"/>
                </a:solidFill>
                <a:latin typeface="Calibri"/>
              </a:rPr>
              <a:t>The next parts therefore do not repeat that operational material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Inaccessible data, undocumented methods, and missing standards are recurring blockers</a:t>
            </a:r>
          </a:p>
          <a:p>
            <a:pPr lvl="0" marL="457200" indent="-228600">
              <a:buFont typeface="Calibri"/>
              <a:spcAft>
                <a:spcPts val="1000"/>
              </a:spcAft>
              <a:buSzPct val="100000"/>
              <a:buChar char="•"/>
              <a:lnSpc>
                <a:spcPts val="2200"/>
              </a:lnSpc>
            </a:pPr>
            <a:r>
              <a:rPr sz="2000" b="0">
                <a:solidFill>
                  <a:srgbClr val="333333"/>
                </a:solidFill>
                <a:latin typeface="Calibri"/>
              </a:rPr>
              <a:t>Privacy regimes such as HIPAA require safe release practices rather than unrestricted</a:t>
            </a:r>
          </a:p>
          <a:p>
            <a:pPr lvl="0" marL="457200" indent="-228600">
              <a:buFont typeface="Calibri"/>
              <a:spcAft>
                <a:spcPts val="1000"/>
              </a:spcAft>
              <a:buSzPct val="100000"/>
              <a:buChar char="•"/>
              <a:lnSpc>
                <a:spcPts val="2200"/>
              </a:lnSpc>
            </a:pPr>
            <a:r>
              <a:rPr sz="2000" b="0">
                <a:solidFill>
                  <a:srgbClr val="333333"/>
                </a:solidFill>
                <a:latin typeface="Calibri"/>
              </a:rPr>
              <a:t>Missing hyperparameters and incompatible naming prevent faithful reruns and cross-study</a:t>
            </a:r>
          </a:p>
          <a:p>
            <a:pPr lvl="0" marL="457200" indent="-228600">
              <a:buFont typeface="Calibri"/>
              <a:spcAft>
                <a:spcPts val="1000"/>
              </a:spcAft>
              <a:buSzPct val="100000"/>
              <a:buChar char="•"/>
              <a:lnSpc>
                <a:spcPts val="2200"/>
              </a:lnSpc>
            </a:pPr>
            <a:r>
              <a:rPr sz="2000" b="0">
                <a:solidFill>
                  <a:srgbClr val="333333"/>
                </a:solidFill>
                <a:latin typeface="Calibri"/>
              </a:rPr>
              <a:t>Reproducibility standards protect trust in high-stakes settings such as drug decisions</a:t>
            </a:r>
          </a:p>
          <a:p>
            <a:pPr lvl="0" marL="457200" indent="-228600">
              <a:buFont typeface="Calibri"/>
              <a:spcAft>
                <a:spcPts val="1000"/>
              </a:spcAft>
              <a:buSzPct val="100000"/>
              <a:buChar char="•"/>
              <a:lnSpc>
                <a:spcPts val="2200"/>
              </a:lnSpc>
            </a:pPr>
            <a:r>
              <a:rPr sz="2000" b="0">
                <a:solidFill>
                  <a:srgbClr val="333333"/>
                </a:solidFill>
                <a:latin typeface="Calibri"/>
              </a:rPr>
              <a:t>Documentation and versioning remain the bridge from Chapters 8 and 12 into research-facing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covers research documentation, repository metadata for discovery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Research documentation demands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Beyond the documentation components listed in Chapter 8</a:t>
            </a:r>
          </a:p>
          <a:p>
            <a:pPr lvl="0" marL="457200" indent="-228600">
              <a:buFont typeface="Calibri"/>
              <a:spcAft>
                <a:spcPts val="1000"/>
              </a:spcAft>
              <a:buSzPct val="100000"/>
              <a:buChar char="•"/>
              <a:lnSpc>
                <a:spcPts val="2200"/>
              </a:lnSpc>
            </a:pPr>
            <a:r>
              <a:rPr sz="2000" b="0">
                <a:solidFill>
                  <a:srgbClr val="333333"/>
                </a:solidFill>
                <a:latin typeface="Calibri"/>
              </a:rPr>
              <a:t>The goal is a checkable published path, not only an internal ops record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13.9 — Undocumented Methodology Blocks Replication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13.9 shows the cost of unclear methods</a:t>
            </a:r>
          </a:p>
          <a:p>
            <a:pPr lvl="0" marL="457200" indent="-228600">
              <a:buFont typeface="Calibri"/>
              <a:spcAft>
                <a:spcPts val="1000"/>
              </a:spcAft>
              <a:buSzPct val="100000"/>
              <a:buChar char="•"/>
              <a:lnSpc>
                <a:spcPts val="2200"/>
              </a:lnSpc>
            </a:pPr>
            <a:r>
              <a:rPr sz="2000" b="0">
                <a:solidFill>
                  <a:srgbClr val="333333"/>
                </a:solidFill>
                <a:latin typeface="Calibri"/>
              </a:rPr>
              <a:t>In a medical study</a:t>
            </a:r>
          </a:p>
          <a:p>
            <a:pPr lvl="0" marL="457200" indent="-228600">
              <a:buFont typeface="Calibri"/>
              <a:spcAft>
                <a:spcPts val="1000"/>
              </a:spcAft>
              <a:buSzPct val="100000"/>
              <a:buChar char="•"/>
              <a:lnSpc>
                <a:spcPts val="2200"/>
              </a:lnSpc>
            </a:pPr>
            <a:r>
              <a:rPr sz="2000" b="0">
                <a:solidFill>
                  <a:srgbClr val="333333"/>
                </a:solidFill>
                <a:latin typeface="Calibri"/>
              </a:rPr>
              <a:t>Surveys of researchers have long found that inadequate documentation of methods and data</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13.10 — Repository Metadata Enables Discovery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13.10 — hands-on module</a:t>
            </a:r>
          </a:p>
          <a:p>
            <a:pPr lvl="0" marL="457200" indent="-228600">
              <a:buFont typeface="Calibri"/>
              <a:spcAft>
                <a:spcPts val="1000"/>
              </a:spcAft>
              <a:buSzPct val="100000"/>
              <a:buChar char="•"/>
              <a:lnSpc>
                <a:spcPts val="2200"/>
              </a:lnSpc>
            </a:pPr>
            <a:r>
              <a:rPr sz="2000" b="0">
                <a:solidFill>
                  <a:srgbClr val="333333"/>
                </a:solidFill>
                <a:latin typeface="Calibri"/>
              </a:rPr>
              <a:t>Metadata types and roles are covered in Chapter 8</a:t>
            </a:r>
          </a:p>
          <a:p>
            <a:pPr lvl="0" marL="457200" indent="-228600">
              <a:buFont typeface="Calibri"/>
              <a:spcAft>
                <a:spcPts val="1000"/>
              </a:spcAft>
              <a:buSzPct val="100000"/>
              <a:buChar char="•"/>
              <a:lnSpc>
                <a:spcPts val="2200"/>
              </a:lnSpc>
            </a:pPr>
            <a:r>
              <a:rPr sz="2000" b="0">
                <a:solidFill>
                  <a:srgbClr val="333333"/>
                </a:solidFill>
                <a:latin typeface="Calibri"/>
              </a:rPr>
              <a:t>What matters for open science is publication-grade metadata</a:t>
            </a:r>
          </a:p>
          <a:p>
            <a:pPr lvl="0" marL="457200" indent="-228600">
              <a:buFont typeface="Calibri"/>
              <a:spcAft>
                <a:spcPts val="1000"/>
              </a:spcAft>
              <a:buSzPct val="100000"/>
              <a:buChar char="•"/>
              <a:lnSpc>
                <a:spcPts val="2200"/>
              </a:lnSpc>
            </a:pPr>
            <a:r>
              <a:rPr sz="2000" b="0">
                <a:solidFill>
                  <a:srgbClr val="333333"/>
                </a:solidFill>
                <a:latin typeface="Calibri"/>
              </a:rPr>
              <a:t>License, so related searches can discover it beyond the original study</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13.11 — Unpinned Dataset Versions Break Replication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13.11 — hands-on module</a:t>
            </a:r>
          </a:p>
          <a:p>
            <a:pPr lvl="0" marL="457200" indent="-228600">
              <a:buFont typeface="Calibri"/>
              <a:spcAft>
                <a:spcPts val="1000"/>
              </a:spcAft>
              <a:buSzPct val="100000"/>
              <a:buChar char="•"/>
              <a:lnSpc>
                <a:spcPts val="2200"/>
              </a:lnSpc>
            </a:pPr>
            <a:r>
              <a:rPr sz="2000" b="0">
                <a:solidFill>
                  <a:srgbClr val="333333"/>
                </a:solidFill>
                <a:latin typeface="Calibri"/>
              </a:rPr>
              <a:t>Versioning tools are developed in Chapters 8 and 12</a:t>
            </a:r>
          </a:p>
          <a:p>
            <a:pPr lvl="0" marL="457200" indent="-228600">
              <a:buFont typeface="Calibri"/>
              <a:spcAft>
                <a:spcPts val="1000"/>
              </a:spcAft>
              <a:buSzPct val="100000"/>
              <a:buChar char="•"/>
              <a:lnSpc>
                <a:spcPts val="2200"/>
              </a:lnSpc>
            </a:pPr>
            <a:r>
              <a:rPr sz="2000" b="0">
                <a:solidFill>
                  <a:srgbClr val="333333"/>
                </a:solidFill>
                <a:latin typeface="Calibri"/>
              </a:rPr>
              <a:t>The exact dataset version used in a published analysis must be identifiable and</a:t>
            </a:r>
          </a:p>
          <a:p>
            <a:pPr lvl="0" marL="457200" indent="-228600">
              <a:buFont typeface="Calibri"/>
              <a:spcAft>
                <a:spcPts val="1000"/>
              </a:spcAft>
              <a:buSzPct val="100000"/>
              <a:buChar char="•"/>
              <a:lnSpc>
                <a:spcPts val="2200"/>
              </a:lnSpc>
            </a:pPr>
            <a:r>
              <a:rPr sz="2000" b="0">
                <a:solidFill>
                  <a:srgbClr val="333333"/>
                </a:solidFill>
                <a:latin typeface="Calibri"/>
              </a:rPr>
              <a:t>Example 13.11 shows what breaks without pinned versions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Undocumented methods leave published findings checkable only in name</a:t>
            </a:r>
          </a:p>
          <a:p>
            <a:pPr lvl="0" marL="457200" indent="-228600">
              <a:buFont typeface="Calibri"/>
              <a:spcAft>
                <a:spcPts val="1000"/>
              </a:spcAft>
              <a:buSzPct val="100000"/>
              <a:buChar char="•"/>
              <a:lnSpc>
                <a:spcPts val="2200"/>
              </a:lnSpc>
            </a:pPr>
            <a:r>
              <a:rPr sz="2000" b="0">
                <a:solidFill>
                  <a:srgbClr val="333333"/>
                </a:solidFill>
                <a:latin typeface="Calibri"/>
              </a:rPr>
              <a:t>Publication-grade metadata turns repositories into discovery systems, not dump sites</a:t>
            </a:r>
          </a:p>
          <a:p>
            <a:pPr lvl="0" marL="457200" indent="-228600">
              <a:buFont typeface="Calibri"/>
              <a:spcAft>
                <a:spcPts val="1000"/>
              </a:spcAft>
              <a:buSzPct val="100000"/>
              <a:buChar char="•"/>
              <a:lnSpc>
                <a:spcPts val="2200"/>
              </a:lnSpc>
            </a:pPr>
            <a:r>
              <a:rPr sz="2000" b="0">
                <a:solidFill>
                  <a:srgbClr val="333333"/>
                </a:solidFill>
                <a:latin typeface="Calibri"/>
              </a:rPr>
              <a:t>Pinning the exact dataset version used in a paper is required for faithful replication</a:t>
            </a:r>
          </a:p>
          <a:p>
            <a:pPr lvl="0" marL="457200" indent="-228600">
              <a:buFont typeface="Calibri"/>
              <a:spcAft>
                <a:spcPts val="1000"/>
              </a:spcAft>
              <a:buSzPct val="100000"/>
              <a:buChar char="•"/>
              <a:lnSpc>
                <a:spcPts val="2200"/>
              </a:lnSpc>
            </a:pPr>
            <a:r>
              <a:rPr sz="2000" b="0">
                <a:solidFill>
                  <a:srgbClr val="333333"/>
                </a:solidFill>
                <a:latin typeface="Calibri"/>
              </a:rPr>
              <a:t>Chapter 8 and Chapter 12 supply the operational toolkit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introduces FAIR principles, Findable, Accessible, Interoperable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 learners should be able to name the four FAIR principles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FAIR means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FAIR principles, Findable, Accessible, Interoperable</a:t>
            </a:r>
          </a:p>
          <a:p>
            <a:pPr lvl="0" marL="457200" indent="-228600">
              <a:buFont typeface="Calibri"/>
              <a:spcAft>
                <a:spcPts val="1000"/>
              </a:spcAft>
              <a:buSzPct val="100000"/>
              <a:buChar char="•"/>
              <a:lnSpc>
                <a:spcPts val="2200"/>
              </a:lnSpc>
            </a:pPr>
            <a:r>
              <a:rPr sz="2000" b="0">
                <a:solidFill>
                  <a:srgbClr val="333333"/>
                </a:solidFill>
                <a:latin typeface="Calibri"/>
              </a:rPr>
              <a:t>Findable means datasets can be located through identifiers and rich metadata</a:t>
            </a:r>
          </a:p>
          <a:p>
            <a:pPr lvl="0" marL="457200" indent="-228600">
              <a:buFont typeface="Calibri"/>
              <a:spcAft>
                <a:spcPts val="1000"/>
              </a:spcAft>
              <a:buSzPct val="100000"/>
              <a:buChar char="•"/>
              <a:lnSpc>
                <a:spcPts val="2200"/>
              </a:lnSpc>
            </a:pPr>
            <a:r>
              <a:rPr sz="2000" b="0">
                <a:solidFill>
                  <a:srgbClr val="333333"/>
                </a:solidFill>
                <a:latin typeface="Calibri"/>
              </a:rPr>
              <a:t>Accessible means retrieval under clear, standardized terms, which may include restrictions</a:t>
            </a:r>
          </a:p>
          <a:p>
            <a:pPr lvl="0" marL="457200" indent="-228600">
              <a:buFont typeface="Calibri"/>
              <a:spcAft>
                <a:spcPts val="1000"/>
              </a:spcAft>
              <a:buSzPct val="100000"/>
              <a:buChar char="•"/>
              <a:lnSpc>
                <a:spcPts val="2200"/>
              </a:lnSpc>
            </a:pPr>
            <a:r>
              <a:rPr sz="2000" b="0">
                <a:solidFill>
                  <a:srgbClr val="333333"/>
                </a:solidFill>
                <a:latin typeface="Calibri"/>
              </a:rPr>
              <a:t>Interoperable means formats and vocabularies support combination with other datasets and</a:t>
            </a:r>
          </a:p>
          <a:p>
            <a:pPr lvl="0" marL="457200" indent="-228600">
              <a:buFont typeface="Calibri"/>
              <a:spcAft>
                <a:spcPts val="1000"/>
              </a:spcAft>
              <a:buSzPct val="100000"/>
              <a:buChar char="•"/>
              <a:lnSpc>
                <a:spcPts val="2200"/>
              </a:lnSpc>
            </a:pPr>
            <a:r>
              <a:rPr sz="2000" b="0">
                <a:solidFill>
                  <a:srgbClr val="333333"/>
                </a:solidFill>
                <a:latin typeface="Calibri"/>
              </a:rPr>
              <a:t>Reusable means documentation, metadata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13.12 — Indexing Genomics Data in Public Archives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13.12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13.12 illustrates Findable sharing</a:t>
            </a:r>
          </a:p>
          <a:p>
            <a:pPr lvl="0" marL="457200" indent="-228600">
              <a:buFont typeface="Calibri"/>
              <a:spcAft>
                <a:spcPts val="1000"/>
              </a:spcAft>
              <a:buSzPct val="100000"/>
              <a:buChar char="•"/>
              <a:lnSpc>
                <a:spcPts val="2200"/>
              </a:lnSpc>
            </a:pPr>
            <a:r>
              <a:rPr sz="2000" b="0">
                <a:solidFill>
                  <a:srgbClr val="333333"/>
                </a:solidFill>
                <a:latin typeface="Calibri"/>
              </a:rPr>
              <a:t>When a cancer genomics dataset is published</a:t>
            </a:r>
          </a:p>
          <a:p>
            <a:pPr lvl="0" marL="457200" indent="-228600">
              <a:buFont typeface="Calibri"/>
              <a:spcAft>
                <a:spcPts val="1000"/>
              </a:spcAft>
              <a:buSzPct val="100000"/>
              <a:buChar char="•"/>
              <a:lnSpc>
                <a:spcPts val="2200"/>
              </a:lnSpc>
            </a:pPr>
            <a:r>
              <a:rPr sz="2000" b="0">
                <a:solidFill>
                  <a:srgbClr val="333333"/>
                </a:solidFill>
                <a:latin typeface="Calibri"/>
              </a:rPr>
              <a:t>Researchers can then locate it through keywords, metadata, or other relevant fields</a:t>
            </a:r>
          </a:p>
          <a:p>
            <a:pPr lvl="0" marL="457200" indent="-228600">
              <a:buFont typeface="Calibri"/>
              <a:spcAft>
                <a:spcPts val="1000"/>
              </a:spcAft>
              <a:buSzPct val="100000"/>
              <a:buChar char="•"/>
              <a:lnSpc>
                <a:spcPts val="2200"/>
              </a:lnSpc>
            </a:pPr>
            <a:r>
              <a:rPr sz="2000" b="0">
                <a:solidFill>
                  <a:srgbClr val="333333"/>
                </a:solidFill>
                <a:latin typeface="Calibri"/>
              </a:rPr>
              <a:t>Indexing is what turns a deposited file into a discoverable research asset</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`modules/chapter13/example12/`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13.13 — Zenodo and Figshare with Access Controls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13.13 — hands-on module</a:t>
            </a:r>
          </a:p>
          <a:p>
            <a:pPr lvl="0" marL="457200" indent="-228600">
              <a:buFont typeface="Calibri"/>
              <a:spcAft>
                <a:spcPts val="1000"/>
              </a:spcAft>
              <a:buSzPct val="100000"/>
              <a:buChar char="•"/>
              <a:lnSpc>
                <a:spcPts val="2200"/>
              </a:lnSpc>
            </a:pPr>
            <a:r>
              <a:rPr sz="2000" b="0">
                <a:solidFill>
                  <a:srgbClr val="333333"/>
                </a:solidFill>
                <a:latin typeface="Calibri"/>
              </a:rPr>
              <a:t>Accessible does not mean every dataset must be free of restrictions</a:t>
            </a:r>
          </a:p>
          <a:p>
            <a:pPr lvl="0" marL="457200" indent="-228600">
              <a:buFont typeface="Calibri"/>
              <a:spcAft>
                <a:spcPts val="1000"/>
              </a:spcAft>
              <a:buSzPct val="100000"/>
              <a:buChar char="•"/>
              <a:lnSpc>
                <a:spcPts val="2200"/>
              </a:lnSpc>
            </a:pPr>
            <a:r>
              <a:rPr sz="2000" b="0">
                <a:solidFill>
                  <a:srgbClr val="333333"/>
                </a:solidFill>
                <a:latin typeface="Calibri"/>
              </a:rPr>
              <a:t>Data must be available under clear terms</a:t>
            </a:r>
          </a:p>
          <a:p>
            <a:pPr lvl="0" marL="457200" indent="-228600">
              <a:buFont typeface="Calibri"/>
              <a:spcAft>
                <a:spcPts val="1000"/>
              </a:spcAft>
              <a:buSzPct val="100000"/>
              <a:buChar char="•"/>
              <a:lnSpc>
                <a:spcPts val="2200"/>
              </a:lnSpc>
            </a:pPr>
            <a:r>
              <a:rPr sz="2000" b="0">
                <a:solidFill>
                  <a:srgbClr val="333333"/>
                </a:solidFill>
                <a:latin typeface="Calibri"/>
              </a:rPr>
              <a:t>Example 13.13 shows datasets hosted on Zenodo or Figshare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`modules/chapter13/example13/`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13.14 — FASTQ VCF and Controlled Vocabularies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13.14 — hands-on module</a:t>
            </a:r>
          </a:p>
          <a:p>
            <a:pPr lvl="0" marL="457200" indent="-228600">
              <a:buFont typeface="Calibri"/>
              <a:spcAft>
                <a:spcPts val="1000"/>
              </a:spcAft>
              <a:buSzPct val="100000"/>
              <a:buChar char="•"/>
              <a:lnSpc>
                <a:spcPts val="2200"/>
              </a:lnSpc>
            </a:pPr>
            <a:r>
              <a:rPr sz="2000" b="0">
                <a:solidFill>
                  <a:srgbClr val="333333"/>
                </a:solidFill>
                <a:latin typeface="Calibri"/>
              </a:rPr>
              <a:t>Interoperable data is structured for integration with other datasets and analytical tools</a:t>
            </a:r>
          </a:p>
          <a:p>
            <a:pPr lvl="0" marL="457200" indent="-228600">
              <a:buFont typeface="Calibri"/>
              <a:spcAft>
                <a:spcPts val="1000"/>
              </a:spcAft>
              <a:buSzPct val="100000"/>
              <a:buChar char="•"/>
              <a:lnSpc>
                <a:spcPts val="2200"/>
              </a:lnSpc>
            </a:pPr>
            <a:r>
              <a:rPr sz="2000" b="0">
                <a:solidFill>
                  <a:srgbClr val="333333"/>
                </a:solidFill>
                <a:latin typeface="Calibri"/>
              </a:rPr>
              <a:t>Example 13.14 shows genomic data formatted in standard file types such as FASTQ or VCF so</a:t>
            </a:r>
          </a:p>
          <a:p>
            <a:pPr lvl="0" marL="457200" indent="-228600">
              <a:buFont typeface="Calibri"/>
              <a:spcAft>
                <a:spcPts val="1000"/>
              </a:spcAft>
              <a:buSzPct val="100000"/>
              <a:buChar char="•"/>
              <a:lnSpc>
                <a:spcPts val="2200"/>
              </a:lnSpc>
            </a:pPr>
            <a:r>
              <a:rPr sz="2000" b="0">
                <a:solidFill>
                  <a:srgbClr val="333333"/>
                </a:solidFill>
                <a:latin typeface="Calibri"/>
              </a:rPr>
              <a:t>Controlled vocabularies such as Gene Ontology or the Unified Medical Language System</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13.15 — Community File Formats for Reuse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13.15 — hands-on module</a:t>
            </a:r>
          </a:p>
          <a:p>
            <a:pPr lvl="0" marL="457200" indent="-228600">
              <a:buFont typeface="Calibri"/>
              <a:spcAft>
                <a:spcPts val="1000"/>
              </a:spcAft>
              <a:buSzPct val="100000"/>
              <a:buChar char="•"/>
              <a:lnSpc>
                <a:spcPts val="2200"/>
              </a:lnSpc>
            </a:pPr>
            <a:r>
              <a:rPr sz="2000" b="0">
                <a:solidFill>
                  <a:srgbClr val="333333"/>
                </a:solidFill>
                <a:latin typeface="Calibri"/>
              </a:rPr>
              <a:t>Reusable data is accompanied by documentation, metadata</a:t>
            </a:r>
          </a:p>
          <a:p>
            <a:pPr lvl="0" marL="457200" indent="-228600">
              <a:buFont typeface="Calibri"/>
              <a:spcAft>
                <a:spcPts val="1000"/>
              </a:spcAft>
              <a:buSzPct val="100000"/>
              <a:buChar char="•"/>
              <a:lnSpc>
                <a:spcPts val="2200"/>
              </a:lnSpc>
            </a:pPr>
            <a:r>
              <a:rPr sz="2000" b="0">
                <a:solidFill>
                  <a:srgbClr val="333333"/>
                </a:solidFill>
                <a:latin typeface="Calibri"/>
              </a:rPr>
              <a:t>Example 13.15 prefers community formats such as CSV or JSON for tabular data</a:t>
            </a:r>
          </a:p>
          <a:p>
            <a:pPr lvl="0" marL="457200" indent="-228600">
              <a:buFont typeface="Calibri"/>
              <a:spcAft>
                <a:spcPts val="1000"/>
              </a:spcAft>
              <a:buSzPct val="100000"/>
              <a:buChar char="•"/>
              <a:lnSpc>
                <a:spcPts val="2200"/>
              </a:lnSpc>
            </a:pPr>
            <a:r>
              <a:rPr sz="2000" b="0">
                <a:solidFill>
                  <a:srgbClr val="333333"/>
                </a:solidFill>
                <a:latin typeface="Calibri"/>
              </a:rPr>
              <a:t>Choosing formats the community already understands is a practical Reusable choice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`modules/chapter13/example15/`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FAIR means Findable, Accessible, Interoperable, and Reusable for people and machines</a:t>
            </a:r>
          </a:p>
          <a:p>
            <a:pPr lvl="0" marL="457200" indent="-228600">
              <a:buFont typeface="Calibri"/>
              <a:spcAft>
                <a:spcPts val="1000"/>
              </a:spcAft>
              <a:buSzPct val="100000"/>
              <a:buChar char="•"/>
              <a:lnSpc>
                <a:spcPts val="2200"/>
              </a:lnSpc>
            </a:pPr>
            <a:r>
              <a:rPr sz="2000" b="0">
                <a:solidFill>
                  <a:srgbClr val="333333"/>
                </a:solidFill>
                <a:latin typeface="Calibri"/>
              </a:rPr>
              <a:t>Public-archive indexing makes genomics and other deposits discoverable</a:t>
            </a:r>
          </a:p>
          <a:p>
            <a:pPr lvl="0" marL="457200" indent="-228600">
              <a:buFont typeface="Calibri"/>
              <a:spcAft>
                <a:spcPts val="1000"/>
              </a:spcAft>
              <a:buSzPct val="100000"/>
              <a:buChar char="•"/>
              <a:lnSpc>
                <a:spcPts val="2200"/>
              </a:lnSpc>
            </a:pPr>
            <a:r>
              <a:rPr sz="2000" b="0">
                <a:solidFill>
                  <a:srgbClr val="333333"/>
                </a:solidFill>
                <a:latin typeface="Calibri"/>
              </a:rPr>
              <a:t>Accessibility allows clear terms and access controls, not only unrestricted dumps</a:t>
            </a:r>
          </a:p>
          <a:p>
            <a:pPr lvl="0" marL="457200" indent="-228600">
              <a:buFont typeface="Calibri"/>
              <a:spcAft>
                <a:spcPts val="1000"/>
              </a:spcAft>
              <a:buSzPct val="100000"/>
              <a:buChar char="•"/>
              <a:lnSpc>
                <a:spcPts val="2200"/>
              </a:lnSpc>
            </a:pPr>
            <a:r>
              <a:rPr sz="2000" b="0">
                <a:solidFill>
                  <a:srgbClr val="333333"/>
                </a:solidFill>
                <a:latin typeface="Calibri"/>
              </a:rPr>
              <a:t>Standard formats and controlled vocabularies support interoperability</a:t>
            </a:r>
          </a:p>
          <a:p>
            <a:pPr lvl="0" marL="457200" indent="-228600">
              <a:buFont typeface="Calibri"/>
              <a:spcAft>
                <a:spcPts val="1000"/>
              </a:spcAft>
              <a:buSzPct val="100000"/>
              <a:buChar char="•"/>
              <a:lnSpc>
                <a:spcPts val="2200"/>
              </a:lnSpc>
            </a:pPr>
            <a:r>
              <a:rPr sz="2000" b="0">
                <a:solidFill>
                  <a:srgbClr val="333333"/>
                </a:solidFill>
                <a:latin typeface="Calibri"/>
              </a:rPr>
              <a:t>Community file formats and licensing documentation enable reuse beyond the original study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covers data-quality standards for reproducibility and research-facing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Context; and describe how tracking updates preserves integrity across dataset versions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Quality standards for reproducibility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Data quality dimensions and cleaning procedures are treated in earlier chapters</a:t>
            </a:r>
          </a:p>
          <a:p>
            <a:pPr lvl="0" marL="457200" indent="-228600">
              <a:buFont typeface="Calibri"/>
              <a:spcAft>
                <a:spcPts val="1000"/>
              </a:spcAft>
              <a:buSzPct val="100000"/>
              <a:buChar char="•"/>
              <a:lnSpc>
                <a:spcPts val="2200"/>
              </a:lnSpc>
            </a:pPr>
            <a:r>
              <a:rPr sz="2000" b="0">
                <a:solidFill>
                  <a:srgbClr val="333333"/>
                </a:solidFill>
                <a:latin typeface="Calibri"/>
              </a:rPr>
              <a:t>For reproducibility</a:t>
            </a:r>
          </a:p>
          <a:p>
            <a:pPr lvl="0" marL="457200" indent="-228600">
              <a:buFont typeface="Calibri"/>
              <a:spcAft>
                <a:spcPts val="1000"/>
              </a:spcAft>
              <a:buSzPct val="100000"/>
              <a:buChar char="•"/>
              <a:lnSpc>
                <a:spcPts val="2200"/>
              </a:lnSpc>
            </a:pPr>
            <a:r>
              <a:rPr sz="2000" b="0">
                <a:solidFill>
                  <a:srgbClr val="333333"/>
                </a:solidFill>
                <a:latin typeface="Calibri"/>
              </a:rPr>
              <a:t>Completeness, consistency, and accuracy support that goal</a:t>
            </a:r>
          </a:p>
          <a:p>
            <a:pPr lvl="0" marL="457200" indent="-228600">
              <a:buFont typeface="Calibri"/>
              <a:spcAft>
                <a:spcPts val="1000"/>
              </a:spcAft>
              <a:buSzPct val="100000"/>
              <a:buChar char="•"/>
              <a:lnSpc>
                <a:spcPts val="2200"/>
              </a:lnSpc>
            </a:pPr>
            <a:r>
              <a:rPr sz="2000" b="0">
                <a:solidFill>
                  <a:srgbClr val="333333"/>
                </a:solidFill>
                <a:latin typeface="Calibri"/>
              </a:rPr>
              <a:t>Not silent omission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13.18 — Documenting Clinical Trial Dropouts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13.18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13.18 shows completeness documentation for missing participants</a:t>
            </a:r>
          </a:p>
          <a:p>
            <a:pPr lvl="0" marL="457200" indent="-228600">
              <a:buFont typeface="Calibri"/>
              <a:spcAft>
                <a:spcPts val="1000"/>
              </a:spcAft>
              <a:buSzPct val="100000"/>
              <a:buChar char="•"/>
              <a:lnSpc>
                <a:spcPts val="2200"/>
              </a:lnSpc>
            </a:pPr>
            <a:r>
              <a:rPr sz="2000" b="0">
                <a:solidFill>
                  <a:srgbClr val="333333"/>
                </a:solidFill>
                <a:latin typeface="Calibri"/>
              </a:rPr>
              <a:t>In clinical trials</a:t>
            </a:r>
          </a:p>
          <a:p>
            <a:pPr lvl="0" marL="457200" indent="-228600">
              <a:buFont typeface="Calibri"/>
              <a:spcAft>
                <a:spcPts val="1000"/>
              </a:spcAft>
              <a:buSzPct val="100000"/>
              <a:buChar char="•"/>
              <a:lnSpc>
                <a:spcPts val="2200"/>
              </a:lnSpc>
            </a:pPr>
            <a:r>
              <a:rPr sz="2000" b="0">
                <a:solidFill>
                  <a:srgbClr val="333333"/>
                </a:solidFill>
                <a:latin typeface="Calibri"/>
              </a:rPr>
              <a:t>Future users need those facts to interpret results and to repeat the analysis under</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`modules/chapter13/example18/`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Provenance as research evidence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Data provenance is the documentation and tracking of origin and transformations throughout</a:t>
            </a:r>
          </a:p>
          <a:p>
            <a:pPr lvl="0" marL="457200" indent="-228600">
              <a:buFont typeface="Calibri"/>
              <a:spcAft>
                <a:spcPts val="1000"/>
              </a:spcAft>
              <a:buSzPct val="100000"/>
              <a:buChar char="•"/>
              <a:lnSpc>
                <a:spcPts val="2200"/>
              </a:lnSpc>
            </a:pPr>
            <a:r>
              <a:rPr sz="2000" b="0">
                <a:solidFill>
                  <a:srgbClr val="333333"/>
                </a:solidFill>
                <a:latin typeface="Calibri"/>
              </a:rPr>
              <a:t>It records where data came from, how they were collected, what processes were applied</a:t>
            </a:r>
          </a:p>
          <a:p>
            <a:pPr lvl="0" marL="457200" indent="-228600">
              <a:buFont typeface="Calibri"/>
              <a:spcAft>
                <a:spcPts val="1000"/>
              </a:spcAft>
              <a:buSzPct val="100000"/>
              <a:buChar char="•"/>
              <a:lnSpc>
                <a:spcPts val="2200"/>
              </a:lnSpc>
            </a:pPr>
            <a:r>
              <a:rPr sz="2000" b="0">
                <a:solidFill>
                  <a:srgbClr val="333333"/>
                </a:solidFill>
                <a:latin typeface="Calibri"/>
              </a:rPr>
              <a:t>Provenance provides transparency and accountability so researchers can verify credibility</a:t>
            </a:r>
          </a:p>
          <a:p>
            <a:pPr lvl="0" marL="457200" indent="-228600">
              <a:buFont typeface="Calibri"/>
              <a:spcAft>
                <a:spcPts val="1000"/>
              </a:spcAft>
              <a:buSzPct val="100000"/>
              <a:buChar char="•"/>
              <a:lnSpc>
                <a:spcPts val="2200"/>
              </a:lnSpc>
            </a:pPr>
            <a:r>
              <a:rPr sz="2000" b="0">
                <a:solidFill>
                  <a:srgbClr val="333333"/>
                </a:solidFill>
                <a:latin typeface="Calibri"/>
              </a:rPr>
              <a:t>The emphasis here is evidence for reproducible research and open science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13.24 — Genomics Provenance for Sequencing Pipelines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13.24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13.24 shows the provenance fields a genomics study should record</a:t>
            </a:r>
          </a:p>
          <a:p>
            <a:pPr lvl="0" marL="457200" indent="-228600">
              <a:buFont typeface="Calibri"/>
              <a:spcAft>
                <a:spcPts val="1000"/>
              </a:spcAft>
              <a:buSzPct val="100000"/>
              <a:buChar char="•"/>
              <a:lnSpc>
                <a:spcPts val="2200"/>
              </a:lnSpc>
            </a:pPr>
            <a:r>
              <a:rPr sz="2000" b="0">
                <a:solidFill>
                  <a:srgbClr val="333333"/>
                </a:solidFill>
                <a:latin typeface="Calibri"/>
              </a:rPr>
              <a:t>Provenance should capture the sequencing technology, preprocessing steps</a:t>
            </a:r>
          </a:p>
          <a:p>
            <a:pPr lvl="0" marL="457200" indent="-228600">
              <a:buFont typeface="Calibri"/>
              <a:spcAft>
                <a:spcPts val="1000"/>
              </a:spcAft>
              <a:buSzPct val="100000"/>
              <a:buChar char="•"/>
              <a:lnSpc>
                <a:spcPts val="2200"/>
              </a:lnSpc>
            </a:pPr>
            <a:r>
              <a:rPr sz="2000" b="0">
                <a:solidFill>
                  <a:srgbClr val="333333"/>
                </a:solidFill>
                <a:latin typeface="Calibri"/>
              </a:rPr>
              <a:t>Without such documentation</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`modules/chapter13/example24/`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13.25 — Tracking Dataset Updates Over Time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13.25 — hands-on module</a:t>
            </a:r>
          </a:p>
          <a:p>
            <a:pPr lvl="0" marL="457200" indent="-228600">
              <a:buFont typeface="Calibri"/>
              <a:spcAft>
                <a:spcPts val="1000"/>
              </a:spcAft>
              <a:buSzPct val="100000"/>
              <a:buChar char="•"/>
              <a:lnSpc>
                <a:spcPts val="2200"/>
              </a:lnSpc>
            </a:pPr>
            <a:r>
              <a:rPr sz="2000" b="0">
                <a:solidFill>
                  <a:srgbClr val="333333"/>
                </a:solidFill>
                <a:latin typeface="Calibri"/>
              </a:rPr>
              <a:t>Provenance also improves traceability when datasets change</a:t>
            </a:r>
          </a:p>
          <a:p>
            <a:pPr lvl="0" marL="457200" indent="-228600">
              <a:buFont typeface="Calibri"/>
              <a:spcAft>
                <a:spcPts val="1000"/>
              </a:spcAft>
              <a:buSzPct val="100000"/>
              <a:buChar char="•"/>
              <a:lnSpc>
                <a:spcPts val="2200"/>
              </a:lnSpc>
            </a:pPr>
            <a:r>
              <a:rPr sz="2000" b="0">
                <a:solidFill>
                  <a:srgbClr val="333333"/>
                </a:solidFill>
                <a:latin typeface="Calibri"/>
              </a:rPr>
              <a:t>Example 13.25 shows that if a dataset undergoes modifications or updates</a:t>
            </a:r>
          </a:p>
          <a:p>
            <a:pPr lvl="0" marL="457200" indent="-228600">
              <a:buFont typeface="Calibri"/>
              <a:spcAft>
                <a:spcPts val="1000"/>
              </a:spcAft>
              <a:buSzPct val="100000"/>
              <a:buChar char="•"/>
              <a:lnSpc>
                <a:spcPts val="2200"/>
              </a:lnSpc>
            </a:pPr>
            <a:r>
              <a:rPr sz="2000" b="0">
                <a:solidFill>
                  <a:srgbClr val="333333"/>
                </a:solidFill>
                <a:latin typeface="Calibri"/>
              </a:rPr>
              <a:t>In regulated fields such as healthcare or finance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`modules/chapter13/example25/`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Quality decisions must be documented if published analyses are to be repeated faithfully</a:t>
            </a:r>
          </a:p>
          <a:p>
            <a:pPr lvl="0" marL="457200" indent="-228600">
              <a:buFont typeface="Calibri"/>
              <a:spcAft>
                <a:spcPts val="1000"/>
              </a:spcAft>
              <a:buSzPct val="100000"/>
              <a:buChar char="•"/>
              <a:lnSpc>
                <a:spcPts val="2200"/>
              </a:lnSpc>
            </a:pPr>
            <a:r>
              <a:rPr sz="2000" b="0">
                <a:solidFill>
                  <a:srgbClr val="333333"/>
                </a:solidFill>
                <a:latin typeface="Calibri"/>
              </a:rPr>
              <a:t>Completeness includes recording dropouts and other missingness with analytical impact</a:t>
            </a:r>
          </a:p>
          <a:p>
            <a:pPr lvl="0" marL="457200" indent="-228600">
              <a:buFont typeface="Calibri"/>
              <a:spcAft>
                <a:spcPts val="1000"/>
              </a:spcAft>
              <a:buSzPct val="100000"/>
              <a:buChar char="•"/>
              <a:lnSpc>
                <a:spcPts val="2200"/>
              </a:lnSpc>
            </a:pPr>
            <a:r>
              <a:rPr sz="2000" b="0">
                <a:solidFill>
                  <a:srgbClr val="333333"/>
                </a:solidFill>
                <a:latin typeface="Calibri"/>
              </a:rPr>
              <a:t>Provenance records origin, transforms, context</a:t>
            </a:r>
          </a:p>
          <a:p>
            <a:pPr lvl="0" marL="457200" indent="-228600">
              <a:buFont typeface="Calibri"/>
              <a:spcAft>
                <a:spcPts val="1000"/>
              </a:spcAft>
              <a:buSzPct val="100000"/>
              <a:buChar char="•"/>
              <a:lnSpc>
                <a:spcPts val="2200"/>
              </a:lnSpc>
            </a:pPr>
            <a:r>
              <a:rPr sz="2000" b="0">
                <a:solidFill>
                  <a:srgbClr val="333333"/>
                </a:solidFill>
                <a:latin typeface="Calibri"/>
              </a:rPr>
              <a:t>Tracking updates links versions so integrity and audits remain possible</a:t>
            </a:r>
          </a:p>
          <a:p>
            <a:pPr lvl="0" marL="457200" indent="-228600">
              <a:buFont typeface="Calibri"/>
              <a:spcAft>
                <a:spcPts val="1000"/>
              </a:spcAft>
              <a:buSzPct val="100000"/>
              <a:buChar char="•"/>
              <a:lnSpc>
                <a:spcPts val="2200"/>
              </a:lnSpc>
            </a:pPr>
            <a:r>
              <a:rPr sz="2000" b="0">
                <a:solidFill>
                  <a:srgbClr val="333333"/>
                </a:solidFill>
                <a:latin typeface="Calibri"/>
              </a:rPr>
              <a:t>Distinguish Chapter 12 platform lineage from this chapter’s research-facing provenance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covers open-data licensing, balancing openness with privacy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Open license menu</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Creative Commons covers CC0, CC BY, CC BY-SA, CC BY-NC, and CC BY-NC-SA</a:t>
            </a:r>
          </a:p>
          <a:p>
            <a:pPr lvl="0" marL="457200" indent="-228600">
              <a:buFont typeface="Calibri"/>
              <a:spcAft>
                <a:spcPts val="1000"/>
              </a:spcAft>
              <a:buSzPct val="100000"/>
              <a:buChar char="•"/>
              <a:lnSpc>
                <a:spcPts val="2200"/>
              </a:lnSpc>
            </a:pPr>
            <a:r>
              <a:rPr sz="2000" b="0">
                <a:solidFill>
                  <a:srgbClr val="333333"/>
                </a:solidFill>
                <a:latin typeface="Calibri"/>
              </a:rPr>
              <a:t>Open Data Commons adds database-oriented paths: ODC-By, ODbL, and PDDL</a:t>
            </a:r>
          </a:p>
          <a:p>
            <a:pPr lvl="0" marL="457200" indent="-228600">
              <a:buFont typeface="Calibri"/>
              <a:spcAft>
                <a:spcPts val="1000"/>
              </a:spcAft>
              <a:buSzPct val="100000"/>
              <a:buChar char="•"/>
              <a:lnSpc>
                <a:spcPts val="2200"/>
              </a:lnSpc>
            </a:pPr>
            <a:r>
              <a:rPr sz="2000" b="0">
                <a:solidFill>
                  <a:srgbClr val="333333"/>
                </a:solidFill>
                <a:latin typeface="Calibri"/>
              </a:rPr>
              <a:t>Companion code beside a dataset usually needs a software license such as MIT</a:t>
            </a:r>
          </a:p>
          <a:p>
            <a:pPr lvl="0" marL="457200" indent="-228600">
              <a:buFont typeface="Calibri"/>
              <a:spcAft>
                <a:spcPts val="1000"/>
              </a:spcAft>
              <a:buSzPct val="100000"/>
              <a:buChar char="•"/>
              <a:lnSpc>
                <a:spcPts val="2200"/>
              </a:lnSpc>
            </a:pPr>
            <a:r>
              <a:rPr sz="2000" b="0">
                <a:solidFill>
                  <a:srgbClr val="333333"/>
                </a:solidFill>
                <a:latin typeface="Calibri"/>
              </a:rPr>
              <a:t>License choice follows the intended reuse, not the row layout of a CSV</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from the use case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Ask whether the release is sensitive or community-controlled</a:t>
            </a:r>
          </a:p>
          <a:p>
            <a:pPr lvl="0" marL="457200" indent="-228600">
              <a:buFont typeface="Calibri"/>
              <a:spcAft>
                <a:spcPts val="1000"/>
              </a:spcAft>
              <a:buSzPct val="100000"/>
              <a:buChar char="•"/>
              <a:lnSpc>
                <a:spcPts val="2200"/>
              </a:lnSpc>
            </a:pPr>
            <a:r>
              <a:rPr sz="2000" b="0">
                <a:solidFill>
                  <a:srgbClr val="333333"/>
                </a:solidFill>
                <a:latin typeface="Calibri"/>
              </a:rPr>
              <a:t>Public-domain paths suit government tables</a:t>
            </a:r>
          </a:p>
          <a:p>
            <a:pPr lvl="0" marL="457200" indent="-228600">
              <a:buFont typeface="Calibri"/>
              <a:spcAft>
                <a:spcPts val="1000"/>
              </a:spcAft>
              <a:buSzPct val="100000"/>
              <a:buChar char="•"/>
              <a:lnSpc>
                <a:spcPts val="2200"/>
              </a:lnSpc>
            </a:pPr>
            <a:r>
              <a:rPr sz="2000" b="0">
                <a:solidFill>
                  <a:srgbClr val="333333"/>
                </a:solidFill>
                <a:latin typeface="Calibri"/>
              </a:rPr>
              <a:t>Practice these paths in the course license chooser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Licenses and the privacy trade-off</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Responsible open science depends on clear licenses and ethical constraints</a:t>
            </a:r>
          </a:p>
          <a:p>
            <a:pPr lvl="0" marL="457200" indent="-228600">
              <a:buFont typeface="Calibri"/>
              <a:spcAft>
                <a:spcPts val="1000"/>
              </a:spcAft>
              <a:buSzPct val="100000"/>
              <a:buChar char="•"/>
              <a:lnSpc>
                <a:spcPts val="2200"/>
              </a:lnSpc>
            </a:pPr>
            <a:r>
              <a:rPr sz="2000" b="0">
                <a:solidFill>
                  <a:srgbClr val="333333"/>
                </a:solidFill>
                <a:latin typeface="Calibri"/>
              </a:rPr>
              <a:t>Some teams draft custom or restricted licenses that limit redistribution</a:t>
            </a:r>
          </a:p>
          <a:p>
            <a:pPr lvl="0" marL="457200" indent="-228600">
              <a:buFont typeface="Calibri"/>
              <a:spcAft>
                <a:spcPts val="1000"/>
              </a:spcAft>
              <a:buSzPct val="100000"/>
              <a:buChar char="•"/>
              <a:lnSpc>
                <a:spcPts val="2200"/>
              </a:lnSpc>
            </a:pPr>
            <a:r>
              <a:rPr sz="2000" b="0">
                <a:solidFill>
                  <a:srgbClr val="333333"/>
                </a:solidFill>
                <a:latin typeface="Calibri"/>
              </a:rPr>
              <a:t>Privacy principles and techniques are developed in Chapter 3</a:t>
            </a:r>
          </a:p>
          <a:p>
            <a:pPr lvl="0" marL="457200" indent="-228600">
              <a:buFont typeface="Calibri"/>
              <a:spcAft>
                <a:spcPts val="1000"/>
              </a:spcAft>
              <a:buSzPct val="100000"/>
              <a:buChar char="•"/>
              <a:lnSpc>
                <a:spcPts val="2200"/>
              </a:lnSpc>
            </a:pPr>
            <a:r>
              <a:rPr sz="2000" b="0">
                <a:solidFill>
                  <a:srgbClr val="333333"/>
                </a:solidFill>
                <a:latin typeface="Calibri"/>
              </a:rPr>
              <a:t>An unrestricted open license signals broad reuse and is appropriate only after privacy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13.26 — Restricted Licenses for Health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13.26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13.26 illustrates restricted licensing for sensitive health data</a:t>
            </a:r>
          </a:p>
          <a:p>
            <a:pPr lvl="0" marL="457200" indent="-228600">
              <a:buFont typeface="Calibri"/>
              <a:spcAft>
                <a:spcPts val="1000"/>
              </a:spcAft>
              <a:buSzPct val="100000"/>
              <a:buChar char="•"/>
              <a:lnSpc>
                <a:spcPts val="2200"/>
              </a:lnSpc>
            </a:pPr>
            <a:r>
              <a:rPr sz="2000" b="0">
                <a:solidFill>
                  <a:srgbClr val="333333"/>
                </a:solidFill>
                <a:latin typeface="Calibri"/>
              </a:rPr>
              <a:t>Use may be limited to qualified researchers or specific contexts such as academic or</a:t>
            </a:r>
          </a:p>
          <a:p>
            <a:pPr lvl="0" marL="457200" indent="-228600">
              <a:buFont typeface="Calibri"/>
              <a:spcAft>
                <a:spcPts val="1000"/>
              </a:spcAft>
              <a:buSzPct val="100000"/>
              <a:buChar char="•"/>
              <a:lnSpc>
                <a:spcPts val="2200"/>
              </a:lnSpc>
            </a:pPr>
            <a:r>
              <a:rPr sz="2000" b="0">
                <a:solidFill>
                  <a:srgbClr val="333333"/>
                </a:solidFill>
                <a:latin typeface="Calibri"/>
              </a:rPr>
              <a:t>Even de-identified data may remain re-identifiable when combined with other releases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`modules/chapter13/example26/`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Ethical obligations after sharing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Ethical principles for collection and privacy are covered in Chapter 3</a:t>
            </a:r>
          </a:p>
          <a:p>
            <a:pPr lvl="0" marL="457200" indent="-228600">
              <a:buFont typeface="Calibri"/>
              <a:spcAft>
                <a:spcPts val="1000"/>
              </a:spcAft>
              <a:buSzPct val="100000"/>
              <a:buChar char="•"/>
              <a:lnSpc>
                <a:spcPts val="2200"/>
              </a:lnSpc>
            </a:pPr>
            <a:r>
              <a:rPr sz="2000" b="0">
                <a:solidFill>
                  <a:srgbClr val="333333"/>
                </a:solidFill>
                <a:latin typeface="Calibri"/>
              </a:rPr>
              <a:t>Open science adds obligations that arise from making data public</a:t>
            </a:r>
          </a:p>
          <a:p>
            <a:pPr lvl="0" marL="457200" indent="-228600">
              <a:buFont typeface="Calibri"/>
              <a:spcAft>
                <a:spcPts val="1000"/>
              </a:spcAft>
              <a:buSzPct val="100000"/>
              <a:buChar char="•"/>
              <a:lnSpc>
                <a:spcPts val="2200"/>
              </a:lnSpc>
            </a:pPr>
            <a:r>
              <a:rPr sz="2000" b="0">
                <a:solidFill>
                  <a:srgbClr val="333333"/>
                </a:solidFill>
                <a:latin typeface="Calibri"/>
              </a:rPr>
              <a:t>Researchers should document scope and limitations</a:t>
            </a:r>
          </a:p>
          <a:p>
            <a:pPr lvl="0" marL="457200" indent="-228600">
              <a:buFont typeface="Calibri"/>
              <a:spcAft>
                <a:spcPts val="1000"/>
              </a:spcAft>
              <a:buSzPct val="100000"/>
              <a:buChar char="•"/>
              <a:lnSpc>
                <a:spcPts val="2200"/>
              </a:lnSpc>
            </a:pPr>
            <a:r>
              <a:rPr sz="2000" b="0">
                <a:solidFill>
                  <a:srgbClr val="333333"/>
                </a:solidFill>
                <a:latin typeface="Calibri"/>
              </a:rPr>
              <a:t>Consent obtained during collection must also cover the intended public release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13.27 — Avoid Reinforcing Bias with Open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13.27 — hands-on module</a:t>
            </a:r>
          </a:p>
          <a:p>
            <a:pPr lvl="0" marL="457200" indent="-228600">
              <a:buFont typeface="Calibri"/>
              <a:spcAft>
                <a:spcPts val="1000"/>
              </a:spcAft>
              <a:buSzPct val="100000"/>
              <a:buChar char="•"/>
              <a:lnSpc>
                <a:spcPts val="2200"/>
              </a:lnSpc>
            </a:pPr>
            <a:r>
              <a:rPr sz="2000" b="0">
                <a:solidFill>
                  <a:srgbClr val="333333"/>
                </a:solidFill>
                <a:latin typeface="Calibri"/>
              </a:rPr>
              <a:t>Ethical concerns do not end when data are shared; they extend to reuse</a:t>
            </a:r>
          </a:p>
          <a:p>
            <a:pPr lvl="0" marL="457200" indent="-228600">
              <a:buFont typeface="Calibri"/>
              <a:spcAft>
                <a:spcPts val="1000"/>
              </a:spcAft>
              <a:buSzPct val="100000"/>
              <a:buChar char="•"/>
              <a:lnSpc>
                <a:spcPts val="2200"/>
              </a:lnSpc>
            </a:pPr>
            <a:r>
              <a:rPr sz="2000" b="0">
                <a:solidFill>
                  <a:srgbClr val="333333"/>
                </a:solidFill>
                <a:latin typeface="Calibri"/>
              </a:rPr>
              <a:t>Example 13.27 warns against discriminatory reuse of hiring or healthcare datasets</a:t>
            </a:r>
          </a:p>
          <a:p>
            <a:pPr lvl="0" marL="457200" indent="-228600">
              <a:buFont typeface="Calibri"/>
              <a:spcAft>
                <a:spcPts val="1000"/>
              </a:spcAft>
              <a:buSzPct val="100000"/>
              <a:buChar char="•"/>
              <a:lnSpc>
                <a:spcPts val="2200"/>
              </a:lnSpc>
            </a:pPr>
            <a:r>
              <a:rPr sz="2000" b="0">
                <a:solidFill>
                  <a:srgbClr val="333333"/>
                </a:solidFill>
                <a:latin typeface="Calibri"/>
              </a:rPr>
              <a:t>Such data should not be used to reinforce biases or perpetuate systemic inequalities</a:t>
            </a:r>
          </a:p>
          <a:p>
            <a:pPr lvl="0" marL="457200" indent="-228600">
              <a:buFont typeface="Calibri"/>
              <a:spcAft>
                <a:spcPts val="1000"/>
              </a:spcAft>
              <a:buSzPct val="100000"/>
              <a:buChar char="•"/>
              <a:lnSpc>
                <a:spcPts val="2200"/>
              </a:lnSpc>
            </a:pPr>
            <a:r>
              <a:rPr sz="2000" b="0">
                <a:solidFill>
                  <a:srgbClr val="333333"/>
                </a:solidFill>
                <a:latin typeface="Calibri"/>
              </a:rPr>
              <a:t>If data reveal disparities</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`modules/chapter13/example27/`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13.28 — Indigenous Control Over Shared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13.28 — hands-on module</a:t>
            </a:r>
          </a:p>
          <a:p>
            <a:pPr lvl="0" marL="457200" indent="-228600">
              <a:buFont typeface="Calibri"/>
              <a:spcAft>
                <a:spcPts val="1000"/>
              </a:spcAft>
              <a:buSzPct val="100000"/>
              <a:buChar char="•"/>
              <a:lnSpc>
                <a:spcPts val="2200"/>
              </a:lnSpc>
            </a:pPr>
            <a:r>
              <a:rPr sz="2000" b="0">
                <a:solidFill>
                  <a:srgbClr val="333333"/>
                </a:solidFill>
                <a:latin typeface="Calibri"/>
              </a:rPr>
              <a:t>Open science must respect the rights and wishes of people and communities whose data are</a:t>
            </a:r>
          </a:p>
          <a:p>
            <a:pPr lvl="0" marL="457200" indent="-228600">
              <a:buFont typeface="Calibri"/>
              <a:spcAft>
                <a:spcPts val="1000"/>
              </a:spcAft>
              <a:buSzPct val="100000"/>
              <a:buChar char="•"/>
              <a:lnSpc>
                <a:spcPts val="2200"/>
              </a:lnSpc>
            </a:pPr>
            <a:r>
              <a:rPr sz="2000" b="0">
                <a:solidFill>
                  <a:srgbClr val="333333"/>
                </a:solidFill>
                <a:latin typeface="Calibri"/>
              </a:rPr>
              <a:t>Communities involved in collection</a:t>
            </a:r>
          </a:p>
          <a:p>
            <a:pPr lvl="0" marL="457200" indent="-228600">
              <a:buFont typeface="Calibri"/>
              <a:spcAft>
                <a:spcPts val="1000"/>
              </a:spcAft>
              <a:buSzPct val="100000"/>
              <a:buChar char="•"/>
              <a:lnSpc>
                <a:spcPts val="2200"/>
              </a:lnSpc>
            </a:pPr>
            <a:r>
              <a:rPr sz="2000" b="0">
                <a:solidFill>
                  <a:srgbClr val="333333"/>
                </a:solidFill>
                <a:latin typeface="Calibri"/>
              </a:rPr>
              <a:t>Example 13.28 emphasizes that Indigenous communities involved in ecological or</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`modules/chapter13/example28/`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Match the license family to the artifact</a:t>
            </a:r>
          </a:p>
          <a:p>
            <a:pPr lvl="0" marL="457200" indent="-228600">
              <a:buFont typeface="Calibri"/>
              <a:spcAft>
                <a:spcPts val="1000"/>
              </a:spcAft>
              <a:buSzPct val="100000"/>
              <a:buChar char="•"/>
              <a:lnSpc>
                <a:spcPts val="2200"/>
              </a:lnSpc>
            </a:pPr>
            <a:r>
              <a:rPr sz="2000" b="0">
                <a:solidFill>
                  <a:srgbClr val="333333"/>
                </a:solidFill>
                <a:latin typeface="Calibri"/>
              </a:rPr>
              <a:t>Restricted access, not an open deed, for sensitive health or community-controlled data</a:t>
            </a:r>
          </a:p>
          <a:p>
            <a:pPr lvl="0" marL="457200" indent="-228600">
              <a:buFont typeface="Calibri"/>
              <a:spcAft>
                <a:spcPts val="1000"/>
              </a:spcAft>
              <a:buSzPct val="100000"/>
              <a:buChar char="•"/>
              <a:lnSpc>
                <a:spcPts val="2200"/>
              </a:lnSpc>
            </a:pPr>
            <a:r>
              <a:rPr sz="2000" b="0">
                <a:solidFill>
                  <a:srgbClr val="333333"/>
                </a:solidFill>
                <a:latin typeface="Calibri"/>
              </a:rPr>
              <a:t>License choice must follow a privacy assessment, not precede it</a:t>
            </a:r>
          </a:p>
          <a:p>
            <a:pPr lvl="0" marL="457200" indent="-228600">
              <a:buFont typeface="Calibri"/>
              <a:spcAft>
                <a:spcPts val="1000"/>
              </a:spcAft>
              <a:buSzPct val="100000"/>
              <a:buChar char="•"/>
              <a:lnSpc>
                <a:spcPts val="2200"/>
              </a:lnSpc>
            </a:pPr>
            <a:r>
              <a:rPr sz="2000" b="0">
                <a:solidFill>
                  <a:srgbClr val="333333"/>
                </a:solidFill>
                <a:latin typeface="Calibri"/>
              </a:rPr>
              <a:t>Open release creates ongoing ethical duties around bias, security, attribution, and scope</a:t>
            </a:r>
          </a:p>
          <a:p>
            <a:pPr lvl="0" marL="457200" indent="-228600">
              <a:buFont typeface="Calibri"/>
              <a:spcAft>
                <a:spcPts val="1000"/>
              </a:spcAft>
              <a:buSzPct val="100000"/>
              <a:buChar char="•"/>
              <a:lnSpc>
                <a:spcPts val="2200"/>
              </a:lnSpc>
            </a:pPr>
            <a:r>
              <a:rPr sz="2000" b="0">
                <a:solidFill>
                  <a:srgbClr val="333333"/>
                </a:solidFill>
                <a:latin typeface="Calibri"/>
              </a:rPr>
              <a:t>Including Indigenous communities, retain legitimate control over sharing decisions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covers reproducible research workflows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Workflow automation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Containers so analyses can be independently verified</a:t>
            </a:r>
          </a:p>
          <a:p>
            <a:pPr lvl="0" marL="457200" indent="-228600">
              <a:buFont typeface="Calibri"/>
              <a:spcAft>
                <a:spcPts val="1000"/>
              </a:spcAft>
              <a:buSzPct val="100000"/>
              <a:buChar char="•"/>
              <a:lnSpc>
                <a:spcPts val="2200"/>
              </a:lnSpc>
            </a:pPr>
            <a:r>
              <a:rPr sz="2000" b="0">
                <a:solidFill>
                  <a:srgbClr val="333333"/>
                </a:solidFill>
                <a:latin typeface="Calibri"/>
              </a:rPr>
              <a:t>Automation tools such as Make</a:t>
            </a:r>
          </a:p>
          <a:p>
            <a:pPr lvl="0" marL="457200" indent="-228600">
              <a:buFont typeface="Calibri"/>
              <a:spcAft>
                <a:spcPts val="1000"/>
              </a:spcAft>
              <a:buSzPct val="100000"/>
              <a:buChar char="•"/>
              <a:lnSpc>
                <a:spcPts val="2200"/>
              </a:lnSpc>
            </a:pPr>
            <a:r>
              <a:rPr sz="2000" b="0">
                <a:solidFill>
                  <a:srgbClr val="333333"/>
                </a:solidFill>
                <a:latin typeface="Calibri"/>
              </a:rPr>
              <a:t>Consistency also requires a stable environment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13.29 — Automated Bioinformatics Workflow File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13.29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13.29 captures a multi-step bioinformatics pipeline in a workflow definition</a:t>
            </a:r>
          </a:p>
          <a:p>
            <a:pPr lvl="0" marL="457200" indent="-228600">
              <a:buFont typeface="Calibri"/>
              <a:spcAft>
                <a:spcPts val="1000"/>
              </a:spcAft>
              <a:buSzPct val="100000"/>
              <a:buChar char="•"/>
              <a:lnSpc>
                <a:spcPts val="2200"/>
              </a:lnSpc>
            </a:pPr>
            <a:r>
              <a:rPr sz="2000" b="0">
                <a:solidFill>
                  <a:srgbClr val="333333"/>
                </a:solidFill>
                <a:latin typeface="Calibri"/>
              </a:rPr>
              <a:t>A typical pipeline might involve data preprocessing, alignment, and statistical analysis</a:t>
            </a:r>
          </a:p>
          <a:p>
            <a:pPr lvl="0" marL="457200" indent="-228600">
              <a:buFont typeface="Calibri"/>
              <a:spcAft>
                <a:spcPts val="1000"/>
              </a:spcAft>
              <a:buSzPct val="100000"/>
              <a:buChar char="•"/>
              <a:lnSpc>
                <a:spcPts val="2200"/>
              </a:lnSpc>
            </a:pPr>
            <a:r>
              <a:rPr sz="2000" b="0">
                <a:solidFill>
                  <a:srgbClr val="333333"/>
                </a:solidFill>
                <a:latin typeface="Calibri"/>
              </a:rPr>
              <a:t>With automation tools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`modules/chapter13/example29/`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13.31 — Notebook Pipeline from Load to Plots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13.31 — hands-on module</a:t>
            </a:r>
          </a:p>
          <a:p>
            <a:pPr lvl="0" marL="457200" indent="-228600">
              <a:buFont typeface="Calibri"/>
              <a:spcAft>
                <a:spcPts val="1000"/>
              </a:spcAft>
              <a:buSzPct val="100000"/>
              <a:buChar char="•"/>
              <a:lnSpc>
                <a:spcPts val="2200"/>
              </a:lnSpc>
            </a:pPr>
            <a:r>
              <a:rPr sz="2000" b="0">
                <a:solidFill>
                  <a:srgbClr val="333333"/>
                </a:solidFill>
                <a:latin typeface="Calibri"/>
              </a:rPr>
              <a:t>Jupyter notebooks integrate code, data, and documentation in a single document</a:t>
            </a:r>
          </a:p>
          <a:p>
            <a:pPr lvl="0" marL="457200" indent="-228600">
              <a:buFont typeface="Calibri"/>
              <a:spcAft>
                <a:spcPts val="1000"/>
              </a:spcAft>
              <a:buSzPct val="100000"/>
              <a:buChar char="•"/>
              <a:lnSpc>
                <a:spcPts val="2200"/>
              </a:lnSpc>
            </a:pPr>
            <a:r>
              <a:rPr sz="2000" b="0">
                <a:solidFill>
                  <a:srgbClr val="333333"/>
                </a:solidFill>
                <a:latin typeface="Calibri"/>
              </a:rPr>
              <a:t>Example 13.31 sketches a typical analysis narrative</a:t>
            </a:r>
          </a:p>
          <a:p>
            <a:pPr lvl="0" marL="457200" indent="-228600">
              <a:buFont typeface="Calibri"/>
              <a:spcAft>
                <a:spcPts val="1000"/>
              </a:spcAft>
              <a:buSzPct val="100000"/>
              <a:buChar char="•"/>
              <a:lnSpc>
                <a:spcPts val="2200"/>
              </a:lnSpc>
            </a:pPr>
            <a:r>
              <a:rPr sz="2000" b="0">
                <a:solidFill>
                  <a:srgbClr val="333333"/>
                </a:solidFill>
                <a:latin typeface="Calibri"/>
              </a:rPr>
              <a:t>Interactivity and sharing</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`modules/chapter13/example31/`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13.34 — Docker Image for Sequence Alignment Tools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13.34 — hands-on module</a:t>
            </a:r>
          </a:p>
          <a:p>
            <a:pPr lvl="0" marL="457200" indent="-228600">
              <a:buFont typeface="Calibri"/>
              <a:spcAft>
                <a:spcPts val="1000"/>
              </a:spcAft>
              <a:buSzPct val="100000"/>
              <a:buChar char="•"/>
              <a:lnSpc>
                <a:spcPts val="2200"/>
              </a:lnSpc>
            </a:pPr>
            <a:r>
              <a:rPr sz="2000" b="0">
                <a:solidFill>
                  <a:srgbClr val="333333"/>
                </a:solidFill>
                <a:latin typeface="Calibri"/>
              </a:rPr>
              <a:t>Reproducibility depends on a stable computational environment</a:t>
            </a:r>
          </a:p>
          <a:p>
            <a:pPr lvl="0" marL="457200" indent="-228600">
              <a:buFont typeface="Calibri"/>
              <a:spcAft>
                <a:spcPts val="1000"/>
              </a:spcAft>
              <a:buSzPct val="100000"/>
              <a:buChar char="•"/>
              <a:lnSpc>
                <a:spcPts val="2200"/>
              </a:lnSpc>
            </a:pPr>
            <a:r>
              <a:rPr sz="2000" b="0">
                <a:solidFill>
                  <a:srgbClr val="333333"/>
                </a:solidFill>
                <a:latin typeface="Calibri"/>
              </a:rPr>
              <a:t>Docker packages code, dependencies</a:t>
            </a:r>
          </a:p>
          <a:p>
            <a:pPr lvl="0" marL="457200" indent="-228600">
              <a:buFont typeface="Calibri"/>
              <a:spcAft>
                <a:spcPts val="1000"/>
              </a:spcAft>
              <a:buSzPct val="100000"/>
              <a:buChar char="•"/>
              <a:lnSpc>
                <a:spcPts val="2200"/>
              </a:lnSpc>
            </a:pPr>
            <a:r>
              <a:rPr sz="2000" b="0">
                <a:solidFill>
                  <a:srgbClr val="333333"/>
                </a:solidFill>
                <a:latin typeface="Calibri"/>
              </a:rPr>
              <a:t>Example 13.34 pins bioinformatics tool versions inside a Docker image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`modules/chapter13/example34/`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13.36 — Docker Image for ML Training Stack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13.36 — hands-on module</a:t>
            </a:r>
          </a:p>
          <a:p>
            <a:pPr lvl="0" marL="457200" indent="-228600">
              <a:buFont typeface="Calibri"/>
              <a:spcAft>
                <a:spcPts val="1000"/>
              </a:spcAft>
              <a:buSzPct val="100000"/>
              <a:buChar char="•"/>
              <a:lnSpc>
                <a:spcPts val="2200"/>
              </a:lnSpc>
            </a:pPr>
            <a:r>
              <a:rPr sz="2000" b="0">
                <a:solidFill>
                  <a:srgbClr val="333333"/>
                </a:solidFill>
                <a:latin typeface="Calibri"/>
              </a:rPr>
              <a:t>The same container pattern applies to machine learning</a:t>
            </a:r>
          </a:p>
          <a:p>
            <a:pPr lvl="0" marL="457200" indent="-228600">
              <a:buFont typeface="Calibri"/>
              <a:spcAft>
                <a:spcPts val="1000"/>
              </a:spcAft>
              <a:buSzPct val="100000"/>
              <a:buChar char="•"/>
              <a:lnSpc>
                <a:spcPts val="2200"/>
              </a:lnSpc>
            </a:pPr>
            <a:r>
              <a:rPr sz="2000" b="0">
                <a:solidFill>
                  <a:srgbClr val="333333"/>
                </a:solidFill>
                <a:latin typeface="Calibri"/>
              </a:rPr>
              <a:t>Example 13.36 freezes Python library versions for model training</a:t>
            </a:r>
          </a:p>
          <a:p>
            <a:pPr lvl="0" marL="457200" indent="-228600">
              <a:buFont typeface="Calibri"/>
              <a:spcAft>
                <a:spcPts val="1000"/>
              </a:spcAft>
              <a:buSzPct val="100000"/>
              <a:buChar char="•"/>
              <a:lnSpc>
                <a:spcPts val="2200"/>
              </a:lnSpc>
            </a:pPr>
            <a:r>
              <a:rPr sz="2000" b="0">
                <a:solidFill>
                  <a:srgbClr val="333333"/>
                </a:solidFill>
                <a:latin typeface="Calibri"/>
              </a:rPr>
              <a:t>Shared images reduce “it works on my machine” failures across local, cluster</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`modules/chapter13/example36/`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Workflow files encode ordered</a:t>
            </a:r>
          </a:p>
          <a:p>
            <a:pPr lvl="0" marL="457200" indent="-228600">
              <a:buFont typeface="Calibri"/>
              <a:spcAft>
                <a:spcPts val="1000"/>
              </a:spcAft>
              <a:buSzPct val="100000"/>
              <a:buChar char="•"/>
              <a:lnSpc>
                <a:spcPts val="2200"/>
              </a:lnSpc>
            </a:pPr>
            <a:r>
              <a:rPr sz="2000" b="0">
                <a:solidFill>
                  <a:srgbClr val="333333"/>
                </a:solidFill>
                <a:latin typeface="Calibri"/>
              </a:rPr>
              <a:t>Notebooks make methods and results literate and shareable</a:t>
            </a:r>
          </a:p>
          <a:p>
            <a:pPr lvl="0" marL="457200" indent="-228600">
              <a:buFont typeface="Calibri"/>
              <a:spcAft>
                <a:spcPts val="1000"/>
              </a:spcAft>
              <a:buSzPct val="100000"/>
              <a:buChar char="•"/>
              <a:lnSpc>
                <a:spcPts val="2200"/>
              </a:lnSpc>
            </a:pPr>
            <a:r>
              <a:rPr sz="2000" b="0">
                <a:solidFill>
                  <a:srgbClr val="333333"/>
                </a:solidFill>
                <a:latin typeface="Calibri"/>
              </a:rPr>
              <a:t>Docker pins tools and libraries so bioinformatics and machine-learning stacks travel with</a:t>
            </a:r>
          </a:p>
          <a:p>
            <a:pPr lvl="0" marL="457200" indent="-228600">
              <a:buFont typeface="Calibri"/>
              <a:spcAft>
                <a:spcPts val="1000"/>
              </a:spcAft>
              <a:buSzPct val="100000"/>
              <a:buChar char="•"/>
              <a:lnSpc>
                <a:spcPts val="2200"/>
              </a:lnSpc>
            </a:pPr>
            <a:r>
              <a:rPr sz="2000" b="0">
                <a:solidFill>
                  <a:srgbClr val="333333"/>
                </a:solidFill>
                <a:latin typeface="Calibri"/>
              </a:rPr>
              <a:t>Containers and workflow definitions close the execution gap left by licenses and prose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Model regressions before results are published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CI for reproducible research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For research workflows, tests and validates changes to code or data pipelines</a:t>
            </a:r>
          </a:p>
          <a:p>
            <a:pPr lvl="0" marL="457200" indent="-228600">
              <a:buFont typeface="Calibri"/>
              <a:spcAft>
                <a:spcPts val="1000"/>
              </a:spcAft>
              <a:buSzPct val="100000"/>
              <a:buChar char="•"/>
              <a:lnSpc>
                <a:spcPts val="2200"/>
              </a:lnSpc>
            </a:pPr>
            <a:r>
              <a:rPr sz="2000" b="0">
                <a:solidFill>
                  <a:srgbClr val="333333"/>
                </a:solidFill>
                <a:latin typeface="Calibri"/>
              </a:rPr>
              <a:t>Services such as GitHub Actions, GitLab CI</a:t>
            </a:r>
          </a:p>
          <a:p>
            <a:pPr lvl="0" marL="457200" indent="-228600">
              <a:buFont typeface="Calibri"/>
              <a:spcAft>
                <a:spcPts val="1000"/>
              </a:spcAft>
              <a:buSzPct val="100000"/>
              <a:buChar char="•"/>
              <a:lnSpc>
                <a:spcPts val="2200"/>
              </a:lnSpc>
            </a:pPr>
            <a:r>
              <a:rPr sz="2000" b="0">
                <a:solidFill>
                  <a:srgbClr val="333333"/>
                </a:solidFill>
                <a:latin typeface="Calibri"/>
              </a:rPr>
              <a:t>The goal is to catch silent breaks early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13.37 — CI Checks Preprocessing and Inputs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13.37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13.37 uses continuous integration to validate pipeline prerequisites</a:t>
            </a:r>
          </a:p>
          <a:p>
            <a:pPr lvl="0" marL="457200" indent="-228600">
              <a:buFont typeface="Calibri"/>
              <a:spcAft>
                <a:spcPts val="1000"/>
              </a:spcAft>
              <a:buSzPct val="100000"/>
              <a:buChar char="•"/>
              <a:lnSpc>
                <a:spcPts val="2200"/>
              </a:lnSpc>
            </a:pPr>
            <a:r>
              <a:rPr sz="2000" b="0">
                <a:solidFill>
                  <a:srgbClr val="333333"/>
                </a:solidFill>
                <a:latin typeface="Calibri"/>
              </a:rPr>
              <a:t>Automated checks can verify that preprocessing steps run and that required inputs are</a:t>
            </a:r>
          </a:p>
          <a:p>
            <a:pPr lvl="0" marL="457200" indent="-228600">
              <a:buFont typeface="Calibri"/>
              <a:spcAft>
                <a:spcPts val="1000"/>
              </a:spcAft>
              <a:buSzPct val="100000"/>
              <a:buChar char="•"/>
              <a:lnSpc>
                <a:spcPts val="2200"/>
              </a:lnSpc>
            </a:pPr>
            <a:r>
              <a:rPr sz="2000" b="0">
                <a:solidFill>
                  <a:srgbClr val="333333"/>
                </a:solidFill>
                <a:latin typeface="Calibri"/>
              </a:rPr>
              <a:t>Catching input and preprocessing failures in CI prevents wasted compute and unreproducible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`modules/chapter13/example37/`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13.38 — Tests for Cross-Environment Consistency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13.38 — hands-on module</a:t>
            </a:r>
          </a:p>
          <a:p>
            <a:pPr lvl="0" marL="457200" indent="-228600">
              <a:buFont typeface="Calibri"/>
              <a:spcAft>
                <a:spcPts val="1000"/>
              </a:spcAft>
              <a:buSzPct val="100000"/>
              <a:buChar char="•"/>
              <a:lnSpc>
                <a:spcPts val="2200"/>
              </a:lnSpc>
            </a:pPr>
            <a:r>
              <a:rPr sz="2000" b="0">
                <a:solidFill>
                  <a:srgbClr val="333333"/>
                </a:solidFill>
                <a:latin typeface="Calibri"/>
              </a:rPr>
              <a:t>Environment drift is a common reproducibility failure</a:t>
            </a:r>
          </a:p>
          <a:p>
            <a:pPr lvl="0" marL="457200" indent="-228600">
              <a:buFont typeface="Calibri"/>
              <a:spcAft>
                <a:spcPts val="1000"/>
              </a:spcAft>
              <a:buSzPct val="100000"/>
              <a:buChar char="•"/>
              <a:lnSpc>
                <a:spcPts val="2200"/>
              </a:lnSpc>
            </a:pPr>
            <a:r>
              <a:rPr sz="2000" b="0">
                <a:solidFill>
                  <a:srgbClr val="333333"/>
                </a:solidFill>
                <a:latin typeface="Calibri"/>
              </a:rPr>
              <a:t>Example 13.38 emphasizes tests for cross-environment consistency</a:t>
            </a:r>
          </a:p>
          <a:p>
            <a:pPr lvl="0" marL="457200" indent="-228600">
              <a:buFont typeface="Calibri"/>
              <a:spcAft>
                <a:spcPts val="1000"/>
              </a:spcAft>
              <a:buSzPct val="100000"/>
              <a:buChar char="•"/>
              <a:lnSpc>
                <a:spcPts val="2200"/>
              </a:lnSpc>
            </a:pPr>
            <a:r>
              <a:rPr sz="2000" b="0">
                <a:solidFill>
                  <a:srgbClr val="333333"/>
                </a:solidFill>
                <a:latin typeface="Calibri"/>
              </a:rPr>
              <a:t>Automated tests that compare outputs or checksums across environments expose dependency</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`modules/chapter13/example38/`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13.39 — CI Retests Model Training After Updates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13.39 — hands-on module</a:t>
            </a:r>
          </a:p>
          <a:p>
            <a:pPr lvl="0" marL="457200" indent="-228600">
              <a:buFont typeface="Calibri"/>
              <a:spcAft>
                <a:spcPts val="1000"/>
              </a:spcAft>
              <a:buSzPct val="100000"/>
              <a:buChar char="•"/>
              <a:lnSpc>
                <a:spcPts val="2200"/>
              </a:lnSpc>
            </a:pPr>
            <a:r>
              <a:rPr sz="2000" b="0">
                <a:solidFill>
                  <a:srgbClr val="333333"/>
                </a:solidFill>
                <a:latin typeface="Calibri"/>
              </a:rPr>
              <a:t>Machine-learning pipelines change when data, features, or training code update</a:t>
            </a:r>
          </a:p>
          <a:p>
            <a:pPr lvl="0" marL="457200" indent="-228600">
              <a:buFont typeface="Calibri"/>
              <a:spcAft>
                <a:spcPts val="1000"/>
              </a:spcAft>
              <a:buSzPct val="100000"/>
              <a:buChar char="•"/>
              <a:lnSpc>
                <a:spcPts val="2200"/>
              </a:lnSpc>
            </a:pPr>
            <a:r>
              <a:rPr sz="2000" b="0">
                <a:solidFill>
                  <a:srgbClr val="333333"/>
                </a:solidFill>
                <a:latin typeface="Calibri"/>
              </a:rPr>
              <a:t>Example 13.39 shows CI retesting model training after such updates so regressions in</a:t>
            </a:r>
          </a:p>
          <a:p>
            <a:pPr lvl="0" marL="457200" indent="-228600">
              <a:buFont typeface="Calibri"/>
              <a:spcAft>
                <a:spcPts val="1000"/>
              </a:spcAft>
              <a:buSzPct val="100000"/>
              <a:buChar char="•"/>
              <a:lnSpc>
                <a:spcPts val="2200"/>
              </a:lnSpc>
            </a:pPr>
            <a:r>
              <a:rPr sz="2000" b="0">
                <a:solidFill>
                  <a:srgbClr val="333333"/>
                </a:solidFill>
                <a:latin typeface="Calibri"/>
              </a:rPr>
              <a:t>Continuous checks keep the published training path aligned with the current repository</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`modules/chapter13/example39/`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Automated workflow documentation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Automation also supports workflow documentation</a:t>
            </a:r>
          </a:p>
          <a:p>
            <a:pPr lvl="0" marL="457200" indent="-228600">
              <a:buFont typeface="Calibri"/>
              <a:spcAft>
                <a:spcPts val="1000"/>
              </a:spcAft>
              <a:buSzPct val="100000"/>
              <a:buChar char="•"/>
              <a:lnSpc>
                <a:spcPts val="2200"/>
              </a:lnSpc>
            </a:pPr>
            <a:r>
              <a:rPr sz="2000" b="0">
                <a:solidFill>
                  <a:srgbClr val="333333"/>
                </a:solidFill>
                <a:latin typeface="Calibri"/>
              </a:rPr>
              <a:t>The published narrative stays synchronized with the executable path</a:t>
            </a:r>
          </a:p>
          <a:p>
            <a:pPr lvl="0" marL="457200" indent="-228600">
              <a:buFont typeface="Calibri"/>
              <a:spcAft>
                <a:spcPts val="1000"/>
              </a:spcAft>
              <a:buSzPct val="100000"/>
              <a:buChar char="•"/>
              <a:lnSpc>
                <a:spcPts val="2200"/>
              </a:lnSpc>
            </a:pPr>
            <a:r>
              <a:rPr sz="2000" b="0">
                <a:solidFill>
                  <a:srgbClr val="333333"/>
                </a:solidFill>
                <a:latin typeface="Calibri"/>
              </a:rPr>
              <a:t>Combined with CI</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Continuous integration turns reproducibility from a manual hope into a repeated check</a:t>
            </a:r>
          </a:p>
          <a:p>
            <a:pPr lvl="0" marL="457200" indent="-228600">
              <a:buFont typeface="Calibri"/>
              <a:spcAft>
                <a:spcPts val="1000"/>
              </a:spcAft>
              <a:buSzPct val="100000"/>
              <a:buChar char="•"/>
              <a:lnSpc>
                <a:spcPts val="2200"/>
              </a:lnSpc>
            </a:pPr>
            <a:r>
              <a:rPr sz="2000" b="0">
                <a:solidFill>
                  <a:srgbClr val="333333"/>
                </a:solidFill>
                <a:latin typeface="Calibri"/>
              </a:rPr>
              <a:t>CI can validate preprocessing and inputs before costly downstream stages</a:t>
            </a:r>
          </a:p>
          <a:p>
            <a:pPr lvl="0" marL="457200" indent="-228600">
              <a:buFont typeface="Calibri"/>
              <a:spcAft>
                <a:spcPts val="1000"/>
              </a:spcAft>
              <a:buSzPct val="100000"/>
              <a:buChar char="•"/>
              <a:lnSpc>
                <a:spcPts val="2200"/>
              </a:lnSpc>
            </a:pPr>
            <a:r>
              <a:rPr sz="2000" b="0">
                <a:solidFill>
                  <a:srgbClr val="333333"/>
                </a:solidFill>
                <a:latin typeface="Calibri"/>
              </a:rPr>
              <a:t>Cross-environment tests catch dependency drift across machines and containers</a:t>
            </a:r>
          </a:p>
          <a:p>
            <a:pPr lvl="0" marL="457200" indent="-228600">
              <a:buFont typeface="Calibri"/>
              <a:spcAft>
                <a:spcPts val="1000"/>
              </a:spcAft>
              <a:buSzPct val="100000"/>
              <a:buChar char="•"/>
              <a:lnSpc>
                <a:spcPts val="2200"/>
              </a:lnSpc>
            </a:pPr>
            <a:r>
              <a:rPr sz="2000" b="0">
                <a:solidFill>
                  <a:srgbClr val="333333"/>
                </a:solidFill>
                <a:latin typeface="Calibri"/>
              </a:rPr>
              <a:t>Retrain CI detects model regressions when data or code change</a:t>
            </a:r>
          </a:p>
          <a:p>
            <a:pPr lvl="0" marL="457200" indent="-228600">
              <a:buFont typeface="Calibri"/>
              <a:spcAft>
                <a:spcPts val="1000"/>
              </a:spcAft>
              <a:buSzPct val="100000"/>
              <a:buChar char="•"/>
              <a:lnSpc>
                <a:spcPts val="2200"/>
              </a:lnSpc>
            </a:pPr>
            <a:r>
              <a:rPr sz="2000" b="0">
                <a:solidFill>
                  <a:srgbClr val="333333"/>
                </a:solidFill>
                <a:latin typeface="Calibri"/>
              </a:rPr>
              <a:t>Automated documentation keeps published workflows aligned with what actually executed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covers R Markdown reports and DVC for tracking training data, model weights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Literate reporting with R Markdown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 Markdown creates dynamic, reproducible reports that integrate code, data</a:t>
            </a:r>
          </a:p>
          <a:p>
            <a:pPr lvl="0" marL="457200" indent="-228600">
              <a:buFont typeface="Calibri"/>
              <a:spcAft>
                <a:spcPts val="1000"/>
              </a:spcAft>
              <a:buSzPct val="100000"/>
              <a:buChar char="•"/>
              <a:lnSpc>
                <a:spcPts val="2200"/>
              </a:lnSpc>
            </a:pPr>
            <a:r>
              <a:rPr sz="2000" b="0">
                <a:solidFill>
                  <a:srgbClr val="333333"/>
                </a:solidFill>
                <a:latin typeface="Calibri"/>
              </a:rPr>
              <a:t>When the document is compiled, embedded code executes and tables, figures</a:t>
            </a:r>
          </a:p>
          <a:p>
            <a:pPr lvl="0" marL="457200" indent="-228600">
              <a:buFont typeface="Calibri"/>
              <a:spcAft>
                <a:spcPts val="1000"/>
              </a:spcAft>
              <a:buSzPct val="100000"/>
              <a:buChar char="•"/>
              <a:lnSpc>
                <a:spcPts val="2200"/>
              </a:lnSpc>
            </a:pPr>
            <a:r>
              <a:rPr sz="2000" b="0">
                <a:solidFill>
                  <a:srgbClr val="333333"/>
                </a:solidFill>
                <a:latin typeface="Calibri"/>
              </a:rPr>
              <a:t>That coupling keeps analysis, narrative</a:t>
            </a:r>
          </a:p>
          <a:p>
            <a:pPr lvl="0" marL="457200" indent="-228600">
              <a:buFont typeface="Calibri"/>
              <a:spcAft>
                <a:spcPts val="1000"/>
              </a:spcAft>
              <a:buSzPct val="100000"/>
              <a:buChar char="•"/>
              <a:lnSpc>
                <a:spcPts val="2200"/>
              </a:lnSpc>
            </a:pPr>
            <a:r>
              <a:rPr sz="2000" b="0">
                <a:solidFill>
                  <a:srgbClr val="333333"/>
                </a:solidFill>
                <a:latin typeface="Calibri"/>
              </a:rPr>
              <a:t>Outputs can include HTML, PDF, or Word for flexible sharing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13.41 — RMarkdown Public Health Analysis Report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13.41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13.41 regenerates an analysis report from an R Markdown source</a:t>
            </a:r>
          </a:p>
          <a:p>
            <a:pPr lvl="0" marL="457200" indent="-228600">
              <a:buFont typeface="Calibri"/>
              <a:spcAft>
                <a:spcPts val="1000"/>
              </a:spcAft>
              <a:buSzPct val="100000"/>
              <a:buChar char="•"/>
              <a:lnSpc>
                <a:spcPts val="2200"/>
              </a:lnSpc>
            </a:pPr>
            <a:r>
              <a:rPr sz="2000" b="0">
                <a:solidFill>
                  <a:srgbClr val="333333"/>
                </a:solidFill>
                <a:latin typeface="Calibri"/>
              </a:rPr>
              <a:t>Generate visualizations in one document</a:t>
            </a:r>
          </a:p>
          <a:p>
            <a:pPr lvl="0" marL="457200" indent="-228600">
              <a:buFont typeface="Calibri"/>
              <a:spcAft>
                <a:spcPts val="1000"/>
              </a:spcAft>
              <a:buSzPct val="100000"/>
              <a:buChar char="•"/>
              <a:lnSpc>
                <a:spcPts val="2200"/>
              </a:lnSpc>
            </a:pPr>
            <a:r>
              <a:rPr sz="2000" b="0">
                <a:solidFill>
                  <a:srgbClr val="333333"/>
                </a:solidFill>
                <a:latin typeface="Calibri"/>
              </a:rPr>
              <a:t>As the report compiles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`modules/chapter13/example41/`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DVC for large research artifacts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Large datasets in genomics</a:t>
            </a:r>
          </a:p>
          <a:p>
            <a:pPr lvl="0" marL="457200" indent="-228600">
              <a:buFont typeface="Calibri"/>
              <a:spcAft>
                <a:spcPts val="1000"/>
              </a:spcAft>
              <a:buSzPct val="100000"/>
              <a:buChar char="•"/>
              <a:lnSpc>
                <a:spcPts val="2200"/>
              </a:lnSpc>
            </a:pPr>
            <a:r>
              <a:rPr sz="2000" b="0">
                <a:solidFill>
                  <a:srgbClr val="333333"/>
                </a:solidFill>
                <a:latin typeface="Calibri"/>
              </a:rPr>
              <a:t>DVC versions large datasets and models so they remain reproducible and shareable</a:t>
            </a:r>
          </a:p>
          <a:p>
            <a:pPr lvl="0" marL="457200" indent="-228600">
              <a:buFont typeface="Calibri"/>
              <a:spcAft>
                <a:spcPts val="1000"/>
              </a:spcAft>
              <a:buSzPct val="100000"/>
              <a:buChar char="•"/>
              <a:lnSpc>
                <a:spcPts val="2200"/>
              </a:lnSpc>
            </a:pPr>
            <a:r>
              <a:rPr sz="2000" b="0">
                <a:solidFill>
                  <a:srgbClr val="333333"/>
                </a:solidFill>
                <a:latin typeface="Calibri"/>
              </a:rPr>
              <a:t>Every modification remains traceable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13.44 — DVC Tracks Training Data and Weights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13.44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13.44 versions training data, model weights, and evaluation outputs with DVC</a:t>
            </a:r>
          </a:p>
          <a:p>
            <a:pPr lvl="0" marL="457200" indent="-228600">
              <a:buFont typeface="Calibri"/>
              <a:spcAft>
                <a:spcPts val="1000"/>
              </a:spcAft>
              <a:buSzPct val="100000"/>
              <a:buChar char="•"/>
              <a:lnSpc>
                <a:spcPts val="2200"/>
              </a:lnSpc>
            </a:pPr>
            <a:r>
              <a:rPr sz="2000" b="0">
                <a:solidFill>
                  <a:srgbClr val="333333"/>
                </a:solidFill>
                <a:latin typeface="Calibri"/>
              </a:rPr>
              <a:t>In a machine learning project</a:t>
            </a:r>
          </a:p>
          <a:p>
            <a:pPr lvl="0" marL="457200" indent="-228600">
              <a:buFont typeface="Calibri"/>
              <a:spcAft>
                <a:spcPts val="1000"/>
              </a:spcAft>
              <a:buSzPct val="100000"/>
              <a:buChar char="•"/>
              <a:lnSpc>
                <a:spcPts val="2200"/>
              </a:lnSpc>
            </a:pPr>
            <a:r>
              <a:rPr sz="2000" b="0">
                <a:solidFill>
                  <a:srgbClr val="333333"/>
                </a:solidFill>
                <a:latin typeface="Calibri"/>
              </a:rPr>
              <a:t>Without that linkage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`modules/chapter13/example44/`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13.45 — DVC Pipeline for Preprocess Train Evaluate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13.45 — hands-on module</a:t>
            </a:r>
          </a:p>
          <a:p>
            <a:pPr lvl="0" marL="457200" indent="-228600">
              <a:buFont typeface="Calibri"/>
              <a:spcAft>
                <a:spcPts val="1000"/>
              </a:spcAft>
              <a:buSzPct val="100000"/>
              <a:buChar char="•"/>
              <a:lnSpc>
                <a:spcPts val="2200"/>
              </a:lnSpc>
            </a:pPr>
            <a:r>
              <a:rPr sz="2000" b="0">
                <a:solidFill>
                  <a:srgbClr val="333333"/>
                </a:solidFill>
                <a:latin typeface="Calibri"/>
              </a:rPr>
              <a:t>DVC also supports data pipelines that automate flow through the research process</a:t>
            </a:r>
          </a:p>
          <a:p>
            <a:pPr lvl="0" marL="457200" indent="-228600">
              <a:buFont typeface="Calibri"/>
              <a:spcAft>
                <a:spcPts val="1000"/>
              </a:spcAft>
              <a:buSzPct val="100000"/>
              <a:buChar char="•"/>
              <a:lnSpc>
                <a:spcPts val="2200"/>
              </a:lnSpc>
            </a:pPr>
            <a:r>
              <a:rPr sz="2000" b="0">
                <a:solidFill>
                  <a:srgbClr val="333333"/>
                </a:solidFill>
                <a:latin typeface="Calibri"/>
              </a:rPr>
              <a:t>Example 13.45 defines a versioned pipeline across preprocessing, model training</a:t>
            </a:r>
          </a:p>
          <a:p>
            <a:pPr lvl="0" marL="457200" indent="-228600">
              <a:buFont typeface="Calibri"/>
              <a:spcAft>
                <a:spcPts val="1000"/>
              </a:spcAft>
              <a:buSzPct val="100000"/>
              <a:buChar char="•"/>
              <a:lnSpc>
                <a:spcPts val="2200"/>
              </a:lnSpc>
            </a:pPr>
            <a:r>
              <a:rPr sz="2000" b="0">
                <a:solidFill>
                  <a:srgbClr val="333333"/>
                </a:solidFill>
                <a:latin typeface="Calibri"/>
              </a:rPr>
              <a:t>Each step’s inputs and outputs are tracked so regenerating results is a single pipeline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`modules/chapter13/example45/`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 Markdown couples narrative and executable analysis so published reports recompile</a:t>
            </a:r>
          </a:p>
          <a:p>
            <a:pPr lvl="0" marL="457200" indent="-228600">
              <a:buFont typeface="Calibri"/>
              <a:spcAft>
                <a:spcPts val="1000"/>
              </a:spcAft>
              <a:buSzPct val="100000"/>
              <a:buChar char="•"/>
              <a:lnSpc>
                <a:spcPts val="2200"/>
              </a:lnSpc>
            </a:pPr>
            <a:r>
              <a:rPr sz="2000" b="0">
                <a:solidFill>
                  <a:srgbClr val="333333"/>
                </a:solidFill>
                <a:latin typeface="Calibri"/>
              </a:rPr>
              <a:t>DVC keeps large training data and model weights retrievable alongside code</a:t>
            </a:r>
          </a:p>
          <a:p>
            <a:pPr lvl="0" marL="457200" indent="-228600">
              <a:buFont typeface="Calibri"/>
              <a:spcAft>
                <a:spcPts val="1000"/>
              </a:spcAft>
              <a:buSzPct val="100000"/>
              <a:buChar char="•"/>
              <a:lnSpc>
                <a:spcPts val="2200"/>
              </a:lnSpc>
            </a:pPr>
            <a:r>
              <a:rPr sz="2000" b="0">
                <a:solidFill>
                  <a:srgbClr val="333333"/>
                </a:solidFill>
                <a:latin typeface="Calibri"/>
              </a:rPr>
              <a:t>Versioned DVC pipelines encode preprocess, train</a:t>
            </a:r>
          </a:p>
          <a:p>
            <a:pPr lvl="0" marL="457200" indent="-228600">
              <a:buFont typeface="Calibri"/>
              <a:spcAft>
                <a:spcPts val="1000"/>
              </a:spcAft>
              <a:buSzPct val="100000"/>
              <a:buChar char="•"/>
              <a:lnSpc>
                <a:spcPts val="2200"/>
              </a:lnSpc>
            </a:pPr>
            <a:r>
              <a:rPr sz="2000" b="0">
                <a:solidFill>
                  <a:srgbClr val="333333"/>
                </a:solidFill>
                <a:latin typeface="Calibri"/>
              </a:rPr>
              <a:t>Literate reports plus data versioning close the gap between papers and the artifacts they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A brief climate-modeling outlook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Cloud collaboration for scale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Distributed teams need shared infrastructure for large datasets and scalable computation</a:t>
            </a:r>
          </a:p>
          <a:p>
            <a:pPr lvl="0" marL="457200" indent="-228600">
              <a:buFont typeface="Calibri"/>
              <a:spcAft>
                <a:spcPts val="1000"/>
              </a:spcAft>
              <a:buSzPct val="100000"/>
              <a:buChar char="•"/>
              <a:lnSpc>
                <a:spcPts val="2200"/>
              </a:lnSpc>
            </a:pPr>
            <a:r>
              <a:rPr sz="2000" b="0">
                <a:solidFill>
                  <a:srgbClr val="333333"/>
                </a:solidFill>
                <a:latin typeface="Calibri"/>
              </a:rPr>
              <a:t>Cloud platforms such as Amazon Web Services, Google Cloud</a:t>
            </a:r>
          </a:p>
          <a:p>
            <a:pPr lvl="0" marL="457200" indent="-228600">
              <a:buFont typeface="Calibri"/>
              <a:spcAft>
                <a:spcPts val="1000"/>
              </a:spcAft>
              <a:buSzPct val="100000"/>
              <a:buChar char="•"/>
              <a:lnSpc>
                <a:spcPts val="2200"/>
              </a:lnSpc>
            </a:pPr>
            <a:r>
              <a:rPr sz="2000" b="0">
                <a:solidFill>
                  <a:srgbClr val="333333"/>
                </a:solidFill>
                <a:latin typeface="Calibri"/>
              </a:rPr>
              <a:t>Chapter 12 covers storage architectures and platform operations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13.47 — Cloud VMs for Consistent Workflows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13.47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13.47 provisions cloud virtual machines so collaborators share the same runtime</a:t>
            </a:r>
          </a:p>
          <a:p>
            <a:pPr lvl="0" marL="457200" indent="-228600">
              <a:buFont typeface="Calibri"/>
              <a:spcAft>
                <a:spcPts val="1000"/>
              </a:spcAft>
              <a:buSzPct val="100000"/>
              <a:buChar char="•"/>
              <a:lnSpc>
                <a:spcPts val="2200"/>
              </a:lnSpc>
            </a:pPr>
            <a:r>
              <a:rPr sz="2000" b="0">
                <a:solidFill>
                  <a:srgbClr val="333333"/>
                </a:solidFill>
                <a:latin typeface="Calibri"/>
              </a:rPr>
              <a:t>Cloud-based VMs can be configured to run specific research workflows</a:t>
            </a:r>
          </a:p>
          <a:p>
            <a:pPr lvl="0" marL="457200" indent="-228600">
              <a:buFont typeface="Calibri"/>
              <a:spcAft>
                <a:spcPts val="1000"/>
              </a:spcAft>
              <a:buSzPct val="100000"/>
              <a:buChar char="•"/>
              <a:lnSpc>
                <a:spcPts val="2200"/>
              </a:lnSpc>
            </a:pPr>
            <a:r>
              <a:rPr sz="2000" b="0">
                <a:solidFill>
                  <a:srgbClr val="333333"/>
                </a:solidFill>
                <a:latin typeface="Calibri"/>
              </a:rPr>
              <a:t>Data move between local machines, clusters, and the cloud</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`modules/chapter13/example47/`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13.50 — Environment Drift Breaks Identical Code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13.50 — hands-on module</a:t>
            </a:r>
          </a:p>
          <a:p>
            <a:pPr lvl="0" marL="457200" indent="-228600">
              <a:buFont typeface="Calibri"/>
              <a:spcAft>
                <a:spcPts val="1000"/>
              </a:spcAft>
              <a:buSzPct val="100000"/>
              <a:buChar char="•"/>
              <a:lnSpc>
                <a:spcPts val="2200"/>
              </a:lnSpc>
            </a:pPr>
            <a:r>
              <a:rPr sz="2000" b="0">
                <a:solidFill>
                  <a:srgbClr val="333333"/>
                </a:solidFill>
                <a:latin typeface="Calibri"/>
              </a:rPr>
              <a:t>Even with mature tools, full reproducibility often fails</a:t>
            </a:r>
          </a:p>
          <a:p>
            <a:pPr lvl="0" marL="457200" indent="-228600">
              <a:buFont typeface="Calibri"/>
              <a:spcAft>
                <a:spcPts val="1000"/>
              </a:spcAft>
              <a:buSzPct val="100000"/>
              <a:buChar char="•"/>
              <a:lnSpc>
                <a:spcPts val="2200"/>
              </a:lnSpc>
            </a:pPr>
            <a:r>
              <a:rPr sz="2000" b="0">
                <a:solidFill>
                  <a:srgbClr val="333333"/>
                </a:solidFill>
                <a:latin typeface="Calibri"/>
              </a:rPr>
              <a:t>Example 13.50 shows environment drift as a common pitfall</a:t>
            </a:r>
          </a:p>
          <a:p>
            <a:pPr lvl="0" marL="457200" indent="-228600">
              <a:buFont typeface="Calibri"/>
              <a:spcAft>
                <a:spcPts val="1000"/>
              </a:spcAft>
              <a:buSzPct val="100000"/>
              <a:buChar char="•"/>
              <a:lnSpc>
                <a:spcPts val="2200"/>
              </a:lnSpc>
            </a:pPr>
            <a:r>
              <a:rPr sz="2000" b="0">
                <a:solidFill>
                  <a:srgbClr val="333333"/>
                </a:solidFill>
                <a:latin typeface="Calibri"/>
              </a:rPr>
              <a:t>Containerization tools such as Docker or virtual environments such as conda encapsulate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`modules/chapter13/example50/`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13.55 — DVC Links Retraining to Data Versions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13.55 — hands-on module</a:t>
            </a:r>
          </a:p>
          <a:p>
            <a:pPr lvl="0" marL="457200" indent="-228600">
              <a:buFont typeface="Calibri"/>
              <a:spcAft>
                <a:spcPts val="1000"/>
              </a:spcAft>
              <a:buSzPct val="100000"/>
              <a:buChar char="•"/>
              <a:lnSpc>
                <a:spcPts val="2200"/>
              </a:lnSpc>
            </a:pPr>
            <a:r>
              <a:rPr sz="2000" b="0">
                <a:solidFill>
                  <a:srgbClr val="333333"/>
                </a:solidFill>
                <a:latin typeface="Calibri"/>
              </a:rPr>
              <a:t>Maintaining audit trails is essential for checkable research</a:t>
            </a:r>
          </a:p>
          <a:p>
            <a:pPr lvl="0" marL="457200" indent="-228600">
              <a:buFont typeface="Calibri"/>
              <a:spcAft>
                <a:spcPts val="1000"/>
              </a:spcAft>
              <a:buSzPct val="100000"/>
              <a:buChar char="•"/>
              <a:lnSpc>
                <a:spcPts val="2200"/>
              </a:lnSpc>
            </a:pPr>
            <a:r>
              <a:rPr sz="2000" b="0">
                <a:solidFill>
                  <a:srgbClr val="333333"/>
                </a:solidFill>
                <a:latin typeface="Calibri"/>
              </a:rPr>
              <a:t>Just as code is versioned with Git</a:t>
            </a:r>
          </a:p>
          <a:p>
            <a:pPr lvl="0" marL="457200" indent="-228600">
              <a:buFont typeface="Calibri"/>
              <a:spcAft>
                <a:spcPts val="1000"/>
              </a:spcAft>
              <a:buSzPct val="100000"/>
              <a:buChar char="•"/>
              <a:lnSpc>
                <a:spcPts val="2200"/>
              </a:lnSpc>
            </a:pPr>
            <a:r>
              <a:rPr sz="2000" b="0">
                <a:solidFill>
                  <a:srgbClr val="333333"/>
                </a:solidFill>
                <a:latin typeface="Calibri"/>
              </a:rPr>
              <a:t>Example 13.55 shows DVC linking retraining runs to data versions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`modules/chapter13/example55/`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Climate case study and future outlook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Large collaborative programs such as CMIP6 illustrate why these practices matter at</a:t>
            </a:r>
          </a:p>
          <a:p>
            <a:pPr lvl="0" marL="457200" indent="-228600">
              <a:buFont typeface="Calibri"/>
              <a:spcAft>
                <a:spcPts val="1000"/>
              </a:spcAft>
              <a:buSzPct val="100000"/>
              <a:buChar char="•"/>
              <a:lnSpc>
                <a:spcPts val="2200"/>
              </a:lnSpc>
            </a:pPr>
            <a:r>
              <a:rPr sz="2000" b="0">
                <a:solidFill>
                  <a:srgbClr val="333333"/>
                </a:solidFill>
                <a:latin typeface="Calibri"/>
              </a:rPr>
              <a:t>Ethical licensing as research becomes more computational and collaborative</a:t>
            </a:r>
          </a:p>
          <a:p>
            <a:pPr lvl="0" marL="457200" indent="-228600">
              <a:buFont typeface="Calibri"/>
              <a:spcAft>
                <a:spcPts val="1000"/>
              </a:spcAft>
              <a:buSzPct val="100000"/>
              <a:buChar char="•"/>
              <a:lnSpc>
                <a:spcPts val="2200"/>
              </a:lnSpc>
            </a:pPr>
            <a:r>
              <a:rPr sz="2000" b="0">
                <a:solidFill>
                  <a:srgbClr val="333333"/>
                </a:solidFill>
                <a:latin typeface="Calibri"/>
              </a:rPr>
              <a:t>The chapter’s tools are not optional polish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Cloud VMs and containers help teams share consistent runtimes at scale</a:t>
            </a:r>
          </a:p>
          <a:p>
            <a:pPr lvl="0" marL="457200" indent="-228600">
              <a:buFont typeface="Calibri"/>
              <a:spcAft>
                <a:spcPts val="1000"/>
              </a:spcAft>
              <a:buSzPct val="100000"/>
              <a:buChar char="•"/>
              <a:lnSpc>
                <a:spcPts val="2200"/>
              </a:lnSpc>
            </a:pPr>
            <a:r>
              <a:rPr sz="2000" b="0">
                <a:solidFill>
                  <a:srgbClr val="333333"/>
                </a:solidFill>
                <a:latin typeface="Calibri"/>
              </a:rPr>
              <a:t>Environment drift remains a top failure mode when dependencies are unpinned</a:t>
            </a:r>
          </a:p>
          <a:p>
            <a:pPr lvl="0" marL="457200" indent="-228600">
              <a:buFont typeface="Calibri"/>
              <a:spcAft>
                <a:spcPts val="1000"/>
              </a:spcAft>
              <a:buSzPct val="100000"/>
              <a:buChar char="•"/>
              <a:lnSpc>
                <a:spcPts val="2200"/>
              </a:lnSpc>
            </a:pPr>
            <a:r>
              <a:rPr sz="2000" b="0">
                <a:solidFill>
                  <a:srgbClr val="333333"/>
                </a:solidFill>
                <a:latin typeface="Calibri"/>
              </a:rPr>
              <a:t>Audit trails that link retraining to data versions make published models checkable</a:t>
            </a:r>
          </a:p>
          <a:p>
            <a:pPr lvl="0" marL="457200" indent="-228600">
              <a:buFont typeface="Calibri"/>
              <a:spcAft>
                <a:spcPts val="1000"/>
              </a:spcAft>
              <a:buSzPct val="100000"/>
              <a:buChar char="•"/>
              <a:lnSpc>
                <a:spcPts val="2200"/>
              </a:lnSpc>
            </a:pPr>
            <a:r>
              <a:rPr sz="2000" b="0">
                <a:solidFill>
                  <a:srgbClr val="333333"/>
                </a:solidFill>
                <a:latin typeface="Calibri"/>
              </a:rPr>
              <a:t>Climate-scale collaborations show why FAIR, versioning</a:t>
            </a:r>
          </a:p>
          <a:p>
            <a:pPr lvl="0" marL="457200" indent="-228600">
              <a:buFont typeface="Calibri"/>
              <a:spcAft>
                <a:spcPts val="1000"/>
              </a:spcAft>
              <a:buSzPct val="100000"/>
              <a:buChar char="•"/>
              <a:lnSpc>
                <a:spcPts val="2200"/>
              </a:lnSpc>
            </a:pPr>
            <a:r>
              <a:rPr sz="2000" b="0">
                <a:solidFill>
                  <a:srgbClr val="333333"/>
                </a:solidFill>
                <a:latin typeface="Calibri"/>
              </a:rPr>
              <a:t>The chapter closes by tying research-facing reproducibility to the operational foundations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 to finish Chapter 13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