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every study has a complete frame or the budget for probability draws. This part adds systematic sampling on ordered lists and two non-probability designs—convenience and snowball—used when access, not inference,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implement systematic sampling on an ordered frame with awareness of periodicity, contrast convenience and snowball non-probability designs, and state when each design is defensible versus when generalizable claims are inappropriate.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previous part covered simple random, stratified, and cluster sampling from usable frames. This section adds one more probability option—systematic sampling on an ordered list—and two non-probability options that trade external validity for access: convenience and snowball sampling. The decision rule is whether inference to a population is required or whether exploratory access is the binding constraint.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Systematic sampling selects every nth unit from an ordered frame after choosing a random start. If a population of five hundred must yield fifty interviews, the interval is ten; a random start of four yields units four, fourteen, twenty-four, and so on. When the start is random and the frame is complete, each unit still has a known chance of selection, and administration is often faster than drawing many independent random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2.13 shows a clean use case and the periodicity trap on the same kind of list. A professional society wants fifty interview slots from a five-hundred-person alphabetical directory. With interval ten and a random start of four, members four, fourteen, twenty-four, and so on are invited. If the directory had instead been sorted by chapter in a repeating urban–rural pattern every ten rows, the same stride could over-represent one chapter type; shuffling before the draw removes that risk. Open the example 13 module to rehearse the interval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Convenience sampling recruits whoever is easiest to reach: a classroom, walk-in customers, or the first respondents to an online form. It is useful for pilots and formative work where speed matters more than population inference, and it is explicitly non-probability: inclusion chances are unknown. Convenience samples buy access at the cost of bias and limited diversity. They scaffold instrument testing, not population claims.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2.14 shows a typical campus intercept study and why its estimates should be labeled exploratory. A researcher surveys the first one hundred students entering the library during exam week. The design is cheap and fast, but evening commuters, remote students, and non-library users are missing, so findings should not be treated as campus-wide rates. Try the example 14 module to document who is excluded from the frame.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Snowball sampling starts with a few eligible seeds and asks them to refer others who meet study criteria. The sample grows through social ties, which is often the only practical way to reach hidden or stigmatized populations when no frame exists. Referrals lower recruitment cost, yet they concentrate homogeneity: seeds recruit people like themselves. Findings should be interpreted as network-conditioned evidence rather than as population parameters, and privacy protections for both participants and referrals are essential.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systematic sampling for efficient probability draws on clean lists, but inspect ordering for periodicity first. Reserve convenience and snowball designs for exploratory or hard-to-reach settings, and report their limits openly. When generalizable claims are required, return to the probability designs from the previous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tools for data collection—how platforms and libraries implement earlier method choices.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Additional sampling techniques</a:t>
            </a:r>
          </a:p>
          <a:p>
            <a:pPr algn="ctr">
              <a:lnSpc>
                <a:spcPts val="2200"/>
              </a:lnSpc>
              <a:spcBef>
                <a:spcPts val="1400"/>
              </a:spcBef>
            </a:pPr>
            <a:r>
              <a:rPr sz="2600" b="0">
                <a:solidFill>
                  <a:srgbClr val="333333"/>
                </a:solidFill>
                <a:latin typeface="Calibri"/>
              </a:rPr>
              <a:t>Not every study has a complete frame or the budget for probability draws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Implement systematic sampling on an ordered frame with awareness of periodicity</a:t>
            </a:r>
          </a:p>
          <a:p>
            <a:pPr>
              <a:spcAft>
                <a:spcPts val="1000"/>
              </a:spcAft>
              <a:buChar char="•"/>
              <a:lnSpc>
                <a:spcPts val="2200"/>
              </a:lnSpc>
            </a:pPr>
            <a:r>
              <a:rPr sz="2000" b="0">
                <a:solidFill>
                  <a:srgbClr val="333333"/>
                </a:solidFill>
                <a:latin typeface="Calibri"/>
              </a:rPr>
              <a:t>State when each design is defensible versus when generalizable claims are inappropriate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Beyond the three probability designs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The previous part covered simple random, stratified</a:t>
            </a:r>
          </a:p>
          <a:p>
            <a:pPr>
              <a:spcAft>
                <a:spcPts val="1000"/>
              </a:spcAft>
              <a:buChar char="•"/>
              <a:lnSpc>
                <a:spcPts val="2200"/>
              </a:lnSpc>
            </a:pPr>
            <a:r>
              <a:rPr sz="2000" b="0">
                <a:solidFill>
                  <a:srgbClr val="333333"/>
                </a:solidFill>
                <a:latin typeface="Calibri"/>
              </a:rPr>
              <a:t>Convenience and snowball sampling</a:t>
            </a:r>
          </a:p>
          <a:p>
            <a:pPr>
              <a:spcAft>
                <a:spcPts val="1000"/>
              </a:spcAft>
              <a:buChar char="•"/>
              <a:lnSpc>
                <a:spcPts val="2200"/>
              </a:lnSpc>
            </a:pPr>
            <a:r>
              <a:rPr sz="2000" b="0">
                <a:solidFill>
                  <a:srgbClr val="333333"/>
                </a:solidFill>
                <a:latin typeface="Calibri"/>
              </a:rPr>
              <a:t>The decision rule is whether inference to a population is required or whether exploratory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Systematic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Systematic sampling selects every nth unit from an ordered frame after choosing a random</a:t>
            </a:r>
          </a:p>
          <a:p>
            <a:pPr>
              <a:spcAft>
                <a:spcPts val="1000"/>
              </a:spcAft>
              <a:buChar char="•"/>
              <a:lnSpc>
                <a:spcPts val="2200"/>
              </a:lnSpc>
            </a:pPr>
            <a:r>
              <a:rPr sz="2000" b="0">
                <a:solidFill>
                  <a:srgbClr val="333333"/>
                </a:solidFill>
                <a:latin typeface="Calibri"/>
              </a:rPr>
              <a:t>If a population of five hundred must yield fifty interviews, the interval is ten</a:t>
            </a:r>
          </a:p>
          <a:p>
            <a:pPr>
              <a:spcAft>
                <a:spcPts val="1000"/>
              </a:spcAft>
              <a:buChar char="•"/>
              <a:lnSpc>
                <a:spcPts val="2200"/>
              </a:lnSpc>
            </a:pPr>
            <a:r>
              <a:rPr sz="2000" b="0">
                <a:solidFill>
                  <a:srgbClr val="333333"/>
                </a:solidFill>
                <a:latin typeface="Calibri"/>
              </a:rPr>
              <a:t>Administration is often faster than drawing many independent random numbers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2.13 — Systematic draw from a membership directory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2.13 — hands-on module</a:t>
            </a:r>
          </a:p>
          <a:p>
            <a:pPr>
              <a:spcAft>
                <a:spcPts val="1000"/>
              </a:spcAft>
              <a:buChar char="•"/>
              <a:lnSpc>
                <a:spcPts val="2200"/>
              </a:lnSpc>
            </a:pPr>
            <a:r>
              <a:rPr sz="2000" b="0">
                <a:solidFill>
                  <a:srgbClr val="333333"/>
                </a:solidFill>
                <a:latin typeface="Calibri"/>
              </a:rPr>
              <a:t>Example 2.13 shows a clean use case and the periodicity trap on the same kind of list</a:t>
            </a:r>
          </a:p>
          <a:p>
            <a:pPr>
              <a:spcAft>
                <a:spcPts val="1000"/>
              </a:spcAft>
              <a:buChar char="•"/>
              <a:lnSpc>
                <a:spcPts val="2200"/>
              </a:lnSpc>
            </a:pPr>
            <a:r>
              <a:rPr sz="2000" b="0">
                <a:solidFill>
                  <a:srgbClr val="333333"/>
                </a:solidFill>
                <a:latin typeface="Calibri"/>
              </a:rPr>
              <a:t>A professional society wants fifty interview slots from a five-hundred-person alphabetical</a:t>
            </a:r>
          </a:p>
          <a:p>
            <a:pPr>
              <a:spcAft>
                <a:spcPts val="1000"/>
              </a:spcAft>
              <a:buChar char="•"/>
              <a:lnSpc>
                <a:spcPts val="2200"/>
              </a:lnSpc>
            </a:pPr>
            <a:r>
              <a:rPr sz="2000" b="0">
                <a:solidFill>
                  <a:srgbClr val="333333"/>
                </a:solidFill>
                <a:latin typeface="Calibri"/>
              </a:rPr>
              <a:t>With interval ten and a random start of four, members four, fourteen, twenty-four</a:t>
            </a:r>
          </a:p>
          <a:p>
            <a:pPr>
              <a:spcAft>
                <a:spcPts val="1000"/>
              </a:spcAft>
              <a:buChar char="•"/>
              <a:lnSpc>
                <a:spcPts val="2200"/>
              </a:lnSpc>
            </a:pPr>
            <a:r>
              <a:rPr sz="2000" b="0">
                <a:solidFill>
                  <a:srgbClr val="333333"/>
                </a:solidFill>
                <a:latin typeface="Calibri"/>
              </a:rPr>
              <a:t>Shuffling before the draw removes that risk</a:t>
            </a:r>
          </a:p>
          <a:p>
            <a:pPr>
              <a:spcAft>
                <a:spcPts val="1000"/>
              </a:spcAft>
              <a:buChar char="•"/>
              <a:lnSpc>
                <a:spcPts val="2200"/>
              </a:lnSpc>
            </a:pPr>
            <a:r>
              <a:rPr sz="2000" b="0">
                <a:solidFill>
                  <a:srgbClr val="333333"/>
                </a:solidFill>
                <a:latin typeface="Calibri"/>
              </a:rPr>
              <a:t>View files: `modules/chapter2/example13/`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Convenience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Convenience sampling recruits whoever is easiest to reach</a:t>
            </a:r>
          </a:p>
          <a:p>
            <a:pPr>
              <a:spcAft>
                <a:spcPts val="1000"/>
              </a:spcAft>
              <a:buChar char="•"/>
              <a:lnSpc>
                <a:spcPts val="2200"/>
              </a:lnSpc>
            </a:pPr>
            <a:r>
              <a:rPr sz="2000" b="0">
                <a:solidFill>
                  <a:srgbClr val="333333"/>
                </a:solidFill>
                <a:latin typeface="Calibri"/>
              </a:rPr>
              <a:t>Inclusion chances are unknown</a:t>
            </a:r>
          </a:p>
          <a:p>
            <a:pPr>
              <a:spcAft>
                <a:spcPts val="1000"/>
              </a:spcAft>
              <a:buChar char="•"/>
              <a:lnSpc>
                <a:spcPts val="2200"/>
              </a:lnSpc>
            </a:pPr>
            <a:r>
              <a:rPr sz="2000" b="0">
                <a:solidFill>
                  <a:srgbClr val="333333"/>
                </a:solidFill>
                <a:latin typeface="Calibri"/>
              </a:rPr>
              <a:t>Convenience samples buy access at the cost of bias and limited diversity</a:t>
            </a:r>
          </a:p>
          <a:p>
            <a:pPr>
              <a:spcAft>
                <a:spcPts val="1000"/>
              </a:spcAft>
              <a:buChar char="•"/>
              <a:lnSpc>
                <a:spcPts val="2200"/>
              </a:lnSpc>
            </a:pPr>
            <a:r>
              <a:rPr sz="2000" b="0">
                <a:solidFill>
                  <a:srgbClr val="333333"/>
                </a:solidFill>
                <a:latin typeface="Calibri"/>
              </a:rPr>
              <a:t>They scaffold instrument testing, not population claims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2.14 — Convenience sample on a university campus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2.14 — hands-on module</a:t>
            </a:r>
          </a:p>
          <a:p>
            <a:pPr>
              <a:spcAft>
                <a:spcPts val="1000"/>
              </a:spcAft>
              <a:buChar char="•"/>
              <a:lnSpc>
                <a:spcPts val="2200"/>
              </a:lnSpc>
            </a:pPr>
            <a:r>
              <a:rPr sz="2000" b="0">
                <a:solidFill>
                  <a:srgbClr val="333333"/>
                </a:solidFill>
                <a:latin typeface="Calibri"/>
              </a:rPr>
              <a:t>Example 2.14 shows a typical campus intercept study and why its estimates should be</a:t>
            </a:r>
          </a:p>
          <a:p>
            <a:pPr>
              <a:spcAft>
                <a:spcPts val="1000"/>
              </a:spcAft>
              <a:buChar char="•"/>
              <a:lnSpc>
                <a:spcPts val="2200"/>
              </a:lnSpc>
            </a:pPr>
            <a:r>
              <a:rPr sz="2000" b="0">
                <a:solidFill>
                  <a:srgbClr val="333333"/>
                </a:solidFill>
                <a:latin typeface="Calibri"/>
              </a:rPr>
              <a:t>A researcher surveys the first one hundred students entering the library during exam week</a:t>
            </a:r>
          </a:p>
          <a:p>
            <a:pPr>
              <a:spcAft>
                <a:spcPts val="1000"/>
              </a:spcAft>
              <a:buChar char="•"/>
              <a:lnSpc>
                <a:spcPts val="2200"/>
              </a:lnSpc>
            </a:pPr>
            <a:r>
              <a:rPr sz="2000" b="0">
                <a:solidFill>
                  <a:srgbClr val="333333"/>
                </a:solidFill>
                <a:latin typeface="Calibri"/>
              </a:rPr>
              <a:t>The design is cheap and fast, but evening commuters, remote students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Snowball sampling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Snowball sampling starts with a few eligible seeds and asks them to refer others who meet</a:t>
            </a:r>
          </a:p>
          <a:p>
            <a:pPr>
              <a:spcAft>
                <a:spcPts val="1000"/>
              </a:spcAft>
              <a:buChar char="•"/>
              <a:lnSpc>
                <a:spcPts val="2200"/>
              </a:lnSpc>
            </a:pPr>
            <a:r>
              <a:rPr sz="2000" b="0">
                <a:solidFill>
                  <a:srgbClr val="333333"/>
                </a:solidFill>
                <a:latin typeface="Calibri"/>
              </a:rPr>
              <a:t>The sample grows through social ties</a:t>
            </a:r>
          </a:p>
          <a:p>
            <a:pPr>
              <a:spcAft>
                <a:spcPts val="1000"/>
              </a:spcAft>
              <a:buChar char="•"/>
              <a:lnSpc>
                <a:spcPts val="2200"/>
              </a:lnSpc>
            </a:pPr>
            <a:r>
              <a:rPr sz="2000" b="0">
                <a:solidFill>
                  <a:srgbClr val="333333"/>
                </a:solidFill>
                <a:latin typeface="Calibri"/>
              </a:rPr>
              <a:t>Referrals lower recruitment cost, yet they concentrate homogeneity</a:t>
            </a:r>
          </a:p>
          <a:p>
            <a:pPr>
              <a:spcAft>
                <a:spcPts val="1000"/>
              </a:spcAft>
              <a:buChar char="•"/>
              <a:lnSpc>
                <a:spcPts val="2200"/>
              </a:lnSpc>
            </a:pPr>
            <a:r>
              <a:rPr sz="2000" b="0">
                <a:solidFill>
                  <a:srgbClr val="333333"/>
                </a:solidFill>
                <a:latin typeface="Calibri"/>
              </a:rPr>
              <a:t>Privacy protections for both participants and referrals are essential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Use systematic sampling for efficient probability draws on clean lists</a:t>
            </a:r>
          </a:p>
          <a:p>
            <a:pPr>
              <a:spcAft>
                <a:spcPts val="1000"/>
              </a:spcAft>
              <a:buChar char="•"/>
              <a:lnSpc>
                <a:spcPts val="2200"/>
              </a:lnSpc>
            </a:pPr>
            <a:r>
              <a:rPr sz="2000" b="0">
                <a:solidFill>
                  <a:srgbClr val="333333"/>
                </a:solidFill>
                <a:latin typeface="Calibri"/>
              </a:rPr>
              <a:t>Reserve convenience and snowball designs for exploratory or hard-to-reach settings</a:t>
            </a:r>
          </a:p>
          <a:p>
            <a:pPr>
              <a:spcAft>
                <a:spcPts val="1000"/>
              </a:spcAft>
              <a:buChar char="•"/>
              <a:lnSpc>
                <a:spcPts val="2200"/>
              </a:lnSpc>
            </a:pPr>
            <a:r>
              <a:rPr sz="2000" b="0">
                <a:solidFill>
                  <a:srgbClr val="333333"/>
                </a:solidFill>
                <a:latin typeface="Calibri"/>
              </a:rPr>
              <a:t>When generalizable claims are required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Additional Sampling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