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instruments gather answers; sampling decides whose answers count for inference. This part introduces simple random, stratified, and cluster designs and when each fits a usable frame.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why sampling underpins generalization, describe simple random, stratified, and cluster probability designs, and match each design to a typical population and logistics profile.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lets researchers learn about a population from a manageable subset of cases. A well-chosen sample supports generalization; a poorly chosen one quietly embeds bias into every downstream model and report. This part covers three probability designs that appear repeatedly in practice: simple random, stratified, and cluster sampling. Each assumes a usable sampling frame unless noted otherwise.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simple random sampling, each population member has an equal chance of selection. The method reduces selection bias when a complete frame exists and when the sample is large enough to support the desired margin of error. Operationally, teams build a complete list, draw units with a random process, and invite participation. Its practical limits are incomplete frames and non-response: people who ignore invitations may differ systematically from those who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2.10 shows a clean frame case. A firm with two thousand employees on a complete human-resources roster wants feedback on a new benefits portal. Analysts draw two hundred employee identifiers uniformly at random and invite those people by email. If response is high, portal satisfaction can be generalized to the workforce, but non-respondents may still differ from respondents. Open the example 10 module to review the draw mechanics.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Stratified sampling first partitions the population into meaningful subgroups—strata such as age bands, regions, or device classes—then draws a random sample within each stratum. The design improves precision when subgroups differ on the outcome of interest and guarantees representation of smaller but important segments. Costs include planning complexity and the need for prior knowledge to define strata correctly.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2.11 mirrors the retail cart-abandonment study from the chapter opener. Analysts divide recent abandoners into mobile and desktop strata, then draw random samples of equal size from each. The design ensures that device-specific checkout friction is visible even if one device class is rarer in the population. Try the example 11 module to see how stratification protects rare segments.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 sampling selects groups of units—schools, clinics, city blocks—and then observes all or some members inside chosen clusters. It is attractive when individual frames are unavailable or when travel costs make visiting scattered individuals impractical. Clusters can be efficient, yet they often reduce precision when units inside a cluster are similar. Prefer clusters that still reflect population diversity when logistics dominate.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random sampling when the population is relatively homogeneous and a complete list exists. Use stratified sampling when key subgroups must appear in sufficient numbers. Use cluster sampling when logistics dominate and entire sites can be visited as units. Non-probability options for weak frames appear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additional sampling techniques—systematic draws and non-probability designs when access, not inference, is the binding constraint.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Probability sampling</a:t>
            </a:r>
          </a:p>
          <a:p>
            <a:pPr algn="ctr">
              <a:lnSpc>
                <a:spcPts val="2200"/>
              </a:lnSpc>
              <a:spcBef>
                <a:spcPts val="1400"/>
              </a:spcBef>
            </a:pPr>
            <a:r>
              <a:rPr sz="2600" b="0">
                <a:solidFill>
                  <a:srgbClr val="333333"/>
                </a:solidFill>
                <a:latin typeface="Calibri"/>
              </a:rPr>
              <a:t>Collection instruments gather answers; sampling decides whose answers count for inference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why sampling underpins generalization, describe simple random, stratified</a:t>
            </a:r>
          </a:p>
          <a:p>
            <a:pPr>
              <a:spcAft>
                <a:spcPts val="1000"/>
              </a:spcAft>
              <a:buChar char="•"/>
              <a:lnSpc>
                <a:spcPts val="2200"/>
              </a:lnSpc>
            </a:pPr>
            <a:r>
              <a:rPr sz="2000" b="0">
                <a:solidFill>
                  <a:srgbClr val="333333"/>
                </a:solidFill>
                <a:latin typeface="Calibri"/>
              </a:rPr>
              <a:t>Cluster probability designs</a:t>
            </a:r>
          </a:p>
          <a:p>
            <a:pPr>
              <a:spcAft>
                <a:spcPts val="1000"/>
              </a:spcAft>
              <a:buChar char="•"/>
              <a:lnSpc>
                <a:spcPts val="2200"/>
              </a:lnSpc>
            </a:pPr>
            <a:r>
              <a:rPr sz="2000" b="0">
                <a:solidFill>
                  <a:srgbClr val="333333"/>
                </a:solidFill>
                <a:latin typeface="Calibri"/>
              </a:rPr>
              <a:t>Match each design to a typical population and logistics profile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sampling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Sampling lets researchers learn about a population from a manageable subset of cases</a:t>
            </a:r>
          </a:p>
          <a:p>
            <a:pPr>
              <a:spcAft>
                <a:spcPts val="1000"/>
              </a:spcAft>
              <a:buChar char="•"/>
              <a:lnSpc>
                <a:spcPts val="2200"/>
              </a:lnSpc>
            </a:pPr>
            <a:r>
              <a:rPr sz="2000" b="0">
                <a:solidFill>
                  <a:srgbClr val="333333"/>
                </a:solidFill>
                <a:latin typeface="Calibri"/>
              </a:rPr>
              <a:t>A well-chosen sample supports generalization</a:t>
            </a:r>
          </a:p>
          <a:p>
            <a:pPr>
              <a:spcAft>
                <a:spcPts val="1000"/>
              </a:spcAft>
              <a:buChar char="•"/>
              <a:lnSpc>
                <a:spcPts val="2200"/>
              </a:lnSpc>
            </a:pPr>
            <a:r>
              <a:rPr sz="2000" b="0">
                <a:solidFill>
                  <a:srgbClr val="333333"/>
                </a:solidFill>
                <a:latin typeface="Calibri"/>
              </a:rPr>
              <a:t>This part covers three probability designs that appear repeatedly in practice</a:t>
            </a:r>
          </a:p>
          <a:p>
            <a:pPr>
              <a:spcAft>
                <a:spcPts val="1000"/>
              </a:spcAft>
              <a:buChar char="•"/>
              <a:lnSpc>
                <a:spcPts val="2200"/>
              </a:lnSpc>
            </a:pPr>
            <a:r>
              <a:rPr sz="2000" b="0">
                <a:solidFill>
                  <a:srgbClr val="333333"/>
                </a:solidFill>
                <a:latin typeface="Calibri"/>
              </a:rPr>
              <a:t>Each assumes a usable sampling frame unless noted otherwise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Simple random sampling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simple random sampling, each population member has an equal chance of selection</a:t>
            </a:r>
          </a:p>
          <a:p>
            <a:pPr>
              <a:spcAft>
                <a:spcPts val="1000"/>
              </a:spcAft>
              <a:buChar char="•"/>
              <a:lnSpc>
                <a:spcPts val="2200"/>
              </a:lnSpc>
            </a:pPr>
            <a:r>
              <a:rPr sz="2000" b="0">
                <a:solidFill>
                  <a:srgbClr val="333333"/>
                </a:solidFill>
                <a:latin typeface="Calibri"/>
              </a:rPr>
              <a:t>The method reduces selection bias when a complete frame exists and when the sample is</a:t>
            </a:r>
          </a:p>
          <a:p>
            <a:pPr>
              <a:spcAft>
                <a:spcPts val="1000"/>
              </a:spcAft>
              <a:buChar char="•"/>
              <a:lnSpc>
                <a:spcPts val="2200"/>
              </a:lnSpc>
            </a:pPr>
            <a:r>
              <a:rPr sz="2000" b="0">
                <a:solidFill>
                  <a:srgbClr val="333333"/>
                </a:solidFill>
                <a:latin typeface="Calibri"/>
              </a:rPr>
              <a:t>Operationally, teams build a complete list, draw units with a random process</a:t>
            </a:r>
          </a:p>
          <a:p>
            <a:pPr>
              <a:spcAft>
                <a:spcPts val="1000"/>
              </a:spcAft>
              <a:buChar char="•"/>
              <a:lnSpc>
                <a:spcPts val="2200"/>
              </a:lnSpc>
            </a:pPr>
            <a:r>
              <a:rPr sz="2000" b="0">
                <a:solidFill>
                  <a:srgbClr val="333333"/>
                </a:solidFill>
                <a:latin typeface="Calibri"/>
              </a:rPr>
              <a:t>Its practical limits are incomplete frames and non-response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2.10 — Simple random draw from an employee roster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2.10 — hands-on module</a:t>
            </a:r>
          </a:p>
          <a:p>
            <a:pPr>
              <a:spcAft>
                <a:spcPts val="1000"/>
              </a:spcAft>
              <a:buChar char="•"/>
              <a:lnSpc>
                <a:spcPts val="2200"/>
              </a:lnSpc>
            </a:pPr>
            <a:r>
              <a:rPr sz="2000" b="0">
                <a:solidFill>
                  <a:srgbClr val="333333"/>
                </a:solidFill>
                <a:latin typeface="Calibri"/>
              </a:rPr>
              <a:t>Example 2.10 shows a clean frame case</a:t>
            </a:r>
          </a:p>
          <a:p>
            <a:pPr>
              <a:spcAft>
                <a:spcPts val="1000"/>
              </a:spcAft>
              <a:buChar char="•"/>
              <a:lnSpc>
                <a:spcPts val="2200"/>
              </a:lnSpc>
            </a:pPr>
            <a:r>
              <a:rPr sz="2000" b="0">
                <a:solidFill>
                  <a:srgbClr val="333333"/>
                </a:solidFill>
                <a:latin typeface="Calibri"/>
              </a:rPr>
              <a:t>A firm with two thousand employees on a complete human-resources roster wants feedback on</a:t>
            </a:r>
          </a:p>
          <a:p>
            <a:pPr>
              <a:spcAft>
                <a:spcPts val="1000"/>
              </a:spcAft>
              <a:buChar char="•"/>
              <a:lnSpc>
                <a:spcPts val="2200"/>
              </a:lnSpc>
            </a:pPr>
            <a:r>
              <a:rPr sz="2000" b="0">
                <a:solidFill>
                  <a:srgbClr val="333333"/>
                </a:solidFill>
                <a:latin typeface="Calibri"/>
              </a:rPr>
              <a:t>Analysts draw two hundred employee identifiers uniformly at random and invite those people</a:t>
            </a:r>
          </a:p>
          <a:p>
            <a:pPr>
              <a:spcAft>
                <a:spcPts val="1000"/>
              </a:spcAft>
              <a:buChar char="•"/>
              <a:lnSpc>
                <a:spcPts val="2200"/>
              </a:lnSpc>
            </a:pPr>
            <a:r>
              <a:rPr sz="2000" b="0">
                <a:solidFill>
                  <a:srgbClr val="333333"/>
                </a:solidFill>
                <a:latin typeface="Calibri"/>
              </a:rPr>
              <a:t>If response is high</a:t>
            </a:r>
          </a:p>
          <a:p>
            <a:pPr>
              <a:spcAft>
                <a:spcPts val="1000"/>
              </a:spcAft>
              <a:buChar char="•"/>
              <a:lnSpc>
                <a:spcPts val="2200"/>
              </a:lnSpc>
            </a:pPr>
            <a:r>
              <a:rPr sz="2000" b="0">
                <a:solidFill>
                  <a:srgbClr val="333333"/>
                </a:solidFill>
                <a:latin typeface="Calibri"/>
              </a:rPr>
              <a:t>View files: `modules/chapter2/example10/`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Stratified sampling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Stratified sampling first partitions the population into meaningful subgroups</a:t>
            </a:r>
          </a:p>
          <a:p>
            <a:pPr>
              <a:spcAft>
                <a:spcPts val="1000"/>
              </a:spcAft>
              <a:buChar char="•"/>
              <a:lnSpc>
                <a:spcPts val="2200"/>
              </a:lnSpc>
            </a:pPr>
            <a:r>
              <a:rPr sz="2000" b="0">
                <a:solidFill>
                  <a:srgbClr val="333333"/>
                </a:solidFill>
                <a:latin typeface="Calibri"/>
              </a:rPr>
              <a:t>The design improves precision when subgroups differ on the outcome of interest and</a:t>
            </a:r>
          </a:p>
          <a:p>
            <a:pPr>
              <a:spcAft>
                <a:spcPts val="1000"/>
              </a:spcAft>
              <a:buChar char="•"/>
              <a:lnSpc>
                <a:spcPts val="2200"/>
              </a:lnSpc>
            </a:pPr>
            <a:r>
              <a:rPr sz="2000" b="0">
                <a:solidFill>
                  <a:srgbClr val="333333"/>
                </a:solidFill>
                <a:latin typeface="Calibri"/>
              </a:rPr>
              <a:t>Costs include planning complexity and the need for prior knowledge to define strata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2.11 — Stratified sample of cart abandoners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2.11 — hands-on module</a:t>
            </a:r>
          </a:p>
          <a:p>
            <a:pPr>
              <a:spcAft>
                <a:spcPts val="1000"/>
              </a:spcAft>
              <a:buChar char="•"/>
              <a:lnSpc>
                <a:spcPts val="2200"/>
              </a:lnSpc>
            </a:pPr>
            <a:r>
              <a:rPr sz="2000" b="0">
                <a:solidFill>
                  <a:srgbClr val="333333"/>
                </a:solidFill>
                <a:latin typeface="Calibri"/>
              </a:rPr>
              <a:t>Example 2.11 mirrors the retail cart-abandonment study from the chapter opener</a:t>
            </a:r>
          </a:p>
          <a:p>
            <a:pPr>
              <a:spcAft>
                <a:spcPts val="1000"/>
              </a:spcAft>
              <a:buChar char="•"/>
              <a:lnSpc>
                <a:spcPts val="2200"/>
              </a:lnSpc>
            </a:pPr>
            <a:r>
              <a:rPr sz="2000" b="0">
                <a:solidFill>
                  <a:srgbClr val="333333"/>
                </a:solidFill>
                <a:latin typeface="Calibri"/>
              </a:rPr>
              <a:t>Analysts divide recent abandoners into mobile and desktop strata</a:t>
            </a:r>
          </a:p>
          <a:p>
            <a:pPr>
              <a:spcAft>
                <a:spcPts val="1000"/>
              </a:spcAft>
              <a:buChar char="•"/>
              <a:lnSpc>
                <a:spcPts val="2200"/>
              </a:lnSpc>
            </a:pPr>
            <a:r>
              <a:rPr sz="2000" b="0">
                <a:solidFill>
                  <a:srgbClr val="333333"/>
                </a:solidFill>
                <a:latin typeface="Calibri"/>
              </a:rPr>
              <a:t>The design ensures that device-specific checkout friction is visible even if one device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Cluster sampling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Cluster sampling selects groups of units, schools, clinics, city blocks</a:t>
            </a:r>
          </a:p>
          <a:p>
            <a:pPr>
              <a:spcAft>
                <a:spcPts val="1000"/>
              </a:spcAft>
              <a:buChar char="•"/>
              <a:lnSpc>
                <a:spcPts val="2200"/>
              </a:lnSpc>
            </a:pPr>
            <a:r>
              <a:rPr sz="2000" b="0">
                <a:solidFill>
                  <a:srgbClr val="333333"/>
                </a:solidFill>
                <a:latin typeface="Calibri"/>
              </a:rPr>
              <a:t>It is attractive when individual frames are unavailable or when travel costs make visiting</a:t>
            </a:r>
          </a:p>
          <a:p>
            <a:pPr>
              <a:spcAft>
                <a:spcPts val="1000"/>
              </a:spcAft>
              <a:buChar char="•"/>
              <a:lnSpc>
                <a:spcPts val="2200"/>
              </a:lnSpc>
            </a:pPr>
            <a:r>
              <a:rPr sz="2000" b="0">
                <a:solidFill>
                  <a:srgbClr val="333333"/>
                </a:solidFill>
                <a:latin typeface="Calibri"/>
              </a:rPr>
              <a:t>Clusters can be efficient</a:t>
            </a:r>
          </a:p>
          <a:p>
            <a:pPr>
              <a:spcAft>
                <a:spcPts val="1000"/>
              </a:spcAft>
              <a:buChar char="•"/>
              <a:lnSpc>
                <a:spcPts val="2200"/>
              </a:lnSpc>
            </a:pPr>
            <a:r>
              <a:rPr sz="2000" b="0">
                <a:solidFill>
                  <a:srgbClr val="333333"/>
                </a:solidFill>
                <a:latin typeface="Calibri"/>
              </a:rPr>
              <a:t>Prefer clusters that still reflect population diversity when logistics dominate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Use random sampling when the population is relatively homogeneous and a complete list</a:t>
            </a:r>
          </a:p>
          <a:p>
            <a:pPr>
              <a:spcAft>
                <a:spcPts val="1000"/>
              </a:spcAft>
              <a:buChar char="•"/>
              <a:lnSpc>
                <a:spcPts val="2200"/>
              </a:lnSpc>
            </a:pPr>
            <a:r>
              <a:rPr sz="2000" b="0">
                <a:solidFill>
                  <a:srgbClr val="333333"/>
                </a:solidFill>
                <a:latin typeface="Calibri"/>
              </a:rPr>
              <a:t>Use stratified sampling when key subgroups must appear in sufficient numbers</a:t>
            </a:r>
          </a:p>
          <a:p>
            <a:pPr>
              <a:spcAft>
                <a:spcPts val="1000"/>
              </a:spcAft>
              <a:buChar char="•"/>
              <a:lnSpc>
                <a:spcPts val="2200"/>
              </a:lnSpc>
            </a:pPr>
            <a:r>
              <a:rPr sz="2000" b="0">
                <a:solidFill>
                  <a:srgbClr val="333333"/>
                </a:solidFill>
                <a:latin typeface="Calibri"/>
              </a:rPr>
              <a:t>Use cluster sampling when logistics dominate and entire sites can be visited as units</a:t>
            </a:r>
          </a:p>
          <a:p>
            <a:pPr>
              <a:spcAft>
                <a:spcPts val="1000"/>
              </a:spcAft>
              <a:buChar char="•"/>
              <a:lnSpc>
                <a:spcPts val="2200"/>
              </a:lnSpc>
            </a:pPr>
            <a:r>
              <a:rPr sz="2000" b="0">
                <a:solidFill>
                  <a:srgbClr val="333333"/>
                </a:solidFill>
                <a:latin typeface="Calibri"/>
              </a:rPr>
              <a:t>Non-probability options for weak frames appear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Probability Sampling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