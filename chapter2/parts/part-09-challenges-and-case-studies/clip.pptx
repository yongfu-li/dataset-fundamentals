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 good tools fail when quality, bias, or integration are ignored. This final part covers preventable collection defects, channel bias, and how the same design questions appear in election sentiment, climate monitoring, and remote healthcare programs.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name recurring collection-time quality, bias, and integration failures, describe design-level countermeasures, and recognize how sources, methods, samples, and tools combine in short domain case studies.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 well-chosen methods and tools fail when quality, bias, or scale are ignored at collection time. This section stays at the prevention layer: how design choices introduce defects before any cleaner or warehouse can help. Remediation belongs to later chapters on data quality and bias; here the focus is stopping missingness, uneven frames, and incompatible feeds at the source.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Collection is the first place quality defects appear: unanswered survey items, duplicated submissions, conflicting demographic fields, or mistyped measurements. Automated sensors add dropouts and calibration drift; manual entry adds transcription error. Prevention begins at the instrument: validation rules at entry, required fields where appropriate, unique keys that prevent double posting, and documented catch-up processes when paper or offline fallbacks are used. After collection, imputation cannot invent information that was never measured.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2.19 shows how a collection-protocol gap produces a completeness failure. A clinic intake table arrives with blank diagnosis codes for evening arrivals because the night shift used a paper fallback form. Without a documented catch-up process, analysts either drop those rows or impute labels that never existed in the source protocol. Open the example 19 module to trace the defect to a protocol gap rather than a cleaning bug.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Bias enters when some people or events are systematically more likely to be observed than others. At collection time the usual paths are sampling bias from uneven frames or convenience designs, selection bias when channels exclude offline populations, and measurement bias when instruments are poorly calibrated. Countermeasures are design-level: prefer random or stratified draws when inference is the goal, document exclusions, audit instruments, and report limitations transparently.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campaigns grow, volume and heterogeneity dominate. IoT and social streams produce continuous arrivals that overwhelm single-server workflows, while departmental silos and mixed formats block a unified view of the same entity. At collection time the design responses are modest but decisive: agree on schemas and identifiers before feeds multiply, set retention and alerting rules before volume peaks, and plan how streams will join. Without a shared station identifier and clock policy, separate vendor feeds cannot fuse into one analytical table.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Social platforms emit continuous public text that teams often want for sentiment tracking or issue monitoring. As a collection design, the usual stack is a real-time or near-real-time source, an API method with scraping only as a policy-constrained fallback, and automated polling tools. Sampling is often convenience or keyword-gated rather than a probability draw, so external validity limits apply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2.22 sketches the capture job for a campaign context. A team streams posts mentioning a candidate through an official API, stores text, timestamps, and engagement counts, and applies bot filters before any hourly aggregate is shown to leaders. Retention is capped at the campaign window, and public-post handling follows privacy constraints developed in the next chapter. Try the example 22 module to separate collection protocol from downstream sentiment scoring.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Climate and environmental programs combine ground sensors, satellite products, and historical archives. Collection design mixes primary IoT streams with secondary remote-sensing layers and demands shared station identifiers, clocks, and calibration schedules before dashboards are promised. Healthcare collection spans wearables, remote monitoring devices, and electronic health records. Remote monitoring for chronic conditions only works when encryption, access control, consent records, and standardized identifiers are engineered alongside the sensors. Together, these cases return to the chapter's central lesson: collection design chooses sources, methods, samples, and tools under quality, bias, and scale constraints.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Stop defects at the instrument and protocol, not only in cleaning pipelines. Document channel exclusions and integration keys before volume peaks. Domain case studies show the same design questions in social, climate, and healthcare programs. Those choices determine whether later chapters inherit a trustworthy dataset.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quiz to finish Chapter 2. The next chapter turns to ethics and privacy—how consent, minimization, and fairness constraints reshape what may be collected and retained in the first place.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2 — Challenges and case studies</a:t>
            </a:r>
          </a:p>
          <a:p>
            <a:pPr algn="ctr">
              <a:lnSpc>
                <a:spcPts val="2200"/>
              </a:lnSpc>
              <a:spcBef>
                <a:spcPts val="1400"/>
              </a:spcBef>
            </a:pPr>
            <a:r>
              <a:rPr sz="2600" b="0">
                <a:solidFill>
                  <a:srgbClr val="333333"/>
                </a:solidFill>
                <a:latin typeface="Calibri"/>
              </a:rPr>
              <a:t>Even good tools fail when quality, bias, or integration are ignored</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Challenges And Case Studies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Name recurring collection-time quality, bias</a:t>
            </a:r>
          </a:p>
          <a:p>
            <a:pPr lvl="0" marL="457200" indent="-228600">
              <a:buFont typeface="Calibri"/>
              <a:spcAft>
                <a:spcPts val="1000"/>
              </a:spcAft>
              <a:buSzPct val="100000"/>
              <a:buChar char="•"/>
              <a:lnSpc>
                <a:spcPts val="2200"/>
              </a:lnSpc>
            </a:pPr>
            <a:r>
              <a:rPr sz="2000" b="0">
                <a:solidFill>
                  <a:srgbClr val="333333"/>
                </a:solidFill>
                <a:latin typeface="Calibri"/>
              </a:rPr>
              <a:t>Integration failures, describe design-level countermeasures</a:t>
            </a:r>
          </a:p>
          <a:p>
            <a:pPr lvl="0" marL="457200" indent="-228600">
              <a:buFont typeface="Calibri"/>
              <a:spcAft>
                <a:spcPts val="1000"/>
              </a:spcAft>
              <a:buSzPct val="100000"/>
              <a:buChar char="•"/>
              <a:lnSpc>
                <a:spcPts val="2200"/>
              </a:lnSpc>
            </a:pPr>
            <a:r>
              <a:rPr sz="2000" b="0">
                <a:solidFill>
                  <a:srgbClr val="333333"/>
                </a:solidFill>
                <a:latin typeface="Calibri"/>
              </a:rPr>
              <a:t>Recognize how sources, methods, samples</a:t>
            </a:r>
          </a:p>
          <a:p>
            <a:pPr lvl="0" marL="457200" indent="-228600">
              <a:buFont typeface="Calibri"/>
              <a:spcAft>
                <a:spcPts val="1000"/>
              </a:spcAft>
              <a:buSzPct val="100000"/>
              <a:buChar char="•"/>
              <a:lnSpc>
                <a:spcPts val="2200"/>
              </a:lnSpc>
            </a:pPr>
            <a:r>
              <a:rPr sz="2000" b="0">
                <a:solidFill>
                  <a:srgbClr val="333333"/>
                </a:solidFill>
                <a:latin typeface="Calibri"/>
              </a:rPr>
              <a:t>Tools combine in short domain case studies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Challenges And Case Studies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Prevention at collection time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Even well-chosen methods and tools fail when quality</a:t>
            </a:r>
          </a:p>
          <a:p>
            <a:pPr lvl="0" marL="457200" indent="-228600">
              <a:buFont typeface="Calibri"/>
              <a:spcAft>
                <a:spcPts val="1000"/>
              </a:spcAft>
              <a:buSzPct val="100000"/>
              <a:buChar char="•"/>
              <a:lnSpc>
                <a:spcPts val="2200"/>
              </a:lnSpc>
            </a:pPr>
            <a:r>
              <a:rPr sz="2000" b="0">
                <a:solidFill>
                  <a:srgbClr val="333333"/>
                </a:solidFill>
                <a:latin typeface="Calibri"/>
              </a:rPr>
              <a:t>This section stays at the prevention layer</a:t>
            </a:r>
          </a:p>
          <a:p>
            <a:pPr lvl="0" marL="457200" indent="-228600">
              <a:buFont typeface="Calibri"/>
              <a:spcAft>
                <a:spcPts val="1000"/>
              </a:spcAft>
              <a:buSzPct val="100000"/>
              <a:buChar char="•"/>
              <a:lnSpc>
                <a:spcPts val="2200"/>
              </a:lnSpc>
            </a:pPr>
            <a:r>
              <a:rPr sz="2000" b="0">
                <a:solidFill>
                  <a:srgbClr val="333333"/>
                </a:solidFill>
                <a:latin typeface="Calibri"/>
              </a:rPr>
              <a:t>Remediation belongs to later chapters on data quality and bias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Challenges And Case Studies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Data quality issues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Collection is the first place quality defects appear</a:t>
            </a:r>
          </a:p>
          <a:p>
            <a:pPr lvl="0" marL="457200" indent="-228600">
              <a:buFont typeface="Calibri"/>
              <a:spcAft>
                <a:spcPts val="1000"/>
              </a:spcAft>
              <a:buSzPct val="100000"/>
              <a:buChar char="•"/>
              <a:lnSpc>
                <a:spcPts val="2200"/>
              </a:lnSpc>
            </a:pPr>
            <a:r>
              <a:rPr sz="2000" b="0">
                <a:solidFill>
                  <a:srgbClr val="333333"/>
                </a:solidFill>
                <a:latin typeface="Calibri"/>
              </a:rPr>
              <a:t>Automated sensors add dropouts and calibration drift</a:t>
            </a:r>
          </a:p>
          <a:p>
            <a:pPr lvl="0" marL="457200" indent="-228600">
              <a:buFont typeface="Calibri"/>
              <a:spcAft>
                <a:spcPts val="1000"/>
              </a:spcAft>
              <a:buSzPct val="100000"/>
              <a:buChar char="•"/>
              <a:lnSpc>
                <a:spcPts val="2200"/>
              </a:lnSpc>
            </a:pPr>
            <a:r>
              <a:rPr sz="2000" b="0">
                <a:solidFill>
                  <a:srgbClr val="333333"/>
                </a:solidFill>
                <a:latin typeface="Calibri"/>
              </a:rPr>
              <a:t>Prevention begins at the instrument</a:t>
            </a:r>
          </a:p>
          <a:p>
            <a:pPr lvl="0" marL="457200" indent="-228600">
              <a:buFont typeface="Calibri"/>
              <a:spcAft>
                <a:spcPts val="1000"/>
              </a:spcAft>
              <a:buSzPct val="100000"/>
              <a:buChar char="•"/>
              <a:lnSpc>
                <a:spcPts val="2200"/>
              </a:lnSpc>
            </a:pPr>
            <a:r>
              <a:rPr sz="2000" b="0">
                <a:solidFill>
                  <a:srgbClr val="333333"/>
                </a:solidFill>
                <a:latin typeface="Calibri"/>
              </a:rPr>
              <a:t>After collection, imputation cannot invent information that was never measured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Challenges And Case Studies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2.19 — Missing fields in a clinic intake table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2.19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2.19 shows how a collection-protocol gap produces a completeness failure</a:t>
            </a:r>
          </a:p>
          <a:p>
            <a:pPr lvl="0" marL="457200" indent="-228600">
              <a:buFont typeface="Calibri"/>
              <a:spcAft>
                <a:spcPts val="1000"/>
              </a:spcAft>
              <a:buSzPct val="100000"/>
              <a:buChar char="•"/>
              <a:lnSpc>
                <a:spcPts val="2200"/>
              </a:lnSpc>
            </a:pPr>
            <a:r>
              <a:rPr sz="2000" b="0">
                <a:solidFill>
                  <a:srgbClr val="333333"/>
                </a:solidFill>
                <a:latin typeface="Calibri"/>
              </a:rPr>
              <a:t>A clinic intake table arrives with blank diagnosis codes for evening arrivals because the</a:t>
            </a:r>
          </a:p>
          <a:p>
            <a:pPr lvl="0" marL="457200" indent="-228600">
              <a:buFont typeface="Calibri"/>
              <a:spcAft>
                <a:spcPts val="1000"/>
              </a:spcAft>
              <a:buSzPct val="100000"/>
              <a:buChar char="•"/>
              <a:lnSpc>
                <a:spcPts val="2200"/>
              </a:lnSpc>
            </a:pPr>
            <a:r>
              <a:rPr sz="2000" b="0">
                <a:solidFill>
                  <a:srgbClr val="333333"/>
                </a:solidFill>
                <a:latin typeface="Calibri"/>
              </a:rPr>
              <a:t>Without a documented catch-up process</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`modules/chapter2/example19/`</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Challenges And Case Studies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Dealing with bias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Bias enters when some people or events are systematically more likely to be observed than</a:t>
            </a:r>
          </a:p>
          <a:p>
            <a:pPr lvl="0" marL="457200" indent="-228600">
              <a:buFont typeface="Calibri"/>
              <a:spcAft>
                <a:spcPts val="1000"/>
              </a:spcAft>
              <a:buSzPct val="100000"/>
              <a:buChar char="•"/>
              <a:lnSpc>
                <a:spcPts val="2200"/>
              </a:lnSpc>
            </a:pPr>
            <a:r>
              <a:rPr sz="2000" b="0">
                <a:solidFill>
                  <a:srgbClr val="333333"/>
                </a:solidFill>
                <a:latin typeface="Calibri"/>
              </a:rPr>
              <a:t>Measurement bias when instruments are poorly calibrated</a:t>
            </a:r>
          </a:p>
          <a:p>
            <a:pPr lvl="0" marL="457200" indent="-228600">
              <a:buFont typeface="Calibri"/>
              <a:spcAft>
                <a:spcPts val="1000"/>
              </a:spcAft>
              <a:buSzPct val="100000"/>
              <a:buChar char="•"/>
              <a:lnSpc>
                <a:spcPts val="2200"/>
              </a:lnSpc>
            </a:pPr>
            <a:r>
              <a:rPr sz="2000" b="0">
                <a:solidFill>
                  <a:srgbClr val="333333"/>
                </a:solidFill>
                <a:latin typeface="Calibri"/>
              </a:rPr>
              <a:t>Countermeasures are design-level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Challenges And Case Studies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Scalability and integration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As campaigns grow, volume and heterogeneity dominate</a:t>
            </a:r>
          </a:p>
          <a:p>
            <a:pPr lvl="0" marL="457200" indent="-228600">
              <a:buFont typeface="Calibri"/>
              <a:spcAft>
                <a:spcPts val="1000"/>
              </a:spcAft>
              <a:buSzPct val="100000"/>
              <a:buChar char="•"/>
              <a:lnSpc>
                <a:spcPts val="2200"/>
              </a:lnSpc>
            </a:pPr>
            <a:r>
              <a:rPr sz="2000" b="0">
                <a:solidFill>
                  <a:srgbClr val="333333"/>
                </a:solidFill>
                <a:latin typeface="Calibri"/>
              </a:rPr>
              <a:t>IoT and social streams produce continuous arrivals that overwhelm single-server workflows</a:t>
            </a:r>
          </a:p>
          <a:p>
            <a:pPr lvl="0" marL="457200" indent="-228600">
              <a:buFont typeface="Calibri"/>
              <a:spcAft>
                <a:spcPts val="1000"/>
              </a:spcAft>
              <a:buSzPct val="100000"/>
              <a:buChar char="•"/>
              <a:lnSpc>
                <a:spcPts val="2200"/>
              </a:lnSpc>
            </a:pPr>
            <a:r>
              <a:rPr sz="2000" b="0">
                <a:solidFill>
                  <a:srgbClr val="333333"/>
                </a:solidFill>
                <a:latin typeface="Calibri"/>
              </a:rPr>
              <a:t>At collection time the design responses are modest but decisive</a:t>
            </a:r>
          </a:p>
          <a:p>
            <a:pPr lvl="0" marL="457200" indent="-228600">
              <a:buFont typeface="Calibri"/>
              <a:spcAft>
                <a:spcPts val="1000"/>
              </a:spcAft>
              <a:buSzPct val="100000"/>
              <a:buChar char="•"/>
              <a:lnSpc>
                <a:spcPts val="2200"/>
              </a:lnSpc>
            </a:pPr>
            <a:r>
              <a:rPr sz="2000" b="0">
                <a:solidFill>
                  <a:srgbClr val="333333"/>
                </a:solidFill>
                <a:latin typeface="Calibri"/>
              </a:rPr>
              <a:t>Without a shared station identifier and clock policy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Challenges And Case Studies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Case study — social media analytics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Social platforms emit continuous public text that teams often want for sentiment tracking</a:t>
            </a:r>
          </a:p>
          <a:p>
            <a:pPr lvl="0" marL="457200" indent="-228600">
              <a:buFont typeface="Calibri"/>
              <a:spcAft>
                <a:spcPts val="1000"/>
              </a:spcAft>
              <a:buSzPct val="100000"/>
              <a:buChar char="•"/>
              <a:lnSpc>
                <a:spcPts val="2200"/>
              </a:lnSpc>
            </a:pPr>
            <a:r>
              <a:rPr sz="2000" b="0">
                <a:solidFill>
                  <a:srgbClr val="333333"/>
                </a:solidFill>
                <a:latin typeface="Calibri"/>
              </a:rPr>
              <a:t>Automated polling tools</a:t>
            </a:r>
          </a:p>
          <a:p>
            <a:pPr lvl="0" marL="457200" indent="-228600">
              <a:buFont typeface="Calibri"/>
              <a:spcAft>
                <a:spcPts val="1000"/>
              </a:spcAft>
              <a:buSzPct val="100000"/>
              <a:buChar char="•"/>
              <a:lnSpc>
                <a:spcPts val="2200"/>
              </a:lnSpc>
            </a:pPr>
            <a:r>
              <a:rPr sz="2000" b="0">
                <a:solidFill>
                  <a:srgbClr val="333333"/>
                </a:solidFill>
                <a:latin typeface="Calibri"/>
              </a:rPr>
              <a:t>Sampling is often convenience or keyword-gated rather than a probability draw</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Challenges And Case Studies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2.22 — Election-week sentiment collection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2.22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2.22 sketches the capture job for a campaign context</a:t>
            </a:r>
          </a:p>
          <a:p>
            <a:pPr lvl="0" marL="457200" indent="-228600">
              <a:buFont typeface="Calibri"/>
              <a:spcAft>
                <a:spcPts val="1000"/>
              </a:spcAft>
              <a:buSzPct val="100000"/>
              <a:buChar char="•"/>
              <a:lnSpc>
                <a:spcPts val="2200"/>
              </a:lnSpc>
            </a:pPr>
            <a:r>
              <a:rPr sz="2000" b="0">
                <a:solidFill>
                  <a:srgbClr val="333333"/>
                </a:solidFill>
                <a:latin typeface="Calibri"/>
              </a:rPr>
              <a:t>Engagement counts, and applies bot filters before any hourly aggregate is shown to leaders</a:t>
            </a:r>
          </a:p>
          <a:p>
            <a:pPr lvl="0" marL="457200" indent="-228600">
              <a:buFont typeface="Calibri"/>
              <a:spcAft>
                <a:spcPts val="1000"/>
              </a:spcAft>
              <a:buSzPct val="100000"/>
              <a:buChar char="•"/>
              <a:lnSpc>
                <a:spcPts val="2200"/>
              </a:lnSpc>
            </a:pPr>
            <a:r>
              <a:rPr sz="2000" b="0">
                <a:solidFill>
                  <a:srgbClr val="333333"/>
                </a:solidFill>
                <a:latin typeface="Calibri"/>
              </a:rPr>
              <a:t>Retention is capped at the campaign window</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`modules/chapter2/example22/`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Challenges And Case Studies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Case studies — climate and healthcare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Climate and environmental programs combine ground sensors, satellite products</a:t>
            </a:r>
          </a:p>
          <a:p>
            <a:pPr lvl="0" marL="457200" indent="-228600">
              <a:buFont typeface="Calibri"/>
              <a:spcAft>
                <a:spcPts val="1000"/>
              </a:spcAft>
              <a:buSzPct val="100000"/>
              <a:buChar char="•"/>
              <a:lnSpc>
                <a:spcPts val="2200"/>
              </a:lnSpc>
            </a:pPr>
            <a:r>
              <a:rPr sz="2000" b="0">
                <a:solidFill>
                  <a:srgbClr val="333333"/>
                </a:solidFill>
                <a:latin typeface="Calibri"/>
              </a:rPr>
              <a:t>Calibration schedules before dashboards are promised</a:t>
            </a:r>
          </a:p>
          <a:p>
            <a:pPr lvl="0" marL="457200" indent="-228600">
              <a:buFont typeface="Calibri"/>
              <a:spcAft>
                <a:spcPts val="1000"/>
              </a:spcAft>
              <a:buSzPct val="100000"/>
              <a:buChar char="•"/>
              <a:lnSpc>
                <a:spcPts val="2200"/>
              </a:lnSpc>
            </a:pPr>
            <a:r>
              <a:rPr sz="2000" b="0">
                <a:solidFill>
                  <a:srgbClr val="333333"/>
                </a:solidFill>
                <a:latin typeface="Calibri"/>
              </a:rPr>
              <a:t>Healthcare collection spans wearables, remote monitoring devices</a:t>
            </a:r>
          </a:p>
          <a:p>
            <a:pPr lvl="0" marL="457200" indent="-228600">
              <a:buFont typeface="Calibri"/>
              <a:spcAft>
                <a:spcPts val="1000"/>
              </a:spcAft>
              <a:buSzPct val="100000"/>
              <a:buChar char="•"/>
              <a:lnSpc>
                <a:spcPts val="2200"/>
              </a:lnSpc>
            </a:pPr>
            <a:r>
              <a:rPr sz="2000" b="0">
                <a:solidFill>
                  <a:srgbClr val="333333"/>
                </a:solidFill>
                <a:latin typeface="Calibri"/>
              </a:rPr>
              <a:t>Standardized identifiers are engineered alongside the sensors</a:t>
            </a:r>
          </a:p>
          <a:p>
            <a:pPr lvl="0" marL="457200" indent="-228600">
              <a:buFont typeface="Calibri"/>
              <a:spcAft>
                <a:spcPts val="1000"/>
              </a:spcAft>
              <a:buSzPct val="100000"/>
              <a:buChar char="•"/>
              <a:lnSpc>
                <a:spcPts val="2200"/>
              </a:lnSpc>
            </a:pPr>
            <a:r>
              <a:rPr sz="2000" b="0">
                <a:solidFill>
                  <a:srgbClr val="333333"/>
                </a:solidFill>
                <a:latin typeface="Calibri"/>
              </a:rPr>
              <a:t>Together, these cases return to the chapter's central lesson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Challenges And Case Studies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Stop defects at the instrument and protocol, not only in cleaning pipelines</a:t>
            </a:r>
          </a:p>
          <a:p>
            <a:pPr lvl="0" marL="457200" indent="-228600">
              <a:buFont typeface="Calibri"/>
              <a:spcAft>
                <a:spcPts val="1000"/>
              </a:spcAft>
              <a:buSzPct val="100000"/>
              <a:buChar char="•"/>
              <a:lnSpc>
                <a:spcPts val="2200"/>
              </a:lnSpc>
            </a:pPr>
            <a:r>
              <a:rPr sz="2000" b="0">
                <a:solidFill>
                  <a:srgbClr val="333333"/>
                </a:solidFill>
                <a:latin typeface="Calibri"/>
              </a:rPr>
              <a:t>Document channel exclusions and integration keys before volume peaks</a:t>
            </a:r>
          </a:p>
          <a:p>
            <a:pPr lvl="0" marL="457200" indent="-228600">
              <a:buFont typeface="Calibri"/>
              <a:spcAft>
                <a:spcPts val="1000"/>
              </a:spcAft>
              <a:buSzPct val="100000"/>
              <a:buChar char="•"/>
              <a:lnSpc>
                <a:spcPts val="2200"/>
              </a:lnSpc>
            </a:pPr>
            <a:r>
              <a:rPr sz="2000" b="0">
                <a:solidFill>
                  <a:srgbClr val="333333"/>
                </a:solidFill>
                <a:latin typeface="Calibri"/>
              </a:rPr>
              <a:t>Domain case studies show the same design questions in social, climate</a:t>
            </a:r>
          </a:p>
          <a:p>
            <a:pPr lvl="0" marL="457200" indent="-228600">
              <a:buFont typeface="Calibri"/>
              <a:spcAft>
                <a:spcPts val="1000"/>
              </a:spcAft>
              <a:buSzPct val="100000"/>
              <a:buChar char="•"/>
              <a:lnSpc>
                <a:spcPts val="2200"/>
              </a:lnSpc>
            </a:pPr>
            <a:r>
              <a:rPr sz="2000" b="0">
                <a:solidFill>
                  <a:srgbClr val="333333"/>
                </a:solidFill>
                <a:latin typeface="Calibri"/>
              </a:rPr>
              <a:t>Those choices determine whether later chapters inherit a trustworthy dataset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Challenges And Case Studies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Complete the quiz to finish Chapter 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Challenges And Case Studies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