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survey can be filled by hand or ingested from a form API. This part separates which method you use from who or what executes it, comparing manual precision with automated scale.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you should distinguish the method axis from the execution axis, contrast manual and automated collection on scale, cost, and error profile, and recognize when hybrid programs combine both approaches.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previous parts chose which method to use—survey, observation, scraping, or API. This section asks who or what executes it. The same survey can be filled by hand or ingested from an online form API; the same observation protocol can be a field notebook or a camera feed. Manual execution suits small, high-precision, or highly contextual tasks. Automated execution suits large, repetitive, or real-time workloads. Most production programs sit on a hybrid continuum between the two poles.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Manual collection relies on human intervention: paper or digital forms, field notes, or keyboard entry into spreadsheets and databases. It remains appropriate when cases are unique, volumes are modest, or contextual judgment matters more than throughput. Precision and flexibility are strengths; time cost, fatigue-induced error, and poor scalability are the recurring limits. Even manual campaigns benefit from written protocols so that later analysts can interpret how each field was produced.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2.8 shows a setting where replacing people with sensors too early would lose the judgment the study needs. A grocer piloting a new layout asks associates to walk each aisle once per hour and record out-of-stock stock-keeping units on a tablet form. Associates can note temporary displays and damaged packaging that a ceiling camera would misclassify. The trade-off is that coverage drops when staffing is thin. Open the example 8 module to compare situational awareness against scale.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Automated collection uses software and devices to capture data with minimal ongoing human effort: IoT sensors, scheduled scrapers, API pollers, and analytics platforms that emit event streams. Once configured, these systems can run continuously and feed the real-time sources discussed earlier. Automation scales and reduces some classes of human error, but it shifts cost into setup, maintenance, and privacy governance. Teams must also filter overload: a sensor that records every second can bury the rare event that matters unless retention and alerting rules are designed carefully.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2.9 pairs with the shelf-audit case by showing when continuous sensing is the better fit. The same grocer logs cold-room temperature every minute through wired sensors that write to a central store. No associate could sample that frequently without neglecting other work, but the pipeline still needs alert thresholds and missing-packet checks before the stream is trusted. Try the example 9 module to see how automation trades human throughput for infrastructure discipline.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Choosing between manual and automated execution is a design decision, not a moral one. Manual methods fit audits, interviews, and early exploratory studies. Automated methods fit production monitoring, large web harvests, and streaming analytics. Mature programs often combine both: humans write protocols and review edge cases, while automation gathers the bulk stream.</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quiz, then continue to the next part on probability sampling—how designs decide whose answers count for inference.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Chapter 2 — Manual vs automated collection</a:t>
            </a:r>
          </a:p>
          <a:p>
            <a:pPr algn="ctr">
              <a:lnSpc>
                <a:spcPts val="2200"/>
              </a:lnSpc>
              <a:spcBef>
                <a:spcPts val="1400"/>
              </a:spcBef>
            </a:pPr>
            <a:r>
              <a:rPr sz="2600" b="0">
                <a:solidFill>
                  <a:srgbClr val="333333"/>
                </a:solidFill>
                <a:latin typeface="Calibri"/>
              </a:rPr>
              <a:t>The same survey can be filled by hand or ingested from a form API</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2 — Manual Vs Automated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Distinguish the method axis from the execution axis</a:t>
            </a:r>
          </a:p>
          <a:p>
            <a:pPr lvl="0" marL="457200" indent="-228600">
              <a:buFont typeface="Calibri"/>
              <a:spcAft>
                <a:spcPts val="1000"/>
              </a:spcAft>
              <a:buSzPct val="100000"/>
              <a:buChar char="•"/>
              <a:lnSpc>
                <a:spcPts val="2200"/>
              </a:lnSpc>
            </a:pPr>
            <a:r>
              <a:rPr sz="2000" b="0">
                <a:solidFill>
                  <a:srgbClr val="333333"/>
                </a:solidFill>
                <a:latin typeface="Calibri"/>
              </a:rPr>
              <a:t>Error profile</a:t>
            </a:r>
          </a:p>
          <a:p>
            <a:pPr lvl="0" marL="457200" indent="-228600">
              <a:buFont typeface="Calibri"/>
              <a:spcAft>
                <a:spcPts val="1000"/>
              </a:spcAft>
              <a:buSzPct val="100000"/>
              <a:buChar char="•"/>
              <a:lnSpc>
                <a:spcPts val="2200"/>
              </a:lnSpc>
            </a:pPr>
            <a:r>
              <a:rPr sz="2000" b="0">
                <a:solidFill>
                  <a:srgbClr val="333333"/>
                </a:solidFill>
                <a:latin typeface="Calibri"/>
              </a:rPr>
              <a:t>Recognize when hybrid programs combine both approaches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2 — Manual Vs Automated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Method versus execution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The previous parts chose which method to use, survey, observation, scraping, or API</a:t>
            </a:r>
          </a:p>
          <a:p>
            <a:pPr lvl="0" marL="457200" indent="-228600">
              <a:buFont typeface="Calibri"/>
              <a:spcAft>
                <a:spcPts val="1000"/>
              </a:spcAft>
              <a:buSzPct val="100000"/>
              <a:buChar char="•"/>
              <a:lnSpc>
                <a:spcPts val="2200"/>
              </a:lnSpc>
            </a:pPr>
            <a:r>
              <a:rPr sz="2000" b="0">
                <a:solidFill>
                  <a:srgbClr val="333333"/>
                </a:solidFill>
                <a:latin typeface="Calibri"/>
              </a:rPr>
              <a:t>This section asks who or what executes it</a:t>
            </a:r>
          </a:p>
          <a:p>
            <a:pPr lvl="0" marL="457200" indent="-228600">
              <a:buFont typeface="Calibri"/>
              <a:spcAft>
                <a:spcPts val="1000"/>
              </a:spcAft>
              <a:buSzPct val="100000"/>
              <a:buChar char="•"/>
              <a:lnSpc>
                <a:spcPts val="2200"/>
              </a:lnSpc>
            </a:pPr>
            <a:r>
              <a:rPr sz="2000" b="0">
                <a:solidFill>
                  <a:srgbClr val="333333"/>
                </a:solidFill>
                <a:latin typeface="Calibri"/>
              </a:rPr>
              <a:t>The same survey can be filled by hand or ingested from an online form API</a:t>
            </a:r>
          </a:p>
          <a:p>
            <a:pPr lvl="0" marL="457200" indent="-228600">
              <a:buFont typeface="Calibri"/>
              <a:spcAft>
                <a:spcPts val="1000"/>
              </a:spcAft>
              <a:buSzPct val="100000"/>
              <a:buChar char="•"/>
              <a:lnSpc>
                <a:spcPts val="2200"/>
              </a:lnSpc>
            </a:pPr>
            <a:r>
              <a:rPr sz="2000" b="0">
                <a:solidFill>
                  <a:srgbClr val="333333"/>
                </a:solidFill>
                <a:latin typeface="Calibri"/>
              </a:rPr>
              <a:t>Manual execution suits small, high-precision, or highly contextual tasks</a:t>
            </a:r>
          </a:p>
          <a:p>
            <a:pPr lvl="0" marL="457200" indent="-228600">
              <a:buFont typeface="Calibri"/>
              <a:spcAft>
                <a:spcPts val="1000"/>
              </a:spcAft>
              <a:buSzPct val="100000"/>
              <a:buChar char="•"/>
              <a:lnSpc>
                <a:spcPts val="2200"/>
              </a:lnSpc>
            </a:pPr>
            <a:r>
              <a:rPr sz="2000" b="0">
                <a:solidFill>
                  <a:srgbClr val="333333"/>
                </a:solidFill>
                <a:latin typeface="Calibri"/>
              </a:rPr>
              <a:t>Automated execution suits large, repetitive, or real-time workloads</a:t>
            </a:r>
          </a:p>
          <a:p>
            <a:pPr lvl="0" marL="457200" indent="-228600">
              <a:buFont typeface="Calibri"/>
              <a:spcAft>
                <a:spcPts val="1000"/>
              </a:spcAft>
              <a:buSzPct val="100000"/>
              <a:buChar char="•"/>
              <a:lnSpc>
                <a:spcPts val="2200"/>
              </a:lnSpc>
            </a:pPr>
            <a:r>
              <a:rPr sz="2000" b="0">
                <a:solidFill>
                  <a:srgbClr val="333333"/>
                </a:solidFill>
                <a:latin typeface="Calibri"/>
              </a:rPr>
              <a:t>Most production programs sit on a hybrid continuum between the two poles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2 — Manual Vs Automated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Manual data collection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Manual collection relies on human intervention</a:t>
            </a:r>
          </a:p>
          <a:p>
            <a:pPr lvl="0" marL="457200" indent="-228600">
              <a:buFont typeface="Calibri"/>
              <a:spcAft>
                <a:spcPts val="1000"/>
              </a:spcAft>
              <a:buSzPct val="100000"/>
              <a:buChar char="•"/>
              <a:lnSpc>
                <a:spcPts val="2200"/>
              </a:lnSpc>
            </a:pPr>
            <a:r>
              <a:rPr sz="2000" b="0">
                <a:solidFill>
                  <a:srgbClr val="333333"/>
                </a:solidFill>
                <a:latin typeface="Calibri"/>
              </a:rPr>
              <a:t>It remains appropriate when cases are unique</a:t>
            </a:r>
          </a:p>
          <a:p>
            <a:pPr lvl="0" marL="457200" indent="-228600">
              <a:buFont typeface="Calibri"/>
              <a:spcAft>
                <a:spcPts val="1000"/>
              </a:spcAft>
              <a:buSzPct val="100000"/>
              <a:buChar char="•"/>
              <a:lnSpc>
                <a:spcPts val="2200"/>
              </a:lnSpc>
            </a:pPr>
            <a:r>
              <a:rPr sz="2000" b="0">
                <a:solidFill>
                  <a:srgbClr val="333333"/>
                </a:solidFill>
                <a:latin typeface="Calibri"/>
              </a:rPr>
              <a:t>Precision and flexibility are strengths</a:t>
            </a:r>
          </a:p>
          <a:p>
            <a:pPr lvl="0" marL="457200" indent="-228600">
              <a:buFont typeface="Calibri"/>
              <a:spcAft>
                <a:spcPts val="1000"/>
              </a:spcAft>
              <a:buSzPct val="100000"/>
              <a:buChar char="•"/>
              <a:lnSpc>
                <a:spcPts val="2200"/>
              </a:lnSpc>
            </a:pPr>
            <a:r>
              <a:rPr sz="2000" b="0">
                <a:solidFill>
                  <a:srgbClr val="333333"/>
                </a:solidFill>
                <a:latin typeface="Calibri"/>
              </a:rPr>
              <a:t>Even manual campaigns benefit from written protocols so that later analysts can interpret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2 — Manual Vs Automated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2.8 — Manual shelf audit in a grocery pilot</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2.8 — hands-on module</a:t>
            </a:r>
          </a:p>
          <a:p>
            <a:pPr lvl="0" marL="457200" indent="-228600">
              <a:buFont typeface="Calibri"/>
              <a:spcAft>
                <a:spcPts val="1000"/>
              </a:spcAft>
              <a:buSzPct val="100000"/>
              <a:buChar char="•"/>
              <a:lnSpc>
                <a:spcPts val="2200"/>
              </a:lnSpc>
            </a:pPr>
            <a:r>
              <a:rPr sz="2000" b="0">
                <a:solidFill>
                  <a:srgbClr val="333333"/>
                </a:solidFill>
                <a:latin typeface="Calibri"/>
              </a:rPr>
              <a:t>Example 2.8 shows a setting where replacing people with sensors too early would lose the</a:t>
            </a:r>
          </a:p>
          <a:p>
            <a:pPr lvl="0" marL="457200" indent="-228600">
              <a:buFont typeface="Calibri"/>
              <a:spcAft>
                <a:spcPts val="1000"/>
              </a:spcAft>
              <a:buSzPct val="100000"/>
              <a:buChar char="•"/>
              <a:lnSpc>
                <a:spcPts val="2200"/>
              </a:lnSpc>
            </a:pPr>
            <a:r>
              <a:rPr sz="2000" b="0">
                <a:solidFill>
                  <a:srgbClr val="333333"/>
                </a:solidFill>
                <a:latin typeface="Calibri"/>
              </a:rPr>
              <a:t>A grocer piloting a new layout asks associates to walk each aisle once per hour and record</a:t>
            </a:r>
          </a:p>
          <a:p>
            <a:pPr lvl="0" marL="457200" indent="-228600">
              <a:buFont typeface="Calibri"/>
              <a:spcAft>
                <a:spcPts val="1000"/>
              </a:spcAft>
              <a:buSzPct val="100000"/>
              <a:buChar char="•"/>
              <a:lnSpc>
                <a:spcPts val="2200"/>
              </a:lnSpc>
            </a:pPr>
            <a:r>
              <a:rPr sz="2000" b="0">
                <a:solidFill>
                  <a:srgbClr val="333333"/>
                </a:solidFill>
                <a:latin typeface="Calibri"/>
              </a:rPr>
              <a:t>Associates can note temporary displays and damaged packaging that a ceiling camera would</a:t>
            </a:r>
          </a:p>
          <a:p>
            <a:pPr lvl="0" marL="457200" indent="-228600">
              <a:buFont typeface="Calibri"/>
              <a:spcAft>
                <a:spcPts val="1000"/>
              </a:spcAft>
              <a:buSzPct val="100000"/>
              <a:buChar char="•"/>
              <a:lnSpc>
                <a:spcPts val="2200"/>
              </a:lnSpc>
            </a:pPr>
            <a:r>
              <a:rPr sz="2000" b="0">
                <a:solidFill>
                  <a:srgbClr val="333333"/>
                </a:solidFill>
                <a:latin typeface="Calibri"/>
              </a:rPr>
              <a:t>The trade-off is that coverage drops when staffing is thin</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`modules/chapter2/example8/`</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2 — Manual Vs Automated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Automated data collection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Analytics platforms that emit event streams</a:t>
            </a:r>
          </a:p>
          <a:p>
            <a:pPr lvl="0" marL="457200" indent="-228600">
              <a:buFont typeface="Calibri"/>
              <a:spcAft>
                <a:spcPts val="1000"/>
              </a:spcAft>
              <a:buSzPct val="100000"/>
              <a:buChar char="•"/>
              <a:lnSpc>
                <a:spcPts val="2200"/>
              </a:lnSpc>
            </a:pPr>
            <a:r>
              <a:rPr sz="2000" b="0">
                <a:solidFill>
                  <a:srgbClr val="333333"/>
                </a:solidFill>
                <a:latin typeface="Calibri"/>
              </a:rPr>
              <a:t>Once configured</a:t>
            </a:r>
          </a:p>
          <a:p>
            <a:pPr lvl="0" marL="457200" indent="-228600">
              <a:buFont typeface="Calibri"/>
              <a:spcAft>
                <a:spcPts val="1000"/>
              </a:spcAft>
              <a:buSzPct val="100000"/>
              <a:buChar char="•"/>
              <a:lnSpc>
                <a:spcPts val="2200"/>
              </a:lnSpc>
            </a:pPr>
            <a:r>
              <a:rPr sz="2000" b="0">
                <a:solidFill>
                  <a:srgbClr val="333333"/>
                </a:solidFill>
                <a:latin typeface="Calibri"/>
              </a:rPr>
              <a:t>Privacy governance</a:t>
            </a:r>
          </a:p>
          <a:p>
            <a:pPr lvl="0" marL="457200" indent="-228600">
              <a:buFont typeface="Calibri"/>
              <a:spcAft>
                <a:spcPts val="1000"/>
              </a:spcAft>
              <a:buSzPct val="100000"/>
              <a:buChar char="•"/>
              <a:lnSpc>
                <a:spcPts val="2200"/>
              </a:lnSpc>
            </a:pPr>
            <a:r>
              <a:rPr sz="2000" b="0">
                <a:solidFill>
                  <a:srgbClr val="333333"/>
                </a:solidFill>
                <a:latin typeface="Calibri"/>
              </a:rPr>
              <a:t>Teams must also filter overload</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2 — Manual Vs Automated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2.9 — Automated cold-room temperature logging</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2.9 — hands-on module</a:t>
            </a:r>
          </a:p>
          <a:p>
            <a:pPr lvl="0" marL="457200" indent="-228600">
              <a:buFont typeface="Calibri"/>
              <a:spcAft>
                <a:spcPts val="1000"/>
              </a:spcAft>
              <a:buSzPct val="100000"/>
              <a:buChar char="•"/>
              <a:lnSpc>
                <a:spcPts val="2200"/>
              </a:lnSpc>
            </a:pPr>
            <a:r>
              <a:rPr sz="2000" b="0">
                <a:solidFill>
                  <a:srgbClr val="333333"/>
                </a:solidFill>
                <a:latin typeface="Calibri"/>
              </a:rPr>
              <a:t>Example 2.9 pairs with the shelf-audit case by showing when continuous sensing is the</a:t>
            </a:r>
          </a:p>
          <a:p>
            <a:pPr lvl="0" marL="457200" indent="-228600">
              <a:buFont typeface="Calibri"/>
              <a:spcAft>
                <a:spcPts val="1000"/>
              </a:spcAft>
              <a:buSzPct val="100000"/>
              <a:buChar char="•"/>
              <a:lnSpc>
                <a:spcPts val="2200"/>
              </a:lnSpc>
            </a:pPr>
            <a:r>
              <a:rPr sz="2000" b="0">
                <a:solidFill>
                  <a:srgbClr val="333333"/>
                </a:solidFill>
                <a:latin typeface="Calibri"/>
              </a:rPr>
              <a:t>The same grocer logs cold-room temperature every minute through wired sensors that write</a:t>
            </a:r>
          </a:p>
          <a:p>
            <a:pPr lvl="0" marL="457200" indent="-228600">
              <a:buFont typeface="Calibri"/>
              <a:spcAft>
                <a:spcPts val="1000"/>
              </a:spcAft>
              <a:buSzPct val="100000"/>
              <a:buChar char="•"/>
              <a:lnSpc>
                <a:spcPts val="2200"/>
              </a:lnSpc>
            </a:pPr>
            <a:r>
              <a:rPr sz="2000" b="0">
                <a:solidFill>
                  <a:srgbClr val="333333"/>
                </a:solidFill>
                <a:latin typeface="Calibri"/>
              </a:rPr>
              <a:t>No associate could sample that frequently without neglecting other work</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`modules/chapter2/example9/`</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2 — Manual Vs Automated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Choosing between manual and automated execution is a design decision, not a moral one</a:t>
            </a:r>
          </a:p>
          <a:p>
            <a:pPr lvl="0" marL="457200" indent="-228600">
              <a:buFont typeface="Calibri"/>
              <a:spcAft>
                <a:spcPts val="1000"/>
              </a:spcAft>
              <a:buSzPct val="100000"/>
              <a:buChar char="•"/>
              <a:lnSpc>
                <a:spcPts val="2200"/>
              </a:lnSpc>
            </a:pPr>
            <a:r>
              <a:rPr sz="2000" b="0">
                <a:solidFill>
                  <a:srgbClr val="333333"/>
                </a:solidFill>
                <a:latin typeface="Calibri"/>
              </a:rPr>
              <a:t>Manual methods fit audits, interviews, and early exploratory studies</a:t>
            </a:r>
          </a:p>
          <a:p>
            <a:pPr lvl="0" marL="457200" indent="-228600">
              <a:buFont typeface="Calibri"/>
              <a:spcAft>
                <a:spcPts val="1000"/>
              </a:spcAft>
              <a:buSzPct val="100000"/>
              <a:buChar char="•"/>
              <a:lnSpc>
                <a:spcPts val="2200"/>
              </a:lnSpc>
            </a:pPr>
            <a:r>
              <a:rPr sz="2000" b="0">
                <a:solidFill>
                  <a:srgbClr val="333333"/>
                </a:solidFill>
                <a:latin typeface="Calibri"/>
              </a:rPr>
              <a:t>Automated methods fit production monitoring, large web harvests, and streaming analytics</a:t>
            </a:r>
          </a:p>
          <a:p>
            <a:pPr lvl="0" marL="457200" indent="-228600">
              <a:buFont typeface="Calibri"/>
              <a:spcAft>
                <a:spcPts val="1000"/>
              </a:spcAft>
              <a:buSzPct val="100000"/>
              <a:buChar char="•"/>
              <a:lnSpc>
                <a:spcPts val="2200"/>
              </a:lnSpc>
            </a:pPr>
            <a:r>
              <a:rPr sz="2000" b="0">
                <a:solidFill>
                  <a:srgbClr val="333333"/>
                </a:solidFill>
                <a:latin typeface="Calibri"/>
              </a:rPr>
              <a:t>Mature programs often combine both</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2 — Manual Vs Automated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quiz for this part</a:t>
            </a:r>
          </a:p>
          <a:p>
            <a:pPr lvl="0" marL="457200" indent="-228600">
              <a:buFont typeface="Calibri"/>
              <a:spcAft>
                <a:spcPts val="1000"/>
              </a:spcAft>
              <a:buSzPct val="100000"/>
              <a:buChar char="•"/>
              <a:lnSpc>
                <a:spcPts val="2200"/>
              </a:lnSpc>
            </a:pPr>
            <a:r>
              <a:rPr sz="2000" b="0">
                <a:solidFill>
                  <a:srgbClr val="333333"/>
                </a:solidFill>
                <a:latin typeface="Calibri"/>
              </a:rPr>
              <a:t>Complete the quiz</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2 — Manual Vs Automated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