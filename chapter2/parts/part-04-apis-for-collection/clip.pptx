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provider exposes structured endpoints, APIs are usually preferable to scraping. This part shows how a programmatic weather request becomes one appendable row and why rate limits and keys are part of the collection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how APIs differ from scraping as a collection method, describe a minimal request-and-store pattern for JSON feeds, and recognize rate limits and authentication as design constraints rather than afterthoughts.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Programming Interfaces provide structured access to service data, often as JSON or XML payloads that integrate cleanly into pipelines. Relative to scraping, APIs are usually more reliable and explicitly intended for programmatic use, including near-real-time feeds for finance, weather, or social platforms. The trade-off is usage quotas and incomplete coverage of a site's full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API collection job follows a short loop. Authenticate if required, issue a request with explicit parameters such as city or date range, parse the structured response fields, and append one row per call to a growing store. Error handling and timeouts belong in the same script so that transient failures do not corrupt the table silently.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2.7 shows a minimal request pattern that returns a JSON record suitable for appending to a collection table. A collection job can request the current conditions for a city and store fields such as temperature, humidity, and observed time as one row per call. Rate limits and authentication keys must be handled so that the job remains within the provider's terms. Open the example 7 module to inspect the Python listing and sample payload fields.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access is governed by contracts, not by page layout. Providers set rate limits, require keys, and may cap daily volume. Collection design must include backoff when quotas are reached, secure storage of credentials, and logging that separates successful rows from throttled calls. Treating these constraints as part of the protocol prevents loss of access mid-campaign.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 APIs when a provider exposes them: schemas are clearer, access rules are documented, and pipelines are less brittle than HTML selectors. Scraping remains a fallback when public content exists but no endpoint is offered, subject to the policy constraints covered in the previous part. Each of these methods can still be executed manually or automatically; that axis is the subject of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APIs trade scraping flexibility for structure and clearer access rules. A minimal job requests, parses JSON fields, and appends rows. Rate limits and keys are collection-design decisions, not deployment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manual versus automated collection—who or what executes the same method.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APIs for collection</a:t>
            </a:r>
          </a:p>
          <a:p>
            <a:pPr algn="ctr">
              <a:lnSpc>
                <a:spcPts val="2200"/>
              </a:lnSpc>
              <a:spcBef>
                <a:spcPts val="1400"/>
              </a:spcBef>
            </a:pPr>
            <a:r>
              <a:rPr sz="2600" b="0">
                <a:solidFill>
                  <a:srgbClr val="333333"/>
                </a:solidFill>
                <a:latin typeface="Calibri"/>
              </a:rPr>
              <a:t>When a provider exposes structured endpoints, APIs are usually preferable to scraping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how APIs differ from scraping as a collection method</a:t>
            </a:r>
          </a:p>
          <a:p>
            <a:pPr>
              <a:spcAft>
                <a:spcPts val="1000"/>
              </a:spcAft>
              <a:buChar char="•"/>
              <a:lnSpc>
                <a:spcPts val="2200"/>
              </a:lnSpc>
            </a:pPr>
            <a:r>
              <a:rPr sz="2000" b="0">
                <a:solidFill>
                  <a:srgbClr val="333333"/>
                </a:solidFill>
                <a:latin typeface="Calibri"/>
              </a:rPr>
              <a:t>Recognize rate limits and authentication as design constraints rather than afterthoughts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an API for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Application Programming Interfaces provide structured access to service data</a:t>
            </a:r>
          </a:p>
          <a:p>
            <a:pPr>
              <a:spcAft>
                <a:spcPts val="1000"/>
              </a:spcAft>
              <a:buChar char="•"/>
              <a:lnSpc>
                <a:spcPts val="2200"/>
              </a:lnSpc>
            </a:pPr>
            <a:r>
              <a:rPr sz="2000" b="0">
                <a:solidFill>
                  <a:srgbClr val="333333"/>
                </a:solidFill>
                <a:latin typeface="Calibri"/>
              </a:rPr>
              <a:t>Relative to scraping</a:t>
            </a:r>
          </a:p>
          <a:p>
            <a:pPr>
              <a:spcAft>
                <a:spcPts val="1000"/>
              </a:spcAft>
              <a:buChar char="•"/>
              <a:lnSpc>
                <a:spcPts val="2200"/>
              </a:lnSpc>
            </a:pPr>
            <a:r>
              <a:rPr sz="2000" b="0">
                <a:solidFill>
                  <a:srgbClr val="333333"/>
                </a:solidFill>
                <a:latin typeface="Calibri"/>
              </a:rPr>
              <a:t>The trade-off is usage quotas and incomplete coverage of a site's full content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Request, parse, append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typical API collection job follows a short loop</a:t>
            </a:r>
          </a:p>
          <a:p>
            <a:pPr>
              <a:spcAft>
                <a:spcPts val="1000"/>
              </a:spcAft>
              <a:buChar char="•"/>
              <a:lnSpc>
                <a:spcPts val="2200"/>
              </a:lnSpc>
            </a:pPr>
            <a:r>
              <a:rPr sz="2000" b="0">
                <a:solidFill>
                  <a:srgbClr val="333333"/>
                </a:solidFill>
                <a:latin typeface="Calibri"/>
              </a:rPr>
              <a:t>Append one row per call to a growing store</a:t>
            </a:r>
          </a:p>
          <a:p>
            <a:pPr>
              <a:spcAft>
                <a:spcPts val="1000"/>
              </a:spcAft>
              <a:buChar char="•"/>
              <a:lnSpc>
                <a:spcPts val="2200"/>
              </a:lnSpc>
            </a:pPr>
            <a:r>
              <a:rPr sz="2000" b="0">
                <a:solidFill>
                  <a:srgbClr val="333333"/>
                </a:solidFill>
                <a:latin typeface="Calibri"/>
              </a:rPr>
              <a:t>Error handling and timeouts belong in the same script so that transient failures do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Fetching a public weather API record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2.7 — hands-on module</a:t>
            </a:r>
          </a:p>
          <a:p>
            <a:pPr>
              <a:spcAft>
                <a:spcPts val="1000"/>
              </a:spcAft>
              <a:buChar char="•"/>
              <a:lnSpc>
                <a:spcPts val="2200"/>
              </a:lnSpc>
            </a:pPr>
            <a:r>
              <a:rPr sz="2000" b="0">
                <a:solidFill>
                  <a:srgbClr val="333333"/>
                </a:solidFill>
                <a:latin typeface="Calibri"/>
              </a:rPr>
              <a:t>Example 2.7 shows a minimal request pattern that returns a JSON record suitable for</a:t>
            </a:r>
          </a:p>
          <a:p>
            <a:pPr>
              <a:spcAft>
                <a:spcPts val="1000"/>
              </a:spcAft>
              <a:buChar char="•"/>
              <a:lnSpc>
                <a:spcPts val="2200"/>
              </a:lnSpc>
            </a:pPr>
            <a:r>
              <a:rPr sz="2000" b="0">
                <a:solidFill>
                  <a:srgbClr val="333333"/>
                </a:solidFill>
                <a:latin typeface="Calibri"/>
              </a:rPr>
              <a:t>Observed time as one row per call</a:t>
            </a:r>
          </a:p>
          <a:p>
            <a:pPr>
              <a:spcAft>
                <a:spcPts val="1000"/>
              </a:spcAft>
              <a:buChar char="•"/>
              <a:lnSpc>
                <a:spcPts val="2200"/>
              </a:lnSpc>
            </a:pPr>
            <a:r>
              <a:rPr sz="2000" b="0">
                <a:solidFill>
                  <a:srgbClr val="333333"/>
                </a:solidFill>
                <a:latin typeface="Calibri"/>
              </a:rPr>
              <a:t>Rate limits and authentication keys must be handled so that the job remains within the</a:t>
            </a:r>
          </a:p>
          <a:p>
            <a:pPr>
              <a:spcAft>
                <a:spcPts val="1000"/>
              </a:spcAft>
              <a:buChar char="•"/>
              <a:lnSpc>
                <a:spcPts val="2200"/>
              </a:lnSpc>
            </a:pPr>
            <a:r>
              <a:rPr sz="2000" b="0">
                <a:solidFill>
                  <a:srgbClr val="333333"/>
                </a:solidFill>
                <a:latin typeface="Calibri"/>
              </a:rPr>
              <a:t>View files: `modules/chapter2/example7/`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requests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response = requests.get(</a:t>
            </a:r>
          </a:p>
          <a:p>
            <a:pPr>
              <a:lnSpc>
                <a:spcPts val="2200"/>
              </a:lnSpc>
              <a:spcAft>
                <a:spcPts val="400"/>
              </a:spcAft>
            </a:pPr>
            <a:r>
              <a:rPr sz="2000" b="0">
                <a:solidFill>
                  <a:srgbClr val="333333"/>
                </a:solidFill>
                <a:latin typeface="Consolas"/>
              </a:rPr>
              <a:t>    "https://api.example.com/weather",</a:t>
            </a:r>
          </a:p>
          <a:p>
            <a:pPr>
              <a:lnSpc>
                <a:spcPts val="2200"/>
              </a:lnSpc>
              <a:spcAft>
                <a:spcPts val="400"/>
              </a:spcAft>
            </a:pPr>
            <a:r>
              <a:rPr sz="2000" b="0">
                <a:solidFill>
                  <a:srgbClr val="333333"/>
                </a:solidFill>
                <a:latin typeface="Consolas"/>
              </a:rPr>
              <a:t>    params={"city": "Singapore"},</a:t>
            </a:r>
          </a:p>
          <a:p>
            <a:pPr>
              <a:lnSpc>
                <a:spcPts val="2200"/>
              </a:lnSpc>
              <a:spcAft>
                <a:spcPts val="400"/>
              </a:spcAft>
            </a:pPr>
            <a:r>
              <a:rPr sz="2000" b="0">
                <a:solidFill>
                  <a:srgbClr val="333333"/>
                </a:solidFill>
                <a:latin typeface="Consolas"/>
              </a:rPr>
              <a:t>    timeout=10,</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response.raise_for_status()</a:t>
            </a:r>
          </a:p>
          <a:p>
            <a:pPr>
              <a:lnSpc>
                <a:spcPts val="2200"/>
              </a:lnSpc>
              <a:spcAft>
                <a:spcPts val="400"/>
              </a:spcAft>
            </a:pPr>
            <a:r>
              <a:rPr sz="2000" b="0">
                <a:solidFill>
                  <a:srgbClr val="333333"/>
                </a:solidFill>
                <a:latin typeface="Consolas"/>
              </a:rPr>
              <a:t>payload = response.json()</a:t>
            </a:r>
          </a:p>
          <a:p>
            <a:pPr>
              <a:lnSpc>
                <a:spcPts val="2200"/>
              </a:lnSpc>
              <a:spcAft>
                <a:spcPts val="400"/>
              </a:spcAft>
            </a:pPr>
            <a:r>
              <a:rPr sz="2000" b="0">
                <a:solidFill>
                  <a:srgbClr val="333333"/>
                </a:solidFill>
                <a:latin typeface="Consolas"/>
              </a:rPr>
              <a:t># Example fields: payload["temp"], payload["humidity"]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Rate limits and keys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 access is governed by contracts, not by page layout</a:t>
            </a:r>
          </a:p>
          <a:p>
            <a:pPr>
              <a:spcAft>
                <a:spcPts val="1000"/>
              </a:spcAft>
              <a:buChar char="•"/>
              <a:lnSpc>
                <a:spcPts val="2200"/>
              </a:lnSpc>
            </a:pPr>
            <a:r>
              <a:rPr sz="2000" b="0">
                <a:solidFill>
                  <a:srgbClr val="333333"/>
                </a:solidFill>
                <a:latin typeface="Calibri"/>
              </a:rPr>
              <a:t>Providers set rate limits, require keys, and may cap daily volume</a:t>
            </a:r>
          </a:p>
          <a:p>
            <a:pPr>
              <a:spcAft>
                <a:spcPts val="1000"/>
              </a:spcAft>
              <a:buChar char="•"/>
              <a:lnSpc>
                <a:spcPts val="2200"/>
              </a:lnSpc>
            </a:pPr>
            <a:r>
              <a:rPr sz="2000" b="0">
                <a:solidFill>
                  <a:srgbClr val="333333"/>
                </a:solidFill>
                <a:latin typeface="Calibri"/>
              </a:rPr>
              <a:t>Logging that separates successful rows from throttled calls</a:t>
            </a:r>
          </a:p>
          <a:p>
            <a:pPr>
              <a:spcAft>
                <a:spcPts val="1000"/>
              </a:spcAft>
              <a:buChar char="•"/>
              <a:lnSpc>
                <a:spcPts val="2200"/>
              </a:lnSpc>
            </a:pPr>
            <a:r>
              <a:rPr sz="2000" b="0">
                <a:solidFill>
                  <a:srgbClr val="333333"/>
                </a:solidFill>
                <a:latin typeface="Calibri"/>
              </a:rPr>
              <a:t>Treating these constraints as part of the protocol prevents loss of access mid-campaign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APIs beat scraping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Prefer APIs when a provider exposes them</a:t>
            </a:r>
          </a:p>
          <a:p>
            <a:pPr>
              <a:spcAft>
                <a:spcPts val="1000"/>
              </a:spcAft>
              <a:buChar char="•"/>
              <a:lnSpc>
                <a:spcPts val="2200"/>
              </a:lnSpc>
            </a:pPr>
            <a:r>
              <a:rPr sz="2000" b="0">
                <a:solidFill>
                  <a:srgbClr val="333333"/>
                </a:solidFill>
                <a:latin typeface="Calibri"/>
              </a:rPr>
              <a:t>Scraping remains a fallback when public content exists but no endpoint is offered</a:t>
            </a:r>
          </a:p>
          <a:p>
            <a:pPr>
              <a:spcAft>
                <a:spcPts val="1000"/>
              </a:spcAft>
              <a:buChar char="•"/>
              <a:lnSpc>
                <a:spcPts val="2200"/>
              </a:lnSpc>
            </a:pPr>
            <a:r>
              <a:rPr sz="2000" b="0">
                <a:solidFill>
                  <a:srgbClr val="333333"/>
                </a:solidFill>
                <a:latin typeface="Calibri"/>
              </a:rPr>
              <a:t>Each of these methods can still be executed manually or automatically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APIs trade scraping flexibility for structure and clearer access rules</a:t>
            </a:r>
          </a:p>
          <a:p>
            <a:pPr>
              <a:spcAft>
                <a:spcPts val="1000"/>
              </a:spcAft>
              <a:buChar char="•"/>
              <a:lnSpc>
                <a:spcPts val="2200"/>
              </a:lnSpc>
            </a:pPr>
            <a:r>
              <a:rPr sz="2000" b="0">
                <a:solidFill>
                  <a:srgbClr val="333333"/>
                </a:solidFill>
                <a:latin typeface="Calibri"/>
              </a:rPr>
              <a:t>A minimal job requests, parses JSON fields, and appends rows</a:t>
            </a:r>
          </a:p>
          <a:p>
            <a:pPr>
              <a:spcAft>
                <a:spcPts val="1000"/>
              </a:spcAft>
              <a:buChar char="•"/>
              <a:lnSpc>
                <a:spcPts val="2200"/>
              </a:lnSpc>
            </a:pPr>
            <a:r>
              <a:rPr sz="2000" b="0">
                <a:solidFill>
                  <a:srgbClr val="333333"/>
                </a:solidFill>
                <a:latin typeface="Calibri"/>
              </a:rPr>
              <a:t>Rate limits and keys are collection-design decisions, not deployment details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04 Apis For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