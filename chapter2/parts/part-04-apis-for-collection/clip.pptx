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provider exposes structured endpoints, APIs are usually preferable to scraping. This part shows how a programmatic weather request becomes one appendable row and why rate limits and keys are part of the collection design.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explain how APIs differ from scraping as a collection method, describe a minimal request-and-store pattern for JSON feeds, and recognize rate limits and authentication as design constraints rather than afterthoughts.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Programming Interfaces provide structured access to service data, often as JSON or XML payloads that integrate cleanly into pipelines. Relative to scraping, APIs are usually more reliable and explicitly intended for programmatic use, including near-real-time feeds for finance, weather, or social platforms. The trade-off is usage quotas and incomplete coverage of a site's full content.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typical API collection job follows a short loop. Authenticate if required, issue a request with explicit parameters such as city or date range, parse the structured response fields, and append one row per call to a growing store. Error handling and timeouts belong in the same script so that transient failures do not corrupt the table silently.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2.7 shows a minimal request pattern that returns a JSON record suitable for appending to a collection table. A collection job can request the current conditions for a city and store fields such as temperature, humidity, and observed time as one row per call. Rate limits and authentication keys must be handled so that the job remains within the provider's terms. Open the example 7 module to inspect the Python listing and sample payload fields.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API access is governed by contracts, not by page layout. Providers set rate limits, require keys, and may cap daily volume. Collection design must include backoff when quotas are reached, secure storage of credentials, and logging that separates successful rows from throttled calls. Treating these constraints as part of the protocol prevents loss of access mid-campaign.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Prefer APIs when a provider exposes them: schemas are clearer, access rules are documented, and pipelines are less brittle than HTML selectors. Scraping remains a fallback when public content exists but no endpoint is offered, subject to the policy constraints covered in the previous part. Each of these methods can still be executed manually or automatically; that axis is the subject of the next part.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APIs trade scraping flexibility for structure and clearer access rules. A minimal job requests, parses JSON fields, and appends rows. Rate limits and keys are collection-design decisions, not deployment details.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the next part on manual versus automated collection—who or what executes the same method.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2 — APIs for collection</a:t>
            </a:r>
          </a:p>
          <a:p>
            <a:pPr algn="ctr">
              <a:lnSpc>
                <a:spcPts val="2200"/>
              </a:lnSpc>
              <a:spcBef>
                <a:spcPts val="1400"/>
              </a:spcBef>
            </a:pPr>
            <a:r>
              <a:rPr sz="2600" b="0">
                <a:solidFill>
                  <a:srgbClr val="333333"/>
                </a:solidFill>
                <a:latin typeface="Calibri"/>
              </a:rPr>
              <a:t>When a provider exposes structured endpoints, APIs are usually preferable to scraping</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Apis For Collection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Explain how APIs differ from scraping as a collection method</a:t>
            </a:r>
          </a:p>
          <a:p>
            <a:pPr lvl="0" marL="457200" indent="-228600">
              <a:buFont typeface="Calibri"/>
              <a:spcAft>
                <a:spcPts val="1000"/>
              </a:spcAft>
              <a:buSzPct val="100000"/>
              <a:buChar char="•"/>
              <a:lnSpc>
                <a:spcPts val="2200"/>
              </a:lnSpc>
            </a:pPr>
            <a:r>
              <a:rPr sz="2000" b="0">
                <a:solidFill>
                  <a:srgbClr val="333333"/>
                </a:solidFill>
                <a:latin typeface="Calibri"/>
              </a:rPr>
              <a:t>Recognize rate limits and authentication as design constraints rather than afterthoughts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Apis For Collection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is an API for collection?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Application Programming Interfaces provide structured access to service data</a:t>
            </a:r>
          </a:p>
          <a:p>
            <a:pPr lvl="0" marL="457200" indent="-228600">
              <a:buFont typeface="Calibri"/>
              <a:spcAft>
                <a:spcPts val="1000"/>
              </a:spcAft>
              <a:buSzPct val="100000"/>
              <a:buChar char="•"/>
              <a:lnSpc>
                <a:spcPts val="2200"/>
              </a:lnSpc>
            </a:pPr>
            <a:r>
              <a:rPr sz="2000" b="0">
                <a:solidFill>
                  <a:srgbClr val="333333"/>
                </a:solidFill>
                <a:latin typeface="Calibri"/>
              </a:rPr>
              <a:t>Relative to scraping</a:t>
            </a:r>
          </a:p>
          <a:p>
            <a:pPr lvl="0" marL="457200" indent="-228600">
              <a:buFont typeface="Calibri"/>
              <a:spcAft>
                <a:spcPts val="1000"/>
              </a:spcAft>
              <a:buSzPct val="100000"/>
              <a:buChar char="•"/>
              <a:lnSpc>
                <a:spcPts val="2200"/>
              </a:lnSpc>
            </a:pPr>
            <a:r>
              <a:rPr sz="2000" b="0">
                <a:solidFill>
                  <a:srgbClr val="333333"/>
                </a:solidFill>
                <a:latin typeface="Calibri"/>
              </a:rPr>
              <a:t>The trade-off is usage quotas and incomplete coverage of a site's full content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Apis For Collection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Request, parse, append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typical API collection job follows a short loop</a:t>
            </a:r>
          </a:p>
          <a:p>
            <a:pPr lvl="0" marL="457200" indent="-228600">
              <a:buFont typeface="Calibri"/>
              <a:spcAft>
                <a:spcPts val="1000"/>
              </a:spcAft>
              <a:buSzPct val="100000"/>
              <a:buChar char="•"/>
              <a:lnSpc>
                <a:spcPts val="2200"/>
              </a:lnSpc>
            </a:pPr>
            <a:r>
              <a:rPr sz="2000" b="0">
                <a:solidFill>
                  <a:srgbClr val="333333"/>
                </a:solidFill>
                <a:latin typeface="Calibri"/>
              </a:rPr>
              <a:t>Append one row per call to a growing store</a:t>
            </a:r>
          </a:p>
          <a:p>
            <a:pPr lvl="0" marL="457200" indent="-228600">
              <a:buFont typeface="Calibri"/>
              <a:spcAft>
                <a:spcPts val="1000"/>
              </a:spcAft>
              <a:buSzPct val="100000"/>
              <a:buChar char="•"/>
              <a:lnSpc>
                <a:spcPts val="2200"/>
              </a:lnSpc>
            </a:pPr>
            <a:r>
              <a:rPr sz="2000" b="0">
                <a:solidFill>
                  <a:srgbClr val="333333"/>
                </a:solidFill>
                <a:latin typeface="Calibri"/>
              </a:rPr>
              <a:t>Error handling and timeouts belong in the same script so that transient failures do not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Apis For Collection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2.7 — Fetching a public weather API record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2.7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2.7 shows a minimal request pattern that returns a JSON record suitable for</a:t>
            </a:r>
          </a:p>
          <a:p>
            <a:pPr lvl="0" marL="457200" indent="-228600">
              <a:buFont typeface="Calibri"/>
              <a:spcAft>
                <a:spcPts val="1000"/>
              </a:spcAft>
              <a:buSzPct val="100000"/>
              <a:buChar char="•"/>
              <a:lnSpc>
                <a:spcPts val="2200"/>
              </a:lnSpc>
            </a:pPr>
            <a:r>
              <a:rPr sz="2000" b="0">
                <a:solidFill>
                  <a:srgbClr val="333333"/>
                </a:solidFill>
                <a:latin typeface="Calibri"/>
              </a:rPr>
              <a:t>Observed time as one row per call</a:t>
            </a:r>
          </a:p>
          <a:p>
            <a:pPr lvl="0" marL="457200" indent="-228600">
              <a:buFont typeface="Calibri"/>
              <a:spcAft>
                <a:spcPts val="1000"/>
              </a:spcAft>
              <a:buSzPct val="100000"/>
              <a:buChar char="•"/>
              <a:lnSpc>
                <a:spcPts val="2200"/>
              </a:lnSpc>
            </a:pPr>
            <a:r>
              <a:rPr sz="2000" b="0">
                <a:solidFill>
                  <a:srgbClr val="333333"/>
                </a:solidFill>
                <a:latin typeface="Calibri"/>
              </a:rPr>
              <a:t>Rate limits and authentication keys must be handled so that the job remains within the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`modules/chapter2/example7/`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Apis For Collection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2.7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import requests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response = requests.get(</a:t>
            </a:r>
          </a:p>
          <a:p>
            <a:pPr>
              <a:lnSpc>
                <a:spcPts val="2200"/>
              </a:lnSpc>
              <a:spcAft>
                <a:spcPts val="400"/>
              </a:spcAft>
            </a:pPr>
            <a:r>
              <a:rPr sz="2000" b="0">
                <a:solidFill>
                  <a:srgbClr val="333333"/>
                </a:solidFill>
                <a:latin typeface="Consolas"/>
              </a:rPr>
              <a:t>    "https://api.example.com/weather",</a:t>
            </a:r>
          </a:p>
          <a:p>
            <a:pPr>
              <a:lnSpc>
                <a:spcPts val="2200"/>
              </a:lnSpc>
              <a:spcAft>
                <a:spcPts val="400"/>
              </a:spcAft>
            </a:pPr>
            <a:r>
              <a:rPr sz="2000" b="0">
                <a:solidFill>
                  <a:srgbClr val="333333"/>
                </a:solidFill>
                <a:latin typeface="Consolas"/>
              </a:rPr>
              <a:t>    params={"city": "Singapore"},</a:t>
            </a:r>
          </a:p>
          <a:p>
            <a:pPr>
              <a:lnSpc>
                <a:spcPts val="2200"/>
              </a:lnSpc>
              <a:spcAft>
                <a:spcPts val="400"/>
              </a:spcAft>
            </a:pPr>
            <a:r>
              <a:rPr sz="2000" b="0">
                <a:solidFill>
                  <a:srgbClr val="333333"/>
                </a:solidFill>
                <a:latin typeface="Consolas"/>
              </a:rPr>
              <a:t>    timeout=10,</a:t>
            </a:r>
          </a:p>
          <a:p>
            <a:pPr>
              <a:lnSpc>
                <a:spcPts val="2200"/>
              </a:lnSpc>
              <a:spcAft>
                <a:spcPts val="400"/>
              </a:spcAft>
            </a:pPr>
            <a:r>
              <a:rPr sz="2000" b="0">
                <a:solidFill>
                  <a:srgbClr val="333333"/>
                </a:solidFill>
                <a:latin typeface="Consolas"/>
              </a:rPr>
              <a:t>)</a:t>
            </a:r>
          </a:p>
          <a:p>
            <a:pPr>
              <a:lnSpc>
                <a:spcPts val="2200"/>
              </a:lnSpc>
              <a:spcAft>
                <a:spcPts val="400"/>
              </a:spcAft>
            </a:pPr>
            <a:r>
              <a:rPr sz="2000" b="0">
                <a:solidFill>
                  <a:srgbClr val="333333"/>
                </a:solidFill>
                <a:latin typeface="Consolas"/>
              </a:rPr>
              <a:t>response.raise_for_status()</a:t>
            </a:r>
          </a:p>
          <a:p>
            <a:pPr>
              <a:lnSpc>
                <a:spcPts val="2200"/>
              </a:lnSpc>
              <a:spcAft>
                <a:spcPts val="400"/>
              </a:spcAft>
            </a:pPr>
            <a:r>
              <a:rPr sz="2000" b="0">
                <a:solidFill>
                  <a:srgbClr val="333333"/>
                </a:solidFill>
                <a:latin typeface="Consolas"/>
              </a:rPr>
              <a:t>payload = response.json()</a:t>
            </a:r>
          </a:p>
          <a:p>
            <a:pPr>
              <a:lnSpc>
                <a:spcPts val="2200"/>
              </a:lnSpc>
              <a:spcAft>
                <a:spcPts val="400"/>
              </a:spcAft>
            </a:pPr>
            <a:r>
              <a:rPr sz="2000" b="0">
                <a:solidFill>
                  <a:srgbClr val="333333"/>
                </a:solidFill>
                <a:latin typeface="Consolas"/>
              </a:rPr>
              <a:t># Example fields: payload["temp"], payload["humidity"]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Apis For Collection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Rate limits and keys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API access is governed by contracts, not by page layout</a:t>
            </a:r>
          </a:p>
          <a:p>
            <a:pPr lvl="0" marL="457200" indent="-228600">
              <a:buFont typeface="Calibri"/>
              <a:spcAft>
                <a:spcPts val="1000"/>
              </a:spcAft>
              <a:buSzPct val="100000"/>
              <a:buChar char="•"/>
              <a:lnSpc>
                <a:spcPts val="2200"/>
              </a:lnSpc>
            </a:pPr>
            <a:r>
              <a:rPr sz="2000" b="0">
                <a:solidFill>
                  <a:srgbClr val="333333"/>
                </a:solidFill>
                <a:latin typeface="Calibri"/>
              </a:rPr>
              <a:t>Providers set rate limits, require keys, and may cap daily volume</a:t>
            </a:r>
          </a:p>
          <a:p>
            <a:pPr lvl="0" marL="457200" indent="-228600">
              <a:buFont typeface="Calibri"/>
              <a:spcAft>
                <a:spcPts val="1000"/>
              </a:spcAft>
              <a:buSzPct val="100000"/>
              <a:buChar char="•"/>
              <a:lnSpc>
                <a:spcPts val="2200"/>
              </a:lnSpc>
            </a:pPr>
            <a:r>
              <a:rPr sz="2000" b="0">
                <a:solidFill>
                  <a:srgbClr val="333333"/>
                </a:solidFill>
                <a:latin typeface="Calibri"/>
              </a:rPr>
              <a:t>Logging that separates successful rows from throttled calls</a:t>
            </a:r>
          </a:p>
          <a:p>
            <a:pPr lvl="0" marL="457200" indent="-228600">
              <a:buFont typeface="Calibri"/>
              <a:spcAft>
                <a:spcPts val="1000"/>
              </a:spcAft>
              <a:buSzPct val="100000"/>
              <a:buChar char="•"/>
              <a:lnSpc>
                <a:spcPts val="2200"/>
              </a:lnSpc>
            </a:pPr>
            <a:r>
              <a:rPr sz="2000" b="0">
                <a:solidFill>
                  <a:srgbClr val="333333"/>
                </a:solidFill>
                <a:latin typeface="Calibri"/>
              </a:rPr>
              <a:t>Treating these constraints as part of the protocol prevents loss of access mid-campaign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Apis For Collection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When APIs beat scraping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Prefer APIs when a provider exposes them</a:t>
            </a:r>
          </a:p>
          <a:p>
            <a:pPr lvl="0" marL="457200" indent="-228600">
              <a:buFont typeface="Calibri"/>
              <a:spcAft>
                <a:spcPts val="1000"/>
              </a:spcAft>
              <a:buSzPct val="100000"/>
              <a:buChar char="•"/>
              <a:lnSpc>
                <a:spcPts val="2200"/>
              </a:lnSpc>
            </a:pPr>
            <a:r>
              <a:rPr sz="2000" b="0">
                <a:solidFill>
                  <a:srgbClr val="333333"/>
                </a:solidFill>
                <a:latin typeface="Calibri"/>
              </a:rPr>
              <a:t>Scraping remains a fallback when public content exists but no endpoint is offered</a:t>
            </a:r>
          </a:p>
          <a:p>
            <a:pPr lvl="0" marL="457200" indent="-228600">
              <a:buFont typeface="Calibri"/>
              <a:spcAft>
                <a:spcPts val="1000"/>
              </a:spcAft>
              <a:buSzPct val="100000"/>
              <a:buChar char="•"/>
              <a:lnSpc>
                <a:spcPts val="2200"/>
              </a:lnSpc>
            </a:pPr>
            <a:r>
              <a:rPr sz="2000" b="0">
                <a:solidFill>
                  <a:srgbClr val="333333"/>
                </a:solidFill>
                <a:latin typeface="Calibri"/>
              </a:rPr>
              <a:t>Each of these methods can still be executed manually or automatically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Apis For Collection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APIs trade scraping flexibility for structure and clearer access rules</a:t>
            </a:r>
          </a:p>
          <a:p>
            <a:pPr lvl="0" marL="457200" indent="-228600">
              <a:buFont typeface="Calibri"/>
              <a:spcAft>
                <a:spcPts val="1000"/>
              </a:spcAft>
              <a:buSzPct val="100000"/>
              <a:buChar char="•"/>
              <a:lnSpc>
                <a:spcPts val="2200"/>
              </a:lnSpc>
            </a:pPr>
            <a:r>
              <a:rPr sz="2000" b="0">
                <a:solidFill>
                  <a:srgbClr val="333333"/>
                </a:solidFill>
                <a:latin typeface="Calibri"/>
              </a:rPr>
              <a:t>A minimal job requests, parses JSON fields, and appends rows</a:t>
            </a:r>
          </a:p>
          <a:p>
            <a:pPr lvl="0" marL="457200" indent="-228600">
              <a:buFont typeface="Calibri"/>
              <a:spcAft>
                <a:spcPts val="1000"/>
              </a:spcAft>
              <a:buSzPct val="100000"/>
              <a:buChar char="•"/>
              <a:lnSpc>
                <a:spcPts val="2200"/>
              </a:lnSpc>
            </a:pPr>
            <a:r>
              <a:rPr sz="2000" b="0">
                <a:solidFill>
                  <a:srgbClr val="333333"/>
                </a:solidFill>
                <a:latin typeface="Calibri"/>
              </a:rPr>
              <a:t>Rate limits and keys are collection-design decisions, not deployment details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Apis For Collection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Complete the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Apis For Collection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