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Knowing a source type is not enough—you still need an instrument. This part covers surveys and questionnaires, field observation, and web scraping when no API exists, including the fragility and policy constraints scraping introduces.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match surveys, observation, and scraping to typical research questions, name the main watch-outs for each method, and explain why instrument and sample planning precede platform choice.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source type is chosen, teams select concrete methods. Surveys and questionnaires gather structured responses from people. Observation captures behavior in context. Web scraping extracts content from pages that lack APIs. Mixed designs combine instruments when no single method answers both the what and the why. This part focuses on when each method fits; APIs are covered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Surveys remain a workhorse for collecting comparable answers from many respondents in market research, social science, and public-opinion work. Modes include online forms, face-to-face interviews, telephone contact, and postal questionnaires. Strengths include large sample reach, standardized wording, and quantifiable outputs. Weaknesses include socially desirable answering, low response rates without incentives, and shallow coverage of lived experience compared with interviews or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2.5 shows a short instrument plan before any survey platform is chosen. An IT office wants to know which buildings have unreliable Wi-Fi. The plan specifies a five-minute online questionnaire for students and staff, stratified by building, with items on connection failures, peak-hour experience, and device type, plus an open comment box for locations the closed items miss. Open the example 5 module to see how the instrument and sample come before tool choice.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Observation gathers data by watching behavior or events in their natural setting, which is valuable when researchers need context that questionnaires cannot elicit. Participant observation embeds the researcher in the activity; non-participant observation keeps distance for objectivity. Observation yields rich qualitative evidence, but it is time-consuming, vulnerable to observer bias, and often hard to generalize from small settings. Teams frequently combine observation with surveys so depth and breadth reinforce each other.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 scraping uses programs to extract text, tables, or media from HTML pages. It is useful when a site exposes public content but no API, or when many pages must be harvested on a schedule. Scraping scales and automates collection across sites, yet it raises legal and ethical constraints, yields noisy or shifting schemas when page layouts change, and may trigger anti-bot defenses. Responsible projects document robots policies, throttle requests, and prefer APIs when providers offer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2.6 stays at the decision level. A research team needs weekly snapshots of publicly listed university course titles and credit hours where no catalog API exists. They scrape the HTML timetable, store course code and title as structured rows, and re-check selectors after each term because layout changes routinely break the harvest. Try the example 6 module to review why scraping is a methods choice under fragility and policy constraints, not merely a coding exercise.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Surveys fit attitudes and self-report at scale; observation fits natural behavior in context; scraping fits public web content without APIs. Each method carries distinct bias and policy risks. Design the instrument and sampling plan first, then select platforms and libraries in a later 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APIs for collection—when structured endpoints are preferable to scraping.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Surveys, observation, and scraping</a:t>
            </a:r>
          </a:p>
          <a:p>
            <a:pPr algn="ctr">
              <a:lnSpc>
                <a:spcPts val="2200"/>
              </a:lnSpc>
              <a:spcBef>
                <a:spcPts val="1400"/>
              </a:spcBef>
            </a:pPr>
            <a:r>
              <a:rPr sz="2600" b="0">
                <a:solidFill>
                  <a:srgbClr val="333333"/>
                </a:solidFill>
                <a:latin typeface="Calibri"/>
              </a:rPr>
              <a:t>Knowing a source type is not enough, you still need an instrument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Match surveys, observation</a:t>
            </a:r>
          </a:p>
          <a:p>
            <a:pPr>
              <a:spcAft>
                <a:spcPts val="1000"/>
              </a:spcAft>
              <a:buChar char="•"/>
              <a:lnSpc>
                <a:spcPts val="2200"/>
              </a:lnSpc>
            </a:pPr>
            <a:r>
              <a:rPr sz="2000" b="0">
                <a:solidFill>
                  <a:srgbClr val="333333"/>
                </a:solidFill>
                <a:latin typeface="Calibri"/>
              </a:rPr>
              <a:t>Scraping to typical research questions, name the main watch-outs for each method</a:t>
            </a:r>
          </a:p>
          <a:p>
            <a:pPr>
              <a:spcAft>
                <a:spcPts val="1000"/>
              </a:spcAft>
              <a:buChar char="•"/>
              <a:lnSpc>
                <a:spcPts val="2200"/>
              </a:lnSpc>
            </a:pPr>
            <a:r>
              <a:rPr sz="2000" b="0">
                <a:solidFill>
                  <a:srgbClr val="333333"/>
                </a:solidFill>
                <a:latin typeface="Calibri"/>
              </a:rPr>
              <a:t>Explain why instrument and sample planning precede platform choice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 collection method</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Once source type is chosen, teams select concrete methods</a:t>
            </a:r>
          </a:p>
          <a:p>
            <a:pPr>
              <a:spcAft>
                <a:spcPts val="1000"/>
              </a:spcAft>
              <a:buChar char="•"/>
              <a:lnSpc>
                <a:spcPts val="2200"/>
              </a:lnSpc>
            </a:pPr>
            <a:r>
              <a:rPr sz="2000" b="0">
                <a:solidFill>
                  <a:srgbClr val="333333"/>
                </a:solidFill>
                <a:latin typeface="Calibri"/>
              </a:rPr>
              <a:t>Surveys and questionnaires gather structured responses from people</a:t>
            </a:r>
          </a:p>
          <a:p>
            <a:pPr>
              <a:spcAft>
                <a:spcPts val="1000"/>
              </a:spcAft>
              <a:buChar char="•"/>
              <a:lnSpc>
                <a:spcPts val="2200"/>
              </a:lnSpc>
            </a:pPr>
            <a:r>
              <a:rPr sz="2000" b="0">
                <a:solidFill>
                  <a:srgbClr val="333333"/>
                </a:solidFill>
                <a:latin typeface="Calibri"/>
              </a:rPr>
              <a:t>Observation captures behavior in context</a:t>
            </a:r>
          </a:p>
          <a:p>
            <a:pPr>
              <a:spcAft>
                <a:spcPts val="1000"/>
              </a:spcAft>
              <a:buChar char="•"/>
              <a:lnSpc>
                <a:spcPts val="2200"/>
              </a:lnSpc>
            </a:pPr>
            <a:r>
              <a:rPr sz="2000" b="0">
                <a:solidFill>
                  <a:srgbClr val="333333"/>
                </a:solidFill>
                <a:latin typeface="Calibri"/>
              </a:rPr>
              <a:t>Web scraping extracts content from pages that lack APIs</a:t>
            </a:r>
          </a:p>
          <a:p>
            <a:pPr>
              <a:spcAft>
                <a:spcPts val="1000"/>
              </a:spcAft>
              <a:buChar char="•"/>
              <a:lnSpc>
                <a:spcPts val="2200"/>
              </a:lnSpc>
            </a:pPr>
            <a:r>
              <a:rPr sz="2000" b="0">
                <a:solidFill>
                  <a:srgbClr val="333333"/>
                </a:solidFill>
                <a:latin typeface="Calibri"/>
              </a:rPr>
              <a:t>Mixed designs combine instruments when no single method answers both the what and the why</a:t>
            </a:r>
          </a:p>
          <a:p>
            <a:pPr>
              <a:spcAft>
                <a:spcPts val="1000"/>
              </a:spcAft>
              <a:buChar char="•"/>
              <a:lnSpc>
                <a:spcPts val="2200"/>
              </a:lnSpc>
            </a:pPr>
            <a:r>
              <a:rPr sz="2000" b="0">
                <a:solidFill>
                  <a:srgbClr val="333333"/>
                </a:solidFill>
                <a:latin typeface="Calibri"/>
              </a:rPr>
              <a:t>This part focuses on when each method fits; APIs are covered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Surveys and questionnaires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Public-opinion work</a:t>
            </a:r>
          </a:p>
          <a:p>
            <a:pPr>
              <a:spcAft>
                <a:spcPts val="1000"/>
              </a:spcAft>
              <a:buChar char="•"/>
              <a:lnSpc>
                <a:spcPts val="2200"/>
              </a:lnSpc>
            </a:pPr>
            <a:r>
              <a:rPr sz="2000" b="0">
                <a:solidFill>
                  <a:srgbClr val="333333"/>
                </a:solidFill>
                <a:latin typeface="Calibri"/>
              </a:rPr>
              <a:t>Modes include online forms, face-to-face interviews, telephone contact</a:t>
            </a:r>
          </a:p>
          <a:p>
            <a:pPr>
              <a:spcAft>
                <a:spcPts val="1000"/>
              </a:spcAft>
              <a:buChar char="•"/>
              <a:lnSpc>
                <a:spcPts val="2200"/>
              </a:lnSpc>
            </a:pPr>
            <a:r>
              <a:rPr sz="2000" b="0">
                <a:solidFill>
                  <a:srgbClr val="333333"/>
                </a:solidFill>
                <a:latin typeface="Calibri"/>
              </a:rPr>
              <a:t>Strengths include large sample reach, standardized wording, and quantifiable outputs</a:t>
            </a:r>
          </a:p>
          <a:p>
            <a:pPr>
              <a:spcAft>
                <a:spcPts val="1000"/>
              </a:spcAft>
              <a:buChar char="•"/>
              <a:lnSpc>
                <a:spcPts val="2200"/>
              </a:lnSpc>
            </a:pPr>
            <a:r>
              <a:rPr sz="2000" b="0">
                <a:solidFill>
                  <a:srgbClr val="333333"/>
                </a:solidFill>
                <a:latin typeface="Calibri"/>
              </a:rPr>
              <a:t>Weaknesses include socially desirable answering, low response rates without incentives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2.5 — Campus Wi-Fi satisfaction survey plan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2.5 — hands-on module</a:t>
            </a:r>
          </a:p>
          <a:p>
            <a:pPr>
              <a:spcAft>
                <a:spcPts val="1000"/>
              </a:spcAft>
              <a:buChar char="•"/>
              <a:lnSpc>
                <a:spcPts val="2200"/>
              </a:lnSpc>
            </a:pPr>
            <a:r>
              <a:rPr sz="2000" b="0">
                <a:solidFill>
                  <a:srgbClr val="333333"/>
                </a:solidFill>
                <a:latin typeface="Calibri"/>
              </a:rPr>
              <a:t>Example 2.5 shows a short instrument plan before any survey platform is chosen</a:t>
            </a:r>
          </a:p>
          <a:p>
            <a:pPr>
              <a:spcAft>
                <a:spcPts val="1000"/>
              </a:spcAft>
              <a:buChar char="•"/>
              <a:lnSpc>
                <a:spcPts val="2200"/>
              </a:lnSpc>
            </a:pPr>
            <a:r>
              <a:rPr sz="2000" b="0">
                <a:solidFill>
                  <a:srgbClr val="333333"/>
                </a:solidFill>
                <a:latin typeface="Calibri"/>
              </a:rPr>
              <a:t>An IT office wants to know which buildings have unreliable Wi-Fi</a:t>
            </a:r>
          </a:p>
          <a:p>
            <a:pPr>
              <a:spcAft>
                <a:spcPts val="1000"/>
              </a:spcAft>
              <a:buChar char="•"/>
              <a:lnSpc>
                <a:spcPts val="2200"/>
              </a:lnSpc>
            </a:pPr>
            <a:r>
              <a:rPr sz="2000" b="0">
                <a:solidFill>
                  <a:srgbClr val="333333"/>
                </a:solidFill>
                <a:latin typeface="Calibri"/>
              </a:rPr>
              <a:t>Device type, plus an open comment box for locations the closed items miss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`modules/chapter2/example5/`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Observation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Observation gathers data by watching behavior or events in their natural setting</a:t>
            </a:r>
          </a:p>
          <a:p>
            <a:pPr>
              <a:spcAft>
                <a:spcPts val="1000"/>
              </a:spcAft>
              <a:buChar char="•"/>
              <a:lnSpc>
                <a:spcPts val="2200"/>
              </a:lnSpc>
            </a:pPr>
            <a:r>
              <a:rPr sz="2000" b="0">
                <a:solidFill>
                  <a:srgbClr val="333333"/>
                </a:solidFill>
                <a:latin typeface="Calibri"/>
              </a:rPr>
              <a:t>Participant observation embeds the researcher in the activity</a:t>
            </a:r>
          </a:p>
          <a:p>
            <a:pPr>
              <a:spcAft>
                <a:spcPts val="1000"/>
              </a:spcAft>
              <a:buChar char="•"/>
              <a:lnSpc>
                <a:spcPts val="2200"/>
              </a:lnSpc>
            </a:pPr>
            <a:r>
              <a:rPr sz="2000" b="0">
                <a:solidFill>
                  <a:srgbClr val="333333"/>
                </a:solidFill>
                <a:latin typeface="Calibri"/>
              </a:rPr>
              <a:t>Often hard to generalize from small settings</a:t>
            </a:r>
          </a:p>
          <a:p>
            <a:pPr>
              <a:spcAft>
                <a:spcPts val="1000"/>
              </a:spcAft>
              <a:buChar char="•"/>
              <a:lnSpc>
                <a:spcPts val="2200"/>
              </a:lnSpc>
            </a:pPr>
            <a:r>
              <a:rPr sz="2000" b="0">
                <a:solidFill>
                  <a:srgbClr val="333333"/>
                </a:solidFill>
                <a:latin typeface="Calibri"/>
              </a:rPr>
              <a:t>Teams frequently combine observation with surveys so depth and breadth reinforce each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Web scraping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Web scraping uses programs to extract text, tables, or media from HTML pages</a:t>
            </a:r>
          </a:p>
          <a:p>
            <a:pPr>
              <a:spcAft>
                <a:spcPts val="1000"/>
              </a:spcAft>
              <a:buChar char="•"/>
              <a:lnSpc>
                <a:spcPts val="2200"/>
              </a:lnSpc>
            </a:pPr>
            <a:r>
              <a:rPr sz="2000" b="0">
                <a:solidFill>
                  <a:srgbClr val="333333"/>
                </a:solidFill>
                <a:latin typeface="Calibri"/>
              </a:rPr>
              <a:t>It is useful when a site exposes public content but no API</a:t>
            </a:r>
          </a:p>
          <a:p>
            <a:pPr>
              <a:spcAft>
                <a:spcPts val="1000"/>
              </a:spcAft>
              <a:buChar char="•"/>
              <a:lnSpc>
                <a:spcPts val="2200"/>
              </a:lnSpc>
            </a:pPr>
            <a:r>
              <a:rPr sz="2000" b="0">
                <a:solidFill>
                  <a:srgbClr val="333333"/>
                </a:solidFill>
                <a:latin typeface="Calibri"/>
              </a:rPr>
              <a:t>May trigger anti-bot defenses</a:t>
            </a:r>
          </a:p>
          <a:p>
            <a:pPr>
              <a:spcAft>
                <a:spcPts val="1000"/>
              </a:spcAft>
              <a:buChar char="•"/>
              <a:lnSpc>
                <a:spcPts val="2200"/>
              </a:lnSpc>
            </a:pPr>
            <a:r>
              <a:rPr sz="2000" b="0">
                <a:solidFill>
                  <a:srgbClr val="333333"/>
                </a:solidFill>
                <a:latin typeface="Calibri"/>
              </a:rPr>
              <a:t>Responsible projects document robots policies, throttle requests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2.6 — Choosing scraping for public course catalogs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2.6 — hands-on module</a:t>
            </a:r>
          </a:p>
          <a:p>
            <a:pPr>
              <a:spcAft>
                <a:spcPts val="1000"/>
              </a:spcAft>
              <a:buChar char="•"/>
              <a:lnSpc>
                <a:spcPts val="2200"/>
              </a:lnSpc>
            </a:pPr>
            <a:r>
              <a:rPr sz="2000" b="0">
                <a:solidFill>
                  <a:srgbClr val="333333"/>
                </a:solidFill>
                <a:latin typeface="Calibri"/>
              </a:rPr>
              <a:t>Example 2.6 stays at the decision level</a:t>
            </a:r>
          </a:p>
          <a:p>
            <a:pPr>
              <a:spcAft>
                <a:spcPts val="1000"/>
              </a:spcAft>
              <a:buChar char="•"/>
              <a:lnSpc>
                <a:spcPts val="2200"/>
              </a:lnSpc>
            </a:pPr>
            <a:r>
              <a:rPr sz="2000" b="0">
                <a:solidFill>
                  <a:srgbClr val="333333"/>
                </a:solidFill>
                <a:latin typeface="Calibri"/>
              </a:rPr>
              <a:t>A research team needs weekly snapshots of publicly listed university course titles and</a:t>
            </a:r>
          </a:p>
          <a:p>
            <a:pPr>
              <a:spcAft>
                <a:spcPts val="1000"/>
              </a:spcAft>
              <a:buChar char="•"/>
              <a:lnSpc>
                <a:spcPts val="2200"/>
              </a:lnSpc>
            </a:pPr>
            <a:r>
              <a:rPr sz="2000" b="0">
                <a:solidFill>
                  <a:srgbClr val="333333"/>
                </a:solidFill>
                <a:latin typeface="Calibri"/>
              </a:rPr>
              <a:t>They scrape the HTML timetable, store course code and title as structured rows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`modules/chapter2/example6/`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Surveys fit attitudes and self-report at scale</a:t>
            </a:r>
          </a:p>
          <a:p>
            <a:pPr>
              <a:spcAft>
                <a:spcPts val="1000"/>
              </a:spcAft>
              <a:buChar char="•"/>
              <a:lnSpc>
                <a:spcPts val="2200"/>
              </a:lnSpc>
            </a:pPr>
            <a:r>
              <a:rPr sz="2000" b="0">
                <a:solidFill>
                  <a:srgbClr val="333333"/>
                </a:solidFill>
                <a:latin typeface="Calibri"/>
              </a:rPr>
              <a:t>Each method carries distinct bias and policy risks</a:t>
            </a:r>
          </a:p>
          <a:p>
            <a:pPr>
              <a:spcAft>
                <a:spcPts val="1000"/>
              </a:spcAft>
              <a:buChar char="•"/>
              <a:lnSpc>
                <a:spcPts val="2200"/>
              </a:lnSpc>
            </a:pPr>
            <a:r>
              <a:rPr sz="2000" b="0">
                <a:solidFill>
                  <a:srgbClr val="333333"/>
                </a:solidFill>
                <a:latin typeface="Calibri"/>
              </a:rPr>
              <a:t>Design the instrument and sampling plan first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03 Surveys And Scraping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