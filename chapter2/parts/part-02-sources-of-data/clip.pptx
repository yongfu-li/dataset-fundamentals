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collection plan starts with purpose; the next decision is where records originate. This part contrasts primary data measured for the current study, secondary archives reused from others, and real-time streams that keep refreshing.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distinguish primary, secondary, and real-time source types, summarize the strengths and risks of each, and explain why source choice and structure choice are orthogonal planning decisions.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 classified datasets by structure and temporal behavior. This section answers a different question: where do the records come from? It helps to distinguish primary data collected for the current objective, secondary data reused from prior studies or agencies, and real-time streams that refresh with little delay. A source choice and a structure choice are independent: a primary survey can yield a structured table, and a secondary archive can hold unstructured text.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data are measured directly for the present study through surveys, experiments, interviews, or observation. Because the instrument is designed around the question at hand, primary data are often more relevant than reused extracts, and the team retains control over sampling, wording, and quality checks. The trade-off is time, cost, and the risk of human bias during interviews or observation.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2.2 shows a primary clinical protocol designed around a recovery question. A hospital study of post-operative recovery may collect vital signs every four hours from bedside monitors and nurse-entered pain scores. The protocol defines devices, recording intervals, and inclusion criteria so that another ward could reproduce the same table structure. Open the example 2 module to review how primary collection buys relevance and control.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Secondary data were previously collected, processed, and published by others: academic papers, government reports, statistical agencies, or open repositories. They are attractive when budgets are tight or when historical coverage matters, because the expensive fieldwork has already been paid for. Challenges include schema mismatch, incomplete provenance, and biases from the original purpose that travel silently into the new analysis.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2.3 shows a secondary reuse path that looks cheaper until schema mismatch appears. A retailer considering new store locations downloads a public census extract with neighborhood income and age distributions. The download is fast and free, but the age bins and geographic units do not match the retailer's catchment polygons, so analysts must re-aggregate before the table answers the siting question. Try the example 3 module to see how secondary data shifts cost from fieldwork to curation.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Real-time data are collected and made available with minimal delay, often through IoT sensors, streaming APIs, or social and analytics feeds. Such feeds usually produce dynamic datasets: records keep arriving, so latency, ordering, and retention become first-class design constraints. They enable immediate action in monitoring and alerting, but the pipeline must handle volume, missing packets, and clock drift before the stream becomes a trustworthy analytical table.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sources buy relevance and control at the price of cost and time. Secondary sources buy speed and scale at the price of fit and provenance checks. Real-time sources buy timeliness at the price of infrastructure and integration discipline. Match the source class to the decision timeline and the evidence standard the study requires.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the next part on surveys, observation, and web scraping—the instruments that turn a source choice into measurable records.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2 — Sources of data</a:t>
            </a:r>
          </a:p>
          <a:p>
            <a:pPr algn="ctr">
              <a:lnSpc>
                <a:spcPts val="2200"/>
              </a:lnSpc>
              <a:spcBef>
                <a:spcPts val="1400"/>
              </a:spcBef>
            </a:pPr>
            <a:r>
              <a:rPr sz="2600" b="0">
                <a:solidFill>
                  <a:srgbClr val="333333"/>
                </a:solidFill>
                <a:latin typeface="Calibri"/>
              </a:rPr>
              <a:t>A collection plan starts with purpose; the next decision is where records originate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Sources Of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Distinguish primary, secondary</a:t>
            </a:r>
          </a:p>
          <a:p>
            <a:pPr>
              <a:spcAft>
                <a:spcPts val="1000"/>
              </a:spcAft>
              <a:buChar char="•"/>
              <a:lnSpc>
                <a:spcPts val="2200"/>
              </a:lnSpc>
            </a:pPr>
            <a:r>
              <a:rPr sz="2000" b="0">
                <a:solidFill>
                  <a:srgbClr val="333333"/>
                </a:solidFill>
                <a:latin typeface="Calibri"/>
              </a:rPr>
              <a:t>Real-time source types, summarize the strengths and risks of each</a:t>
            </a:r>
          </a:p>
          <a:p>
            <a:pPr>
              <a:spcAft>
                <a:spcPts val="1000"/>
              </a:spcAft>
              <a:buChar char="•"/>
              <a:lnSpc>
                <a:spcPts val="2200"/>
              </a:lnSpc>
            </a:pPr>
            <a:r>
              <a:rPr sz="2000" b="0">
                <a:solidFill>
                  <a:srgbClr val="333333"/>
                </a:solidFill>
                <a:latin typeface="Calibri"/>
              </a:rPr>
              <a:t>Explain why source choice and structure choice are orthogonal planning decisions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Sources Of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Where do records come from?</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Chapter 1 classified datasets by structure and temporal behavior</a:t>
            </a:r>
          </a:p>
          <a:p>
            <a:pPr>
              <a:spcAft>
                <a:spcPts val="1000"/>
              </a:spcAft>
              <a:buChar char="•"/>
              <a:lnSpc>
                <a:spcPts val="2200"/>
              </a:lnSpc>
            </a:pPr>
            <a:r>
              <a:rPr sz="2000" b="0">
                <a:solidFill>
                  <a:srgbClr val="333333"/>
                </a:solidFill>
                <a:latin typeface="Calibri"/>
              </a:rPr>
              <a:t>This section answers a different question: where do the records come from?</a:t>
            </a:r>
          </a:p>
          <a:p>
            <a:pPr>
              <a:spcAft>
                <a:spcPts val="1000"/>
              </a:spcAft>
              <a:buChar char="•"/>
              <a:lnSpc>
                <a:spcPts val="2200"/>
              </a:lnSpc>
            </a:pPr>
            <a:r>
              <a:rPr sz="2000" b="0">
                <a:solidFill>
                  <a:srgbClr val="333333"/>
                </a:solidFill>
                <a:latin typeface="Calibri"/>
              </a:rPr>
              <a:t>Real-time streams that refresh with little delay</a:t>
            </a:r>
          </a:p>
          <a:p>
            <a:pPr>
              <a:spcAft>
                <a:spcPts val="1000"/>
              </a:spcAft>
              <a:buChar char="•"/>
              <a:lnSpc>
                <a:spcPts val="2200"/>
              </a:lnSpc>
            </a:pPr>
            <a:r>
              <a:rPr sz="2000" b="0">
                <a:solidFill>
                  <a:srgbClr val="333333"/>
                </a:solidFill>
                <a:latin typeface="Calibri"/>
              </a:rPr>
              <a:t>A source choice and a structure choice are independent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Sources Of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Primary data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Primary data are measured directly for the present study through surveys</a:t>
            </a:r>
          </a:p>
          <a:p>
            <a:pPr>
              <a:spcAft>
                <a:spcPts val="1000"/>
              </a:spcAft>
              <a:buChar char="•"/>
              <a:lnSpc>
                <a:spcPts val="2200"/>
              </a:lnSpc>
            </a:pPr>
            <a:r>
              <a:rPr sz="2000" b="0">
                <a:solidFill>
                  <a:srgbClr val="333333"/>
                </a:solidFill>
                <a:latin typeface="Calibri"/>
              </a:rPr>
              <a:t>The team retains control over sampling, wording, and quality checks</a:t>
            </a:r>
          </a:p>
          <a:p>
            <a:pPr>
              <a:spcAft>
                <a:spcPts val="1000"/>
              </a:spcAft>
              <a:buChar char="•"/>
              <a:lnSpc>
                <a:spcPts val="2200"/>
              </a:lnSpc>
            </a:pPr>
            <a:r>
              <a:rPr sz="2000" b="0">
                <a:solidFill>
                  <a:srgbClr val="333333"/>
                </a:solidFill>
                <a:latin typeface="Calibri"/>
              </a:rPr>
              <a:t>The trade-off is time, cost, and the risk of human bias during interviews or observation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Sources Of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2.2 — Primary collection in a clinical monitoring study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2.2 — hands-on module</a:t>
            </a:r>
          </a:p>
          <a:p>
            <a:pPr>
              <a:spcAft>
                <a:spcPts val="1000"/>
              </a:spcAft>
              <a:buChar char="•"/>
              <a:lnSpc>
                <a:spcPts val="2200"/>
              </a:lnSpc>
            </a:pPr>
            <a:r>
              <a:rPr sz="2000" b="0">
                <a:solidFill>
                  <a:srgbClr val="333333"/>
                </a:solidFill>
                <a:latin typeface="Calibri"/>
              </a:rPr>
              <a:t>Example 2.2 shows a primary clinical protocol designed around a recovery question</a:t>
            </a:r>
          </a:p>
          <a:p>
            <a:pPr>
              <a:spcAft>
                <a:spcPts val="1000"/>
              </a:spcAft>
              <a:buChar char="•"/>
              <a:lnSpc>
                <a:spcPts val="2200"/>
              </a:lnSpc>
            </a:pPr>
            <a:r>
              <a:rPr sz="2000" b="0">
                <a:solidFill>
                  <a:srgbClr val="333333"/>
                </a:solidFill>
                <a:latin typeface="Calibri"/>
              </a:rPr>
              <a:t>A hospital study of post-operative recovery may collect vital signs every four hours from</a:t>
            </a:r>
          </a:p>
          <a:p>
            <a:pPr>
              <a:spcAft>
                <a:spcPts val="1000"/>
              </a:spcAft>
              <a:buChar char="•"/>
              <a:lnSpc>
                <a:spcPts val="2200"/>
              </a:lnSpc>
            </a:pPr>
            <a:r>
              <a:rPr sz="2000" b="0">
                <a:solidFill>
                  <a:srgbClr val="333333"/>
                </a:solidFill>
                <a:latin typeface="Calibri"/>
              </a:rPr>
              <a:t>The protocol defines devices, recording intervals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`modules/chapter2/example2/`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Sources Of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Secondary data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Secondary data were previously collected, processed, and published by others</a:t>
            </a:r>
          </a:p>
          <a:p>
            <a:pPr>
              <a:spcAft>
                <a:spcPts val="1000"/>
              </a:spcAft>
              <a:buChar char="•"/>
              <a:lnSpc>
                <a:spcPts val="2200"/>
              </a:lnSpc>
            </a:pPr>
            <a:r>
              <a:rPr sz="2000" b="0">
                <a:solidFill>
                  <a:srgbClr val="333333"/>
                </a:solidFill>
                <a:latin typeface="Calibri"/>
              </a:rPr>
              <a:t>They are attractive when budgets are tight or when historical coverage matters</a:t>
            </a:r>
          </a:p>
          <a:p>
            <a:pPr>
              <a:spcAft>
                <a:spcPts val="1000"/>
              </a:spcAft>
              <a:buChar char="•"/>
              <a:lnSpc>
                <a:spcPts val="2200"/>
              </a:lnSpc>
            </a:pPr>
            <a:r>
              <a:rPr sz="2000" b="0">
                <a:solidFill>
                  <a:srgbClr val="333333"/>
                </a:solidFill>
                <a:latin typeface="Calibri"/>
              </a:rPr>
              <a:t>Challenges include schema mismatch, incomplete provenance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Sources Of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2.3 — Secondary census extract for store siting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2.3 — hands-on module</a:t>
            </a:r>
          </a:p>
          <a:p>
            <a:pPr>
              <a:spcAft>
                <a:spcPts val="1000"/>
              </a:spcAft>
              <a:buChar char="•"/>
              <a:lnSpc>
                <a:spcPts val="2200"/>
              </a:lnSpc>
            </a:pPr>
            <a:r>
              <a:rPr sz="2000" b="0">
                <a:solidFill>
                  <a:srgbClr val="333333"/>
                </a:solidFill>
                <a:latin typeface="Calibri"/>
              </a:rPr>
              <a:t>Example 2.3 shows a secondary reuse path that looks cheaper until schema mismatch appears</a:t>
            </a:r>
          </a:p>
          <a:p>
            <a:pPr>
              <a:spcAft>
                <a:spcPts val="1000"/>
              </a:spcAft>
              <a:buChar char="•"/>
              <a:lnSpc>
                <a:spcPts val="2200"/>
              </a:lnSpc>
            </a:pPr>
            <a:r>
              <a:rPr sz="2000" b="0">
                <a:solidFill>
                  <a:srgbClr val="333333"/>
                </a:solidFill>
                <a:latin typeface="Calibri"/>
              </a:rPr>
              <a:t>A retailer considering new store locations downloads a public census extract with</a:t>
            </a:r>
          </a:p>
          <a:p>
            <a:pPr>
              <a:spcAft>
                <a:spcPts val="1000"/>
              </a:spcAft>
              <a:buChar char="•"/>
              <a:lnSpc>
                <a:spcPts val="2200"/>
              </a:lnSpc>
            </a:pPr>
            <a:r>
              <a:rPr sz="2000" b="0">
                <a:solidFill>
                  <a:srgbClr val="333333"/>
                </a:solidFill>
                <a:latin typeface="Calibri"/>
              </a:rPr>
              <a:t>The download is fast and free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`modules/chapter2/example3/`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Sources Of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Real-time data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Real-time data are collected and made available with minimal delay</a:t>
            </a:r>
          </a:p>
          <a:p>
            <a:pPr>
              <a:spcAft>
                <a:spcPts val="1000"/>
              </a:spcAft>
              <a:buChar char="•"/>
              <a:lnSpc>
                <a:spcPts val="2200"/>
              </a:lnSpc>
            </a:pPr>
            <a:r>
              <a:rPr sz="2000" b="0">
                <a:solidFill>
                  <a:srgbClr val="333333"/>
                </a:solidFill>
                <a:latin typeface="Calibri"/>
              </a:rPr>
              <a:t>Such feeds usually produce dynamic datasets</a:t>
            </a:r>
          </a:p>
          <a:p>
            <a:pPr>
              <a:spcAft>
                <a:spcPts val="1000"/>
              </a:spcAft>
              <a:buChar char="•"/>
              <a:lnSpc>
                <a:spcPts val="2200"/>
              </a:lnSpc>
            </a:pPr>
            <a:r>
              <a:rPr sz="2000" b="0">
                <a:solidFill>
                  <a:srgbClr val="333333"/>
                </a:solidFill>
                <a:latin typeface="Calibri"/>
              </a:rPr>
              <a:t>Clock drift before the stream becomes a trustworthy analytical table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Sources Of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Primary sources buy relevance and control at the price of cost and time</a:t>
            </a:r>
          </a:p>
          <a:p>
            <a:pPr>
              <a:spcAft>
                <a:spcPts val="1000"/>
              </a:spcAft>
              <a:buChar char="•"/>
              <a:lnSpc>
                <a:spcPts val="2200"/>
              </a:lnSpc>
            </a:pPr>
            <a:r>
              <a:rPr sz="2000" b="0">
                <a:solidFill>
                  <a:srgbClr val="333333"/>
                </a:solidFill>
                <a:latin typeface="Calibri"/>
              </a:rPr>
              <a:t>Secondary sources buy speed and scale at the price of fit and provenance checks</a:t>
            </a:r>
          </a:p>
          <a:p>
            <a:pPr>
              <a:spcAft>
                <a:spcPts val="1000"/>
              </a:spcAft>
              <a:buChar char="•"/>
              <a:lnSpc>
                <a:spcPts val="2200"/>
              </a:lnSpc>
            </a:pPr>
            <a:r>
              <a:rPr sz="2000" b="0">
                <a:solidFill>
                  <a:srgbClr val="333333"/>
                </a:solidFill>
                <a:latin typeface="Calibri"/>
              </a:rPr>
              <a:t>Real-time sources buy timeliness at the price of infrastructure and integration discipline</a:t>
            </a:r>
          </a:p>
          <a:p>
            <a:pPr>
              <a:spcAft>
                <a:spcPts val="1000"/>
              </a:spcAft>
              <a:buChar char="•"/>
              <a:lnSpc>
                <a:spcPts val="2200"/>
              </a:lnSpc>
            </a:pPr>
            <a:r>
              <a:rPr sz="2000" b="0">
                <a:solidFill>
                  <a:srgbClr val="333333"/>
                </a:solidFill>
                <a:latin typeface="Calibri"/>
              </a:rPr>
              <a:t>Match the source class to the decision timeline and the evidence standard the study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Sources Of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Complete the quiz, then continue to the next part on surveys, observation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Sources Of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