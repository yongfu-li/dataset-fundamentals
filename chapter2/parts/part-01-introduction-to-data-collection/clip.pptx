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 defined what a dataset is. This chapter asks how records enter one in the first place. This opening part frames data collection as a planned process—objectives, sources, methods, sampling, and storage—before any tool is chosen.</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data collection as a systematic, objective-oriented process, outline the five linked decisions in a practical collection plan, and name the three process traits that distinguish rigorous campaigns from ad hoc gathering.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collection is the systematic process of gathering and measuring information so that research questions, hypotheses, or operational decisions can be answered with evidence rather than anecdote. Where the previous chapter described curated datasets, this chapter focuses on which sources to trust, which instruments to use, and how sampling choices shape what later analysts can claim.</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practical collection plan usually proceeds through five linked decisions. Teams first define objectives—research, monitoring, or model training. They identify sources, such as primary experiments and surveys versus secondary archives. Next they select methods, execute collection with quality checks, and finally store and manage the resulting files so they remain usable after the campaign ends.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Effective collection programs share three process traits, distinct from the dataset quality dimensions introduced earlier. They are systematic: procedures are specified so another team could reproduce the protocol. They are objective-oriented: every instrument and sample rule maps to a research or business question. They are dynamic: methods evolve as new sensors, APIs, and streaming platforms appear, especially in Internet of Things settings where continuous feeds replace one-shot surveys.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2.1 converts a vague request into a collectable specification. A retailer wants to know why online shoppers abandon carts. The plan might specify an objective to identify checkout friction; sources that combine a primary post-purchase survey with secondary web analytics; methods such as an email questionnaire and server logs; a sample of recent cart abandoners stratified by device type; and storage as an anonymized table with a documented schema. Open the example 1 module for this chapter to walk through the checklist.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Collection quality constrains everything that follows. Analysis cannot recover information that was never measured, and biased samples or inconsistent instruments can produce models that look accurate on paper yet fail for underrepresented groups. When protocols are designed well, decisions rest on observed evidence, avoidable measurement error shrinks, and later estimates gain precision—but only after the hard design work of choosing sources, methods, automation level, and samples that match the question.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three points. Data collection is systematic and tied to objectives, not opportunistic gathering. A five-step plan links purpose, sources, methods, execution, and storage. Clarity about purpose and source comes before tool selection; without it, teams often gather data that is abundant yet irrelevant.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part on sources of data—primary, secondary, and real-time—and how each shapes collection trade-offs.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2 — Introduction to data collection</a:t>
            </a:r>
          </a:p>
          <a:p>
            <a:pPr algn="ctr">
              <a:lnSpc>
                <a:spcPts val="2200"/>
              </a:lnSpc>
              <a:spcBef>
                <a:spcPts val="1400"/>
              </a:spcBef>
            </a:pPr>
            <a:r>
              <a:rPr sz="2600" b="0">
                <a:solidFill>
                  <a:srgbClr val="333333"/>
                </a:solidFill>
                <a:latin typeface="Calibri"/>
              </a:rPr>
              <a:t>Chapter 1 defined what a dataset is</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Introduction To Data Collection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Define data collection as a systematic</a:t>
            </a:r>
          </a:p>
          <a:p>
            <a:pPr lvl="0" marL="457200" indent="-228600">
              <a:buFont typeface="Calibri"/>
              <a:spcAft>
                <a:spcPts val="1000"/>
              </a:spcAft>
              <a:buSzPct val="100000"/>
              <a:buChar char="•"/>
              <a:lnSpc>
                <a:spcPts val="2200"/>
              </a:lnSpc>
            </a:pPr>
            <a:r>
              <a:rPr sz="2000" b="0">
                <a:solidFill>
                  <a:srgbClr val="333333"/>
                </a:solidFill>
                <a:latin typeface="Calibri"/>
              </a:rPr>
              <a:t>Name the three process traits that distinguish rigorous campaigns from ad hoc gathering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Introduction To Data Collection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is data collection?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Hypotheses, or operational decisions can be answered with evidence rather than anecdote</a:t>
            </a:r>
          </a:p>
          <a:p>
            <a:pPr lvl="0" marL="457200" indent="-228600">
              <a:buFont typeface="Calibri"/>
              <a:spcAft>
                <a:spcPts val="1000"/>
              </a:spcAft>
              <a:buSzPct val="100000"/>
              <a:buChar char="•"/>
              <a:lnSpc>
                <a:spcPts val="2200"/>
              </a:lnSpc>
            </a:pPr>
            <a:r>
              <a:rPr sz="2000" b="0">
                <a:solidFill>
                  <a:srgbClr val="333333"/>
                </a:solidFill>
                <a:latin typeface="Calibri"/>
              </a:rPr>
              <a:t>How sampling choices shape what later analysts can claim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Introduction To Data Collection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The five-step collection plan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 practical collection plan usually proceeds through five linked decisions</a:t>
            </a:r>
          </a:p>
          <a:p>
            <a:pPr lvl="0" marL="457200" indent="-228600">
              <a:buFont typeface="Calibri"/>
              <a:spcAft>
                <a:spcPts val="1000"/>
              </a:spcAft>
              <a:buSzPct val="100000"/>
              <a:buChar char="•"/>
              <a:lnSpc>
                <a:spcPts val="2200"/>
              </a:lnSpc>
            </a:pPr>
            <a:r>
              <a:rPr sz="2000" b="0">
                <a:solidFill>
                  <a:srgbClr val="333333"/>
                </a:solidFill>
                <a:latin typeface="Calibri"/>
              </a:rPr>
              <a:t>Teams first define objectives, research, monitoring, or model training</a:t>
            </a:r>
          </a:p>
          <a:p>
            <a:pPr lvl="0" marL="457200" indent="-228600">
              <a:buFont typeface="Calibri"/>
              <a:spcAft>
                <a:spcPts val="1000"/>
              </a:spcAft>
              <a:buSzPct val="100000"/>
              <a:buChar char="•"/>
              <a:lnSpc>
                <a:spcPts val="2200"/>
              </a:lnSpc>
            </a:pPr>
            <a:r>
              <a:rPr sz="2000" b="0">
                <a:solidFill>
                  <a:srgbClr val="333333"/>
                </a:solidFill>
                <a:latin typeface="Calibri"/>
              </a:rPr>
              <a:t>They identify sources, such as primary experiments and surveys versus secondary archives</a:t>
            </a:r>
          </a:p>
          <a:p>
            <a:pPr lvl="0" marL="457200" indent="-228600">
              <a:buFont typeface="Calibri"/>
              <a:spcAft>
                <a:spcPts val="1000"/>
              </a:spcAft>
              <a:buSzPct val="100000"/>
              <a:buChar char="•"/>
              <a:lnSpc>
                <a:spcPts val="2200"/>
              </a:lnSpc>
            </a:pPr>
            <a:r>
              <a:rPr sz="2000" b="0">
                <a:solidFill>
                  <a:srgbClr val="333333"/>
                </a:solidFill>
                <a:latin typeface="Calibri"/>
              </a:rPr>
              <a:t>Next they select methods, execute collection with quality checks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Introduction To Data Collection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Process traits of effective collection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Effective collection programs share three process traits</a:t>
            </a:r>
          </a:p>
          <a:p>
            <a:pPr lvl="0" marL="457200" indent="-228600">
              <a:buFont typeface="Calibri"/>
              <a:spcAft>
                <a:spcPts val="1000"/>
              </a:spcAft>
              <a:buSzPct val="100000"/>
              <a:buChar char="•"/>
              <a:lnSpc>
                <a:spcPts val="2200"/>
              </a:lnSpc>
            </a:pPr>
            <a:r>
              <a:rPr sz="2000" b="0">
                <a:solidFill>
                  <a:srgbClr val="333333"/>
                </a:solidFill>
                <a:latin typeface="Calibri"/>
              </a:rPr>
              <a:t>They are systematic: procedures are specified so another team could reproduce the protocol</a:t>
            </a:r>
          </a:p>
          <a:p>
            <a:pPr lvl="0" marL="457200" indent="-228600">
              <a:buFont typeface="Calibri"/>
              <a:spcAft>
                <a:spcPts val="1000"/>
              </a:spcAft>
              <a:buSzPct val="100000"/>
              <a:buChar char="•"/>
              <a:lnSpc>
                <a:spcPts val="2200"/>
              </a:lnSpc>
            </a:pPr>
            <a:r>
              <a:rPr sz="2000" b="0">
                <a:solidFill>
                  <a:srgbClr val="333333"/>
                </a:solidFill>
                <a:latin typeface="Calibri"/>
              </a:rPr>
              <a:t>They are objective-oriented</a:t>
            </a:r>
          </a:p>
          <a:p>
            <a:pPr lvl="0" marL="457200" indent="-228600">
              <a:buFont typeface="Calibri"/>
              <a:spcAft>
                <a:spcPts val="1000"/>
              </a:spcAft>
              <a:buSzPct val="100000"/>
              <a:buChar char="•"/>
              <a:lnSpc>
                <a:spcPts val="2200"/>
              </a:lnSpc>
            </a:pPr>
            <a:r>
              <a:rPr sz="2000" b="0">
                <a:solidFill>
                  <a:srgbClr val="333333"/>
                </a:solidFill>
                <a:latin typeface="Calibri"/>
              </a:rPr>
              <a:t>They are dynamic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Introduction To Data Collection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2.1 — Collection plan for a retail satisfaction study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2.1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2.1 converts a vague request into a collectable specification</a:t>
            </a:r>
          </a:p>
          <a:p>
            <a:pPr lvl="0" marL="457200" indent="-228600">
              <a:buFont typeface="Calibri"/>
              <a:spcAft>
                <a:spcPts val="1000"/>
              </a:spcAft>
              <a:buSzPct val="100000"/>
              <a:buChar char="•"/>
              <a:lnSpc>
                <a:spcPts val="2200"/>
              </a:lnSpc>
            </a:pPr>
            <a:r>
              <a:rPr sz="2000" b="0">
                <a:solidFill>
                  <a:srgbClr val="333333"/>
                </a:solidFill>
                <a:latin typeface="Calibri"/>
              </a:rPr>
              <a:t>A retailer wants to know why online shoppers abandon carts</a:t>
            </a:r>
          </a:p>
          <a:p>
            <a:pPr lvl="0" marL="457200" indent="-228600">
              <a:buFont typeface="Calibri"/>
              <a:spcAft>
                <a:spcPts val="1000"/>
              </a:spcAft>
              <a:buSzPct val="100000"/>
              <a:buChar char="•"/>
              <a:lnSpc>
                <a:spcPts val="2200"/>
              </a:lnSpc>
            </a:pPr>
            <a:r>
              <a:rPr sz="2000" b="0">
                <a:solidFill>
                  <a:srgbClr val="333333"/>
                </a:solidFill>
                <a:latin typeface="Calibri"/>
              </a:rPr>
              <a:t>The plan might specify an objective to identify checkout friction</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`modules/chapter2/example1/`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Introduction To Data Collection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collection design matters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Collection quality constrains everything that follows</a:t>
            </a:r>
          </a:p>
          <a:p>
            <a:pPr lvl="0" marL="457200" indent="-228600">
              <a:buFont typeface="Calibri"/>
              <a:spcAft>
                <a:spcPts val="1000"/>
              </a:spcAft>
              <a:buSzPct val="100000"/>
              <a:buChar char="•"/>
              <a:lnSpc>
                <a:spcPts val="2200"/>
              </a:lnSpc>
            </a:pPr>
            <a:r>
              <a:rPr sz="2000" b="0">
                <a:solidFill>
                  <a:srgbClr val="333333"/>
                </a:solidFill>
                <a:latin typeface="Calibri"/>
              </a:rPr>
              <a:t>Analysis cannot recover information that was never measured</a:t>
            </a:r>
          </a:p>
          <a:p>
            <a:pPr lvl="0" marL="457200" indent="-228600">
              <a:buFont typeface="Calibri"/>
              <a:spcAft>
                <a:spcPts val="1000"/>
              </a:spcAft>
              <a:buSzPct val="100000"/>
              <a:buChar char="•"/>
              <a:lnSpc>
                <a:spcPts val="2200"/>
              </a:lnSpc>
            </a:pPr>
            <a:r>
              <a:rPr sz="2000" b="0">
                <a:solidFill>
                  <a:srgbClr val="333333"/>
                </a:solidFill>
                <a:latin typeface="Calibri"/>
              </a:rPr>
              <a:t>When protocols are designed well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Introduction To Data Collection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Data collection is systematic and tied to objectives, not opportunistic gathering</a:t>
            </a:r>
          </a:p>
          <a:p>
            <a:pPr lvl="0" marL="457200" indent="-228600">
              <a:buFont typeface="Calibri"/>
              <a:spcAft>
                <a:spcPts val="1000"/>
              </a:spcAft>
              <a:buSzPct val="100000"/>
              <a:buChar char="•"/>
              <a:lnSpc>
                <a:spcPts val="2200"/>
              </a:lnSpc>
            </a:pPr>
            <a:r>
              <a:rPr sz="2000" b="0">
                <a:solidFill>
                  <a:srgbClr val="333333"/>
                </a:solidFill>
                <a:latin typeface="Calibri"/>
              </a:rPr>
              <a:t>A five-step plan links purpose, sources, methods, execution, and storage</a:t>
            </a:r>
          </a:p>
          <a:p>
            <a:pPr lvl="0" marL="457200" indent="-228600">
              <a:buFont typeface="Calibri"/>
              <a:spcAft>
                <a:spcPts val="1000"/>
              </a:spcAft>
              <a:buSzPct val="100000"/>
              <a:buChar char="•"/>
              <a:lnSpc>
                <a:spcPts val="2200"/>
              </a:lnSpc>
            </a:pPr>
            <a:r>
              <a:rPr sz="2000" b="0">
                <a:solidFill>
                  <a:srgbClr val="333333"/>
                </a:solidFill>
                <a:latin typeface="Calibri"/>
              </a:rPr>
              <a:t>Clarity about purpose and source comes before tool selection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Introduction To Data Collection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the next part on sources of data, primary, secondary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2 — Introduction To Data Collection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