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 defined what a dataset is. This chapter asks how records enter one in the first place. This opening part frames data collection as a planned process—objectives, sources, methods, sampling, and storage—before any tool is chosen.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define data collection as a systematic, objective-oriented process, outline the five linked decisions in a practical collection plan, and name the three process traits that distinguish rigorous campaigns from ad hoc gathering.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collection is the systematic process of gathering and measuring information so that research questions, hypotheses, or operational decisions can be answered with evidence rather than anecdote. Where the previous chapter described curated datasets, this chapter focuses on which sources to trust, which instruments to use, and how sampling choices shape what later analysts can claim.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practical collection plan usually proceeds through five linked decisions. Teams first define objectives—research, monitoring, or model training. They identify sources, such as primary experiments and surveys versus secondary archives. Next they select methods, execute collection with quality checks, and finally store and manage the resulting files so they remain usable after the campaign ends.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Effective collection programs share three process traits, distinct from the dataset quality dimensions introduced earlier. They are systematic: procedures are specified so another team could reproduce the protocol. They are objective-oriented: every instrument and sample rule maps to a research or business question. They are dynamic: methods evolve as new sensors, APIs, and streaming platforms appear, especially in Internet of Things settings where continuous feeds replace one-shot surveys.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2.1 converts a vague request into a collectable specification. A retailer wants to know why online shoppers abandon carts. The plan might specify an objective to identify checkout friction; sources that combine a primary post-purchase survey with secondary web analytics; methods such as an email questionnaire and server logs; a sample of recent cart abandoners stratified by device type; and storage as an anonymized table with a documented schema. Open the example 1 module for this chapter to walk through the checklist.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Collection quality constrains everything that follows. Analysis cannot recover information that was never measured, and biased samples or inconsistent instruments can produce models that look accurate on paper yet fail for underrepresented groups. When protocols are designed well, decisions rest on observed evidence, avoidable measurement error shrinks, and later estimates gain precision—but only after the hard design work of choosing sources, methods, automation level, and samples that match the question.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Remember three points. Data collection is systematic and tied to objectives, not opportunistic gathering. A five-step plan links purpose, sources, methods, execution, and storage. Clarity about purpose and source comes before tool selection; without it, teams often gather data that is abundant yet irrelevant.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the next part on sources of data—primary, secondary, and real-time—and how each shapes collection trade-offs.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distinguish primary, secondary, and real-time source types, summarize the strengths and risks of each, and explain why source choice and structure choice are orthogonal planning decisions.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 classified datasets by structure and temporal behavior. This section answers a different question: where do the records come from? It helps to distinguish primary data collected for the current objective, secondary data reused from prior studies or agencies, and real-time streams that refresh with little delay. A source choice and a structure choice are independent: a primary survey can yield a structured table, and a secondary archive can hold unstructured text.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data are measured directly for the present study through surveys, experiments, interviews, or observation. Because the instrument is designed around the question at hand, primary data are often more relevant than reused extracts, and the team retains control over sampling, wording, and quality checks. The trade-off is time, cost, and the risk of human bias during interviews or observation.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2.2 shows a primary clinical protocol designed around a recovery question. A hospital study of post-operative recovery may collect vital signs every four hours from bedside monitors and nurse-entered pain scores. The protocol defines devices, recording intervals, and inclusion criteria so that another ward could reproduce the same table structure. Open the example 2 module to review how primary collection buys relevance and control.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Secondary data were previously collected, processed, and published by others: academic papers, government reports, statistical agencies, or open repositories. They are attractive when budgets are tight or when historical coverage matters, because the expensive fieldwork has already been paid for. Challenges include schema mismatch, incomplete provenance, and biases from the original purpose that travel silently into the new analysis.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2.3 shows a secondary reuse path that looks cheaper until schema mismatch appears. A retailer considering new store locations downloads a public census extract with neighborhood income and age distributions. The download is fast and free, but the age bins and geographic units do not match the retailer's catchment polygons, so analysts must re-aggregate before the table answers the siting question. Try the example 3 module to see how secondary data shifts cost from fieldwork to curation.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Real-time data are collected and made available with minimal delay, often through IoT sensors, streaming APIs, or social and analytics feeds. Such feeds usually produce dynamic datasets: records keep arriving, so latency, ordering, and retention become first-class design constraints. They enable immediate action in monitoring and alerting, but the pipeline must handle volume, missing packets, and clock drift before the stream becomes a trustworthy analytical table.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sources buy relevance and control at the price of cost and time. Secondary sources buy speed and scale at the price of fit and provenance checks. Real-time sources buy timeliness at the price of infrastructure and integration discipline. Match the source class to the decision timeline and the evidence standard the study requires.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then continue to the next part on surveys, observation, and web scraping—the instruments that turn a source choice into measurable records.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match surveys, observation, and scraping to typical research questions, name the main watch-outs for each method, and explain why instrument and sample planning precede platform choice.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source type is chosen, teams select concrete methods. Surveys and questionnaires gather structured responses from people. Observation captures behavior in context. Web scraping extracts content from pages that lack APIs. Mixed designs combine instruments when no single method answers both the what and the why. This part focuses on when each method fits; APIs are covered in the next part.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Surveys remain a workhorse for collecting comparable answers from many respondents in market research, social science, and public-opinion work. Modes include online forms, face-to-face interviews, telephone contact, and postal questionnaires. Strengths include large sample reach, standardized wording, and quantifiable outputs. Weaknesses include socially desirable answering, low response rates without incentives, and shallow coverage of lived experience compared with interviews or observation.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2.5 shows a short instrument plan before any survey platform is chosen. An IT office wants to know which buildings have unreliable Wi-Fi. The plan specifies a five-minute online questionnaire for students and staff, stratified by building, with items on connection failures, peak-hour experience, and device type, plus an open comment box for locations the closed items miss. Open the example 5 module to see how the instrument and sample come before tool choice.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Observation gathers data by watching behavior or events in their natural setting, which is valuable when researchers need context that questionnaires cannot elicit. Participant observation embeds the researcher in the activity; non-participant observation keeps distance for objectivity. Observation yields rich qualitative evidence, but it is time-consuming, vulnerable to observer bias, and often hard to generalize from small settings. Teams frequently combine observation with surveys so depth and breadth reinforce each other.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Web scraping uses programs to extract text, tables, or media from HTML pages. It is useful when a site exposes public content but no API, or when many pages must be harvested on a schedule. Scraping scales and automates collection across sites, yet it raises legal and ethical constraints, yields noisy or shifting schemas when page layouts change, and may trigger anti-bot defenses. Responsible projects document robots policies, throttle requests, and prefer APIs when providers offer them.</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2.6 stays at the decision level. A research team needs weekly snapshots of publicly listed university course titles and credit hours where no catalog API exists. They scrape the HTML timetable, store course code and title as structured rows, and re-check selectors after each term because layout changes routinely break the harvest. Try the example 6 module to review why scraping is a methods choice under fragility and policy constraints, not merely a coding exercise.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Surveys fit attitudes and self-report at scale; observation fits natural behavior in context; scraping fits public web content without APIs. Each method carries distinct bias and policy risks. Design the instrument and sampling plan first, then select platforms and libraries in a later part.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then continue to the next part on APIs for collection—when structured endpoints are preferable to scraping.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explain how APIs differ from scraping as a collection method, describe a minimal request-and-store pattern for JSON feeds, and recognize rate limits and authentication as design constraints rather than afterthoughts.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Programming Interfaces provide structured access to service data, often as JSON or XML payloads that integrate cleanly into pipelines. Relative to scraping, APIs are usually more reliable and explicitly intended for programmatic use, including near-real-time feeds for finance, weather, or social platforms. The trade-off is usage quotas and incomplete coverage of a site's full content.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typical API collection job follows a short loop. Authenticate if required, issue a request with explicit parameters such as city or date range, parse the structured response fields, and append one row per call to a growing store. Error handling and timeouts belong in the same script so that transient failures do not corrupt the table silently.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2.7 shows a minimal request pattern that returns a JSON record suitable for appending to a collection table. A collection job can request the current conditions for a city and store fields such as temperature, humidity, and observed time as one row per call. Rate limits and authentication keys must be handled so that the job remains within the provider's terms. Open the example 7 module to inspect the Python listing and sample payload fields.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API access is governed by contracts, not by page layout. Providers set rate limits, require keys, and may cap daily volume. Collection design must include backoff when quotas are reached, secure storage of credentials, and logging that separates successful rows from throttled calls. Treating these constraints as part of the protocol prevents loss of access mid-campaign.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Prefer APIs when a provider exposes them: schemas are clearer, access rules are documented, and pipelines are less brittle than HTML selectors. Scraping remains a fallback when public content exists but no endpoint is offered, subject to the policy constraints covered in the previous part. Each of these methods can still be executed manually or automatically; that axis is the subject of the next part.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APIs trade scraping flexibility for structure and clearer access rules. A minimal job requests, parses JSON fields, and appends rows. Rate limits and keys are collection-design decisions, not deployment details.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then continue to the next part on manual versus automated collection—who or what executes the same method.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distinguish the method axis from the execution axis, contrast manual and automated collection on scale, cost, and error profile, and recognize when hybrid programs combine both approaches.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previous parts chose which method to use—survey, observation, scraping, or API. This section asks who or what executes it. The same survey can be filled by hand or ingested from an online form API; the same observation protocol can be a field notebook or a camera feed. Manual execution suits small, high-precision, or highly contextual tasks. Automated execution suits large, repetitive, or real-time workloads. Most production programs sit on a hybrid continuum between the two poles.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Manual collection relies on human intervention: paper or digital forms, field notes, or keyboard entry into spreadsheets and databases. It remains appropriate when cases are unique, volumes are modest, or contextual judgment matters more than throughput. Precision and flexibility are strengths; time cost, fatigue-induced error, and poor scalability are the recurring limits. Even manual campaigns benefit from written protocols so that later analysts can interpret how each field was produced.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2.8 shows a setting where replacing people with sensors too early would lose the judgment the study needs. A grocer piloting a new layout asks associates to walk each aisle once per hour and record out-of-stock stock-keeping units on a tablet form. Associates can note temporary displays and damaged packaging that a ceiling camera would misclassify. The trade-off is that coverage drops when staffing is thin. Open the example 8 module to compare situational awareness against scale.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Automated collection uses software and devices to capture data with minimal ongoing human effort: IoT sensors, scheduled scrapers, API pollers, and analytics platforms that emit event streams. Once configured, these systems can run continuously and feed the real-time sources discussed earlier. Automation scales and reduces some classes of human error, but it shifts cost into setup, maintenance, and privacy governance. Teams must also filter overload: a sensor that records every second can bury the rare event that matters unless retention and alerting rules are designed carefully.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2.9 pairs with the shelf-audit case by showing when continuous sensing is the better fit. The same grocer logs cold-room temperature every minute through wired sensors that write to a central store. No associate could sample that frequently without neglecting other work, but the pipeline still needs alert thresholds and missing-packet checks before the stream is trusted. Try the example 9 module to see how automation trades human throughput for infrastructure discipline.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Choosing between manual and automated execution is a design decision, not a moral one. Manual methods fit audits, interviews, and early exploratory studies. Automated methods fit production monitoring, large web harvests, and streaming analytics. Mature programs often combine both: humans write protocols and review edge cases, while automation gathers the bulk stream.</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then continue to the next part on probability sampling—how designs decide whose answers count for inference.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explain why sampling underpins generalization, describe simple random, stratified, and cluster probability designs, and match each design to a typical population and logistics profile.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Sampling lets researchers learn about a population from a manageable subset of cases. A well-chosen sample supports generalization; a poorly chosen one quietly embeds bias into every downstream model and report. This part covers three probability designs that appear repeatedly in practice: simple random, stratified, and cluster sampling. Each assumes a usable sampling frame unless noted otherwise.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simple random sampling, each population member has an equal chance of selection. The method reduces selection bias when a complete frame exists and when the sample is large enough to support the desired margin of error. Operationally, teams build a complete list, draw units with a random process, and invite participation. Its practical limits are incomplete frames and non-response: people who ignore invitations may differ systematically from those who answer.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2.10 shows a clean frame case. A firm with two thousand employees on a complete human-resources roster wants feedback on a new benefits portal. Analysts draw two hundred employee identifiers uniformly at random and invite those people by email. If response is high, portal satisfaction can be generalized to the workforce, but non-respondents may still differ from respondents. Open the example 10 module to review the draw mechanics.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Stratified sampling first partitions the population into meaningful subgroups—strata such as age bands, regions, or device classes—then draws a random sample within each stratum. The design improves precision when subgroups differ on the outcome of interest and guarantees representation of smaller but important segments. Costs include planning complexity and the need for prior knowledge to define strata correctly.</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2.11 mirrors the retail cart-abandonment study from the chapter opener. Analysts divide recent abandoners into mobile and desktop strata, then draw random samples of equal size from each. The design ensures that device-specific checkout friction is visible even if one device class is rarer in the population. Try the example 11 module to see how stratification protects rare segments.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Cluster sampling selects groups of units—schools, clinics, city blocks—and then observes all or some members inside chosen clusters. It is attractive when individual frames are unavailable or when travel costs make visiting scattered individuals impractical. Clusters can be efficient, yet they often reduce precision when units inside a cluster are similar. Prefer clusters that still reflect population diversity when logistics dominate.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random sampling when the population is relatively homogeneous and a complete list exists. Use stratified sampling when key subgroups must appear in sufficient numbers. Use cluster sampling when logistics dominate and entire sites can be visited as units. Non-probability options for weak frames appear in the next part.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then continue to the next part on additional sampling techniques—systematic draws and non-probability designs when access, not inference, is the binding constraint.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implement systematic sampling on an ordered frame with awareness of periodicity, contrast convenience and snowball non-probability designs, and state when each design is defensible versus when generalizable claims are inappropriate.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previous part covered simple random, stratified, and cluster sampling from usable frames. This section adds one more probability option—systematic sampling on an ordered list—and two non-probability options that trade external validity for access: convenience and snowball sampling. The decision rule is whether inference to a population is required or whether exploratory access is the binding constraint.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Systematic sampling selects every nth unit from an ordered frame after choosing a random start. If a population of five hundred must yield fifty interviews, the interval is ten; a random start of four yields units four, fourteen, twenty-four, and so on. When the start is random and the frame is complete, each unit still has a known chance of selection, and administration is often faster than drawing many independent random numbers.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2.13 shows a clean use case and the periodicity trap on the same kind of list. A professional society wants fifty interview slots from a five-hundred-person alphabetical directory. With interval ten and a random start of four, members four, fourteen, twenty-four, and so on are invited. If the directory had instead been sorted by chapter in a repeating urban–rural pattern every ten rows, the same stride could over-represent one chapter type; shuffling before the draw removes that risk. Open the example 13 module to rehearse the interval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Convenience sampling recruits whoever is easiest to reach: a classroom, walk-in customers, or the first respondents to an online form. It is useful for pilots and formative work where speed matters more than population inference, and it is explicitly non-probability: inclusion chances are unknown. Convenience samples buy access at the cost of bias and limited diversity. They scaffold instrument testing, not population claims.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2.14 shows a typical campus intercept study and why its estimates should be labeled exploratory. A researcher surveys the first one hundred students entering the library during exam week. The design is cheap and fast, but evening commuters, remote students, and non-library users are missing, so findings should not be treated as campus-wide rates. Try the example 14 module to document who is excluded from the frame.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Snowball sampling starts with a few eligible seeds and asks them to refer others who meet study criteria. The sample grows through social ties, which is often the only practical way to reach hidden or stigmatized populations when no frame exists. Referrals lower recruitment cost, yet they concentrate homogeneity: seeds recruit people like themselves. Findings should be interpreted as network-conditioned evidence rather than as population parameters, and privacy protections for both participants and referrals are essential.</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systematic sampling for efficient probability draws on clean lists, but inspect ordering for periodicity first. Reserve convenience and snowball designs for exploratory or hard-to-reach settings, and report their limits openly. When generalizable claims are required, return to the probability designs from the previous part.</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then continue to the next part on tools for data collection—how platforms and libraries implement earlier method choices.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map survey platforms, scraping libraries, and API clients to the methods from earlier parts, justify tool choices using workflow requirements rather than brand familiarity, and recognize that platforms cannot fix poor instrument design.</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chapter already decided which method fits the question. This section asks which products and libraries implement that choice. Modern collection stacks typically combine survey platforms for human responses, scraping libraries for web content without APIs, and official API clients for structured feeds. Observation remains largely protocol- and people-driven; sensor tooling is deferred to later chapters on streaming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Survey platforms automate instrument design, distribution, and response storage once the questionnaire plan exists. Lightweight tools suit quick internal polls; conversational layouts emphasize engagement; full-featured platforms add branding, branching logic, and richer analytics. Strengths include low technical barriers, automatic tabular exports, and reusable templates. Limits echo the method-level risks: voluntary response bias, fatigue on long instruments, and poor item design that no platform can fix.</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2.16 shows a tool choice after the campus Wi-Fi instrument from an earlier example. The IT office needs branching so that only respondents who report failures see location follow-ups, plus a comma-separated export into the same warehouse as ticket logs. A full-featured survey platform is chosen over a bare email form because branching and export matter more than layout polish for this study. Open the example 16 module to compare requirements against platform capabilities.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Scraping stacks extract fields from HTML when no API is offered. Large crawl graphs may use a framework designed for scalable spiders; static pages parse well with a lightweight HTML library; browser drivers are needed when content appears only after interaction. At scholarly scale, staged pipelines with cross-repository validation separate research-grade harvests from brittle personal scripts. Method-level trade-offs—fragility, robots policies, terms of service—remain those of scraping as a method.</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2.17 pairs a library choice with the course-catalog harvest from an earlier example. If course titles appear in the initial HTML, a static parser is enough and cheaper to run. If titles load only after clicking a term filter, the team switches to a browser driver, accepting slower jobs and a higher chance of anti-bot blocks. Try the example 17 module to decide which stack fits a given page behavior.</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API tools are the clients, keys, and schedulers that call endpoints introduced earlier. Relative to scraping stacks, they usually offer clearer contracts: authenticate, respect rate limits, parse JSON or XML fields, and append rows to a growing store. Operational polling loops must survive daily quotas—backing off when limits are reached rather than retrying aggressively. Survey platforms, scrapers, and API clients are implementations of earlier method choices, not substitutes for them.</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Choose tools after methods and instruments are defined. Survey platforms encode branching and export workflows; scraping stacks match page behavior; API clients encode authentication and quota discipline. Even with good tools, collection still fails when quality, bias, or integration are ignored—topics for the final part.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then continue to the final part on challenges and case studies—quality defects, channel bias, and how design questions reappear across domains.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name recurring collection-time quality, bias, and integration failures, describe design-level countermeasures, and recognize how sources, methods, samples, and tools combine in short domain case studies.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 well-chosen methods and tools fail when quality, bias, or scale are ignored at collection time. This section stays at the prevention layer: how design choices introduce defects before any cleaner or warehouse can help. Remediation belongs to later chapters on data quality and bias; here the focus is stopping missingness, uneven frames, and incompatible feeds at the source.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Collection is the first place quality defects appear: unanswered survey items, duplicated submissions, conflicting demographic fields, or mistyped measurements. Automated sensors add dropouts and calibration drift; manual entry adds transcription error. Prevention begins at the instrument: validation rules at entry, required fields where appropriate, unique keys that prevent double posting, and documented catch-up processes when paper or offline fallbacks are used. After collection, imputation cannot invent information that was never measured.</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2.19 shows how a collection-protocol gap produces a completeness failure. A clinic intake table arrives with blank diagnosis codes for evening arrivals because the night shift used a paper fallback form. Without a documented catch-up process, analysts either drop those rows or impute labels that never existed in the source protocol. Open the example 19 module to trace the defect to a protocol gap rather than a cleaning bug.</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Bias enters when some people or events are systematically more likely to be observed than others. At collection time the usual paths are sampling bias from uneven frames or convenience designs, selection bias when channels exclude offline populations, and measurement bias when instruments are poorly calibrated. Countermeasures are design-level: prefer random or stratified draws when inference is the goal, document exclusions, audit instruments, and report limitations transparently.</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campaigns grow, volume and heterogeneity dominate. IoT and social streams produce continuous arrivals that overwhelm single-server workflows, while departmental silos and mixed formats block a unified view of the same entity. At collection time the design responses are modest but decisive: agree on schemas and identifiers before feeds multiply, set retention and alerting rules before volume peaks, and plan how streams will join. Without a shared station identifier and clock policy, separate vendor feeds cannot fuse into one analytical table.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 platforms emit continuous public text that teams often want for sentiment tracking or issue monitoring. As a collection design, the usual stack is a real-time or near-real-time source, an API method with scraping only as a policy-constrained fallback, and automated polling tools. Sampling is often convenience or keyword-gated rather than a probability draw, so external validity limits apply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2.22 sketches the capture job for a campaign context. A team streams posts mentioning a candidate through an official API, stores text, timestamps, and engagement counts, and applies bot filters before any hourly aggregate is shown to leaders. Retention is capped at the campaign window, and public-post handling follows privacy constraints developed in the next chapter. Try the example 22 module to separate collection protocol from downstream sentiment scoring.</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Climate and environmental programs combine ground sensors, satellite products, and historical archives. Collection design mixes primary IoT streams with secondary remote-sensing layers and demands shared station identifiers, clocks, and calibration schedules before dashboards are promised. Healthcare collection spans wearables, remote monitoring devices, and electronic health records. Remote monitoring for chronic conditions only works when encryption, access control, consent records, and standardized identifiers are engineered alongside the sensors. Together, these cases return to the chapter's central lesson: collection design chooses sources, methods, samples, and tools under quality, bias, and scale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 defects at the instrument and protocol, not only in cleaning pipelines. Document channel exclusions and integration keys before volume peaks. Domain case studies show the same design questions in social, climate, and healthcare programs. Those choices determine whether later chapters inherit a trustworthy dataset.</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to finish Chapter 2. The next chapter turns to ethics and privacy—how consent, minimization, and fairness constraints reshape what may be collected and retained in the first place.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2 — Introduction to data collection</a:t>
            </a:r>
          </a:p>
          <a:p>
            <a:pPr algn="ctr">
              <a:lnSpc>
                <a:spcPts val="2200"/>
              </a:lnSpc>
              <a:spcBef>
                <a:spcPts val="1400"/>
              </a:spcBef>
            </a:pPr>
            <a:r>
              <a:rPr sz="2600" b="0">
                <a:solidFill>
                  <a:srgbClr val="333333"/>
                </a:solidFill>
                <a:latin typeface="Calibri"/>
              </a:rPr>
              <a:t>Chapter 1 defined what a dataset is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Define data collection as a systematic</a:t>
            </a:r>
          </a:p>
          <a:p>
            <a:pPr lvl="0" marL="457200" indent="-228600">
              <a:buFont typeface="Calibri"/>
              <a:spcAft>
                <a:spcPts val="1000"/>
              </a:spcAft>
              <a:buSzPct val="100000"/>
              <a:buChar char="•"/>
              <a:lnSpc>
                <a:spcPts val="2200"/>
              </a:lnSpc>
            </a:pPr>
            <a:r>
              <a:rPr sz="2000" b="0">
                <a:solidFill>
                  <a:srgbClr val="333333"/>
                </a:solidFill>
                <a:latin typeface="Calibri"/>
              </a:rPr>
              <a:t>Name the three process traits that distinguish rigorous campaigns from ad hoc gathering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is data collection?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Hypotheses, or operational decisions can be answered with evidence rather than anecdote</a:t>
            </a:r>
          </a:p>
          <a:p>
            <a:pPr lvl="0" marL="457200" indent="-228600">
              <a:buFont typeface="Calibri"/>
              <a:spcAft>
                <a:spcPts val="1000"/>
              </a:spcAft>
              <a:buSzPct val="100000"/>
              <a:buChar char="•"/>
              <a:lnSpc>
                <a:spcPts val="2200"/>
              </a:lnSpc>
            </a:pPr>
            <a:r>
              <a:rPr sz="2000" b="0">
                <a:solidFill>
                  <a:srgbClr val="333333"/>
                </a:solidFill>
                <a:latin typeface="Calibri"/>
              </a:rPr>
              <a:t>How sampling choices shape what later analysts can claim</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five-step collection plan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practical collection plan usually proceeds through five linked decisions</a:t>
            </a:r>
          </a:p>
          <a:p>
            <a:pPr lvl="0" marL="457200" indent="-228600">
              <a:buFont typeface="Calibri"/>
              <a:spcAft>
                <a:spcPts val="1000"/>
              </a:spcAft>
              <a:buSzPct val="100000"/>
              <a:buChar char="•"/>
              <a:lnSpc>
                <a:spcPts val="2200"/>
              </a:lnSpc>
            </a:pPr>
            <a:r>
              <a:rPr sz="2000" b="0">
                <a:solidFill>
                  <a:srgbClr val="333333"/>
                </a:solidFill>
                <a:latin typeface="Calibri"/>
              </a:rPr>
              <a:t>Teams first define objectives, research, monitoring, or model training</a:t>
            </a:r>
          </a:p>
          <a:p>
            <a:pPr lvl="0" marL="457200" indent="-228600">
              <a:buFont typeface="Calibri"/>
              <a:spcAft>
                <a:spcPts val="1000"/>
              </a:spcAft>
              <a:buSzPct val="100000"/>
              <a:buChar char="•"/>
              <a:lnSpc>
                <a:spcPts val="2200"/>
              </a:lnSpc>
            </a:pPr>
            <a:r>
              <a:rPr sz="2000" b="0">
                <a:solidFill>
                  <a:srgbClr val="333333"/>
                </a:solidFill>
                <a:latin typeface="Calibri"/>
              </a:rPr>
              <a:t>They identify sources, such as primary experiments and surveys versus secondary archives</a:t>
            </a:r>
          </a:p>
          <a:p>
            <a:pPr lvl="0" marL="457200" indent="-228600">
              <a:buFont typeface="Calibri"/>
              <a:spcAft>
                <a:spcPts val="1000"/>
              </a:spcAft>
              <a:buSzPct val="100000"/>
              <a:buChar char="•"/>
              <a:lnSpc>
                <a:spcPts val="2200"/>
              </a:lnSpc>
            </a:pPr>
            <a:r>
              <a:rPr sz="2000" b="0">
                <a:solidFill>
                  <a:srgbClr val="333333"/>
                </a:solidFill>
                <a:latin typeface="Calibri"/>
              </a:rPr>
              <a:t>Next they select methods, execute collection with quality checks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Process traits of effective collection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Effective collection programs share three process traits</a:t>
            </a:r>
          </a:p>
          <a:p>
            <a:pPr lvl="0" marL="457200" indent="-228600">
              <a:buFont typeface="Calibri"/>
              <a:spcAft>
                <a:spcPts val="1000"/>
              </a:spcAft>
              <a:buSzPct val="100000"/>
              <a:buChar char="•"/>
              <a:lnSpc>
                <a:spcPts val="2200"/>
              </a:lnSpc>
            </a:pPr>
            <a:r>
              <a:rPr sz="2000" b="0">
                <a:solidFill>
                  <a:srgbClr val="333333"/>
                </a:solidFill>
                <a:latin typeface="Calibri"/>
              </a:rPr>
              <a:t>They are systematic: procedures are specified so another team could reproduce the protocol</a:t>
            </a:r>
          </a:p>
          <a:p>
            <a:pPr lvl="0" marL="457200" indent="-228600">
              <a:buFont typeface="Calibri"/>
              <a:spcAft>
                <a:spcPts val="1000"/>
              </a:spcAft>
              <a:buSzPct val="100000"/>
              <a:buChar char="•"/>
              <a:lnSpc>
                <a:spcPts val="2200"/>
              </a:lnSpc>
            </a:pPr>
            <a:r>
              <a:rPr sz="2000" b="0">
                <a:solidFill>
                  <a:srgbClr val="333333"/>
                </a:solidFill>
                <a:latin typeface="Calibri"/>
              </a:rPr>
              <a:t>They are objective-oriented</a:t>
            </a:r>
          </a:p>
          <a:p>
            <a:pPr lvl="0" marL="457200" indent="-228600">
              <a:buFont typeface="Calibri"/>
              <a:spcAft>
                <a:spcPts val="1000"/>
              </a:spcAft>
              <a:buSzPct val="100000"/>
              <a:buChar char="•"/>
              <a:lnSpc>
                <a:spcPts val="2200"/>
              </a:lnSpc>
            </a:pPr>
            <a:r>
              <a:rPr sz="2000" b="0">
                <a:solidFill>
                  <a:srgbClr val="333333"/>
                </a:solidFill>
                <a:latin typeface="Calibri"/>
              </a:rPr>
              <a:t>They are dynamic</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2.1 — Collection plan for a retail satisfaction study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2.1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2.1 converts a vague request into a collectable specification</a:t>
            </a:r>
          </a:p>
          <a:p>
            <a:pPr lvl="0" marL="457200" indent="-228600">
              <a:buFont typeface="Calibri"/>
              <a:spcAft>
                <a:spcPts val="1000"/>
              </a:spcAft>
              <a:buSzPct val="100000"/>
              <a:buChar char="•"/>
              <a:lnSpc>
                <a:spcPts val="2200"/>
              </a:lnSpc>
            </a:pPr>
            <a:r>
              <a:rPr sz="2000" b="0">
                <a:solidFill>
                  <a:srgbClr val="333333"/>
                </a:solidFill>
                <a:latin typeface="Calibri"/>
              </a:rPr>
              <a:t>A retailer wants to know why online shoppers abandon carts</a:t>
            </a:r>
          </a:p>
          <a:p>
            <a:pPr lvl="0" marL="457200" indent="-228600">
              <a:buFont typeface="Calibri"/>
              <a:spcAft>
                <a:spcPts val="1000"/>
              </a:spcAft>
              <a:buSzPct val="100000"/>
              <a:buChar char="•"/>
              <a:lnSpc>
                <a:spcPts val="2200"/>
              </a:lnSpc>
            </a:pPr>
            <a:r>
              <a:rPr sz="2000" b="0">
                <a:solidFill>
                  <a:srgbClr val="333333"/>
                </a:solidFill>
                <a:latin typeface="Calibri"/>
              </a:rPr>
              <a:t>The plan might specify an objective to identify checkout friction</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`modules/chapter2/example1/`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collection design matters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Collection quality constrains everything that follows</a:t>
            </a:r>
          </a:p>
          <a:p>
            <a:pPr lvl="0" marL="457200" indent="-228600">
              <a:buFont typeface="Calibri"/>
              <a:spcAft>
                <a:spcPts val="1000"/>
              </a:spcAft>
              <a:buSzPct val="100000"/>
              <a:buChar char="•"/>
              <a:lnSpc>
                <a:spcPts val="2200"/>
              </a:lnSpc>
            </a:pPr>
            <a:r>
              <a:rPr sz="2000" b="0">
                <a:solidFill>
                  <a:srgbClr val="333333"/>
                </a:solidFill>
                <a:latin typeface="Calibri"/>
              </a:rPr>
              <a:t>Analysis cannot recover information that was never measured</a:t>
            </a:r>
          </a:p>
          <a:p>
            <a:pPr lvl="0" marL="457200" indent="-228600">
              <a:buFont typeface="Calibri"/>
              <a:spcAft>
                <a:spcPts val="1000"/>
              </a:spcAft>
              <a:buSzPct val="100000"/>
              <a:buChar char="•"/>
              <a:lnSpc>
                <a:spcPts val="2200"/>
              </a:lnSpc>
            </a:pPr>
            <a:r>
              <a:rPr sz="2000" b="0">
                <a:solidFill>
                  <a:srgbClr val="333333"/>
                </a:solidFill>
                <a:latin typeface="Calibri"/>
              </a:rPr>
              <a:t>When protocols are designed well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Data collection is systematic and tied to objectives, not opportunistic gathering</a:t>
            </a:r>
          </a:p>
          <a:p>
            <a:pPr lvl="0" marL="457200" indent="-228600">
              <a:buFont typeface="Calibri"/>
              <a:spcAft>
                <a:spcPts val="1000"/>
              </a:spcAft>
              <a:buSzPct val="100000"/>
              <a:buChar char="•"/>
              <a:lnSpc>
                <a:spcPts val="2200"/>
              </a:lnSpc>
            </a:pPr>
            <a:r>
              <a:rPr sz="2000" b="0">
                <a:solidFill>
                  <a:srgbClr val="333333"/>
                </a:solidFill>
                <a:latin typeface="Calibri"/>
              </a:rPr>
              <a:t>A five-step plan links purpose, sources, methods, execution, and storage</a:t>
            </a:r>
          </a:p>
          <a:p>
            <a:pPr lvl="0" marL="457200" indent="-228600">
              <a:buFont typeface="Calibri"/>
              <a:spcAft>
                <a:spcPts val="1000"/>
              </a:spcAft>
              <a:buSzPct val="100000"/>
              <a:buChar char="•"/>
              <a:lnSpc>
                <a:spcPts val="2200"/>
              </a:lnSpc>
            </a:pPr>
            <a:r>
              <a:rPr sz="2000" b="0">
                <a:solidFill>
                  <a:srgbClr val="333333"/>
                </a:solidFill>
                <a:latin typeface="Calibri"/>
              </a:rPr>
              <a:t>Clarity about purpose and source comes before tool selection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Continue to the next part on sources of data, primary, secondary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Distinguish primary, secondary</a:t>
            </a:r>
          </a:p>
          <a:p>
            <a:pPr lvl="0" marL="457200" indent="-228600">
              <a:buFont typeface="Calibri"/>
              <a:spcAft>
                <a:spcPts val="1000"/>
              </a:spcAft>
              <a:buSzPct val="100000"/>
              <a:buChar char="•"/>
              <a:lnSpc>
                <a:spcPts val="2200"/>
              </a:lnSpc>
            </a:pPr>
            <a:r>
              <a:rPr sz="2000" b="0">
                <a:solidFill>
                  <a:srgbClr val="333333"/>
                </a:solidFill>
                <a:latin typeface="Calibri"/>
              </a:rPr>
              <a:t>Real-time source types, summarize the strengths and risks of each</a:t>
            </a:r>
          </a:p>
          <a:p>
            <a:pPr lvl="0" marL="457200" indent="-228600">
              <a:buFont typeface="Calibri"/>
              <a:spcAft>
                <a:spcPts val="1000"/>
              </a:spcAft>
              <a:buSzPct val="100000"/>
              <a:buChar char="•"/>
              <a:lnSpc>
                <a:spcPts val="2200"/>
              </a:lnSpc>
            </a:pPr>
            <a:r>
              <a:rPr sz="2000" b="0">
                <a:solidFill>
                  <a:srgbClr val="333333"/>
                </a:solidFill>
                <a:latin typeface="Calibri"/>
              </a:rPr>
              <a:t>Explain why source choice and structure choice are orthogonal planning decisions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Where do records come from?</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Chapter 1 classified datasets by structure and temporal behavior</a:t>
            </a:r>
          </a:p>
          <a:p>
            <a:pPr lvl="0" marL="457200" indent="-228600">
              <a:buFont typeface="Calibri"/>
              <a:spcAft>
                <a:spcPts val="1000"/>
              </a:spcAft>
              <a:buSzPct val="100000"/>
              <a:buChar char="•"/>
              <a:lnSpc>
                <a:spcPts val="2200"/>
              </a:lnSpc>
            </a:pPr>
            <a:r>
              <a:rPr sz="2000" b="0">
                <a:solidFill>
                  <a:srgbClr val="333333"/>
                </a:solidFill>
                <a:latin typeface="Calibri"/>
              </a:rPr>
              <a:t>This section answers a different question: where do the records come from?</a:t>
            </a:r>
          </a:p>
          <a:p>
            <a:pPr lvl="0" marL="457200" indent="-228600">
              <a:buFont typeface="Calibri"/>
              <a:spcAft>
                <a:spcPts val="1000"/>
              </a:spcAft>
              <a:buSzPct val="100000"/>
              <a:buChar char="•"/>
              <a:lnSpc>
                <a:spcPts val="2200"/>
              </a:lnSpc>
            </a:pPr>
            <a:r>
              <a:rPr sz="2000" b="0">
                <a:solidFill>
                  <a:srgbClr val="333333"/>
                </a:solidFill>
                <a:latin typeface="Calibri"/>
              </a:rPr>
              <a:t>Real-time streams that refresh with little delay</a:t>
            </a:r>
          </a:p>
          <a:p>
            <a:pPr lvl="0" marL="457200" indent="-228600">
              <a:buFont typeface="Calibri"/>
              <a:spcAft>
                <a:spcPts val="1000"/>
              </a:spcAft>
              <a:buSzPct val="100000"/>
              <a:buChar char="•"/>
              <a:lnSpc>
                <a:spcPts val="2200"/>
              </a:lnSpc>
            </a:pPr>
            <a:r>
              <a:rPr sz="2000" b="0">
                <a:solidFill>
                  <a:srgbClr val="333333"/>
                </a:solidFill>
                <a:latin typeface="Calibri"/>
              </a:rPr>
              <a:t>A source choice and a structure choice are independent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Primary data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Primary data are measured directly for the present study through surveys</a:t>
            </a:r>
          </a:p>
          <a:p>
            <a:pPr lvl="0" marL="457200" indent="-228600">
              <a:buFont typeface="Calibri"/>
              <a:spcAft>
                <a:spcPts val="1000"/>
              </a:spcAft>
              <a:buSzPct val="100000"/>
              <a:buChar char="•"/>
              <a:lnSpc>
                <a:spcPts val="2200"/>
              </a:lnSpc>
            </a:pPr>
            <a:r>
              <a:rPr sz="2000" b="0">
                <a:solidFill>
                  <a:srgbClr val="333333"/>
                </a:solidFill>
                <a:latin typeface="Calibri"/>
              </a:rPr>
              <a:t>The team retains control over sampling, wording, and quality checks</a:t>
            </a:r>
          </a:p>
          <a:p>
            <a:pPr lvl="0" marL="457200" indent="-228600">
              <a:buFont typeface="Calibri"/>
              <a:spcAft>
                <a:spcPts val="1000"/>
              </a:spcAft>
              <a:buSzPct val="100000"/>
              <a:buChar char="•"/>
              <a:lnSpc>
                <a:spcPts val="2200"/>
              </a:lnSpc>
            </a:pPr>
            <a:r>
              <a:rPr sz="2000" b="0">
                <a:solidFill>
                  <a:srgbClr val="333333"/>
                </a:solidFill>
                <a:latin typeface="Calibri"/>
              </a:rPr>
              <a:t>The trade-off is time, cost, and the risk of human bias during interviews or observation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2.2 — Primary collection in a clinical monitoring study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2.2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2.2 shows a primary clinical protocol designed around a recovery question</a:t>
            </a:r>
          </a:p>
          <a:p>
            <a:pPr lvl="0" marL="457200" indent="-228600">
              <a:buFont typeface="Calibri"/>
              <a:spcAft>
                <a:spcPts val="1000"/>
              </a:spcAft>
              <a:buSzPct val="100000"/>
              <a:buChar char="•"/>
              <a:lnSpc>
                <a:spcPts val="2200"/>
              </a:lnSpc>
            </a:pPr>
            <a:r>
              <a:rPr sz="2000" b="0">
                <a:solidFill>
                  <a:srgbClr val="333333"/>
                </a:solidFill>
                <a:latin typeface="Calibri"/>
              </a:rPr>
              <a:t>A hospital study of post-operative recovery may collect vital signs every four hours from</a:t>
            </a:r>
          </a:p>
          <a:p>
            <a:pPr lvl="0" marL="457200" indent="-228600">
              <a:buFont typeface="Calibri"/>
              <a:spcAft>
                <a:spcPts val="1000"/>
              </a:spcAft>
              <a:buSzPct val="100000"/>
              <a:buChar char="•"/>
              <a:lnSpc>
                <a:spcPts val="2200"/>
              </a:lnSpc>
            </a:pPr>
            <a:r>
              <a:rPr sz="2000" b="0">
                <a:solidFill>
                  <a:srgbClr val="333333"/>
                </a:solidFill>
                <a:latin typeface="Calibri"/>
              </a:rPr>
              <a:t>The protocol defines devices, recording intervals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`modules/chapter2/example2/`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Secondary data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Secondary data were previously collected, processed, and published by others</a:t>
            </a:r>
          </a:p>
          <a:p>
            <a:pPr lvl="0" marL="457200" indent="-228600">
              <a:buFont typeface="Calibri"/>
              <a:spcAft>
                <a:spcPts val="1000"/>
              </a:spcAft>
              <a:buSzPct val="100000"/>
              <a:buChar char="•"/>
              <a:lnSpc>
                <a:spcPts val="2200"/>
              </a:lnSpc>
            </a:pPr>
            <a:r>
              <a:rPr sz="2000" b="0">
                <a:solidFill>
                  <a:srgbClr val="333333"/>
                </a:solidFill>
                <a:latin typeface="Calibri"/>
              </a:rPr>
              <a:t>They are attractive when budgets are tight or when historical coverage matters</a:t>
            </a:r>
          </a:p>
          <a:p>
            <a:pPr lvl="0" marL="457200" indent="-228600">
              <a:buFont typeface="Calibri"/>
              <a:spcAft>
                <a:spcPts val="1000"/>
              </a:spcAft>
              <a:buSzPct val="100000"/>
              <a:buChar char="•"/>
              <a:lnSpc>
                <a:spcPts val="2200"/>
              </a:lnSpc>
            </a:pPr>
            <a:r>
              <a:rPr sz="2000" b="0">
                <a:solidFill>
                  <a:srgbClr val="333333"/>
                </a:solidFill>
                <a:latin typeface="Calibri"/>
              </a:rPr>
              <a:t>Challenges include schema mismatch, incomplete provenance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2.3 — Secondary census extract for store siting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2.3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2.3 shows a secondary reuse path that looks cheaper until schema mismatch appears</a:t>
            </a:r>
          </a:p>
          <a:p>
            <a:pPr lvl="0" marL="457200" indent="-228600">
              <a:buFont typeface="Calibri"/>
              <a:spcAft>
                <a:spcPts val="1000"/>
              </a:spcAft>
              <a:buSzPct val="100000"/>
              <a:buChar char="•"/>
              <a:lnSpc>
                <a:spcPts val="2200"/>
              </a:lnSpc>
            </a:pPr>
            <a:r>
              <a:rPr sz="2000" b="0">
                <a:solidFill>
                  <a:srgbClr val="333333"/>
                </a:solidFill>
                <a:latin typeface="Calibri"/>
              </a:rPr>
              <a:t>A retailer considering new store locations downloads a public census extract with</a:t>
            </a:r>
          </a:p>
          <a:p>
            <a:pPr lvl="0" marL="457200" indent="-228600">
              <a:buFont typeface="Calibri"/>
              <a:spcAft>
                <a:spcPts val="1000"/>
              </a:spcAft>
              <a:buSzPct val="100000"/>
              <a:buChar char="•"/>
              <a:lnSpc>
                <a:spcPts val="2200"/>
              </a:lnSpc>
            </a:pPr>
            <a:r>
              <a:rPr sz="2000" b="0">
                <a:solidFill>
                  <a:srgbClr val="333333"/>
                </a:solidFill>
                <a:latin typeface="Calibri"/>
              </a:rPr>
              <a:t>The download is fast and free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`modules/chapter2/example3/`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Real-time data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Real-time data are collected and made available with minimal delay</a:t>
            </a:r>
          </a:p>
          <a:p>
            <a:pPr lvl="0" marL="457200" indent="-228600">
              <a:buFont typeface="Calibri"/>
              <a:spcAft>
                <a:spcPts val="1000"/>
              </a:spcAft>
              <a:buSzPct val="100000"/>
              <a:buChar char="•"/>
              <a:lnSpc>
                <a:spcPts val="2200"/>
              </a:lnSpc>
            </a:pPr>
            <a:r>
              <a:rPr sz="2000" b="0">
                <a:solidFill>
                  <a:srgbClr val="333333"/>
                </a:solidFill>
                <a:latin typeface="Calibri"/>
              </a:rPr>
              <a:t>Such feeds usually produce dynamic datasets</a:t>
            </a:r>
          </a:p>
          <a:p>
            <a:pPr lvl="0" marL="457200" indent="-228600">
              <a:buFont typeface="Calibri"/>
              <a:spcAft>
                <a:spcPts val="1000"/>
              </a:spcAft>
              <a:buSzPct val="100000"/>
              <a:buChar char="•"/>
              <a:lnSpc>
                <a:spcPts val="2200"/>
              </a:lnSpc>
            </a:pPr>
            <a:r>
              <a:rPr sz="2000" b="0">
                <a:solidFill>
                  <a:srgbClr val="333333"/>
                </a:solidFill>
                <a:latin typeface="Calibri"/>
              </a:rPr>
              <a:t>Clock drift before the stream becomes a trustworthy analytical table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Primary sources buy relevance and control at the price of cost and time</a:t>
            </a:r>
          </a:p>
          <a:p>
            <a:pPr lvl="0" marL="457200" indent="-228600">
              <a:buFont typeface="Calibri"/>
              <a:spcAft>
                <a:spcPts val="1000"/>
              </a:spcAft>
              <a:buSzPct val="100000"/>
              <a:buChar char="•"/>
              <a:lnSpc>
                <a:spcPts val="2200"/>
              </a:lnSpc>
            </a:pPr>
            <a:r>
              <a:rPr sz="2000" b="0">
                <a:solidFill>
                  <a:srgbClr val="333333"/>
                </a:solidFill>
                <a:latin typeface="Calibri"/>
              </a:rPr>
              <a:t>Secondary sources buy speed and scale at the price of fit and provenance checks</a:t>
            </a:r>
          </a:p>
          <a:p>
            <a:pPr lvl="0" marL="457200" indent="-228600">
              <a:buFont typeface="Calibri"/>
              <a:spcAft>
                <a:spcPts val="1000"/>
              </a:spcAft>
              <a:buSzPct val="100000"/>
              <a:buChar char="•"/>
              <a:lnSpc>
                <a:spcPts val="2200"/>
              </a:lnSpc>
            </a:pPr>
            <a:r>
              <a:rPr sz="2000" b="0">
                <a:solidFill>
                  <a:srgbClr val="333333"/>
                </a:solidFill>
                <a:latin typeface="Calibri"/>
              </a:rPr>
              <a:t>Real-time sources buy timeliness at the price of infrastructure and integration discipline</a:t>
            </a:r>
          </a:p>
          <a:p>
            <a:pPr lvl="0" marL="457200" indent="-228600">
              <a:buFont typeface="Calibri"/>
              <a:spcAft>
                <a:spcPts val="1000"/>
              </a:spcAft>
              <a:buSzPct val="100000"/>
              <a:buChar char="•"/>
              <a:lnSpc>
                <a:spcPts val="2200"/>
              </a:lnSpc>
            </a:pPr>
            <a:r>
              <a:rPr sz="2000" b="0">
                <a:solidFill>
                  <a:srgbClr val="333333"/>
                </a:solidFill>
                <a:latin typeface="Calibri"/>
              </a:rPr>
              <a:t>Match the source class to the decision timeline and the evidence standard the study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Complete the quiz, then continue to the next part on surveys, observation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Match surveys, observation</a:t>
            </a:r>
          </a:p>
          <a:p>
            <a:pPr lvl="0" marL="457200" indent="-228600">
              <a:buFont typeface="Calibri"/>
              <a:spcAft>
                <a:spcPts val="1000"/>
              </a:spcAft>
              <a:buSzPct val="100000"/>
              <a:buChar char="•"/>
              <a:lnSpc>
                <a:spcPts val="2200"/>
              </a:lnSpc>
            </a:pPr>
            <a:r>
              <a:rPr sz="2000" b="0">
                <a:solidFill>
                  <a:srgbClr val="333333"/>
                </a:solidFill>
                <a:latin typeface="Calibri"/>
              </a:rPr>
              <a:t>Scraping to typical research questions, name the main watch-outs for each method</a:t>
            </a:r>
          </a:p>
          <a:p>
            <a:pPr lvl="0" marL="457200" indent="-228600">
              <a:buFont typeface="Calibri"/>
              <a:spcAft>
                <a:spcPts val="1000"/>
              </a:spcAft>
              <a:buSzPct val="100000"/>
              <a:buChar char="•"/>
              <a:lnSpc>
                <a:spcPts val="2200"/>
              </a:lnSpc>
            </a:pPr>
            <a:r>
              <a:rPr sz="2000" b="0">
                <a:solidFill>
                  <a:srgbClr val="333333"/>
                </a:solidFill>
                <a:latin typeface="Calibri"/>
              </a:rPr>
              <a:t>Explain why instrument and sample planning precede platform choice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Choosing a collection method</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Once source type is chosen, teams select concrete methods</a:t>
            </a:r>
          </a:p>
          <a:p>
            <a:pPr lvl="0" marL="457200" indent="-228600">
              <a:buFont typeface="Calibri"/>
              <a:spcAft>
                <a:spcPts val="1000"/>
              </a:spcAft>
              <a:buSzPct val="100000"/>
              <a:buChar char="•"/>
              <a:lnSpc>
                <a:spcPts val="2200"/>
              </a:lnSpc>
            </a:pPr>
            <a:r>
              <a:rPr sz="2000" b="0">
                <a:solidFill>
                  <a:srgbClr val="333333"/>
                </a:solidFill>
                <a:latin typeface="Calibri"/>
              </a:rPr>
              <a:t>Surveys and questionnaires gather structured responses from people</a:t>
            </a:r>
          </a:p>
          <a:p>
            <a:pPr lvl="0" marL="457200" indent="-228600">
              <a:buFont typeface="Calibri"/>
              <a:spcAft>
                <a:spcPts val="1000"/>
              </a:spcAft>
              <a:buSzPct val="100000"/>
              <a:buChar char="•"/>
              <a:lnSpc>
                <a:spcPts val="2200"/>
              </a:lnSpc>
            </a:pPr>
            <a:r>
              <a:rPr sz="2000" b="0">
                <a:solidFill>
                  <a:srgbClr val="333333"/>
                </a:solidFill>
                <a:latin typeface="Calibri"/>
              </a:rPr>
              <a:t>Observation captures behavior in context</a:t>
            </a:r>
          </a:p>
          <a:p>
            <a:pPr lvl="0" marL="457200" indent="-228600">
              <a:buFont typeface="Calibri"/>
              <a:spcAft>
                <a:spcPts val="1000"/>
              </a:spcAft>
              <a:buSzPct val="100000"/>
              <a:buChar char="•"/>
              <a:lnSpc>
                <a:spcPts val="2200"/>
              </a:lnSpc>
            </a:pPr>
            <a:r>
              <a:rPr sz="2000" b="0">
                <a:solidFill>
                  <a:srgbClr val="333333"/>
                </a:solidFill>
                <a:latin typeface="Calibri"/>
              </a:rPr>
              <a:t>Web scraping extracts content from pages that lack APIs</a:t>
            </a:r>
          </a:p>
          <a:p>
            <a:pPr lvl="0" marL="457200" indent="-228600">
              <a:buFont typeface="Calibri"/>
              <a:spcAft>
                <a:spcPts val="1000"/>
              </a:spcAft>
              <a:buSzPct val="100000"/>
              <a:buChar char="•"/>
              <a:lnSpc>
                <a:spcPts val="2200"/>
              </a:lnSpc>
            </a:pPr>
            <a:r>
              <a:rPr sz="2000" b="0">
                <a:solidFill>
                  <a:srgbClr val="333333"/>
                </a:solidFill>
                <a:latin typeface="Calibri"/>
              </a:rPr>
              <a:t>Mixed designs combine instruments when no single method answers both the what and the why</a:t>
            </a:r>
          </a:p>
          <a:p>
            <a:pPr lvl="0" marL="457200" indent="-228600">
              <a:buFont typeface="Calibri"/>
              <a:spcAft>
                <a:spcPts val="1000"/>
              </a:spcAft>
              <a:buSzPct val="100000"/>
              <a:buChar char="•"/>
              <a:lnSpc>
                <a:spcPts val="2200"/>
              </a:lnSpc>
            </a:pPr>
            <a:r>
              <a:rPr sz="2000" b="0">
                <a:solidFill>
                  <a:srgbClr val="333333"/>
                </a:solidFill>
                <a:latin typeface="Calibri"/>
              </a:rPr>
              <a:t>This part focuses on when each method fits; APIs are covered in the next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Surveys and questionnaires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Public-opinion work</a:t>
            </a:r>
          </a:p>
          <a:p>
            <a:pPr lvl="0" marL="457200" indent="-228600">
              <a:buFont typeface="Calibri"/>
              <a:spcAft>
                <a:spcPts val="1000"/>
              </a:spcAft>
              <a:buSzPct val="100000"/>
              <a:buChar char="•"/>
              <a:lnSpc>
                <a:spcPts val="2200"/>
              </a:lnSpc>
            </a:pPr>
            <a:r>
              <a:rPr sz="2000" b="0">
                <a:solidFill>
                  <a:srgbClr val="333333"/>
                </a:solidFill>
                <a:latin typeface="Calibri"/>
              </a:rPr>
              <a:t>Modes include online forms, face-to-face interviews, telephone contact</a:t>
            </a:r>
          </a:p>
          <a:p>
            <a:pPr lvl="0" marL="457200" indent="-228600">
              <a:buFont typeface="Calibri"/>
              <a:spcAft>
                <a:spcPts val="1000"/>
              </a:spcAft>
              <a:buSzPct val="100000"/>
              <a:buChar char="•"/>
              <a:lnSpc>
                <a:spcPts val="2200"/>
              </a:lnSpc>
            </a:pPr>
            <a:r>
              <a:rPr sz="2000" b="0">
                <a:solidFill>
                  <a:srgbClr val="333333"/>
                </a:solidFill>
                <a:latin typeface="Calibri"/>
              </a:rPr>
              <a:t>Strengths include large sample reach, standardized wording, and quantifiable outputs</a:t>
            </a:r>
          </a:p>
          <a:p>
            <a:pPr lvl="0" marL="457200" indent="-228600">
              <a:buFont typeface="Calibri"/>
              <a:spcAft>
                <a:spcPts val="1000"/>
              </a:spcAft>
              <a:buSzPct val="100000"/>
              <a:buChar char="•"/>
              <a:lnSpc>
                <a:spcPts val="2200"/>
              </a:lnSpc>
            </a:pPr>
            <a:r>
              <a:rPr sz="2000" b="0">
                <a:solidFill>
                  <a:srgbClr val="333333"/>
                </a:solidFill>
                <a:latin typeface="Calibri"/>
              </a:rPr>
              <a:t>Weaknesses include socially desirable answering, low response rates without incentives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2.5 — Campus Wi-Fi satisfaction survey plan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2.5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2.5 shows a short instrument plan before any survey platform is chosen</a:t>
            </a:r>
          </a:p>
          <a:p>
            <a:pPr lvl="0" marL="457200" indent="-228600">
              <a:buFont typeface="Calibri"/>
              <a:spcAft>
                <a:spcPts val="1000"/>
              </a:spcAft>
              <a:buSzPct val="100000"/>
              <a:buChar char="•"/>
              <a:lnSpc>
                <a:spcPts val="2200"/>
              </a:lnSpc>
            </a:pPr>
            <a:r>
              <a:rPr sz="2000" b="0">
                <a:solidFill>
                  <a:srgbClr val="333333"/>
                </a:solidFill>
                <a:latin typeface="Calibri"/>
              </a:rPr>
              <a:t>An IT office wants to know which buildings have unreliable Wi-Fi</a:t>
            </a:r>
          </a:p>
          <a:p>
            <a:pPr lvl="0" marL="457200" indent="-228600">
              <a:buFont typeface="Calibri"/>
              <a:spcAft>
                <a:spcPts val="1000"/>
              </a:spcAft>
              <a:buSzPct val="100000"/>
              <a:buChar char="•"/>
              <a:lnSpc>
                <a:spcPts val="2200"/>
              </a:lnSpc>
            </a:pPr>
            <a:r>
              <a:rPr sz="2000" b="0">
                <a:solidFill>
                  <a:srgbClr val="333333"/>
                </a:solidFill>
                <a:latin typeface="Calibri"/>
              </a:rPr>
              <a:t>Device type, plus an open comment box for locations the closed items miss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`modules/chapter2/example5/`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Observation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Observation gathers data by watching behavior or events in their natural setting</a:t>
            </a:r>
          </a:p>
          <a:p>
            <a:pPr lvl="0" marL="457200" indent="-228600">
              <a:buFont typeface="Calibri"/>
              <a:spcAft>
                <a:spcPts val="1000"/>
              </a:spcAft>
              <a:buSzPct val="100000"/>
              <a:buChar char="•"/>
              <a:lnSpc>
                <a:spcPts val="2200"/>
              </a:lnSpc>
            </a:pPr>
            <a:r>
              <a:rPr sz="2000" b="0">
                <a:solidFill>
                  <a:srgbClr val="333333"/>
                </a:solidFill>
                <a:latin typeface="Calibri"/>
              </a:rPr>
              <a:t>Participant observation embeds the researcher in the activity</a:t>
            </a:r>
          </a:p>
          <a:p>
            <a:pPr lvl="0" marL="457200" indent="-228600">
              <a:buFont typeface="Calibri"/>
              <a:spcAft>
                <a:spcPts val="1000"/>
              </a:spcAft>
              <a:buSzPct val="100000"/>
              <a:buChar char="•"/>
              <a:lnSpc>
                <a:spcPts val="2200"/>
              </a:lnSpc>
            </a:pPr>
            <a:r>
              <a:rPr sz="2000" b="0">
                <a:solidFill>
                  <a:srgbClr val="333333"/>
                </a:solidFill>
                <a:latin typeface="Calibri"/>
              </a:rPr>
              <a:t>Often hard to generalize from small settings</a:t>
            </a:r>
          </a:p>
          <a:p>
            <a:pPr lvl="0" marL="457200" indent="-228600">
              <a:buFont typeface="Calibri"/>
              <a:spcAft>
                <a:spcPts val="1000"/>
              </a:spcAft>
              <a:buSzPct val="100000"/>
              <a:buChar char="•"/>
              <a:lnSpc>
                <a:spcPts val="2200"/>
              </a:lnSpc>
            </a:pPr>
            <a:r>
              <a:rPr sz="2000" b="0">
                <a:solidFill>
                  <a:srgbClr val="333333"/>
                </a:solidFill>
                <a:latin typeface="Calibri"/>
              </a:rPr>
              <a:t>Teams frequently combine observation with surveys so depth and breadth reinforce each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Web scraping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Web scraping uses programs to extract text, tables, or media from HTML pages</a:t>
            </a:r>
          </a:p>
          <a:p>
            <a:pPr lvl="0" marL="457200" indent="-228600">
              <a:buFont typeface="Calibri"/>
              <a:spcAft>
                <a:spcPts val="1000"/>
              </a:spcAft>
              <a:buSzPct val="100000"/>
              <a:buChar char="•"/>
              <a:lnSpc>
                <a:spcPts val="2200"/>
              </a:lnSpc>
            </a:pPr>
            <a:r>
              <a:rPr sz="2000" b="0">
                <a:solidFill>
                  <a:srgbClr val="333333"/>
                </a:solidFill>
                <a:latin typeface="Calibri"/>
              </a:rPr>
              <a:t>It is useful when a site exposes public content but no API</a:t>
            </a:r>
          </a:p>
          <a:p>
            <a:pPr lvl="0" marL="457200" indent="-228600">
              <a:buFont typeface="Calibri"/>
              <a:spcAft>
                <a:spcPts val="1000"/>
              </a:spcAft>
              <a:buSzPct val="100000"/>
              <a:buChar char="•"/>
              <a:lnSpc>
                <a:spcPts val="2200"/>
              </a:lnSpc>
            </a:pPr>
            <a:r>
              <a:rPr sz="2000" b="0">
                <a:solidFill>
                  <a:srgbClr val="333333"/>
                </a:solidFill>
                <a:latin typeface="Calibri"/>
              </a:rPr>
              <a:t>May trigger anti-bot defenses</a:t>
            </a:r>
          </a:p>
          <a:p>
            <a:pPr lvl="0" marL="457200" indent="-228600">
              <a:buFont typeface="Calibri"/>
              <a:spcAft>
                <a:spcPts val="1000"/>
              </a:spcAft>
              <a:buSzPct val="100000"/>
              <a:buChar char="•"/>
              <a:lnSpc>
                <a:spcPts val="2200"/>
              </a:lnSpc>
            </a:pPr>
            <a:r>
              <a:rPr sz="2000" b="0">
                <a:solidFill>
                  <a:srgbClr val="333333"/>
                </a:solidFill>
                <a:latin typeface="Calibri"/>
              </a:rPr>
              <a:t>Responsible projects document robots policies, throttle requests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2.6 — Choosing scraping for public course catalogs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2.6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2.6 stays at the decision level</a:t>
            </a:r>
          </a:p>
          <a:p>
            <a:pPr lvl="0" marL="457200" indent="-228600">
              <a:buFont typeface="Calibri"/>
              <a:spcAft>
                <a:spcPts val="1000"/>
              </a:spcAft>
              <a:buSzPct val="100000"/>
              <a:buChar char="•"/>
              <a:lnSpc>
                <a:spcPts val="2200"/>
              </a:lnSpc>
            </a:pPr>
            <a:r>
              <a:rPr sz="2000" b="0">
                <a:solidFill>
                  <a:srgbClr val="333333"/>
                </a:solidFill>
                <a:latin typeface="Calibri"/>
              </a:rPr>
              <a:t>A research team needs weekly snapshots of publicly listed university course titles and</a:t>
            </a:r>
          </a:p>
          <a:p>
            <a:pPr lvl="0" marL="457200" indent="-228600">
              <a:buFont typeface="Calibri"/>
              <a:spcAft>
                <a:spcPts val="1000"/>
              </a:spcAft>
              <a:buSzPct val="100000"/>
              <a:buChar char="•"/>
              <a:lnSpc>
                <a:spcPts val="2200"/>
              </a:lnSpc>
            </a:pPr>
            <a:r>
              <a:rPr sz="2000" b="0">
                <a:solidFill>
                  <a:srgbClr val="333333"/>
                </a:solidFill>
                <a:latin typeface="Calibri"/>
              </a:rPr>
              <a:t>They scrape the HTML timetable, store course code and title as structured rows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`modules/chapter2/example6/`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Surveys fit attitudes and self-report at scale</a:t>
            </a:r>
          </a:p>
          <a:p>
            <a:pPr lvl="0" marL="457200" indent="-228600">
              <a:buFont typeface="Calibri"/>
              <a:spcAft>
                <a:spcPts val="1000"/>
              </a:spcAft>
              <a:buSzPct val="100000"/>
              <a:buChar char="•"/>
              <a:lnSpc>
                <a:spcPts val="2200"/>
              </a:lnSpc>
            </a:pPr>
            <a:r>
              <a:rPr sz="2000" b="0">
                <a:solidFill>
                  <a:srgbClr val="333333"/>
                </a:solidFill>
                <a:latin typeface="Calibri"/>
              </a:rPr>
              <a:t>Each method carries distinct bias and policy risks</a:t>
            </a:r>
          </a:p>
          <a:p>
            <a:pPr lvl="0" marL="457200" indent="-228600">
              <a:buFont typeface="Calibri"/>
              <a:spcAft>
                <a:spcPts val="1000"/>
              </a:spcAft>
              <a:buSzPct val="100000"/>
              <a:buChar char="•"/>
              <a:lnSpc>
                <a:spcPts val="2200"/>
              </a:lnSpc>
            </a:pPr>
            <a:r>
              <a:rPr sz="2000" b="0">
                <a:solidFill>
                  <a:srgbClr val="333333"/>
                </a:solidFill>
                <a:latin typeface="Calibri"/>
              </a:rPr>
              <a:t>Design the instrument and sampling plan first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Complete the quiz</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Explain how APIs differ from scraping as a collection method</a:t>
            </a:r>
          </a:p>
          <a:p>
            <a:pPr lvl="0" marL="457200" indent="-228600">
              <a:buFont typeface="Calibri"/>
              <a:spcAft>
                <a:spcPts val="1000"/>
              </a:spcAft>
              <a:buSzPct val="100000"/>
              <a:buChar char="•"/>
              <a:lnSpc>
                <a:spcPts val="2200"/>
              </a:lnSpc>
            </a:pPr>
            <a:r>
              <a:rPr sz="2000" b="0">
                <a:solidFill>
                  <a:srgbClr val="333333"/>
                </a:solidFill>
                <a:latin typeface="Calibri"/>
              </a:rPr>
              <a:t>Recognize rate limits and authentication as design constraints rather than afterthoughts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is an API for collection?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Application Programming Interfaces provide structured access to service data</a:t>
            </a:r>
          </a:p>
          <a:p>
            <a:pPr lvl="0" marL="457200" indent="-228600">
              <a:buFont typeface="Calibri"/>
              <a:spcAft>
                <a:spcPts val="1000"/>
              </a:spcAft>
              <a:buSzPct val="100000"/>
              <a:buChar char="•"/>
              <a:lnSpc>
                <a:spcPts val="2200"/>
              </a:lnSpc>
            </a:pPr>
            <a:r>
              <a:rPr sz="2000" b="0">
                <a:solidFill>
                  <a:srgbClr val="333333"/>
                </a:solidFill>
                <a:latin typeface="Calibri"/>
              </a:rPr>
              <a:t>Relative to scraping</a:t>
            </a:r>
          </a:p>
          <a:p>
            <a:pPr lvl="0" marL="457200" indent="-228600">
              <a:buFont typeface="Calibri"/>
              <a:spcAft>
                <a:spcPts val="1000"/>
              </a:spcAft>
              <a:buSzPct val="100000"/>
              <a:buChar char="•"/>
              <a:lnSpc>
                <a:spcPts val="2200"/>
              </a:lnSpc>
            </a:pPr>
            <a:r>
              <a:rPr sz="2000" b="0">
                <a:solidFill>
                  <a:srgbClr val="333333"/>
                </a:solidFill>
                <a:latin typeface="Calibri"/>
              </a:rPr>
              <a:t>The trade-off is usage quotas and incomplete coverage of a site's full content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Request, parse, append</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typical API collection job follows a short loop</a:t>
            </a:r>
          </a:p>
          <a:p>
            <a:pPr lvl="0" marL="457200" indent="-228600">
              <a:buFont typeface="Calibri"/>
              <a:spcAft>
                <a:spcPts val="1000"/>
              </a:spcAft>
              <a:buSzPct val="100000"/>
              <a:buChar char="•"/>
              <a:lnSpc>
                <a:spcPts val="2200"/>
              </a:lnSpc>
            </a:pPr>
            <a:r>
              <a:rPr sz="2000" b="0">
                <a:solidFill>
                  <a:srgbClr val="333333"/>
                </a:solidFill>
                <a:latin typeface="Calibri"/>
              </a:rPr>
              <a:t>Append one row per call to a growing store</a:t>
            </a:r>
          </a:p>
          <a:p>
            <a:pPr lvl="0" marL="457200" indent="-228600">
              <a:buFont typeface="Calibri"/>
              <a:spcAft>
                <a:spcPts val="1000"/>
              </a:spcAft>
              <a:buSzPct val="100000"/>
              <a:buChar char="•"/>
              <a:lnSpc>
                <a:spcPts val="2200"/>
              </a:lnSpc>
            </a:pPr>
            <a:r>
              <a:rPr sz="2000" b="0">
                <a:solidFill>
                  <a:srgbClr val="333333"/>
                </a:solidFill>
                <a:latin typeface="Calibri"/>
              </a:rPr>
              <a:t>Error handling and timeouts belong in the same script so that transient failures do not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2.7 — Fetching a public weather API record</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2.7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2.7 shows a minimal request pattern that returns a JSON record suitable for</a:t>
            </a:r>
          </a:p>
          <a:p>
            <a:pPr lvl="0" marL="457200" indent="-228600">
              <a:buFont typeface="Calibri"/>
              <a:spcAft>
                <a:spcPts val="1000"/>
              </a:spcAft>
              <a:buSzPct val="100000"/>
              <a:buChar char="•"/>
              <a:lnSpc>
                <a:spcPts val="2200"/>
              </a:lnSpc>
            </a:pPr>
            <a:r>
              <a:rPr sz="2000" b="0">
                <a:solidFill>
                  <a:srgbClr val="333333"/>
                </a:solidFill>
                <a:latin typeface="Calibri"/>
              </a:rPr>
              <a:t>Observed time as one row per call</a:t>
            </a:r>
          </a:p>
          <a:p>
            <a:pPr lvl="0" marL="457200" indent="-228600">
              <a:buFont typeface="Calibri"/>
              <a:spcAft>
                <a:spcPts val="1000"/>
              </a:spcAft>
              <a:buSzPct val="100000"/>
              <a:buChar char="•"/>
              <a:lnSpc>
                <a:spcPts val="2200"/>
              </a:lnSpc>
            </a:pPr>
            <a:r>
              <a:rPr sz="2000" b="0">
                <a:solidFill>
                  <a:srgbClr val="333333"/>
                </a:solidFill>
                <a:latin typeface="Calibri"/>
              </a:rPr>
              <a:t>Rate limits and authentication keys must be handled so that the job remains within the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`modules/chapter2/example7/`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2.7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import requests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response = requests.get(</a:t>
            </a:r>
          </a:p>
          <a:p>
            <a:pPr>
              <a:lnSpc>
                <a:spcPts val="2200"/>
              </a:lnSpc>
              <a:spcAft>
                <a:spcPts val="400"/>
              </a:spcAft>
            </a:pPr>
            <a:r>
              <a:rPr sz="2000" b="0">
                <a:solidFill>
                  <a:srgbClr val="333333"/>
                </a:solidFill>
                <a:latin typeface="Consolas"/>
              </a:rPr>
              <a:t>    "https://api.example.com/weather",</a:t>
            </a:r>
          </a:p>
          <a:p>
            <a:pPr>
              <a:lnSpc>
                <a:spcPts val="2200"/>
              </a:lnSpc>
              <a:spcAft>
                <a:spcPts val="400"/>
              </a:spcAft>
            </a:pPr>
            <a:r>
              <a:rPr sz="2000" b="0">
                <a:solidFill>
                  <a:srgbClr val="333333"/>
                </a:solidFill>
                <a:latin typeface="Consolas"/>
              </a:rPr>
              <a:t>    params={"city": "Singapore"},</a:t>
            </a:r>
          </a:p>
          <a:p>
            <a:pPr>
              <a:lnSpc>
                <a:spcPts val="2200"/>
              </a:lnSpc>
              <a:spcAft>
                <a:spcPts val="400"/>
              </a:spcAft>
            </a:pPr>
            <a:r>
              <a:rPr sz="2000" b="0">
                <a:solidFill>
                  <a:srgbClr val="333333"/>
                </a:solidFill>
                <a:latin typeface="Consolas"/>
              </a:rPr>
              <a:t>    timeout=10,</a:t>
            </a:r>
          </a:p>
          <a:p>
            <a:pPr>
              <a:lnSpc>
                <a:spcPts val="2200"/>
              </a:lnSpc>
              <a:spcAft>
                <a:spcPts val="400"/>
              </a:spcAft>
            </a:pPr>
            <a:r>
              <a:rPr sz="2000" b="0">
                <a:solidFill>
                  <a:srgbClr val="333333"/>
                </a:solidFill>
                <a:latin typeface="Consolas"/>
              </a:rPr>
              <a:t>)</a:t>
            </a:r>
          </a:p>
          <a:p>
            <a:pPr>
              <a:lnSpc>
                <a:spcPts val="2200"/>
              </a:lnSpc>
              <a:spcAft>
                <a:spcPts val="400"/>
              </a:spcAft>
            </a:pPr>
            <a:r>
              <a:rPr sz="2000" b="0">
                <a:solidFill>
                  <a:srgbClr val="333333"/>
                </a:solidFill>
                <a:latin typeface="Consolas"/>
              </a:rPr>
              <a:t>response.raise_for_status()</a:t>
            </a:r>
          </a:p>
          <a:p>
            <a:pPr>
              <a:lnSpc>
                <a:spcPts val="2200"/>
              </a:lnSpc>
              <a:spcAft>
                <a:spcPts val="400"/>
              </a:spcAft>
            </a:pPr>
            <a:r>
              <a:rPr sz="2000" b="0">
                <a:solidFill>
                  <a:srgbClr val="333333"/>
                </a:solidFill>
                <a:latin typeface="Consolas"/>
              </a:rPr>
              <a:t>payload = response.json()</a:t>
            </a:r>
          </a:p>
          <a:p>
            <a:pPr>
              <a:lnSpc>
                <a:spcPts val="2200"/>
              </a:lnSpc>
              <a:spcAft>
                <a:spcPts val="400"/>
              </a:spcAft>
            </a:pPr>
            <a:r>
              <a:rPr sz="2000" b="0">
                <a:solidFill>
                  <a:srgbClr val="333333"/>
                </a:solidFill>
                <a:latin typeface="Consolas"/>
              </a:rPr>
              <a:t># Example fields: payload["temp"], payload["humidity"]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Rate limits and keys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API access is governed by contracts, not by page layout</a:t>
            </a:r>
          </a:p>
          <a:p>
            <a:pPr lvl="0" marL="457200" indent="-228600">
              <a:buFont typeface="Calibri"/>
              <a:spcAft>
                <a:spcPts val="1000"/>
              </a:spcAft>
              <a:buSzPct val="100000"/>
              <a:buChar char="•"/>
              <a:lnSpc>
                <a:spcPts val="2200"/>
              </a:lnSpc>
            </a:pPr>
            <a:r>
              <a:rPr sz="2000" b="0">
                <a:solidFill>
                  <a:srgbClr val="333333"/>
                </a:solidFill>
                <a:latin typeface="Calibri"/>
              </a:rPr>
              <a:t>Providers set rate limits, require keys, and may cap daily volume</a:t>
            </a:r>
          </a:p>
          <a:p>
            <a:pPr lvl="0" marL="457200" indent="-228600">
              <a:buFont typeface="Calibri"/>
              <a:spcAft>
                <a:spcPts val="1000"/>
              </a:spcAft>
              <a:buSzPct val="100000"/>
              <a:buChar char="•"/>
              <a:lnSpc>
                <a:spcPts val="2200"/>
              </a:lnSpc>
            </a:pPr>
            <a:r>
              <a:rPr sz="2000" b="0">
                <a:solidFill>
                  <a:srgbClr val="333333"/>
                </a:solidFill>
                <a:latin typeface="Calibri"/>
              </a:rPr>
              <a:t>Logging that separates successful rows from throttled calls</a:t>
            </a:r>
          </a:p>
          <a:p>
            <a:pPr lvl="0" marL="457200" indent="-228600">
              <a:buFont typeface="Calibri"/>
              <a:spcAft>
                <a:spcPts val="1000"/>
              </a:spcAft>
              <a:buSzPct val="100000"/>
              <a:buChar char="•"/>
              <a:lnSpc>
                <a:spcPts val="2200"/>
              </a:lnSpc>
            </a:pPr>
            <a:r>
              <a:rPr sz="2000" b="0">
                <a:solidFill>
                  <a:srgbClr val="333333"/>
                </a:solidFill>
                <a:latin typeface="Calibri"/>
              </a:rPr>
              <a:t>Treating these constraints as part of the protocol prevents loss of access mid-campaign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When APIs beat scraping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Prefer APIs when a provider exposes them</a:t>
            </a:r>
          </a:p>
          <a:p>
            <a:pPr lvl="0" marL="457200" indent="-228600">
              <a:buFont typeface="Calibri"/>
              <a:spcAft>
                <a:spcPts val="1000"/>
              </a:spcAft>
              <a:buSzPct val="100000"/>
              <a:buChar char="•"/>
              <a:lnSpc>
                <a:spcPts val="2200"/>
              </a:lnSpc>
            </a:pPr>
            <a:r>
              <a:rPr sz="2000" b="0">
                <a:solidFill>
                  <a:srgbClr val="333333"/>
                </a:solidFill>
                <a:latin typeface="Calibri"/>
              </a:rPr>
              <a:t>Scraping remains a fallback when public content exists but no endpoint is offered</a:t>
            </a:r>
          </a:p>
          <a:p>
            <a:pPr lvl="0" marL="457200" indent="-228600">
              <a:buFont typeface="Calibri"/>
              <a:spcAft>
                <a:spcPts val="1000"/>
              </a:spcAft>
              <a:buSzPct val="100000"/>
              <a:buChar char="•"/>
              <a:lnSpc>
                <a:spcPts val="2200"/>
              </a:lnSpc>
            </a:pPr>
            <a:r>
              <a:rPr sz="2000" b="0">
                <a:solidFill>
                  <a:srgbClr val="333333"/>
                </a:solidFill>
                <a:latin typeface="Calibri"/>
              </a:rPr>
              <a:t>Each of these methods can still be executed manually or automatically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APIs trade scraping flexibility for structure and clearer access rules</a:t>
            </a:r>
          </a:p>
          <a:p>
            <a:pPr lvl="0" marL="457200" indent="-228600">
              <a:buFont typeface="Calibri"/>
              <a:spcAft>
                <a:spcPts val="1000"/>
              </a:spcAft>
              <a:buSzPct val="100000"/>
              <a:buChar char="•"/>
              <a:lnSpc>
                <a:spcPts val="2200"/>
              </a:lnSpc>
            </a:pPr>
            <a:r>
              <a:rPr sz="2000" b="0">
                <a:solidFill>
                  <a:srgbClr val="333333"/>
                </a:solidFill>
                <a:latin typeface="Calibri"/>
              </a:rPr>
              <a:t>A minimal job requests, parses JSON fields, and appends rows</a:t>
            </a:r>
          </a:p>
          <a:p>
            <a:pPr lvl="0" marL="457200" indent="-228600">
              <a:buFont typeface="Calibri"/>
              <a:spcAft>
                <a:spcPts val="1000"/>
              </a:spcAft>
              <a:buSzPct val="100000"/>
              <a:buChar char="•"/>
              <a:lnSpc>
                <a:spcPts val="2200"/>
              </a:lnSpc>
            </a:pPr>
            <a:r>
              <a:rPr sz="2000" b="0">
                <a:solidFill>
                  <a:srgbClr val="333333"/>
                </a:solidFill>
                <a:latin typeface="Calibri"/>
              </a:rPr>
              <a:t>Rate limits and keys are collection-design decisions, not deployment details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Complete the quiz</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Distinguish the method axis from the execution axis</a:t>
            </a:r>
          </a:p>
          <a:p>
            <a:pPr lvl="0" marL="457200" indent="-228600">
              <a:buFont typeface="Calibri"/>
              <a:spcAft>
                <a:spcPts val="1000"/>
              </a:spcAft>
              <a:buSzPct val="100000"/>
              <a:buChar char="•"/>
              <a:lnSpc>
                <a:spcPts val="2200"/>
              </a:lnSpc>
            </a:pPr>
            <a:r>
              <a:rPr sz="2000" b="0">
                <a:solidFill>
                  <a:srgbClr val="333333"/>
                </a:solidFill>
                <a:latin typeface="Calibri"/>
              </a:rPr>
              <a:t>Error profile</a:t>
            </a:r>
          </a:p>
          <a:p>
            <a:pPr lvl="0" marL="457200" indent="-228600">
              <a:buFont typeface="Calibri"/>
              <a:spcAft>
                <a:spcPts val="1000"/>
              </a:spcAft>
              <a:buSzPct val="100000"/>
              <a:buChar char="•"/>
              <a:lnSpc>
                <a:spcPts val="2200"/>
              </a:lnSpc>
            </a:pPr>
            <a:r>
              <a:rPr sz="2000" b="0">
                <a:solidFill>
                  <a:srgbClr val="333333"/>
                </a:solidFill>
                <a:latin typeface="Calibri"/>
              </a:rPr>
              <a:t>Recognize when hybrid programs combine both approaches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Method versus execution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previous parts chose which method to use, survey, observation, scraping, or API</a:t>
            </a:r>
          </a:p>
          <a:p>
            <a:pPr lvl="0" marL="457200" indent="-228600">
              <a:buFont typeface="Calibri"/>
              <a:spcAft>
                <a:spcPts val="1000"/>
              </a:spcAft>
              <a:buSzPct val="100000"/>
              <a:buChar char="•"/>
              <a:lnSpc>
                <a:spcPts val="2200"/>
              </a:lnSpc>
            </a:pPr>
            <a:r>
              <a:rPr sz="2000" b="0">
                <a:solidFill>
                  <a:srgbClr val="333333"/>
                </a:solidFill>
                <a:latin typeface="Calibri"/>
              </a:rPr>
              <a:t>This section asks who or what executes it</a:t>
            </a:r>
          </a:p>
          <a:p>
            <a:pPr lvl="0" marL="457200" indent="-228600">
              <a:buFont typeface="Calibri"/>
              <a:spcAft>
                <a:spcPts val="1000"/>
              </a:spcAft>
              <a:buSzPct val="100000"/>
              <a:buChar char="•"/>
              <a:lnSpc>
                <a:spcPts val="2200"/>
              </a:lnSpc>
            </a:pPr>
            <a:r>
              <a:rPr sz="2000" b="0">
                <a:solidFill>
                  <a:srgbClr val="333333"/>
                </a:solidFill>
                <a:latin typeface="Calibri"/>
              </a:rPr>
              <a:t>The same survey can be filled by hand or ingested from an online form API</a:t>
            </a:r>
          </a:p>
          <a:p>
            <a:pPr lvl="0" marL="457200" indent="-228600">
              <a:buFont typeface="Calibri"/>
              <a:spcAft>
                <a:spcPts val="1000"/>
              </a:spcAft>
              <a:buSzPct val="100000"/>
              <a:buChar char="•"/>
              <a:lnSpc>
                <a:spcPts val="2200"/>
              </a:lnSpc>
            </a:pPr>
            <a:r>
              <a:rPr sz="2000" b="0">
                <a:solidFill>
                  <a:srgbClr val="333333"/>
                </a:solidFill>
                <a:latin typeface="Calibri"/>
              </a:rPr>
              <a:t>Manual execution suits small, high-precision, or highly contextual tasks</a:t>
            </a:r>
          </a:p>
          <a:p>
            <a:pPr lvl="0" marL="457200" indent="-228600">
              <a:buFont typeface="Calibri"/>
              <a:spcAft>
                <a:spcPts val="1000"/>
              </a:spcAft>
              <a:buSzPct val="100000"/>
              <a:buChar char="•"/>
              <a:lnSpc>
                <a:spcPts val="2200"/>
              </a:lnSpc>
            </a:pPr>
            <a:r>
              <a:rPr sz="2000" b="0">
                <a:solidFill>
                  <a:srgbClr val="333333"/>
                </a:solidFill>
                <a:latin typeface="Calibri"/>
              </a:rPr>
              <a:t>Automated execution suits large, repetitive, or real-time workloads</a:t>
            </a:r>
          </a:p>
          <a:p>
            <a:pPr lvl="0" marL="457200" indent="-228600">
              <a:buFont typeface="Calibri"/>
              <a:spcAft>
                <a:spcPts val="1000"/>
              </a:spcAft>
              <a:buSzPct val="100000"/>
              <a:buChar char="•"/>
              <a:lnSpc>
                <a:spcPts val="2200"/>
              </a:lnSpc>
            </a:pPr>
            <a:r>
              <a:rPr sz="2000" b="0">
                <a:solidFill>
                  <a:srgbClr val="333333"/>
                </a:solidFill>
                <a:latin typeface="Calibri"/>
              </a:rPr>
              <a:t>Most production programs sit on a hybrid continuum between the two poles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Manual data collection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Manual collection relies on human intervention</a:t>
            </a:r>
          </a:p>
          <a:p>
            <a:pPr lvl="0" marL="457200" indent="-228600">
              <a:buFont typeface="Calibri"/>
              <a:spcAft>
                <a:spcPts val="1000"/>
              </a:spcAft>
              <a:buSzPct val="100000"/>
              <a:buChar char="•"/>
              <a:lnSpc>
                <a:spcPts val="2200"/>
              </a:lnSpc>
            </a:pPr>
            <a:r>
              <a:rPr sz="2000" b="0">
                <a:solidFill>
                  <a:srgbClr val="333333"/>
                </a:solidFill>
                <a:latin typeface="Calibri"/>
              </a:rPr>
              <a:t>It remains appropriate when cases are unique</a:t>
            </a:r>
          </a:p>
          <a:p>
            <a:pPr lvl="0" marL="457200" indent="-228600">
              <a:buFont typeface="Calibri"/>
              <a:spcAft>
                <a:spcPts val="1000"/>
              </a:spcAft>
              <a:buSzPct val="100000"/>
              <a:buChar char="•"/>
              <a:lnSpc>
                <a:spcPts val="2200"/>
              </a:lnSpc>
            </a:pPr>
            <a:r>
              <a:rPr sz="2000" b="0">
                <a:solidFill>
                  <a:srgbClr val="333333"/>
                </a:solidFill>
                <a:latin typeface="Calibri"/>
              </a:rPr>
              <a:t>Precision and flexibility are strengths</a:t>
            </a:r>
          </a:p>
          <a:p>
            <a:pPr lvl="0" marL="457200" indent="-228600">
              <a:buFont typeface="Calibri"/>
              <a:spcAft>
                <a:spcPts val="1000"/>
              </a:spcAft>
              <a:buSzPct val="100000"/>
              <a:buChar char="•"/>
              <a:lnSpc>
                <a:spcPts val="2200"/>
              </a:lnSpc>
            </a:pPr>
            <a:r>
              <a:rPr sz="2000" b="0">
                <a:solidFill>
                  <a:srgbClr val="333333"/>
                </a:solidFill>
                <a:latin typeface="Calibri"/>
              </a:rPr>
              <a:t>Even manual campaigns benefit from written protocols so that later analysts can interpret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2.8 — Manual shelf audit in a grocery pilot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2.8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2.8 shows a setting where replacing people with sensors too early would lose the</a:t>
            </a:r>
          </a:p>
          <a:p>
            <a:pPr lvl="0" marL="457200" indent="-228600">
              <a:buFont typeface="Calibri"/>
              <a:spcAft>
                <a:spcPts val="1000"/>
              </a:spcAft>
              <a:buSzPct val="100000"/>
              <a:buChar char="•"/>
              <a:lnSpc>
                <a:spcPts val="2200"/>
              </a:lnSpc>
            </a:pPr>
            <a:r>
              <a:rPr sz="2000" b="0">
                <a:solidFill>
                  <a:srgbClr val="333333"/>
                </a:solidFill>
                <a:latin typeface="Calibri"/>
              </a:rPr>
              <a:t>A grocer piloting a new layout asks associates to walk each aisle once per hour and record</a:t>
            </a:r>
          </a:p>
          <a:p>
            <a:pPr lvl="0" marL="457200" indent="-228600">
              <a:buFont typeface="Calibri"/>
              <a:spcAft>
                <a:spcPts val="1000"/>
              </a:spcAft>
              <a:buSzPct val="100000"/>
              <a:buChar char="•"/>
              <a:lnSpc>
                <a:spcPts val="2200"/>
              </a:lnSpc>
            </a:pPr>
            <a:r>
              <a:rPr sz="2000" b="0">
                <a:solidFill>
                  <a:srgbClr val="333333"/>
                </a:solidFill>
                <a:latin typeface="Calibri"/>
              </a:rPr>
              <a:t>Associates can note temporary displays and damaged packaging that a ceiling camera would</a:t>
            </a:r>
          </a:p>
          <a:p>
            <a:pPr lvl="0" marL="457200" indent="-228600">
              <a:buFont typeface="Calibri"/>
              <a:spcAft>
                <a:spcPts val="1000"/>
              </a:spcAft>
              <a:buSzPct val="100000"/>
              <a:buChar char="•"/>
              <a:lnSpc>
                <a:spcPts val="2200"/>
              </a:lnSpc>
            </a:pPr>
            <a:r>
              <a:rPr sz="2000" b="0">
                <a:solidFill>
                  <a:srgbClr val="333333"/>
                </a:solidFill>
                <a:latin typeface="Calibri"/>
              </a:rPr>
              <a:t>The trade-off is that coverage drops when staffing is thin</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`modules/chapter2/example8/`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Automated data collection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Analytics platforms that emit event streams</a:t>
            </a:r>
          </a:p>
          <a:p>
            <a:pPr lvl="0" marL="457200" indent="-228600">
              <a:buFont typeface="Calibri"/>
              <a:spcAft>
                <a:spcPts val="1000"/>
              </a:spcAft>
              <a:buSzPct val="100000"/>
              <a:buChar char="•"/>
              <a:lnSpc>
                <a:spcPts val="2200"/>
              </a:lnSpc>
            </a:pPr>
            <a:r>
              <a:rPr sz="2000" b="0">
                <a:solidFill>
                  <a:srgbClr val="333333"/>
                </a:solidFill>
                <a:latin typeface="Calibri"/>
              </a:rPr>
              <a:t>Once configured</a:t>
            </a:r>
          </a:p>
          <a:p>
            <a:pPr lvl="0" marL="457200" indent="-228600">
              <a:buFont typeface="Calibri"/>
              <a:spcAft>
                <a:spcPts val="1000"/>
              </a:spcAft>
              <a:buSzPct val="100000"/>
              <a:buChar char="•"/>
              <a:lnSpc>
                <a:spcPts val="2200"/>
              </a:lnSpc>
            </a:pPr>
            <a:r>
              <a:rPr sz="2000" b="0">
                <a:solidFill>
                  <a:srgbClr val="333333"/>
                </a:solidFill>
                <a:latin typeface="Calibri"/>
              </a:rPr>
              <a:t>Privacy governance</a:t>
            </a:r>
          </a:p>
          <a:p>
            <a:pPr lvl="0" marL="457200" indent="-228600">
              <a:buFont typeface="Calibri"/>
              <a:spcAft>
                <a:spcPts val="1000"/>
              </a:spcAft>
              <a:buSzPct val="100000"/>
              <a:buChar char="•"/>
              <a:lnSpc>
                <a:spcPts val="2200"/>
              </a:lnSpc>
            </a:pPr>
            <a:r>
              <a:rPr sz="2000" b="0">
                <a:solidFill>
                  <a:srgbClr val="333333"/>
                </a:solidFill>
                <a:latin typeface="Calibri"/>
              </a:rPr>
              <a:t>Teams must also filter overload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2.9 — Automated cold-room temperature logging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2.9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2.9 pairs with the shelf-audit case by showing when continuous sensing is the</a:t>
            </a:r>
          </a:p>
          <a:p>
            <a:pPr lvl="0" marL="457200" indent="-228600">
              <a:buFont typeface="Calibri"/>
              <a:spcAft>
                <a:spcPts val="1000"/>
              </a:spcAft>
              <a:buSzPct val="100000"/>
              <a:buChar char="•"/>
              <a:lnSpc>
                <a:spcPts val="2200"/>
              </a:lnSpc>
            </a:pPr>
            <a:r>
              <a:rPr sz="2000" b="0">
                <a:solidFill>
                  <a:srgbClr val="333333"/>
                </a:solidFill>
                <a:latin typeface="Calibri"/>
              </a:rPr>
              <a:t>The same grocer logs cold-room temperature every minute through wired sensors that write</a:t>
            </a:r>
          </a:p>
          <a:p>
            <a:pPr lvl="0" marL="457200" indent="-228600">
              <a:buFont typeface="Calibri"/>
              <a:spcAft>
                <a:spcPts val="1000"/>
              </a:spcAft>
              <a:buSzPct val="100000"/>
              <a:buChar char="•"/>
              <a:lnSpc>
                <a:spcPts val="2200"/>
              </a:lnSpc>
            </a:pPr>
            <a:r>
              <a:rPr sz="2000" b="0">
                <a:solidFill>
                  <a:srgbClr val="333333"/>
                </a:solidFill>
                <a:latin typeface="Calibri"/>
              </a:rPr>
              <a:t>No associate could sample that frequently without neglecting other work</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`modules/chapter2/example9/`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Choosing between manual and automated execution is a design decision, not a moral one</a:t>
            </a:r>
          </a:p>
          <a:p>
            <a:pPr lvl="0" marL="457200" indent="-228600">
              <a:buFont typeface="Calibri"/>
              <a:spcAft>
                <a:spcPts val="1000"/>
              </a:spcAft>
              <a:buSzPct val="100000"/>
              <a:buChar char="•"/>
              <a:lnSpc>
                <a:spcPts val="2200"/>
              </a:lnSpc>
            </a:pPr>
            <a:r>
              <a:rPr sz="2000" b="0">
                <a:solidFill>
                  <a:srgbClr val="333333"/>
                </a:solidFill>
                <a:latin typeface="Calibri"/>
              </a:rPr>
              <a:t>Manual methods fit audits, interviews, and early exploratory studies</a:t>
            </a:r>
          </a:p>
          <a:p>
            <a:pPr lvl="0" marL="457200" indent="-228600">
              <a:buFont typeface="Calibri"/>
              <a:spcAft>
                <a:spcPts val="1000"/>
              </a:spcAft>
              <a:buSzPct val="100000"/>
              <a:buChar char="•"/>
              <a:lnSpc>
                <a:spcPts val="2200"/>
              </a:lnSpc>
            </a:pPr>
            <a:r>
              <a:rPr sz="2000" b="0">
                <a:solidFill>
                  <a:srgbClr val="333333"/>
                </a:solidFill>
                <a:latin typeface="Calibri"/>
              </a:rPr>
              <a:t>Automated methods fit production monitoring, large web harvests, and streaming analytics</a:t>
            </a:r>
          </a:p>
          <a:p>
            <a:pPr lvl="0" marL="457200" indent="-228600">
              <a:buFont typeface="Calibri"/>
              <a:spcAft>
                <a:spcPts val="1000"/>
              </a:spcAft>
              <a:buSzPct val="100000"/>
              <a:buChar char="•"/>
              <a:lnSpc>
                <a:spcPts val="2200"/>
              </a:lnSpc>
            </a:pPr>
            <a:r>
              <a:rPr sz="2000" b="0">
                <a:solidFill>
                  <a:srgbClr val="333333"/>
                </a:solidFill>
                <a:latin typeface="Calibri"/>
              </a:rPr>
              <a:t>Mature programs often combine both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Complete the quiz</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Explain why sampling underpins generalization, describe simple random, stratified</a:t>
            </a:r>
          </a:p>
          <a:p>
            <a:pPr lvl="0" marL="457200" indent="-228600">
              <a:buFont typeface="Calibri"/>
              <a:spcAft>
                <a:spcPts val="1000"/>
              </a:spcAft>
              <a:buSzPct val="100000"/>
              <a:buChar char="•"/>
              <a:lnSpc>
                <a:spcPts val="2200"/>
              </a:lnSpc>
            </a:pPr>
            <a:r>
              <a:rPr sz="2000" b="0">
                <a:solidFill>
                  <a:srgbClr val="333333"/>
                </a:solidFill>
                <a:latin typeface="Calibri"/>
              </a:rPr>
              <a:t>Cluster probability designs</a:t>
            </a:r>
          </a:p>
          <a:p>
            <a:pPr lvl="0" marL="457200" indent="-228600">
              <a:buFont typeface="Calibri"/>
              <a:spcAft>
                <a:spcPts val="1000"/>
              </a:spcAft>
              <a:buSzPct val="100000"/>
              <a:buChar char="•"/>
              <a:lnSpc>
                <a:spcPts val="2200"/>
              </a:lnSpc>
            </a:pPr>
            <a:r>
              <a:rPr sz="2000" b="0">
                <a:solidFill>
                  <a:srgbClr val="333333"/>
                </a:solidFill>
                <a:latin typeface="Calibri"/>
              </a:rPr>
              <a:t>Match each design to a typical population and logistics profile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sampling matters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Sampling lets researchers learn about a population from a manageable subset of cases</a:t>
            </a:r>
          </a:p>
          <a:p>
            <a:pPr lvl="0" marL="457200" indent="-228600">
              <a:buFont typeface="Calibri"/>
              <a:spcAft>
                <a:spcPts val="1000"/>
              </a:spcAft>
              <a:buSzPct val="100000"/>
              <a:buChar char="•"/>
              <a:lnSpc>
                <a:spcPts val="2200"/>
              </a:lnSpc>
            </a:pPr>
            <a:r>
              <a:rPr sz="2000" b="0">
                <a:solidFill>
                  <a:srgbClr val="333333"/>
                </a:solidFill>
                <a:latin typeface="Calibri"/>
              </a:rPr>
              <a:t>A well-chosen sample supports generalization</a:t>
            </a:r>
          </a:p>
          <a:p>
            <a:pPr lvl="0" marL="457200" indent="-228600">
              <a:buFont typeface="Calibri"/>
              <a:spcAft>
                <a:spcPts val="1000"/>
              </a:spcAft>
              <a:buSzPct val="100000"/>
              <a:buChar char="•"/>
              <a:lnSpc>
                <a:spcPts val="2200"/>
              </a:lnSpc>
            </a:pPr>
            <a:r>
              <a:rPr sz="2000" b="0">
                <a:solidFill>
                  <a:srgbClr val="333333"/>
                </a:solidFill>
                <a:latin typeface="Calibri"/>
              </a:rPr>
              <a:t>This part covers three probability designs that appear repeatedly in practice</a:t>
            </a:r>
          </a:p>
          <a:p>
            <a:pPr lvl="0" marL="457200" indent="-228600">
              <a:buFont typeface="Calibri"/>
              <a:spcAft>
                <a:spcPts val="1000"/>
              </a:spcAft>
              <a:buSzPct val="100000"/>
              <a:buChar char="•"/>
              <a:lnSpc>
                <a:spcPts val="2200"/>
              </a:lnSpc>
            </a:pPr>
            <a:r>
              <a:rPr sz="2000" b="0">
                <a:solidFill>
                  <a:srgbClr val="333333"/>
                </a:solidFill>
                <a:latin typeface="Calibri"/>
              </a:rPr>
              <a:t>Each assumes a usable sampling frame unless noted otherwise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Simple random sampling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simple random sampling, each population member has an equal chance of selection</a:t>
            </a:r>
          </a:p>
          <a:p>
            <a:pPr lvl="0" marL="457200" indent="-228600">
              <a:buFont typeface="Calibri"/>
              <a:spcAft>
                <a:spcPts val="1000"/>
              </a:spcAft>
              <a:buSzPct val="100000"/>
              <a:buChar char="•"/>
              <a:lnSpc>
                <a:spcPts val="2200"/>
              </a:lnSpc>
            </a:pPr>
            <a:r>
              <a:rPr sz="2000" b="0">
                <a:solidFill>
                  <a:srgbClr val="333333"/>
                </a:solidFill>
                <a:latin typeface="Calibri"/>
              </a:rPr>
              <a:t>The method reduces selection bias when a complete frame exists and when the sample is</a:t>
            </a:r>
          </a:p>
          <a:p>
            <a:pPr lvl="0" marL="457200" indent="-228600">
              <a:buFont typeface="Calibri"/>
              <a:spcAft>
                <a:spcPts val="1000"/>
              </a:spcAft>
              <a:buSzPct val="100000"/>
              <a:buChar char="•"/>
              <a:lnSpc>
                <a:spcPts val="2200"/>
              </a:lnSpc>
            </a:pPr>
            <a:r>
              <a:rPr sz="2000" b="0">
                <a:solidFill>
                  <a:srgbClr val="333333"/>
                </a:solidFill>
                <a:latin typeface="Calibri"/>
              </a:rPr>
              <a:t>Operationally, teams build a complete list, draw units with a random process</a:t>
            </a:r>
          </a:p>
          <a:p>
            <a:pPr lvl="0" marL="457200" indent="-228600">
              <a:buFont typeface="Calibri"/>
              <a:spcAft>
                <a:spcPts val="1000"/>
              </a:spcAft>
              <a:buSzPct val="100000"/>
              <a:buChar char="•"/>
              <a:lnSpc>
                <a:spcPts val="2200"/>
              </a:lnSpc>
            </a:pPr>
            <a:r>
              <a:rPr sz="2000" b="0">
                <a:solidFill>
                  <a:srgbClr val="333333"/>
                </a:solidFill>
                <a:latin typeface="Calibri"/>
              </a:rPr>
              <a:t>Its practical limits are incomplete frames and non-response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2.10 — Simple random draw from an employee roster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2.10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2.10 shows a clean frame case</a:t>
            </a:r>
          </a:p>
          <a:p>
            <a:pPr lvl="0" marL="457200" indent="-228600">
              <a:buFont typeface="Calibri"/>
              <a:spcAft>
                <a:spcPts val="1000"/>
              </a:spcAft>
              <a:buSzPct val="100000"/>
              <a:buChar char="•"/>
              <a:lnSpc>
                <a:spcPts val="2200"/>
              </a:lnSpc>
            </a:pPr>
            <a:r>
              <a:rPr sz="2000" b="0">
                <a:solidFill>
                  <a:srgbClr val="333333"/>
                </a:solidFill>
                <a:latin typeface="Calibri"/>
              </a:rPr>
              <a:t>A firm with two thousand employees on a complete human-resources roster wants feedback on</a:t>
            </a:r>
          </a:p>
          <a:p>
            <a:pPr lvl="0" marL="457200" indent="-228600">
              <a:buFont typeface="Calibri"/>
              <a:spcAft>
                <a:spcPts val="1000"/>
              </a:spcAft>
              <a:buSzPct val="100000"/>
              <a:buChar char="•"/>
              <a:lnSpc>
                <a:spcPts val="2200"/>
              </a:lnSpc>
            </a:pPr>
            <a:r>
              <a:rPr sz="2000" b="0">
                <a:solidFill>
                  <a:srgbClr val="333333"/>
                </a:solidFill>
                <a:latin typeface="Calibri"/>
              </a:rPr>
              <a:t>Analysts draw two hundred employee identifiers uniformly at random and invite those people</a:t>
            </a:r>
          </a:p>
          <a:p>
            <a:pPr lvl="0" marL="457200" indent="-228600">
              <a:buFont typeface="Calibri"/>
              <a:spcAft>
                <a:spcPts val="1000"/>
              </a:spcAft>
              <a:buSzPct val="100000"/>
              <a:buChar char="•"/>
              <a:lnSpc>
                <a:spcPts val="2200"/>
              </a:lnSpc>
            </a:pPr>
            <a:r>
              <a:rPr sz="2000" b="0">
                <a:solidFill>
                  <a:srgbClr val="333333"/>
                </a:solidFill>
                <a:latin typeface="Calibri"/>
              </a:rPr>
              <a:t>If response is high</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`modules/chapter2/example10/`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Stratified sampling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Stratified sampling first partitions the population into meaningful subgroups</a:t>
            </a:r>
          </a:p>
          <a:p>
            <a:pPr lvl="0" marL="457200" indent="-228600">
              <a:buFont typeface="Calibri"/>
              <a:spcAft>
                <a:spcPts val="1000"/>
              </a:spcAft>
              <a:buSzPct val="100000"/>
              <a:buChar char="•"/>
              <a:lnSpc>
                <a:spcPts val="2200"/>
              </a:lnSpc>
            </a:pPr>
            <a:r>
              <a:rPr sz="2000" b="0">
                <a:solidFill>
                  <a:srgbClr val="333333"/>
                </a:solidFill>
                <a:latin typeface="Calibri"/>
              </a:rPr>
              <a:t>The design improves precision when subgroups differ on the outcome of interest and</a:t>
            </a:r>
          </a:p>
          <a:p>
            <a:pPr lvl="0" marL="457200" indent="-228600">
              <a:buFont typeface="Calibri"/>
              <a:spcAft>
                <a:spcPts val="1000"/>
              </a:spcAft>
              <a:buSzPct val="100000"/>
              <a:buChar char="•"/>
              <a:lnSpc>
                <a:spcPts val="2200"/>
              </a:lnSpc>
            </a:pPr>
            <a:r>
              <a:rPr sz="2000" b="0">
                <a:solidFill>
                  <a:srgbClr val="333333"/>
                </a:solidFill>
                <a:latin typeface="Calibri"/>
              </a:rPr>
              <a:t>Costs include planning complexity and the need for prior knowledge to define strata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2.11 — Stratified sample of cart abandoners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2.11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2.11 mirrors the retail cart-abandonment study from the chapter opener</a:t>
            </a:r>
          </a:p>
          <a:p>
            <a:pPr lvl="0" marL="457200" indent="-228600">
              <a:buFont typeface="Calibri"/>
              <a:spcAft>
                <a:spcPts val="1000"/>
              </a:spcAft>
              <a:buSzPct val="100000"/>
              <a:buChar char="•"/>
              <a:lnSpc>
                <a:spcPts val="2200"/>
              </a:lnSpc>
            </a:pPr>
            <a:r>
              <a:rPr sz="2000" b="0">
                <a:solidFill>
                  <a:srgbClr val="333333"/>
                </a:solidFill>
                <a:latin typeface="Calibri"/>
              </a:rPr>
              <a:t>Analysts divide recent abandoners into mobile and desktop strata</a:t>
            </a:r>
          </a:p>
          <a:p>
            <a:pPr lvl="0" marL="457200" indent="-228600">
              <a:buFont typeface="Calibri"/>
              <a:spcAft>
                <a:spcPts val="1000"/>
              </a:spcAft>
              <a:buSzPct val="100000"/>
              <a:buChar char="•"/>
              <a:lnSpc>
                <a:spcPts val="2200"/>
              </a:lnSpc>
            </a:pPr>
            <a:r>
              <a:rPr sz="2000" b="0">
                <a:solidFill>
                  <a:srgbClr val="333333"/>
                </a:solidFill>
                <a:latin typeface="Calibri"/>
              </a:rPr>
              <a:t>The design ensures that device-specific checkout friction is visible even if one device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`modules/chapter2/example11/`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Cluster sampling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Cluster sampling selects groups of units, schools, clinics, city blocks</a:t>
            </a:r>
          </a:p>
          <a:p>
            <a:pPr lvl="0" marL="457200" indent="-228600">
              <a:buFont typeface="Calibri"/>
              <a:spcAft>
                <a:spcPts val="1000"/>
              </a:spcAft>
              <a:buSzPct val="100000"/>
              <a:buChar char="•"/>
              <a:lnSpc>
                <a:spcPts val="2200"/>
              </a:lnSpc>
            </a:pPr>
            <a:r>
              <a:rPr sz="2000" b="0">
                <a:solidFill>
                  <a:srgbClr val="333333"/>
                </a:solidFill>
                <a:latin typeface="Calibri"/>
              </a:rPr>
              <a:t>It is attractive when individual frames are unavailable or when travel costs make visiting</a:t>
            </a:r>
          </a:p>
          <a:p>
            <a:pPr lvl="0" marL="457200" indent="-228600">
              <a:buFont typeface="Calibri"/>
              <a:spcAft>
                <a:spcPts val="1000"/>
              </a:spcAft>
              <a:buSzPct val="100000"/>
              <a:buChar char="•"/>
              <a:lnSpc>
                <a:spcPts val="2200"/>
              </a:lnSpc>
            </a:pPr>
            <a:r>
              <a:rPr sz="2000" b="0">
                <a:solidFill>
                  <a:srgbClr val="333333"/>
                </a:solidFill>
                <a:latin typeface="Calibri"/>
              </a:rPr>
              <a:t>Clusters can be efficient</a:t>
            </a:r>
          </a:p>
          <a:p>
            <a:pPr lvl="0" marL="457200" indent="-228600">
              <a:buFont typeface="Calibri"/>
              <a:spcAft>
                <a:spcPts val="1000"/>
              </a:spcAft>
              <a:buSzPct val="100000"/>
              <a:buChar char="•"/>
              <a:lnSpc>
                <a:spcPts val="2200"/>
              </a:lnSpc>
            </a:pPr>
            <a:r>
              <a:rPr sz="2000" b="0">
                <a:solidFill>
                  <a:srgbClr val="333333"/>
                </a:solidFill>
                <a:latin typeface="Calibri"/>
              </a:rPr>
              <a:t>Prefer clusters that still reflect population diversity when logistics dominate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Use random sampling when the population is relatively homogeneous and a complete list</a:t>
            </a:r>
          </a:p>
          <a:p>
            <a:pPr lvl="0" marL="457200" indent="-228600">
              <a:buFont typeface="Calibri"/>
              <a:spcAft>
                <a:spcPts val="1000"/>
              </a:spcAft>
              <a:buSzPct val="100000"/>
              <a:buChar char="•"/>
              <a:lnSpc>
                <a:spcPts val="2200"/>
              </a:lnSpc>
            </a:pPr>
            <a:r>
              <a:rPr sz="2000" b="0">
                <a:solidFill>
                  <a:srgbClr val="333333"/>
                </a:solidFill>
                <a:latin typeface="Calibri"/>
              </a:rPr>
              <a:t>Use stratified sampling when key subgroups must appear in sufficient numbers</a:t>
            </a:r>
          </a:p>
          <a:p>
            <a:pPr lvl="0" marL="457200" indent="-228600">
              <a:buFont typeface="Calibri"/>
              <a:spcAft>
                <a:spcPts val="1000"/>
              </a:spcAft>
              <a:buSzPct val="100000"/>
              <a:buChar char="•"/>
              <a:lnSpc>
                <a:spcPts val="2200"/>
              </a:lnSpc>
            </a:pPr>
            <a:r>
              <a:rPr sz="2000" b="0">
                <a:solidFill>
                  <a:srgbClr val="333333"/>
                </a:solidFill>
                <a:latin typeface="Calibri"/>
              </a:rPr>
              <a:t>Use cluster sampling when logistics dominate and entire sites can be visited as units</a:t>
            </a:r>
          </a:p>
          <a:p>
            <a:pPr lvl="0" marL="457200" indent="-228600">
              <a:buFont typeface="Calibri"/>
              <a:spcAft>
                <a:spcPts val="1000"/>
              </a:spcAft>
              <a:buSzPct val="100000"/>
              <a:buChar char="•"/>
              <a:lnSpc>
                <a:spcPts val="2200"/>
              </a:lnSpc>
            </a:pPr>
            <a:r>
              <a:rPr sz="2000" b="0">
                <a:solidFill>
                  <a:srgbClr val="333333"/>
                </a:solidFill>
                <a:latin typeface="Calibri"/>
              </a:rPr>
              <a:t>Non-probability options for weak frames appear in the next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Complete the quiz</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Implement systematic sampling on an ordered frame with awareness of periodicity</a:t>
            </a:r>
          </a:p>
          <a:p>
            <a:pPr lvl="0" marL="457200" indent="-228600">
              <a:buFont typeface="Calibri"/>
              <a:spcAft>
                <a:spcPts val="1000"/>
              </a:spcAft>
              <a:buSzPct val="100000"/>
              <a:buChar char="•"/>
              <a:lnSpc>
                <a:spcPts val="2200"/>
              </a:lnSpc>
            </a:pPr>
            <a:r>
              <a:rPr sz="2000" b="0">
                <a:solidFill>
                  <a:srgbClr val="333333"/>
                </a:solidFill>
                <a:latin typeface="Calibri"/>
              </a:rPr>
              <a:t>State when each design is defensible versus when generalizable claims are inappropriate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Beyond the three probability designs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previous part covered simple random, stratified</a:t>
            </a:r>
          </a:p>
          <a:p>
            <a:pPr lvl="0" marL="457200" indent="-228600">
              <a:buFont typeface="Calibri"/>
              <a:spcAft>
                <a:spcPts val="1000"/>
              </a:spcAft>
              <a:buSzPct val="100000"/>
              <a:buChar char="•"/>
              <a:lnSpc>
                <a:spcPts val="2200"/>
              </a:lnSpc>
            </a:pPr>
            <a:r>
              <a:rPr sz="2000" b="0">
                <a:solidFill>
                  <a:srgbClr val="333333"/>
                </a:solidFill>
                <a:latin typeface="Calibri"/>
              </a:rPr>
              <a:t>Convenience and snowball sampling</a:t>
            </a:r>
          </a:p>
          <a:p>
            <a:pPr lvl="0" marL="457200" indent="-228600">
              <a:buFont typeface="Calibri"/>
              <a:spcAft>
                <a:spcPts val="1000"/>
              </a:spcAft>
              <a:buSzPct val="100000"/>
              <a:buChar char="•"/>
              <a:lnSpc>
                <a:spcPts val="2200"/>
              </a:lnSpc>
            </a:pPr>
            <a:r>
              <a:rPr sz="2000" b="0">
                <a:solidFill>
                  <a:srgbClr val="333333"/>
                </a:solidFill>
                <a:latin typeface="Calibri"/>
              </a:rPr>
              <a:t>The decision rule is whether inference to a population is required or whether exploratory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Systematic sampling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Systematic sampling selects every nth unit from an ordered frame after choosing a random</a:t>
            </a:r>
          </a:p>
          <a:p>
            <a:pPr lvl="0" marL="457200" indent="-228600">
              <a:buFont typeface="Calibri"/>
              <a:spcAft>
                <a:spcPts val="1000"/>
              </a:spcAft>
              <a:buSzPct val="100000"/>
              <a:buChar char="•"/>
              <a:lnSpc>
                <a:spcPts val="2200"/>
              </a:lnSpc>
            </a:pPr>
            <a:r>
              <a:rPr sz="2000" b="0">
                <a:solidFill>
                  <a:srgbClr val="333333"/>
                </a:solidFill>
                <a:latin typeface="Calibri"/>
              </a:rPr>
              <a:t>If a population of five hundred must yield fifty interviews, the interval is ten</a:t>
            </a:r>
          </a:p>
          <a:p>
            <a:pPr lvl="0" marL="457200" indent="-228600">
              <a:buFont typeface="Calibri"/>
              <a:spcAft>
                <a:spcPts val="1000"/>
              </a:spcAft>
              <a:buSzPct val="100000"/>
              <a:buChar char="•"/>
              <a:lnSpc>
                <a:spcPts val="2200"/>
              </a:lnSpc>
            </a:pPr>
            <a:r>
              <a:rPr sz="2000" b="0">
                <a:solidFill>
                  <a:srgbClr val="333333"/>
                </a:solidFill>
                <a:latin typeface="Calibri"/>
              </a:rPr>
              <a:t>Administration is often faster than drawing many independent random numbers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2.13 — Systematic draw from a membership directory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2.13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2.13 shows a clean use case and the periodicity trap on the same kind of list</a:t>
            </a:r>
          </a:p>
          <a:p>
            <a:pPr lvl="0" marL="457200" indent="-228600">
              <a:buFont typeface="Calibri"/>
              <a:spcAft>
                <a:spcPts val="1000"/>
              </a:spcAft>
              <a:buSzPct val="100000"/>
              <a:buChar char="•"/>
              <a:lnSpc>
                <a:spcPts val="2200"/>
              </a:lnSpc>
            </a:pPr>
            <a:r>
              <a:rPr sz="2000" b="0">
                <a:solidFill>
                  <a:srgbClr val="333333"/>
                </a:solidFill>
                <a:latin typeface="Calibri"/>
              </a:rPr>
              <a:t>A professional society wants fifty interview slots from a five-hundred-person alphabetical</a:t>
            </a:r>
          </a:p>
          <a:p>
            <a:pPr lvl="0" marL="457200" indent="-228600">
              <a:buFont typeface="Calibri"/>
              <a:spcAft>
                <a:spcPts val="1000"/>
              </a:spcAft>
              <a:buSzPct val="100000"/>
              <a:buChar char="•"/>
              <a:lnSpc>
                <a:spcPts val="2200"/>
              </a:lnSpc>
            </a:pPr>
            <a:r>
              <a:rPr sz="2000" b="0">
                <a:solidFill>
                  <a:srgbClr val="333333"/>
                </a:solidFill>
                <a:latin typeface="Calibri"/>
              </a:rPr>
              <a:t>With interval ten and a random start of four, members four, fourteen, twenty-four</a:t>
            </a:r>
          </a:p>
          <a:p>
            <a:pPr lvl="0" marL="457200" indent="-228600">
              <a:buFont typeface="Calibri"/>
              <a:spcAft>
                <a:spcPts val="1000"/>
              </a:spcAft>
              <a:buSzPct val="100000"/>
              <a:buChar char="•"/>
              <a:lnSpc>
                <a:spcPts val="2200"/>
              </a:lnSpc>
            </a:pPr>
            <a:r>
              <a:rPr sz="2000" b="0">
                <a:solidFill>
                  <a:srgbClr val="333333"/>
                </a:solidFill>
                <a:latin typeface="Calibri"/>
              </a:rPr>
              <a:t>Shuffling before the draw removes that risk</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`modules/chapter2/example13/`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Convenience sampling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Convenience sampling recruits whoever is easiest to reach</a:t>
            </a:r>
          </a:p>
          <a:p>
            <a:pPr lvl="0" marL="457200" indent="-228600">
              <a:buFont typeface="Calibri"/>
              <a:spcAft>
                <a:spcPts val="1000"/>
              </a:spcAft>
              <a:buSzPct val="100000"/>
              <a:buChar char="•"/>
              <a:lnSpc>
                <a:spcPts val="2200"/>
              </a:lnSpc>
            </a:pPr>
            <a:r>
              <a:rPr sz="2000" b="0">
                <a:solidFill>
                  <a:srgbClr val="333333"/>
                </a:solidFill>
                <a:latin typeface="Calibri"/>
              </a:rPr>
              <a:t>Inclusion chances are unknown</a:t>
            </a:r>
          </a:p>
          <a:p>
            <a:pPr lvl="0" marL="457200" indent="-228600">
              <a:buFont typeface="Calibri"/>
              <a:spcAft>
                <a:spcPts val="1000"/>
              </a:spcAft>
              <a:buSzPct val="100000"/>
              <a:buChar char="•"/>
              <a:lnSpc>
                <a:spcPts val="2200"/>
              </a:lnSpc>
            </a:pPr>
            <a:r>
              <a:rPr sz="2000" b="0">
                <a:solidFill>
                  <a:srgbClr val="333333"/>
                </a:solidFill>
                <a:latin typeface="Calibri"/>
              </a:rPr>
              <a:t>Convenience samples buy access at the cost of bias and limited diversity</a:t>
            </a:r>
          </a:p>
          <a:p>
            <a:pPr lvl="0" marL="457200" indent="-228600">
              <a:buFont typeface="Calibri"/>
              <a:spcAft>
                <a:spcPts val="1000"/>
              </a:spcAft>
              <a:buSzPct val="100000"/>
              <a:buChar char="•"/>
              <a:lnSpc>
                <a:spcPts val="2200"/>
              </a:lnSpc>
            </a:pPr>
            <a:r>
              <a:rPr sz="2000" b="0">
                <a:solidFill>
                  <a:srgbClr val="333333"/>
                </a:solidFill>
                <a:latin typeface="Calibri"/>
              </a:rPr>
              <a:t>They scaffold instrument testing, not population claims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2.14 — Convenience sample on a university campus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2.14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2.14 shows a typical campus intercept study and why its estimates should be</a:t>
            </a:r>
          </a:p>
          <a:p>
            <a:pPr lvl="0" marL="457200" indent="-228600">
              <a:buFont typeface="Calibri"/>
              <a:spcAft>
                <a:spcPts val="1000"/>
              </a:spcAft>
              <a:buSzPct val="100000"/>
              <a:buChar char="•"/>
              <a:lnSpc>
                <a:spcPts val="2200"/>
              </a:lnSpc>
            </a:pPr>
            <a:r>
              <a:rPr sz="2000" b="0">
                <a:solidFill>
                  <a:srgbClr val="333333"/>
                </a:solidFill>
                <a:latin typeface="Calibri"/>
              </a:rPr>
              <a:t>A researcher surveys the first one hundred students entering the library during exam week</a:t>
            </a:r>
          </a:p>
          <a:p>
            <a:pPr lvl="0" marL="457200" indent="-228600">
              <a:buFont typeface="Calibri"/>
              <a:spcAft>
                <a:spcPts val="1000"/>
              </a:spcAft>
              <a:buSzPct val="100000"/>
              <a:buChar char="•"/>
              <a:lnSpc>
                <a:spcPts val="2200"/>
              </a:lnSpc>
            </a:pPr>
            <a:r>
              <a:rPr sz="2000" b="0">
                <a:solidFill>
                  <a:srgbClr val="333333"/>
                </a:solidFill>
                <a:latin typeface="Calibri"/>
              </a:rPr>
              <a:t>The design is cheap and fast, but evening commuters, remote students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`modules/chapter2/example14/`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Snowball sampling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Snowball sampling starts with a few eligible seeds and asks them to refer others who meet</a:t>
            </a:r>
          </a:p>
          <a:p>
            <a:pPr lvl="0" marL="457200" indent="-228600">
              <a:buFont typeface="Calibri"/>
              <a:spcAft>
                <a:spcPts val="1000"/>
              </a:spcAft>
              <a:buSzPct val="100000"/>
              <a:buChar char="•"/>
              <a:lnSpc>
                <a:spcPts val="2200"/>
              </a:lnSpc>
            </a:pPr>
            <a:r>
              <a:rPr sz="2000" b="0">
                <a:solidFill>
                  <a:srgbClr val="333333"/>
                </a:solidFill>
                <a:latin typeface="Calibri"/>
              </a:rPr>
              <a:t>The sample grows through social ties</a:t>
            </a:r>
          </a:p>
          <a:p>
            <a:pPr lvl="0" marL="457200" indent="-228600">
              <a:buFont typeface="Calibri"/>
              <a:spcAft>
                <a:spcPts val="1000"/>
              </a:spcAft>
              <a:buSzPct val="100000"/>
              <a:buChar char="•"/>
              <a:lnSpc>
                <a:spcPts val="2200"/>
              </a:lnSpc>
            </a:pPr>
            <a:r>
              <a:rPr sz="2000" b="0">
                <a:solidFill>
                  <a:srgbClr val="333333"/>
                </a:solidFill>
                <a:latin typeface="Calibri"/>
              </a:rPr>
              <a:t>Referrals lower recruitment cost, yet they concentrate homogeneity</a:t>
            </a:r>
          </a:p>
          <a:p>
            <a:pPr lvl="0" marL="457200" indent="-228600">
              <a:buFont typeface="Calibri"/>
              <a:spcAft>
                <a:spcPts val="1000"/>
              </a:spcAft>
              <a:buSzPct val="100000"/>
              <a:buChar char="•"/>
              <a:lnSpc>
                <a:spcPts val="2200"/>
              </a:lnSpc>
            </a:pPr>
            <a:r>
              <a:rPr sz="2000" b="0">
                <a:solidFill>
                  <a:srgbClr val="333333"/>
                </a:solidFill>
                <a:latin typeface="Calibri"/>
              </a:rPr>
              <a:t>Privacy protections for both participants and referrals are essential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Use systematic sampling for efficient probability draws on clean lists</a:t>
            </a:r>
          </a:p>
          <a:p>
            <a:pPr lvl="0" marL="457200" indent="-228600">
              <a:buFont typeface="Calibri"/>
              <a:spcAft>
                <a:spcPts val="1000"/>
              </a:spcAft>
              <a:buSzPct val="100000"/>
              <a:buChar char="•"/>
              <a:lnSpc>
                <a:spcPts val="2200"/>
              </a:lnSpc>
            </a:pPr>
            <a:r>
              <a:rPr sz="2000" b="0">
                <a:solidFill>
                  <a:srgbClr val="333333"/>
                </a:solidFill>
                <a:latin typeface="Calibri"/>
              </a:rPr>
              <a:t>Reserve convenience and snowball designs for exploratory or hard-to-reach settings</a:t>
            </a:r>
          </a:p>
          <a:p>
            <a:pPr lvl="0" marL="457200" indent="-228600">
              <a:buFont typeface="Calibri"/>
              <a:spcAft>
                <a:spcPts val="1000"/>
              </a:spcAft>
              <a:buSzPct val="100000"/>
              <a:buChar char="•"/>
              <a:lnSpc>
                <a:spcPts val="2200"/>
              </a:lnSpc>
            </a:pPr>
            <a:r>
              <a:rPr sz="2000" b="0">
                <a:solidFill>
                  <a:srgbClr val="333333"/>
                </a:solidFill>
                <a:latin typeface="Calibri"/>
              </a:rPr>
              <a:t>When generalizable claims are required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Complete the quiz</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Map survey platforms, scraping libraries</a:t>
            </a:r>
          </a:p>
          <a:p>
            <a:pPr lvl="0" marL="457200" indent="-228600">
              <a:buFont typeface="Calibri"/>
              <a:spcAft>
                <a:spcPts val="1000"/>
              </a:spcAft>
              <a:buSzPct val="100000"/>
              <a:buChar char="•"/>
              <a:lnSpc>
                <a:spcPts val="2200"/>
              </a:lnSpc>
            </a:pPr>
            <a:r>
              <a:rPr sz="2000" b="0">
                <a:solidFill>
                  <a:srgbClr val="333333"/>
                </a:solidFill>
                <a:latin typeface="Calibri"/>
              </a:rPr>
              <a:t>API clients to the methods from earlier parts</a:t>
            </a:r>
          </a:p>
          <a:p>
            <a:pPr lvl="0" marL="457200" indent="-228600">
              <a:buFont typeface="Calibri"/>
              <a:spcAft>
                <a:spcPts val="1000"/>
              </a:spcAft>
              <a:buSzPct val="100000"/>
              <a:buChar char="•"/>
              <a:lnSpc>
                <a:spcPts val="2200"/>
              </a:lnSpc>
            </a:pPr>
            <a:r>
              <a:rPr sz="2000" b="0">
                <a:solidFill>
                  <a:srgbClr val="333333"/>
                </a:solidFill>
                <a:latin typeface="Calibri"/>
              </a:rPr>
              <a:t>Recognize that platforms cannot fix poor instrument design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Tools implement earlier choices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chapter already decided which method fits the question</a:t>
            </a:r>
          </a:p>
          <a:p>
            <a:pPr lvl="0" marL="457200" indent="-228600">
              <a:buFont typeface="Calibri"/>
              <a:spcAft>
                <a:spcPts val="1000"/>
              </a:spcAft>
              <a:buSzPct val="100000"/>
              <a:buChar char="•"/>
              <a:lnSpc>
                <a:spcPts val="2200"/>
              </a:lnSpc>
            </a:pPr>
            <a:r>
              <a:rPr sz="2000" b="0">
                <a:solidFill>
                  <a:srgbClr val="333333"/>
                </a:solidFill>
                <a:latin typeface="Calibri"/>
              </a:rPr>
              <a:t>This section asks which products and libraries implement that choice</a:t>
            </a:r>
          </a:p>
          <a:p>
            <a:pPr lvl="0" marL="457200" indent="-228600">
              <a:buFont typeface="Calibri"/>
              <a:spcAft>
                <a:spcPts val="1000"/>
              </a:spcAft>
              <a:buSzPct val="100000"/>
              <a:buChar char="•"/>
              <a:lnSpc>
                <a:spcPts val="2200"/>
              </a:lnSpc>
            </a:pPr>
            <a:r>
              <a:rPr sz="2000" b="0">
                <a:solidFill>
                  <a:srgbClr val="333333"/>
                </a:solidFill>
                <a:latin typeface="Calibri"/>
              </a:rPr>
              <a:t>Official API clients for structured feeds</a:t>
            </a:r>
          </a:p>
          <a:p>
            <a:pPr lvl="0" marL="457200" indent="-228600">
              <a:buFont typeface="Calibri"/>
              <a:spcAft>
                <a:spcPts val="1000"/>
              </a:spcAft>
              <a:buSzPct val="100000"/>
              <a:buChar char="•"/>
              <a:lnSpc>
                <a:spcPts val="2200"/>
              </a:lnSpc>
            </a:pPr>
            <a:r>
              <a:rPr sz="2000" b="0">
                <a:solidFill>
                  <a:srgbClr val="333333"/>
                </a:solidFill>
                <a:latin typeface="Calibri"/>
              </a:rPr>
              <a:t>Observation remains largely protocol- and people-driven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Survey platforms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Survey platforms automate instrument design, distribution</a:t>
            </a:r>
          </a:p>
          <a:p>
            <a:pPr lvl="0" marL="457200" indent="-228600">
              <a:buFont typeface="Calibri"/>
              <a:spcAft>
                <a:spcPts val="1000"/>
              </a:spcAft>
              <a:buSzPct val="100000"/>
              <a:buChar char="•"/>
              <a:lnSpc>
                <a:spcPts val="2200"/>
              </a:lnSpc>
            </a:pPr>
            <a:r>
              <a:rPr sz="2000" b="0">
                <a:solidFill>
                  <a:srgbClr val="333333"/>
                </a:solidFill>
                <a:latin typeface="Calibri"/>
              </a:rPr>
              <a:t>Lightweight tools suit quick internal polls</a:t>
            </a:r>
          </a:p>
          <a:p>
            <a:pPr lvl="0" marL="457200" indent="-228600">
              <a:buFont typeface="Calibri"/>
              <a:spcAft>
                <a:spcPts val="1000"/>
              </a:spcAft>
              <a:buSzPct val="100000"/>
              <a:buChar char="•"/>
              <a:lnSpc>
                <a:spcPts val="2200"/>
              </a:lnSpc>
            </a:pPr>
            <a:r>
              <a:rPr sz="2000" b="0">
                <a:solidFill>
                  <a:srgbClr val="333333"/>
                </a:solidFill>
                <a:latin typeface="Calibri"/>
              </a:rPr>
              <a:t>Strengths include low technical barriers, automatic tabular exports</a:t>
            </a:r>
          </a:p>
          <a:p>
            <a:pPr lvl="0" marL="457200" indent="-228600">
              <a:buFont typeface="Calibri"/>
              <a:spcAft>
                <a:spcPts val="1000"/>
              </a:spcAft>
              <a:buSzPct val="100000"/>
              <a:buChar char="•"/>
              <a:lnSpc>
                <a:spcPts val="2200"/>
              </a:lnSpc>
            </a:pPr>
            <a:r>
              <a:rPr sz="2000" b="0">
                <a:solidFill>
                  <a:srgbClr val="333333"/>
                </a:solidFill>
                <a:latin typeface="Calibri"/>
              </a:rPr>
              <a:t>Limits echo the method-level risks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2.16 — Choosing a form builder for the Wi-Fi survey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2.16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2.16 shows a tool choice after the campus Wi-Fi instrument from an earlier example</a:t>
            </a:r>
          </a:p>
          <a:p>
            <a:pPr lvl="0" marL="457200" indent="-228600">
              <a:buFont typeface="Calibri"/>
              <a:spcAft>
                <a:spcPts val="1000"/>
              </a:spcAft>
              <a:buSzPct val="100000"/>
              <a:buChar char="•"/>
              <a:lnSpc>
                <a:spcPts val="2200"/>
              </a:lnSpc>
            </a:pPr>
            <a:r>
              <a:rPr sz="2000" b="0">
                <a:solidFill>
                  <a:srgbClr val="333333"/>
                </a:solidFill>
                <a:latin typeface="Calibri"/>
              </a:rPr>
              <a:t>Plus a comma-separated export into the same warehouse as ticket logs</a:t>
            </a:r>
          </a:p>
          <a:p>
            <a:pPr lvl="0" marL="457200" indent="-228600">
              <a:buFont typeface="Calibri"/>
              <a:spcAft>
                <a:spcPts val="1000"/>
              </a:spcAft>
              <a:buSzPct val="100000"/>
              <a:buChar char="•"/>
              <a:lnSpc>
                <a:spcPts val="2200"/>
              </a:lnSpc>
            </a:pPr>
            <a:r>
              <a:rPr sz="2000" b="0">
                <a:solidFill>
                  <a:srgbClr val="333333"/>
                </a:solidFill>
                <a:latin typeface="Calibri"/>
              </a:rPr>
              <a:t>A full-featured survey platform is chosen over a bare email form because branching and</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`modules/chapter2/example16/`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Web scraping stacks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Scraping stacks extract fields from HTML when no API is offered</a:t>
            </a:r>
          </a:p>
          <a:p>
            <a:pPr lvl="0" marL="457200" indent="-228600">
              <a:buFont typeface="Calibri"/>
              <a:spcAft>
                <a:spcPts val="1000"/>
              </a:spcAft>
              <a:buSzPct val="100000"/>
              <a:buChar char="•"/>
              <a:lnSpc>
                <a:spcPts val="2200"/>
              </a:lnSpc>
            </a:pPr>
            <a:r>
              <a:rPr sz="2000" b="0">
                <a:solidFill>
                  <a:srgbClr val="333333"/>
                </a:solidFill>
                <a:latin typeface="Calibri"/>
              </a:rPr>
              <a:t>Large crawl graphs may use a framework designed for scalable spiders</a:t>
            </a:r>
          </a:p>
          <a:p>
            <a:pPr lvl="0" marL="457200" indent="-228600">
              <a:buFont typeface="Calibri"/>
              <a:spcAft>
                <a:spcPts val="1000"/>
              </a:spcAft>
              <a:buSzPct val="100000"/>
              <a:buChar char="•"/>
              <a:lnSpc>
                <a:spcPts val="2200"/>
              </a:lnSpc>
            </a:pPr>
            <a:r>
              <a:rPr sz="2000" b="0">
                <a:solidFill>
                  <a:srgbClr val="333333"/>
                </a:solidFill>
                <a:latin typeface="Calibri"/>
              </a:rPr>
              <a:t>At scholarly scale</a:t>
            </a:r>
          </a:p>
          <a:p>
            <a:pPr lvl="0" marL="457200" indent="-228600">
              <a:buFont typeface="Calibri"/>
              <a:spcAft>
                <a:spcPts val="1000"/>
              </a:spcAft>
              <a:buSzPct val="100000"/>
              <a:buChar char="•"/>
              <a:lnSpc>
                <a:spcPts val="2200"/>
              </a:lnSpc>
            </a:pPr>
            <a:r>
              <a:rPr sz="2000" b="0">
                <a:solidFill>
                  <a:srgbClr val="333333"/>
                </a:solidFill>
                <a:latin typeface="Calibri"/>
              </a:rPr>
              <a:t>Method-level trade-offs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2.17 — Static parser vs browser driver for catalog pages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2.17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2.17 pairs a library choice with the course-catalog harvest from an earlier</a:t>
            </a:r>
          </a:p>
          <a:p>
            <a:pPr lvl="0" marL="457200" indent="-228600">
              <a:buFont typeface="Calibri"/>
              <a:spcAft>
                <a:spcPts val="1000"/>
              </a:spcAft>
              <a:buSzPct val="100000"/>
              <a:buChar char="•"/>
              <a:lnSpc>
                <a:spcPts val="2200"/>
              </a:lnSpc>
            </a:pPr>
            <a:r>
              <a:rPr sz="2000" b="0">
                <a:solidFill>
                  <a:srgbClr val="333333"/>
                </a:solidFill>
                <a:latin typeface="Calibri"/>
              </a:rPr>
              <a:t>If course titles appear in the initial HTML, a static parser is enough and cheaper to run</a:t>
            </a:r>
          </a:p>
          <a:p>
            <a:pPr lvl="0" marL="457200" indent="-228600">
              <a:buFont typeface="Calibri"/>
              <a:spcAft>
                <a:spcPts val="1000"/>
              </a:spcAft>
              <a:buSzPct val="100000"/>
              <a:buChar char="•"/>
              <a:lnSpc>
                <a:spcPts val="2200"/>
              </a:lnSpc>
            </a:pPr>
            <a:r>
              <a:rPr sz="2000" b="0">
                <a:solidFill>
                  <a:srgbClr val="333333"/>
                </a:solidFill>
                <a:latin typeface="Calibri"/>
              </a:rPr>
              <a:t>If titles load only after clicking a term filter</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`modules/chapter2/example17/`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API clients and schedulers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API tools are the clients, keys, and schedulers that call endpoints introduced earlier</a:t>
            </a:r>
          </a:p>
          <a:p>
            <a:pPr lvl="0" marL="457200" indent="-228600">
              <a:buFont typeface="Calibri"/>
              <a:spcAft>
                <a:spcPts val="1000"/>
              </a:spcAft>
              <a:buSzPct val="100000"/>
              <a:buChar char="•"/>
              <a:lnSpc>
                <a:spcPts val="2200"/>
              </a:lnSpc>
            </a:pPr>
            <a:r>
              <a:rPr sz="2000" b="0">
                <a:solidFill>
                  <a:srgbClr val="333333"/>
                </a:solidFill>
                <a:latin typeface="Calibri"/>
              </a:rPr>
              <a:t>Relative to scraping stacks, they usually offer clearer contracts</a:t>
            </a:r>
          </a:p>
          <a:p>
            <a:pPr lvl="0" marL="457200" indent="-228600">
              <a:buFont typeface="Calibri"/>
              <a:spcAft>
                <a:spcPts val="1000"/>
              </a:spcAft>
              <a:buSzPct val="100000"/>
              <a:buChar char="•"/>
              <a:lnSpc>
                <a:spcPts val="2200"/>
              </a:lnSpc>
            </a:pPr>
            <a:r>
              <a:rPr sz="2000" b="0">
                <a:solidFill>
                  <a:srgbClr val="333333"/>
                </a:solidFill>
                <a:latin typeface="Calibri"/>
              </a:rPr>
              <a:t>Operational polling loops must survive daily quotas</a:t>
            </a:r>
          </a:p>
          <a:p>
            <a:pPr lvl="0" marL="457200" indent="-228600">
              <a:buFont typeface="Calibri"/>
              <a:spcAft>
                <a:spcPts val="1000"/>
              </a:spcAft>
              <a:buSzPct val="100000"/>
              <a:buChar char="•"/>
              <a:lnSpc>
                <a:spcPts val="2200"/>
              </a:lnSpc>
            </a:pPr>
            <a:r>
              <a:rPr sz="2000" b="0">
                <a:solidFill>
                  <a:srgbClr val="333333"/>
                </a:solidFill>
                <a:latin typeface="Calibri"/>
              </a:rPr>
              <a:t>Survey platforms, scrapers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Choose tools after methods and instruments are defined</a:t>
            </a:r>
          </a:p>
          <a:p>
            <a:pPr lvl="0" marL="457200" indent="-228600">
              <a:buFont typeface="Calibri"/>
              <a:spcAft>
                <a:spcPts val="1000"/>
              </a:spcAft>
              <a:buSzPct val="100000"/>
              <a:buChar char="•"/>
              <a:lnSpc>
                <a:spcPts val="2200"/>
              </a:lnSpc>
            </a:pPr>
            <a:r>
              <a:rPr sz="2000" b="0">
                <a:solidFill>
                  <a:srgbClr val="333333"/>
                </a:solidFill>
                <a:latin typeface="Calibri"/>
              </a:rPr>
              <a:t>Survey platforms encode branching and export workflows</a:t>
            </a:r>
          </a:p>
          <a:p>
            <a:pPr lvl="0" marL="457200" indent="-228600">
              <a:buFont typeface="Calibri"/>
              <a:spcAft>
                <a:spcPts val="1000"/>
              </a:spcAft>
              <a:buSzPct val="100000"/>
              <a:buChar char="•"/>
              <a:lnSpc>
                <a:spcPts val="2200"/>
              </a:lnSpc>
            </a:pPr>
            <a:r>
              <a:rPr sz="2000" b="0">
                <a:solidFill>
                  <a:srgbClr val="333333"/>
                </a:solidFill>
                <a:latin typeface="Calibri"/>
              </a:rPr>
              <a:t>Even with good tools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How design questions reappear across domains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Name recurring collection-time quality, bias</a:t>
            </a:r>
          </a:p>
          <a:p>
            <a:pPr lvl="0" marL="457200" indent="-228600">
              <a:buFont typeface="Calibri"/>
              <a:spcAft>
                <a:spcPts val="1000"/>
              </a:spcAft>
              <a:buSzPct val="100000"/>
              <a:buChar char="•"/>
              <a:lnSpc>
                <a:spcPts val="2200"/>
              </a:lnSpc>
            </a:pPr>
            <a:r>
              <a:rPr sz="2000" b="0">
                <a:solidFill>
                  <a:srgbClr val="333333"/>
                </a:solidFill>
                <a:latin typeface="Calibri"/>
              </a:rPr>
              <a:t>Integration failures, describe design-level countermeasures</a:t>
            </a:r>
          </a:p>
          <a:p>
            <a:pPr lvl="0" marL="457200" indent="-228600">
              <a:buFont typeface="Calibri"/>
              <a:spcAft>
                <a:spcPts val="1000"/>
              </a:spcAft>
              <a:buSzPct val="100000"/>
              <a:buChar char="•"/>
              <a:lnSpc>
                <a:spcPts val="2200"/>
              </a:lnSpc>
            </a:pPr>
            <a:r>
              <a:rPr sz="2000" b="0">
                <a:solidFill>
                  <a:srgbClr val="333333"/>
                </a:solidFill>
                <a:latin typeface="Calibri"/>
              </a:rPr>
              <a:t>Recognize how sources, methods, samples</a:t>
            </a:r>
          </a:p>
          <a:p>
            <a:pPr lvl="0" marL="457200" indent="-228600">
              <a:buFont typeface="Calibri"/>
              <a:spcAft>
                <a:spcPts val="1000"/>
              </a:spcAft>
              <a:buSzPct val="100000"/>
              <a:buChar char="•"/>
              <a:lnSpc>
                <a:spcPts val="2200"/>
              </a:lnSpc>
            </a:pPr>
            <a:r>
              <a:rPr sz="2000" b="0">
                <a:solidFill>
                  <a:srgbClr val="333333"/>
                </a:solidFill>
                <a:latin typeface="Calibri"/>
              </a:rPr>
              <a:t>Tools combine in short domain case studies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Prevention at collection time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Even well-chosen methods and tools fail when quality</a:t>
            </a:r>
          </a:p>
          <a:p>
            <a:pPr lvl="0" marL="457200" indent="-228600">
              <a:buFont typeface="Calibri"/>
              <a:spcAft>
                <a:spcPts val="1000"/>
              </a:spcAft>
              <a:buSzPct val="100000"/>
              <a:buChar char="•"/>
              <a:lnSpc>
                <a:spcPts val="2200"/>
              </a:lnSpc>
            </a:pPr>
            <a:r>
              <a:rPr sz="2000" b="0">
                <a:solidFill>
                  <a:srgbClr val="333333"/>
                </a:solidFill>
                <a:latin typeface="Calibri"/>
              </a:rPr>
              <a:t>This section stays at the prevention layer</a:t>
            </a:r>
          </a:p>
          <a:p>
            <a:pPr lvl="0" marL="457200" indent="-228600">
              <a:buFont typeface="Calibri"/>
              <a:spcAft>
                <a:spcPts val="1000"/>
              </a:spcAft>
              <a:buSzPct val="100000"/>
              <a:buChar char="•"/>
              <a:lnSpc>
                <a:spcPts val="2200"/>
              </a:lnSpc>
            </a:pPr>
            <a:r>
              <a:rPr sz="2000" b="0">
                <a:solidFill>
                  <a:srgbClr val="333333"/>
                </a:solidFill>
                <a:latin typeface="Calibri"/>
              </a:rPr>
              <a:t>Remediation belongs to later chapters on data quality and bias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Data quality issues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Collection is the first place quality defects appear</a:t>
            </a:r>
          </a:p>
          <a:p>
            <a:pPr lvl="0" marL="457200" indent="-228600">
              <a:buFont typeface="Calibri"/>
              <a:spcAft>
                <a:spcPts val="1000"/>
              </a:spcAft>
              <a:buSzPct val="100000"/>
              <a:buChar char="•"/>
              <a:lnSpc>
                <a:spcPts val="2200"/>
              </a:lnSpc>
            </a:pPr>
            <a:r>
              <a:rPr sz="2000" b="0">
                <a:solidFill>
                  <a:srgbClr val="333333"/>
                </a:solidFill>
                <a:latin typeface="Calibri"/>
              </a:rPr>
              <a:t>Automated sensors add dropouts and calibration drift</a:t>
            </a:r>
          </a:p>
          <a:p>
            <a:pPr lvl="0" marL="457200" indent="-228600">
              <a:buFont typeface="Calibri"/>
              <a:spcAft>
                <a:spcPts val="1000"/>
              </a:spcAft>
              <a:buSzPct val="100000"/>
              <a:buChar char="•"/>
              <a:lnSpc>
                <a:spcPts val="2200"/>
              </a:lnSpc>
            </a:pPr>
            <a:r>
              <a:rPr sz="2000" b="0">
                <a:solidFill>
                  <a:srgbClr val="333333"/>
                </a:solidFill>
                <a:latin typeface="Calibri"/>
              </a:rPr>
              <a:t>Prevention begins at the instrument</a:t>
            </a:r>
          </a:p>
          <a:p>
            <a:pPr lvl="0" marL="457200" indent="-228600">
              <a:buFont typeface="Calibri"/>
              <a:spcAft>
                <a:spcPts val="1000"/>
              </a:spcAft>
              <a:buSzPct val="100000"/>
              <a:buChar char="•"/>
              <a:lnSpc>
                <a:spcPts val="2200"/>
              </a:lnSpc>
            </a:pPr>
            <a:r>
              <a:rPr sz="2000" b="0">
                <a:solidFill>
                  <a:srgbClr val="333333"/>
                </a:solidFill>
                <a:latin typeface="Calibri"/>
              </a:rPr>
              <a:t>After collection, imputation cannot invent information that was never measured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2.19 — Missing fields in a clinic intake table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2.19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2.19 shows how a collection-protocol gap produces a completeness failure</a:t>
            </a:r>
          </a:p>
          <a:p>
            <a:pPr lvl="0" marL="457200" indent="-228600">
              <a:buFont typeface="Calibri"/>
              <a:spcAft>
                <a:spcPts val="1000"/>
              </a:spcAft>
              <a:buSzPct val="100000"/>
              <a:buChar char="•"/>
              <a:lnSpc>
                <a:spcPts val="2200"/>
              </a:lnSpc>
            </a:pPr>
            <a:r>
              <a:rPr sz="2000" b="0">
                <a:solidFill>
                  <a:srgbClr val="333333"/>
                </a:solidFill>
                <a:latin typeface="Calibri"/>
              </a:rPr>
              <a:t>A clinic intake table arrives with blank diagnosis codes for evening arrivals because the</a:t>
            </a:r>
          </a:p>
          <a:p>
            <a:pPr lvl="0" marL="457200" indent="-228600">
              <a:buFont typeface="Calibri"/>
              <a:spcAft>
                <a:spcPts val="1000"/>
              </a:spcAft>
              <a:buSzPct val="100000"/>
              <a:buChar char="•"/>
              <a:lnSpc>
                <a:spcPts val="2200"/>
              </a:lnSpc>
            </a:pPr>
            <a:r>
              <a:rPr sz="2000" b="0">
                <a:solidFill>
                  <a:srgbClr val="333333"/>
                </a:solidFill>
                <a:latin typeface="Calibri"/>
              </a:rPr>
              <a:t>Without a documented catch-up process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`modules/chapter2/example19/`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Dealing with bias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Bias enters when some people or events are systematically more likely to be observed than</a:t>
            </a:r>
          </a:p>
          <a:p>
            <a:pPr lvl="0" marL="457200" indent="-228600">
              <a:buFont typeface="Calibri"/>
              <a:spcAft>
                <a:spcPts val="1000"/>
              </a:spcAft>
              <a:buSzPct val="100000"/>
              <a:buChar char="•"/>
              <a:lnSpc>
                <a:spcPts val="2200"/>
              </a:lnSpc>
            </a:pPr>
            <a:r>
              <a:rPr sz="2000" b="0">
                <a:solidFill>
                  <a:srgbClr val="333333"/>
                </a:solidFill>
                <a:latin typeface="Calibri"/>
              </a:rPr>
              <a:t>Measurement bias when instruments are poorly calibrated</a:t>
            </a:r>
          </a:p>
          <a:p>
            <a:pPr lvl="0" marL="457200" indent="-228600">
              <a:buFont typeface="Calibri"/>
              <a:spcAft>
                <a:spcPts val="1000"/>
              </a:spcAft>
              <a:buSzPct val="100000"/>
              <a:buChar char="•"/>
              <a:lnSpc>
                <a:spcPts val="2200"/>
              </a:lnSpc>
            </a:pPr>
            <a:r>
              <a:rPr sz="2000" b="0">
                <a:solidFill>
                  <a:srgbClr val="333333"/>
                </a:solidFill>
                <a:latin typeface="Calibri"/>
              </a:rPr>
              <a:t>Countermeasures are design-level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Scalability and integration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As campaigns grow, volume and heterogeneity dominate</a:t>
            </a:r>
          </a:p>
          <a:p>
            <a:pPr lvl="0" marL="457200" indent="-228600">
              <a:buFont typeface="Calibri"/>
              <a:spcAft>
                <a:spcPts val="1000"/>
              </a:spcAft>
              <a:buSzPct val="100000"/>
              <a:buChar char="•"/>
              <a:lnSpc>
                <a:spcPts val="2200"/>
              </a:lnSpc>
            </a:pPr>
            <a:r>
              <a:rPr sz="2000" b="0">
                <a:solidFill>
                  <a:srgbClr val="333333"/>
                </a:solidFill>
                <a:latin typeface="Calibri"/>
              </a:rPr>
              <a:t>IoT and social streams produce continuous arrivals that overwhelm single-server workflows</a:t>
            </a:r>
          </a:p>
          <a:p>
            <a:pPr lvl="0" marL="457200" indent="-228600">
              <a:buFont typeface="Calibri"/>
              <a:spcAft>
                <a:spcPts val="1000"/>
              </a:spcAft>
              <a:buSzPct val="100000"/>
              <a:buChar char="•"/>
              <a:lnSpc>
                <a:spcPts val="2200"/>
              </a:lnSpc>
            </a:pPr>
            <a:r>
              <a:rPr sz="2000" b="0">
                <a:solidFill>
                  <a:srgbClr val="333333"/>
                </a:solidFill>
                <a:latin typeface="Calibri"/>
              </a:rPr>
              <a:t>At collection time the design responses are modest but decisive</a:t>
            </a:r>
          </a:p>
          <a:p>
            <a:pPr lvl="0" marL="457200" indent="-228600">
              <a:buFont typeface="Calibri"/>
              <a:spcAft>
                <a:spcPts val="1000"/>
              </a:spcAft>
              <a:buSzPct val="100000"/>
              <a:buChar char="•"/>
              <a:lnSpc>
                <a:spcPts val="2200"/>
              </a:lnSpc>
            </a:pPr>
            <a:r>
              <a:rPr sz="2000" b="0">
                <a:solidFill>
                  <a:srgbClr val="333333"/>
                </a:solidFill>
                <a:latin typeface="Calibri"/>
              </a:rPr>
              <a:t>Without a shared station identifier and clock policy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Case study — social media analytics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Social platforms emit continuous public text that teams often want for sentiment tracking</a:t>
            </a:r>
          </a:p>
          <a:p>
            <a:pPr lvl="0" marL="457200" indent="-228600">
              <a:buFont typeface="Calibri"/>
              <a:spcAft>
                <a:spcPts val="1000"/>
              </a:spcAft>
              <a:buSzPct val="100000"/>
              <a:buChar char="•"/>
              <a:lnSpc>
                <a:spcPts val="2200"/>
              </a:lnSpc>
            </a:pPr>
            <a:r>
              <a:rPr sz="2000" b="0">
                <a:solidFill>
                  <a:srgbClr val="333333"/>
                </a:solidFill>
                <a:latin typeface="Calibri"/>
              </a:rPr>
              <a:t>Automated polling tools</a:t>
            </a:r>
          </a:p>
          <a:p>
            <a:pPr lvl="0" marL="457200" indent="-228600">
              <a:buFont typeface="Calibri"/>
              <a:spcAft>
                <a:spcPts val="1000"/>
              </a:spcAft>
              <a:buSzPct val="100000"/>
              <a:buChar char="•"/>
              <a:lnSpc>
                <a:spcPts val="2200"/>
              </a:lnSpc>
            </a:pPr>
            <a:r>
              <a:rPr sz="2000" b="0">
                <a:solidFill>
                  <a:srgbClr val="333333"/>
                </a:solidFill>
                <a:latin typeface="Calibri"/>
              </a:rPr>
              <a:t>Sampling is often convenience or keyword-gated rather than a probability draw</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2.22 — Election-week sentiment collection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2.22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2.22 sketches the capture job for a campaign context</a:t>
            </a:r>
          </a:p>
          <a:p>
            <a:pPr lvl="0" marL="457200" indent="-228600">
              <a:buFont typeface="Calibri"/>
              <a:spcAft>
                <a:spcPts val="1000"/>
              </a:spcAft>
              <a:buSzPct val="100000"/>
              <a:buChar char="•"/>
              <a:lnSpc>
                <a:spcPts val="2200"/>
              </a:lnSpc>
            </a:pPr>
            <a:r>
              <a:rPr sz="2000" b="0">
                <a:solidFill>
                  <a:srgbClr val="333333"/>
                </a:solidFill>
                <a:latin typeface="Calibri"/>
              </a:rPr>
              <a:t>Engagement counts, and applies bot filters before any hourly aggregate is shown to leaders</a:t>
            </a:r>
          </a:p>
          <a:p>
            <a:pPr lvl="0" marL="457200" indent="-228600">
              <a:buFont typeface="Calibri"/>
              <a:spcAft>
                <a:spcPts val="1000"/>
              </a:spcAft>
              <a:buSzPct val="100000"/>
              <a:buChar char="•"/>
              <a:lnSpc>
                <a:spcPts val="2200"/>
              </a:lnSpc>
            </a:pPr>
            <a:r>
              <a:rPr sz="2000" b="0">
                <a:solidFill>
                  <a:srgbClr val="333333"/>
                </a:solidFill>
                <a:latin typeface="Calibri"/>
              </a:rPr>
              <a:t>Retention is capped at the campaign window</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`modules/chapter2/example22/`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Case studies — climate and healthcare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Climate and environmental programs combine ground sensors, satellite products</a:t>
            </a:r>
          </a:p>
          <a:p>
            <a:pPr lvl="0" marL="457200" indent="-228600">
              <a:buFont typeface="Calibri"/>
              <a:spcAft>
                <a:spcPts val="1000"/>
              </a:spcAft>
              <a:buSzPct val="100000"/>
              <a:buChar char="•"/>
              <a:lnSpc>
                <a:spcPts val="2200"/>
              </a:lnSpc>
            </a:pPr>
            <a:r>
              <a:rPr sz="2000" b="0">
                <a:solidFill>
                  <a:srgbClr val="333333"/>
                </a:solidFill>
                <a:latin typeface="Calibri"/>
              </a:rPr>
              <a:t>Calibration schedules before dashboards are promised</a:t>
            </a:r>
          </a:p>
          <a:p>
            <a:pPr lvl="0" marL="457200" indent="-228600">
              <a:buFont typeface="Calibri"/>
              <a:spcAft>
                <a:spcPts val="1000"/>
              </a:spcAft>
              <a:buSzPct val="100000"/>
              <a:buChar char="•"/>
              <a:lnSpc>
                <a:spcPts val="2200"/>
              </a:lnSpc>
            </a:pPr>
            <a:r>
              <a:rPr sz="2000" b="0">
                <a:solidFill>
                  <a:srgbClr val="333333"/>
                </a:solidFill>
                <a:latin typeface="Calibri"/>
              </a:rPr>
              <a:t>Healthcare collection spans wearables, remote monitoring devices</a:t>
            </a:r>
          </a:p>
          <a:p>
            <a:pPr lvl="0" marL="457200" indent="-228600">
              <a:buFont typeface="Calibri"/>
              <a:spcAft>
                <a:spcPts val="1000"/>
              </a:spcAft>
              <a:buSzPct val="100000"/>
              <a:buChar char="•"/>
              <a:lnSpc>
                <a:spcPts val="2200"/>
              </a:lnSpc>
            </a:pPr>
            <a:r>
              <a:rPr sz="2000" b="0">
                <a:solidFill>
                  <a:srgbClr val="333333"/>
                </a:solidFill>
                <a:latin typeface="Calibri"/>
              </a:rPr>
              <a:t>Standardized identifiers are engineered alongside the sensors</a:t>
            </a:r>
          </a:p>
          <a:p>
            <a:pPr lvl="0" marL="457200" indent="-228600">
              <a:buFont typeface="Calibri"/>
              <a:spcAft>
                <a:spcPts val="1000"/>
              </a:spcAft>
              <a:buSzPct val="100000"/>
              <a:buChar char="•"/>
              <a:lnSpc>
                <a:spcPts val="2200"/>
              </a:lnSpc>
            </a:pPr>
            <a:r>
              <a:rPr sz="2000" b="0">
                <a:solidFill>
                  <a:srgbClr val="333333"/>
                </a:solidFill>
                <a:latin typeface="Calibri"/>
              </a:rPr>
              <a:t>Together, these cases return to the chapter's central lesson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Stop defects at the instrument and protocol, not only in cleaning pipelines</a:t>
            </a:r>
          </a:p>
          <a:p>
            <a:pPr lvl="0" marL="457200" indent="-228600">
              <a:buFont typeface="Calibri"/>
              <a:spcAft>
                <a:spcPts val="1000"/>
              </a:spcAft>
              <a:buSzPct val="100000"/>
              <a:buChar char="•"/>
              <a:lnSpc>
                <a:spcPts val="2200"/>
              </a:lnSpc>
            </a:pPr>
            <a:r>
              <a:rPr sz="2000" b="0">
                <a:solidFill>
                  <a:srgbClr val="333333"/>
                </a:solidFill>
                <a:latin typeface="Calibri"/>
              </a:rPr>
              <a:t>Document channel exclusions and integration keys before volume peaks</a:t>
            </a:r>
          </a:p>
          <a:p>
            <a:pPr lvl="0" marL="457200" indent="-228600">
              <a:buFont typeface="Calibri"/>
              <a:spcAft>
                <a:spcPts val="1000"/>
              </a:spcAft>
              <a:buSzPct val="100000"/>
              <a:buChar char="•"/>
              <a:lnSpc>
                <a:spcPts val="2200"/>
              </a:lnSpc>
            </a:pPr>
            <a:r>
              <a:rPr sz="2000" b="0">
                <a:solidFill>
                  <a:srgbClr val="333333"/>
                </a:solidFill>
                <a:latin typeface="Calibri"/>
              </a:rPr>
              <a:t>Domain case studies show the same design questions in social, climate</a:t>
            </a:r>
          </a:p>
          <a:p>
            <a:pPr lvl="0" marL="457200" indent="-228600">
              <a:buFont typeface="Calibri"/>
              <a:spcAft>
                <a:spcPts val="1000"/>
              </a:spcAft>
              <a:buSzPct val="100000"/>
              <a:buChar char="•"/>
              <a:lnSpc>
                <a:spcPts val="2200"/>
              </a:lnSpc>
            </a:pPr>
            <a:r>
              <a:rPr sz="2000" b="0">
                <a:solidFill>
                  <a:srgbClr val="333333"/>
                </a:solidFill>
                <a:latin typeface="Calibri"/>
              </a:rPr>
              <a:t>Those choices determine whether later chapters inherit a trustworthy dataset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Complete the quiz to finish Chapter 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Fundamentals of Data Collection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