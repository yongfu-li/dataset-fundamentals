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asked how records enter a dataset. This chapter asks what obligations attach once those records concern people. This opening part defines ethics and privacy, shows how they reinforce each other, and frames ethical data work as a lifecycle-wide coordination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ethics from privacy, name stakeholders affected across the dataset lifecycle, and explain why compliance alone does not guarantee ethical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Data-driven systems shape decisions in healthcare, finance, marketing, and government. As collection and use scale, teams face a duty to handle personal information transparently, fairly, and accountably. Misuse can enable identity theft, fraud, discrimination, and loss of autonomy—even without a headline breach, opaque practices erode trust.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data work, ethics refers to principles that guide how data are collected, used, shared, and governed—fairness, transparency, accountability, and non-maleficence. Privacy denotes individuals' rights to control personal data: to consent, to know what is collected and why, and often to access, correct, or delete records. Ethics asks whether a use should proceed; privacy constrains how permitted uses are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Ethics focuses on who is harmed or helped and whether uses are fair and accountable. Privacy focuses on meaningful consent and individual control. A team can be legally compliant yet ethically weak if uses are opaque or discriminatory; a privacy notice alone does not make a pipeline ethical if foreseeable harms are ignored.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Ethics binds every stage—not only model release but collection, annotation, cleaning, exploration, and documentation. Stakeholders include practitioners, leaders, policymakers, and centrally data subjects whose records are at stake. No single role owns the full obligation.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 compresses those roles into one product decision. Product wants finer activity tracking; legal wants clearer consent; executives want partner sharing; users want control over heart-rate history. Ethical design must negotiate utility, consent, and minimization together. Open the example 1 module for this chapter to review the stakeholder map.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three points. Ethics and privacy are distinct but mutually reinforcing. Obligations span the full dataset lifecycle, not only deployment. Ethical data work is coordinated across roles—utility, consent, and revenue pressure collide in ordinary feature decisions.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core ethical principles—five operational tests you can apply during design.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name the five core principles, state what each demands in practice, and recognize them as design constraints—not post-deployment patches.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Non-maleficence asks teams to prevent privacy breaches, discrimination, and exploitative uses. Fairness requires avoiding systematic disadvantage and monitoring disparities. Transparency means disclosing collection purposes and, where feasible, how consequential decisions are made. Accountability assigns responsibility, monitoring, and remediation. Respect for autonomy centers informed consent and ongoing control.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 harm requires anticipating harms from collection, processing, and analysis—including discriminatory model errors. Example 3.2 shows a healthcare model trained on data that underrepresents a demographic group, yielding less accurate predictions and misdiagnosis risk for that group. Upholding non-maleficence means auditing subgroup performance and adding safeguards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 is the clinical pattern: skewed training data becomes skewed care. Open the example 2 module for this chapter to walk through the harm pathway. The ethical demand is not surprise after launch but subgroup audits during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requires that practices and models not systematically disadvantage particular groups. Example 3.3 shows a hiring ranker trained on past hires that favored one demographic in technical roles—the model can reproduce that pattern for new applicants. Treat disparity risk as a design constraint, not a post-deployment discovery.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 restates the hiring pattern: historical imbalance encodes into automated ranking. Chapter 7 develops metrics and mitigation; here the ethics lesson is to flag the risk before candidates are scored. Try the example 3 module to see how proxy features can reintroduce protected attributes.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builds trust by clarifying what is collected, why, and how automated decisions are produced. Accountability assigns someone who can explain outcomes, respond to incidents, and remediate harm. Example 3.4 applies transparency to credit scoring: declined applicants deserve understandable factors and a path to challenge errors.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 for autonomy centers informed consent and ongoing control. Example 3.6 shows a health-tracking app that obtains explicit consent, states purposes plainly, and lets users revoke consent or delete history. Autonomy fails when consent is buried in unrelated terms or withdrawal is practically impossible.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3.6 pairs consent user experience with sensitive streams such as activity and heart rate. Open the example 6 module for this chapter to compare strong and weak consent patterns. Section 3.3 later turns autonomy into privacy-management practice.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Principles are operational tests for design choices. Non-maleficence and fairness catch harm before deployment. Transparency and accountability make systems answerable. Autonomy requires meaningful consent and control—not checkbox compliance alone.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utility trade-offs, ethical dilemmas when principles conflict, and consequences of neglecting ethics.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the utility–privacy tension, describe two ethical dilemma patterns, and list consequences of ignoring ethics for people and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Personalized care, safer transport, or better public services can justify collection—yet the same pipelines can enable surveillance, exclusion, or secondary uses subjects never expected. Teams assess benefits and residual risks, prefer less identifying representations when analysis still works, and treat statutes as floors rather than ceilings. The ethical task is deciding whether proposed utility warrants the privacy burden at all.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3.7 states the trade-off in prediction settings. Models that score health risk or creditworthiness can improve service allocation, but underlying histories are sensitive. Without minimization, access control, and purpose limits, the same features that raise utility become levers for harm. Open the example 7 module for this chapter to review the tension checklist.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Dilemmas arise when principles conflict or no option is clearly harm-free. Example 3.8 sketches criminal-justice risk scores: tools can appear useful for scheduling yet reproduce racial disparities in historical data—accuracy for the institution conflicts with fairness for affected communities. Example 3.9 returns to platform collection: fine-grained logging may enrich recommendations users never meaningfully agreed to share.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3.8 is the justice-system conflict previewed again in the bias section and Chapter 7. More data alone does not dissolve the conflict; teams must ask who bears residual risk and whether limits can be monitored after launch. Try the example 8 module to compare institutional metrics with community harm.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Ignoring ethics produces privacy violations, discrimination, eroded trust, and reinforced inequality. Example 3.10 shows personal exposure after unauthorized use or leakage—fraud, harassment, and lasting harm for individuals, plus trust loss across the wider user base.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3.10 connects ethical neglect to breach economics developed later in the chapter. Organizations also face fines, litigation, and reputational damage under regimes such as the GDPR. Ethical practice is both a moral and a sustainability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Utility and privacy trade off by design—not by accident. Dilemmas need structured decision procedures, not silent defaults. Neglecting ethics harms people first and balance sheets second.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data privacy principles—consent, anonymization, and Privacy by Design as management practice.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data privacy in pipeline terms, contrast three core privacy-management concepts, and read GDPR versus HIPAA as planning maps—not compliance manuals.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3.1 defined privacy as individuals' control over personal data. This section asks which agreements and defaults make that control enforceable. Personal data includes names and addresses but also behavioral logs, health and location streams, and biometrics. Ethics still decides whether a use should proceed; privacy principles constrain how permitted uses are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Informed consent requires freely given, specific, informed agreement—with a real withdrawal path. Anonymization reduces linkability for secondary use, but re-identification via auxiliary data remains a failure mode. Privacy by Design embeds protections into architecture from the start rather than bolting privacy on after launch.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Informed consent is the operational counterpart of respect for autonomy. Example 3.11 shows a clinic that wants to reuse treatment records for research: care consent must be separated from research consent, secondary uses explained plainly, and refusal must not affect treatment. Bundling research into a general intake form fails the standard.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3.11 is the clinical consent bar. Open the example 11 module for this chapter to compare bundled versus purpose-specific consent flows. Section 3.4 later develops technical controls when de-identification alone is insufficient.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by Design means minimization, protective defaults, and user controls before partner sharing is enabled. Example 3.12 shows a health app that should not demand financial fields just in case, should default to local retention where feasible, and should expose clear sharing and deletion controls before any partner sync.</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3.12 pairs with the autonomy vignette in Example 3.6 but focuses on architecture defaults. Try the example 12 module to review minimization and control patterns. Consent, de-identification, and design-time safeguards work together—none substitutes for the others.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GDPR governs personal data of people in the EU and EEA with extraterritorial reach for targeting or monitoring. It emphasizes lawfulness, purpose limitation, minimization, accountability, and data-subject rights. HIPAA concentrates parallel duties on protected health information held by US covered entities and business associates. Section 3.6 expands scope, rights, and penalties.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management is more than notices. Consent must be meaningful; anonymization is a goal, not a guarantee; Privacy by Design belongs in architecture. GDPR and HIPAA illustrate how principles become enforceable duties.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privacy-preserving techniques—anonymization, encryption, differential privacy, and federated learning.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place four techniques on a protection map, state the main caveat for each, and explain how they stack with consent and purpose limits.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Anonymization and de-identification reduce linkability in shared tables—but auxiliary data can support re-identification. Encryption protects confidentiality in transit and at rest, yet authorized users still see plaintext. Differential privacy limits how much any single record can change an aggregate release, typically by calibrated noise. Federated learning trains models where raw data stay on devices or silos; only updates move to an aggregator.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moves include masking direct identifiers, generalizing quasi-identifiers such as age bands, and coarsening rare combinations. Example 3.13 is the canonical warning: sparse location histories, even without names, can be joined to public records or social posts to recover identity. Stronger protection usually requires coarser aggregation, formal privacy noise, or keeping raw traces off shared servers.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3.13 shows why anonymization is a management goal, not a guarantee. Open the example 13 module for this chapter to review auxiliary-data join scenarios. Encryption complements anonymization but solves a different problem.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Encryption keeps intercepted packets unreadable—for example TLS during clinical record transfer. Once an authorized clinician decrypts the payload, misuse controls must come from access policy, audit logs, and minimization, not from encryption alone. Example 3.14 makes that limit explicit for medical messaging.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Differential privacy limits what an adversary learns about any individual from aggregate outputs. The standing trade-off is privacy budget versus accuracy: more noise strengthens privacy but can blunt utility. Example 3.15 shows product telemetry released under a differential-privacy mechanism so teams still see population patterns without singling out users.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3.15 depends on correct noise calibration and on not publishing too many overlapping queries against the same budget. Try the example 15 module for this chapter to see how budget exhaustion works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Federated learning reduces central pools of raw text or sensor data by training locally and sending only update summaries for aggregation. Example 3.16 shows on-device keyboard prediction: teams still need secure aggregation and monitoring so updates do not reconstruct sensitive phrases.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3.16 illustrates when raw centralization is unacceptable. Open the example 16 module to compare centralized training with federated updates. Techniques stack—none replaces consent and purpose limits from Section 3.3.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controls to match the threat: linkability, channel confidentiality, aggregate leakage, or raw centralization. Stack techniques where needed. Technical PETs implement privacy principles—they do not replace them.</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bias and fairness—how ethical principles connect to model outcomes.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bias in data work, distinguish selection from algorithmic bias, recognize two landmark case pointers, and list five mitigation habits at the ethics-chapter level.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means systematic deviations in collection, labeling, analysis, or modeling that yield unfair or inaccurate outcomes for some groups. Data are not neutral mirrors—they reflect institutions and power relations that already discriminate. Example 3.17 states the general risk: systems trained on biased data can disproportionately harm underrepresented or historically mistreated groups.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3.17 highlights domains where errors change life chances—hiring, criminal justice, and healthcare—not only click-through rates. Open the example 17 module for this chapter to map harm pathways. Fairness was already a design constraint in Section 3.2; here we connect it to data and models.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Selection bias arises when training data are not representative of the population that will be scored, so error concentrates on underrepresented groups. Collection design in Chapter 2 is often where skew begins. Example 3.18 shows a diagnostic model trained mainly on one demographic slice—performance degrades for groups scarce in training.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3.18 relates to the non-maleficence vignette in Example 3.2: the model never saw a representative sample of the patients it will score. Try the example 18 module to review representation gaps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Algorithmic bias arises from model design even when sampling looks balanced—features, objectives, and thresholds can still allocate error unevenly. Example 3.19 restates hiring rankers that reproduce gender or racial patterns via proxies even when protected attributes are omitted.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3.20 points to COMPAS recidivism tools: disparate error rates across racial groups under common thresholds, reflecting disparities already present in historical justice data. The ethics lesson matches Example 3.8—overall accuracy is not a fairness certificate. Chapter 7 develops detection and impact analysis for this case.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Addressing bias requires better data, explicit fairness criteria, and continuous monitoring—not a single algorithmic patch. At this chapter's level: improve representation at collection and labeling time; audit subgroup error before release; choose and document a fairness criterion; apply mitigation matched to the failure mode; and include diverse review of requirements and features.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work is continuous governance after the principles in Section 3.2—not a one-time training fix. Selection and algorithmic bias are frequent entry points. Landmark cases illustrate mechanisms; Chapter 7 supplies measurement once you choose which fairness claim to defend.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real-world privacy laws—GDPR, HIPAA, CCPA, and selected other regimes.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summarize scope and principle highlights for GDPR, HIPAA, and CCPA/CPRA, name data-subject or patient rights teams must honor, and recognize why global products need jurisdiction maps.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3.3 previewed GDPR and HIPAA at principle level; this section is the authoritative home for scope, rights, breach notification, and penalties. Details change with amendments—treat the text as a planning map for data teams.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GDPR governs processing of personal data of people in the EU and EEA and can reach organizations outside the Union that offer goods or services to, or monitor, those people. Core obligations include lawful basis for each purpose, purpose limitation, minimization, security appropriate to risk, and accountability with documented controls. Data-subject rights include access, rectification, erasure, restriction, portability, and objection.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HIPAA is a US federal framework for protected health information held by covered entities and their business associates. The Privacy Rule limits uses and disclosures; the Security Rule requires safeguards for electronic PHI; the Breach Notification Rule sets timelines after compromise. For data teams this means minimizing secondary uses, binding vendors with business associate agreements, and rehearsing notification workflows.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California Consumer Privacy Act, as amended by the CPRA, grants California residents rights to know what personal information is collected, to access and delete it with exceptions, to opt out of certain sale or sharing for advertising, and to non-discrimination for exercising rights. Relative to GDPR, CCPA and CPRA are more notice-and-choice oriented within a large consumer-technology market.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COPPA requires verifiable parental consent before collecting personal information from children under thirteen in the United States. Brazil's LGPD and China's PIPL echo GDPR-style themes while remaining distinct enforcement regimes. Global products need maps of which residents are in scope, where data may be stored, and which transfer mechanisms remain valid when adequacy decisions change.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3.28 illustrates regulatory exposure: supervisory authorities under the GDPR may impose administrative fines up to twenty million euros or four percent of worldwide annual turnover, whichever is higher, for serious infringements including inadequate security. Open the example 28 module for this chapter to place fines in context with breach cases later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Statutes encode rights catalogs and accountability regimes—not merely privacy policies. GDPR, HIPAA, and CCPA/CPRA overlap in themes but differ in scope and posture. Multistate and multinational operators often adopt the strictest baseline they face while tracking new state and regional statutes.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data breaches—definitions, causes, and three landmark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a data breach, name common causes, and distinguish three organizational failure modes illustrated by Equifax, Yahoo, and Target.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Causes range from external intrusion and phishing to insider misuse, unpatched software, weak credentials, lost devices, and excessive third-party access. Organizations storing identity, financial, or health attributes face elevated duty of care because stolen datasets enable fraud and long-lived harm. Statute-level notification clocks assume teams can detect and classify incidents quickly.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3.22 states the severity range: a breach might involve a small set of names and emails or a large theft of government identifiers, payment credentials, or health records. Impact scales with sensitivity, volume, dwell time before detection, and how quickly notification and remediation begin. Open the example 22 module for this chapter to review severity factors.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3.23 describes the 2017 Equifax incident: attackers exploited an unpatched web-application vulnerability and exposed personal data of roughly one hundred forty-seven million individuals. The failure mode is delayed patching and weak monitoring on high-value identity stores. Downstream costs appear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3.23 is the patching-discipline lesson. Try the example 23 module to trace how known vulnerabilities on internet-facing systems become mass identity exposure. Technical debt on high-sensitivity stores is an ethics issue, not only an IT backlog item.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3.24 covers Yahoo breaches affecting hundreds of millions of accounts, later revised toward three billion for the 2013 incident, with criticism focused on delayed public disclosure during acquisition negotiations. The failure mode is late accountability to users and markets after compromise at consumer scale.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3.25 describes attackers using third-party vendor access to reach point-of-sale systems and compromise tens of millions of payment cards. The failure mode is vendor risk and malware on retail networks—not exotic cryptography breaking, but supply-chain entry and insufficient segmentation.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Breach risk is organizational as much as cryptographic: patching discipline, vendor oversight, and disclosure timing decide outcomes after intrusion begins. Three patterns recur—unpatched systems, delayed disclosure, and vendor-mediated entry. Prevention controls mapped to each pattern come next.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breach consequences and prevention—financial fallout and controls tied to each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list major consequence categories for organizations and individuals, cite Equifax and Yahoo cost patterns, and match prevention controls to unpatched systems, delayed disclosure, and vendor entry.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losses include investigation, notification, credit monitoring, litigation, and lost business. Regulatory penalties can reach GDPR ceilings illustrated in Example 3.28. Reputational damage and operational downtime while systems are rebuilt extend harm beyond the initial incident.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3.26 attaches hundreds of millions of dollars in settlements, remediation, and related costs to the unpatched-system failure in Example 3.23. Delayed patching on high-value identity stores becomes a balance-sheet event—not a footnote in a security review. Open the example 26 module for this chapter to review cost categories.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3.27 discusses governance and cybersecurity oversight failures that coincided with a reduced sale price in the Verizon acquisition—breach handling can affect enterprise valuation and board accountability, not only consumer trust. Try the example 27 module to connect disclosure timing with deal outcomes.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Individuals whose identifiers leak may face identity theft and fraud for years, as previewed in Example 3.10. Organizations may suffer operational paralysis while forensic work continues. Prevention therefore protects people first and enterprise value second.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Timely patching and monitoring address unpatched internet-facing systems. Rehearsed detection, escalation, and disclosure address delayed accountability. Vendor risk reviews and least-privilege third-party access address supply-chain entry. Those case-specific controls sit alongside encryption, multi-factor authentication, phishing-resistant training, intrusion detection, and data minimization.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Equifax, Yahoo, and Target each failed at a different layer of the stack. Prevention should map to failure modes from Section 3.7, not only to a generic checklist. Chapter 1 already named encryption and access control as management practices; this section shows why they matter after incidents begin.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Breaches are balance-sheet and governance events—not only IT incidents. Map controls to known failure patterns. Minimization ensures stolen stores contain less that can be abused.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ethical decision-making—structured lenses for conflicts among principles.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utilitarian, rights-based, virtue, and justice reasoning, apply multiple lenses to one collection dilemma and one justice-system dilemma, and explain why stakeholder review belongs before locking thresholds or sharing defaults.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Utilitarian reasoning compares aggregate benefits and harms and favors the option with the best overall consequences—it formalizes the utility–privacy tension from Section 3.2. Rights-based reasoning holds that autonomy, privacy, and consent bind regardless of average benefit. Virtue ethics asks what an honest, fair, and careful practitioner would disclose and refuse. Justice reasoning inspects whether burdens fall disproportionately on already disadvantaged groups.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3.29 shows a team predicting population health outcomes that might justify broad secondary use of identifiable records for societal benefit—even when individuals did not consent to research reuse. A strict utilitarian framing can justify that trade-off whenever aggregate gains look large, which is why rights-based checks are needed in parallel. Open the example 29 module for this chapter to compare lenses on one scenario.</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Rights-based practice may implement stricter purpose limits and on-device processing even when advertising yield drops—duties rather than optional costs. Virtue ethics may require disclosing systematic label gaps rather than selling cleaner internal stories. Justice reasoning may delay hiring ranker launch until subgroup audits show disparities can be justified and mitigated.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3.33 applies all four lenses to marketing collection under a vague notice. Utilitarian views emphasize engagement gains; rights-based views require clearer purpose-specific consent; virtue ethics emphasizes transparent disclosure; justice views ask whether opaque collection disproportionately burdens users with less literacy or fewer alternatives. Try the example 33 module to document which lens prevailed and why.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3.34 returns to recidivism and hotspot conflicts from earlier in the chapter. A model may improve average institutional metrics while concentrating harm on already over-policed communities. Utilitarian public-safety arguments must be weighed against rights not to face discriminatory targeting, virtues of fairness in public institutions, and justice criteria that inspect subgroup harms—not citywide averages alone.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3.1 and Example 3.1 named practitioners, leaders, policymakers, and data subjects. Decision-making adds a process requirement: invite those roles plus legal partners and representatives of groups most likely harmed before locking collection purpose, model thresholds, or sharing defaults. Document who was consulted, which lens prevailed, and what monitoring continues after launch.</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lens dissolves every conflict—teams should apply several deliberately. Stakeholder review surfaces residual risks a single product owner may miss. Accountability requires a record of the choice, not only the shipped feature.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final part on emerging trends—AI surveillance, global regulation friction, and near-term privacy directions.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AI-scale privacy risks, name two global regulation friction patterns, and identify near-term directions including privacy-enhancing technologies and stronger individual control models.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Large-scale sensing and prediction create surveillance capacity that traditional notice-and-consent models struggle to govern. Example 3.35 focuses on facial analysis at city scale: commercial systems have shown large accuracy gaps across phenotype and gender subgroups, turning deployments into both privacy and discrimination risks when used for identification or screening.</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3.35 connects technical accuracy gaps to civil-liberties risk. Open the example 35 module for this chapter to review subgroup error in vision systems. Example 3.36 extends the pattern to leakage from sensitive predictive models in healthcare—outputs and embeddings can expose patients if releases are poorly de-identified.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debates continue over how far deployers must go beyond average accuracy, who is accountable when automated systems harm people, and how much human control must remain in high-stakes loops. Example 3.37 illustrates autonomous vehicle liability: responsibility maps to manufacturers, operators, and governance regimes—not to the model as a moral agent.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Cross-border products confront overlapping rules rather than a single global code. Example 3.38 shows a multinational needing GDPR posture for EU residents while honoring CCPA and CPRA rights for California residents—parallel notice, retention, and request-handling workflows. Localization mandates and transfer restrictions, as in Examples 3.39 and 3.40, can force regional infrastructure when a single global cloud would be simpler operationally.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3.38 is the operational cost of running multiple statutory programs in one product. Try the example 38 module to map jurisdiction-specific workflows. Schrems II and similar adequacy failures tighten expectations for cross-border transfers teams must anticipate in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practice will keep combining privacy-enhancing technologies from Section 3.4, clearer AI governance, stronger individual control models, and Privacy by Design defaults. Example 3.41 sketches self-sovereign identity proposals that let people hold and present credentials without a single intermediary owning the identity graph.</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3.41 aligns with stronger individual control over personal data. Open the example 41 module for this chapter to review credential models. The open question is adoption speed—not whether the building blocks exist.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moved from principles and privacy concepts through techniques, bias overview, laws, breaches, decision frameworks, and emerging tensions. Chapter 7 deepens bias measurement and mitigation. Chapter 4 turns to annotation—how labels are created and documented so the constraints chosen here remain enforceable in the datasets models actually train on.</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scale outpaces notice-only governance. Global products need jurisdiction maps and transfer plans. PETs and design defaults are mainstream—the adoption gap is organizational.</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You have completed the Chapter 3 learning path—return to the chapter landing page to download the full deck or browse module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Introduction to ethics and privacy</a:t>
            </a:r>
          </a:p>
          <a:p>
            <a:pPr algn="ctr">
              <a:lnSpc>
                <a:spcPts val="2200"/>
              </a:lnSpc>
              <a:spcBef>
                <a:spcPts val="1400"/>
              </a:spcBef>
            </a:pPr>
            <a:r>
              <a:rPr sz="2600" b="0">
                <a:solidFill>
                  <a:srgbClr val="333333"/>
                </a:solidFill>
                <a:latin typeface="Calibri"/>
              </a:rPr>
              <a:t>Chapter 2 asked how records enter a dataset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Distinguish ethics from privacy, name stakeholders affected across the dataset lifecycle</a:t>
            </a:r>
          </a:p>
          <a:p>
            <a:pPr>
              <a:spcAft>
                <a:spcPts val="1000"/>
              </a:spcAft>
              <a:buChar char="•"/>
              <a:lnSpc>
                <a:spcPts val="2200"/>
              </a:lnSpc>
            </a:pPr>
            <a:r>
              <a:rPr sz="2000" b="0">
                <a:solidFill>
                  <a:srgbClr val="333333"/>
                </a:solidFill>
                <a:latin typeface="Calibri"/>
              </a:rPr>
              <a:t>Explain why compliance alone does not guarantee ethical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ethics and privacy matter now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Data-driven systems shape decisions in healthcare, finance, marketing, and government</a:t>
            </a:r>
          </a:p>
          <a:p>
            <a:pPr>
              <a:spcAft>
                <a:spcPts val="1000"/>
              </a:spcAft>
              <a:buChar char="•"/>
              <a:lnSpc>
                <a:spcPts val="2200"/>
              </a:lnSpc>
            </a:pPr>
            <a:r>
              <a:rPr sz="2000" b="0">
                <a:solidFill>
                  <a:srgbClr val="333333"/>
                </a:solidFill>
                <a:latin typeface="Calibri"/>
              </a:rPr>
              <a:t>As collection and use scale</a:t>
            </a:r>
          </a:p>
          <a:p>
            <a:pPr>
              <a:spcAft>
                <a:spcPts val="1000"/>
              </a:spcAft>
              <a:buChar char="•"/>
              <a:lnSpc>
                <a:spcPts val="2200"/>
              </a:lnSpc>
            </a:pPr>
            <a:r>
              <a:rPr sz="2000" b="0">
                <a:solidFill>
                  <a:srgbClr val="333333"/>
                </a:solidFill>
                <a:latin typeface="Calibri"/>
              </a:rPr>
              <a:t>Misuse can enable identity theft, fraud, discrimination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Defining ethics and privacy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 data work, ethics refers to principles that guide how data are collected, used, shared</a:t>
            </a:r>
          </a:p>
          <a:p>
            <a:pPr>
              <a:spcAft>
                <a:spcPts val="1000"/>
              </a:spcAft>
              <a:buChar char="•"/>
              <a:lnSpc>
                <a:spcPts val="2200"/>
              </a:lnSpc>
            </a:pPr>
            <a:r>
              <a:rPr sz="2000" b="0">
                <a:solidFill>
                  <a:srgbClr val="333333"/>
                </a:solidFill>
                <a:latin typeface="Calibri"/>
              </a:rPr>
              <a:t>Privacy denotes individuals' rights to control personal data</a:t>
            </a:r>
          </a:p>
          <a:p>
            <a:pPr>
              <a:spcAft>
                <a:spcPts val="1000"/>
              </a:spcAft>
              <a:buChar char="•"/>
              <a:lnSpc>
                <a:spcPts val="2200"/>
              </a:lnSpc>
            </a:pPr>
            <a:r>
              <a:rPr sz="2000" b="0">
                <a:solidFill>
                  <a:srgbClr val="333333"/>
                </a:solidFill>
                <a:latin typeface="Calibri"/>
              </a:rPr>
              <a:t>Ethics asks whether a use should proceed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Ethics versus privacy at a glance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Ethics focuses on who is harmed or helped and whether uses are fair and accountable</a:t>
            </a:r>
          </a:p>
          <a:p>
            <a:pPr>
              <a:spcAft>
                <a:spcPts val="1000"/>
              </a:spcAft>
              <a:buChar char="•"/>
              <a:lnSpc>
                <a:spcPts val="2200"/>
              </a:lnSpc>
            </a:pPr>
            <a:r>
              <a:rPr sz="2000" b="0">
                <a:solidFill>
                  <a:srgbClr val="333333"/>
                </a:solidFill>
                <a:latin typeface="Calibri"/>
              </a:rPr>
              <a:t>Privacy focuses on meaningful consent and individual control</a:t>
            </a:r>
          </a:p>
          <a:p>
            <a:pPr>
              <a:spcAft>
                <a:spcPts val="1000"/>
              </a:spcAft>
              <a:buChar char="•"/>
              <a:lnSpc>
                <a:spcPts val="2200"/>
              </a:lnSpc>
            </a:pPr>
            <a:r>
              <a:rPr sz="2000" b="0">
                <a:solidFill>
                  <a:srgbClr val="333333"/>
                </a:solidFill>
                <a:latin typeface="Calibri"/>
              </a:rPr>
              <a:t>A team can be legally compliant yet ethically weak if uses are opaque or discriminatory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Lifecycle and stakeholders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Documentation</a:t>
            </a:r>
          </a:p>
          <a:p>
            <a:pPr>
              <a:spcAft>
                <a:spcPts val="1000"/>
              </a:spcAft>
              <a:buChar char="•"/>
              <a:lnSpc>
                <a:spcPts val="2200"/>
              </a:lnSpc>
            </a:pPr>
            <a:r>
              <a:rPr sz="2000" b="0">
                <a:solidFill>
                  <a:srgbClr val="333333"/>
                </a:solidFill>
                <a:latin typeface="Calibri"/>
              </a:rPr>
              <a:t>Stakeholders include practitioners, leaders, policymakers</a:t>
            </a:r>
          </a:p>
          <a:p>
            <a:pPr>
              <a:spcAft>
                <a:spcPts val="1000"/>
              </a:spcAft>
              <a:buChar char="•"/>
              <a:lnSpc>
                <a:spcPts val="2200"/>
              </a:lnSpc>
            </a:pPr>
            <a:r>
              <a:rPr sz="2000" b="0">
                <a:solidFill>
                  <a:srgbClr val="333333"/>
                </a:solidFill>
                <a:latin typeface="Calibri"/>
              </a:rPr>
              <a:t>No single role owns the full obligation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 — Stakeholders in a wellness app launch</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 — hands-on module</a:t>
            </a:r>
          </a:p>
          <a:p>
            <a:pPr>
              <a:spcAft>
                <a:spcPts val="1000"/>
              </a:spcAft>
              <a:buChar char="•"/>
              <a:lnSpc>
                <a:spcPts val="2200"/>
              </a:lnSpc>
            </a:pPr>
            <a:r>
              <a:rPr sz="2000" b="0">
                <a:solidFill>
                  <a:srgbClr val="333333"/>
                </a:solidFill>
                <a:latin typeface="Calibri"/>
              </a:rPr>
              <a:t>Example 3.1 compresses those roles into one product decision</a:t>
            </a:r>
          </a:p>
          <a:p>
            <a:pPr>
              <a:spcAft>
                <a:spcPts val="1000"/>
              </a:spcAft>
              <a:buChar char="•"/>
              <a:lnSpc>
                <a:spcPts val="2200"/>
              </a:lnSpc>
            </a:pPr>
            <a:r>
              <a:rPr sz="2000" b="0">
                <a:solidFill>
                  <a:srgbClr val="333333"/>
                </a:solidFill>
                <a:latin typeface="Calibri"/>
              </a:rPr>
              <a:t>Product wants finer activity tracking</a:t>
            </a:r>
          </a:p>
          <a:p>
            <a:pPr>
              <a:spcAft>
                <a:spcPts val="1000"/>
              </a:spcAft>
              <a:buChar char="•"/>
              <a:lnSpc>
                <a:spcPts val="2200"/>
              </a:lnSpc>
            </a:pPr>
            <a:r>
              <a:rPr sz="2000" b="0">
                <a:solidFill>
                  <a:srgbClr val="333333"/>
                </a:solidFill>
                <a:latin typeface="Calibri"/>
              </a:rPr>
              <a:t>Ethical design must negotiate utility, consent, and minimization together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Ethics and privacy are distinct but mutually reinforcing</a:t>
            </a:r>
          </a:p>
          <a:p>
            <a:pPr>
              <a:spcAft>
                <a:spcPts val="1000"/>
              </a:spcAft>
              <a:buChar char="•"/>
              <a:lnSpc>
                <a:spcPts val="2200"/>
              </a:lnSpc>
            </a:pPr>
            <a:r>
              <a:rPr sz="2000" b="0">
                <a:solidFill>
                  <a:srgbClr val="333333"/>
                </a:solidFill>
                <a:latin typeface="Calibri"/>
              </a:rPr>
              <a:t>Obligations span the full dataset lifecycle, not only deployment</a:t>
            </a:r>
          </a:p>
          <a:p>
            <a:pPr>
              <a:spcAft>
                <a:spcPts val="1000"/>
              </a:spcAft>
              <a:buChar char="•"/>
              <a:lnSpc>
                <a:spcPts val="2200"/>
              </a:lnSpc>
            </a:pPr>
            <a:r>
              <a:rPr sz="2000" b="0">
                <a:solidFill>
                  <a:srgbClr val="333333"/>
                </a:solidFill>
                <a:latin typeface="Calibri"/>
              </a:rPr>
              <a:t>Ethical data work is coordinated across roles, utility, consent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the next part on core ethical principles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Name the five core principles, state what each demands in practice</a:t>
            </a:r>
          </a:p>
          <a:p>
            <a:pPr>
              <a:spcAft>
                <a:spcPts val="1000"/>
              </a:spcAft>
              <a:buChar char="•"/>
              <a:lnSpc>
                <a:spcPts val="2200"/>
              </a:lnSpc>
            </a:pPr>
            <a:r>
              <a:rPr sz="2000" b="0">
                <a:solidFill>
                  <a:srgbClr val="333333"/>
                </a:solidFill>
                <a:latin typeface="Calibri"/>
              </a:rPr>
              <a:t>Recognize them as design constraints, not post-deployment patches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Five principles overview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Non-maleficence asks teams to prevent privacy breaches, discrimination</a:t>
            </a:r>
          </a:p>
          <a:p>
            <a:pPr>
              <a:spcAft>
                <a:spcPts val="1000"/>
              </a:spcAft>
              <a:buChar char="•"/>
              <a:lnSpc>
                <a:spcPts val="2200"/>
              </a:lnSpc>
            </a:pPr>
            <a:r>
              <a:rPr sz="2000" b="0">
                <a:solidFill>
                  <a:srgbClr val="333333"/>
                </a:solidFill>
                <a:latin typeface="Calibri"/>
              </a:rPr>
              <a:t>Fairness requires avoiding systematic disadvantage and monitoring disparities</a:t>
            </a:r>
          </a:p>
          <a:p>
            <a:pPr>
              <a:spcAft>
                <a:spcPts val="1000"/>
              </a:spcAft>
              <a:buChar char="•"/>
              <a:lnSpc>
                <a:spcPts val="2200"/>
              </a:lnSpc>
            </a:pPr>
            <a:r>
              <a:rPr sz="2000" b="0">
                <a:solidFill>
                  <a:srgbClr val="333333"/>
                </a:solidFill>
                <a:latin typeface="Calibri"/>
              </a:rPr>
              <a:t>Transparency means disclosing collection purposes and</a:t>
            </a:r>
          </a:p>
          <a:p>
            <a:pPr>
              <a:spcAft>
                <a:spcPts val="1000"/>
              </a:spcAft>
              <a:buChar char="•"/>
              <a:lnSpc>
                <a:spcPts val="2200"/>
              </a:lnSpc>
            </a:pPr>
            <a:r>
              <a:rPr sz="2000" b="0">
                <a:solidFill>
                  <a:srgbClr val="333333"/>
                </a:solidFill>
                <a:latin typeface="Calibri"/>
              </a:rPr>
              <a:t>Accountability assigns responsibility, monitoring, and remediation</a:t>
            </a:r>
          </a:p>
          <a:p>
            <a:pPr>
              <a:spcAft>
                <a:spcPts val="1000"/>
              </a:spcAft>
              <a:buChar char="•"/>
              <a:lnSpc>
                <a:spcPts val="2200"/>
              </a:lnSpc>
            </a:pPr>
            <a:r>
              <a:rPr sz="2000" b="0">
                <a:solidFill>
                  <a:srgbClr val="333333"/>
                </a:solidFill>
                <a:latin typeface="Calibri"/>
              </a:rPr>
              <a:t>Respect for autonomy centers informed consent and ongoing control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Do no harm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Do no harm requires anticipating harms from collection, processing</a:t>
            </a:r>
          </a:p>
          <a:p>
            <a:pPr>
              <a:spcAft>
                <a:spcPts val="1000"/>
              </a:spcAft>
              <a:buChar char="•"/>
              <a:lnSpc>
                <a:spcPts val="2200"/>
              </a:lnSpc>
            </a:pPr>
            <a:r>
              <a:rPr sz="2000" b="0">
                <a:solidFill>
                  <a:srgbClr val="333333"/>
                </a:solidFill>
                <a:latin typeface="Calibri"/>
              </a:rPr>
              <a:t>Yielding less accurate predictions and misdiagnosis risk for that group</a:t>
            </a:r>
          </a:p>
          <a:p>
            <a:pPr>
              <a:spcAft>
                <a:spcPts val="1000"/>
              </a:spcAft>
              <a:buChar char="•"/>
              <a:lnSpc>
                <a:spcPts val="2200"/>
              </a:lnSpc>
            </a:pPr>
            <a:r>
              <a:rPr sz="2000" b="0">
                <a:solidFill>
                  <a:srgbClr val="333333"/>
                </a:solidFill>
                <a:latin typeface="Calibri"/>
              </a:rPr>
              <a:t>Upholding non-maleficence means auditing subgroup performance and adding safeguards before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 — Healthcare AI system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 — hands-on module</a:t>
            </a:r>
          </a:p>
          <a:p>
            <a:pPr>
              <a:spcAft>
                <a:spcPts val="1000"/>
              </a:spcAft>
              <a:buChar char="•"/>
              <a:lnSpc>
                <a:spcPts val="2200"/>
              </a:lnSpc>
            </a:pPr>
            <a:r>
              <a:rPr sz="2000" b="0">
                <a:solidFill>
                  <a:srgbClr val="333333"/>
                </a:solidFill>
                <a:latin typeface="Calibri"/>
              </a:rPr>
              <a:t>The clinical pattern: skewed training data becomes skewed care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Fairness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Fairness requires that practices and models not systematically disadvantage particular</a:t>
            </a:r>
          </a:p>
          <a:p>
            <a:pPr>
              <a:spcAft>
                <a:spcPts val="1000"/>
              </a:spcAft>
              <a:buChar char="•"/>
              <a:lnSpc>
                <a:spcPts val="2200"/>
              </a:lnSpc>
            </a:pPr>
            <a:r>
              <a:rPr sz="2000" b="0">
                <a:solidFill>
                  <a:srgbClr val="333333"/>
                </a:solidFill>
                <a:latin typeface="Calibri"/>
              </a:rPr>
              <a:t>The model can reproduce that pattern for new applicants</a:t>
            </a:r>
          </a:p>
          <a:p>
            <a:pPr>
              <a:spcAft>
                <a:spcPts val="1000"/>
              </a:spcAft>
              <a:buChar char="•"/>
              <a:lnSpc>
                <a:spcPts val="2200"/>
              </a:lnSpc>
            </a:pPr>
            <a:r>
              <a:rPr sz="2000" b="0">
                <a:solidFill>
                  <a:srgbClr val="333333"/>
                </a:solidFill>
                <a:latin typeface="Calibri"/>
              </a:rPr>
              <a:t>Treat disparity risk as a design constraint, not a post-deployment discovery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 — Hiring algorithm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3.3 — hands-on module</a:t>
            </a:r>
          </a:p>
          <a:p>
            <a:pPr>
              <a:spcAft>
                <a:spcPts val="1000"/>
              </a:spcAft>
              <a:buChar char="•"/>
              <a:lnSpc>
                <a:spcPts val="2200"/>
              </a:lnSpc>
            </a:pPr>
            <a:r>
              <a:rPr sz="2000" b="0">
                <a:solidFill>
                  <a:srgbClr val="333333"/>
                </a:solidFill>
                <a:latin typeface="Calibri"/>
              </a:rPr>
              <a:t>Example 3.3 restates the hiring pattern</a:t>
            </a:r>
          </a:p>
          <a:p>
            <a:pPr>
              <a:spcAft>
                <a:spcPts val="1000"/>
              </a:spcAft>
              <a:buChar char="•"/>
              <a:lnSpc>
                <a:spcPts val="2200"/>
              </a:lnSpc>
            </a:pPr>
            <a:r>
              <a:rPr sz="2000" b="0">
                <a:solidFill>
                  <a:srgbClr val="333333"/>
                </a:solidFill>
                <a:latin typeface="Calibri"/>
              </a:rPr>
              <a:t>Chapter 7 develops metrics and mitigation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Transparency and accountability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Transparency builds trust by clarifying what is collected, why</a:t>
            </a:r>
          </a:p>
          <a:p>
            <a:pPr>
              <a:spcAft>
                <a:spcPts val="1000"/>
              </a:spcAft>
              <a:buChar char="•"/>
              <a:lnSpc>
                <a:spcPts val="2200"/>
              </a:lnSpc>
            </a:pPr>
            <a:r>
              <a:rPr sz="2000" b="0">
                <a:solidFill>
                  <a:srgbClr val="333333"/>
                </a:solidFill>
                <a:latin typeface="Calibri"/>
              </a:rPr>
              <a:t>Accountability assigns someone who can explain outcomes, respond to incidents</a:t>
            </a:r>
          </a:p>
          <a:p>
            <a:pPr>
              <a:spcAft>
                <a:spcPts val="1000"/>
              </a:spcAft>
              <a:buChar char="•"/>
              <a:lnSpc>
                <a:spcPts val="2200"/>
              </a:lnSpc>
            </a:pPr>
            <a:r>
              <a:rPr sz="2000" b="0">
                <a:solidFill>
                  <a:srgbClr val="333333"/>
                </a:solidFill>
                <a:latin typeface="Calibri"/>
              </a:rPr>
              <a:t>Example 3.4 applies transparency to credit scoring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Respect for autonomy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Respect for autonomy centers informed consent and ongoing control</a:t>
            </a:r>
          </a:p>
          <a:p>
            <a:pPr>
              <a:spcAft>
                <a:spcPts val="1000"/>
              </a:spcAft>
              <a:buChar char="•"/>
              <a:lnSpc>
                <a:spcPts val="2200"/>
              </a:lnSpc>
            </a:pPr>
            <a:r>
              <a:rPr sz="2000" b="0">
                <a:solidFill>
                  <a:srgbClr val="333333"/>
                </a:solidFill>
                <a:latin typeface="Calibri"/>
              </a:rPr>
              <a:t>Lets users revoke consent or delete history</a:t>
            </a:r>
          </a:p>
          <a:p>
            <a:pPr>
              <a:spcAft>
                <a:spcPts val="1000"/>
              </a:spcAft>
              <a:buChar char="•"/>
              <a:lnSpc>
                <a:spcPts val="2200"/>
              </a:lnSpc>
            </a:pPr>
            <a:r>
              <a:rPr sz="2000" b="0">
                <a:solidFill>
                  <a:srgbClr val="333333"/>
                </a:solidFill>
                <a:latin typeface="Calibri"/>
              </a:rPr>
              <a:t>Autonomy fails when consent is buried in unrelated terms or withdrawal is practically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3.6 — Health-tracking app</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3.6 — hands-on module</a:t>
            </a:r>
          </a:p>
          <a:p>
            <a:pPr>
              <a:spcAft>
                <a:spcPts val="1000"/>
              </a:spcAft>
              <a:buChar char="•"/>
              <a:lnSpc>
                <a:spcPts val="2200"/>
              </a:lnSpc>
            </a:pPr>
            <a:r>
              <a:rPr sz="2000" b="0">
                <a:solidFill>
                  <a:srgbClr val="333333"/>
                </a:solidFill>
                <a:latin typeface="Calibri"/>
              </a:rPr>
              <a:t>Example 3.6 pairs consent user experience with sensitive streams such as activity and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Principles are operational tests for design choices</a:t>
            </a:r>
          </a:p>
          <a:p>
            <a:pPr>
              <a:spcAft>
                <a:spcPts val="1000"/>
              </a:spcAft>
              <a:buChar char="•"/>
              <a:lnSpc>
                <a:spcPts val="2200"/>
              </a:lnSpc>
            </a:pPr>
            <a:r>
              <a:rPr sz="2000" b="0">
                <a:solidFill>
                  <a:srgbClr val="333333"/>
                </a:solidFill>
                <a:latin typeface="Calibri"/>
              </a:rPr>
              <a:t>Non-maleficence and fairness catch harm before deployment</a:t>
            </a:r>
          </a:p>
          <a:p>
            <a:pPr>
              <a:spcAft>
                <a:spcPts val="1000"/>
              </a:spcAft>
              <a:buChar char="•"/>
              <a:lnSpc>
                <a:spcPts val="2200"/>
              </a:lnSpc>
            </a:pPr>
            <a:r>
              <a:rPr sz="2000" b="0">
                <a:solidFill>
                  <a:srgbClr val="333333"/>
                </a:solidFill>
                <a:latin typeface="Calibri"/>
              </a:rPr>
              <a:t>Transparency and accountability make systems answerable</a:t>
            </a:r>
          </a:p>
          <a:p>
            <a:pPr>
              <a:spcAft>
                <a:spcPts val="1000"/>
              </a:spcAft>
              <a:buChar char="•"/>
              <a:lnSpc>
                <a:spcPts val="2200"/>
              </a:lnSpc>
            </a:pPr>
            <a:r>
              <a:rPr sz="2000" b="0">
                <a:solidFill>
                  <a:srgbClr val="333333"/>
                </a:solidFill>
                <a:latin typeface="Calibri"/>
              </a:rPr>
              <a:t>Autonomy requires meaningful consent and control, not checkbox compliance alone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utility trade-offs, ethical dilemmas when principles conflict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the utility–privacy tension, describe two ethical dilemma patterns</a:t>
            </a:r>
          </a:p>
          <a:p>
            <a:pPr>
              <a:spcAft>
                <a:spcPts val="1000"/>
              </a:spcAft>
              <a:buChar char="•"/>
              <a:lnSpc>
                <a:spcPts val="2200"/>
              </a:lnSpc>
            </a:pPr>
            <a:r>
              <a:rPr sz="2000" b="0">
                <a:solidFill>
                  <a:srgbClr val="333333"/>
                </a:solidFill>
                <a:latin typeface="Calibri"/>
              </a:rPr>
              <a:t>List consequences of ignoring ethics for people and organizations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Balancing utility and privacy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Personalized care</a:t>
            </a:r>
          </a:p>
          <a:p>
            <a:pPr>
              <a:spcAft>
                <a:spcPts val="1000"/>
              </a:spcAft>
              <a:buChar char="•"/>
              <a:lnSpc>
                <a:spcPts val="2200"/>
              </a:lnSpc>
            </a:pPr>
            <a:r>
              <a:rPr sz="2000" b="0">
                <a:solidFill>
                  <a:srgbClr val="333333"/>
                </a:solidFill>
                <a:latin typeface="Calibri"/>
              </a:rPr>
              <a:t>Treat statutes as floors rather than ceilings</a:t>
            </a:r>
          </a:p>
          <a:p>
            <a:pPr>
              <a:spcAft>
                <a:spcPts val="1000"/>
              </a:spcAft>
              <a:buChar char="•"/>
              <a:lnSpc>
                <a:spcPts val="2200"/>
              </a:lnSpc>
            </a:pPr>
            <a:r>
              <a:rPr sz="2000" b="0">
                <a:solidFill>
                  <a:srgbClr val="333333"/>
                </a:solidFill>
                <a:latin typeface="Calibri"/>
              </a:rPr>
              <a:t>The ethical task is deciding whether proposed utility warrants the privacy burden at all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3.7 — Utility–privacy tension in personal predictions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3.7 — hands-on module</a:t>
            </a:r>
          </a:p>
          <a:p>
            <a:pPr>
              <a:spcAft>
                <a:spcPts val="1000"/>
              </a:spcAft>
              <a:buChar char="•"/>
              <a:lnSpc>
                <a:spcPts val="2200"/>
              </a:lnSpc>
            </a:pPr>
            <a:r>
              <a:rPr sz="2000" b="0">
                <a:solidFill>
                  <a:srgbClr val="333333"/>
                </a:solidFill>
                <a:latin typeface="Calibri"/>
              </a:rPr>
              <a:t>Example 3.7 states the trade-off in prediction settings</a:t>
            </a:r>
          </a:p>
          <a:p>
            <a:pPr>
              <a:spcAft>
                <a:spcPts val="1000"/>
              </a:spcAft>
              <a:buChar char="•"/>
              <a:lnSpc>
                <a:spcPts val="2200"/>
              </a:lnSpc>
            </a:pPr>
            <a:r>
              <a:rPr sz="2000" b="0">
                <a:solidFill>
                  <a:srgbClr val="333333"/>
                </a:solidFill>
                <a:latin typeface="Calibri"/>
              </a:rPr>
              <a:t>Models that score health risk or creditworthiness can improve service allocation</a:t>
            </a:r>
          </a:p>
          <a:p>
            <a:pPr>
              <a:spcAft>
                <a:spcPts val="1000"/>
              </a:spcAft>
              <a:buChar char="•"/>
              <a:lnSpc>
                <a:spcPts val="2200"/>
              </a:lnSpc>
            </a:pPr>
            <a:r>
              <a:rPr sz="2000" b="0">
                <a:solidFill>
                  <a:srgbClr val="333333"/>
                </a:solidFill>
                <a:latin typeface="Calibri"/>
              </a:rPr>
              <a:t>Without minimization, access control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dilemmas in practice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Dilemmas arise when principles conflict or no option is clearly harm-free</a:t>
            </a:r>
          </a:p>
          <a:p>
            <a:pPr>
              <a:spcAft>
                <a:spcPts val="1000"/>
              </a:spcAft>
              <a:buChar char="•"/>
              <a:lnSpc>
                <a:spcPts val="2200"/>
              </a:lnSpc>
            </a:pPr>
            <a:r>
              <a:rPr sz="2000" b="0">
                <a:solidFill>
                  <a:srgbClr val="333333"/>
                </a:solidFill>
                <a:latin typeface="Calibri"/>
              </a:rPr>
              <a:t>Example 3.8 sketches criminal-justice risk scores</a:t>
            </a:r>
          </a:p>
          <a:p>
            <a:pPr>
              <a:spcAft>
                <a:spcPts val="1000"/>
              </a:spcAft>
              <a:buChar char="•"/>
              <a:lnSpc>
                <a:spcPts val="2200"/>
              </a:lnSpc>
            </a:pPr>
            <a:r>
              <a:rPr sz="2000" b="0">
                <a:solidFill>
                  <a:srgbClr val="333333"/>
                </a:solidFill>
                <a:latin typeface="Calibri"/>
              </a:rPr>
              <a:t>Example 3.9 returns to platform collection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3.8 — Dilemma in criminal justice risk scores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3.8 — hands-on module</a:t>
            </a:r>
          </a:p>
          <a:p>
            <a:pPr>
              <a:spcAft>
                <a:spcPts val="1000"/>
              </a:spcAft>
              <a:buChar char="•"/>
              <a:lnSpc>
                <a:spcPts val="2200"/>
              </a:lnSpc>
            </a:pPr>
            <a:r>
              <a:rPr sz="2000" b="0">
                <a:solidFill>
                  <a:srgbClr val="333333"/>
                </a:solidFill>
                <a:latin typeface="Calibri"/>
              </a:rPr>
              <a:t>The justice-system conflict previewed again in the bias section and Chapter 7</a:t>
            </a:r>
          </a:p>
          <a:p>
            <a:pPr>
              <a:spcAft>
                <a:spcPts val="1000"/>
              </a:spcAft>
              <a:buChar char="•"/>
              <a:lnSpc>
                <a:spcPts val="2200"/>
              </a:lnSpc>
            </a:pPr>
            <a:r>
              <a:rPr sz="2000" b="0">
                <a:solidFill>
                  <a:srgbClr val="333333"/>
                </a:solidFill>
                <a:latin typeface="Calibri"/>
              </a:rPr>
              <a:t>More data alone does not dissolve the conflict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Consequences of neglecting ethics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Ignoring ethics produces privacy violations, discrimination, eroded trust</a:t>
            </a:r>
          </a:p>
          <a:p>
            <a:pPr>
              <a:spcAft>
                <a:spcPts val="1000"/>
              </a:spcAft>
              <a:buChar char="•"/>
              <a:lnSpc>
                <a:spcPts val="2200"/>
              </a:lnSpc>
            </a:pPr>
            <a:r>
              <a:rPr sz="2000" b="0">
                <a:solidFill>
                  <a:srgbClr val="333333"/>
                </a:solidFill>
                <a:latin typeface="Calibri"/>
              </a:rPr>
              <a:t>Example 3.10 shows personal exposure after unauthorized use or leakage, fraud, harassment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3.10 — Misuse of personal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3.10 — hands-on module</a:t>
            </a:r>
          </a:p>
          <a:p>
            <a:pPr>
              <a:spcAft>
                <a:spcPts val="1000"/>
              </a:spcAft>
              <a:buChar char="•"/>
              <a:lnSpc>
                <a:spcPts val="2200"/>
              </a:lnSpc>
            </a:pPr>
            <a:r>
              <a:rPr sz="2000" b="0">
                <a:solidFill>
                  <a:srgbClr val="333333"/>
                </a:solidFill>
                <a:latin typeface="Calibri"/>
              </a:rPr>
              <a:t>Example 3.10 connects ethical neglect to breach economics developed later in the chapter</a:t>
            </a:r>
          </a:p>
          <a:p>
            <a:pPr>
              <a:spcAft>
                <a:spcPts val="1000"/>
              </a:spcAft>
              <a:buChar char="•"/>
              <a:lnSpc>
                <a:spcPts val="2200"/>
              </a:lnSpc>
            </a:pPr>
            <a:r>
              <a:rPr sz="2000" b="0">
                <a:solidFill>
                  <a:srgbClr val="333333"/>
                </a:solidFill>
                <a:latin typeface="Calibri"/>
              </a:rPr>
              <a:t>Organizations also face fines, litigation</a:t>
            </a:r>
          </a:p>
          <a:p>
            <a:pPr>
              <a:spcAft>
                <a:spcPts val="1000"/>
              </a:spcAft>
              <a:buChar char="•"/>
              <a:lnSpc>
                <a:spcPts val="2200"/>
              </a:lnSpc>
            </a:pPr>
            <a:r>
              <a:rPr sz="2000" b="0">
                <a:solidFill>
                  <a:srgbClr val="333333"/>
                </a:solidFill>
                <a:latin typeface="Calibri"/>
              </a:rPr>
              <a:t>Ethical practice is both a moral and a sustainability requirement</a:t>
            </a:r>
          </a:p>
          <a:p>
            <a:pPr>
              <a:spcAft>
                <a:spcPts val="1000"/>
              </a:spcAft>
              <a:buChar char="•"/>
              <a:lnSpc>
                <a:spcPts val="2200"/>
              </a:lnSpc>
            </a:pPr>
            <a:r>
              <a:rPr sz="2000" b="0">
                <a:solidFill>
                  <a:srgbClr val="333333"/>
                </a:solidFill>
                <a:latin typeface="Calibri"/>
              </a:rPr>
              <a:t>View files: `modules/chapter3/example10/`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Utility and privacy trade off by design, not by accident</a:t>
            </a:r>
          </a:p>
          <a:p>
            <a:pPr>
              <a:spcAft>
                <a:spcPts val="1000"/>
              </a:spcAft>
              <a:buChar char="•"/>
              <a:lnSpc>
                <a:spcPts val="2200"/>
              </a:lnSpc>
            </a:pPr>
            <a:r>
              <a:rPr sz="2000" b="0">
                <a:solidFill>
                  <a:srgbClr val="333333"/>
                </a:solidFill>
                <a:latin typeface="Calibri"/>
              </a:rPr>
              <a:t>Dilemmas need structured decision procedures, not silent defaults</a:t>
            </a:r>
          </a:p>
          <a:p>
            <a:pPr>
              <a:spcAft>
                <a:spcPts val="1000"/>
              </a:spcAft>
              <a:buChar char="•"/>
              <a:lnSpc>
                <a:spcPts val="2200"/>
              </a:lnSpc>
            </a:pPr>
            <a:r>
              <a:rPr sz="2000" b="0">
                <a:solidFill>
                  <a:srgbClr val="333333"/>
                </a:solidFill>
                <a:latin typeface="Calibri"/>
              </a:rPr>
              <a:t>Neglecting ethics harms people first and balance sheets second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data privacy principles, consent, anonymization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Define data privacy in pipeline terms, contrast three core privacy-management concepts</a:t>
            </a:r>
          </a:p>
          <a:p>
            <a:pPr>
              <a:spcAft>
                <a:spcPts val="1000"/>
              </a:spcAft>
              <a:buChar char="•"/>
              <a:lnSpc>
                <a:spcPts val="2200"/>
              </a:lnSpc>
            </a:pPr>
            <a:r>
              <a:rPr sz="2000" b="0">
                <a:solidFill>
                  <a:srgbClr val="333333"/>
                </a:solidFill>
                <a:latin typeface="Calibri"/>
              </a:rPr>
              <a:t>Read GDPR versus HIPAA as planning maps, not compliance manuals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rights to management practice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Section 3.1 defined privacy as individuals' control over personal data</a:t>
            </a:r>
          </a:p>
          <a:p>
            <a:pPr>
              <a:spcAft>
                <a:spcPts val="1000"/>
              </a:spcAft>
              <a:buChar char="•"/>
              <a:lnSpc>
                <a:spcPts val="2200"/>
              </a:lnSpc>
            </a:pPr>
            <a:r>
              <a:rPr sz="2000" b="0">
                <a:solidFill>
                  <a:srgbClr val="333333"/>
                </a:solidFill>
                <a:latin typeface="Calibri"/>
              </a:rPr>
              <a:t>This section asks which agreements and defaults make that control enforceable</a:t>
            </a:r>
          </a:p>
          <a:p>
            <a:pPr>
              <a:spcAft>
                <a:spcPts val="1000"/>
              </a:spcAft>
              <a:buChar char="•"/>
              <a:lnSpc>
                <a:spcPts val="2200"/>
              </a:lnSpc>
            </a:pPr>
            <a:r>
              <a:rPr sz="2000" b="0">
                <a:solidFill>
                  <a:srgbClr val="333333"/>
                </a:solidFill>
                <a:latin typeface="Calibri"/>
              </a:rPr>
              <a:t>Personal data includes names and addresses but also behavioral logs</a:t>
            </a:r>
          </a:p>
          <a:p>
            <a:pPr>
              <a:spcAft>
                <a:spcPts val="1000"/>
              </a:spcAft>
              <a:buChar char="•"/>
              <a:lnSpc>
                <a:spcPts val="2200"/>
              </a:lnSpc>
            </a:pPr>
            <a:r>
              <a:rPr sz="2000" b="0">
                <a:solidFill>
                  <a:srgbClr val="333333"/>
                </a:solidFill>
                <a:latin typeface="Calibri"/>
              </a:rPr>
              <a:t>Ethics still decides whether a use should proceed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Three core concepts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Informed consent requires freely given</a:t>
            </a:r>
          </a:p>
          <a:p>
            <a:pPr>
              <a:spcAft>
                <a:spcPts val="1000"/>
              </a:spcAft>
              <a:buChar char="•"/>
              <a:lnSpc>
                <a:spcPts val="2200"/>
              </a:lnSpc>
            </a:pPr>
            <a:r>
              <a:rPr sz="2000" b="0">
                <a:solidFill>
                  <a:srgbClr val="333333"/>
                </a:solidFill>
                <a:latin typeface="Calibri"/>
              </a:rPr>
              <a:t>Anonymization reduces linkability for secondary use</a:t>
            </a:r>
          </a:p>
          <a:p>
            <a:pPr>
              <a:spcAft>
                <a:spcPts val="1000"/>
              </a:spcAft>
              <a:buChar char="•"/>
              <a:lnSpc>
                <a:spcPts val="2200"/>
              </a:lnSpc>
            </a:pPr>
            <a:r>
              <a:rPr sz="2000" b="0">
                <a:solidFill>
                  <a:srgbClr val="333333"/>
                </a:solidFill>
                <a:latin typeface="Calibri"/>
              </a:rPr>
              <a:t>Privacy by Design embeds protections into architecture from the start rather than bolting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Informed consent in healthcare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Informed consent is the operational counterpart of respect for autonomy</a:t>
            </a:r>
          </a:p>
          <a:p>
            <a:pPr>
              <a:spcAft>
                <a:spcPts val="1000"/>
              </a:spcAft>
              <a:buChar char="•"/>
              <a:lnSpc>
                <a:spcPts val="2200"/>
              </a:lnSpc>
            </a:pPr>
            <a:r>
              <a:rPr sz="2000" b="0">
                <a:solidFill>
                  <a:srgbClr val="333333"/>
                </a:solidFill>
                <a:latin typeface="Calibri"/>
              </a:rPr>
              <a:t>Example 3.11 shows a clinic that wants to reuse treatment records for research</a:t>
            </a:r>
          </a:p>
          <a:p>
            <a:pPr>
              <a:spcAft>
                <a:spcPts val="1000"/>
              </a:spcAft>
              <a:buChar char="•"/>
              <a:lnSpc>
                <a:spcPts val="2200"/>
              </a:lnSpc>
            </a:pPr>
            <a:r>
              <a:rPr sz="2000" b="0">
                <a:solidFill>
                  <a:srgbClr val="333333"/>
                </a:solidFill>
                <a:latin typeface="Calibri"/>
              </a:rPr>
              <a:t>Bundling research into a general intake form fails the standard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3.11 — Consent for healthcare data uses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3.11 — hands-on module</a:t>
            </a:r>
          </a:p>
          <a:p>
            <a:pPr>
              <a:spcAft>
                <a:spcPts val="1000"/>
              </a:spcAft>
              <a:buChar char="•"/>
              <a:lnSpc>
                <a:spcPts val="2200"/>
              </a:lnSpc>
            </a:pPr>
            <a:r>
              <a:rPr sz="2000" b="0">
                <a:solidFill>
                  <a:srgbClr val="333333"/>
                </a:solidFill>
                <a:latin typeface="Calibri"/>
              </a:rPr>
              <a:t>The clinical consent bar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Privacy by Design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Privacy by Design means minimization, protective defaults</a:t>
            </a:r>
          </a:p>
          <a:p>
            <a:pPr>
              <a:spcAft>
                <a:spcPts val="1000"/>
              </a:spcAft>
              <a:buChar char="•"/>
              <a:lnSpc>
                <a:spcPts val="2200"/>
              </a:lnSpc>
            </a:pPr>
            <a:r>
              <a:rPr sz="2000" b="0">
                <a:solidFill>
                  <a:srgbClr val="333333"/>
                </a:solidFill>
                <a:latin typeface="Calibri"/>
              </a:rPr>
              <a:t>Should expose clear sharing and deletion controls before any partner sync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3.12 — Privacy by Design in a health app</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3.12 — hands-on module</a:t>
            </a:r>
          </a:p>
          <a:p>
            <a:pPr>
              <a:spcAft>
                <a:spcPts val="1000"/>
              </a:spcAft>
              <a:buChar char="•"/>
              <a:lnSpc>
                <a:spcPts val="2200"/>
              </a:lnSpc>
            </a:pPr>
            <a:r>
              <a:rPr sz="2000" b="0">
                <a:solidFill>
                  <a:srgbClr val="333333"/>
                </a:solidFill>
                <a:latin typeface="Calibri"/>
              </a:rPr>
              <a:t>Example 3.12 pairs with the autonomy vignette in Example 3.6 but focuses on architecture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GDPR and HIPAA as anchors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GDPR governs personal data of people in the EU and EEA with extraterritorial reach for</a:t>
            </a:r>
          </a:p>
          <a:p>
            <a:pPr>
              <a:spcAft>
                <a:spcPts val="1000"/>
              </a:spcAft>
              <a:buChar char="•"/>
              <a:lnSpc>
                <a:spcPts val="2200"/>
              </a:lnSpc>
            </a:pPr>
            <a:r>
              <a:rPr sz="2000" b="0">
                <a:solidFill>
                  <a:srgbClr val="333333"/>
                </a:solidFill>
                <a:latin typeface="Calibri"/>
              </a:rPr>
              <a:t>It emphasizes lawfulness, purpose limitation, minimization, accountability</a:t>
            </a:r>
          </a:p>
          <a:p>
            <a:pPr>
              <a:spcAft>
                <a:spcPts val="1000"/>
              </a:spcAft>
              <a:buChar char="•"/>
              <a:lnSpc>
                <a:spcPts val="2200"/>
              </a:lnSpc>
            </a:pPr>
            <a:r>
              <a:rPr sz="2000" b="0">
                <a:solidFill>
                  <a:srgbClr val="333333"/>
                </a:solidFill>
                <a:latin typeface="Calibri"/>
              </a:rPr>
              <a:t>HIPAA concentrates parallel duties on protected health information held by US covered</a:t>
            </a:r>
          </a:p>
          <a:p>
            <a:pPr>
              <a:spcAft>
                <a:spcPts val="1000"/>
              </a:spcAft>
              <a:buChar char="•"/>
              <a:lnSpc>
                <a:spcPts val="2200"/>
              </a:lnSpc>
            </a:pPr>
            <a:r>
              <a:rPr sz="2000" b="0">
                <a:solidFill>
                  <a:srgbClr val="333333"/>
                </a:solidFill>
                <a:latin typeface="Calibri"/>
              </a:rPr>
              <a:t>Section 3.6 expands scope, rights, and penalties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Privacy management is more than notices</a:t>
            </a:r>
          </a:p>
          <a:p>
            <a:pPr>
              <a:spcAft>
                <a:spcPts val="1000"/>
              </a:spcAft>
              <a:buChar char="•"/>
              <a:lnSpc>
                <a:spcPts val="2200"/>
              </a:lnSpc>
            </a:pPr>
            <a:r>
              <a:rPr sz="2000" b="0">
                <a:solidFill>
                  <a:srgbClr val="333333"/>
                </a:solidFill>
                <a:latin typeface="Calibri"/>
              </a:rPr>
              <a:t>Consent must be meaningful</a:t>
            </a:r>
          </a:p>
          <a:p>
            <a:pPr>
              <a:spcAft>
                <a:spcPts val="1000"/>
              </a:spcAft>
              <a:buChar char="•"/>
              <a:lnSpc>
                <a:spcPts val="2200"/>
              </a:lnSpc>
            </a:pPr>
            <a:r>
              <a:rPr sz="2000" b="0">
                <a:solidFill>
                  <a:srgbClr val="333333"/>
                </a:solidFill>
                <a:latin typeface="Calibri"/>
              </a:rPr>
              <a:t>GDPR and HIPAA illustrate how principles become enforceable duties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privacy-preserving techniques, anonymization, encryption, differential privacy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Place four techniques on a protection map, state the main caveat for each</a:t>
            </a:r>
          </a:p>
          <a:p>
            <a:pPr>
              <a:spcAft>
                <a:spcPts val="1000"/>
              </a:spcAft>
              <a:buChar char="•"/>
              <a:lnSpc>
                <a:spcPts val="2200"/>
              </a:lnSpc>
            </a:pPr>
            <a:r>
              <a:rPr sz="2000" b="0">
                <a:solidFill>
                  <a:srgbClr val="333333"/>
                </a:solidFill>
                <a:latin typeface="Calibri"/>
              </a:rPr>
              <a:t>Explain how they stack with consent and purpose limits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Techniques at a glance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Anonymization and de-identification reduce linkability in shared tables</a:t>
            </a:r>
          </a:p>
          <a:p>
            <a:pPr>
              <a:spcAft>
                <a:spcPts val="1000"/>
              </a:spcAft>
              <a:buChar char="•"/>
              <a:lnSpc>
                <a:spcPts val="2200"/>
              </a:lnSpc>
            </a:pPr>
            <a:r>
              <a:rPr sz="2000" b="0">
                <a:solidFill>
                  <a:srgbClr val="333333"/>
                </a:solidFill>
                <a:latin typeface="Calibri"/>
              </a:rPr>
              <a:t>Encryption protects confidentiality in transit and at rest</a:t>
            </a:r>
          </a:p>
          <a:p>
            <a:pPr>
              <a:spcAft>
                <a:spcPts val="1000"/>
              </a:spcAft>
              <a:buChar char="•"/>
              <a:lnSpc>
                <a:spcPts val="2200"/>
              </a:lnSpc>
            </a:pPr>
            <a:r>
              <a:rPr sz="2000" b="0">
                <a:solidFill>
                  <a:srgbClr val="333333"/>
                </a:solidFill>
                <a:latin typeface="Calibri"/>
              </a:rPr>
              <a:t>Differential privacy limits how much any single record can change an aggregate release</a:t>
            </a:r>
          </a:p>
          <a:p>
            <a:pPr>
              <a:spcAft>
                <a:spcPts val="1000"/>
              </a:spcAft>
              <a:buChar char="•"/>
              <a:lnSpc>
                <a:spcPts val="2200"/>
              </a:lnSpc>
            </a:pPr>
            <a:r>
              <a:rPr sz="2000" b="0">
                <a:solidFill>
                  <a:srgbClr val="333333"/>
                </a:solidFill>
                <a:latin typeface="Calibri"/>
              </a:rPr>
              <a:t>Federated learning trains models where raw data stay on devices or silos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Anonymization and re-identification risk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Coarsening rare combinations</a:t>
            </a:r>
          </a:p>
          <a:p>
            <a:pPr>
              <a:spcAft>
                <a:spcPts val="1000"/>
              </a:spcAft>
              <a:buChar char="•"/>
              <a:lnSpc>
                <a:spcPts val="2200"/>
              </a:lnSpc>
            </a:pPr>
            <a:r>
              <a:rPr sz="2000" b="0">
                <a:solidFill>
                  <a:srgbClr val="333333"/>
                </a:solidFill>
                <a:latin typeface="Calibri"/>
              </a:rPr>
              <a:t>The canonical warning</a:t>
            </a:r>
          </a:p>
          <a:p>
            <a:pPr>
              <a:spcAft>
                <a:spcPts val="1000"/>
              </a:spcAft>
              <a:buChar char="•"/>
              <a:lnSpc>
                <a:spcPts val="2200"/>
              </a:lnSpc>
            </a:pPr>
            <a:r>
              <a:rPr sz="2000" b="0">
                <a:solidFill>
                  <a:srgbClr val="333333"/>
                </a:solidFill>
                <a:latin typeface="Calibri"/>
              </a:rPr>
              <a:t>Stronger protection usually requires coarser aggregation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3.13 — Re-identification from location patterns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3.13 — hands-on module</a:t>
            </a:r>
          </a:p>
          <a:p>
            <a:pPr>
              <a:spcAft>
                <a:spcPts val="1000"/>
              </a:spcAft>
              <a:buChar char="•"/>
              <a:lnSpc>
                <a:spcPts val="2200"/>
              </a:lnSpc>
            </a:pPr>
            <a:r>
              <a:rPr sz="2000" b="0">
                <a:solidFill>
                  <a:srgbClr val="333333"/>
                </a:solidFill>
                <a:latin typeface="Calibri"/>
              </a:rPr>
              <a:t>Example 3.13 shows why anonymization is a management goal, not a guarantee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Encryption limits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Encryption keeps intercepted packets unreadable</a:t>
            </a:r>
          </a:p>
          <a:p>
            <a:pPr>
              <a:spcAft>
                <a:spcPts val="1000"/>
              </a:spcAft>
              <a:buChar char="•"/>
              <a:lnSpc>
                <a:spcPts val="2200"/>
              </a:lnSpc>
            </a:pPr>
            <a:r>
              <a:rPr sz="2000" b="0">
                <a:solidFill>
                  <a:srgbClr val="333333"/>
                </a:solidFill>
                <a:latin typeface="Calibri"/>
              </a:rPr>
              <a:t>Minimization, not from encryption alone</a:t>
            </a:r>
          </a:p>
          <a:p>
            <a:pPr>
              <a:spcAft>
                <a:spcPts val="1000"/>
              </a:spcAft>
              <a:buChar char="•"/>
              <a:lnSpc>
                <a:spcPts val="2200"/>
              </a:lnSpc>
            </a:pPr>
            <a:r>
              <a:rPr sz="2000" b="0">
                <a:solidFill>
                  <a:srgbClr val="333333"/>
                </a:solidFill>
                <a:latin typeface="Calibri"/>
              </a:rPr>
              <a:t>Example 3.14 makes that limit explicit for medical messaging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Differential privacy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Differential privacy limits what an adversary learns about any individual from aggregate</a:t>
            </a:r>
          </a:p>
          <a:p>
            <a:pPr>
              <a:spcAft>
                <a:spcPts val="1000"/>
              </a:spcAft>
              <a:buChar char="•"/>
              <a:lnSpc>
                <a:spcPts val="2200"/>
              </a:lnSpc>
            </a:pPr>
            <a:r>
              <a:rPr sz="2000" b="0">
                <a:solidFill>
                  <a:srgbClr val="333333"/>
                </a:solidFill>
                <a:latin typeface="Calibri"/>
              </a:rPr>
              <a:t>The standing trade-off is privacy budget versus accuracy</a:t>
            </a:r>
          </a:p>
          <a:p>
            <a:pPr>
              <a:spcAft>
                <a:spcPts val="1000"/>
              </a:spcAft>
              <a:buChar char="•"/>
              <a:lnSpc>
                <a:spcPts val="2200"/>
              </a:lnSpc>
            </a:pPr>
            <a:r>
              <a:rPr sz="2000" b="0">
                <a:solidFill>
                  <a:srgbClr val="333333"/>
                </a:solidFill>
                <a:latin typeface="Calibri"/>
              </a:rPr>
              <a:t>Example 3.15 shows product telemetry released under a differential-privacy mechanism so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3.15 — Differential privacy for product telemetry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3.15 — hands-on module</a:t>
            </a:r>
          </a:p>
          <a:p>
            <a:pPr>
              <a:spcAft>
                <a:spcPts val="1000"/>
              </a:spcAft>
              <a:buChar char="•"/>
              <a:lnSpc>
                <a:spcPts val="2200"/>
              </a:lnSpc>
            </a:pPr>
            <a:r>
              <a:rPr sz="2000" b="0">
                <a:solidFill>
                  <a:srgbClr val="333333"/>
                </a:solidFill>
                <a:latin typeface="Calibri"/>
              </a:rPr>
              <a:t>Example 3.15 depends on correct noise calibration and on not publishing too many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Federated learning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Federated learning reduces central pools of raw text or sensor data by training locally</a:t>
            </a:r>
          </a:p>
          <a:p>
            <a:pPr>
              <a:spcAft>
                <a:spcPts val="1000"/>
              </a:spcAft>
              <a:buChar char="•"/>
              <a:lnSpc>
                <a:spcPts val="2200"/>
              </a:lnSpc>
            </a:pPr>
            <a:r>
              <a:rPr sz="2000" b="0">
                <a:solidFill>
                  <a:srgbClr val="333333"/>
                </a:solidFill>
                <a:latin typeface="Calibri"/>
              </a:rPr>
              <a:t>Example 3.16 shows on-device keyboard prediction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3.16 — Federated learning for on-device keyboard prediction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3.16 — hands-on module</a:t>
            </a:r>
          </a:p>
          <a:p>
            <a:pPr>
              <a:spcAft>
                <a:spcPts val="1000"/>
              </a:spcAft>
              <a:buChar char="•"/>
              <a:lnSpc>
                <a:spcPts val="2200"/>
              </a:lnSpc>
            </a:pPr>
            <a:r>
              <a:rPr sz="2000" b="0">
                <a:solidFill>
                  <a:srgbClr val="333333"/>
                </a:solidFill>
                <a:latin typeface="Calibri"/>
              </a:rPr>
              <a:t>Example 3.16 illustrates when raw centralization is unacceptable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Choose controls to match the threat</a:t>
            </a:r>
          </a:p>
          <a:p>
            <a:pPr>
              <a:spcAft>
                <a:spcPts val="1000"/>
              </a:spcAft>
              <a:buChar char="•"/>
              <a:lnSpc>
                <a:spcPts val="2200"/>
              </a:lnSpc>
            </a:pPr>
            <a:r>
              <a:rPr sz="2000" b="0">
                <a:solidFill>
                  <a:srgbClr val="333333"/>
                </a:solidFill>
                <a:latin typeface="Calibri"/>
              </a:rPr>
              <a:t>Stack techniques where needed</a:t>
            </a:r>
          </a:p>
          <a:p>
            <a:pPr>
              <a:spcAft>
                <a:spcPts val="1000"/>
              </a:spcAft>
              <a:buChar char="•"/>
              <a:lnSpc>
                <a:spcPts val="2200"/>
              </a:lnSpc>
            </a:pPr>
            <a:r>
              <a:rPr sz="2000" b="0">
                <a:solidFill>
                  <a:srgbClr val="333333"/>
                </a:solidFill>
                <a:latin typeface="Calibri"/>
              </a:rPr>
              <a:t>Technical PETs implement privacy principles, they do not replace them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bias and fairness, how ethical principles connect to model outcomes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Define bias in data work</a:t>
            </a:r>
          </a:p>
          <a:p>
            <a:pPr>
              <a:spcAft>
                <a:spcPts val="1000"/>
              </a:spcAft>
              <a:buChar char="•"/>
              <a:lnSpc>
                <a:spcPts val="2200"/>
              </a:lnSpc>
            </a:pPr>
            <a:r>
              <a:rPr sz="2000" b="0">
                <a:solidFill>
                  <a:srgbClr val="333333"/>
                </a:solidFill>
                <a:latin typeface="Calibri"/>
              </a:rPr>
              <a:t>List five mitigation habits at the ethics-chapter level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bias means here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Bias means systematic deviations in collection</a:t>
            </a:r>
          </a:p>
          <a:p>
            <a:pPr>
              <a:spcAft>
                <a:spcPts val="1000"/>
              </a:spcAft>
              <a:buChar char="•"/>
              <a:lnSpc>
                <a:spcPts val="2200"/>
              </a:lnSpc>
            </a:pPr>
            <a:r>
              <a:rPr sz="2000" b="0">
                <a:solidFill>
                  <a:srgbClr val="333333"/>
                </a:solidFill>
                <a:latin typeface="Calibri"/>
              </a:rPr>
              <a:t>Data are not neutral mirrors</a:t>
            </a:r>
          </a:p>
          <a:p>
            <a:pPr>
              <a:spcAft>
                <a:spcPts val="1000"/>
              </a:spcAft>
              <a:buChar char="•"/>
              <a:lnSpc>
                <a:spcPts val="2200"/>
              </a:lnSpc>
            </a:pPr>
            <a:r>
              <a:rPr sz="2000" b="0">
                <a:solidFill>
                  <a:srgbClr val="333333"/>
                </a:solidFill>
                <a:latin typeface="Calibri"/>
              </a:rPr>
              <a:t>Example 3.17 states the general risk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3.17 — Bias in AI system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3.17 — hands-on module</a:t>
            </a:r>
          </a:p>
          <a:p>
            <a:pPr>
              <a:spcAft>
                <a:spcPts val="1000"/>
              </a:spcAft>
              <a:buChar char="•"/>
              <a:lnSpc>
                <a:spcPts val="2200"/>
              </a:lnSpc>
            </a:pPr>
            <a:r>
              <a:rPr sz="2000" b="0">
                <a:solidFill>
                  <a:srgbClr val="333333"/>
                </a:solidFill>
                <a:latin typeface="Calibri"/>
              </a:rPr>
              <a:t>Example 3.17 highlights domains where errors change life chances, hiring, criminal justice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Selection bias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So error concentrates on underrepresented groups</a:t>
            </a:r>
          </a:p>
          <a:p>
            <a:pPr>
              <a:spcAft>
                <a:spcPts val="1000"/>
              </a:spcAft>
              <a:buChar char="•"/>
              <a:lnSpc>
                <a:spcPts val="2200"/>
              </a:lnSpc>
            </a:pPr>
            <a:r>
              <a:rPr sz="2000" b="0">
                <a:solidFill>
                  <a:srgbClr val="333333"/>
                </a:solidFill>
                <a:latin typeface="Calibri"/>
              </a:rPr>
              <a:t>Collection design in Chapter 2 is often where skew begins</a:t>
            </a:r>
          </a:p>
          <a:p>
            <a:pPr>
              <a:spcAft>
                <a:spcPts val="1000"/>
              </a:spcAft>
              <a:buChar char="•"/>
              <a:lnSpc>
                <a:spcPts val="2200"/>
              </a:lnSpc>
            </a:pPr>
            <a:r>
              <a:rPr sz="2000" b="0">
                <a:solidFill>
                  <a:srgbClr val="333333"/>
                </a:solidFill>
                <a:latin typeface="Calibri"/>
              </a:rPr>
              <a:t>Example 3.18 shows a diagnostic model trained mainly on one demographic slice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3.18 — Selection bias in healthcare AI</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3.18 — hands-on module</a:t>
            </a:r>
          </a:p>
          <a:p>
            <a:pPr>
              <a:spcAft>
                <a:spcPts val="1000"/>
              </a:spcAft>
              <a:buChar char="•"/>
              <a:lnSpc>
                <a:spcPts val="2200"/>
              </a:lnSpc>
            </a:pPr>
            <a:r>
              <a:rPr sz="2000" b="0">
                <a:solidFill>
                  <a:srgbClr val="333333"/>
                </a:solidFill>
                <a:latin typeface="Calibri"/>
              </a:rPr>
              <a:t>Example 3.18 relates to the non-maleficence vignette in Example 3.2</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Algorithmic bias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Thresholds can still allocate error unevenly</a:t>
            </a:r>
          </a:p>
          <a:p>
            <a:pPr>
              <a:spcAft>
                <a:spcPts val="1000"/>
              </a:spcAft>
              <a:buChar char="•"/>
              <a:lnSpc>
                <a:spcPts val="2200"/>
              </a:lnSpc>
            </a:pPr>
            <a:r>
              <a:rPr sz="2000" b="0">
                <a:solidFill>
                  <a:srgbClr val="333333"/>
                </a:solidFill>
                <a:latin typeface="Calibri"/>
              </a:rPr>
              <a:t>Example 3.19 restates hiring rankers that reproduce gender or racial patterns via proxies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pointer — COMPAS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3.20 points to COMPAS recidivism tools</a:t>
            </a:r>
          </a:p>
          <a:p>
            <a:pPr>
              <a:spcAft>
                <a:spcPts val="1000"/>
              </a:spcAft>
              <a:buChar char="•"/>
              <a:lnSpc>
                <a:spcPts val="2200"/>
              </a:lnSpc>
            </a:pPr>
            <a:r>
              <a:rPr sz="2000" b="0">
                <a:solidFill>
                  <a:srgbClr val="333333"/>
                </a:solidFill>
                <a:latin typeface="Calibri"/>
              </a:rPr>
              <a:t>The ethics lesson matches Example 3.8, overall accuracy is not a fairness certificate</a:t>
            </a:r>
          </a:p>
          <a:p>
            <a:pPr>
              <a:spcAft>
                <a:spcPts val="1000"/>
              </a:spcAft>
              <a:buChar char="•"/>
              <a:lnSpc>
                <a:spcPts val="2200"/>
              </a:lnSpc>
            </a:pPr>
            <a:r>
              <a:rPr sz="2000" b="0">
                <a:solidFill>
                  <a:srgbClr val="333333"/>
                </a:solidFill>
                <a:latin typeface="Calibri"/>
              </a:rPr>
              <a:t>Chapter 7 develops detection and impact analysis for this case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Mitigation checklist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Addressing bias requires better data, explicit fairness criteria</a:t>
            </a:r>
          </a:p>
          <a:p>
            <a:pPr>
              <a:spcAft>
                <a:spcPts val="1000"/>
              </a:spcAft>
              <a:buChar char="•"/>
              <a:lnSpc>
                <a:spcPts val="2200"/>
              </a:lnSpc>
            </a:pPr>
            <a:r>
              <a:rPr sz="2000" b="0">
                <a:solidFill>
                  <a:srgbClr val="333333"/>
                </a:solidFill>
                <a:latin typeface="Calibri"/>
              </a:rPr>
              <a:t>At this chapter's level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Fairness work is continuous governance after the principles in Section 3.2</a:t>
            </a:r>
          </a:p>
          <a:p>
            <a:pPr>
              <a:spcAft>
                <a:spcPts val="1000"/>
              </a:spcAft>
              <a:buChar char="•"/>
              <a:lnSpc>
                <a:spcPts val="2200"/>
              </a:lnSpc>
            </a:pPr>
            <a:r>
              <a:rPr sz="2000" b="0">
                <a:solidFill>
                  <a:srgbClr val="333333"/>
                </a:solidFill>
                <a:latin typeface="Calibri"/>
              </a:rPr>
              <a:t>Selection and algorithmic bias are frequent entry points</a:t>
            </a:r>
          </a:p>
          <a:p>
            <a:pPr>
              <a:spcAft>
                <a:spcPts val="1000"/>
              </a:spcAft>
              <a:buChar char="•"/>
              <a:lnSpc>
                <a:spcPts val="2200"/>
              </a:lnSpc>
            </a:pPr>
            <a:r>
              <a:rPr sz="2000" b="0">
                <a:solidFill>
                  <a:srgbClr val="333333"/>
                </a:solidFill>
                <a:latin typeface="Calibri"/>
              </a:rPr>
              <a:t>Landmark cases illustrate mechanisms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real-world privacy laws, GDPR, HIPAA, CCPA, and selected other regimes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Summarize scope and principle highlights for GDPR, HIPAA</a:t>
            </a:r>
          </a:p>
          <a:p>
            <a:pPr>
              <a:spcAft>
                <a:spcPts val="1000"/>
              </a:spcAft>
              <a:buChar char="•"/>
              <a:lnSpc>
                <a:spcPts val="2200"/>
              </a:lnSpc>
            </a:pPr>
            <a:r>
              <a:rPr sz="2000" b="0">
                <a:solidFill>
                  <a:srgbClr val="333333"/>
                </a:solidFill>
                <a:latin typeface="Calibri"/>
              </a:rPr>
              <a:t>CCPA/CPRA, name data-subject or patient rights teams must honor</a:t>
            </a:r>
          </a:p>
          <a:p>
            <a:pPr>
              <a:spcAft>
                <a:spcPts val="1000"/>
              </a:spcAft>
              <a:buChar char="•"/>
              <a:lnSpc>
                <a:spcPts val="2200"/>
              </a:lnSpc>
            </a:pPr>
            <a:r>
              <a:rPr sz="2000" b="0">
                <a:solidFill>
                  <a:srgbClr val="333333"/>
                </a:solidFill>
                <a:latin typeface="Calibri"/>
              </a:rPr>
              <a:t>Recognize why global products need jurisdiction maps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principles to enforceable duties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Section 3.3 previewed GDPR and HIPAA at principle level</a:t>
            </a:r>
          </a:p>
          <a:p>
            <a:pPr>
              <a:spcAft>
                <a:spcPts val="1000"/>
              </a:spcAft>
              <a:buChar char="•"/>
              <a:lnSpc>
                <a:spcPts val="2200"/>
              </a:lnSpc>
            </a:pPr>
            <a:r>
              <a:rPr sz="2000" b="0">
                <a:solidFill>
                  <a:srgbClr val="333333"/>
                </a:solidFill>
                <a:latin typeface="Calibri"/>
              </a:rPr>
              <a:t>Details change with amendments, treat the text as a planning map for data teams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GDPR essentials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Or monitor, those people</a:t>
            </a:r>
          </a:p>
          <a:p>
            <a:pPr>
              <a:spcAft>
                <a:spcPts val="1000"/>
              </a:spcAft>
              <a:buChar char="•"/>
              <a:lnSpc>
                <a:spcPts val="2200"/>
              </a:lnSpc>
            </a:pPr>
            <a:r>
              <a:rPr sz="2000" b="0">
                <a:solidFill>
                  <a:srgbClr val="333333"/>
                </a:solidFill>
                <a:latin typeface="Calibri"/>
              </a:rPr>
              <a:t>Accountability with documented controls</a:t>
            </a:r>
          </a:p>
          <a:p>
            <a:pPr>
              <a:spcAft>
                <a:spcPts val="1000"/>
              </a:spcAft>
              <a:buChar char="•"/>
              <a:lnSpc>
                <a:spcPts val="2200"/>
              </a:lnSpc>
            </a:pPr>
            <a:r>
              <a:rPr sz="2000" b="0">
                <a:solidFill>
                  <a:srgbClr val="333333"/>
                </a:solidFill>
                <a:latin typeface="Calibri"/>
              </a:rPr>
              <a:t>Data-subject rights include access, rectification, erasure, restriction, portability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HIPAA essentials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HIPAA is a US federal framework for protected health information held by covered entities</a:t>
            </a:r>
          </a:p>
          <a:p>
            <a:pPr>
              <a:spcAft>
                <a:spcPts val="1000"/>
              </a:spcAft>
              <a:buChar char="•"/>
              <a:lnSpc>
                <a:spcPts val="2200"/>
              </a:lnSpc>
            </a:pPr>
            <a:r>
              <a:rPr sz="2000" b="0">
                <a:solidFill>
                  <a:srgbClr val="333333"/>
                </a:solidFill>
                <a:latin typeface="Calibri"/>
              </a:rPr>
              <a:t>The Privacy Rule limits uses and disclosures</a:t>
            </a:r>
          </a:p>
          <a:p>
            <a:pPr>
              <a:spcAft>
                <a:spcPts val="1000"/>
              </a:spcAft>
              <a:buChar char="•"/>
              <a:lnSpc>
                <a:spcPts val="2200"/>
              </a:lnSpc>
            </a:pPr>
            <a:r>
              <a:rPr sz="2000" b="0">
                <a:solidFill>
                  <a:srgbClr val="333333"/>
                </a:solidFill>
                <a:latin typeface="Calibri"/>
              </a:rPr>
              <a:t>Rehearsing notification workflows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CCPA and CPRA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To non-discrimination for exercising rights</a:t>
            </a:r>
          </a:p>
          <a:p>
            <a:pPr>
              <a:spcAft>
                <a:spcPts val="1000"/>
              </a:spcAft>
              <a:buChar char="•"/>
              <a:lnSpc>
                <a:spcPts val="2200"/>
              </a:lnSpc>
            </a:pPr>
            <a:r>
              <a:rPr sz="2000" b="0">
                <a:solidFill>
                  <a:srgbClr val="333333"/>
                </a:solidFill>
                <a:latin typeface="Calibri"/>
              </a:rPr>
              <a:t>Relative to GDPR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Other notable laws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COPPA requires verifiable parental consent before collecting personal information from</a:t>
            </a:r>
          </a:p>
          <a:p>
            <a:pPr>
              <a:spcAft>
                <a:spcPts val="1000"/>
              </a:spcAft>
              <a:buChar char="•"/>
              <a:lnSpc>
                <a:spcPts val="2200"/>
              </a:lnSpc>
            </a:pPr>
            <a:r>
              <a:rPr sz="2000" b="0">
                <a:solidFill>
                  <a:srgbClr val="333333"/>
                </a:solidFill>
                <a:latin typeface="Calibri"/>
              </a:rPr>
              <a:t>Brazil's LGPD and China's PIPL echo GDPR-style themes while remaining distinct enforcement</a:t>
            </a:r>
          </a:p>
          <a:p>
            <a:pPr>
              <a:spcAft>
                <a:spcPts val="1000"/>
              </a:spcAft>
              <a:buChar char="•"/>
              <a:lnSpc>
                <a:spcPts val="2200"/>
              </a:lnSpc>
            </a:pPr>
            <a:r>
              <a:rPr sz="2000" b="0">
                <a:solidFill>
                  <a:srgbClr val="333333"/>
                </a:solidFill>
                <a:latin typeface="Calibri"/>
              </a:rPr>
              <a:t>Global products need maps of which residents are in scope, where data may be stored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3.28 — GDPR fine ceiling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3.28 — hands-on module</a:t>
            </a:r>
          </a:p>
          <a:p>
            <a:pPr>
              <a:spcAft>
                <a:spcPts val="1000"/>
              </a:spcAft>
              <a:buChar char="•"/>
              <a:lnSpc>
                <a:spcPts val="2200"/>
              </a:lnSpc>
            </a:pPr>
            <a:r>
              <a:rPr sz="2000" b="0">
                <a:solidFill>
                  <a:srgbClr val="333333"/>
                </a:solidFill>
                <a:latin typeface="Calibri"/>
              </a:rPr>
              <a:t>Example 3.28 illustrates regulatory exposure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Statutes encode rights catalogs and accountability regimes, not merely privacy policies</a:t>
            </a:r>
          </a:p>
          <a:p>
            <a:pPr>
              <a:spcAft>
                <a:spcPts val="1000"/>
              </a:spcAft>
              <a:buChar char="•"/>
              <a:lnSpc>
                <a:spcPts val="2200"/>
              </a:lnSpc>
            </a:pPr>
            <a:r>
              <a:rPr sz="2000" b="0">
                <a:solidFill>
                  <a:srgbClr val="333333"/>
                </a:solidFill>
                <a:latin typeface="Calibri"/>
              </a:rPr>
              <a:t>GDPR, HIPAA, and CCPA/CPRA overlap in themes but differ in scope and posture</a:t>
            </a:r>
          </a:p>
          <a:p>
            <a:pPr>
              <a:spcAft>
                <a:spcPts val="1000"/>
              </a:spcAft>
              <a:buChar char="•"/>
              <a:lnSpc>
                <a:spcPts val="2200"/>
              </a:lnSpc>
            </a:pPr>
            <a:r>
              <a:rPr sz="2000" b="0">
                <a:solidFill>
                  <a:srgbClr val="333333"/>
                </a:solidFill>
                <a:latin typeface="Calibri"/>
              </a:rPr>
              <a:t>Multistate and multinational operators often adopt the strictest baseline they face while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data breaches, definitions, causes, and three landmark failure modes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Define a data breach, name common causes</a:t>
            </a:r>
          </a:p>
          <a:p>
            <a:pPr>
              <a:spcAft>
                <a:spcPts val="1000"/>
              </a:spcAft>
              <a:buChar char="•"/>
              <a:lnSpc>
                <a:spcPts val="2200"/>
              </a:lnSpc>
            </a:pPr>
            <a:r>
              <a:rPr sz="2000" b="0">
                <a:solidFill>
                  <a:srgbClr val="333333"/>
                </a:solidFill>
                <a:latin typeface="Calibri"/>
              </a:rPr>
              <a:t>Distinguish three organizational failure modes illustrated by Equifax, Yahoo</a:t>
            </a:r>
          </a:p>
          <a:p>
            <a:pPr>
              <a:spcAft>
                <a:spcPts val="1000"/>
              </a:spcAft>
              <a:buChar char="•"/>
              <a:lnSpc>
                <a:spcPts val="2200"/>
              </a:lnSpc>
            </a:pPr>
            <a:r>
              <a:rPr sz="2000" b="0">
                <a:solidFill>
                  <a:srgbClr val="333333"/>
                </a:solidFill>
                <a:latin typeface="Calibri"/>
              </a:rPr>
              <a:t>Target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Understanding data breaches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Excessive third-party access</a:t>
            </a:r>
          </a:p>
          <a:p>
            <a:pPr>
              <a:spcAft>
                <a:spcPts val="1000"/>
              </a:spcAft>
              <a:buChar char="•"/>
              <a:lnSpc>
                <a:spcPts val="2200"/>
              </a:lnSpc>
            </a:pPr>
            <a:r>
              <a:rPr sz="2000" b="0">
                <a:solidFill>
                  <a:srgbClr val="333333"/>
                </a:solidFill>
                <a:latin typeface="Calibri"/>
              </a:rPr>
              <a:t>Organizations storing identity</a:t>
            </a:r>
          </a:p>
          <a:p>
            <a:pPr>
              <a:spcAft>
                <a:spcPts val="1000"/>
              </a:spcAft>
              <a:buChar char="•"/>
              <a:lnSpc>
                <a:spcPts val="2200"/>
              </a:lnSpc>
            </a:pPr>
            <a:r>
              <a:rPr sz="2000" b="0">
                <a:solidFill>
                  <a:srgbClr val="333333"/>
                </a:solidFill>
                <a:latin typeface="Calibri"/>
              </a:rPr>
              <a:t>Statute-level notification clocks assume teams can detect and classify incidents quickly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3.22 — Data breach severity range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3.22 — hands-on module</a:t>
            </a:r>
          </a:p>
          <a:p>
            <a:pPr>
              <a:spcAft>
                <a:spcPts val="1000"/>
              </a:spcAft>
              <a:buChar char="•"/>
              <a:lnSpc>
                <a:spcPts val="2200"/>
              </a:lnSpc>
            </a:pPr>
            <a:r>
              <a:rPr sz="2000" b="0">
                <a:solidFill>
                  <a:srgbClr val="333333"/>
                </a:solidFill>
                <a:latin typeface="Calibri"/>
              </a:rPr>
              <a:t>Example 3.22 states the severity range</a:t>
            </a:r>
          </a:p>
          <a:p>
            <a:pPr>
              <a:spcAft>
                <a:spcPts val="1000"/>
              </a:spcAft>
              <a:buChar char="•"/>
              <a:lnSpc>
                <a:spcPts val="2200"/>
              </a:lnSpc>
            </a:pPr>
            <a:r>
              <a:rPr sz="2000" b="0">
                <a:solidFill>
                  <a:srgbClr val="333333"/>
                </a:solidFill>
                <a:latin typeface="Calibri"/>
              </a:rPr>
              <a:t>Impact scales with sensitivity, volume, dwell time before detection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Equifax — unpatched internet-facing systems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3.23 describes the 2017 Equifax incident</a:t>
            </a:r>
          </a:p>
          <a:p>
            <a:pPr>
              <a:spcAft>
                <a:spcPts val="1000"/>
              </a:spcAft>
              <a:buChar char="•"/>
              <a:lnSpc>
                <a:spcPts val="2200"/>
              </a:lnSpc>
            </a:pPr>
            <a:r>
              <a:rPr sz="2000" b="0">
                <a:solidFill>
                  <a:srgbClr val="333333"/>
                </a:solidFill>
                <a:latin typeface="Calibri"/>
              </a:rPr>
              <a:t>The failure mode is delayed patching and weak monitoring on high-value identity stores</a:t>
            </a:r>
          </a:p>
          <a:p>
            <a:pPr>
              <a:spcAft>
                <a:spcPts val="1000"/>
              </a:spcAft>
              <a:buChar char="•"/>
              <a:lnSpc>
                <a:spcPts val="2200"/>
              </a:lnSpc>
            </a:pPr>
            <a:r>
              <a:rPr sz="2000" b="0">
                <a:solidFill>
                  <a:srgbClr val="333333"/>
                </a:solidFill>
                <a:latin typeface="Calibri"/>
              </a:rPr>
              <a:t>Downstream costs appear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3.23 — Equifax case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3.23 — hands-on module</a:t>
            </a:r>
          </a:p>
          <a:p>
            <a:pPr>
              <a:spcAft>
                <a:spcPts val="1000"/>
              </a:spcAft>
              <a:buChar char="•"/>
              <a:lnSpc>
                <a:spcPts val="2200"/>
              </a:lnSpc>
            </a:pPr>
            <a:r>
              <a:rPr sz="2000" b="0">
                <a:solidFill>
                  <a:srgbClr val="333333"/>
                </a:solidFill>
                <a:latin typeface="Calibri"/>
              </a:rPr>
              <a:t>The patching-discipline lesson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Yahoo — delayed disclosure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3.24 covers Yahoo breaches affecting hundreds of millions of accounts</a:t>
            </a:r>
          </a:p>
          <a:p>
            <a:pPr>
              <a:spcAft>
                <a:spcPts val="1000"/>
              </a:spcAft>
              <a:buChar char="•"/>
              <a:lnSpc>
                <a:spcPts val="2200"/>
              </a:lnSpc>
            </a:pPr>
            <a:r>
              <a:rPr sz="2000" b="0">
                <a:solidFill>
                  <a:srgbClr val="333333"/>
                </a:solidFill>
                <a:latin typeface="Calibri"/>
              </a:rPr>
              <a:t>The failure mode is late accountability to users and markets after compromise at consumer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Target — third-party vendor path</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3.25 describes attackers using third-party vendor access to reach point-of-sale</a:t>
            </a:r>
          </a:p>
          <a:p>
            <a:pPr>
              <a:spcAft>
                <a:spcPts val="1000"/>
              </a:spcAft>
              <a:buChar char="•"/>
              <a:lnSpc>
                <a:spcPts val="2200"/>
              </a:lnSpc>
            </a:pPr>
            <a:r>
              <a:rPr sz="2000" b="0">
                <a:solidFill>
                  <a:srgbClr val="333333"/>
                </a:solidFill>
                <a:latin typeface="Calibri"/>
              </a:rPr>
              <a:t>The failure mode is vendor risk and malware on retail networks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Breach risk is organizational as much as cryptographic</a:t>
            </a:r>
          </a:p>
          <a:p>
            <a:pPr>
              <a:spcAft>
                <a:spcPts val="1000"/>
              </a:spcAft>
              <a:buChar char="•"/>
              <a:lnSpc>
                <a:spcPts val="2200"/>
              </a:lnSpc>
            </a:pPr>
            <a:r>
              <a:rPr sz="2000" b="0">
                <a:solidFill>
                  <a:srgbClr val="333333"/>
                </a:solidFill>
                <a:latin typeface="Calibri"/>
              </a:rPr>
              <a:t>Three patterns recur, unpatched systems, delayed disclosure, and vendor-mediated entry</a:t>
            </a:r>
          </a:p>
          <a:p>
            <a:pPr>
              <a:spcAft>
                <a:spcPts val="1000"/>
              </a:spcAft>
              <a:buChar char="•"/>
              <a:lnSpc>
                <a:spcPts val="2200"/>
              </a:lnSpc>
            </a:pPr>
            <a:r>
              <a:rPr sz="2000" b="0">
                <a:solidFill>
                  <a:srgbClr val="333333"/>
                </a:solidFill>
                <a:latin typeface="Calibri"/>
              </a:rPr>
              <a:t>Prevention controls mapped to each pattern come next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breach consequences and prevention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List major consequence categories for organizations and individuals</a:t>
            </a:r>
          </a:p>
          <a:p>
            <a:pPr>
              <a:spcAft>
                <a:spcPts val="1000"/>
              </a:spcAft>
              <a:buChar char="•"/>
              <a:lnSpc>
                <a:spcPts val="2200"/>
              </a:lnSpc>
            </a:pPr>
            <a:r>
              <a:rPr sz="2000" b="0">
                <a:solidFill>
                  <a:srgbClr val="333333"/>
                </a:solidFill>
                <a:latin typeface="Calibri"/>
              </a:rPr>
              <a:t>Match prevention controls to unpatched systems, delayed disclosure</a:t>
            </a:r>
          </a:p>
          <a:p>
            <a:pPr>
              <a:spcAft>
                <a:spcPts val="1000"/>
              </a:spcAft>
              <a:buChar char="•"/>
              <a:lnSpc>
                <a:spcPts val="2200"/>
              </a:lnSpc>
            </a:pPr>
            <a:r>
              <a:rPr sz="2000" b="0">
                <a:solidFill>
                  <a:srgbClr val="333333"/>
                </a:solidFill>
                <a:latin typeface="Calibri"/>
              </a:rPr>
              <a:t>Vendor entry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Consequences for organizations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Financial losses include investigation, notification, credit monitoring, litigation</a:t>
            </a:r>
          </a:p>
          <a:p>
            <a:pPr>
              <a:spcAft>
                <a:spcPts val="1000"/>
              </a:spcAft>
              <a:buChar char="•"/>
              <a:lnSpc>
                <a:spcPts val="2200"/>
              </a:lnSpc>
            </a:pPr>
            <a:r>
              <a:rPr sz="2000" b="0">
                <a:solidFill>
                  <a:srgbClr val="333333"/>
                </a:solidFill>
                <a:latin typeface="Calibri"/>
              </a:rPr>
              <a:t>Regulatory penalties can reach GDPR ceilings illustrated in Example 3.28</a:t>
            </a:r>
          </a:p>
          <a:p>
            <a:pPr>
              <a:spcAft>
                <a:spcPts val="1000"/>
              </a:spcAft>
              <a:buChar char="•"/>
              <a:lnSpc>
                <a:spcPts val="2200"/>
              </a:lnSpc>
            </a:pPr>
            <a:r>
              <a:rPr sz="2000" b="0">
                <a:solidFill>
                  <a:srgbClr val="333333"/>
                </a:solidFill>
                <a:latin typeface="Calibri"/>
              </a:rPr>
              <a:t>Reputational damage and operational downtime while systems are rebuilt extend harm beyond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3.26 — Equifax breach costs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3.26 — hands-on module</a:t>
            </a:r>
          </a:p>
          <a:p>
            <a:pPr>
              <a:spcAft>
                <a:spcPts val="1000"/>
              </a:spcAft>
              <a:buChar char="•"/>
              <a:lnSpc>
                <a:spcPts val="2200"/>
              </a:lnSpc>
            </a:pPr>
            <a:r>
              <a:rPr sz="2000" b="0">
                <a:solidFill>
                  <a:srgbClr val="333333"/>
                </a:solidFill>
                <a:latin typeface="Calibri"/>
              </a:rPr>
              <a:t>Example 3.26 attaches hundreds of millions of dollars in settlements, remediation</a:t>
            </a:r>
          </a:p>
          <a:p>
            <a:pPr>
              <a:spcAft>
                <a:spcPts val="1000"/>
              </a:spcAft>
              <a:buChar char="•"/>
              <a:lnSpc>
                <a:spcPts val="2200"/>
              </a:lnSpc>
            </a:pPr>
            <a:r>
              <a:rPr sz="2000" b="0">
                <a:solidFill>
                  <a:srgbClr val="333333"/>
                </a:solidFill>
                <a:latin typeface="Calibri"/>
              </a:rPr>
              <a:t>Delayed patching on high-value identity stores becomes a balance-sheet event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3.27 — Yahoo breach and acquisition impact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3.27 — hands-on module</a:t>
            </a:r>
          </a:p>
          <a:p>
            <a:pPr>
              <a:spcAft>
                <a:spcPts val="1000"/>
              </a:spcAft>
              <a:buChar char="•"/>
              <a:lnSpc>
                <a:spcPts val="2200"/>
              </a:lnSpc>
            </a:pPr>
            <a:r>
              <a:rPr sz="2000" b="0">
                <a:solidFill>
                  <a:srgbClr val="333333"/>
                </a:solidFill>
                <a:latin typeface="Calibri"/>
              </a:rPr>
              <a:t>Example 3.27 discusses governance and cybersecurity oversight failures that coincided with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Consequences for individuals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Individuals whose identifiers leak may face identity theft and fraud for years</a:t>
            </a:r>
          </a:p>
          <a:p>
            <a:pPr>
              <a:spcAft>
                <a:spcPts val="1000"/>
              </a:spcAft>
              <a:buChar char="•"/>
              <a:lnSpc>
                <a:spcPts val="2200"/>
              </a:lnSpc>
            </a:pPr>
            <a:r>
              <a:rPr sz="2000" b="0">
                <a:solidFill>
                  <a:srgbClr val="333333"/>
                </a:solidFill>
                <a:latin typeface="Calibri"/>
              </a:rPr>
              <a:t>Organizations may suffer operational paralysis while forensic work continues</a:t>
            </a:r>
          </a:p>
          <a:p>
            <a:pPr>
              <a:spcAft>
                <a:spcPts val="1000"/>
              </a:spcAft>
              <a:buChar char="•"/>
              <a:lnSpc>
                <a:spcPts val="2200"/>
              </a:lnSpc>
            </a:pPr>
            <a:r>
              <a:rPr sz="2000" b="0">
                <a:solidFill>
                  <a:srgbClr val="333333"/>
                </a:solidFill>
                <a:latin typeface="Calibri"/>
              </a:rPr>
              <a:t>Prevention therefore protects people first and enterprise value second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Prevention mapped to failure modes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Timely patching and monitoring address unpatched internet-facing systems</a:t>
            </a:r>
          </a:p>
          <a:p>
            <a:pPr>
              <a:spcAft>
                <a:spcPts val="1000"/>
              </a:spcAft>
              <a:buChar char="•"/>
              <a:lnSpc>
                <a:spcPts val="2200"/>
              </a:lnSpc>
            </a:pPr>
            <a:r>
              <a:rPr sz="2000" b="0">
                <a:solidFill>
                  <a:srgbClr val="333333"/>
                </a:solidFill>
                <a:latin typeface="Calibri"/>
              </a:rPr>
              <a:t>Rehearsed detection, escalation, and disclosure address delayed accountability</a:t>
            </a:r>
          </a:p>
          <a:p>
            <a:pPr>
              <a:spcAft>
                <a:spcPts val="1000"/>
              </a:spcAft>
              <a:buChar char="•"/>
              <a:lnSpc>
                <a:spcPts val="2200"/>
              </a:lnSpc>
            </a:pPr>
            <a:r>
              <a:rPr sz="2000" b="0">
                <a:solidFill>
                  <a:srgbClr val="333333"/>
                </a:solidFill>
                <a:latin typeface="Calibri"/>
              </a:rPr>
              <a:t>Vendor risk reviews and least-privilege third-party access address supply-chain entry</a:t>
            </a:r>
          </a:p>
          <a:p>
            <a:pPr>
              <a:spcAft>
                <a:spcPts val="1000"/>
              </a:spcAft>
              <a:buChar char="•"/>
              <a:lnSpc>
                <a:spcPts val="2200"/>
              </a:lnSpc>
            </a:pPr>
            <a:r>
              <a:rPr sz="2000" b="0">
                <a:solidFill>
                  <a:srgbClr val="333333"/>
                </a:solidFill>
                <a:latin typeface="Calibri"/>
              </a:rPr>
              <a:t>Data minimization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No single control is sufficient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Equifax, Yahoo, and Target each failed at a different layer of the stack</a:t>
            </a:r>
          </a:p>
          <a:p>
            <a:pPr>
              <a:spcAft>
                <a:spcPts val="1000"/>
              </a:spcAft>
              <a:buChar char="•"/>
              <a:lnSpc>
                <a:spcPts val="2200"/>
              </a:lnSpc>
            </a:pPr>
            <a:r>
              <a:rPr sz="2000" b="0">
                <a:solidFill>
                  <a:srgbClr val="333333"/>
                </a:solidFill>
                <a:latin typeface="Calibri"/>
              </a:rPr>
              <a:t>Prevention should map to failure modes from Section 3.7, not only to a generic checklist</a:t>
            </a:r>
          </a:p>
          <a:p>
            <a:pPr>
              <a:spcAft>
                <a:spcPts val="1000"/>
              </a:spcAft>
              <a:buChar char="•"/>
              <a:lnSpc>
                <a:spcPts val="2200"/>
              </a:lnSpc>
            </a:pPr>
            <a:r>
              <a:rPr sz="2000" b="0">
                <a:solidFill>
                  <a:srgbClr val="333333"/>
                </a:solidFill>
                <a:latin typeface="Calibri"/>
              </a:rPr>
              <a:t>Chapter 1 already named encryption and access control as management practices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Breaches are balance-sheet and governance events, not only IT incidents</a:t>
            </a:r>
          </a:p>
          <a:p>
            <a:pPr>
              <a:spcAft>
                <a:spcPts val="1000"/>
              </a:spcAft>
              <a:buChar char="•"/>
              <a:lnSpc>
                <a:spcPts val="2200"/>
              </a:lnSpc>
            </a:pPr>
            <a:r>
              <a:rPr sz="2000" b="0">
                <a:solidFill>
                  <a:srgbClr val="333333"/>
                </a:solidFill>
                <a:latin typeface="Calibri"/>
              </a:rPr>
              <a:t>Map controls to known failure patterns</a:t>
            </a:r>
          </a:p>
          <a:p>
            <a:pPr>
              <a:spcAft>
                <a:spcPts val="1000"/>
              </a:spcAft>
              <a:buChar char="•"/>
              <a:lnSpc>
                <a:spcPts val="2200"/>
              </a:lnSpc>
            </a:pPr>
            <a:r>
              <a:rPr sz="2000" b="0">
                <a:solidFill>
                  <a:srgbClr val="333333"/>
                </a:solidFill>
                <a:latin typeface="Calibri"/>
              </a:rPr>
              <a:t>Minimization ensures stolen stores contain less that can be abused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ethical decision-making, structured lenses for conflicts among principles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Describe utilitarian, rights-based, virtue</a:t>
            </a:r>
          </a:p>
          <a:p>
            <a:pPr>
              <a:spcAft>
                <a:spcPts val="1000"/>
              </a:spcAft>
              <a:buChar char="•"/>
              <a:lnSpc>
                <a:spcPts val="2200"/>
              </a:lnSpc>
            </a:pPr>
            <a:r>
              <a:rPr sz="2000" b="0">
                <a:solidFill>
                  <a:srgbClr val="333333"/>
                </a:solidFill>
                <a:latin typeface="Calibri"/>
              </a:rPr>
              <a:t>Justice reasoning</a:t>
            </a:r>
          </a:p>
          <a:p>
            <a:pPr>
              <a:spcAft>
                <a:spcPts val="1000"/>
              </a:spcAft>
              <a:buChar char="•"/>
              <a:lnSpc>
                <a:spcPts val="2200"/>
              </a:lnSpc>
            </a:pPr>
            <a:r>
              <a:rPr sz="2000" b="0">
                <a:solidFill>
                  <a:srgbClr val="333333"/>
                </a:solidFill>
                <a:latin typeface="Calibri"/>
              </a:rPr>
              <a:t>Explain why stakeholder review belongs before locking thresholds or sharing defaults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lenses for data work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It formalizes the utility–privacy tension from Section 3.2</a:t>
            </a:r>
          </a:p>
          <a:p>
            <a:pPr>
              <a:spcAft>
                <a:spcPts val="1000"/>
              </a:spcAft>
              <a:buChar char="•"/>
              <a:lnSpc>
                <a:spcPts val="2200"/>
              </a:lnSpc>
            </a:pPr>
            <a:r>
              <a:rPr sz="2000" b="0">
                <a:solidFill>
                  <a:srgbClr val="333333"/>
                </a:solidFill>
                <a:latin typeface="Calibri"/>
              </a:rPr>
              <a:t>Rights-based reasoning holds that autonomy, privacy</a:t>
            </a:r>
          </a:p>
          <a:p>
            <a:pPr>
              <a:spcAft>
                <a:spcPts val="1000"/>
              </a:spcAft>
              <a:buChar char="•"/>
              <a:lnSpc>
                <a:spcPts val="2200"/>
              </a:lnSpc>
            </a:pPr>
            <a:r>
              <a:rPr sz="2000" b="0">
                <a:solidFill>
                  <a:srgbClr val="333333"/>
                </a:solidFill>
                <a:latin typeface="Calibri"/>
              </a:rPr>
              <a:t>Virtue ethics asks what an honest, fair</a:t>
            </a:r>
          </a:p>
          <a:p>
            <a:pPr>
              <a:spcAft>
                <a:spcPts val="1000"/>
              </a:spcAft>
              <a:buChar char="•"/>
              <a:lnSpc>
                <a:spcPts val="2200"/>
              </a:lnSpc>
            </a:pPr>
            <a:r>
              <a:rPr sz="2000" b="0">
                <a:solidFill>
                  <a:srgbClr val="333333"/>
                </a:solidFill>
                <a:latin typeface="Calibri"/>
              </a:rPr>
              <a:t>Justice reasoning inspects whether burdens fall disproportionately on already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3.29 — Healthcare prediction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3.29 — hands-on module</a:t>
            </a:r>
          </a:p>
          <a:p>
            <a:pPr>
              <a:spcAft>
                <a:spcPts val="1000"/>
              </a:spcAft>
              <a:buChar char="•"/>
              <a:lnSpc>
                <a:spcPts val="2200"/>
              </a:lnSpc>
            </a:pPr>
            <a:r>
              <a:rPr sz="2000" b="0">
                <a:solidFill>
                  <a:srgbClr val="333333"/>
                </a:solidFill>
                <a:latin typeface="Calibri"/>
              </a:rPr>
              <a:t>Even when individuals did not consent to research reuse</a:t>
            </a:r>
          </a:p>
          <a:p>
            <a:pPr>
              <a:spcAft>
                <a:spcPts val="1000"/>
              </a:spcAft>
              <a:buChar char="•"/>
              <a:lnSpc>
                <a:spcPts val="2200"/>
              </a:lnSpc>
            </a:pPr>
            <a:r>
              <a:rPr sz="2000" b="0">
                <a:solidFill>
                  <a:srgbClr val="333333"/>
                </a:solidFill>
                <a:latin typeface="Calibri"/>
              </a:rPr>
              <a:t>Which is why rights-based checks are needed in parallel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Rights, virtue, and justice vignettes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Duties rather than optional costs</a:t>
            </a:r>
          </a:p>
          <a:p>
            <a:pPr>
              <a:spcAft>
                <a:spcPts val="1000"/>
              </a:spcAft>
              <a:buChar char="•"/>
              <a:lnSpc>
                <a:spcPts val="2200"/>
              </a:lnSpc>
            </a:pPr>
            <a:r>
              <a:rPr sz="2000" b="0">
                <a:solidFill>
                  <a:srgbClr val="333333"/>
                </a:solidFill>
                <a:latin typeface="Calibri"/>
              </a:rPr>
              <a:t>Virtue ethics may require disclosing systematic label gaps rather than selling cleaner</a:t>
            </a:r>
          </a:p>
          <a:p>
            <a:pPr>
              <a:spcAft>
                <a:spcPts val="1000"/>
              </a:spcAft>
              <a:buChar char="•"/>
              <a:lnSpc>
                <a:spcPts val="2200"/>
              </a:lnSpc>
            </a:pPr>
            <a:r>
              <a:rPr sz="2000" b="0">
                <a:solidFill>
                  <a:srgbClr val="333333"/>
                </a:solidFill>
                <a:latin typeface="Calibri"/>
              </a:rPr>
              <a:t>Justice reasoning may delay hiring ranker launch until subgroup audits show disparities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3.33 — User data collection for marketing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3.33 — hands-on module</a:t>
            </a:r>
          </a:p>
          <a:p>
            <a:pPr>
              <a:spcAft>
                <a:spcPts val="1000"/>
              </a:spcAft>
              <a:buChar char="•"/>
              <a:lnSpc>
                <a:spcPts val="2200"/>
              </a:lnSpc>
            </a:pPr>
            <a:r>
              <a:rPr sz="2000" b="0">
                <a:solidFill>
                  <a:srgbClr val="333333"/>
                </a:solidFill>
                <a:latin typeface="Calibri"/>
              </a:rPr>
              <a:t>Example 3.33 applies all four lenses to marketing collection under a vague notice</a:t>
            </a:r>
          </a:p>
          <a:p>
            <a:pPr>
              <a:spcAft>
                <a:spcPts val="1000"/>
              </a:spcAft>
              <a:buChar char="•"/>
              <a:lnSpc>
                <a:spcPts val="2200"/>
              </a:lnSpc>
            </a:pPr>
            <a:r>
              <a:rPr sz="2000" b="0">
                <a:solidFill>
                  <a:srgbClr val="333333"/>
                </a:solidFill>
                <a:latin typeface="Calibri"/>
              </a:rPr>
              <a:t>Utilitarian views emphasize engagement gains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`modules/chapter3/example33/`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3.34 — AI in criminal justice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3.34 — hands-on module</a:t>
            </a:r>
          </a:p>
          <a:p>
            <a:pPr>
              <a:spcAft>
                <a:spcPts val="1000"/>
              </a:spcAft>
              <a:buChar char="•"/>
              <a:lnSpc>
                <a:spcPts val="2200"/>
              </a:lnSpc>
            </a:pPr>
            <a:r>
              <a:rPr sz="2000" b="0">
                <a:solidFill>
                  <a:srgbClr val="333333"/>
                </a:solidFill>
                <a:latin typeface="Calibri"/>
              </a:rPr>
              <a:t>Example 3.34 returns to recidivism and hotspot conflicts from earlier in the chapter</a:t>
            </a:r>
          </a:p>
          <a:p>
            <a:pPr>
              <a:spcAft>
                <a:spcPts val="1000"/>
              </a:spcAft>
              <a:buChar char="•"/>
              <a:lnSpc>
                <a:spcPts val="2200"/>
              </a:lnSpc>
            </a:pPr>
            <a:r>
              <a:rPr sz="2000" b="0">
                <a:solidFill>
                  <a:srgbClr val="333333"/>
                </a:solidFill>
                <a:latin typeface="Calibri"/>
              </a:rPr>
              <a:t>A model may improve average institutional metrics while concentrating harm on already</a:t>
            </a:r>
          </a:p>
          <a:p>
            <a:pPr>
              <a:spcAft>
                <a:spcPts val="1000"/>
              </a:spcAft>
              <a:buChar char="•"/>
              <a:lnSpc>
                <a:spcPts val="2200"/>
              </a:lnSpc>
            </a:pPr>
            <a:r>
              <a:rPr sz="2000" b="0">
                <a:solidFill>
                  <a:srgbClr val="333333"/>
                </a:solidFill>
                <a:latin typeface="Calibri"/>
              </a:rPr>
              <a:t>Justice criteria that inspect subgroup harms, not citywide averages alone</a:t>
            </a:r>
          </a:p>
          <a:p>
            <a:pPr>
              <a:spcAft>
                <a:spcPts val="1000"/>
              </a:spcAft>
              <a:buChar char="•"/>
              <a:lnSpc>
                <a:spcPts val="2200"/>
              </a:lnSpc>
            </a:pPr>
            <a:r>
              <a:rPr sz="2000" b="0">
                <a:solidFill>
                  <a:srgbClr val="333333"/>
                </a:solidFill>
                <a:latin typeface="Calibri"/>
              </a:rPr>
              <a:t>View files: `modules/chapter3/example34/`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Stakeholder involvement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Section 3.1 and Example 3.1 named practitioners, leaders, policymakers, and data subjects</a:t>
            </a:r>
          </a:p>
          <a:p>
            <a:pPr>
              <a:spcAft>
                <a:spcPts val="1000"/>
              </a:spcAft>
              <a:buChar char="•"/>
              <a:lnSpc>
                <a:spcPts val="2200"/>
              </a:lnSpc>
            </a:pPr>
            <a:r>
              <a:rPr sz="2000" b="0">
                <a:solidFill>
                  <a:srgbClr val="333333"/>
                </a:solidFill>
                <a:latin typeface="Calibri"/>
              </a:rPr>
              <a:t>Decision-making adds a process requirement</a:t>
            </a:r>
          </a:p>
          <a:p>
            <a:pPr>
              <a:spcAft>
                <a:spcPts val="1000"/>
              </a:spcAft>
              <a:buChar char="•"/>
              <a:lnSpc>
                <a:spcPts val="2200"/>
              </a:lnSpc>
            </a:pPr>
            <a:r>
              <a:rPr sz="2000" b="0">
                <a:solidFill>
                  <a:srgbClr val="333333"/>
                </a:solidFill>
                <a:latin typeface="Calibri"/>
              </a:rPr>
              <a:t>Document who was consulted, which lens prevailed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No single lens dissolves every conflict, teams should apply several deliberately</a:t>
            </a:r>
          </a:p>
          <a:p>
            <a:pPr>
              <a:spcAft>
                <a:spcPts val="1000"/>
              </a:spcAft>
              <a:buChar char="•"/>
              <a:lnSpc>
                <a:spcPts val="2200"/>
              </a:lnSpc>
            </a:pPr>
            <a:r>
              <a:rPr sz="2000" b="0">
                <a:solidFill>
                  <a:srgbClr val="333333"/>
                </a:solidFill>
                <a:latin typeface="Calibri"/>
              </a:rPr>
              <a:t>Stakeholder review surfaces residual risks a single product owner may miss</a:t>
            </a:r>
          </a:p>
          <a:p>
            <a:pPr>
              <a:spcAft>
                <a:spcPts val="1000"/>
              </a:spcAft>
              <a:buChar char="•"/>
              <a:lnSpc>
                <a:spcPts val="2200"/>
              </a:lnSpc>
            </a:pPr>
            <a:r>
              <a:rPr sz="2000" b="0">
                <a:solidFill>
                  <a:srgbClr val="333333"/>
                </a:solidFill>
                <a:latin typeface="Calibri"/>
              </a:rPr>
              <a:t>Accountability requires a record of the choice, not only the shipped feature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the final part on emerging trends, AI surveillance, global regulation friction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Describe AI-scale privacy risks, name two global regulation friction patterns</a:t>
            </a:r>
          </a:p>
          <a:p>
            <a:pPr>
              <a:spcAft>
                <a:spcPts val="1000"/>
              </a:spcAft>
              <a:buChar char="•"/>
              <a:lnSpc>
                <a:spcPts val="2200"/>
              </a:lnSpc>
            </a:pPr>
            <a:r>
              <a:rPr sz="2000" b="0">
                <a:solidFill>
                  <a:srgbClr val="333333"/>
                </a:solidFill>
                <a:latin typeface="Calibri"/>
              </a:rPr>
              <a:t>Identify near-term directions including privacy-enhancing technologies and stronger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AI and privacy concerns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Large-scale sensing and prediction create surveillance capacity that traditional</a:t>
            </a:r>
          </a:p>
          <a:p>
            <a:pPr>
              <a:spcAft>
                <a:spcPts val="1000"/>
              </a:spcAft>
              <a:buChar char="•"/>
              <a:lnSpc>
                <a:spcPts val="2200"/>
              </a:lnSpc>
            </a:pPr>
            <a:r>
              <a:rPr sz="2000" b="0">
                <a:solidFill>
                  <a:srgbClr val="333333"/>
                </a:solidFill>
                <a:latin typeface="Calibri"/>
              </a:rPr>
              <a:t>Example 3.35 focuses on facial analysis at city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3.35 — Surveillance and facial analysis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3.35 — hands-on module</a:t>
            </a:r>
          </a:p>
          <a:p>
            <a:pPr>
              <a:spcAft>
                <a:spcPts val="1000"/>
              </a:spcAft>
              <a:buChar char="•"/>
              <a:lnSpc>
                <a:spcPts val="2200"/>
              </a:lnSpc>
            </a:pPr>
            <a:r>
              <a:rPr sz="2000" b="0">
                <a:solidFill>
                  <a:srgbClr val="333333"/>
                </a:solidFill>
                <a:latin typeface="Calibri"/>
              </a:rPr>
              <a:t>Example 3.35 connects technical accuracy gaps to civil-liberties risk</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`modules/chapter3/example35/`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Ethics debates in deployed AI</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How much human control must remain in high-stakes loops</a:t>
            </a:r>
          </a:p>
          <a:p>
            <a:pPr>
              <a:spcAft>
                <a:spcPts val="1000"/>
              </a:spcAft>
              <a:buChar char="•"/>
              <a:lnSpc>
                <a:spcPts val="2200"/>
              </a:lnSpc>
            </a:pPr>
            <a:r>
              <a:rPr sz="2000" b="0">
                <a:solidFill>
                  <a:srgbClr val="333333"/>
                </a:solidFill>
                <a:latin typeface="Calibri"/>
              </a:rPr>
              <a:t>Example 3.37 illustrates autonomous vehicle liability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Global privacy regulation challenges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Cross-border products confront overlapping rules rather than a single global code</a:t>
            </a:r>
          </a:p>
          <a:p>
            <a:pPr>
              <a:spcAft>
                <a:spcPts val="1000"/>
              </a:spcAft>
              <a:buChar char="•"/>
              <a:lnSpc>
                <a:spcPts val="2200"/>
              </a:lnSpc>
            </a:pPr>
            <a:r>
              <a:rPr sz="2000" b="0">
                <a:solidFill>
                  <a:srgbClr val="333333"/>
                </a:solidFill>
                <a:latin typeface="Calibri"/>
              </a:rPr>
              <a:t>Request-handling workflows</a:t>
            </a:r>
          </a:p>
          <a:p>
            <a:pPr>
              <a:spcAft>
                <a:spcPts val="1000"/>
              </a:spcAft>
              <a:buChar char="•"/>
              <a:lnSpc>
                <a:spcPts val="2200"/>
              </a:lnSpc>
            </a:pPr>
            <a:r>
              <a:rPr sz="2000" b="0">
                <a:solidFill>
                  <a:srgbClr val="333333"/>
                </a:solidFill>
                <a:latin typeface="Calibri"/>
              </a:rPr>
              <a:t>Localization mandates and transfer restrictions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3.38 — Conflicting privacy regimes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3.38 — hands-on module</a:t>
            </a:r>
          </a:p>
          <a:p>
            <a:pPr>
              <a:spcAft>
                <a:spcPts val="1000"/>
              </a:spcAft>
              <a:buChar char="•"/>
              <a:lnSpc>
                <a:spcPts val="2200"/>
              </a:lnSpc>
            </a:pPr>
            <a:r>
              <a:rPr sz="2000" b="0">
                <a:solidFill>
                  <a:srgbClr val="333333"/>
                </a:solidFill>
                <a:latin typeface="Calibri"/>
              </a:rPr>
              <a:t>The operational cost of running multiple statutory programs in one product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`modules/chapter3/example38/`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Future directions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Privacy by Design defaults</a:t>
            </a:r>
          </a:p>
          <a:p>
            <a:pPr>
              <a:spcAft>
                <a:spcPts val="1000"/>
              </a:spcAft>
              <a:buChar char="•"/>
              <a:lnSpc>
                <a:spcPts val="2200"/>
              </a:lnSpc>
            </a:pPr>
            <a:r>
              <a:rPr sz="2000" b="0">
                <a:solidFill>
                  <a:srgbClr val="333333"/>
                </a:solidFill>
                <a:latin typeface="Calibri"/>
              </a:rPr>
              <a:t>Example 3.41 sketches self-sovereign identity proposals that let people hold and present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3.41 — Self-sovereign identity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3.41 — hands-on module</a:t>
            </a:r>
          </a:p>
          <a:p>
            <a:pPr>
              <a:spcAft>
                <a:spcPts val="1000"/>
              </a:spcAft>
              <a:buChar char="•"/>
              <a:lnSpc>
                <a:spcPts val="2200"/>
              </a:lnSpc>
            </a:pPr>
            <a:r>
              <a:rPr sz="2000" b="0">
                <a:solidFill>
                  <a:srgbClr val="333333"/>
                </a:solidFill>
                <a:latin typeface="Calibri"/>
              </a:rPr>
              <a:t>Example 3.41 aligns with stronger individual control over personal data</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`modules/chapter3/example41/`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Emerging tensions</a:t>
            </a:r>
          </a:p>
          <a:p>
            <a:pPr>
              <a:spcAft>
                <a:spcPts val="1000"/>
              </a:spcAft>
              <a:buChar char="•"/>
              <a:lnSpc>
                <a:spcPts val="2200"/>
              </a:lnSpc>
            </a:pPr>
            <a:r>
              <a:rPr sz="2000" b="0">
                <a:solidFill>
                  <a:srgbClr val="333333"/>
                </a:solidFill>
                <a:latin typeface="Calibri"/>
              </a:rPr>
              <a:t>Chapter 7 deepens bias measurement and mitigation</a:t>
            </a:r>
          </a:p>
          <a:p>
            <a:pPr>
              <a:spcAft>
                <a:spcPts val="1000"/>
              </a:spcAft>
              <a:buChar char="•"/>
              <a:lnSpc>
                <a:spcPts val="2200"/>
              </a:lnSpc>
            </a:pPr>
            <a:r>
              <a:rPr sz="2000" b="0">
                <a:solidFill>
                  <a:srgbClr val="333333"/>
                </a:solidFill>
                <a:latin typeface="Calibri"/>
              </a:rPr>
              <a:t>Chapter 4 turns to annotation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AI scale outpaces notice-only governance</a:t>
            </a:r>
          </a:p>
          <a:p>
            <a:pPr>
              <a:spcAft>
                <a:spcPts val="1000"/>
              </a:spcAft>
              <a:buChar char="•"/>
              <a:lnSpc>
                <a:spcPts val="2200"/>
              </a:lnSpc>
            </a:pPr>
            <a:r>
              <a:rPr sz="2000" b="0">
                <a:solidFill>
                  <a:srgbClr val="333333"/>
                </a:solidFill>
                <a:latin typeface="Calibri"/>
              </a:rPr>
              <a:t>Global products need jurisdiction maps and transfer plans</a:t>
            </a:r>
          </a:p>
          <a:p>
            <a:pPr>
              <a:spcAft>
                <a:spcPts val="1000"/>
              </a:spcAft>
              <a:buChar char="•"/>
              <a:lnSpc>
                <a:spcPts val="2200"/>
              </a:lnSpc>
            </a:pPr>
            <a:r>
              <a:rPr sz="2000" b="0">
                <a:solidFill>
                  <a:srgbClr val="333333"/>
                </a:solidFill>
                <a:latin typeface="Calibri"/>
              </a:rPr>
              <a:t>PETs and design defaults are mainstream, the adoption gap is organizational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Pause for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Ethics and Privacy in Data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