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Bias and fairness connect ethical principles to model outcomes once systems affect hiring, credit, healthcare, or public safety. This part gives a chapter-level overview; Chapter 7 is the authoritative home for taxonomies, metrics, tools, and mitigation pipelines.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define bias in data work, distinguish selection from algorithmic bias, recognize two landmark case pointers, and list five mitigation habits at the ethics-chapter level.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Bias means systematic deviations in collection, labeling, analysis, or modeling that yield unfair or inaccurate outcomes for some groups. Data are not neutral mirrors—they reflect institutions and power relations that already discriminate. Example 3.17 states the general risk: systems trained on biased data can disproportionately harm underrepresented or historically mistreated groups.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3.17 highlights domains where errors change life chances—hiring, criminal justice, and healthcare—not only click-through rates. Open the example 17 module for this chapter to map harm pathways. Fairness was already a design constraint in Section 3.2; here we connect it to data and models.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Selection bias arises when training data are not representative of the population that will be scored, so error concentrates on underrepresented groups. Collection design in Chapter 2 is often where skew begins. Example 3.18 shows a diagnostic model trained mainly on one demographic slice—performance degrades for groups scarce in training.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3.18 relates to the non-maleficence vignette in Example 3.2: the model never saw a representative sample of the patients it will score. Try the example 18 module to review representation gaps before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Algorithmic bias arises from model design even when sampling looks balanced—features, objectives, and thresholds can still allocate error unevenly. Example 3.19 restates hiring rankers that reproduce gender or racial patterns via proxies even when protected attributes are omitted.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3.20 points to COMPAS recidivism tools: disparate error rates across racial groups under common thresholds, reflecting disparities already present in historical justice data. The ethics lesson matches Example 3.8—overall accuracy is not a fairness certificate. Chapter 7 develops detection and impact analysis for this case.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Addressing bias requires better data, explicit fairness criteria, and continuous monitoring—not a single algorithmic patch. At this chapter's level: improve representation at collection and labeling time; audit subgroup error before release; choose and document a fairness criterion; apply mitigation matched to the failure mode; and include diverse review of requirements and features.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Fairness work is continuous governance after the principles in Section 3.2—not a one-time training fix. Selection and algorithmic bias are frequent entry points. Landmark cases illustrate mechanisms; Chapter 7 supplies measurement once you choose which fairness claim to defend.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real-world privacy laws—GDPR, HIPAA, CCPA, and selected other regimes.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3 — Bias and fairness</a:t>
            </a:r>
          </a:p>
          <a:p>
            <a:pPr algn="ctr">
              <a:lnSpc>
                <a:spcPts val="2200"/>
              </a:lnSpc>
              <a:spcBef>
                <a:spcPts val="1400"/>
              </a:spcBef>
            </a:pPr>
            <a:r>
              <a:rPr sz="2600" b="0">
                <a:solidFill>
                  <a:srgbClr val="333333"/>
                </a:solidFill>
                <a:latin typeface="Calibri"/>
              </a:rPr>
              <a:t>Bias and fairness connect ethical principles to model outcomes once systems affect hiring</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Bias And Fairness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Define bias in data work</a:t>
            </a:r>
          </a:p>
          <a:p>
            <a:pPr lvl="0" marL="457200" indent="-228600">
              <a:buFont typeface="Calibri"/>
              <a:spcAft>
                <a:spcPts val="1000"/>
              </a:spcAft>
              <a:buSzPct val="100000"/>
              <a:buChar char="•"/>
              <a:lnSpc>
                <a:spcPts val="2200"/>
              </a:lnSpc>
            </a:pPr>
            <a:r>
              <a:rPr sz="2000" b="0">
                <a:solidFill>
                  <a:srgbClr val="333333"/>
                </a:solidFill>
                <a:latin typeface="Calibri"/>
              </a:rPr>
              <a:t>List five mitigation habits at the ethics-chapter level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Bias And Fairness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bias means here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Bias means systematic deviations in collection</a:t>
            </a:r>
          </a:p>
          <a:p>
            <a:pPr lvl="0" marL="457200" indent="-228600">
              <a:buFont typeface="Calibri"/>
              <a:spcAft>
                <a:spcPts val="1000"/>
              </a:spcAft>
              <a:buSzPct val="100000"/>
              <a:buChar char="•"/>
              <a:lnSpc>
                <a:spcPts val="2200"/>
              </a:lnSpc>
            </a:pPr>
            <a:r>
              <a:rPr sz="2000" b="0">
                <a:solidFill>
                  <a:srgbClr val="333333"/>
                </a:solidFill>
                <a:latin typeface="Calibri"/>
              </a:rPr>
              <a:t>Data are not neutral mirrors</a:t>
            </a:r>
          </a:p>
          <a:p>
            <a:pPr lvl="0" marL="457200" indent="-228600">
              <a:buFont typeface="Calibri"/>
              <a:spcAft>
                <a:spcPts val="1000"/>
              </a:spcAft>
              <a:buSzPct val="100000"/>
              <a:buChar char="•"/>
              <a:lnSpc>
                <a:spcPts val="2200"/>
              </a:lnSpc>
            </a:pPr>
            <a:r>
              <a:rPr sz="2000" b="0">
                <a:solidFill>
                  <a:srgbClr val="333333"/>
                </a:solidFill>
                <a:latin typeface="Calibri"/>
              </a:rPr>
              <a:t>Example 3.17 states the general risk</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Bias And Fairness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3.17 — Bias in AI system</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3.17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3.17 highlights domains where errors change life chances, hiring, criminal justice</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`modules/chapter3/example17/`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Bias And Fairness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Selection bias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So error concentrates on underrepresented groups</a:t>
            </a:r>
          </a:p>
          <a:p>
            <a:pPr lvl="0" marL="457200" indent="-228600">
              <a:buFont typeface="Calibri"/>
              <a:spcAft>
                <a:spcPts val="1000"/>
              </a:spcAft>
              <a:buSzPct val="100000"/>
              <a:buChar char="•"/>
              <a:lnSpc>
                <a:spcPts val="2200"/>
              </a:lnSpc>
            </a:pPr>
            <a:r>
              <a:rPr sz="2000" b="0">
                <a:solidFill>
                  <a:srgbClr val="333333"/>
                </a:solidFill>
                <a:latin typeface="Calibri"/>
              </a:rPr>
              <a:t>Collection design in Chapter 2 is often where skew begins</a:t>
            </a:r>
          </a:p>
          <a:p>
            <a:pPr lvl="0" marL="457200" indent="-228600">
              <a:buFont typeface="Calibri"/>
              <a:spcAft>
                <a:spcPts val="1000"/>
              </a:spcAft>
              <a:buSzPct val="100000"/>
              <a:buChar char="•"/>
              <a:lnSpc>
                <a:spcPts val="2200"/>
              </a:lnSpc>
            </a:pPr>
            <a:r>
              <a:rPr sz="2000" b="0">
                <a:solidFill>
                  <a:srgbClr val="333333"/>
                </a:solidFill>
                <a:latin typeface="Calibri"/>
              </a:rPr>
              <a:t>Example 3.18 shows a diagnostic model trained mainly on one demographic slice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Bias And Fairness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3.18 — Selection bias in healthcare AI</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3.18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3.18 relates to the non-maleficence vignette in Example 3.2</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`modules/chapter3/example18/`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Bias And Fairness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Algorithmic bias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Thresholds can still allocate error unevenly</a:t>
            </a:r>
          </a:p>
          <a:p>
            <a:pPr lvl="0" marL="457200" indent="-228600">
              <a:buFont typeface="Calibri"/>
              <a:spcAft>
                <a:spcPts val="1000"/>
              </a:spcAft>
              <a:buSzPct val="100000"/>
              <a:buChar char="•"/>
              <a:lnSpc>
                <a:spcPts val="2200"/>
              </a:lnSpc>
            </a:pPr>
            <a:r>
              <a:rPr sz="2000" b="0">
                <a:solidFill>
                  <a:srgbClr val="333333"/>
                </a:solidFill>
                <a:latin typeface="Calibri"/>
              </a:rPr>
              <a:t>Example 3.19 restates hiring rankers that reproduce gender or racial patterns via proxies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Bias And Fairness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Case study pointer — COMPAS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3.20 points to COMPAS recidivism tools</a:t>
            </a:r>
          </a:p>
          <a:p>
            <a:pPr lvl="0" marL="457200" indent="-228600">
              <a:buFont typeface="Calibri"/>
              <a:spcAft>
                <a:spcPts val="1000"/>
              </a:spcAft>
              <a:buSzPct val="100000"/>
              <a:buChar char="•"/>
              <a:lnSpc>
                <a:spcPts val="2200"/>
              </a:lnSpc>
            </a:pPr>
            <a:r>
              <a:rPr sz="2000" b="0">
                <a:solidFill>
                  <a:srgbClr val="333333"/>
                </a:solidFill>
                <a:latin typeface="Calibri"/>
              </a:rPr>
              <a:t>The ethics lesson matches Example 3.8, overall accuracy is not a fairness certificate</a:t>
            </a:r>
          </a:p>
          <a:p>
            <a:pPr lvl="0" marL="457200" indent="-228600">
              <a:buFont typeface="Calibri"/>
              <a:spcAft>
                <a:spcPts val="1000"/>
              </a:spcAft>
              <a:buSzPct val="100000"/>
              <a:buChar char="•"/>
              <a:lnSpc>
                <a:spcPts val="2200"/>
              </a:lnSpc>
            </a:pPr>
            <a:r>
              <a:rPr sz="2000" b="0">
                <a:solidFill>
                  <a:srgbClr val="333333"/>
                </a:solidFill>
                <a:latin typeface="Calibri"/>
              </a:rPr>
              <a:t>Chapter 7 develops detection and impact analysis for this case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Bias And Fairness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Mitigation checklist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Addressing bias requires better data, explicit fairness criteria</a:t>
            </a:r>
          </a:p>
          <a:p>
            <a:pPr lvl="0" marL="457200" indent="-228600">
              <a:buFont typeface="Calibri"/>
              <a:spcAft>
                <a:spcPts val="1000"/>
              </a:spcAft>
              <a:buSzPct val="100000"/>
              <a:buChar char="•"/>
              <a:lnSpc>
                <a:spcPts val="2200"/>
              </a:lnSpc>
            </a:pPr>
            <a:r>
              <a:rPr sz="2000" b="0">
                <a:solidFill>
                  <a:srgbClr val="333333"/>
                </a:solidFill>
                <a:latin typeface="Calibri"/>
              </a:rPr>
              <a:t>At this chapter's level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Bias And Fairness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Fairness work is continuous governance after the principles in Section 3.2</a:t>
            </a:r>
          </a:p>
          <a:p>
            <a:pPr lvl="0" marL="457200" indent="-228600">
              <a:buFont typeface="Calibri"/>
              <a:spcAft>
                <a:spcPts val="1000"/>
              </a:spcAft>
              <a:buSzPct val="100000"/>
              <a:buChar char="•"/>
              <a:lnSpc>
                <a:spcPts val="2200"/>
              </a:lnSpc>
            </a:pPr>
            <a:r>
              <a:rPr sz="2000" b="0">
                <a:solidFill>
                  <a:srgbClr val="333333"/>
                </a:solidFill>
                <a:latin typeface="Calibri"/>
              </a:rPr>
              <a:t>Selection and algorithmic bias are frequent entry points</a:t>
            </a:r>
          </a:p>
          <a:p>
            <a:pPr lvl="0" marL="457200" indent="-228600">
              <a:buFont typeface="Calibri"/>
              <a:spcAft>
                <a:spcPts val="1000"/>
              </a:spcAft>
              <a:buSzPct val="100000"/>
              <a:buChar char="•"/>
              <a:lnSpc>
                <a:spcPts val="2200"/>
              </a:lnSpc>
            </a:pPr>
            <a:r>
              <a:rPr sz="2000" b="0">
                <a:solidFill>
                  <a:srgbClr val="333333"/>
                </a:solidFill>
                <a:latin typeface="Calibri"/>
              </a:rPr>
              <a:t>Landmark cases illustrate mechanisms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Bias And Fairness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Continue to real-world privacy laws, GDPR, HIPAA, CCPA, and selected other regimes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Bias And Fairness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