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projects create value only by using personal information—which creates standing tension between utility and privacy. This part covers that trade-off, dilemmas when principles conflict, and the individual and organizational harms that follow when ethics is neglected.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explain the utility–privacy tension, describe two ethical dilemma patterns, and list consequences of ignoring ethics for people and organizations.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Personalized care, safer transport, or better public services can justify collection—yet the same pipelines can enable surveillance, exclusion, or secondary uses subjects never expected. Teams assess benefits and residual risks, prefer less identifying representations when analysis still works, and treat statutes as floors rather than ceilings. The ethical task is deciding whether proposed utility warrants the privacy burden at all.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3.7 states the trade-off in prediction settings. Models that score health risk or creditworthiness can improve service allocation, but underlying histories are sensitive. Without minimization, access control, and purpose limits, the same features that raise utility become levers for harm. Open the example 7 module for this chapter to review the tension checklist.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Dilemmas arise when principles conflict or no option is clearly harm-free. Example 3.8 sketches criminal-justice risk scores: tools can appear useful for scheduling yet reproduce racial disparities in historical data—accuracy for the institution conflicts with fairness for affected communities. Example 3.9 returns to platform collection: fine-grained logging may enrich recommendations users never meaningfully agreed to share.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3.8 is the justice-system conflict previewed again in the bias section and Chapter 7. More data alone does not dissolve the conflict; teams must ask who bears residual risk and whether limits can be monitored after launch. Try the example 8 module to compare institutional metrics with community harm.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Ignoring ethics produces privacy violations, discrimination, eroded trust, and reinforced inequality. Example 3.10 shows personal exposure after unauthorized use or leakage—fraud, harassment, and lasting harm for individuals, plus trust loss across the wider user base.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3.10 connects ethical neglect to breach economics developed later in the chapter. Organizations also face fines, litigation, and reputational damage under regimes such as the GDPR. Ethical practice is both a moral and a sustainability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Utility and privacy trade off by design—not by accident. Dilemmas need structured decision procedures, not silent defaults. Neglecting ethics harms people first and balance sheets second.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data privacy principles—consent, anonymization, and Privacy by Design as management practice.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3 — Utility, dilemmas, and consequences</a:t>
            </a:r>
          </a:p>
          <a:p>
            <a:pPr algn="ctr">
              <a:lnSpc>
                <a:spcPts val="2200"/>
              </a:lnSpc>
              <a:spcBef>
                <a:spcPts val="1400"/>
              </a:spcBef>
            </a:pPr>
            <a:r>
              <a:rPr sz="2600" b="0">
                <a:solidFill>
                  <a:srgbClr val="333333"/>
                </a:solidFill>
                <a:latin typeface="Calibri"/>
              </a:rPr>
              <a:t>Many projects create value only by using personal information</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Utility Dilemmas Consequences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Explain the utility–privacy tension, describe two ethical dilemma patterns</a:t>
            </a:r>
          </a:p>
          <a:p>
            <a:pPr>
              <a:spcAft>
                <a:spcPts val="1000"/>
              </a:spcAft>
              <a:buChar char="•"/>
              <a:lnSpc>
                <a:spcPts val="2200"/>
              </a:lnSpc>
            </a:pPr>
            <a:r>
              <a:rPr sz="2000" b="0">
                <a:solidFill>
                  <a:srgbClr val="333333"/>
                </a:solidFill>
                <a:latin typeface="Calibri"/>
              </a:rPr>
              <a:t>List consequences of ignoring ethics for people and organizations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Utility Dilemmas Consequences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Balancing utility and privacy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Personalized care</a:t>
            </a:r>
          </a:p>
          <a:p>
            <a:pPr>
              <a:spcAft>
                <a:spcPts val="1000"/>
              </a:spcAft>
              <a:buChar char="•"/>
              <a:lnSpc>
                <a:spcPts val="2200"/>
              </a:lnSpc>
            </a:pPr>
            <a:r>
              <a:rPr sz="2000" b="0">
                <a:solidFill>
                  <a:srgbClr val="333333"/>
                </a:solidFill>
                <a:latin typeface="Calibri"/>
              </a:rPr>
              <a:t>Treat statutes as floors rather than ceilings</a:t>
            </a:r>
          </a:p>
          <a:p>
            <a:pPr>
              <a:spcAft>
                <a:spcPts val="1000"/>
              </a:spcAft>
              <a:buChar char="•"/>
              <a:lnSpc>
                <a:spcPts val="2200"/>
              </a:lnSpc>
            </a:pPr>
            <a:r>
              <a:rPr sz="2000" b="0">
                <a:solidFill>
                  <a:srgbClr val="333333"/>
                </a:solidFill>
                <a:latin typeface="Calibri"/>
              </a:rPr>
              <a:t>The ethical task is deciding whether proposed utility warrants the privacy burden at all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Utility Dilemmas Consequences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3.7 — Utility–privacy tension in personal predictions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3.7 — hands-on module</a:t>
            </a:r>
          </a:p>
          <a:p>
            <a:pPr>
              <a:spcAft>
                <a:spcPts val="1000"/>
              </a:spcAft>
              <a:buChar char="•"/>
              <a:lnSpc>
                <a:spcPts val="2200"/>
              </a:lnSpc>
            </a:pPr>
            <a:r>
              <a:rPr sz="2000" b="0">
                <a:solidFill>
                  <a:srgbClr val="333333"/>
                </a:solidFill>
                <a:latin typeface="Calibri"/>
              </a:rPr>
              <a:t>Example 3.7 states the trade-off in prediction settings</a:t>
            </a:r>
          </a:p>
          <a:p>
            <a:pPr>
              <a:spcAft>
                <a:spcPts val="1000"/>
              </a:spcAft>
              <a:buChar char="•"/>
              <a:lnSpc>
                <a:spcPts val="2200"/>
              </a:lnSpc>
            </a:pPr>
            <a:r>
              <a:rPr sz="2000" b="0">
                <a:solidFill>
                  <a:srgbClr val="333333"/>
                </a:solidFill>
                <a:latin typeface="Calibri"/>
              </a:rPr>
              <a:t>Models that score health risk or creditworthiness can improve service allocation</a:t>
            </a:r>
          </a:p>
          <a:p>
            <a:pPr>
              <a:spcAft>
                <a:spcPts val="1000"/>
              </a:spcAft>
              <a:buChar char="•"/>
              <a:lnSpc>
                <a:spcPts val="2200"/>
              </a:lnSpc>
            </a:pPr>
            <a:r>
              <a:rPr sz="2000" b="0">
                <a:solidFill>
                  <a:srgbClr val="333333"/>
                </a:solidFill>
                <a:latin typeface="Calibri"/>
              </a:rPr>
              <a:t>Without minimization, access control</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Utility Dilemmas Consequences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Ethical dilemmas in practice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Dilemmas arise when principles conflict or no option is clearly harm-free</a:t>
            </a:r>
          </a:p>
          <a:p>
            <a:pPr>
              <a:spcAft>
                <a:spcPts val="1000"/>
              </a:spcAft>
              <a:buChar char="•"/>
              <a:lnSpc>
                <a:spcPts val="2200"/>
              </a:lnSpc>
            </a:pPr>
            <a:r>
              <a:rPr sz="2000" b="0">
                <a:solidFill>
                  <a:srgbClr val="333333"/>
                </a:solidFill>
                <a:latin typeface="Calibri"/>
              </a:rPr>
              <a:t>Example 3.8 sketches criminal-justice risk scores</a:t>
            </a:r>
          </a:p>
          <a:p>
            <a:pPr>
              <a:spcAft>
                <a:spcPts val="1000"/>
              </a:spcAft>
              <a:buChar char="•"/>
              <a:lnSpc>
                <a:spcPts val="2200"/>
              </a:lnSpc>
            </a:pPr>
            <a:r>
              <a:rPr sz="2000" b="0">
                <a:solidFill>
                  <a:srgbClr val="333333"/>
                </a:solidFill>
                <a:latin typeface="Calibri"/>
              </a:rPr>
              <a:t>Example 3.9 returns to platform collection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Utility Dilemmas Consequences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3.8 — Dilemma in criminal justice risk scores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3.8 — hands-on module</a:t>
            </a:r>
          </a:p>
          <a:p>
            <a:pPr>
              <a:spcAft>
                <a:spcPts val="1000"/>
              </a:spcAft>
              <a:buChar char="•"/>
              <a:lnSpc>
                <a:spcPts val="2200"/>
              </a:lnSpc>
            </a:pPr>
            <a:r>
              <a:rPr sz="2000" b="0">
                <a:solidFill>
                  <a:srgbClr val="333333"/>
                </a:solidFill>
                <a:latin typeface="Calibri"/>
              </a:rPr>
              <a:t>The justice-system conflict previewed again in the bias section and Chapter 7</a:t>
            </a:r>
          </a:p>
          <a:p>
            <a:pPr>
              <a:spcAft>
                <a:spcPts val="1000"/>
              </a:spcAft>
              <a:buChar char="•"/>
              <a:lnSpc>
                <a:spcPts val="2200"/>
              </a:lnSpc>
            </a:pPr>
            <a:r>
              <a:rPr sz="2000" b="0">
                <a:solidFill>
                  <a:srgbClr val="333333"/>
                </a:solidFill>
                <a:latin typeface="Calibri"/>
              </a:rPr>
              <a:t>More data alone does not dissolve the conflict</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Utility Dilemmas Consequences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Consequences of neglecting ethics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Ignoring ethics produces privacy violations, discrimination, eroded trust</a:t>
            </a:r>
          </a:p>
          <a:p>
            <a:pPr>
              <a:spcAft>
                <a:spcPts val="1000"/>
              </a:spcAft>
              <a:buChar char="•"/>
              <a:lnSpc>
                <a:spcPts val="2200"/>
              </a:lnSpc>
            </a:pPr>
            <a:r>
              <a:rPr sz="2000" b="0">
                <a:solidFill>
                  <a:srgbClr val="333333"/>
                </a:solidFill>
                <a:latin typeface="Calibri"/>
              </a:rPr>
              <a:t>Example 3.10 shows personal exposure after unauthorized use or leakage, fraud, harassment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Utility Dilemmas Consequences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3.10 — Misuse of personal data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3.10 — hands-on module</a:t>
            </a:r>
          </a:p>
          <a:p>
            <a:pPr>
              <a:spcAft>
                <a:spcPts val="1000"/>
              </a:spcAft>
              <a:buChar char="•"/>
              <a:lnSpc>
                <a:spcPts val="2200"/>
              </a:lnSpc>
            </a:pPr>
            <a:r>
              <a:rPr sz="2000" b="0">
                <a:solidFill>
                  <a:srgbClr val="333333"/>
                </a:solidFill>
                <a:latin typeface="Calibri"/>
              </a:rPr>
              <a:t>Example 3.10 connects ethical neglect to breach economics developed later in the chapter</a:t>
            </a:r>
          </a:p>
          <a:p>
            <a:pPr>
              <a:spcAft>
                <a:spcPts val="1000"/>
              </a:spcAft>
              <a:buChar char="•"/>
              <a:lnSpc>
                <a:spcPts val="2200"/>
              </a:lnSpc>
            </a:pPr>
            <a:r>
              <a:rPr sz="2000" b="0">
                <a:solidFill>
                  <a:srgbClr val="333333"/>
                </a:solidFill>
                <a:latin typeface="Calibri"/>
              </a:rPr>
              <a:t>Organizations also face fines, litigation</a:t>
            </a:r>
          </a:p>
          <a:p>
            <a:pPr>
              <a:spcAft>
                <a:spcPts val="1000"/>
              </a:spcAft>
              <a:buChar char="•"/>
              <a:lnSpc>
                <a:spcPts val="2200"/>
              </a:lnSpc>
            </a:pPr>
            <a:r>
              <a:rPr sz="2000" b="0">
                <a:solidFill>
                  <a:srgbClr val="333333"/>
                </a:solidFill>
                <a:latin typeface="Calibri"/>
              </a:rPr>
              <a:t>Ethical practice is both a moral and a sustainability requirement</a:t>
            </a:r>
          </a:p>
          <a:p>
            <a:pPr>
              <a:spcAft>
                <a:spcPts val="1000"/>
              </a:spcAft>
              <a:buChar char="•"/>
              <a:lnSpc>
                <a:spcPts val="2200"/>
              </a:lnSpc>
            </a:pPr>
            <a:r>
              <a:rPr sz="2000" b="0">
                <a:solidFill>
                  <a:srgbClr val="333333"/>
                </a:solidFill>
                <a:latin typeface="Calibri"/>
              </a:rPr>
              <a:t>View files: `modules/chapter3/example10/`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Utility Dilemmas Consequences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Utility and privacy trade off by design, not by accident</a:t>
            </a:r>
          </a:p>
          <a:p>
            <a:pPr>
              <a:spcAft>
                <a:spcPts val="1000"/>
              </a:spcAft>
              <a:buChar char="•"/>
              <a:lnSpc>
                <a:spcPts val="2200"/>
              </a:lnSpc>
            </a:pPr>
            <a:r>
              <a:rPr sz="2000" b="0">
                <a:solidFill>
                  <a:srgbClr val="333333"/>
                </a:solidFill>
                <a:latin typeface="Calibri"/>
              </a:rPr>
              <a:t>Dilemmas need structured decision procedures, not silent defaults</a:t>
            </a:r>
          </a:p>
          <a:p>
            <a:pPr>
              <a:spcAft>
                <a:spcPts val="1000"/>
              </a:spcAft>
              <a:buChar char="•"/>
              <a:lnSpc>
                <a:spcPts val="2200"/>
              </a:lnSpc>
            </a:pPr>
            <a:r>
              <a:rPr sz="2000" b="0">
                <a:solidFill>
                  <a:srgbClr val="333333"/>
                </a:solidFill>
                <a:latin typeface="Calibri"/>
              </a:rPr>
              <a:t>Neglecting ethics harms people first and balance sheets second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Utility Dilemmas Consequences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data privacy principles, consent, anonymization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Utility Dilemmas Consequences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