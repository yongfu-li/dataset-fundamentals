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Teams often need useful analysis while reducing exposure of personal records. This part is the chapter's technical home for those controls: anonymization and encryption as baselines, then differential privacy and federated learning as stronger formal or architectural options.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place four techniques on a protection map, state the main caveat for each, and explain how they stack with consent and purpose limits.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Anonymization and de-identification reduce linkability in shared tables—but auxiliary data can support re-identification. Encryption protects confidentiality in transit and at rest, yet authorized users still see plaintext. Differential privacy limits how much any single record can change an aggregate release, typically by calibrated noise. Federated learning trains models where raw data stay on devices or silos; only updates move to an aggregator.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moves include masking direct identifiers, generalizing quasi-identifiers such as age bands, and coarsening rare combinations. Example 3.13 is the canonical warning: sparse location histories, even without names, can be joined to public records or social posts to recover identity. Stronger protection usually requires coarser aggregation, formal privacy noise, or keeping raw traces off shared servers.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3.13 shows why anonymization is a management goal, not a guarantee. Open the example 13 module for this chapter to review auxiliary-data join scenarios. Encryption complements anonymization but solves a different problem.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Encryption keeps intercepted packets unreadable—for example TLS during clinical record transfer. Once an authorized clinician decrypts the payload, misuse controls must come from access policy, audit logs, and minimization, not from encryption alone. Example 3.14 makes that limit explicit for medical messaging.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Differential privacy limits what an adversary learns about any individual from aggregate outputs. The standing trade-off is privacy budget versus accuracy: more noise strengthens privacy but can blunt utility. Example 3.15 shows product telemetry released under a differential-privacy mechanism so teams still see population patterns without singling out users.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3.15 depends on correct noise calibration and on not publishing too many overlapping queries against the same budget. Try the example 15 module for this chapter to see how budget exhaustion works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Federated learning reduces central pools of raw text or sensor data by training locally and sending only update summaries for aggregation. Example 3.16 shows on-device keyboard prediction: teams still need secure aggregation and monitoring so updates do not reconstruct sensitive phrases.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3.16 illustrates when raw centralization is unacceptable. Open the example 16 module to compare centralized training with federated updates. Techniques stack—none replaces consent and purpose limits from Section 3.3.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controls to match the threat: linkability, channel confidentiality, aggregate leakage, or raw centralization. Stack techniques where needed. Technical PETs implement privacy principles—they do not replace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bias and fairness—how ethical principles connect to model outcomes.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3 — Privacy-preserving techniques</a:t>
            </a:r>
          </a:p>
          <a:p>
            <a:pPr algn="ctr">
              <a:lnSpc>
                <a:spcPts val="2200"/>
              </a:lnSpc>
              <a:spcBef>
                <a:spcPts val="1400"/>
              </a:spcBef>
            </a:pPr>
            <a:r>
              <a:rPr sz="2600" b="0">
                <a:solidFill>
                  <a:srgbClr val="333333"/>
                </a:solidFill>
                <a:latin typeface="Calibri"/>
              </a:rPr>
              <a:t>Teams often need useful analysis while reducing exposure of personal records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Privacy Preserving Techniques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Place four techniques on a protection map, state the main caveat for each</a:t>
            </a:r>
          </a:p>
          <a:p>
            <a:pPr lvl="0" marL="457200" indent="-228600">
              <a:buFont typeface="Calibri"/>
              <a:spcAft>
                <a:spcPts val="1000"/>
              </a:spcAft>
              <a:buSzPct val="100000"/>
              <a:buChar char="•"/>
              <a:lnSpc>
                <a:spcPts val="2200"/>
              </a:lnSpc>
            </a:pPr>
            <a:r>
              <a:rPr sz="2000" b="0">
                <a:solidFill>
                  <a:srgbClr val="333333"/>
                </a:solidFill>
                <a:latin typeface="Calibri"/>
              </a:rPr>
              <a:t>Explain how they stack with consent and purpose limits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Privacy Preserving Techniques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Techniques at a glance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Anonymization and de-identification reduce linkability in shared tables</a:t>
            </a:r>
          </a:p>
          <a:p>
            <a:pPr lvl="0" marL="457200" indent="-228600">
              <a:buFont typeface="Calibri"/>
              <a:spcAft>
                <a:spcPts val="1000"/>
              </a:spcAft>
              <a:buSzPct val="100000"/>
              <a:buChar char="•"/>
              <a:lnSpc>
                <a:spcPts val="2200"/>
              </a:lnSpc>
            </a:pPr>
            <a:r>
              <a:rPr sz="2000" b="0">
                <a:solidFill>
                  <a:srgbClr val="333333"/>
                </a:solidFill>
                <a:latin typeface="Calibri"/>
              </a:rPr>
              <a:t>Encryption protects confidentiality in transit and at rest</a:t>
            </a:r>
          </a:p>
          <a:p>
            <a:pPr lvl="0" marL="457200" indent="-228600">
              <a:buFont typeface="Calibri"/>
              <a:spcAft>
                <a:spcPts val="1000"/>
              </a:spcAft>
              <a:buSzPct val="100000"/>
              <a:buChar char="•"/>
              <a:lnSpc>
                <a:spcPts val="2200"/>
              </a:lnSpc>
            </a:pPr>
            <a:r>
              <a:rPr sz="2000" b="0">
                <a:solidFill>
                  <a:srgbClr val="333333"/>
                </a:solidFill>
                <a:latin typeface="Calibri"/>
              </a:rPr>
              <a:t>Differential privacy limits how much any single record can change an aggregate release</a:t>
            </a:r>
          </a:p>
          <a:p>
            <a:pPr lvl="0" marL="457200" indent="-228600">
              <a:buFont typeface="Calibri"/>
              <a:spcAft>
                <a:spcPts val="1000"/>
              </a:spcAft>
              <a:buSzPct val="100000"/>
              <a:buChar char="•"/>
              <a:lnSpc>
                <a:spcPts val="2200"/>
              </a:lnSpc>
            </a:pPr>
            <a:r>
              <a:rPr sz="2000" b="0">
                <a:solidFill>
                  <a:srgbClr val="333333"/>
                </a:solidFill>
                <a:latin typeface="Calibri"/>
              </a:rPr>
              <a:t>Federated learning trains models where raw data stay on devices or silos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Privacy Preserving Techniques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Anonymization and re-identification risk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Coarsening rare combinations</a:t>
            </a:r>
          </a:p>
          <a:p>
            <a:pPr lvl="0" marL="457200" indent="-228600">
              <a:buFont typeface="Calibri"/>
              <a:spcAft>
                <a:spcPts val="1000"/>
              </a:spcAft>
              <a:buSzPct val="100000"/>
              <a:buChar char="•"/>
              <a:lnSpc>
                <a:spcPts val="2200"/>
              </a:lnSpc>
            </a:pPr>
            <a:r>
              <a:rPr sz="2000" b="0">
                <a:solidFill>
                  <a:srgbClr val="333333"/>
                </a:solidFill>
                <a:latin typeface="Calibri"/>
              </a:rPr>
              <a:t>The canonical warning</a:t>
            </a:r>
          </a:p>
          <a:p>
            <a:pPr lvl="0" marL="457200" indent="-228600">
              <a:buFont typeface="Calibri"/>
              <a:spcAft>
                <a:spcPts val="1000"/>
              </a:spcAft>
              <a:buSzPct val="100000"/>
              <a:buChar char="•"/>
              <a:lnSpc>
                <a:spcPts val="2200"/>
              </a:lnSpc>
            </a:pPr>
            <a:r>
              <a:rPr sz="2000" b="0">
                <a:solidFill>
                  <a:srgbClr val="333333"/>
                </a:solidFill>
                <a:latin typeface="Calibri"/>
              </a:rPr>
              <a:t>Stronger protection usually requires coarser aggregation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Privacy Preserving Techniques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3.13 — Re-identification from location patterns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3.13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3.13 shows why anonymization is a management goal, not a guarantee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`modules/chapter3/example13/`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Privacy Preserving Techniques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Encryption limits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Encryption keeps intercepted packets unreadable</a:t>
            </a:r>
          </a:p>
          <a:p>
            <a:pPr lvl="0" marL="457200" indent="-228600">
              <a:buFont typeface="Calibri"/>
              <a:spcAft>
                <a:spcPts val="1000"/>
              </a:spcAft>
              <a:buSzPct val="100000"/>
              <a:buChar char="•"/>
              <a:lnSpc>
                <a:spcPts val="2200"/>
              </a:lnSpc>
            </a:pPr>
            <a:r>
              <a:rPr sz="2000" b="0">
                <a:solidFill>
                  <a:srgbClr val="333333"/>
                </a:solidFill>
                <a:latin typeface="Calibri"/>
              </a:rPr>
              <a:t>Minimization, not from encryption alone</a:t>
            </a:r>
          </a:p>
          <a:p>
            <a:pPr lvl="0" marL="457200" indent="-228600">
              <a:buFont typeface="Calibri"/>
              <a:spcAft>
                <a:spcPts val="1000"/>
              </a:spcAft>
              <a:buSzPct val="100000"/>
              <a:buChar char="•"/>
              <a:lnSpc>
                <a:spcPts val="2200"/>
              </a:lnSpc>
            </a:pPr>
            <a:r>
              <a:rPr sz="2000" b="0">
                <a:solidFill>
                  <a:srgbClr val="333333"/>
                </a:solidFill>
                <a:latin typeface="Calibri"/>
              </a:rPr>
              <a:t>Example 3.14 makes that limit explicit for medical messaging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Privacy Preserving Techniques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Differential privacy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Differential privacy limits what an adversary learns about any individual from aggregate</a:t>
            </a:r>
          </a:p>
          <a:p>
            <a:pPr lvl="0" marL="457200" indent="-228600">
              <a:buFont typeface="Calibri"/>
              <a:spcAft>
                <a:spcPts val="1000"/>
              </a:spcAft>
              <a:buSzPct val="100000"/>
              <a:buChar char="•"/>
              <a:lnSpc>
                <a:spcPts val="2200"/>
              </a:lnSpc>
            </a:pPr>
            <a:r>
              <a:rPr sz="2000" b="0">
                <a:solidFill>
                  <a:srgbClr val="333333"/>
                </a:solidFill>
                <a:latin typeface="Calibri"/>
              </a:rPr>
              <a:t>The standing trade-off is privacy budget versus accuracy</a:t>
            </a:r>
          </a:p>
          <a:p>
            <a:pPr lvl="0" marL="457200" indent="-228600">
              <a:buFont typeface="Calibri"/>
              <a:spcAft>
                <a:spcPts val="1000"/>
              </a:spcAft>
              <a:buSzPct val="100000"/>
              <a:buChar char="•"/>
              <a:lnSpc>
                <a:spcPts val="2200"/>
              </a:lnSpc>
            </a:pPr>
            <a:r>
              <a:rPr sz="2000" b="0">
                <a:solidFill>
                  <a:srgbClr val="333333"/>
                </a:solidFill>
                <a:latin typeface="Calibri"/>
              </a:rPr>
              <a:t>Example 3.15 shows product telemetry released under a differential-privacy mechanism so</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Privacy Preserving Techniques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3.15 — Differential privacy for product telemetry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3.15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3.15 depends on correct noise calibration and on not publishing too many</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`modules/chapter3/example15/`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Privacy Preserving Techniques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Federated learning</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Federated learning reduces central pools of raw text or sensor data by training locally</a:t>
            </a:r>
          </a:p>
          <a:p>
            <a:pPr lvl="0" marL="457200" indent="-228600">
              <a:buFont typeface="Calibri"/>
              <a:spcAft>
                <a:spcPts val="1000"/>
              </a:spcAft>
              <a:buSzPct val="100000"/>
              <a:buChar char="•"/>
              <a:lnSpc>
                <a:spcPts val="2200"/>
              </a:lnSpc>
            </a:pPr>
            <a:r>
              <a:rPr sz="2000" b="0">
                <a:solidFill>
                  <a:srgbClr val="333333"/>
                </a:solidFill>
                <a:latin typeface="Calibri"/>
              </a:rPr>
              <a:t>Example 3.16 shows on-device keyboard prediction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Privacy Preserving Techniques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3.16 — Federated learning for on-device keyboard prediction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3.16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3.16 illustrates when raw centralization is unacceptable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`modules/chapter3/example16/`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Privacy Preserving Techniques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Choose controls to match the threat</a:t>
            </a:r>
          </a:p>
          <a:p>
            <a:pPr lvl="0" marL="457200" indent="-228600">
              <a:buFont typeface="Calibri"/>
              <a:spcAft>
                <a:spcPts val="1000"/>
              </a:spcAft>
              <a:buSzPct val="100000"/>
              <a:buChar char="•"/>
              <a:lnSpc>
                <a:spcPts val="2200"/>
              </a:lnSpc>
            </a:pPr>
            <a:r>
              <a:rPr sz="2000" b="0">
                <a:solidFill>
                  <a:srgbClr val="333333"/>
                </a:solidFill>
                <a:latin typeface="Calibri"/>
              </a:rPr>
              <a:t>Stack techniques where needed</a:t>
            </a:r>
          </a:p>
          <a:p>
            <a:pPr lvl="0" marL="457200" indent="-228600">
              <a:buFont typeface="Calibri"/>
              <a:spcAft>
                <a:spcPts val="1000"/>
              </a:spcAft>
              <a:buSzPct val="100000"/>
              <a:buChar char="•"/>
              <a:lnSpc>
                <a:spcPts val="2200"/>
              </a:lnSpc>
            </a:pPr>
            <a:r>
              <a:rPr sz="2000" b="0">
                <a:solidFill>
                  <a:srgbClr val="333333"/>
                </a:solidFill>
                <a:latin typeface="Calibri"/>
              </a:rPr>
              <a:t>Technical PETs implement privacy principles, they do not replace them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Privacy Preserving Techniques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bias and fairness, how ethical principles connect to model outcomes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Privacy Preserving Techniques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