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turns ethical slogans into operational tests. Five principles recur across AI and data ethics guidelines: non-maleficence, fairness, transparency, accountability, and respect for autonomy. Each pairs with a short scenario you can use during design review.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name the five core principles, state what each demands in practice, and recognize them as design constraints—not post-deployment patches.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Non-maleficence asks teams to prevent privacy breaches, discrimination, and exploitative uses. Fairness requires avoiding systematic disadvantage and monitoring disparities. Transparency means disclosing collection purposes and, where feasible, how consequential decisions are made. Accountability assigns responsibility, monitoring, and remediation. Respect for autonomy centers informed consent and ongoing control.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 harm requires anticipating harms from collection, processing, and analysis—including discriminatory model errors. Example 3.2 shows a healthcare model trained on data that underrepresents a demographic group, yielding less accurate predictions and misdiagnosis risk for that group. Upholding non-maleficence means auditing subgroup performance and adding safeguards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3.2 is the clinical pattern: skewed training data becomes skewed care. Open the example 2 module for this chapter to walk through the harm pathway. The ethical demand is not surprise after launch but subgroup audits during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requires that practices and models not systematically disadvantage particular groups. Example 3.3 shows a hiring ranker trained on past hires that favored one demographic in technical roles—the model can reproduce that pattern for new applicants. Treat disparity risk as a design constraint, not a post-deployment discovery.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3.3 restates the hiring pattern: historical imbalance encodes into automated ranking. Chapter 7 develops metrics and mitigation; here the ethics lesson is to flag the risk before candidates are scored. Try the example 3 module to see how proxy features can reintroduce protected attributes.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Transparency builds trust by clarifying what is collected, why, and how automated decisions are produced. Accountability assigns someone who can explain outcomes, respond to incidents, and remediate harm. Example 3.4 applies transparency to credit scoring: declined applicants deserve understandable factors and a path to challenge errors.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 for autonomy centers informed consent and ongoing control. Example 3.6 shows a health-tracking app that obtains explicit consent, states purposes plainly, and lets users revoke consent or delete history. Autonomy fails when consent is buried in unrelated terms or withdrawal is practically impossible.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3.6 pairs consent user experience with sensitive streams such as activity and heart rate. Open the example 6 module for this chapter to compare strong and weak consent patterns. Section 3.3 later turns autonomy into privacy-management practice.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Principles are operational tests for design choices. Non-maleficence and fairness catch harm before deployment. Transparency and accountability make systems answerable. Autonomy requires meaningful consent and control—not checkbox compliance alone.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utility trade-offs, ethical dilemmas when principles conflict, and consequences of neglecting ethics.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3 — Core ethical principles</a:t>
            </a:r>
          </a:p>
          <a:p>
            <a:pPr algn="ctr">
              <a:lnSpc>
                <a:spcPts val="2200"/>
              </a:lnSpc>
              <a:spcBef>
                <a:spcPts val="1400"/>
              </a:spcBef>
            </a:pPr>
            <a:r>
              <a:rPr sz="2600" b="0">
                <a:solidFill>
                  <a:srgbClr val="333333"/>
                </a:solidFill>
                <a:latin typeface="Calibri"/>
              </a:rPr>
              <a:t>This part turns ethical slogans into operational tests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Core Ethical Principles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Name the five core principles, state what each demands in practice</a:t>
            </a:r>
          </a:p>
          <a:p>
            <a:pPr lvl="0" marL="457200" indent="-228600">
              <a:buFont typeface="Calibri"/>
              <a:spcAft>
                <a:spcPts val="1000"/>
              </a:spcAft>
              <a:buSzPct val="100000"/>
              <a:buChar char="•"/>
              <a:lnSpc>
                <a:spcPts val="2200"/>
              </a:lnSpc>
            </a:pPr>
            <a:r>
              <a:rPr sz="2000" b="0">
                <a:solidFill>
                  <a:srgbClr val="333333"/>
                </a:solidFill>
                <a:latin typeface="Calibri"/>
              </a:rPr>
              <a:t>Recognize them as design constraints, not post-deployment patches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Core Ethical Principles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Five principles overview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Non-maleficence asks teams to prevent privacy breaches, discrimination</a:t>
            </a:r>
          </a:p>
          <a:p>
            <a:pPr lvl="0" marL="457200" indent="-228600">
              <a:buFont typeface="Calibri"/>
              <a:spcAft>
                <a:spcPts val="1000"/>
              </a:spcAft>
              <a:buSzPct val="100000"/>
              <a:buChar char="•"/>
              <a:lnSpc>
                <a:spcPts val="2200"/>
              </a:lnSpc>
            </a:pPr>
            <a:r>
              <a:rPr sz="2000" b="0">
                <a:solidFill>
                  <a:srgbClr val="333333"/>
                </a:solidFill>
                <a:latin typeface="Calibri"/>
              </a:rPr>
              <a:t>Fairness requires avoiding systematic disadvantage and monitoring disparities</a:t>
            </a:r>
          </a:p>
          <a:p>
            <a:pPr lvl="0" marL="457200" indent="-228600">
              <a:buFont typeface="Calibri"/>
              <a:spcAft>
                <a:spcPts val="1000"/>
              </a:spcAft>
              <a:buSzPct val="100000"/>
              <a:buChar char="•"/>
              <a:lnSpc>
                <a:spcPts val="2200"/>
              </a:lnSpc>
            </a:pPr>
            <a:r>
              <a:rPr sz="2000" b="0">
                <a:solidFill>
                  <a:srgbClr val="333333"/>
                </a:solidFill>
                <a:latin typeface="Calibri"/>
              </a:rPr>
              <a:t>Transparency means disclosing collection purposes and</a:t>
            </a:r>
          </a:p>
          <a:p>
            <a:pPr lvl="0" marL="457200" indent="-228600">
              <a:buFont typeface="Calibri"/>
              <a:spcAft>
                <a:spcPts val="1000"/>
              </a:spcAft>
              <a:buSzPct val="100000"/>
              <a:buChar char="•"/>
              <a:lnSpc>
                <a:spcPts val="2200"/>
              </a:lnSpc>
            </a:pPr>
            <a:r>
              <a:rPr sz="2000" b="0">
                <a:solidFill>
                  <a:srgbClr val="333333"/>
                </a:solidFill>
                <a:latin typeface="Calibri"/>
              </a:rPr>
              <a:t>Accountability assigns responsibility, monitoring, and remediation</a:t>
            </a:r>
          </a:p>
          <a:p>
            <a:pPr lvl="0" marL="457200" indent="-228600">
              <a:buFont typeface="Calibri"/>
              <a:spcAft>
                <a:spcPts val="1000"/>
              </a:spcAft>
              <a:buSzPct val="100000"/>
              <a:buChar char="•"/>
              <a:lnSpc>
                <a:spcPts val="2200"/>
              </a:lnSpc>
            </a:pPr>
            <a:r>
              <a:rPr sz="2000" b="0">
                <a:solidFill>
                  <a:srgbClr val="333333"/>
                </a:solidFill>
                <a:latin typeface="Calibri"/>
              </a:rPr>
              <a:t>Respect for autonomy centers informed consent and ongoing control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Core Ethical Principles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Do no harm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 harm requires anticipating harms from collection, processing</a:t>
            </a:r>
          </a:p>
          <a:p>
            <a:pPr lvl="0" marL="457200" indent="-228600">
              <a:buFont typeface="Calibri"/>
              <a:spcAft>
                <a:spcPts val="1000"/>
              </a:spcAft>
              <a:buSzPct val="100000"/>
              <a:buChar char="•"/>
              <a:lnSpc>
                <a:spcPts val="2200"/>
              </a:lnSpc>
            </a:pPr>
            <a:r>
              <a:rPr sz="2000" b="0">
                <a:solidFill>
                  <a:srgbClr val="333333"/>
                </a:solidFill>
                <a:latin typeface="Calibri"/>
              </a:rPr>
              <a:t>Yielding less accurate predictions and misdiagnosis risk for that group</a:t>
            </a:r>
          </a:p>
          <a:p>
            <a:pPr lvl="0" marL="457200" indent="-228600">
              <a:buFont typeface="Calibri"/>
              <a:spcAft>
                <a:spcPts val="1000"/>
              </a:spcAft>
              <a:buSzPct val="100000"/>
              <a:buChar char="•"/>
              <a:lnSpc>
                <a:spcPts val="2200"/>
              </a:lnSpc>
            </a:pPr>
            <a:r>
              <a:rPr sz="2000" b="0">
                <a:solidFill>
                  <a:srgbClr val="333333"/>
                </a:solidFill>
                <a:latin typeface="Calibri"/>
              </a:rPr>
              <a:t>Upholding non-maleficence means auditing subgroup performance and adding safeguards before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Core Ethical Principles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3.2 — Healthcare AI system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3.2 — hands-on module</a:t>
            </a:r>
          </a:p>
          <a:p>
            <a:pPr lvl="0" marL="457200" indent="-228600">
              <a:buFont typeface="Calibri"/>
              <a:spcAft>
                <a:spcPts val="1000"/>
              </a:spcAft>
              <a:buSzPct val="100000"/>
              <a:buChar char="•"/>
              <a:lnSpc>
                <a:spcPts val="2200"/>
              </a:lnSpc>
            </a:pPr>
            <a:r>
              <a:rPr sz="2000" b="0">
                <a:solidFill>
                  <a:srgbClr val="333333"/>
                </a:solidFill>
                <a:latin typeface="Calibri"/>
              </a:rPr>
              <a:t>The clinical pattern: skewed training data becomes skewed care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Core Ethical Principles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Fairness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Fairness requires that practices and models not systematically disadvantage particular</a:t>
            </a:r>
          </a:p>
          <a:p>
            <a:pPr lvl="0" marL="457200" indent="-228600">
              <a:buFont typeface="Calibri"/>
              <a:spcAft>
                <a:spcPts val="1000"/>
              </a:spcAft>
              <a:buSzPct val="100000"/>
              <a:buChar char="•"/>
              <a:lnSpc>
                <a:spcPts val="2200"/>
              </a:lnSpc>
            </a:pPr>
            <a:r>
              <a:rPr sz="2000" b="0">
                <a:solidFill>
                  <a:srgbClr val="333333"/>
                </a:solidFill>
                <a:latin typeface="Calibri"/>
              </a:rPr>
              <a:t>The model can reproduce that pattern for new applicants</a:t>
            </a:r>
          </a:p>
          <a:p>
            <a:pPr lvl="0" marL="457200" indent="-228600">
              <a:buFont typeface="Calibri"/>
              <a:spcAft>
                <a:spcPts val="1000"/>
              </a:spcAft>
              <a:buSzPct val="100000"/>
              <a:buChar char="•"/>
              <a:lnSpc>
                <a:spcPts val="2200"/>
              </a:lnSpc>
            </a:pPr>
            <a:r>
              <a:rPr sz="2000" b="0">
                <a:solidFill>
                  <a:srgbClr val="333333"/>
                </a:solidFill>
                <a:latin typeface="Calibri"/>
              </a:rPr>
              <a:t>Treat disparity risk as a design constraint, not a post-deployment discovery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Core Ethical Principles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3.3 — Hiring algorithm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3.3 restates the hiring pattern</a:t>
            </a:r>
          </a:p>
          <a:p>
            <a:pPr lvl="0" marL="457200" indent="-228600">
              <a:buFont typeface="Calibri"/>
              <a:spcAft>
                <a:spcPts val="1000"/>
              </a:spcAft>
              <a:buSzPct val="100000"/>
              <a:buChar char="•"/>
              <a:lnSpc>
                <a:spcPts val="2200"/>
              </a:lnSpc>
            </a:pPr>
            <a:r>
              <a:rPr sz="2000" b="0">
                <a:solidFill>
                  <a:srgbClr val="333333"/>
                </a:solidFill>
                <a:latin typeface="Calibri"/>
              </a:rPr>
              <a:t>Chapter 7 develops metrics and mitigation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Core Ethical Principles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Transparency and accountability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Transparency builds trust by clarifying what is collected, why</a:t>
            </a:r>
          </a:p>
          <a:p>
            <a:pPr lvl="0" marL="457200" indent="-228600">
              <a:buFont typeface="Calibri"/>
              <a:spcAft>
                <a:spcPts val="1000"/>
              </a:spcAft>
              <a:buSzPct val="100000"/>
              <a:buChar char="•"/>
              <a:lnSpc>
                <a:spcPts val="2200"/>
              </a:lnSpc>
            </a:pPr>
            <a:r>
              <a:rPr sz="2000" b="0">
                <a:solidFill>
                  <a:srgbClr val="333333"/>
                </a:solidFill>
                <a:latin typeface="Calibri"/>
              </a:rPr>
              <a:t>Accountability assigns someone who can explain outcomes, respond to incidents</a:t>
            </a:r>
          </a:p>
          <a:p>
            <a:pPr lvl="0" marL="457200" indent="-228600">
              <a:buFont typeface="Calibri"/>
              <a:spcAft>
                <a:spcPts val="1000"/>
              </a:spcAft>
              <a:buSzPct val="100000"/>
              <a:buChar char="•"/>
              <a:lnSpc>
                <a:spcPts val="2200"/>
              </a:lnSpc>
            </a:pPr>
            <a:r>
              <a:rPr sz="2000" b="0">
                <a:solidFill>
                  <a:srgbClr val="333333"/>
                </a:solidFill>
                <a:latin typeface="Calibri"/>
              </a:rPr>
              <a:t>Example 3.4 applies transparency to credit scoring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Core Ethical Principles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Respect for autonomy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Respect for autonomy centers informed consent and ongoing control</a:t>
            </a:r>
          </a:p>
          <a:p>
            <a:pPr lvl="0" marL="457200" indent="-228600">
              <a:buFont typeface="Calibri"/>
              <a:spcAft>
                <a:spcPts val="1000"/>
              </a:spcAft>
              <a:buSzPct val="100000"/>
              <a:buChar char="•"/>
              <a:lnSpc>
                <a:spcPts val="2200"/>
              </a:lnSpc>
            </a:pPr>
            <a:r>
              <a:rPr sz="2000" b="0">
                <a:solidFill>
                  <a:srgbClr val="333333"/>
                </a:solidFill>
                <a:latin typeface="Calibri"/>
              </a:rPr>
              <a:t>Lets users revoke consent or delete history</a:t>
            </a:r>
          </a:p>
          <a:p>
            <a:pPr lvl="0" marL="457200" indent="-228600">
              <a:buFont typeface="Calibri"/>
              <a:spcAft>
                <a:spcPts val="1000"/>
              </a:spcAft>
              <a:buSzPct val="100000"/>
              <a:buChar char="•"/>
              <a:lnSpc>
                <a:spcPts val="2200"/>
              </a:lnSpc>
            </a:pPr>
            <a:r>
              <a:rPr sz="2000" b="0">
                <a:solidFill>
                  <a:srgbClr val="333333"/>
                </a:solidFill>
                <a:latin typeface="Calibri"/>
              </a:rPr>
              <a:t>Autonomy fails when consent is buried in unrelated terms or withdrawal is practically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Core Ethical Principles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3.6 — Health-tracking app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3.6 pairs consent user experience with sensitive streams such as activity and</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Core Ethical Principles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Principles are operational tests for design choices</a:t>
            </a:r>
          </a:p>
          <a:p>
            <a:pPr lvl="0" marL="457200" indent="-228600">
              <a:buFont typeface="Calibri"/>
              <a:spcAft>
                <a:spcPts val="1000"/>
              </a:spcAft>
              <a:buSzPct val="100000"/>
              <a:buChar char="•"/>
              <a:lnSpc>
                <a:spcPts val="2200"/>
              </a:lnSpc>
            </a:pPr>
            <a:r>
              <a:rPr sz="2000" b="0">
                <a:solidFill>
                  <a:srgbClr val="333333"/>
                </a:solidFill>
                <a:latin typeface="Calibri"/>
              </a:rPr>
              <a:t>Non-maleficence and fairness catch harm before deployment</a:t>
            </a:r>
          </a:p>
          <a:p>
            <a:pPr lvl="0" marL="457200" indent="-228600">
              <a:buFont typeface="Calibri"/>
              <a:spcAft>
                <a:spcPts val="1000"/>
              </a:spcAft>
              <a:buSzPct val="100000"/>
              <a:buChar char="•"/>
              <a:lnSpc>
                <a:spcPts val="2200"/>
              </a:lnSpc>
            </a:pPr>
            <a:r>
              <a:rPr sz="2000" b="0">
                <a:solidFill>
                  <a:srgbClr val="333333"/>
                </a:solidFill>
                <a:latin typeface="Calibri"/>
              </a:rPr>
              <a:t>Transparency and accountability make systems answerable</a:t>
            </a:r>
          </a:p>
          <a:p>
            <a:pPr lvl="0" marL="457200" indent="-228600">
              <a:buFont typeface="Calibri"/>
              <a:spcAft>
                <a:spcPts val="1000"/>
              </a:spcAft>
              <a:buSzPct val="100000"/>
              <a:buChar char="•"/>
              <a:lnSpc>
                <a:spcPts val="2200"/>
              </a:lnSpc>
            </a:pPr>
            <a:r>
              <a:rPr sz="2000" b="0">
                <a:solidFill>
                  <a:srgbClr val="333333"/>
                </a:solidFill>
                <a:latin typeface="Calibri"/>
              </a:rPr>
              <a:t>Autonomy requires meaningful consent and control, not checkbox compliance alone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Core Ethical Principles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utility trade-offs, ethical dilemmas when principles conflict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Core Ethical Principles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