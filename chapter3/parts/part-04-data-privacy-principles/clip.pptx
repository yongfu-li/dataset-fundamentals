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as a right becomes privacy as practice through agreements, representations, and design defaults. This part operationalizes informed consent, anonymization, and Privacy by Design, then previews GDPR and HIPAA as enforceable anchors.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data privacy in pipeline terms, contrast three core privacy-management concepts, and read GDPR versus HIPAA as planning maps—not compliance manuals.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3.1 defined privacy as individuals' control over personal data. This section asks which agreements and defaults make that control enforceable. Personal data includes names and addresses but also behavioral logs, health and location streams, and biometrics. Ethics still decides whether a use should proceed; privacy principles constrain how permitted uses are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Informed consent requires freely given, specific, informed agreement—with a real withdrawal path. Anonymization reduces linkability for secondary use, but re-identification via auxiliary data remains a failure mode. Privacy by Design embeds protections into architecture from the start rather than bolting privacy on after launch.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Informed consent is the operational counterpart of respect for autonomy. Example 3.11 shows a clinic that wants to reuse treatment records for research: care consent must be separated from research consent, secondary uses explained plainly, and refusal must not affect treatment. Bundling research into a general intake form fails the standard.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3.11 is the clinical consent bar. Open the example 11 module for this chapter to compare bundled versus purpose-specific consent flows. Section 3.4 later develops technical controls when de-identification alone is insufficient.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by Design means minimization, protective defaults, and user controls before partner sharing is enabled. Example 3.12 shows a health app that should not demand financial fields just in case, should default to local retention where feasible, and should expose clear sharing and deletion controls before any partner sync.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3.12 pairs with the autonomy vignette in Example 3.6 but focuses on architecture defaults. Try the example 12 module to review minimization and control patterns. Consent, de-identification, and design-time safeguards work together—none substitutes for the others.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GDPR governs personal data of people in the EU and EEA with extraterritorial reach for targeting or monitoring. It emphasizes lawfulness, purpose limitation, minimization, accountability, and data-subject rights. HIPAA concentrates parallel duties on protected health information held by US covered entities and business associates. Section 3.6 expands scope, rights, and penalties.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management is more than notices. Consent must be meaningful; anonymization is a goal, not a guarantee; Privacy by Design belongs in architecture. GDPR and HIPAA illustrate how principles become enforceable duties.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privacy-preserving techniques—anonymization, encryption, differential privacy, and federated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3 — Data privacy principles</a:t>
            </a:r>
          </a:p>
          <a:p>
            <a:pPr algn="ctr">
              <a:lnSpc>
                <a:spcPts val="2200"/>
              </a:lnSpc>
              <a:spcBef>
                <a:spcPts val="1400"/>
              </a:spcBef>
            </a:pPr>
            <a:r>
              <a:rPr sz="2600" b="0">
                <a:solidFill>
                  <a:srgbClr val="333333"/>
                </a:solidFill>
                <a:latin typeface="Calibri"/>
              </a:rPr>
              <a:t>Privacy as a right becomes privacy as practice through agreements, representations, and design defaults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Data Privacy Principles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Define data privacy in pipeline terms, contrast three core privacy-management concepts</a:t>
            </a:r>
          </a:p>
          <a:p>
            <a:pPr lvl="0" marL="457200" indent="-228600">
              <a:buFont typeface="Calibri"/>
              <a:spcAft>
                <a:spcPts val="1000"/>
              </a:spcAft>
              <a:buSzPct val="100000"/>
              <a:buChar char="•"/>
              <a:lnSpc>
                <a:spcPts val="2200"/>
              </a:lnSpc>
            </a:pPr>
            <a:r>
              <a:rPr sz="2000" b="0">
                <a:solidFill>
                  <a:srgbClr val="333333"/>
                </a:solidFill>
                <a:latin typeface="Calibri"/>
              </a:rPr>
              <a:t>Read GDPR versus HIPAA as planning maps, not compliance manuals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Data Privacy Principles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From rights to management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Section 3.1 defined privacy as individuals' control over personal data</a:t>
            </a:r>
          </a:p>
          <a:p>
            <a:pPr lvl="0" marL="457200" indent="-228600">
              <a:buFont typeface="Calibri"/>
              <a:spcAft>
                <a:spcPts val="1000"/>
              </a:spcAft>
              <a:buSzPct val="100000"/>
              <a:buChar char="•"/>
              <a:lnSpc>
                <a:spcPts val="2200"/>
              </a:lnSpc>
            </a:pPr>
            <a:r>
              <a:rPr sz="2000" b="0">
                <a:solidFill>
                  <a:srgbClr val="333333"/>
                </a:solidFill>
                <a:latin typeface="Calibri"/>
              </a:rPr>
              <a:t>This section asks which agreements and defaults make that control enforceable</a:t>
            </a:r>
          </a:p>
          <a:p>
            <a:pPr lvl="0" marL="457200" indent="-228600">
              <a:buFont typeface="Calibri"/>
              <a:spcAft>
                <a:spcPts val="1000"/>
              </a:spcAft>
              <a:buSzPct val="100000"/>
              <a:buChar char="•"/>
              <a:lnSpc>
                <a:spcPts val="2200"/>
              </a:lnSpc>
            </a:pPr>
            <a:r>
              <a:rPr sz="2000" b="0">
                <a:solidFill>
                  <a:srgbClr val="333333"/>
                </a:solidFill>
                <a:latin typeface="Calibri"/>
              </a:rPr>
              <a:t>Personal data includes names and addresses but also behavioral logs</a:t>
            </a:r>
          </a:p>
          <a:p>
            <a:pPr lvl="0" marL="457200" indent="-228600">
              <a:buFont typeface="Calibri"/>
              <a:spcAft>
                <a:spcPts val="1000"/>
              </a:spcAft>
              <a:buSzPct val="100000"/>
              <a:buChar char="•"/>
              <a:lnSpc>
                <a:spcPts val="2200"/>
              </a:lnSpc>
            </a:pPr>
            <a:r>
              <a:rPr sz="2000" b="0">
                <a:solidFill>
                  <a:srgbClr val="333333"/>
                </a:solidFill>
                <a:latin typeface="Calibri"/>
              </a:rPr>
              <a:t>Ethics still decides whether a use should proceed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Data Privacy Principles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Three core concepts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Informed consent requires freely given</a:t>
            </a:r>
          </a:p>
          <a:p>
            <a:pPr lvl="0" marL="457200" indent="-228600">
              <a:buFont typeface="Calibri"/>
              <a:spcAft>
                <a:spcPts val="1000"/>
              </a:spcAft>
              <a:buSzPct val="100000"/>
              <a:buChar char="•"/>
              <a:lnSpc>
                <a:spcPts val="2200"/>
              </a:lnSpc>
            </a:pPr>
            <a:r>
              <a:rPr sz="2000" b="0">
                <a:solidFill>
                  <a:srgbClr val="333333"/>
                </a:solidFill>
                <a:latin typeface="Calibri"/>
              </a:rPr>
              <a:t>Anonymization reduces linkability for secondary use</a:t>
            </a:r>
          </a:p>
          <a:p>
            <a:pPr lvl="0" marL="457200" indent="-228600">
              <a:buFont typeface="Calibri"/>
              <a:spcAft>
                <a:spcPts val="1000"/>
              </a:spcAft>
              <a:buSzPct val="100000"/>
              <a:buChar char="•"/>
              <a:lnSpc>
                <a:spcPts val="2200"/>
              </a:lnSpc>
            </a:pPr>
            <a:r>
              <a:rPr sz="2000" b="0">
                <a:solidFill>
                  <a:srgbClr val="333333"/>
                </a:solidFill>
                <a:latin typeface="Calibri"/>
              </a:rPr>
              <a:t>Privacy by Design embeds protections into architecture from the start rather than bolting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Data Privacy Principles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Informed consent in healthcare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Informed consent is the operational counterpart of respect for autonomy</a:t>
            </a:r>
          </a:p>
          <a:p>
            <a:pPr lvl="0" marL="457200" indent="-228600">
              <a:buFont typeface="Calibri"/>
              <a:spcAft>
                <a:spcPts val="1000"/>
              </a:spcAft>
              <a:buSzPct val="100000"/>
              <a:buChar char="•"/>
              <a:lnSpc>
                <a:spcPts val="2200"/>
              </a:lnSpc>
            </a:pPr>
            <a:r>
              <a:rPr sz="2000" b="0">
                <a:solidFill>
                  <a:srgbClr val="333333"/>
                </a:solidFill>
                <a:latin typeface="Calibri"/>
              </a:rPr>
              <a:t>Example 3.11 shows a clinic that wants to reuse treatment records for research</a:t>
            </a:r>
          </a:p>
          <a:p>
            <a:pPr lvl="0" marL="457200" indent="-228600">
              <a:buFont typeface="Calibri"/>
              <a:spcAft>
                <a:spcPts val="1000"/>
              </a:spcAft>
              <a:buSzPct val="100000"/>
              <a:buChar char="•"/>
              <a:lnSpc>
                <a:spcPts val="2200"/>
              </a:lnSpc>
            </a:pPr>
            <a:r>
              <a:rPr sz="2000" b="0">
                <a:solidFill>
                  <a:srgbClr val="333333"/>
                </a:solidFill>
                <a:latin typeface="Calibri"/>
              </a:rPr>
              <a:t>Bundling research into a general intake form fails the standard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Data Privacy Principles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3.11 — Consent for healthcare data uses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3.11 — hands-on module</a:t>
            </a:r>
          </a:p>
          <a:p>
            <a:pPr lvl="0" marL="457200" indent="-228600">
              <a:buFont typeface="Calibri"/>
              <a:spcAft>
                <a:spcPts val="1000"/>
              </a:spcAft>
              <a:buSzPct val="100000"/>
              <a:buChar char="•"/>
              <a:lnSpc>
                <a:spcPts val="2200"/>
              </a:lnSpc>
            </a:pPr>
            <a:r>
              <a:rPr sz="2000" b="0">
                <a:solidFill>
                  <a:srgbClr val="333333"/>
                </a:solidFill>
                <a:latin typeface="Calibri"/>
              </a:rPr>
              <a:t>The clinical consent bar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Data Privacy Principles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Privacy by Design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Privacy by Design means minimization, protective defaults</a:t>
            </a:r>
          </a:p>
          <a:p>
            <a:pPr lvl="0" marL="457200" indent="-228600">
              <a:buFont typeface="Calibri"/>
              <a:spcAft>
                <a:spcPts val="1000"/>
              </a:spcAft>
              <a:buSzPct val="100000"/>
              <a:buChar char="•"/>
              <a:lnSpc>
                <a:spcPts val="2200"/>
              </a:lnSpc>
            </a:pPr>
            <a:r>
              <a:rPr sz="2000" b="0">
                <a:solidFill>
                  <a:srgbClr val="333333"/>
                </a:solidFill>
                <a:latin typeface="Calibri"/>
              </a:rPr>
              <a:t>Should expose clear sharing and deletion controls before any partner sync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Data Privacy Principles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3.12 — Privacy by Design in a health app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3.12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3.12 pairs with the autonomy vignette in Example 3.6 but focuses on architecture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Data Privacy Principles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GDPR and HIPAA as anchors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GDPR governs personal data of people in the EU and EEA with extraterritorial reach for</a:t>
            </a:r>
          </a:p>
          <a:p>
            <a:pPr lvl="0" marL="457200" indent="-228600">
              <a:buFont typeface="Calibri"/>
              <a:spcAft>
                <a:spcPts val="1000"/>
              </a:spcAft>
              <a:buSzPct val="100000"/>
              <a:buChar char="•"/>
              <a:lnSpc>
                <a:spcPts val="2200"/>
              </a:lnSpc>
            </a:pPr>
            <a:r>
              <a:rPr sz="2000" b="0">
                <a:solidFill>
                  <a:srgbClr val="333333"/>
                </a:solidFill>
                <a:latin typeface="Calibri"/>
              </a:rPr>
              <a:t>It emphasizes lawfulness, purpose limitation, minimization, accountability</a:t>
            </a:r>
          </a:p>
          <a:p>
            <a:pPr lvl="0" marL="457200" indent="-228600">
              <a:buFont typeface="Calibri"/>
              <a:spcAft>
                <a:spcPts val="1000"/>
              </a:spcAft>
              <a:buSzPct val="100000"/>
              <a:buChar char="•"/>
              <a:lnSpc>
                <a:spcPts val="2200"/>
              </a:lnSpc>
            </a:pPr>
            <a:r>
              <a:rPr sz="2000" b="0">
                <a:solidFill>
                  <a:srgbClr val="333333"/>
                </a:solidFill>
                <a:latin typeface="Calibri"/>
              </a:rPr>
              <a:t>HIPAA concentrates parallel duties on protected health information held by US covered</a:t>
            </a:r>
          </a:p>
          <a:p>
            <a:pPr lvl="0" marL="457200" indent="-228600">
              <a:buFont typeface="Calibri"/>
              <a:spcAft>
                <a:spcPts val="1000"/>
              </a:spcAft>
              <a:buSzPct val="100000"/>
              <a:buChar char="•"/>
              <a:lnSpc>
                <a:spcPts val="2200"/>
              </a:lnSpc>
            </a:pPr>
            <a:r>
              <a:rPr sz="2000" b="0">
                <a:solidFill>
                  <a:srgbClr val="333333"/>
                </a:solidFill>
                <a:latin typeface="Calibri"/>
              </a:rPr>
              <a:t>Section 3.6 expands scope, rights, and penalties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Data Privacy Principles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Privacy management is more than notices</a:t>
            </a:r>
          </a:p>
          <a:p>
            <a:pPr lvl="0" marL="457200" indent="-228600">
              <a:buFont typeface="Calibri"/>
              <a:spcAft>
                <a:spcPts val="1000"/>
              </a:spcAft>
              <a:buSzPct val="100000"/>
              <a:buChar char="•"/>
              <a:lnSpc>
                <a:spcPts val="2200"/>
              </a:lnSpc>
            </a:pPr>
            <a:r>
              <a:rPr sz="2000" b="0">
                <a:solidFill>
                  <a:srgbClr val="333333"/>
                </a:solidFill>
                <a:latin typeface="Calibri"/>
              </a:rPr>
              <a:t>Consent must be meaningful</a:t>
            </a:r>
          </a:p>
          <a:p>
            <a:pPr lvl="0" marL="457200" indent="-228600">
              <a:buFont typeface="Calibri"/>
              <a:spcAft>
                <a:spcPts val="1000"/>
              </a:spcAft>
              <a:buSzPct val="100000"/>
              <a:buChar char="•"/>
              <a:lnSpc>
                <a:spcPts val="2200"/>
              </a:lnSpc>
            </a:pPr>
            <a:r>
              <a:rPr sz="2000" b="0">
                <a:solidFill>
                  <a:srgbClr val="333333"/>
                </a:solidFill>
                <a:latin typeface="Calibri"/>
              </a:rPr>
              <a:t>GDPR and HIPAA illustrate how principles become enforceable duties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Data Privacy Principles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privacy-preserving techniques, anonymization, encryption, differential privacy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Data Privacy Principles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