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utility, rights, fairness, and organizational pressure pull in different directions, teams need structured ways to choose among imperfect options. This part introduces four classical lenses, applies them to two dilemmas, and stresses stakeholder involvement before launch.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utilitarian, rights-based, virtue, and justice reasoning, apply multiple lenses to one collection dilemma and one justice-system dilemma, and explain why stakeholder review belongs before locking thresholds or sharing defaults.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Utilitarian reasoning compares aggregate benefits and harms and favors the option with the best overall consequences—it formalizes the utility–privacy tension from Section 3.2. Rights-based reasoning holds that autonomy, privacy, and consent bind regardless of average benefit. Virtue ethics asks what an honest, fair, and careful practitioner would disclose and refuse. Justice reasoning inspects whether burdens fall disproportionately on already disadvantaged groups.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3.29 shows a team predicting population health outcomes that might justify broad secondary use of identifiable records for societal benefit—even when individuals did not consent to research reuse. A strict utilitarian framing can justify that trade-off whenever aggregate gains look large, which is why rights-based checks are needed in parallel. Open the example 29 module for this chapter to compare lenses on one scenario.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Rights-based practice may implement stricter purpose limits and on-device processing even when advertising yield drops—duties rather than optional costs. Virtue ethics may require disclosing systematic label gaps rather than selling cleaner internal stories. Justice reasoning may delay hiring ranker launch until subgroup audits show disparities can be justified and mitigated.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3.33 applies all four lenses to marketing collection under a vague notice. Utilitarian views emphasize engagement gains; rights-based views require clearer purpose-specific consent; virtue ethics emphasizes transparent disclosure; justice views ask whether opaque collection disproportionately burdens users with less literacy or fewer alternatives. Try the example 33 module to document which lens prevailed and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3.34 returns to recidivism and hotspot conflicts from earlier in the chapter. A model may improve average institutional metrics while concentrating harm on already over-policed communities. Utilitarian public-safety arguments must be weighed against rights not to face discriminatory targeting, virtues of fairness in public institutions, and justice criteria that inspect subgroup harms—not citywide averages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3.1 and Example 3.1 named practitioners, leaders, policymakers, and data subjects. Decision-making adds a process requirement: invite those roles plus legal partners and representatives of groups most likely harmed before locking collection purpose, model thresholds, or sharing defaults. Document who was consulted, which lens prevailed, and what monitoring continues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lens dissolves every conflict—teams should apply several deliberately. Stakeholder review surfaces residual risks a single product owner may miss. Accountability requires a record of the choice, not only the shipped feature.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final part on emerging trends—AI surveillance, global regulation friction, and near-term privacy directions.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Ethical decision-making</a:t>
            </a:r>
          </a:p>
          <a:p>
            <a:pPr algn="ctr">
              <a:lnSpc>
                <a:spcPts val="2200"/>
              </a:lnSpc>
              <a:spcBef>
                <a:spcPts val="1400"/>
              </a:spcBef>
            </a:pPr>
            <a:r>
              <a:rPr sz="2600" b="0">
                <a:solidFill>
                  <a:srgbClr val="333333"/>
                </a:solidFill>
                <a:latin typeface="Calibri"/>
              </a:rPr>
              <a:t>When utility, rights, fairness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utilitarian, rights-based, virtue</a:t>
            </a:r>
          </a:p>
          <a:p>
            <a:pPr lvl="0" marL="457200" indent="-228600">
              <a:buFont typeface="Calibri"/>
              <a:spcAft>
                <a:spcPts val="1000"/>
              </a:spcAft>
              <a:buSzPct val="100000"/>
              <a:buChar char="•"/>
              <a:lnSpc>
                <a:spcPts val="2200"/>
              </a:lnSpc>
            </a:pPr>
            <a:r>
              <a:rPr sz="2000" b="0">
                <a:solidFill>
                  <a:srgbClr val="333333"/>
                </a:solidFill>
                <a:latin typeface="Calibri"/>
              </a:rPr>
              <a:t>Justice reasoning</a:t>
            </a:r>
          </a:p>
          <a:p>
            <a:pPr lvl="0" marL="457200" indent="-228600">
              <a:buFont typeface="Calibri"/>
              <a:spcAft>
                <a:spcPts val="1000"/>
              </a:spcAft>
              <a:buSzPct val="100000"/>
              <a:buChar char="•"/>
              <a:lnSpc>
                <a:spcPts val="2200"/>
              </a:lnSpc>
            </a:pPr>
            <a:r>
              <a:rPr sz="2000" b="0">
                <a:solidFill>
                  <a:srgbClr val="333333"/>
                </a:solidFill>
                <a:latin typeface="Calibri"/>
              </a:rPr>
              <a:t>Explain why stakeholder review belongs before locking thresholds or sharing defaults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lenses for data work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It formalizes the utility–privacy tension from Section 3.2</a:t>
            </a:r>
          </a:p>
          <a:p>
            <a:pPr lvl="0" marL="457200" indent="-228600">
              <a:buFont typeface="Calibri"/>
              <a:spcAft>
                <a:spcPts val="1000"/>
              </a:spcAft>
              <a:buSzPct val="100000"/>
              <a:buChar char="•"/>
              <a:lnSpc>
                <a:spcPts val="2200"/>
              </a:lnSpc>
            </a:pPr>
            <a:r>
              <a:rPr sz="2000" b="0">
                <a:solidFill>
                  <a:srgbClr val="333333"/>
                </a:solidFill>
                <a:latin typeface="Calibri"/>
              </a:rPr>
              <a:t>Rights-based reasoning holds that autonomy, privacy</a:t>
            </a:r>
          </a:p>
          <a:p>
            <a:pPr lvl="0" marL="457200" indent="-228600">
              <a:buFont typeface="Calibri"/>
              <a:spcAft>
                <a:spcPts val="1000"/>
              </a:spcAft>
              <a:buSzPct val="100000"/>
              <a:buChar char="•"/>
              <a:lnSpc>
                <a:spcPts val="2200"/>
              </a:lnSpc>
            </a:pPr>
            <a:r>
              <a:rPr sz="2000" b="0">
                <a:solidFill>
                  <a:srgbClr val="333333"/>
                </a:solidFill>
                <a:latin typeface="Calibri"/>
              </a:rPr>
              <a:t>Virtue ethics asks what an honest, fair</a:t>
            </a:r>
          </a:p>
          <a:p>
            <a:pPr lvl="0" marL="457200" indent="-228600">
              <a:buFont typeface="Calibri"/>
              <a:spcAft>
                <a:spcPts val="1000"/>
              </a:spcAft>
              <a:buSzPct val="100000"/>
              <a:buChar char="•"/>
              <a:lnSpc>
                <a:spcPts val="2200"/>
              </a:lnSpc>
            </a:pPr>
            <a:r>
              <a:rPr sz="2000" b="0">
                <a:solidFill>
                  <a:srgbClr val="333333"/>
                </a:solidFill>
                <a:latin typeface="Calibri"/>
              </a:rPr>
              <a:t>Justice reasoning inspects whether burdens fall disproportionately on already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3.29 — Healthcare prediction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3.29 — hands-on module</a:t>
            </a:r>
          </a:p>
          <a:p>
            <a:pPr lvl="0" marL="457200" indent="-228600">
              <a:buFont typeface="Calibri"/>
              <a:spcAft>
                <a:spcPts val="1000"/>
              </a:spcAft>
              <a:buSzPct val="100000"/>
              <a:buChar char="•"/>
              <a:lnSpc>
                <a:spcPts val="2200"/>
              </a:lnSpc>
            </a:pPr>
            <a:r>
              <a:rPr sz="2000" b="0">
                <a:solidFill>
                  <a:srgbClr val="333333"/>
                </a:solidFill>
                <a:latin typeface="Calibri"/>
              </a:rPr>
              <a:t>Even when individuals did not consent to research reuse</a:t>
            </a:r>
          </a:p>
          <a:p>
            <a:pPr lvl="0" marL="457200" indent="-228600">
              <a:buFont typeface="Calibri"/>
              <a:spcAft>
                <a:spcPts val="1000"/>
              </a:spcAft>
              <a:buSzPct val="100000"/>
              <a:buChar char="•"/>
              <a:lnSpc>
                <a:spcPts val="2200"/>
              </a:lnSpc>
            </a:pPr>
            <a:r>
              <a:rPr sz="2000" b="0">
                <a:solidFill>
                  <a:srgbClr val="333333"/>
                </a:solidFill>
                <a:latin typeface="Calibri"/>
              </a:rPr>
              <a:t>Which is why rights-based checks are needed in parallel</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Rights, virtue, and justice vignettes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Duties rather than optional costs</a:t>
            </a:r>
          </a:p>
          <a:p>
            <a:pPr lvl="0" marL="457200" indent="-228600">
              <a:buFont typeface="Calibri"/>
              <a:spcAft>
                <a:spcPts val="1000"/>
              </a:spcAft>
              <a:buSzPct val="100000"/>
              <a:buChar char="•"/>
              <a:lnSpc>
                <a:spcPts val="2200"/>
              </a:lnSpc>
            </a:pPr>
            <a:r>
              <a:rPr sz="2000" b="0">
                <a:solidFill>
                  <a:srgbClr val="333333"/>
                </a:solidFill>
                <a:latin typeface="Calibri"/>
              </a:rPr>
              <a:t>Virtue ethics may require disclosing systematic label gaps rather than selling cleaner</a:t>
            </a:r>
          </a:p>
          <a:p>
            <a:pPr lvl="0" marL="457200" indent="-228600">
              <a:buFont typeface="Calibri"/>
              <a:spcAft>
                <a:spcPts val="1000"/>
              </a:spcAft>
              <a:buSzPct val="100000"/>
              <a:buChar char="•"/>
              <a:lnSpc>
                <a:spcPts val="2200"/>
              </a:lnSpc>
            </a:pPr>
            <a:r>
              <a:rPr sz="2000" b="0">
                <a:solidFill>
                  <a:srgbClr val="333333"/>
                </a:solidFill>
                <a:latin typeface="Calibri"/>
              </a:rPr>
              <a:t>Justice reasoning may delay hiring ranker launch until subgroup audits show disparities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3.33 — User data collection for marketing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3.33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3.33 applies all four lenses to marketing collection under a vague notice</a:t>
            </a:r>
          </a:p>
          <a:p>
            <a:pPr lvl="0" marL="457200" indent="-228600">
              <a:buFont typeface="Calibri"/>
              <a:spcAft>
                <a:spcPts val="1000"/>
              </a:spcAft>
              <a:buSzPct val="100000"/>
              <a:buChar char="•"/>
              <a:lnSpc>
                <a:spcPts val="2200"/>
              </a:lnSpc>
            </a:pPr>
            <a:r>
              <a:rPr sz="2000" b="0">
                <a:solidFill>
                  <a:srgbClr val="333333"/>
                </a:solidFill>
                <a:latin typeface="Calibri"/>
              </a:rPr>
              <a:t>Utilitarian views emphasize engagement gains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`modules/chapter3/example33/`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3.34 — AI in criminal justice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3.34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3.34 returns to recidivism and hotspot conflicts from earlier in the chapter</a:t>
            </a:r>
          </a:p>
          <a:p>
            <a:pPr lvl="0" marL="457200" indent="-228600">
              <a:buFont typeface="Calibri"/>
              <a:spcAft>
                <a:spcPts val="1000"/>
              </a:spcAft>
              <a:buSzPct val="100000"/>
              <a:buChar char="•"/>
              <a:lnSpc>
                <a:spcPts val="2200"/>
              </a:lnSpc>
            </a:pPr>
            <a:r>
              <a:rPr sz="2000" b="0">
                <a:solidFill>
                  <a:srgbClr val="333333"/>
                </a:solidFill>
                <a:latin typeface="Calibri"/>
              </a:rPr>
              <a:t>A model may improve average institutional metrics while concentrating harm on already</a:t>
            </a:r>
          </a:p>
          <a:p>
            <a:pPr lvl="0" marL="457200" indent="-228600">
              <a:buFont typeface="Calibri"/>
              <a:spcAft>
                <a:spcPts val="1000"/>
              </a:spcAft>
              <a:buSzPct val="100000"/>
              <a:buChar char="•"/>
              <a:lnSpc>
                <a:spcPts val="2200"/>
              </a:lnSpc>
            </a:pPr>
            <a:r>
              <a:rPr sz="2000" b="0">
                <a:solidFill>
                  <a:srgbClr val="333333"/>
                </a:solidFill>
                <a:latin typeface="Calibri"/>
              </a:rPr>
              <a:t>Justice criteria that inspect subgroup harms, not citywide averages alone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Stakeholder involvement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Section 3.1 and Example 3.1 named practitioners, leaders, policymakers, and data subjects</a:t>
            </a:r>
          </a:p>
          <a:p>
            <a:pPr lvl="0" marL="457200" indent="-228600">
              <a:buFont typeface="Calibri"/>
              <a:spcAft>
                <a:spcPts val="1000"/>
              </a:spcAft>
              <a:buSzPct val="100000"/>
              <a:buChar char="•"/>
              <a:lnSpc>
                <a:spcPts val="2200"/>
              </a:lnSpc>
            </a:pPr>
            <a:r>
              <a:rPr sz="2000" b="0">
                <a:solidFill>
                  <a:srgbClr val="333333"/>
                </a:solidFill>
                <a:latin typeface="Calibri"/>
              </a:rPr>
              <a:t>Decision-making adds a process requirement</a:t>
            </a:r>
          </a:p>
          <a:p>
            <a:pPr lvl="0" marL="457200" indent="-228600">
              <a:buFont typeface="Calibri"/>
              <a:spcAft>
                <a:spcPts val="1000"/>
              </a:spcAft>
              <a:buSzPct val="100000"/>
              <a:buChar char="•"/>
              <a:lnSpc>
                <a:spcPts val="2200"/>
              </a:lnSpc>
            </a:pPr>
            <a:r>
              <a:rPr sz="2000" b="0">
                <a:solidFill>
                  <a:srgbClr val="333333"/>
                </a:solidFill>
                <a:latin typeface="Calibri"/>
              </a:rPr>
              <a:t>Document who was consulted, which lens prevailed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 single lens dissolves every conflict, teams should apply several deliberately</a:t>
            </a:r>
          </a:p>
          <a:p>
            <a:pPr lvl="0" marL="457200" indent="-228600">
              <a:buFont typeface="Calibri"/>
              <a:spcAft>
                <a:spcPts val="1000"/>
              </a:spcAft>
              <a:buSzPct val="100000"/>
              <a:buChar char="•"/>
              <a:lnSpc>
                <a:spcPts val="2200"/>
              </a:lnSpc>
            </a:pPr>
            <a:r>
              <a:rPr sz="2000" b="0">
                <a:solidFill>
                  <a:srgbClr val="333333"/>
                </a:solidFill>
                <a:latin typeface="Calibri"/>
              </a:rPr>
              <a:t>Stakeholder review surfaces residual risks a single product owner may miss</a:t>
            </a:r>
          </a:p>
          <a:p>
            <a:pPr lvl="0" marL="457200" indent="-228600">
              <a:buFont typeface="Calibri"/>
              <a:spcAft>
                <a:spcPts val="1000"/>
              </a:spcAft>
              <a:buSzPct val="100000"/>
              <a:buChar char="•"/>
              <a:lnSpc>
                <a:spcPts val="2200"/>
              </a:lnSpc>
            </a:pPr>
            <a:r>
              <a:rPr sz="2000" b="0">
                <a:solidFill>
                  <a:srgbClr val="333333"/>
                </a:solidFill>
                <a:latin typeface="Calibri"/>
              </a:rPr>
              <a:t>Accountability requires a record of the choice, not only the shipped feature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the final part on emerging trends, AI surveillance, global regulation friction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Ethical Decision Making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