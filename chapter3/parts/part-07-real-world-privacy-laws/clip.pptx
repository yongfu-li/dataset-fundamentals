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statutes turn principles into enforceable duties for controllers and processors. This part surveys GDPR, HIPAA, CCPA and CPRA, and selected other laws as planning maps for scope, rights, and enforcement—not as a substitute for counsel.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summarize scope and principle highlights for GDPR, HIPAA, and CCPA/CPRA, name data-subject or patient rights teams must honor, and recognize why global products need jurisdiction maps.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3.3 previewed GDPR and HIPAA at principle level; this section is the authoritative home for scope, rights, breach notification, and penalties. Details change with amendments—treat the text as a planning map for data teams.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GDPR governs processing of personal data of people in the EU and EEA and can reach organizations outside the Union that offer goods or services to, or monitor, those people. Core obligations include lawful basis for each purpose, purpose limitation, minimization, security appropriate to risk, and accountability with documented controls. Data-subject rights include access, rectification, erasure, restriction, portability, and objection.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HIPAA is a US federal framework for protected health information held by covered entities and their business associates. The Privacy Rule limits uses and disclosures; the Security Rule requires safeguards for electronic PHI; the Breach Notification Rule sets timelines after compromise. For data teams this means minimizing secondary uses, binding vendors with business associate agreements, and rehearsing notification workflows.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California Consumer Privacy Act, as amended by the CPRA, grants California residents rights to know what personal information is collected, to access and delete it with exceptions, to opt out of certain sale or sharing for advertising, and to non-discrimination for exercising rights. Relative to GDPR, CCPA and CPRA are more notice-and-choice oriented within a large consumer-technology market.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COPPA requires verifiable parental consent before collecting personal information from children under thirteen in the United States. Brazil's LGPD and China's PIPL echo GDPR-style themes while remaining distinct enforcement regimes. Global products need maps of which residents are in scope, where data may be stored, and which transfer mechanisms remain valid when adequacy decisions change.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3.28 illustrates regulatory exposure: supervisory authorities under the GDPR may impose administrative fines up to twenty million euros or four percent of worldwide annual turnover, whichever is higher, for serious infringements including inadequate security. Open the example 28 module for this chapter to place fines in context with breach cases later in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Statutes encode rights catalogs and accountability regimes—not merely privacy policies. GDPR, HIPAA, and CCPA/CPRA overlap in themes but differ in scope and posture. Multistate and multinational operators often adopt the strictest baseline they face while tracking new state and regional statutes.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data breaches—definitions, causes, and three landmark failure modes.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3 — Real-world privacy laws</a:t>
            </a:r>
          </a:p>
          <a:p>
            <a:pPr algn="ctr">
              <a:lnSpc>
                <a:spcPts val="2200"/>
              </a:lnSpc>
              <a:spcBef>
                <a:spcPts val="1400"/>
              </a:spcBef>
            </a:pPr>
            <a:r>
              <a:rPr sz="2600" b="0">
                <a:solidFill>
                  <a:srgbClr val="333333"/>
                </a:solidFill>
                <a:latin typeface="Calibri"/>
              </a:rPr>
              <a:t>Privacy statutes turn principles into enforceable duties for controllers and processors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Real World Privacy Laws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Summarize scope and principle highlights for GDPR, HIPAA</a:t>
            </a:r>
          </a:p>
          <a:p>
            <a:pPr>
              <a:spcAft>
                <a:spcPts val="1000"/>
              </a:spcAft>
              <a:buChar char="•"/>
              <a:lnSpc>
                <a:spcPts val="2200"/>
              </a:lnSpc>
            </a:pPr>
            <a:r>
              <a:rPr sz="2000" b="0">
                <a:solidFill>
                  <a:srgbClr val="333333"/>
                </a:solidFill>
                <a:latin typeface="Calibri"/>
              </a:rPr>
              <a:t>CCPA/CPRA, name data-subject or patient rights teams must honor</a:t>
            </a:r>
          </a:p>
          <a:p>
            <a:pPr>
              <a:spcAft>
                <a:spcPts val="1000"/>
              </a:spcAft>
              <a:buChar char="•"/>
              <a:lnSpc>
                <a:spcPts val="2200"/>
              </a:lnSpc>
            </a:pPr>
            <a:r>
              <a:rPr sz="2000" b="0">
                <a:solidFill>
                  <a:srgbClr val="333333"/>
                </a:solidFill>
                <a:latin typeface="Calibri"/>
              </a:rPr>
              <a:t>Recognize why global products need jurisdiction maps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Real World Privacy Laws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From principles to enforceable duties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Section 3.3 previewed GDPR and HIPAA at principle level</a:t>
            </a:r>
          </a:p>
          <a:p>
            <a:pPr>
              <a:spcAft>
                <a:spcPts val="1000"/>
              </a:spcAft>
              <a:buChar char="•"/>
              <a:lnSpc>
                <a:spcPts val="2200"/>
              </a:lnSpc>
            </a:pPr>
            <a:r>
              <a:rPr sz="2000" b="0">
                <a:solidFill>
                  <a:srgbClr val="333333"/>
                </a:solidFill>
                <a:latin typeface="Calibri"/>
              </a:rPr>
              <a:t>Details change with amendments, treat the text as a planning map for data teams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Real World Privacy Laws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GDPR essentials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Or monitor, those people</a:t>
            </a:r>
          </a:p>
          <a:p>
            <a:pPr>
              <a:spcAft>
                <a:spcPts val="1000"/>
              </a:spcAft>
              <a:buChar char="•"/>
              <a:lnSpc>
                <a:spcPts val="2200"/>
              </a:lnSpc>
            </a:pPr>
            <a:r>
              <a:rPr sz="2000" b="0">
                <a:solidFill>
                  <a:srgbClr val="333333"/>
                </a:solidFill>
                <a:latin typeface="Calibri"/>
              </a:rPr>
              <a:t>Accountability with documented controls</a:t>
            </a:r>
          </a:p>
          <a:p>
            <a:pPr>
              <a:spcAft>
                <a:spcPts val="1000"/>
              </a:spcAft>
              <a:buChar char="•"/>
              <a:lnSpc>
                <a:spcPts val="2200"/>
              </a:lnSpc>
            </a:pPr>
            <a:r>
              <a:rPr sz="2000" b="0">
                <a:solidFill>
                  <a:srgbClr val="333333"/>
                </a:solidFill>
                <a:latin typeface="Calibri"/>
              </a:rPr>
              <a:t>Data-subject rights include access, rectification, erasure, restriction, portability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Real World Privacy Laws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HIPAA essentials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HIPAA is a US federal framework for protected health information held by covered entities</a:t>
            </a:r>
          </a:p>
          <a:p>
            <a:pPr>
              <a:spcAft>
                <a:spcPts val="1000"/>
              </a:spcAft>
              <a:buChar char="•"/>
              <a:lnSpc>
                <a:spcPts val="2200"/>
              </a:lnSpc>
            </a:pPr>
            <a:r>
              <a:rPr sz="2000" b="0">
                <a:solidFill>
                  <a:srgbClr val="333333"/>
                </a:solidFill>
                <a:latin typeface="Calibri"/>
              </a:rPr>
              <a:t>The Privacy Rule limits uses and disclosures</a:t>
            </a:r>
          </a:p>
          <a:p>
            <a:pPr>
              <a:spcAft>
                <a:spcPts val="1000"/>
              </a:spcAft>
              <a:buChar char="•"/>
              <a:lnSpc>
                <a:spcPts val="2200"/>
              </a:lnSpc>
            </a:pPr>
            <a:r>
              <a:rPr sz="2000" b="0">
                <a:solidFill>
                  <a:srgbClr val="333333"/>
                </a:solidFill>
                <a:latin typeface="Calibri"/>
              </a:rPr>
              <a:t>Rehearsing notification workflows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Real World Privacy Laws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CCPA and CPRA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To non-discrimination for exercising rights</a:t>
            </a:r>
          </a:p>
          <a:p>
            <a:pPr>
              <a:spcAft>
                <a:spcPts val="1000"/>
              </a:spcAft>
              <a:buChar char="•"/>
              <a:lnSpc>
                <a:spcPts val="2200"/>
              </a:lnSpc>
            </a:pPr>
            <a:r>
              <a:rPr sz="2000" b="0">
                <a:solidFill>
                  <a:srgbClr val="333333"/>
                </a:solidFill>
                <a:latin typeface="Calibri"/>
              </a:rPr>
              <a:t>Relative to GDPR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Real World Privacy Laws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Other notable laws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COPPA requires verifiable parental consent before collecting personal information from</a:t>
            </a:r>
          </a:p>
          <a:p>
            <a:pPr>
              <a:spcAft>
                <a:spcPts val="1000"/>
              </a:spcAft>
              <a:buChar char="•"/>
              <a:lnSpc>
                <a:spcPts val="2200"/>
              </a:lnSpc>
            </a:pPr>
            <a:r>
              <a:rPr sz="2000" b="0">
                <a:solidFill>
                  <a:srgbClr val="333333"/>
                </a:solidFill>
                <a:latin typeface="Calibri"/>
              </a:rPr>
              <a:t>Brazil's LGPD and China's PIPL echo GDPR-style themes while remaining distinct enforcement</a:t>
            </a:r>
          </a:p>
          <a:p>
            <a:pPr>
              <a:spcAft>
                <a:spcPts val="1000"/>
              </a:spcAft>
              <a:buChar char="•"/>
              <a:lnSpc>
                <a:spcPts val="2200"/>
              </a:lnSpc>
            </a:pPr>
            <a:r>
              <a:rPr sz="2000" b="0">
                <a:solidFill>
                  <a:srgbClr val="333333"/>
                </a:solidFill>
                <a:latin typeface="Calibri"/>
              </a:rPr>
              <a:t>Global products need maps of which residents are in scope, where data may be stored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Real World Privacy Laws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3.28 — GDPR fine ceiling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3.28 — hands-on module</a:t>
            </a:r>
          </a:p>
          <a:p>
            <a:pPr>
              <a:spcAft>
                <a:spcPts val="1000"/>
              </a:spcAft>
              <a:buChar char="•"/>
              <a:lnSpc>
                <a:spcPts val="2200"/>
              </a:lnSpc>
            </a:pPr>
            <a:r>
              <a:rPr sz="2000" b="0">
                <a:solidFill>
                  <a:srgbClr val="333333"/>
                </a:solidFill>
                <a:latin typeface="Calibri"/>
              </a:rPr>
              <a:t>Example 3.28 illustrates regulatory exposure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`modules/chapter3/example28/`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Real World Privacy Laws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Statutes encode rights catalogs and accountability regimes, not merely privacy policies</a:t>
            </a:r>
          </a:p>
          <a:p>
            <a:pPr>
              <a:spcAft>
                <a:spcPts val="1000"/>
              </a:spcAft>
              <a:buChar char="•"/>
              <a:lnSpc>
                <a:spcPts val="2200"/>
              </a:lnSpc>
            </a:pPr>
            <a:r>
              <a:rPr sz="2000" b="0">
                <a:solidFill>
                  <a:srgbClr val="333333"/>
                </a:solidFill>
                <a:latin typeface="Calibri"/>
              </a:rPr>
              <a:t>GDPR, HIPAA, and CCPA/CPRA overlap in themes but differ in scope and posture</a:t>
            </a:r>
          </a:p>
          <a:p>
            <a:pPr>
              <a:spcAft>
                <a:spcPts val="1000"/>
              </a:spcAft>
              <a:buChar char="•"/>
              <a:lnSpc>
                <a:spcPts val="2200"/>
              </a:lnSpc>
            </a:pPr>
            <a:r>
              <a:rPr sz="2000" b="0">
                <a:solidFill>
                  <a:srgbClr val="333333"/>
                </a:solidFill>
                <a:latin typeface="Calibri"/>
              </a:rPr>
              <a:t>Multistate and multinational operators often adopt the strictest baseline they face while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Real World Privacy Laws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data breaches, definitions, causes, and three landmark failure modes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Real World Privacy Laws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