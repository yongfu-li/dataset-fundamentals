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data breach is unauthorized access to, disclosure of, or destruction of sensitive information. This part defines breaches, lists recurring causes, and walks three landmark incidents as failure-mode patterns—costs and prevention follow in the next part.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define a data breach, name common causes, and distinguish three organizational failure modes illustrated by Equifax, Yahoo, and Target.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Causes range from external intrusion and phishing to insider misuse, unpatched software, weak credentials, lost devices, and excessive third-party access. Organizations storing identity, financial, or health attributes face elevated duty of care because stolen datasets enable fraud and long-lived harm. Statute-level notification clocks assume teams can detect and classify incidents quickly.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3.22 states the severity range: a breach might involve a small set of names and emails or a large theft of government identifiers, payment credentials, or health records. Impact scales with sensitivity, volume, dwell time before detection, and how quickly notification and remediation begin. Open the example 22 module for this chapter to review severity factors.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3.23 describes the 2017 Equifax incident: attackers exploited an unpatched web-application vulnerability and exposed personal data of roughly one hundred forty-seven million individuals. The failure mode is delayed patching and weak monitoring on high-value identity stores. Downstream costs appear in the next part.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3.23 is the patching-discipline lesson. Try the example 23 module to trace how known vulnerabilities on internet-facing systems become mass identity exposure. Technical debt on high-sensitivity stores is an ethics issue, not only an IT backlog item.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3.24 covers Yahoo breaches affecting hundreds of millions of accounts, later revised toward three billion for the 2013 incident, with criticism focused on delayed public disclosure during acquisition negotiations. The failure mode is late accountability to users and markets after compromise at consumer scale.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3.25 describes attackers using third-party vendor access to reach point-of-sale systems and compromise tens of millions of payment cards. The failure mode is vendor risk and malware on retail networks—not exotic cryptography breaking, but supply-chain entry and insufficient segmentation.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Breach risk is organizational as much as cryptographic: patching discipline, vendor oversight, and disclosure timing decide outcomes after intrusion begins. Three patterns recur—unpatched systems, delayed disclosure, and vendor-mediated entry. Prevention controls mapped to each pattern come next.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breach consequences and prevention—financial fallout and controls tied to each failure mode.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3 — Data breaches</a:t>
            </a:r>
          </a:p>
          <a:p>
            <a:pPr algn="ctr">
              <a:lnSpc>
                <a:spcPts val="2200"/>
              </a:lnSpc>
              <a:spcBef>
                <a:spcPts val="1400"/>
              </a:spcBef>
            </a:pPr>
            <a:r>
              <a:rPr sz="2600" b="0">
                <a:solidFill>
                  <a:srgbClr val="333333"/>
                </a:solidFill>
                <a:latin typeface="Calibri"/>
              </a:rPr>
              <a:t>A data breach is unauthorized access to, disclosure of, or destruction of sensitive information</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08 Data Breaches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Define a data breach, name common causes</a:t>
            </a:r>
          </a:p>
          <a:p>
            <a:pPr>
              <a:spcAft>
                <a:spcPts val="1000"/>
              </a:spcAft>
              <a:buChar char="•"/>
              <a:lnSpc>
                <a:spcPts val="2200"/>
              </a:lnSpc>
            </a:pPr>
            <a:r>
              <a:rPr sz="2000" b="0">
                <a:solidFill>
                  <a:srgbClr val="333333"/>
                </a:solidFill>
                <a:latin typeface="Calibri"/>
              </a:rPr>
              <a:t>Distinguish three organizational failure modes illustrated by Equifax, Yahoo</a:t>
            </a:r>
          </a:p>
          <a:p>
            <a:pPr>
              <a:spcAft>
                <a:spcPts val="1000"/>
              </a:spcAft>
              <a:buChar char="•"/>
              <a:lnSpc>
                <a:spcPts val="2200"/>
              </a:lnSpc>
            </a:pPr>
            <a:r>
              <a:rPr sz="2000" b="0">
                <a:solidFill>
                  <a:srgbClr val="333333"/>
                </a:solidFill>
                <a:latin typeface="Calibri"/>
              </a:rPr>
              <a:t>Target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08 Data Breaches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Understanding data breaches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Excessive third-party access</a:t>
            </a:r>
          </a:p>
          <a:p>
            <a:pPr>
              <a:spcAft>
                <a:spcPts val="1000"/>
              </a:spcAft>
              <a:buChar char="•"/>
              <a:lnSpc>
                <a:spcPts val="2200"/>
              </a:lnSpc>
            </a:pPr>
            <a:r>
              <a:rPr sz="2000" b="0">
                <a:solidFill>
                  <a:srgbClr val="333333"/>
                </a:solidFill>
                <a:latin typeface="Calibri"/>
              </a:rPr>
              <a:t>Organizations storing identity</a:t>
            </a:r>
          </a:p>
          <a:p>
            <a:pPr>
              <a:spcAft>
                <a:spcPts val="1000"/>
              </a:spcAft>
              <a:buChar char="•"/>
              <a:lnSpc>
                <a:spcPts val="2200"/>
              </a:lnSpc>
            </a:pPr>
            <a:r>
              <a:rPr sz="2000" b="0">
                <a:solidFill>
                  <a:srgbClr val="333333"/>
                </a:solidFill>
                <a:latin typeface="Calibri"/>
              </a:rPr>
              <a:t>Statute-level notification clocks assume teams can detect and classify incidents quickly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08 Data Breaches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3.22 — Data breach severity range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3.22 — hands-on module</a:t>
            </a:r>
          </a:p>
          <a:p>
            <a:pPr>
              <a:spcAft>
                <a:spcPts val="1000"/>
              </a:spcAft>
              <a:buChar char="•"/>
              <a:lnSpc>
                <a:spcPts val="2200"/>
              </a:lnSpc>
            </a:pPr>
            <a:r>
              <a:rPr sz="2000" b="0">
                <a:solidFill>
                  <a:srgbClr val="333333"/>
                </a:solidFill>
                <a:latin typeface="Calibri"/>
              </a:rPr>
              <a:t>Example 3.22 states the severity range</a:t>
            </a:r>
          </a:p>
          <a:p>
            <a:pPr>
              <a:spcAft>
                <a:spcPts val="1000"/>
              </a:spcAft>
              <a:buChar char="•"/>
              <a:lnSpc>
                <a:spcPts val="2200"/>
              </a:lnSpc>
            </a:pPr>
            <a:r>
              <a:rPr sz="2000" b="0">
                <a:solidFill>
                  <a:srgbClr val="333333"/>
                </a:solidFill>
                <a:latin typeface="Calibri"/>
              </a:rPr>
              <a:t>Impact scales with sensitivity, volume, dwell time before detection</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`modules/chapter3/example22/`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08 Data Breaches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Equifax — unpatched internet-facing systems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3.23 describes the 2017 Equifax incident</a:t>
            </a:r>
          </a:p>
          <a:p>
            <a:pPr>
              <a:spcAft>
                <a:spcPts val="1000"/>
              </a:spcAft>
              <a:buChar char="•"/>
              <a:lnSpc>
                <a:spcPts val="2200"/>
              </a:lnSpc>
            </a:pPr>
            <a:r>
              <a:rPr sz="2000" b="0">
                <a:solidFill>
                  <a:srgbClr val="333333"/>
                </a:solidFill>
                <a:latin typeface="Calibri"/>
              </a:rPr>
              <a:t>The failure mode is delayed patching and weak monitoring on high-value identity stores</a:t>
            </a:r>
          </a:p>
          <a:p>
            <a:pPr>
              <a:spcAft>
                <a:spcPts val="1000"/>
              </a:spcAft>
              <a:buChar char="•"/>
              <a:lnSpc>
                <a:spcPts val="2200"/>
              </a:lnSpc>
            </a:pPr>
            <a:r>
              <a:rPr sz="2000" b="0">
                <a:solidFill>
                  <a:srgbClr val="333333"/>
                </a:solidFill>
                <a:latin typeface="Calibri"/>
              </a:rPr>
              <a:t>Downstream costs appear in the next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08 Data Breaches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3.23 — Equifax case study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3.23 — hands-on module</a:t>
            </a:r>
          </a:p>
          <a:p>
            <a:pPr>
              <a:spcAft>
                <a:spcPts val="1000"/>
              </a:spcAft>
              <a:buChar char="•"/>
              <a:lnSpc>
                <a:spcPts val="2200"/>
              </a:lnSpc>
            </a:pPr>
            <a:r>
              <a:rPr sz="2000" b="0">
                <a:solidFill>
                  <a:srgbClr val="333333"/>
                </a:solidFill>
                <a:latin typeface="Calibri"/>
              </a:rPr>
              <a:t>The patching-discipline lesson</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`modules/chapter3/example23/`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08 Data Breaches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Yahoo — delayed disclosure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3.24 covers Yahoo breaches affecting hundreds of millions of accounts</a:t>
            </a:r>
          </a:p>
          <a:p>
            <a:pPr>
              <a:spcAft>
                <a:spcPts val="1000"/>
              </a:spcAft>
              <a:buChar char="•"/>
              <a:lnSpc>
                <a:spcPts val="2200"/>
              </a:lnSpc>
            </a:pPr>
            <a:r>
              <a:rPr sz="2000" b="0">
                <a:solidFill>
                  <a:srgbClr val="333333"/>
                </a:solidFill>
                <a:latin typeface="Calibri"/>
              </a:rPr>
              <a:t>The failure mode is late accountability to users and markets after compromise at consumer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08 Data Breaches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Target — third-party vendor path</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3.25 describes attackers using third-party vendor access to reach point-of-sale</a:t>
            </a:r>
          </a:p>
          <a:p>
            <a:pPr>
              <a:spcAft>
                <a:spcPts val="1000"/>
              </a:spcAft>
              <a:buChar char="•"/>
              <a:lnSpc>
                <a:spcPts val="2200"/>
              </a:lnSpc>
            </a:pPr>
            <a:r>
              <a:rPr sz="2000" b="0">
                <a:solidFill>
                  <a:srgbClr val="333333"/>
                </a:solidFill>
                <a:latin typeface="Calibri"/>
              </a:rPr>
              <a:t>The failure mode is vendor risk and malware on retail networks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08 Data Breaches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Breach risk is organizational as much as cryptographic</a:t>
            </a:r>
          </a:p>
          <a:p>
            <a:pPr>
              <a:spcAft>
                <a:spcPts val="1000"/>
              </a:spcAft>
              <a:buChar char="•"/>
              <a:lnSpc>
                <a:spcPts val="2200"/>
              </a:lnSpc>
            </a:pPr>
            <a:r>
              <a:rPr sz="2000" b="0">
                <a:solidFill>
                  <a:srgbClr val="333333"/>
                </a:solidFill>
                <a:latin typeface="Calibri"/>
              </a:rPr>
              <a:t>Three patterns recur, unpatched systems, delayed disclosure, and vendor-mediated entry</a:t>
            </a:r>
          </a:p>
          <a:p>
            <a:pPr>
              <a:spcAft>
                <a:spcPts val="1000"/>
              </a:spcAft>
              <a:buChar char="•"/>
              <a:lnSpc>
                <a:spcPts val="2200"/>
              </a:lnSpc>
            </a:pPr>
            <a:r>
              <a:rPr sz="2000" b="0">
                <a:solidFill>
                  <a:srgbClr val="333333"/>
                </a:solidFill>
                <a:latin typeface="Calibri"/>
              </a:rPr>
              <a:t>Prevention controls mapped to each pattern come next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08 Data Breaches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Continue to breach consequences and prevention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08 Data Breaches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