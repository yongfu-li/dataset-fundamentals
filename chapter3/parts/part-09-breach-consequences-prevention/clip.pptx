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consequences span finance, reputation, regulation, and individual fraud risk. This part ties dollar and governance fallout to the Equifax and Yahoo cases from the previous part, then maps prevention controls to each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list major consequence categories for organizations and individuals, cite Equifax and Yahoo cost patterns, and match prevention controls to unpatched systems, delayed disclosure, and vendor entry.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losses include investigation, notification, credit monitoring, litigation, and lost business. Regulatory penalties can reach GDPR ceilings illustrated in Example 3.28. Reputational damage and operational downtime while systems are rebuilt extend harm beyond the initial incident.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3.26 attaches hundreds of millions of dollars in settlements, remediation, and related costs to the unpatched-system failure in Example 3.23. Delayed patching on high-value identity stores becomes a balance-sheet event—not a footnote in a security review. Open the example 26 module for this chapter to review cost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3.27 discusses governance and cybersecurity oversight failures that coincided with a reduced sale price in the Verizon acquisition—breach handling can affect enterprise valuation and board accountability, not only consumer trust. Try the example 27 module to connect disclosure timing with deal outcomes.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Individuals whose identifiers leak may face identity theft and fraud for years, as previewed in Example 3.10. Organizations may suffer operational paralysis while forensic work continues. Prevention therefore protects people first and enterprise value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Timely patching and monitoring address unpatched internet-facing systems. Rehearsed detection, escalation, and disclosure address delayed accountability. Vendor risk reviews and least-privilege third-party access address supply-chain entry. Those case-specific controls sit alongside encryption, multi-factor authentication, phishing-resistant training, intrusion detection, and data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Yahoo, and Target each failed at a different layer of the stack. Prevention should map to failure modes from Section 3.7, not only to a generic checklist. Chapter 1 already named encryption and access control as management practices; this section shows why they matter after incidents begin.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Breaches are balance-sheet and governance events—not only IT incidents. Map controls to known failure patterns. Minimization ensures stolen stores contain less that can be abused.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ethical decision-making—structured lenses for conflicts among principles.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Breach consequences and prevention</a:t>
            </a:r>
          </a:p>
          <a:p>
            <a:pPr algn="ctr">
              <a:lnSpc>
                <a:spcPts val="2200"/>
              </a:lnSpc>
              <a:spcBef>
                <a:spcPts val="1400"/>
              </a:spcBef>
            </a:pPr>
            <a:r>
              <a:rPr sz="2600" b="0">
                <a:solidFill>
                  <a:srgbClr val="333333"/>
                </a:solidFill>
                <a:latin typeface="Calibri"/>
              </a:rPr>
              <a:t>Breach consequences span finance, reputation, regulation, and individual fraud risk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List major consequence categories for organizations and individuals</a:t>
            </a:r>
          </a:p>
          <a:p>
            <a:pPr>
              <a:spcAft>
                <a:spcPts val="1000"/>
              </a:spcAft>
              <a:buChar char="•"/>
              <a:lnSpc>
                <a:spcPts val="2200"/>
              </a:lnSpc>
            </a:pPr>
            <a:r>
              <a:rPr sz="2000" b="0">
                <a:solidFill>
                  <a:srgbClr val="333333"/>
                </a:solidFill>
                <a:latin typeface="Calibri"/>
              </a:rPr>
              <a:t>Match prevention controls to unpatched systems, delayed disclosure</a:t>
            </a:r>
          </a:p>
          <a:p>
            <a:pPr>
              <a:spcAft>
                <a:spcPts val="1000"/>
              </a:spcAft>
              <a:buChar char="•"/>
              <a:lnSpc>
                <a:spcPts val="2200"/>
              </a:lnSpc>
            </a:pPr>
            <a:r>
              <a:rPr sz="2000" b="0">
                <a:solidFill>
                  <a:srgbClr val="333333"/>
                </a:solidFill>
                <a:latin typeface="Calibri"/>
              </a:rPr>
              <a:t>Vendor entry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for organizations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Financial losses include investigation, notification, credit monitoring, litigation</a:t>
            </a:r>
          </a:p>
          <a:p>
            <a:pPr>
              <a:spcAft>
                <a:spcPts val="1000"/>
              </a:spcAft>
              <a:buChar char="•"/>
              <a:lnSpc>
                <a:spcPts val="2200"/>
              </a:lnSpc>
            </a:pPr>
            <a:r>
              <a:rPr sz="2000" b="0">
                <a:solidFill>
                  <a:srgbClr val="333333"/>
                </a:solidFill>
                <a:latin typeface="Calibri"/>
              </a:rPr>
              <a:t>Regulatory penalties can reach GDPR ceilings illustrated in Example 3.28</a:t>
            </a:r>
          </a:p>
          <a:p>
            <a:pPr>
              <a:spcAft>
                <a:spcPts val="1000"/>
              </a:spcAft>
              <a:buChar char="•"/>
              <a:lnSpc>
                <a:spcPts val="2200"/>
              </a:lnSpc>
            </a:pPr>
            <a:r>
              <a:rPr sz="2000" b="0">
                <a:solidFill>
                  <a:srgbClr val="333333"/>
                </a:solidFill>
                <a:latin typeface="Calibri"/>
              </a:rPr>
              <a:t>Reputational damage and operational downtime while systems are rebuilt extend harm beyond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3.26 — Equifax breach costs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3.26 — hands-on module</a:t>
            </a:r>
          </a:p>
          <a:p>
            <a:pPr>
              <a:spcAft>
                <a:spcPts val="1000"/>
              </a:spcAft>
              <a:buChar char="•"/>
              <a:lnSpc>
                <a:spcPts val="2200"/>
              </a:lnSpc>
            </a:pPr>
            <a:r>
              <a:rPr sz="2000" b="0">
                <a:solidFill>
                  <a:srgbClr val="333333"/>
                </a:solidFill>
                <a:latin typeface="Calibri"/>
              </a:rPr>
              <a:t>Example 3.26 attaches hundreds of millions of dollars in settlements, remediation</a:t>
            </a:r>
          </a:p>
          <a:p>
            <a:pPr>
              <a:spcAft>
                <a:spcPts val="1000"/>
              </a:spcAft>
              <a:buChar char="•"/>
              <a:lnSpc>
                <a:spcPts val="2200"/>
              </a:lnSpc>
            </a:pPr>
            <a:r>
              <a:rPr sz="2000" b="0">
                <a:solidFill>
                  <a:srgbClr val="333333"/>
                </a:solidFill>
                <a:latin typeface="Calibri"/>
              </a:rPr>
              <a:t>Delayed patching on high-value identity stores becomes a balance-sheet event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3.27 — Yahoo breach and acquisition impact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3.27 — hands-on module</a:t>
            </a:r>
          </a:p>
          <a:p>
            <a:pPr>
              <a:spcAft>
                <a:spcPts val="1000"/>
              </a:spcAft>
              <a:buChar char="•"/>
              <a:lnSpc>
                <a:spcPts val="2200"/>
              </a:lnSpc>
            </a:pPr>
            <a:r>
              <a:rPr sz="2000" b="0">
                <a:solidFill>
                  <a:srgbClr val="333333"/>
                </a:solidFill>
                <a:latin typeface="Calibri"/>
              </a:rPr>
              <a:t>Example 3.27 discusses governance and cybersecurity oversight failures that coincided with</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for individuals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Individuals whose identifiers leak may face identity theft and fraud for years</a:t>
            </a:r>
          </a:p>
          <a:p>
            <a:pPr>
              <a:spcAft>
                <a:spcPts val="1000"/>
              </a:spcAft>
              <a:buChar char="•"/>
              <a:lnSpc>
                <a:spcPts val="2200"/>
              </a:lnSpc>
            </a:pPr>
            <a:r>
              <a:rPr sz="2000" b="0">
                <a:solidFill>
                  <a:srgbClr val="333333"/>
                </a:solidFill>
                <a:latin typeface="Calibri"/>
              </a:rPr>
              <a:t>Organizations may suffer operational paralysis while forensic work continues</a:t>
            </a:r>
          </a:p>
          <a:p>
            <a:pPr>
              <a:spcAft>
                <a:spcPts val="1000"/>
              </a:spcAft>
              <a:buChar char="•"/>
              <a:lnSpc>
                <a:spcPts val="2200"/>
              </a:lnSpc>
            </a:pPr>
            <a:r>
              <a:rPr sz="2000" b="0">
                <a:solidFill>
                  <a:srgbClr val="333333"/>
                </a:solidFill>
                <a:latin typeface="Calibri"/>
              </a:rPr>
              <a:t>Prevention therefore protects people first and enterprise value second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Prevention mapped to failure modes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Timely patching and monitoring address unpatched internet-facing systems</a:t>
            </a:r>
          </a:p>
          <a:p>
            <a:pPr>
              <a:spcAft>
                <a:spcPts val="1000"/>
              </a:spcAft>
              <a:buChar char="•"/>
              <a:lnSpc>
                <a:spcPts val="2200"/>
              </a:lnSpc>
            </a:pPr>
            <a:r>
              <a:rPr sz="2000" b="0">
                <a:solidFill>
                  <a:srgbClr val="333333"/>
                </a:solidFill>
                <a:latin typeface="Calibri"/>
              </a:rPr>
              <a:t>Rehearsed detection, escalation, and disclosure address delayed accountability</a:t>
            </a:r>
          </a:p>
          <a:p>
            <a:pPr>
              <a:spcAft>
                <a:spcPts val="1000"/>
              </a:spcAft>
              <a:buChar char="•"/>
              <a:lnSpc>
                <a:spcPts val="2200"/>
              </a:lnSpc>
            </a:pPr>
            <a:r>
              <a:rPr sz="2000" b="0">
                <a:solidFill>
                  <a:srgbClr val="333333"/>
                </a:solidFill>
                <a:latin typeface="Calibri"/>
              </a:rPr>
              <a:t>Vendor risk reviews and least-privilege third-party access address supply-chain entry</a:t>
            </a:r>
          </a:p>
          <a:p>
            <a:pPr>
              <a:spcAft>
                <a:spcPts val="1000"/>
              </a:spcAft>
              <a:buChar char="•"/>
              <a:lnSpc>
                <a:spcPts val="2200"/>
              </a:lnSpc>
            </a:pPr>
            <a:r>
              <a:rPr sz="2000" b="0">
                <a:solidFill>
                  <a:srgbClr val="333333"/>
                </a:solidFill>
                <a:latin typeface="Calibri"/>
              </a:rPr>
              <a:t>Data minimization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 single control is sufficient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Equifax, Yahoo, and Target each failed at a different layer of the stack</a:t>
            </a:r>
          </a:p>
          <a:p>
            <a:pPr>
              <a:spcAft>
                <a:spcPts val="1000"/>
              </a:spcAft>
              <a:buChar char="•"/>
              <a:lnSpc>
                <a:spcPts val="2200"/>
              </a:lnSpc>
            </a:pPr>
            <a:r>
              <a:rPr sz="2000" b="0">
                <a:solidFill>
                  <a:srgbClr val="333333"/>
                </a:solidFill>
                <a:latin typeface="Calibri"/>
              </a:rPr>
              <a:t>Prevention should map to failure modes from Section 3.7, not only to a generic checklist</a:t>
            </a:r>
          </a:p>
          <a:p>
            <a:pPr>
              <a:spcAft>
                <a:spcPts val="1000"/>
              </a:spcAft>
              <a:buChar char="•"/>
              <a:lnSpc>
                <a:spcPts val="2200"/>
              </a:lnSpc>
            </a:pPr>
            <a:r>
              <a:rPr sz="2000" b="0">
                <a:solidFill>
                  <a:srgbClr val="333333"/>
                </a:solidFill>
                <a:latin typeface="Calibri"/>
              </a:rPr>
              <a:t>Chapter 1 already named encryption and access control as management practices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Breaches are balance-sheet and governance events, not only IT incidents</a:t>
            </a:r>
          </a:p>
          <a:p>
            <a:pPr>
              <a:spcAft>
                <a:spcPts val="1000"/>
              </a:spcAft>
              <a:buChar char="•"/>
              <a:lnSpc>
                <a:spcPts val="2200"/>
              </a:lnSpc>
            </a:pPr>
            <a:r>
              <a:rPr sz="2000" b="0">
                <a:solidFill>
                  <a:srgbClr val="333333"/>
                </a:solidFill>
                <a:latin typeface="Calibri"/>
              </a:rPr>
              <a:t>Map controls to known failure patterns</a:t>
            </a:r>
          </a:p>
          <a:p>
            <a:pPr>
              <a:spcAft>
                <a:spcPts val="1000"/>
              </a:spcAft>
              <a:buChar char="•"/>
              <a:lnSpc>
                <a:spcPts val="2200"/>
              </a:lnSpc>
            </a:pPr>
            <a:r>
              <a:rPr sz="2000" b="0">
                <a:solidFill>
                  <a:srgbClr val="333333"/>
                </a:solidFill>
                <a:latin typeface="Calibri"/>
              </a:rPr>
              <a:t>Minimization ensures stolen stores contain less that can be abused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ethical decision-making, structured lenses for conflicts among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09 Breach Consequences Prevention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