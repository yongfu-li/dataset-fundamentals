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Breach consequences span finance, reputation, regulation, and individual fraud risk. This part ties dollar and governance fallout to the Equifax and Yahoo cases from the previous part, then maps prevention controls to each failure mode.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you should list major consequence categories for organizations and individuals, cite Equifax and Yahoo cost patterns, and match prevention controls to unpatched systems, delayed disclosure, and vendor entry.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Financial losses include investigation, notification, credit monitoring, litigation, and lost business. Regulatory penalties can reach GDPR ceilings illustrated in Example 3.28. Reputational damage and operational downtime while systems are rebuilt extend harm beyond the initial incident.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3.26 attaches hundreds of millions of dollars in settlements, remediation, and related costs to the unpatched-system failure in Example 3.23. Delayed patching on high-value identity stores becomes a balance-sheet event—not a footnote in a security review. Open the example 26 module for this chapter to review cost categories.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3.27 discusses governance and cybersecurity oversight failures that coincided with a reduced sale price in the Verizon acquisition—breach handling can affect enterprise valuation and board accountability, not only consumer trust. Try the example 27 module to connect disclosure timing with deal outcomes.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Individuals whose identifiers leak may face identity theft and fraud for years, as previewed in Example 3.10. Organizations may suffer operational paralysis while forensic work continues. Prevention therefore protects people first and enterprise value second.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Timely patching and monitoring address unpatched internet-facing systems. Rehearsed detection, escalation, and disclosure address delayed accountability. Vendor risk reviews and least-privilege third-party access address supply-chain entry. Those case-specific controls sit alongside encryption, multi-factor authentication, phishing-resistant training, intrusion detection, and data minimization.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Equifax, Yahoo, and Target each failed at a different layer of the stack. Prevention should map to failure modes from Section 3.7, not only to a generic checklist. Chapter 1 already named encryption and access control as management practices; this section shows why they matter after incidents begin.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Breaches are balance-sheet and governance events—not only IT incidents. Map controls to known failure patterns. Minimization ensures stolen stores contain less that can be abused.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for the quiz, then continue to ethical decision-making—structured lenses for conflicts among principles.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Chapter 3 — Breach consequences and prevention</a:t>
            </a:r>
          </a:p>
          <a:p>
            <a:pPr algn="ctr">
              <a:lnSpc>
                <a:spcPts val="2200"/>
              </a:lnSpc>
              <a:spcBef>
                <a:spcPts val="1400"/>
              </a:spcBef>
            </a:pPr>
            <a:r>
              <a:rPr sz="2600" b="0">
                <a:solidFill>
                  <a:srgbClr val="333333"/>
                </a:solidFill>
                <a:latin typeface="Calibri"/>
              </a:rPr>
              <a:t>Breach consequences span finance, reputation, regulation, and individual fraud risk</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Breach Consequences Prevention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List major consequence categories for organizations and individuals</a:t>
            </a:r>
          </a:p>
          <a:p>
            <a:pPr lvl="0" marL="457200" indent="-228600">
              <a:buFont typeface="Calibri"/>
              <a:spcAft>
                <a:spcPts val="1000"/>
              </a:spcAft>
              <a:buSzPct val="100000"/>
              <a:buChar char="•"/>
              <a:lnSpc>
                <a:spcPts val="2200"/>
              </a:lnSpc>
            </a:pPr>
            <a:r>
              <a:rPr sz="2000" b="0">
                <a:solidFill>
                  <a:srgbClr val="333333"/>
                </a:solidFill>
                <a:latin typeface="Calibri"/>
              </a:rPr>
              <a:t>Match prevention controls to unpatched systems, delayed disclosure</a:t>
            </a:r>
          </a:p>
          <a:p>
            <a:pPr lvl="0" marL="457200" indent="-228600">
              <a:buFont typeface="Calibri"/>
              <a:spcAft>
                <a:spcPts val="1000"/>
              </a:spcAft>
              <a:buSzPct val="100000"/>
              <a:buChar char="•"/>
              <a:lnSpc>
                <a:spcPts val="2200"/>
              </a:lnSpc>
            </a:pPr>
            <a:r>
              <a:rPr sz="2000" b="0">
                <a:solidFill>
                  <a:srgbClr val="333333"/>
                </a:solidFill>
                <a:latin typeface="Calibri"/>
              </a:rPr>
              <a:t>Vendor entry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Breach Consequences Prevention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Consequences for organizations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Financial losses include investigation, notification, credit monitoring, litigation</a:t>
            </a:r>
          </a:p>
          <a:p>
            <a:pPr lvl="0" marL="457200" indent="-228600">
              <a:buFont typeface="Calibri"/>
              <a:spcAft>
                <a:spcPts val="1000"/>
              </a:spcAft>
              <a:buSzPct val="100000"/>
              <a:buChar char="•"/>
              <a:lnSpc>
                <a:spcPts val="2200"/>
              </a:lnSpc>
            </a:pPr>
            <a:r>
              <a:rPr sz="2000" b="0">
                <a:solidFill>
                  <a:srgbClr val="333333"/>
                </a:solidFill>
                <a:latin typeface="Calibri"/>
              </a:rPr>
              <a:t>Regulatory penalties can reach GDPR ceilings illustrated in Example 3.28</a:t>
            </a:r>
          </a:p>
          <a:p>
            <a:pPr lvl="0" marL="457200" indent="-228600">
              <a:buFont typeface="Calibri"/>
              <a:spcAft>
                <a:spcPts val="1000"/>
              </a:spcAft>
              <a:buSzPct val="100000"/>
              <a:buChar char="•"/>
              <a:lnSpc>
                <a:spcPts val="2200"/>
              </a:lnSpc>
            </a:pPr>
            <a:r>
              <a:rPr sz="2000" b="0">
                <a:solidFill>
                  <a:srgbClr val="333333"/>
                </a:solidFill>
                <a:latin typeface="Calibri"/>
              </a:rPr>
              <a:t>Reputational damage and operational downtime while systems are rebuilt extend harm beyond</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Breach Consequences Prevention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3.26 — Equifax breach costs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3.26 — hands-on module</a:t>
            </a:r>
          </a:p>
          <a:p>
            <a:pPr lvl="0" marL="457200" indent="-228600">
              <a:buFont typeface="Calibri"/>
              <a:spcAft>
                <a:spcPts val="1000"/>
              </a:spcAft>
              <a:buSzPct val="100000"/>
              <a:buChar char="•"/>
              <a:lnSpc>
                <a:spcPts val="2200"/>
              </a:lnSpc>
            </a:pPr>
            <a:r>
              <a:rPr sz="2000" b="0">
                <a:solidFill>
                  <a:srgbClr val="333333"/>
                </a:solidFill>
                <a:latin typeface="Calibri"/>
              </a:rPr>
              <a:t>Example 3.26 attaches hundreds of millions of dollars in settlements, remediation</a:t>
            </a:r>
          </a:p>
          <a:p>
            <a:pPr lvl="0" marL="457200" indent="-228600">
              <a:buFont typeface="Calibri"/>
              <a:spcAft>
                <a:spcPts val="1000"/>
              </a:spcAft>
              <a:buSzPct val="100000"/>
              <a:buChar char="•"/>
              <a:lnSpc>
                <a:spcPts val="2200"/>
              </a:lnSpc>
            </a:pPr>
            <a:r>
              <a:rPr sz="2000" b="0">
                <a:solidFill>
                  <a:srgbClr val="333333"/>
                </a:solidFill>
                <a:latin typeface="Calibri"/>
              </a:rPr>
              <a:t>Delayed patching on high-value identity stores becomes a balance-sheet event</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`modules/chapter3/example26/`</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Breach Consequences Prevention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3.27 — Yahoo breach and acquisition impact</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3.27 — hands-on module</a:t>
            </a:r>
          </a:p>
          <a:p>
            <a:pPr lvl="0" marL="457200" indent="-228600">
              <a:buFont typeface="Calibri"/>
              <a:spcAft>
                <a:spcPts val="1000"/>
              </a:spcAft>
              <a:buSzPct val="100000"/>
              <a:buChar char="•"/>
              <a:lnSpc>
                <a:spcPts val="2200"/>
              </a:lnSpc>
            </a:pPr>
            <a:r>
              <a:rPr sz="2000" b="0">
                <a:solidFill>
                  <a:srgbClr val="333333"/>
                </a:solidFill>
                <a:latin typeface="Calibri"/>
              </a:rPr>
              <a:t>Example 3.27 discusses governance and cybersecurity oversight failures that coincided with</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`modules/chapter3/example27/`</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Breach Consequences Prevention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Consequences for individuals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Individuals whose identifiers leak may face identity theft and fraud for years</a:t>
            </a:r>
          </a:p>
          <a:p>
            <a:pPr lvl="0" marL="457200" indent="-228600">
              <a:buFont typeface="Calibri"/>
              <a:spcAft>
                <a:spcPts val="1000"/>
              </a:spcAft>
              <a:buSzPct val="100000"/>
              <a:buChar char="•"/>
              <a:lnSpc>
                <a:spcPts val="2200"/>
              </a:lnSpc>
            </a:pPr>
            <a:r>
              <a:rPr sz="2000" b="0">
                <a:solidFill>
                  <a:srgbClr val="333333"/>
                </a:solidFill>
                <a:latin typeface="Calibri"/>
              </a:rPr>
              <a:t>Organizations may suffer operational paralysis while forensic work continues</a:t>
            </a:r>
          </a:p>
          <a:p>
            <a:pPr lvl="0" marL="457200" indent="-228600">
              <a:buFont typeface="Calibri"/>
              <a:spcAft>
                <a:spcPts val="1000"/>
              </a:spcAft>
              <a:buSzPct val="100000"/>
              <a:buChar char="•"/>
              <a:lnSpc>
                <a:spcPts val="2200"/>
              </a:lnSpc>
            </a:pPr>
            <a:r>
              <a:rPr sz="2000" b="0">
                <a:solidFill>
                  <a:srgbClr val="333333"/>
                </a:solidFill>
                <a:latin typeface="Calibri"/>
              </a:rPr>
              <a:t>Prevention therefore protects people first and enterprise value second</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Breach Consequences Prevention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Prevention mapped to failure modes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Timely patching and monitoring address unpatched internet-facing systems</a:t>
            </a:r>
          </a:p>
          <a:p>
            <a:pPr lvl="0" marL="457200" indent="-228600">
              <a:buFont typeface="Calibri"/>
              <a:spcAft>
                <a:spcPts val="1000"/>
              </a:spcAft>
              <a:buSzPct val="100000"/>
              <a:buChar char="•"/>
              <a:lnSpc>
                <a:spcPts val="2200"/>
              </a:lnSpc>
            </a:pPr>
            <a:r>
              <a:rPr sz="2000" b="0">
                <a:solidFill>
                  <a:srgbClr val="333333"/>
                </a:solidFill>
                <a:latin typeface="Calibri"/>
              </a:rPr>
              <a:t>Rehearsed detection, escalation, and disclosure address delayed accountability</a:t>
            </a:r>
          </a:p>
          <a:p>
            <a:pPr lvl="0" marL="457200" indent="-228600">
              <a:buFont typeface="Calibri"/>
              <a:spcAft>
                <a:spcPts val="1000"/>
              </a:spcAft>
              <a:buSzPct val="100000"/>
              <a:buChar char="•"/>
              <a:lnSpc>
                <a:spcPts val="2200"/>
              </a:lnSpc>
            </a:pPr>
            <a:r>
              <a:rPr sz="2000" b="0">
                <a:solidFill>
                  <a:srgbClr val="333333"/>
                </a:solidFill>
                <a:latin typeface="Calibri"/>
              </a:rPr>
              <a:t>Vendor risk reviews and least-privilege third-party access address supply-chain entry</a:t>
            </a:r>
          </a:p>
          <a:p>
            <a:pPr lvl="0" marL="457200" indent="-228600">
              <a:buFont typeface="Calibri"/>
              <a:spcAft>
                <a:spcPts val="1000"/>
              </a:spcAft>
              <a:buSzPct val="100000"/>
              <a:buChar char="•"/>
              <a:lnSpc>
                <a:spcPts val="2200"/>
              </a:lnSpc>
            </a:pPr>
            <a:r>
              <a:rPr sz="2000" b="0">
                <a:solidFill>
                  <a:srgbClr val="333333"/>
                </a:solidFill>
                <a:latin typeface="Calibri"/>
              </a:rPr>
              <a:t>Data minimization</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Breach Consequences Prevention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No single control is sufficient</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Equifax, Yahoo, and Target each failed at a different layer of the stack</a:t>
            </a:r>
          </a:p>
          <a:p>
            <a:pPr lvl="0" marL="457200" indent="-228600">
              <a:buFont typeface="Calibri"/>
              <a:spcAft>
                <a:spcPts val="1000"/>
              </a:spcAft>
              <a:buSzPct val="100000"/>
              <a:buChar char="•"/>
              <a:lnSpc>
                <a:spcPts val="2200"/>
              </a:lnSpc>
            </a:pPr>
            <a:r>
              <a:rPr sz="2000" b="0">
                <a:solidFill>
                  <a:srgbClr val="333333"/>
                </a:solidFill>
                <a:latin typeface="Calibri"/>
              </a:rPr>
              <a:t>Prevention should map to failure modes from Section 3.7, not only to a generic checklist</a:t>
            </a:r>
          </a:p>
          <a:p>
            <a:pPr lvl="0" marL="457200" indent="-228600">
              <a:buFont typeface="Calibri"/>
              <a:spcAft>
                <a:spcPts val="1000"/>
              </a:spcAft>
              <a:buSzPct val="100000"/>
              <a:buChar char="•"/>
              <a:lnSpc>
                <a:spcPts val="2200"/>
              </a:lnSpc>
            </a:pPr>
            <a:r>
              <a:rPr sz="2000" b="0">
                <a:solidFill>
                  <a:srgbClr val="333333"/>
                </a:solidFill>
                <a:latin typeface="Calibri"/>
              </a:rPr>
              <a:t>Chapter 1 already named encryption and access control as management practices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Breach Consequences Prevention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Breaches are balance-sheet and governance events, not only IT incidents</a:t>
            </a:r>
          </a:p>
          <a:p>
            <a:pPr lvl="0" marL="457200" indent="-228600">
              <a:buFont typeface="Calibri"/>
              <a:spcAft>
                <a:spcPts val="1000"/>
              </a:spcAft>
              <a:buSzPct val="100000"/>
              <a:buChar char="•"/>
              <a:lnSpc>
                <a:spcPts val="2200"/>
              </a:lnSpc>
            </a:pPr>
            <a:r>
              <a:rPr sz="2000" b="0">
                <a:solidFill>
                  <a:srgbClr val="333333"/>
                </a:solidFill>
                <a:latin typeface="Calibri"/>
              </a:rPr>
              <a:t>Map controls to known failure patterns</a:t>
            </a:r>
          </a:p>
          <a:p>
            <a:pPr lvl="0" marL="457200" indent="-228600">
              <a:buFont typeface="Calibri"/>
              <a:spcAft>
                <a:spcPts val="1000"/>
              </a:spcAft>
              <a:buSzPct val="100000"/>
              <a:buChar char="•"/>
              <a:lnSpc>
                <a:spcPts val="2200"/>
              </a:lnSpc>
            </a:pPr>
            <a:r>
              <a:rPr sz="2000" b="0">
                <a:solidFill>
                  <a:srgbClr val="333333"/>
                </a:solidFill>
                <a:latin typeface="Calibri"/>
              </a:rPr>
              <a:t>Minimization ensures stolen stores contain less that can be abused</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Breach Consequences Prevention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quiz for this part</a:t>
            </a:r>
          </a:p>
          <a:p>
            <a:pPr lvl="0" marL="457200" indent="-228600">
              <a:buFont typeface="Calibri"/>
              <a:spcAft>
                <a:spcPts val="1000"/>
              </a:spcAft>
              <a:buSzPct val="100000"/>
              <a:buChar char="•"/>
              <a:lnSpc>
                <a:spcPts val="2200"/>
              </a:lnSpc>
            </a:pPr>
            <a:r>
              <a:rPr sz="2000" b="0">
                <a:solidFill>
                  <a:srgbClr val="333333"/>
                </a:solidFill>
                <a:latin typeface="Calibri"/>
              </a:rPr>
              <a:t>Continue to ethical decision-making, structured lenses for conflicts among principles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Breach Consequences Prevention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