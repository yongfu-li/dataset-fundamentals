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scale, fragmented global rules, and new privacy-enhancing tools continue to reshape ethics and privacy practice. This final part highlights pressures that force new dilemmas for dataset programs—without re-teaching earlier sections in depth.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you should describe AI-scale privacy risks, name two global regulation friction patterns, and identify near-term directions including privacy-enhancing technologies and stronger individual control models.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Large-scale sensing and prediction create surveillance capacity that traditional notice-and-consent models struggle to govern. Example 3.35 focuses on facial analysis at city scale: commercial systems have shown large accuracy gaps across phenotype and gender subgroups, turning deployments into both privacy and discrimination risks when used for identification or screening.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3.35 connects technical accuracy gaps to civil-liberties risk. Open the example 35 module for this chapter to review subgroup error in vision systems. Example 3.36 extends the pattern to leakage from sensitive predictive models in healthcare—outputs and embeddings can expose patients if releases are poorly de-identified.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debates continue over how far deployers must go beyond average accuracy, who is accountable when automated systems harm people, and how much human control must remain in high-stakes loops. Example 3.37 illustrates autonomous vehicle liability: responsibility maps to manufacturers, operators, and governance regimes—not to the model as a moral agent.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Cross-border products confront overlapping rules rather than a single global code. Example 3.38 shows a multinational needing GDPR posture for EU residents while honoring CCPA and CPRA rights for California residents—parallel notice, retention, and request-handling workflows. Localization mandates and transfer restrictions, as in Examples 3.39 and 3.40, can force regional infrastructure when a single global cloud would be simpler operationally.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3.38 is the operational cost of running multiple statutory programs in one product. Try the example 38 module to map jurisdiction-specific workflows. Schrems II and similar adequacy failures tighten expectations for cross-border transfers teams must anticipate in architecture.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Near-term practice will keep combining privacy-enhancing technologies from Section 3.4, clearer AI governance, stronger individual control models, and Privacy by Design defaults. Example 3.41 sketches self-sovereign identity proposals that let people hold and present credentials without a single intermediary owning the identity graph.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3.41 aligns with stronger individual control over personal data. Open the example 41 module for this chapter to review credential models. The open question is adoption speed—not whether the building blocks exist.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moved from principles and privacy concepts through techniques, bias overview, laws, breaches, decision frameworks, and emerging tensions. Chapter 7 deepens bias measurement and mitigation. Chapter 4 turns to annotation—how labels are created and documented so the constraints chosen here remain enforceable in the datasets models actually train 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scale outpaces notice-only governance. Global products need jurisdiction maps and transfer plans. PETs and design defaults are mainstream—the adoption gap is organizational.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for the quiz. You have completed the Chapter 3 learning path—return to the chapter landing page to download the full deck or browse module examples.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Chapter 3 — Emerging trends and challenges</a:t>
            </a:r>
          </a:p>
          <a:p>
            <a:pPr algn="ctr">
              <a:lnSpc>
                <a:spcPts val="2200"/>
              </a:lnSpc>
              <a:spcBef>
                <a:spcPts val="1400"/>
              </a:spcBef>
            </a:pPr>
            <a:r>
              <a:rPr sz="2600" b="0">
                <a:solidFill>
                  <a:srgbClr val="333333"/>
                </a:solidFill>
                <a:latin typeface="Calibri"/>
              </a:rPr>
              <a:t>AI scale, fragmented global rules, and new privacy-enhancing tools continue to reshape ethics and privacy practice</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11 Emerging Trends Challenges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Describe AI-scale privacy risks, name two global regulation friction patterns</a:t>
            </a:r>
          </a:p>
          <a:p>
            <a:pPr>
              <a:spcAft>
                <a:spcPts val="1000"/>
              </a:spcAft>
              <a:buChar char="•"/>
              <a:lnSpc>
                <a:spcPts val="2200"/>
              </a:lnSpc>
            </a:pPr>
            <a:r>
              <a:rPr sz="2000" b="0">
                <a:solidFill>
                  <a:srgbClr val="333333"/>
                </a:solidFill>
                <a:latin typeface="Calibri"/>
              </a:rPr>
              <a:t>Identify near-term directions including privacy-enhancing technologies and stronger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11 Emerging Trends Challenges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AI and privacy concerns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Large-scale sensing and prediction create surveillance capacity that traditional</a:t>
            </a:r>
          </a:p>
          <a:p>
            <a:pPr>
              <a:spcAft>
                <a:spcPts val="1000"/>
              </a:spcAft>
              <a:buChar char="•"/>
              <a:lnSpc>
                <a:spcPts val="2200"/>
              </a:lnSpc>
            </a:pPr>
            <a:r>
              <a:rPr sz="2000" b="0">
                <a:solidFill>
                  <a:srgbClr val="333333"/>
                </a:solidFill>
                <a:latin typeface="Calibri"/>
              </a:rPr>
              <a:t>Example 3.35 focuses on facial analysis at city scale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11 Emerging Trends Challenges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3.35 — Surveillance and facial analysis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3.35 — hands-on module</a:t>
            </a:r>
          </a:p>
          <a:p>
            <a:pPr>
              <a:spcAft>
                <a:spcPts val="1000"/>
              </a:spcAft>
              <a:buChar char="•"/>
              <a:lnSpc>
                <a:spcPts val="2200"/>
              </a:lnSpc>
            </a:pPr>
            <a:r>
              <a:rPr sz="2000" b="0">
                <a:solidFill>
                  <a:srgbClr val="333333"/>
                </a:solidFill>
                <a:latin typeface="Calibri"/>
              </a:rPr>
              <a:t>Example 3.35 connects technical accuracy gaps to civil-liberties risk</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`modules/chapter3/example35/`</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11 Emerging Trends Challenges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Ethics debates in deployed AI</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How much human control must remain in high-stakes loops</a:t>
            </a:r>
          </a:p>
          <a:p>
            <a:pPr>
              <a:spcAft>
                <a:spcPts val="1000"/>
              </a:spcAft>
              <a:buChar char="•"/>
              <a:lnSpc>
                <a:spcPts val="2200"/>
              </a:lnSpc>
            </a:pPr>
            <a:r>
              <a:rPr sz="2000" b="0">
                <a:solidFill>
                  <a:srgbClr val="333333"/>
                </a:solidFill>
                <a:latin typeface="Calibri"/>
              </a:rPr>
              <a:t>Example 3.37 illustrates autonomous vehicle liability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11 Emerging Trends Challenges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Global privacy regulation challenges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Cross-border products confront overlapping rules rather than a single global code</a:t>
            </a:r>
          </a:p>
          <a:p>
            <a:pPr>
              <a:spcAft>
                <a:spcPts val="1000"/>
              </a:spcAft>
              <a:buChar char="•"/>
              <a:lnSpc>
                <a:spcPts val="2200"/>
              </a:lnSpc>
            </a:pPr>
            <a:r>
              <a:rPr sz="2000" b="0">
                <a:solidFill>
                  <a:srgbClr val="333333"/>
                </a:solidFill>
                <a:latin typeface="Calibri"/>
              </a:rPr>
              <a:t>Request-handling workflows</a:t>
            </a:r>
          </a:p>
          <a:p>
            <a:pPr>
              <a:spcAft>
                <a:spcPts val="1000"/>
              </a:spcAft>
              <a:buChar char="•"/>
              <a:lnSpc>
                <a:spcPts val="2200"/>
              </a:lnSpc>
            </a:pPr>
            <a:r>
              <a:rPr sz="2000" b="0">
                <a:solidFill>
                  <a:srgbClr val="333333"/>
                </a:solidFill>
                <a:latin typeface="Calibri"/>
              </a:rPr>
              <a:t>Localization mandates and transfer restrictions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11 Emerging Trends Challenges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3.38 — Conflicting privacy regimes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3.38 — hands-on module</a:t>
            </a:r>
          </a:p>
          <a:p>
            <a:pPr>
              <a:spcAft>
                <a:spcPts val="1000"/>
              </a:spcAft>
              <a:buChar char="•"/>
              <a:lnSpc>
                <a:spcPts val="2200"/>
              </a:lnSpc>
            </a:pPr>
            <a:r>
              <a:rPr sz="2000" b="0">
                <a:solidFill>
                  <a:srgbClr val="333333"/>
                </a:solidFill>
                <a:latin typeface="Calibri"/>
              </a:rPr>
              <a:t>The operational cost of running multiple statutory programs in one product</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`modules/chapter3/example38/`</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11 Emerging Trends Challenges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Future directions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Privacy by Design defaults</a:t>
            </a:r>
          </a:p>
          <a:p>
            <a:pPr>
              <a:spcAft>
                <a:spcPts val="1000"/>
              </a:spcAft>
              <a:buChar char="•"/>
              <a:lnSpc>
                <a:spcPts val="2200"/>
              </a:lnSpc>
            </a:pPr>
            <a:r>
              <a:rPr sz="2000" b="0">
                <a:solidFill>
                  <a:srgbClr val="333333"/>
                </a:solidFill>
                <a:latin typeface="Calibri"/>
              </a:rPr>
              <a:t>Example 3.41 sketches self-sovereign identity proposals that let people hold and present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11 Emerging Trends Challenges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3.41 — Self-sovereign identity</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3.41 — hands-on module</a:t>
            </a:r>
          </a:p>
          <a:p>
            <a:pPr>
              <a:spcAft>
                <a:spcPts val="1000"/>
              </a:spcAft>
              <a:buChar char="•"/>
              <a:lnSpc>
                <a:spcPts val="2200"/>
              </a:lnSpc>
            </a:pPr>
            <a:r>
              <a:rPr sz="2000" b="0">
                <a:solidFill>
                  <a:srgbClr val="333333"/>
                </a:solidFill>
                <a:latin typeface="Calibri"/>
              </a:rPr>
              <a:t>Example 3.41 aligns with stronger individual control over personal data</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`modules/chapter3/example41/`</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11 Emerging Trends Challenges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Looking ahead</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Emerging tensions</a:t>
            </a:r>
          </a:p>
          <a:p>
            <a:pPr>
              <a:spcAft>
                <a:spcPts val="1000"/>
              </a:spcAft>
              <a:buChar char="•"/>
              <a:lnSpc>
                <a:spcPts val="2200"/>
              </a:lnSpc>
            </a:pPr>
            <a:r>
              <a:rPr sz="2000" b="0">
                <a:solidFill>
                  <a:srgbClr val="333333"/>
                </a:solidFill>
                <a:latin typeface="Calibri"/>
              </a:rPr>
              <a:t>Chapter 7 deepens bias measurement and mitigation</a:t>
            </a:r>
          </a:p>
          <a:p>
            <a:pPr>
              <a:spcAft>
                <a:spcPts val="1000"/>
              </a:spcAft>
              <a:buChar char="•"/>
              <a:lnSpc>
                <a:spcPts val="2200"/>
              </a:lnSpc>
            </a:pPr>
            <a:r>
              <a:rPr sz="2000" b="0">
                <a:solidFill>
                  <a:srgbClr val="333333"/>
                </a:solidFill>
                <a:latin typeface="Calibri"/>
              </a:rPr>
              <a:t>Chapter 4 turns to annotation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11 Emerging Trends Challenges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AI scale outpaces notice-only governance</a:t>
            </a:r>
          </a:p>
          <a:p>
            <a:pPr>
              <a:spcAft>
                <a:spcPts val="1000"/>
              </a:spcAft>
              <a:buChar char="•"/>
              <a:lnSpc>
                <a:spcPts val="2200"/>
              </a:lnSpc>
            </a:pPr>
            <a:r>
              <a:rPr sz="2000" b="0">
                <a:solidFill>
                  <a:srgbClr val="333333"/>
                </a:solidFill>
                <a:latin typeface="Calibri"/>
              </a:rPr>
              <a:t>Global products need jurisdiction maps and transfer plans</a:t>
            </a:r>
          </a:p>
          <a:p>
            <a:pPr>
              <a:spcAft>
                <a:spcPts val="1000"/>
              </a:spcAft>
              <a:buChar char="•"/>
              <a:lnSpc>
                <a:spcPts val="2200"/>
              </a:lnSpc>
            </a:pPr>
            <a:r>
              <a:rPr sz="2000" b="0">
                <a:solidFill>
                  <a:srgbClr val="333333"/>
                </a:solidFill>
                <a:latin typeface="Calibri"/>
              </a:rPr>
              <a:t>PETs and design defaults are mainstream, the adoption gap is organizational</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11 Emerging Trends Challenges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Complete the quiz for this part</a:t>
            </a:r>
          </a:p>
          <a:p>
            <a:pPr>
              <a:spcAft>
                <a:spcPts val="1000"/>
              </a:spcAft>
              <a:buChar char="•"/>
              <a:lnSpc>
                <a:spcPts val="2200"/>
              </a:lnSpc>
            </a:pPr>
            <a:r>
              <a:rPr sz="2000" b="0">
                <a:solidFill>
                  <a:srgbClr val="333333"/>
                </a:solidFill>
                <a:latin typeface="Calibri"/>
              </a:rPr>
              <a:t>Pause for the quiz</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11 Emerging Trends Challenges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