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asked how records enter a dataset. This chapter asks what obligations attach once those records concern people. This opening part defines ethics and privacy, shows how they reinforce each other, and frames ethical data work as a lifecycle-wide coordination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ethics from privacy, name stakeholders affected across the dataset lifecycle, and explain why compliance alone does not guarantee ethical practice.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Data-driven systems shape decisions in healthcare, finance, marketing, and government. As collection and use scale, teams face a duty to handle personal information transparently, fairly, and accountably. Misuse can enable identity theft, fraud, discrimination, and loss of autonomy—even without a headline breach, opaque practices erode trust.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data work, ethics refers to principles that guide how data are collected, used, shared, and governed—fairness, transparency, accountability, and non-maleficence. Privacy denotes individuals' rights to control personal data: to consent, to know what is collected and why, and often to access, correct, or delete records. Ethics asks whether a use should proceed; privacy constrains how permitted uses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focuses on who is harmed or helped and whether uses are fair and accountable. Privacy focuses on meaningful consent and individual control. A team can be legally compliant yet ethically weak if uses are opaque or discriminatory; a privacy notice alone does not make a pipeline ethical if foreseeable harms are ignored.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binds every stage—not only model release but collection, annotation, cleaning, exploration, and documentation. Stakeholders include practitioners, leaders, policymakers, and centrally data subjects whose records are at stake. No single role owns the full obligation.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 compresses those roles into one product decision. Product wants finer activity tracking; legal wants clearer consent; executives want partner sharing; users want control over heart-rate history. Ethical design must negotiate utility, consent, and minimization together. Open the example 1 module for this chapter to review the stakeholder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Ethics and privacy are distinct but mutually reinforcing. Obligations span the full dataset lifecycle, not only deployment. Ethical data work is coordinated across roles—utility, consent, and revenue pressure collide in ordinary feature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core ethical principles—five operational tests you can apply during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Introduction to ethics and privacy</a:t>
            </a:r>
          </a:p>
          <a:p>
            <a:pPr algn="ctr">
              <a:lnSpc>
                <a:spcPts val="2200"/>
              </a:lnSpc>
              <a:spcBef>
                <a:spcPts val="1400"/>
              </a:spcBef>
            </a:pPr>
            <a:r>
              <a:rPr sz="2600" b="0">
                <a:solidFill>
                  <a:srgbClr val="333333"/>
                </a:solidFill>
                <a:latin typeface="Calibri"/>
              </a:rPr>
              <a:t>Chapter 2 asked how records enter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ethics from privacy, name stakeholders affected across the dataset lifecycle</a:t>
            </a:r>
          </a:p>
          <a:p>
            <a:pPr>
              <a:spcAft>
                <a:spcPts val="1000"/>
              </a:spcAft>
              <a:buChar char="•"/>
              <a:lnSpc>
                <a:spcPts val="2200"/>
              </a:lnSpc>
            </a:pPr>
            <a:r>
              <a:rPr sz="2000" b="0">
                <a:solidFill>
                  <a:srgbClr val="333333"/>
                </a:solidFill>
                <a:latin typeface="Calibri"/>
              </a:rPr>
              <a:t>Explain why compliance alone does not guarantee ethical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ethics and privacy matter now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Data-driven systems shape decisions in healthcare, finance, marketing, and government</a:t>
            </a:r>
          </a:p>
          <a:p>
            <a:pPr>
              <a:spcAft>
                <a:spcPts val="1000"/>
              </a:spcAft>
              <a:buChar char="•"/>
              <a:lnSpc>
                <a:spcPts val="2200"/>
              </a:lnSpc>
            </a:pPr>
            <a:r>
              <a:rPr sz="2000" b="0">
                <a:solidFill>
                  <a:srgbClr val="333333"/>
                </a:solidFill>
                <a:latin typeface="Calibri"/>
              </a:rPr>
              <a:t>As collection and use scale</a:t>
            </a:r>
          </a:p>
          <a:p>
            <a:pPr>
              <a:spcAft>
                <a:spcPts val="1000"/>
              </a:spcAft>
              <a:buChar char="•"/>
              <a:lnSpc>
                <a:spcPts val="2200"/>
              </a:lnSpc>
            </a:pPr>
            <a:r>
              <a:rPr sz="2000" b="0">
                <a:solidFill>
                  <a:srgbClr val="333333"/>
                </a:solidFill>
                <a:latin typeface="Calibri"/>
              </a:rPr>
              <a:t>Misuse can enable identity theft, fraud, discrimination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Defining ethics and privacy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data work, ethics refers to principles that guide how data are collected, used, shared</a:t>
            </a:r>
          </a:p>
          <a:p>
            <a:pPr>
              <a:spcAft>
                <a:spcPts val="1000"/>
              </a:spcAft>
              <a:buChar char="•"/>
              <a:lnSpc>
                <a:spcPts val="2200"/>
              </a:lnSpc>
            </a:pPr>
            <a:r>
              <a:rPr sz="2000" b="0">
                <a:solidFill>
                  <a:srgbClr val="333333"/>
                </a:solidFill>
                <a:latin typeface="Calibri"/>
              </a:rPr>
              <a:t>Privacy denotes individuals' rights to control personal data</a:t>
            </a:r>
          </a:p>
          <a:p>
            <a:pPr>
              <a:spcAft>
                <a:spcPts val="1000"/>
              </a:spcAft>
              <a:buChar char="•"/>
              <a:lnSpc>
                <a:spcPts val="2200"/>
              </a:lnSpc>
            </a:pPr>
            <a:r>
              <a:rPr sz="2000" b="0">
                <a:solidFill>
                  <a:srgbClr val="333333"/>
                </a:solidFill>
                <a:latin typeface="Calibri"/>
              </a:rPr>
              <a:t>Ethics asks whether a use should proceed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versus privacy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Ethics focuses on who is harmed or helped and whether uses are fair and accountable</a:t>
            </a:r>
          </a:p>
          <a:p>
            <a:pPr>
              <a:spcAft>
                <a:spcPts val="1000"/>
              </a:spcAft>
              <a:buChar char="•"/>
              <a:lnSpc>
                <a:spcPts val="2200"/>
              </a:lnSpc>
            </a:pPr>
            <a:r>
              <a:rPr sz="2000" b="0">
                <a:solidFill>
                  <a:srgbClr val="333333"/>
                </a:solidFill>
                <a:latin typeface="Calibri"/>
              </a:rPr>
              <a:t>Privacy focuses on meaningful consent and individual control</a:t>
            </a:r>
          </a:p>
          <a:p>
            <a:pPr>
              <a:spcAft>
                <a:spcPts val="1000"/>
              </a:spcAft>
              <a:buChar char="•"/>
              <a:lnSpc>
                <a:spcPts val="2200"/>
              </a:lnSpc>
            </a:pPr>
            <a:r>
              <a:rPr sz="2000" b="0">
                <a:solidFill>
                  <a:srgbClr val="333333"/>
                </a:solidFill>
                <a:latin typeface="Calibri"/>
              </a:rPr>
              <a:t>A team can be legally compliant yet ethically weak if uses are opaque or discriminatory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Lifecycle and stakeholders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Documentation</a:t>
            </a:r>
          </a:p>
          <a:p>
            <a:pPr>
              <a:spcAft>
                <a:spcPts val="1000"/>
              </a:spcAft>
              <a:buChar char="•"/>
              <a:lnSpc>
                <a:spcPts val="2200"/>
              </a:lnSpc>
            </a:pPr>
            <a:r>
              <a:rPr sz="2000" b="0">
                <a:solidFill>
                  <a:srgbClr val="333333"/>
                </a:solidFill>
                <a:latin typeface="Calibri"/>
              </a:rPr>
              <a:t>Stakeholders include practitioners, leaders, policymakers</a:t>
            </a:r>
          </a:p>
          <a:p>
            <a:pPr>
              <a:spcAft>
                <a:spcPts val="1000"/>
              </a:spcAft>
              <a:buChar char="•"/>
              <a:lnSpc>
                <a:spcPts val="2200"/>
              </a:lnSpc>
            </a:pPr>
            <a:r>
              <a:rPr sz="2000" b="0">
                <a:solidFill>
                  <a:srgbClr val="333333"/>
                </a:solidFill>
                <a:latin typeface="Calibri"/>
              </a:rPr>
              <a:t>No single role owns the full obligation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 — Stakeholders in a wellness app launch</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 — hands-on module</a:t>
            </a:r>
          </a:p>
          <a:p>
            <a:pPr>
              <a:spcAft>
                <a:spcPts val="1000"/>
              </a:spcAft>
              <a:buChar char="•"/>
              <a:lnSpc>
                <a:spcPts val="2200"/>
              </a:lnSpc>
            </a:pPr>
            <a:r>
              <a:rPr sz="2000" b="0">
                <a:solidFill>
                  <a:srgbClr val="333333"/>
                </a:solidFill>
                <a:latin typeface="Calibri"/>
              </a:rPr>
              <a:t>Example 3.1 compresses those roles into one product decision</a:t>
            </a:r>
          </a:p>
          <a:p>
            <a:pPr>
              <a:spcAft>
                <a:spcPts val="1000"/>
              </a:spcAft>
              <a:buChar char="•"/>
              <a:lnSpc>
                <a:spcPts val="2200"/>
              </a:lnSpc>
            </a:pPr>
            <a:r>
              <a:rPr sz="2000" b="0">
                <a:solidFill>
                  <a:srgbClr val="333333"/>
                </a:solidFill>
                <a:latin typeface="Calibri"/>
              </a:rPr>
              <a:t>Product wants finer activity tracking</a:t>
            </a:r>
          </a:p>
          <a:p>
            <a:pPr>
              <a:spcAft>
                <a:spcPts val="1000"/>
              </a:spcAft>
              <a:buChar char="•"/>
              <a:lnSpc>
                <a:spcPts val="2200"/>
              </a:lnSpc>
            </a:pPr>
            <a:r>
              <a:rPr sz="2000" b="0">
                <a:solidFill>
                  <a:srgbClr val="333333"/>
                </a:solidFill>
                <a:latin typeface="Calibri"/>
              </a:rPr>
              <a:t>Ethical design must negotiate utility, consent, and minimization together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Ethics and privacy are distinct but mutually reinforcing</a:t>
            </a:r>
          </a:p>
          <a:p>
            <a:pPr>
              <a:spcAft>
                <a:spcPts val="1000"/>
              </a:spcAft>
              <a:buChar char="•"/>
              <a:lnSpc>
                <a:spcPts val="2200"/>
              </a:lnSpc>
            </a:pPr>
            <a:r>
              <a:rPr sz="2000" b="0">
                <a:solidFill>
                  <a:srgbClr val="333333"/>
                </a:solidFill>
                <a:latin typeface="Calibri"/>
              </a:rPr>
              <a:t>Obligations span the full dataset lifecycle, not only deployment</a:t>
            </a:r>
          </a:p>
          <a:p>
            <a:pPr>
              <a:spcAft>
                <a:spcPts val="1000"/>
              </a:spcAft>
              <a:buChar char="•"/>
              <a:lnSpc>
                <a:spcPts val="2200"/>
              </a:lnSpc>
            </a:pPr>
            <a:r>
              <a:rPr sz="2000" b="0">
                <a:solidFill>
                  <a:srgbClr val="333333"/>
                </a:solidFill>
                <a:latin typeface="Calibri"/>
              </a:rPr>
              <a:t>Ethical data work is coordinated across roles, utility, consent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core ethical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01 Introduction To Ethics And Privacy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