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2 and 3 covered how records enter a dataset and what obligations attach to them. This chapter asks how raw records become supervised training signal. This opening part defines annotation, shows why label quality often caps model accuracy, and previews labeled examples across text, image, audio, and video.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data annotation as attaching task-defined labels to raw records, explain why label quality often bounds supervised learning more tightly than model architecture alone, and recognize how annotated examples differ across text, image, audio, and video modalities.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annotation assigns labels, tags, or structured metadata to raw records so supervised models can learn input–output mappings. Annotation is typically performed by trained humans, often with machine-assisted suggestions that humans review. Depending on modality, labels may tag linguistic attributes, mark objects in images, transcribe speech, or categorize tabular rows. Without reliable labels, a learner cannot associate inputs with intended outputs for classification, detection, or recognition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of those labels often bounds achievable accuracy more tightly than model architecture alone, especially in healthcare, finance, and autonomy settings where labeling errors propagate into high-stakes decisions. Inconsistent or incorrect annotations degrade held-out performance and can encode demographic skew into the training signal. Fairness and bias implications connect back to ethics constraints introduced in Chapter 3 and developed further in Chapter 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 shows a compact natural language processing case. In a text corpus, tokens or spans may be tagged with parts of speech, sentiment, or named-entity types so a supervised model can learn those categories from examples. Open the example 1 module for this chapter to see how a minimal text schema pairs raw tokens with label types.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 illustrates document-level sentiment. In a customer feedback survey, a sentence such as “The service was excellent” may be labeled positive, while “The product was disappointing” may be labeled negative. The label operation is simple, but guideline clarity matters when tone is mixed or sarcastic. Open the example 2 module for this chapter to compare positive and negative spans.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 shows entity typing in a factual sentence. In “Barack Obama was born in Hawaii,” the person span and the location span receive distinct entity types under a standard named-entity recognition schema. Boundary decisions—where a span starts and ends—are as important as the class name. Open the example 3 module for this chapter to inspect the span schema.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also previews labels beyond text. Image annotation marks visual entities with bounding boxes, segmentation masks, or facial landmarks so computer-vision models can localize and classify them. Audio annotation aligns transcripts, speaker identities, or emotion tags with time ranges for speech and affect tasks. Video annotation extends spatial labeling across frames so perception stacks can track objects and recognize activities over time. Later clips deepen each modality; the static course site includes image, audio, and video previews where examples exist.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Annotation attaches task-defined labels that supervised learning depends on. Label quality often caps accuracy more than model choice alone. Text, image, audio, and video each need different label schemas, and inconsistent labels teach the wrong decision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text and image annotation techniques—tokenization, sentiment, named entities, bounding boxes, segmentation, and landmarks.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common text annotation building blocks, contrast bounding boxes, segmentation masks, and landmarks as image formats, and match each technique to typical natural language processing and computer-vision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annotation supports classification, information extraction, and retrieval. Common building blocks include tokenization, sentiment tagging, named entity recognition, and part-of-speech tagging. Tokenization splits text into words, subwords, or characters as a prerequisite for most taggers. Sentiment tagging assigns polarity to spans or documents. Named entity recognition identifies and types entities such as people, organizations, and locations. Part-of-speech tagging assigns syntactic categories to tokens.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4.9 shows a simple word split. The sentence “AI is the future” may tokenize to a short list of word tokens that downstream taggers consume. Token boundaries affect every later label, so guidelines should specify whether punctuation is attached, how contractions are split, and whether casing is preserved. Open the example 9 module for this chapter to inspect the token list.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4.12 applies organization and location tags. In “Apple is headquartered in Cupertino,” the company span receives an organization type and the city span a location type. Subsidiary versus parent-brand boundaries are a frequent source of disagreement and are revisited under quality control. Open the example 12 module for this chapter to see the span schema.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annotation marks objects or regions for computer vision. Three frequent formats are bounding boxes, segmentation masks, and landmarks. Bounding boxes are axis-aligned rectangles around objects of interest and dominate many detection benchmarks. Segmentation assigns pixel-level or polygon labels and yields tighter boundaries than boxes, which matters in medical imaging and fine-grained scene parsing. Landmarking places keypoints on faces or bodies for recognition and pose estimation.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4.14 states the box format in a driving schema. In a self-driving corpus, rectangles may enclose cars, people, and road signs with a class label for each instance. Box tightness, occlusion handling, and consistent class names directly affect detector training. Open the example 14 module for this chapter to review a detection-oriented schema.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4.15 shows a clinical mask task. Annotators outline a tumor region on a scan so every pixel inside the contour receives the tumor class, enabling supervised segmentation training. Masks demand more effort per object than boxes but reward applications where boundary precision matters. Open the example 15 module for this chapter to compare mask labels with box labels.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pipelines combine tokenization with sentiment, entity, or syntactic tags. Image work chooses among boxes, masks, and landmarks based on task precision and cost. Format choice belongs in the guideline before scale-up, because relabeling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audio, video, and tabular annotation—transcription, diarization, frame tracks, activity labels, and row-level classes.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typical audio labels such as transcripts and speaker turns, explain how video combines spatial and temporal labeling, and recognize row categorization and outlier flags as tabular annotation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Audio annotation supports speech recognition, speaker diarization, and affect analysis. Typical labels include transcripts, speaker identities, and emotion tags aligned to time. Transcription converts speech to text for automatic speech recognition training. Diarization assigns who spoke when in multi-speaker recordings. Emotion tagging labels affective tone in discrete classes such as happy, angry, sad, or neutral for quality monitoring.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4.17 shows a call-center transcript task. Annotators listen to a call and produce a time-aligned transcript used to train automatic speech recognition. Alignment quality—matching words to the correct intervals—matters as much as lexical accuracy. Open the example 17 module for this chapter to review a transcript-oriented workflow.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annotation combines spatial and temporal labeling and is costly because objects and actions evolve across frames. Frame-by-frame labeling annotates objects in successive frames for detection and tracking. Activity recognition labels clip-level behaviors—such as picking, passing, or fouls—over an interval even when per-frame boxes already exist. Production programs often separate dense tracks from lighter activity tags to control cost.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4.21 shows surveillance-style classes. In surveillance video, frames may receive labels such as person, car, or bicycle for detection and multi-object tracking. Temporal consistency across frames is a QC concern: an object that flickers in and out teaches unstable trackers. Open the example 21 module for this chapter to inspect frame-level labels.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Tabular annotation assigns labels to rows, columns, or cells for classification, ranking, or anomaly detection. Categorization maps rows to discrete classes—such as customer value bands—from purchase history for supervised targeting. Labeling outliers marks anomalous rows for fraud or quality review when positives are rare and human judgment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4.24 shows customer-value bands. In a customer database, rows may be labeled high, medium, or low value from purchase history for supervised targeting models. The schema must define thresholds and tie-break rules so annotators—or rule engines—apply bands consistently. Open the example 24 module for this chapter to see row-level classes.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Audio work aligns text, speakers, or affect with time. Video adds temporal cost to spatial labels and often mixes tracks with activity tags. Tabular labels include class bands and outlier flags for classification and fraud workflows.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annotation techniques—manual, semi-automated, fully automated, and crowdsourced workflows with their trade-offs.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compare manual, semi-automated, fully automated, and crowdsourced annotation on throughput and risk, summarize the trade-offs in Table 4.2, and describe active learning and majority-vote patterns as practical workflow choices.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Annotation is labor-intensive, so teams must match technique to quality and budget constraints. Table 4.2 summarizes four approaches. Manual annotation handles ambiguity and domain nuance but offers low throughput and annotator variance. Semi-automated labeling is faster when humans review model proposals but risks over-trusting bad suggestions. Fully automated pipelines scale at low marginal cost yet inherit skew and silent errors. Crowdsourcing enables rapid scale for simple schemas but introduces worker variance and labor ethics concerns. No single technique dominates; production programs often combine several under shared quality-control gates.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annotation assigns labels through trained humans and remains the reference standard when context, ambiguity, or domain expertise matter more than throughput. Humans handle occlusion, sarcasm, and guideline exceptions that automated pre-labelers often miss, but manual throughput is limited and inter-annotator variance must be managed with guidelines and agreement checks.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4.26 shows a sentiment edge case. A sentence such as “That was quite a disaster, but at least I got the coffee!” may still be labeled positive from context even though surface words look negative. A brittle keyword rule may miss that tone. Open the example 26 module for this chapter to walk through the ambiguity decision.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Semi-automated annotation combines human review with model-generated proposals. A pre-trained detector may suggest boxes or entity spans; annotators accept, correct, or reject them. Active learning prioritizes labeling for the most uncertain items so human effort concentrates where it changes the model most.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4.27 shows a typical queueing pattern. In text classification, ambiguous sentences are queued for human review while high-confidence cases are auto-labeled or skipped, so annotators spend time where the model is most uncertain. Active learning reduces label volume but still requires monitoring for bias introduced during adjudication. Open the example 27 module for this chapter to inspect the queue logic.</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Fully automated pipelines label data without per-item human review, which suits scale but raises accuracy and bias risk. Automated labelers inherit training-data skew, so subsets should be spot-checked and fairness metrics applied before release. Crowdsourcing distributes micro-tasks to many workers, often with redundancy and majority vote for quality on simpler schemas.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4.28 shows a simple redundancy pattern. Three workers label the same review as positive, positive, and negative; majority vote yields positive, while gold-item checks and qualification tests limit random or adversarial workers. Crowdsourcing scales quickly but needs gold items, worker qualification, and fair payment practices. Open the example 28 module for this chapter to review the vote pattern.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technique to ambiguity, throughput, and ethics—not to habit. Table 4.2 pairs each approach with its primary risk. Combine workflows only when shared QC gates keep volume from eroding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annotation tools—open-source editors, commercial platforms, and a minimal object-detection workflow.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representative open-source and commercial annotation tools, list four features effective platforms should provide, and outline a minimal bounding-box workflow suitable for small detection projects.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Open-source tools suit research teams and pilots that need customization without license cost. LabelImg provides a lightweight interface for drawing bounding boxes and exporting PASCAL VOC-style XML, common in small object-detection projects tied to benchmarks such as PASCAL VOC and COCO. Label Studio supports text, image, audio, and video with configurable templates and optional model-assisted pre-labeling that implements the semi-automated pattern from the previous part. CVAT—the Computer Vision Annotation Tool—targets image and video with boxes, polygons, tracks, and team workflows for larger vision efforts.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 platforms add managed workforces, service-level agreements, and enterprise integrations for high-volume programs. Vendors such as Scale AI and Appen combine tooling with contracted annotators. NLP-focused products such as Prodigy emphasize tight active-learning loops for text. Product names change quickly; treat the list as illustrative of capability classes rather than an endorsement ranking. Many teams prototype in open-source tools and move to commercial platforms when scale or managed quality assurance becomes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tool to modality and workflow: vision-heavy projects need box, mask, or track support; natural language processing projects need span and document interfaces. Also check collaboration, export formats, API hooks for pre-labeling, and whether inter-annotator agreement or audit trails are built in. Effective platforms typically provide schema definition and validation, role-based collaboration, version history or export snapshots, and hooks for quality review such as duplicate labeling or adjudication queues. If a candidate tool lacks those four, plan external quality-control processes before production labeling.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4.29 summarizes a minimal LabelImg path for object detection. Install the editor, open an image directory, draw a rectangle per object, assign a class label, and save VOC-compatible XML for downstream training. Before scaling, review a handful of exports to confirm class names, box tightness, and consistent handling of occluded objects. The same export-check habit applies to other box editors. Open the example 29 module for this chapter to follow the workflow checklist.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depends on modality, scale, integration with machine learning workflows, and budget. Open-source options favor customization and bring-your-own annotators; commercial options favor volume, managed labor, and SLA-bound programs. The right choice is the one that supports your schema, collaboration model, and QC gates—not the flashiest demo.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LabelImg, Label Studio, and CVAT cover common research and vision needs; commercial vendors add managed scale. Require schema validation, collaboration, versioned exports, and QC hooks. Always audit a small export batch before labeling thousands of images.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quality control—annotation errors, inter-annotator agreement, gold-set audits, and annotator training.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frequent annotation failure modes, interpret common inter-annotator agreement coefficients, distinguish IAA from gold-set precision and recall, and describe training habits that sustain label quality during long projects.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 quality bounds model performance in supervised learning. Inconsistent or missing labels teach the wrong decision boundaries: a missed pedestrian box becomes a false negative at deployment, and a missed lesion in clinical imaging can have patient-safety implications. Quality control is therefore part of dataset governance, not optional polish. Effective programs combine clear guidelines, pilot rounds, agreement measurement, adjudication of disagreements, gold-set audits, and annotator training before and during full-scale labeling.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 failure modes include inconsistent class names, missed instances, boundary slack in boxes or masks, and subjective bias in sentiment or toxicity labels. Guidelines with positive and negative examples reduce but do not eliminate these errors; audits on a held-out review set catch drift during long projects.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4.30 shows a naming inconsistency that looks minor but splits the class signal. One annotator tags pets as “dog” while another uses “puppy” for young dogs. Without a guideline that collapses those strings to one class, training treats them as distinct categories and evaluation counts false disagreements. Open the example 30 module for this chapter to see how schema hygiene prevents split classes.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Inter-annotator agreement measures consistency among annotators labeling the same items. High agreement supports reliable guidelines and usable gold labels; low agreement often signals ambiguous schemas or inadequate training. Table 4.4 summarizes common chance-corrected coefficients. Cohen’s kappa suits two raters on nominal labels. Fleiss’ kappa extends the idea to more than two raters. Krippendorff’s alpha handles ordinal or mixed levels and missing ratings with flexible distance metrics. Values near one indicate strong agreement beyond chance; values near zero are consistent with chance agreement.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4.31 shows how low agreement should stop a scale-up rather than be ignored. On a named-entity pilot, two annotators reach kappa near 0.35 on organization spans because the guideline is unclear about subsidiaries versus parent brands. The team revises examples and re-trains before labeling the full corpus. Clear instructions, calibration rounds, and adjudication remain the primary remedies when agreement stays low. Open the example 31 module for this chapter to trace the pilot decision.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Inter-annotator agreement measures agreement among annotators; gold-set metrics measure correctness against adjudicated reference labels. After adjudication, teams track label-level precision and recall on an audit set: precision captures spurious labels; recall captures missed instances; F1 balances both when false positives and false negatives are costly.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4.32 separates labeler metrics from model test scores. On a held-out review batch, an annotator’s box labels achieve precision 0.92 and recall 0.81 against the gold set. Those figures evaluate the labeler, not the detector trained later on the released corpus; model metrics on a test split answer a different question. Open the example 32 module for this chapter to compare audit versus evaluation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annotators with written guidelines, worked examples, and a short qualification set before production labeling. Regular feedback sessions and spot audits keep drift in check; incentive schemes should reward accuracy and agreement, not raw speed alone. Specialist programs—such as clinical audio with physician panels on the tool path—illustrate putting domain experts inside the workflow, not only in a final audit.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class-name hygiene, missed instances, and subjective drift with guidelines plus audits. Use IAA to decide whether to scale; use gold-set precision and recall to score individual labelers. Train, calibrate, and re-audit after any guideline or tool change.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challenges in annotation—scale, bias, ethics, and rare events.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throughput bottlenecks in large labeling programs, identify sources of bias in annotation, name ethical concerns specific to annotation workforces, and explain why rare classes need expert validation and targeted workflows.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vision and language models can require millions of labeled instances, and manual throughput often lags model iteration cycles. Common responses reuse workflows from earlier sections: crowdsourcing, semi-automated pre-labeling, parallel annotator pools, adjudicator roles, active-learning queues, and phased schema rollout with core classes first and rare classes later. Each speed-up still needs the quality-control gates from the previous part so volume does not erode accuracy.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in annotation can skew labels and propagate into models. The focus here is labeler and guideline failure modes that create biased training data. Annotator bias, unrepresentative sampling, and biased pre-label models are the main sources. Mitigations include diverse review panels, inclusive guidelines, periodic bias audits on labeled slices, and human adjudication when automated suggestions disagree across demographic subgroups. Fairness metrics and deeper mitigation appear in Chapter 3 and Chapter 7.</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annotation raises ethical issues of fair compensation, privacy, and harmful labels. Crowdsourced marketplaces should pay fairly for task complexity, disclose payment rules, and restrict sensitive content to trained annotators under appropriate consent and de-identification. Label schemas for race, gender, mental health, or criminality need extra review so tags do not encode stigma or oversimplify context. Chapter 3 supplies the broader ethics and privacy frame; this section stresses workforce and label-governance practices specific to annotation pipelines.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Rare classes—uncommon diagnoses, endangered species, fraud cases—are hard to label at scale because positives are scarce. Domain experts should validate gold sets; active learning can surface uncertain cases to those experts; transfer learning and careful synthetic augmentation can supplement but not replace verified real examples. Rare-class work is where manual review and QC investment concentrate rather than where shortcuts belong.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demands combined workflows, not blind volume. Bias enters through people, sampling, and pre-label models—audit slices and adjudicate disagreements. Ethics and rare classes both require expert gates before labels enter training pools.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use cases and applications—autonomous driving, healthcare, e-commerce, and emerging domains.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annotation demands in autonomous driving and medical imaging, explain catalog and review labeling in e-commerce, and recognize temporal and spatial consistency needs in emerging geospatial and augmented-reality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Autonomous driving requires large labeled corpora of road scenes with pedestrians, vehicles, signs, and lane markings. Labels feed perception and planning stacks; errors in box placement or class choice directly affect safety-critical behavior. Quality-control practices and geographic diversity in collection matter as much as volume: a detector trained only on sunny highways may fail in rain or unfamiliar regions.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imaging annotation marks lesions, organs, or findings on radiology and pathology images so diagnostic models can learn localized patterns. Expert clinicians typically validate or produce gold labels. Privacy and consent constraints govern what can be labeled and shared. Segmentation precision often matters more than coarse boxes because boundary errors can change clinical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Retail catalogs use category and attribute labels for search, recommendations, and review sentiment. Product taxonomies and review polarity labels must stay consistent across locales and product lines to avoid fragmented training signal. A shoe labeled “sneaker” in one locale and “trainer” in another without a mapped taxonomy splits the class signal much like inconsistent annotator strings.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Augmented reality needs spatially registered object labels so virtual content aligns with the physical scene. Climate and remote-sensing workflows need geospatial segmentation over time series, not just single snapshots. Both stress temporal consistency and domain-expert review beyond single-frame box labeling. Emerging domains reuse the same modality techniques from earlier parts but raise the cost of inconsistency across space and time.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Autonomous driving couples volume with safety-critical QC. Healthcare pairs expert gold labels with privacy governance. E-commerce needs stable taxonomies across locales. Emerging AR and geospatial work add temporal consistency to spatial labels.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best practices—guidelines with exemplars, calibration audits, diversity checks, and pre-labeling as proposals rather than shortcuts.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draft guideline habits with positive and negative exemplars, describe calibration sessions and drift audits during active labeling, apply diversity and bias-reduction checks on labeled slices, and use pre-labeling only with audit thresholds met.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annotation programs share a common skeleton: define the schema, pilot on a small set, measure inter-annotator agreement, adjudicate, then scale with ongoing audits. Guidelines specify class definitions, edge cases, and prohibited inferences. Include positive and negative examples for each label and document how to handle ambiguity—unknown or needs-review classes reduce forced guesses. Version the guideline document when schemas change, retrain annotators on diffs, and store exemplar items in the tool as inline references so new labelers see canonical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regular calibration sessions while labeling is active; share adjudicated disagreements anonymously so the team learns without blame. Track per-annotator agreement and audit-sample error rates, coach low outliers before they contaminate large batches, schedule re-audit of random batches after any guideline or tool change, and insert repeated gold items to detect drift over long projects.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labels encode social constructs such as sentiment, toxicity, or demographics, apply labeler-bias mitigations and fairness practice from earlier chapters. In practice: include diverse reviewers, test subgroup agreement, and audit labeled slices on a fixed cadence. Diversity is not only a collection concern—it also shapes whether annotation teams apply tags consistently across populations represented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pre-labeling to propose candidates, not to skip review, until error rates on audit sets meet your threshold. Combine active learning, pre-labeling, and crowdsourcing only with quality-control gates so efficiency gains do not trade away fairness or accuracy. A model proposal accepted without correction is still a human decision and should appear in audit samples.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Versioned guidelines with inline exemplars anchor every labeler. Calibration, gold items, and re-audits catch drift after tool or schema changes. Pre-labeling saves time only when proposals stay under human review with measured error rates.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final part on emerging topics—AI-assisted labeling, synthetic and programmatic labels, real-time annotation, and the bridge to data cleaning in Chapter 5.</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AI-assisted and self-labeling workflows with human correction gates, explain synthetic and programmatic labels as audited supplements, recognize real-time annotation risks in streaming systems, and state how Chapter 5 continues the dataset lifecycle after labeling.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semi-automated workflows, model-assisted interfaces surface proposals ranked by uncertainty; humans correct errors before labels enter the training pool. Self-training and pseudo-labeling can scale further when confidence thresholds and audit sampling are strict. Unchecked self-labeling amplifies early mistakes, so confidence cutoffs and spot audits are not optional extras—they are part of the schema.</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images or text can fill rare classes but must be validated against real distributions before deployment. Weak supervision and labeling functions encode heuristics that humans later audit; they speed bootstrapping but still need gold evaluation sets. Programmatic labels are accelerators on top of the quality-control skeleton from earlier parts, not replacements for adjudicated gold data.</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applications may label on the fly for monitoring, but safety-critical paths should keep human review for schema changes and edge cases. AI-assisted and federated labeling also raise quality-control complexity, privacy questions, and bias risk if models or synthetic generators encode skew. Real-time speed is valuable only when governance keeps pace with the feed.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covered annotation modalities, workflows, tools, quality control including inter-annotator agreement, challenges, use cases, and emerging directions that connect to ethics and bias. Chapter 5 turns to cleaning and preprocessing so labeled datasets become model-ready tables and tensors. When fairness of labels or models is the primary concern, return to the ethics and bias material in Chapters 3 and 7. Deeper treatment of active learning, weak supervision, and hybrid crowd–expert pipelines appears later in the book.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AI-assisted, synthetic, and real-time labeling are accelerators—not excuses to drop QC, ethics, or bias review. Human correction gates and gold audits remain the release criterion. The next chapter asks how to clean and preprocess once labels exist.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to finish Chapter 4. The next chapter turns to data cleaning and preprocessing—how labeled datasets become consistent, model-ready tables and tensors after annotation is complete.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Introduction to data annotation</a:t>
            </a:r>
          </a:p>
          <a:p>
            <a:pPr algn="ctr">
              <a:lnSpc>
                <a:spcPts val="2200"/>
              </a:lnSpc>
              <a:spcBef>
                <a:spcPts val="1400"/>
              </a:spcBef>
            </a:pPr>
            <a:r>
              <a:rPr sz="2600" b="0">
                <a:solidFill>
                  <a:srgbClr val="333333"/>
                </a:solidFill>
                <a:latin typeface="Calibri"/>
              </a:rPr>
              <a:t>Chapters 2 and 3 covered how records enter a dataset and what obligations attach to them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data annotation as attaching task-defined labels to raw records</a:t>
            </a:r>
          </a:p>
          <a:p>
            <a:pPr lvl="0" marL="457200" indent="-228600">
              <a:buFont typeface="Calibri"/>
              <a:spcAft>
                <a:spcPts val="1000"/>
              </a:spcAft>
              <a:buSzPct val="100000"/>
              <a:buChar char="•"/>
              <a:lnSpc>
                <a:spcPts val="2200"/>
              </a:lnSpc>
            </a:pPr>
            <a:r>
              <a:rPr sz="2000" b="0">
                <a:solidFill>
                  <a:srgbClr val="333333"/>
                </a:solidFill>
                <a:latin typeface="Calibri"/>
              </a:rPr>
              <a:t>Recognize how annotated examples differ across text, image, audio</a:t>
            </a:r>
          </a:p>
          <a:p>
            <a:pPr lvl="0" marL="457200" indent="-228600">
              <a:buFont typeface="Calibri"/>
              <a:spcAft>
                <a:spcPts val="1000"/>
              </a:spcAft>
              <a:buSzPct val="100000"/>
              <a:buChar char="•"/>
              <a:lnSpc>
                <a:spcPts val="2200"/>
              </a:lnSpc>
            </a:pPr>
            <a:r>
              <a:rPr sz="2000" b="0">
                <a:solidFill>
                  <a:srgbClr val="333333"/>
                </a:solidFill>
                <a:latin typeface="Calibri"/>
              </a:rPr>
              <a:t>Video modalities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data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annotation assigns labels</a:t>
            </a:r>
          </a:p>
          <a:p>
            <a:pPr lvl="0" marL="457200" indent="-228600">
              <a:buFont typeface="Calibri"/>
              <a:spcAft>
                <a:spcPts val="1000"/>
              </a:spcAft>
              <a:buSzPct val="100000"/>
              <a:buChar char="•"/>
              <a:lnSpc>
                <a:spcPts val="2200"/>
              </a:lnSpc>
            </a:pPr>
            <a:r>
              <a:rPr sz="2000" b="0">
                <a:solidFill>
                  <a:srgbClr val="333333"/>
                </a:solidFill>
                <a:latin typeface="Calibri"/>
              </a:rPr>
              <a:t>Annotation is typically performed by trained humans</a:t>
            </a:r>
          </a:p>
          <a:p>
            <a:pPr lvl="0" marL="457200" indent="-228600">
              <a:buFont typeface="Calibri"/>
              <a:spcAft>
                <a:spcPts val="1000"/>
              </a:spcAft>
              <a:buSzPct val="100000"/>
              <a:buChar char="•"/>
              <a:lnSpc>
                <a:spcPts val="2200"/>
              </a:lnSpc>
            </a:pPr>
            <a:r>
              <a:rPr sz="2000" b="0">
                <a:solidFill>
                  <a:srgbClr val="333333"/>
                </a:solidFill>
                <a:latin typeface="Calibri"/>
              </a:rPr>
              <a:t>Depending on modality</a:t>
            </a:r>
          </a:p>
          <a:p>
            <a:pPr lvl="0" marL="457200" indent="-228600">
              <a:buFont typeface="Calibri"/>
              <a:spcAft>
                <a:spcPts val="1000"/>
              </a:spcAft>
              <a:buSzPct val="100000"/>
              <a:buChar char="•"/>
              <a:lnSpc>
                <a:spcPts val="2200"/>
              </a:lnSpc>
            </a:pPr>
            <a:r>
              <a:rPr sz="2000" b="0">
                <a:solidFill>
                  <a:srgbClr val="333333"/>
                </a:solidFill>
                <a:latin typeface="Calibri"/>
              </a:rPr>
              <a:t>Without reliable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label quality bounds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Autonomy settings where labeling errors propagate into high-stakes decisions</a:t>
            </a:r>
          </a:p>
          <a:p>
            <a:pPr lvl="0" marL="457200" indent="-228600">
              <a:buFont typeface="Calibri"/>
              <a:spcAft>
                <a:spcPts val="1000"/>
              </a:spcAft>
              <a:buSzPct val="100000"/>
              <a:buChar char="•"/>
              <a:lnSpc>
                <a:spcPts val="2200"/>
              </a:lnSpc>
            </a:pPr>
            <a:r>
              <a:rPr sz="2000" b="0">
                <a:solidFill>
                  <a:srgbClr val="333333"/>
                </a:solidFill>
                <a:latin typeface="Calibri"/>
              </a:rPr>
              <a:t>Inconsistent or incorrect annotations degrade held-out performance and can encode</a:t>
            </a:r>
          </a:p>
          <a:p>
            <a:pPr lvl="0" marL="457200" indent="-228600">
              <a:buFont typeface="Calibri"/>
              <a:spcAft>
                <a:spcPts val="1000"/>
              </a:spcAft>
              <a:buSzPct val="100000"/>
              <a:buChar char="•"/>
              <a:lnSpc>
                <a:spcPts val="2200"/>
              </a:lnSpc>
            </a:pPr>
            <a:r>
              <a:rPr sz="2000" b="0">
                <a:solidFill>
                  <a:srgbClr val="333333"/>
                </a:solidFill>
                <a:latin typeface="Calibri"/>
              </a:rPr>
              <a:t>Fairness and bias implications connect back to ethics constraints introduced in Chapter 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 — Text dataset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4.1 shows a compact natural language processing case</a:t>
            </a:r>
          </a:p>
          <a:p>
            <a:pPr lvl="0" marL="457200" indent="-228600">
              <a:buFont typeface="Calibri"/>
              <a:spcAft>
                <a:spcPts val="1000"/>
              </a:spcAft>
              <a:buSzPct val="100000"/>
              <a:buChar char="•"/>
              <a:lnSpc>
                <a:spcPts val="2200"/>
              </a:lnSpc>
            </a:pPr>
            <a:r>
              <a:rPr sz="2000" b="0">
                <a:solidFill>
                  <a:srgbClr val="333333"/>
                </a:solidFill>
                <a:latin typeface="Calibri"/>
              </a:rPr>
              <a:t>In a text corpus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 — Sentiment on customer feedback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 illustrates document-level sentiment</a:t>
            </a:r>
          </a:p>
          <a:p>
            <a:pPr lvl="0" marL="457200" indent="-228600">
              <a:buFont typeface="Calibri"/>
              <a:spcAft>
                <a:spcPts val="1000"/>
              </a:spcAft>
              <a:buSzPct val="100000"/>
              <a:buChar char="•"/>
              <a:lnSpc>
                <a:spcPts val="2200"/>
              </a:lnSpc>
            </a:pPr>
            <a:r>
              <a:rPr sz="2000" b="0">
                <a:solidFill>
                  <a:srgbClr val="333333"/>
                </a:solidFill>
                <a:latin typeface="Calibri"/>
              </a:rPr>
              <a:t>In a customer feedback survey</a:t>
            </a:r>
          </a:p>
          <a:p>
            <a:pPr lvl="0" marL="457200" indent="-228600">
              <a:buFont typeface="Calibri"/>
              <a:spcAft>
                <a:spcPts val="1000"/>
              </a:spcAft>
              <a:buSzPct val="100000"/>
              <a:buChar char="•"/>
              <a:lnSpc>
                <a:spcPts val="2200"/>
              </a:lnSpc>
            </a:pPr>
            <a:r>
              <a:rPr sz="2000" b="0">
                <a:solidFill>
                  <a:srgbClr val="333333"/>
                </a:solidFill>
                <a:latin typeface="Calibri"/>
              </a:rPr>
              <a:t>The label operation is simple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 — Named entities in text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4.3 shows entity typing in a factual sentence</a:t>
            </a:r>
          </a:p>
          <a:p>
            <a:pPr lvl="0" marL="457200" indent="-228600">
              <a:buFont typeface="Calibri"/>
              <a:spcAft>
                <a:spcPts val="1000"/>
              </a:spcAft>
              <a:buSzPct val="100000"/>
              <a:buChar char="•"/>
              <a:lnSpc>
                <a:spcPts val="2200"/>
              </a:lnSpc>
            </a:pPr>
            <a:r>
              <a:rPr sz="2000" b="0">
                <a:solidFill>
                  <a:srgbClr val="333333"/>
                </a:solidFill>
                <a:latin typeface="Calibri"/>
              </a:rPr>
              <a:t>In “Barack Obama was born in Hawaii,” the person span and the location span receive</a:t>
            </a:r>
          </a:p>
          <a:p>
            <a:pPr lvl="0" marL="457200" indent="-228600">
              <a:buFont typeface="Calibri"/>
              <a:spcAft>
                <a:spcPts val="1000"/>
              </a:spcAft>
              <a:buSzPct val="100000"/>
              <a:buChar char="•"/>
              <a:lnSpc>
                <a:spcPts val="2200"/>
              </a:lnSpc>
            </a:pPr>
            <a:r>
              <a:rPr sz="2000" b="0">
                <a:solidFill>
                  <a:srgbClr val="333333"/>
                </a:solidFill>
                <a:latin typeface="Calibri"/>
              </a:rPr>
              <a:t>Boundary decisions, where a span starts and ends, are as important as the class name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Previews across image, audio, and video</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chapter also previews labels beyond text</a:t>
            </a:r>
          </a:p>
          <a:p>
            <a:pPr lvl="0" marL="457200" indent="-228600">
              <a:buFont typeface="Calibri"/>
              <a:spcAft>
                <a:spcPts val="1000"/>
              </a:spcAft>
              <a:buSzPct val="100000"/>
              <a:buChar char="•"/>
              <a:lnSpc>
                <a:spcPts val="2200"/>
              </a:lnSpc>
            </a:pPr>
            <a:r>
              <a:rPr sz="2000" b="0">
                <a:solidFill>
                  <a:srgbClr val="333333"/>
                </a:solidFill>
                <a:latin typeface="Calibri"/>
              </a:rPr>
              <a:t>Image annotation marks visual entities with bounding boxes</a:t>
            </a:r>
          </a:p>
          <a:p>
            <a:pPr lvl="0" marL="457200" indent="-228600">
              <a:buFont typeface="Calibri"/>
              <a:spcAft>
                <a:spcPts val="1000"/>
              </a:spcAft>
              <a:buSzPct val="100000"/>
              <a:buChar char="•"/>
              <a:lnSpc>
                <a:spcPts val="2200"/>
              </a:lnSpc>
            </a:pPr>
            <a:r>
              <a:rPr sz="2000" b="0">
                <a:solidFill>
                  <a:srgbClr val="333333"/>
                </a:solidFill>
                <a:latin typeface="Calibri"/>
              </a:rPr>
              <a:t>Audio annotation aligns transcripts</a:t>
            </a:r>
          </a:p>
          <a:p>
            <a:pPr lvl="0" marL="457200" indent="-228600">
              <a:buFont typeface="Calibri"/>
              <a:spcAft>
                <a:spcPts val="1000"/>
              </a:spcAft>
              <a:buSzPct val="100000"/>
              <a:buChar char="•"/>
              <a:lnSpc>
                <a:spcPts val="2200"/>
              </a:lnSpc>
            </a:pPr>
            <a:r>
              <a:rPr sz="2000" b="0">
                <a:solidFill>
                  <a:srgbClr val="333333"/>
                </a:solidFill>
                <a:latin typeface="Calibri"/>
              </a:rPr>
              <a:t>Video annotation extends spatial labeling across frames so perception stacks can track</a:t>
            </a:r>
          </a:p>
          <a:p>
            <a:pPr lvl="0" marL="457200" indent="-228600">
              <a:buFont typeface="Calibri"/>
              <a:spcAft>
                <a:spcPts val="1000"/>
              </a:spcAft>
              <a:buSzPct val="100000"/>
              <a:buChar char="•"/>
              <a:lnSpc>
                <a:spcPts val="2200"/>
              </a:lnSpc>
            </a:pPr>
            <a:r>
              <a:rPr sz="2000" b="0">
                <a:solidFill>
                  <a:srgbClr val="333333"/>
                </a:solidFill>
                <a:latin typeface="Calibri"/>
              </a:rPr>
              <a:t>Later clips deepen each modality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Annotation attaches task-defined labels that supervised learning depends on</a:t>
            </a:r>
          </a:p>
          <a:p>
            <a:pPr lvl="0" marL="457200" indent="-228600">
              <a:buFont typeface="Calibri"/>
              <a:spcAft>
                <a:spcPts val="1000"/>
              </a:spcAft>
              <a:buSzPct val="100000"/>
              <a:buChar char="•"/>
              <a:lnSpc>
                <a:spcPts val="2200"/>
              </a:lnSpc>
            </a:pPr>
            <a:r>
              <a:rPr sz="2000" b="0">
                <a:solidFill>
                  <a:srgbClr val="333333"/>
                </a:solidFill>
                <a:latin typeface="Calibri"/>
              </a:rPr>
              <a:t>Label quality often caps accuracy more than model choice alone</a:t>
            </a:r>
          </a:p>
          <a:p>
            <a:pPr lvl="0" marL="457200" indent="-228600">
              <a:buFont typeface="Calibri"/>
              <a:spcAft>
                <a:spcPts val="1000"/>
              </a:spcAft>
              <a:buSzPct val="100000"/>
              <a:buChar char="•"/>
              <a:lnSpc>
                <a:spcPts val="2200"/>
              </a:lnSpc>
            </a:pPr>
            <a:r>
              <a:rPr sz="2000" b="0">
                <a:solidFill>
                  <a:srgbClr val="333333"/>
                </a:solidFill>
                <a:latin typeface="Calibri"/>
              </a:rPr>
              <a:t>Text, image, audio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next part on text and image annotation techniques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common text annotation building blocks</a:t>
            </a:r>
          </a:p>
          <a:p>
            <a:pPr lvl="0" marL="457200" indent="-228600">
              <a:buFont typeface="Calibri"/>
              <a:spcAft>
                <a:spcPts val="1000"/>
              </a:spcAft>
              <a:buSzPct val="100000"/>
              <a:buChar char="•"/>
              <a:lnSpc>
                <a:spcPts val="2200"/>
              </a:lnSpc>
            </a:pPr>
            <a:r>
              <a:rPr sz="2000" b="0">
                <a:solidFill>
                  <a:srgbClr val="333333"/>
                </a:solidFill>
                <a:latin typeface="Calibri"/>
              </a:rPr>
              <a:t>Landmarks as image formats</a:t>
            </a:r>
          </a:p>
          <a:p>
            <a:pPr lvl="0" marL="457200" indent="-228600">
              <a:buFont typeface="Calibri"/>
              <a:spcAft>
                <a:spcPts val="1000"/>
              </a:spcAft>
              <a:buSzPct val="100000"/>
              <a:buChar char="•"/>
              <a:lnSpc>
                <a:spcPts val="2200"/>
              </a:lnSpc>
            </a:pPr>
            <a:r>
              <a:rPr sz="2000" b="0">
                <a:solidFill>
                  <a:srgbClr val="333333"/>
                </a:solidFill>
                <a:latin typeface="Calibri"/>
              </a:rPr>
              <a:t>Match each technique to typical natural language processing and computer-vision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Text annotation building blocks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Text annotation supports classification, information extraction, and retrieval</a:t>
            </a:r>
          </a:p>
          <a:p>
            <a:pPr lvl="0" marL="457200" indent="-228600">
              <a:buFont typeface="Calibri"/>
              <a:spcAft>
                <a:spcPts val="1000"/>
              </a:spcAft>
              <a:buSzPct val="100000"/>
              <a:buChar char="•"/>
              <a:lnSpc>
                <a:spcPts val="2200"/>
              </a:lnSpc>
            </a:pPr>
            <a:r>
              <a:rPr sz="2000" b="0">
                <a:solidFill>
                  <a:srgbClr val="333333"/>
                </a:solidFill>
                <a:latin typeface="Calibri"/>
              </a:rPr>
              <a:t>Common building blocks include tokenization, sentiment tagging, named entity recognition</a:t>
            </a:r>
          </a:p>
          <a:p>
            <a:pPr lvl="0" marL="457200" indent="-228600">
              <a:buFont typeface="Calibri"/>
              <a:spcAft>
                <a:spcPts val="1000"/>
              </a:spcAft>
              <a:buSzPct val="100000"/>
              <a:buChar char="•"/>
              <a:lnSpc>
                <a:spcPts val="2200"/>
              </a:lnSpc>
            </a:pPr>
            <a:r>
              <a:rPr sz="2000" b="0">
                <a:solidFill>
                  <a:srgbClr val="333333"/>
                </a:solidFill>
                <a:latin typeface="Calibri"/>
              </a:rPr>
              <a:t>Tokenization splits text into words</a:t>
            </a:r>
          </a:p>
          <a:p>
            <a:pPr lvl="0" marL="457200" indent="-228600">
              <a:buFont typeface="Calibri"/>
              <a:spcAft>
                <a:spcPts val="1000"/>
              </a:spcAft>
              <a:buSzPct val="100000"/>
              <a:buChar char="•"/>
              <a:lnSpc>
                <a:spcPts val="2200"/>
              </a:lnSpc>
            </a:pPr>
            <a:r>
              <a:rPr sz="2000" b="0">
                <a:solidFill>
                  <a:srgbClr val="333333"/>
                </a:solidFill>
                <a:latin typeface="Calibri"/>
              </a:rPr>
              <a:t>Sentiment tagging assigns polarity to spans or documents</a:t>
            </a:r>
          </a:p>
          <a:p>
            <a:pPr lvl="0" marL="457200" indent="-228600">
              <a:buFont typeface="Calibri"/>
              <a:spcAft>
                <a:spcPts val="1000"/>
              </a:spcAft>
              <a:buSzPct val="100000"/>
              <a:buChar char="•"/>
              <a:lnSpc>
                <a:spcPts val="2200"/>
              </a:lnSpc>
            </a:pPr>
            <a:r>
              <a:rPr sz="2000" b="0">
                <a:solidFill>
                  <a:srgbClr val="333333"/>
                </a:solidFill>
                <a:latin typeface="Calibri"/>
              </a:rPr>
              <a:t>Named entity recognition identifies and types entities such as people, organizations</a:t>
            </a:r>
          </a:p>
          <a:p>
            <a:pPr lvl="0" marL="457200" indent="-228600">
              <a:buFont typeface="Calibri"/>
              <a:spcAft>
                <a:spcPts val="1000"/>
              </a:spcAft>
              <a:buSzPct val="100000"/>
              <a:buChar char="•"/>
              <a:lnSpc>
                <a:spcPts val="2200"/>
              </a:lnSpc>
            </a:pPr>
            <a:r>
              <a:rPr sz="2000" b="0">
                <a:solidFill>
                  <a:srgbClr val="333333"/>
                </a:solidFill>
                <a:latin typeface="Calibri"/>
              </a:rPr>
              <a:t>Part-of-speech tagging assigns syntactic categories to tokens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4.9 — Tokenization on text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4.9 shows a simple word split</a:t>
            </a:r>
          </a:p>
          <a:p>
            <a:pPr lvl="0" marL="457200" indent="-228600">
              <a:buFont typeface="Calibri"/>
              <a:spcAft>
                <a:spcPts val="1000"/>
              </a:spcAft>
              <a:buSzPct val="100000"/>
              <a:buChar char="•"/>
              <a:lnSpc>
                <a:spcPts val="2200"/>
              </a:lnSpc>
            </a:pPr>
            <a:r>
              <a:rPr sz="2000" b="0">
                <a:solidFill>
                  <a:srgbClr val="333333"/>
                </a:solidFill>
                <a:latin typeface="Calibri"/>
              </a:rPr>
              <a:t>The sentence “AI is the future” may tokenize to a short list of word tokens that</a:t>
            </a:r>
          </a:p>
          <a:p>
            <a:pPr lvl="0" marL="457200" indent="-228600">
              <a:buFont typeface="Calibri"/>
              <a:spcAft>
                <a:spcPts val="1000"/>
              </a:spcAft>
              <a:buSzPct val="100000"/>
              <a:buChar char="•"/>
              <a:lnSpc>
                <a:spcPts val="2200"/>
              </a:lnSpc>
            </a:pPr>
            <a:r>
              <a:rPr sz="2000" b="0">
                <a:solidFill>
                  <a:srgbClr val="333333"/>
                </a:solidFill>
                <a:latin typeface="Calibri"/>
              </a:rPr>
              <a:t>Whether casing is preserved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4.12 — Named entities on a sentence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4.12 applies organization and location tags</a:t>
            </a:r>
          </a:p>
          <a:p>
            <a:pPr lvl="0" marL="457200" indent="-228600">
              <a:buFont typeface="Calibri"/>
              <a:spcAft>
                <a:spcPts val="1000"/>
              </a:spcAft>
              <a:buSzPct val="100000"/>
              <a:buChar char="•"/>
              <a:lnSpc>
                <a:spcPts val="2200"/>
              </a:lnSpc>
            </a:pPr>
            <a:r>
              <a:rPr sz="2000" b="0">
                <a:solidFill>
                  <a:srgbClr val="333333"/>
                </a:solidFill>
                <a:latin typeface="Calibri"/>
              </a:rPr>
              <a:t>In “Apple is headquartered in Cupertino,” the company span receives an organization type</a:t>
            </a:r>
          </a:p>
          <a:p>
            <a:pPr lvl="0" marL="457200" indent="-228600">
              <a:buFont typeface="Calibri"/>
              <a:spcAft>
                <a:spcPts val="1000"/>
              </a:spcAft>
              <a:buSzPct val="100000"/>
              <a:buChar char="•"/>
              <a:lnSpc>
                <a:spcPts val="2200"/>
              </a:lnSpc>
            </a:pPr>
            <a:r>
              <a:rPr sz="2000" b="0">
                <a:solidFill>
                  <a:srgbClr val="333333"/>
                </a:solidFill>
                <a:latin typeface="Calibri"/>
              </a:rPr>
              <a:t>Subsidiary versus parent-brand boundaries are a frequent source of disagreement and 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Image annotation formats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Image annotation marks objects or regions for computer vision</a:t>
            </a:r>
          </a:p>
          <a:p>
            <a:pPr lvl="0" marL="457200" indent="-228600">
              <a:buFont typeface="Calibri"/>
              <a:spcAft>
                <a:spcPts val="1000"/>
              </a:spcAft>
              <a:buSzPct val="100000"/>
              <a:buChar char="•"/>
              <a:lnSpc>
                <a:spcPts val="2200"/>
              </a:lnSpc>
            </a:pPr>
            <a:r>
              <a:rPr sz="2000" b="0">
                <a:solidFill>
                  <a:srgbClr val="333333"/>
                </a:solidFill>
                <a:latin typeface="Calibri"/>
              </a:rPr>
              <a:t>Three frequent formats are bounding boxes, segmentation masks, and landmarks</a:t>
            </a:r>
          </a:p>
          <a:p>
            <a:pPr lvl="0" marL="457200" indent="-228600">
              <a:buFont typeface="Calibri"/>
              <a:spcAft>
                <a:spcPts val="1000"/>
              </a:spcAft>
              <a:buSzPct val="100000"/>
              <a:buChar char="•"/>
              <a:lnSpc>
                <a:spcPts val="2200"/>
              </a:lnSpc>
            </a:pPr>
            <a:r>
              <a:rPr sz="2000" b="0">
                <a:solidFill>
                  <a:srgbClr val="333333"/>
                </a:solidFill>
                <a:latin typeface="Calibri"/>
              </a:rPr>
              <a:t>Bounding boxes are axis-aligned rectangles around objects of interest and dominate many</a:t>
            </a:r>
          </a:p>
          <a:p>
            <a:pPr lvl="0" marL="457200" indent="-228600">
              <a:buFont typeface="Calibri"/>
              <a:spcAft>
                <a:spcPts val="1000"/>
              </a:spcAft>
              <a:buSzPct val="100000"/>
              <a:buChar char="•"/>
              <a:lnSpc>
                <a:spcPts val="2200"/>
              </a:lnSpc>
            </a:pPr>
            <a:r>
              <a:rPr sz="2000" b="0">
                <a:solidFill>
                  <a:srgbClr val="333333"/>
                </a:solidFill>
                <a:latin typeface="Calibri"/>
              </a:rPr>
              <a:t>Which matters in medical imaging and fine-grained scene parsing</a:t>
            </a:r>
          </a:p>
          <a:p>
            <a:pPr lvl="0" marL="457200" indent="-228600">
              <a:buFont typeface="Calibri"/>
              <a:spcAft>
                <a:spcPts val="1000"/>
              </a:spcAft>
              <a:buSzPct val="100000"/>
              <a:buChar char="•"/>
              <a:lnSpc>
                <a:spcPts val="2200"/>
              </a:lnSpc>
            </a:pPr>
            <a:r>
              <a:rPr sz="2000" b="0">
                <a:solidFill>
                  <a:srgbClr val="333333"/>
                </a:solidFill>
                <a:latin typeface="Calibri"/>
              </a:rPr>
              <a:t>Landmarking places keypoints on faces or bodies for recognition and pose estimation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4.14 — Bounding boxes for detection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4.14 states the box format in a driving schema</a:t>
            </a:r>
          </a:p>
          <a:p>
            <a:pPr lvl="0" marL="457200" indent="-228600">
              <a:buFont typeface="Calibri"/>
              <a:spcAft>
                <a:spcPts val="1000"/>
              </a:spcAft>
              <a:buSzPct val="100000"/>
              <a:buChar char="•"/>
              <a:lnSpc>
                <a:spcPts val="2200"/>
              </a:lnSpc>
            </a:pPr>
            <a:r>
              <a:rPr sz="2000" b="0">
                <a:solidFill>
                  <a:srgbClr val="333333"/>
                </a:solidFill>
                <a:latin typeface="Calibri"/>
              </a:rPr>
              <a:t>In a self-driving corpus, rectangles may enclose cars, people</a:t>
            </a:r>
          </a:p>
          <a:p>
            <a:pPr lvl="0" marL="457200" indent="-228600">
              <a:buFont typeface="Calibri"/>
              <a:spcAft>
                <a:spcPts val="1000"/>
              </a:spcAft>
              <a:buSzPct val="100000"/>
              <a:buChar char="•"/>
              <a:lnSpc>
                <a:spcPts val="2200"/>
              </a:lnSpc>
            </a:pPr>
            <a:r>
              <a:rPr sz="2000" b="0">
                <a:solidFill>
                  <a:srgbClr val="333333"/>
                </a:solidFill>
                <a:latin typeface="Calibri"/>
              </a:rPr>
              <a:t>Box tightness, occlusion handling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4.15 — Segmentation on medical images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4.15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4.15 shows a clinical mask task</a:t>
            </a:r>
          </a:p>
          <a:p>
            <a:pPr lvl="0" marL="457200" indent="-228600">
              <a:buFont typeface="Calibri"/>
              <a:spcAft>
                <a:spcPts val="1000"/>
              </a:spcAft>
              <a:buSzPct val="100000"/>
              <a:buChar char="•"/>
              <a:lnSpc>
                <a:spcPts val="2200"/>
              </a:lnSpc>
            </a:pPr>
            <a:r>
              <a:rPr sz="2000" b="0">
                <a:solidFill>
                  <a:srgbClr val="333333"/>
                </a:solidFill>
                <a:latin typeface="Calibri"/>
              </a:rPr>
              <a:t>Enabling supervised segmentation training</a:t>
            </a:r>
          </a:p>
          <a:p>
            <a:pPr lvl="0" marL="457200" indent="-228600">
              <a:buFont typeface="Calibri"/>
              <a:spcAft>
                <a:spcPts val="1000"/>
              </a:spcAft>
              <a:buSzPct val="100000"/>
              <a:buChar char="•"/>
              <a:lnSpc>
                <a:spcPts val="2200"/>
              </a:lnSpc>
            </a:pPr>
            <a:r>
              <a:rPr sz="2000" b="0">
                <a:solidFill>
                  <a:srgbClr val="333333"/>
                </a:solidFill>
                <a:latin typeface="Calibri"/>
              </a:rPr>
              <a:t>Masks demand more effort per object than boxes but reward applications where boundary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Text pipelines combine tokenization with sentiment, entity, or syntactic tags</a:t>
            </a:r>
          </a:p>
          <a:p>
            <a:pPr lvl="0" marL="457200" indent="-228600">
              <a:buFont typeface="Calibri"/>
              <a:spcAft>
                <a:spcPts val="1000"/>
              </a:spcAft>
              <a:buSzPct val="100000"/>
              <a:buChar char="•"/>
              <a:lnSpc>
                <a:spcPts val="2200"/>
              </a:lnSpc>
            </a:pPr>
            <a:r>
              <a:rPr sz="2000" b="0">
                <a:solidFill>
                  <a:srgbClr val="333333"/>
                </a:solidFill>
                <a:latin typeface="Calibri"/>
              </a:rPr>
              <a:t>Image work chooses among boxes, masks, and landmarks based on task precision and cost</a:t>
            </a:r>
          </a:p>
          <a:p>
            <a:pPr lvl="0" marL="457200" indent="-228600">
              <a:buFont typeface="Calibri"/>
              <a:spcAft>
                <a:spcPts val="1000"/>
              </a:spcAft>
              <a:buSzPct val="100000"/>
              <a:buChar char="•"/>
              <a:lnSpc>
                <a:spcPts val="2200"/>
              </a:lnSpc>
            </a:pPr>
            <a:r>
              <a:rPr sz="2000" b="0">
                <a:solidFill>
                  <a:srgbClr val="333333"/>
                </a:solidFill>
                <a:latin typeface="Calibri"/>
              </a:rPr>
              <a:t>Format choice belongs in the guideline before scale-up, because relabeling is expensive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then continue to the next part on audio, video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typical audio labels such as transcripts and speaker turns</a:t>
            </a:r>
          </a:p>
          <a:p>
            <a:pPr lvl="0" marL="457200" indent="-228600">
              <a:buFont typeface="Calibri"/>
              <a:spcAft>
                <a:spcPts val="1000"/>
              </a:spcAft>
              <a:buSzPct val="100000"/>
              <a:buChar char="•"/>
              <a:lnSpc>
                <a:spcPts val="2200"/>
              </a:lnSpc>
            </a:pPr>
            <a:r>
              <a:rPr sz="2000" b="0">
                <a:solidFill>
                  <a:srgbClr val="333333"/>
                </a:solidFill>
                <a:latin typeface="Calibri"/>
              </a:rPr>
              <a:t>Recognize row categorization and outlier flags as tabular annotation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Audio annotation techniques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Audio annotation supports speech recognition, speaker diarization, and affect analysis</a:t>
            </a:r>
          </a:p>
          <a:p>
            <a:pPr lvl="0" marL="457200" indent="-228600">
              <a:buFont typeface="Calibri"/>
              <a:spcAft>
                <a:spcPts val="1000"/>
              </a:spcAft>
              <a:buSzPct val="100000"/>
              <a:buChar char="•"/>
              <a:lnSpc>
                <a:spcPts val="2200"/>
              </a:lnSpc>
            </a:pPr>
            <a:r>
              <a:rPr sz="2000" b="0">
                <a:solidFill>
                  <a:srgbClr val="333333"/>
                </a:solidFill>
                <a:latin typeface="Calibri"/>
              </a:rPr>
              <a:t>Typical labels include transcripts, speaker identities, and emotion tags aligned to time</a:t>
            </a:r>
          </a:p>
          <a:p>
            <a:pPr lvl="0" marL="457200" indent="-228600">
              <a:buFont typeface="Calibri"/>
              <a:spcAft>
                <a:spcPts val="1000"/>
              </a:spcAft>
              <a:buSzPct val="100000"/>
              <a:buChar char="•"/>
              <a:lnSpc>
                <a:spcPts val="2200"/>
              </a:lnSpc>
            </a:pPr>
            <a:r>
              <a:rPr sz="2000" b="0">
                <a:solidFill>
                  <a:srgbClr val="333333"/>
                </a:solidFill>
                <a:latin typeface="Calibri"/>
              </a:rPr>
              <a:t>Transcription converts speech to text for automatic speech recognition training</a:t>
            </a:r>
          </a:p>
          <a:p>
            <a:pPr lvl="0" marL="457200" indent="-228600">
              <a:buFont typeface="Calibri"/>
              <a:spcAft>
                <a:spcPts val="1000"/>
              </a:spcAft>
              <a:buSzPct val="100000"/>
              <a:buChar char="•"/>
              <a:lnSpc>
                <a:spcPts val="2200"/>
              </a:lnSpc>
            </a:pPr>
            <a:r>
              <a:rPr sz="2000" b="0">
                <a:solidFill>
                  <a:srgbClr val="333333"/>
                </a:solidFill>
                <a:latin typeface="Calibri"/>
              </a:rPr>
              <a:t>Diarization assigns who spoke when in multi-speaker recordings</a:t>
            </a:r>
          </a:p>
          <a:p>
            <a:pPr lvl="0" marL="457200" indent="-228600">
              <a:buFont typeface="Calibri"/>
              <a:spcAft>
                <a:spcPts val="1000"/>
              </a:spcAft>
              <a:buSzPct val="100000"/>
              <a:buChar char="•"/>
              <a:lnSpc>
                <a:spcPts val="2200"/>
              </a:lnSpc>
            </a:pPr>
            <a:r>
              <a:rPr sz="2000" b="0">
                <a:solidFill>
                  <a:srgbClr val="333333"/>
                </a:solidFill>
                <a:latin typeface="Calibri"/>
              </a:rPr>
              <a:t>Emotion tagging labels affective tone in discrete classes such as happy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4.17 — Transcription on a customer service call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4.17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4.17 shows a call-center transcript task</a:t>
            </a:r>
          </a:p>
          <a:p>
            <a:pPr lvl="0" marL="457200" indent="-228600">
              <a:buFont typeface="Calibri"/>
              <a:spcAft>
                <a:spcPts val="1000"/>
              </a:spcAft>
              <a:buSzPct val="100000"/>
              <a:buChar char="•"/>
              <a:lnSpc>
                <a:spcPts val="2200"/>
              </a:lnSpc>
            </a:pPr>
            <a:r>
              <a:rPr sz="2000" b="0">
                <a:solidFill>
                  <a:srgbClr val="333333"/>
                </a:solidFill>
                <a:latin typeface="Calibri"/>
              </a:rPr>
              <a:t>Annotators listen to a call and produce a time-aligned transcript used to train automatic</a:t>
            </a:r>
          </a:p>
          <a:p>
            <a:pPr lvl="0" marL="457200" indent="-228600">
              <a:buFont typeface="Calibri"/>
              <a:spcAft>
                <a:spcPts val="1000"/>
              </a:spcAft>
              <a:buSzPct val="100000"/>
              <a:buChar char="•"/>
              <a:lnSpc>
                <a:spcPts val="2200"/>
              </a:lnSpc>
            </a:pPr>
            <a:r>
              <a:rPr sz="2000" b="0">
                <a:solidFill>
                  <a:srgbClr val="333333"/>
                </a:solidFill>
                <a:latin typeface="Calibri"/>
              </a:rPr>
              <a:t>Alignment quality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Video annotation techniques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Video annotation combines spatial and temporal labeling and is costly because objects and</a:t>
            </a:r>
          </a:p>
          <a:p>
            <a:pPr lvl="0" marL="457200" indent="-228600">
              <a:buFont typeface="Calibri"/>
              <a:spcAft>
                <a:spcPts val="1000"/>
              </a:spcAft>
              <a:buSzPct val="100000"/>
              <a:buChar char="•"/>
              <a:lnSpc>
                <a:spcPts val="2200"/>
              </a:lnSpc>
            </a:pPr>
            <a:r>
              <a:rPr sz="2000" b="0">
                <a:solidFill>
                  <a:srgbClr val="333333"/>
                </a:solidFill>
                <a:latin typeface="Calibri"/>
              </a:rPr>
              <a:t>Frame-by-frame labeling annotates objects in successive frames for detection and tracking</a:t>
            </a:r>
          </a:p>
          <a:p>
            <a:pPr lvl="0" marL="457200" indent="-228600">
              <a:buFont typeface="Calibri"/>
              <a:spcAft>
                <a:spcPts val="1000"/>
              </a:spcAft>
              <a:buSzPct val="100000"/>
              <a:buChar char="•"/>
              <a:lnSpc>
                <a:spcPts val="2200"/>
              </a:lnSpc>
            </a:pPr>
            <a:r>
              <a:rPr sz="2000" b="0">
                <a:solidFill>
                  <a:srgbClr val="333333"/>
                </a:solidFill>
                <a:latin typeface="Calibri"/>
              </a:rPr>
              <a:t>Activity recognition labels clip-level behaviors</a:t>
            </a:r>
          </a:p>
          <a:p>
            <a:pPr lvl="0" marL="457200" indent="-228600">
              <a:buFont typeface="Calibri"/>
              <a:spcAft>
                <a:spcPts val="1000"/>
              </a:spcAft>
              <a:buSzPct val="100000"/>
              <a:buChar char="•"/>
              <a:lnSpc>
                <a:spcPts val="2200"/>
              </a:lnSpc>
            </a:pPr>
            <a:r>
              <a:rPr sz="2000" b="0">
                <a:solidFill>
                  <a:srgbClr val="333333"/>
                </a:solidFill>
                <a:latin typeface="Calibri"/>
              </a:rPr>
              <a:t>Production programs often separate dense tracks from lighter activity tags to control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4.21 — Frame-by-frame labeling on video</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4.21 shows surveillance-style classes</a:t>
            </a:r>
          </a:p>
          <a:p>
            <a:pPr lvl="0" marL="457200" indent="-228600">
              <a:buFont typeface="Calibri"/>
              <a:spcAft>
                <a:spcPts val="1000"/>
              </a:spcAft>
              <a:buSzPct val="100000"/>
              <a:buChar char="•"/>
              <a:lnSpc>
                <a:spcPts val="2200"/>
              </a:lnSpc>
            </a:pPr>
            <a:r>
              <a:rPr sz="2000" b="0">
                <a:solidFill>
                  <a:srgbClr val="333333"/>
                </a:solidFill>
                <a:latin typeface="Calibri"/>
              </a:rPr>
              <a:t>In surveillance video</a:t>
            </a:r>
          </a:p>
          <a:p>
            <a:pPr lvl="0" marL="457200" indent="-228600">
              <a:buFont typeface="Calibri"/>
              <a:spcAft>
                <a:spcPts val="1000"/>
              </a:spcAft>
              <a:buSzPct val="100000"/>
              <a:buChar char="•"/>
              <a:lnSpc>
                <a:spcPts val="2200"/>
              </a:lnSpc>
            </a:pPr>
            <a:r>
              <a:rPr sz="2000" b="0">
                <a:solidFill>
                  <a:srgbClr val="333333"/>
                </a:solidFill>
                <a:latin typeface="Calibri"/>
              </a:rPr>
              <a:t>Temporal consistency across frames is a QC concern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Tabular data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Tabular annotation assigns labels to rows</a:t>
            </a:r>
          </a:p>
          <a:p>
            <a:pPr lvl="0" marL="457200" indent="-228600">
              <a:buFont typeface="Calibri"/>
              <a:spcAft>
                <a:spcPts val="1000"/>
              </a:spcAft>
              <a:buSzPct val="100000"/>
              <a:buChar char="•"/>
              <a:lnSpc>
                <a:spcPts val="2200"/>
              </a:lnSpc>
            </a:pPr>
            <a:r>
              <a:rPr sz="2000" b="0">
                <a:solidFill>
                  <a:srgbClr val="333333"/>
                </a:solidFill>
                <a:latin typeface="Calibri"/>
              </a:rPr>
              <a:t>Categorization maps rows to discrete classes</a:t>
            </a:r>
          </a:p>
          <a:p>
            <a:pPr lvl="0" marL="457200" indent="-228600">
              <a:buFont typeface="Calibri"/>
              <a:spcAft>
                <a:spcPts val="1000"/>
              </a:spcAft>
              <a:buSzPct val="100000"/>
              <a:buChar char="•"/>
              <a:lnSpc>
                <a:spcPts val="2200"/>
              </a:lnSpc>
            </a:pPr>
            <a:r>
              <a:rPr sz="2000" b="0">
                <a:solidFill>
                  <a:srgbClr val="333333"/>
                </a:solidFill>
                <a:latin typeface="Calibri"/>
              </a:rPr>
              <a:t>Labeling outliers marks anomalous rows for fraud or quality review when positives are rare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4.24 — Categorization on tabular rows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4.24 shows customer-value bands</a:t>
            </a:r>
          </a:p>
          <a:p>
            <a:pPr lvl="0" marL="457200" indent="-228600">
              <a:buFont typeface="Calibri"/>
              <a:spcAft>
                <a:spcPts val="1000"/>
              </a:spcAft>
              <a:buSzPct val="100000"/>
              <a:buChar char="•"/>
              <a:lnSpc>
                <a:spcPts val="2200"/>
              </a:lnSpc>
            </a:pPr>
            <a:r>
              <a:rPr sz="2000" b="0">
                <a:solidFill>
                  <a:srgbClr val="333333"/>
                </a:solidFill>
                <a:latin typeface="Calibri"/>
              </a:rPr>
              <a:t>In a customer database</a:t>
            </a:r>
          </a:p>
          <a:p>
            <a:pPr lvl="0" marL="457200" indent="-228600">
              <a:buFont typeface="Calibri"/>
              <a:spcAft>
                <a:spcPts val="1000"/>
              </a:spcAft>
              <a:buSzPct val="100000"/>
              <a:buChar char="•"/>
              <a:lnSpc>
                <a:spcPts val="2200"/>
              </a:lnSpc>
            </a:pPr>
            <a:r>
              <a:rPr sz="2000" b="0">
                <a:solidFill>
                  <a:srgbClr val="333333"/>
                </a:solidFill>
                <a:latin typeface="Calibri"/>
              </a:rPr>
              <a:t>The schema must define thresholds and tie-break rules so annotators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Audio work aligns text, speakers, or affect with time</a:t>
            </a:r>
          </a:p>
          <a:p>
            <a:pPr lvl="0" marL="457200" indent="-228600">
              <a:buFont typeface="Calibri"/>
              <a:spcAft>
                <a:spcPts val="1000"/>
              </a:spcAft>
              <a:buSzPct val="100000"/>
              <a:buChar char="•"/>
              <a:lnSpc>
                <a:spcPts val="2200"/>
              </a:lnSpc>
            </a:pPr>
            <a:r>
              <a:rPr sz="2000" b="0">
                <a:solidFill>
                  <a:srgbClr val="333333"/>
                </a:solidFill>
                <a:latin typeface="Calibri"/>
              </a:rPr>
              <a:t>Video adds temporal cost to spatial labels and often mixes tracks with activity tags</a:t>
            </a:r>
          </a:p>
          <a:p>
            <a:pPr lvl="0" marL="457200" indent="-228600">
              <a:buFont typeface="Calibri"/>
              <a:spcAft>
                <a:spcPts val="1000"/>
              </a:spcAft>
              <a:buSzPct val="100000"/>
              <a:buChar char="•"/>
              <a:lnSpc>
                <a:spcPts val="2200"/>
              </a:lnSpc>
            </a:pPr>
            <a:r>
              <a:rPr sz="2000" b="0">
                <a:solidFill>
                  <a:srgbClr val="333333"/>
                </a:solidFill>
                <a:latin typeface="Calibri"/>
              </a:rPr>
              <a:t>Tabular labels include class bands and outlier flags for classification and fraud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Crowdsourced workflows with their trade-offs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Compare manual, semi-automated, fully automated</a:t>
            </a:r>
          </a:p>
          <a:p>
            <a:pPr lvl="0" marL="457200" indent="-228600">
              <a:buFont typeface="Calibri"/>
              <a:spcAft>
                <a:spcPts val="1000"/>
              </a:spcAft>
              <a:buSzPct val="100000"/>
              <a:buChar char="•"/>
              <a:lnSpc>
                <a:spcPts val="2200"/>
              </a:lnSpc>
            </a:pPr>
            <a:r>
              <a:rPr sz="2000" b="0">
                <a:solidFill>
                  <a:srgbClr val="333333"/>
                </a:solidFill>
                <a:latin typeface="Calibri"/>
              </a:rPr>
              <a:t>Crowdsourced annotation on throughput and risk, summarize the trade-offs in Table 4.2</a:t>
            </a:r>
          </a:p>
          <a:p>
            <a:pPr lvl="0" marL="457200" indent="-228600">
              <a:buFont typeface="Calibri"/>
              <a:spcAft>
                <a:spcPts val="1000"/>
              </a:spcAft>
              <a:buSzPct val="100000"/>
              <a:buChar char="•"/>
              <a:lnSpc>
                <a:spcPts val="2200"/>
              </a:lnSpc>
            </a:pPr>
            <a:r>
              <a:rPr sz="2000" b="0">
                <a:solidFill>
                  <a:srgbClr val="333333"/>
                </a:solidFill>
                <a:latin typeface="Calibri"/>
              </a:rPr>
              <a:t>Describe active learning and majority-vote patterns as practical workflow choices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Technique trade-offs (Table 4.2)</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Annotation is labor-intensive</a:t>
            </a:r>
          </a:p>
          <a:p>
            <a:pPr lvl="0" marL="457200" indent="-228600">
              <a:buFont typeface="Calibri"/>
              <a:spcAft>
                <a:spcPts val="1000"/>
              </a:spcAft>
              <a:buSzPct val="100000"/>
              <a:buChar char="•"/>
              <a:lnSpc>
                <a:spcPts val="2200"/>
              </a:lnSpc>
            </a:pPr>
            <a:r>
              <a:rPr sz="2000" b="0">
                <a:solidFill>
                  <a:srgbClr val="333333"/>
                </a:solidFill>
                <a:latin typeface="Calibri"/>
              </a:rPr>
              <a:t>Table 4.2 summarizes four approaches</a:t>
            </a:r>
          </a:p>
          <a:p>
            <a:pPr lvl="0" marL="457200" indent="-228600">
              <a:buFont typeface="Calibri"/>
              <a:spcAft>
                <a:spcPts val="1000"/>
              </a:spcAft>
              <a:buSzPct val="100000"/>
              <a:buChar char="•"/>
              <a:lnSpc>
                <a:spcPts val="2200"/>
              </a:lnSpc>
            </a:pPr>
            <a:r>
              <a:rPr sz="2000" b="0">
                <a:solidFill>
                  <a:srgbClr val="333333"/>
                </a:solidFill>
                <a:latin typeface="Calibri"/>
              </a:rPr>
              <a:t>Manual annotation handles ambiguity and domain nuance but offers low throughput and</a:t>
            </a:r>
          </a:p>
          <a:p>
            <a:pPr lvl="0" marL="457200" indent="-228600">
              <a:buFont typeface="Calibri"/>
              <a:spcAft>
                <a:spcPts val="1000"/>
              </a:spcAft>
              <a:buSzPct val="100000"/>
              <a:buChar char="•"/>
              <a:lnSpc>
                <a:spcPts val="2200"/>
              </a:lnSpc>
            </a:pPr>
            <a:r>
              <a:rPr sz="2000" b="0">
                <a:solidFill>
                  <a:srgbClr val="333333"/>
                </a:solidFill>
                <a:latin typeface="Calibri"/>
              </a:rPr>
              <a:t>Semi-automated labeling is faster when humans review model proposals but risks</a:t>
            </a:r>
          </a:p>
          <a:p>
            <a:pPr lvl="0" marL="457200" indent="-228600">
              <a:buFont typeface="Calibri"/>
              <a:spcAft>
                <a:spcPts val="1000"/>
              </a:spcAft>
              <a:buSzPct val="100000"/>
              <a:buChar char="•"/>
              <a:lnSpc>
                <a:spcPts val="2200"/>
              </a:lnSpc>
            </a:pPr>
            <a:r>
              <a:rPr sz="2000" b="0">
                <a:solidFill>
                  <a:srgbClr val="333333"/>
                </a:solidFill>
                <a:latin typeface="Calibri"/>
              </a:rPr>
              <a:t>Fully automated pipelines scale at low marginal cost yet inherit skew and silent errors</a:t>
            </a:r>
          </a:p>
          <a:p>
            <a:pPr lvl="0" marL="457200" indent="-228600">
              <a:buFont typeface="Calibri"/>
              <a:spcAft>
                <a:spcPts val="1000"/>
              </a:spcAft>
              <a:buSzPct val="100000"/>
              <a:buChar char="•"/>
              <a:lnSpc>
                <a:spcPts val="2200"/>
              </a:lnSpc>
            </a:pPr>
            <a:r>
              <a:rPr sz="2000" b="0">
                <a:solidFill>
                  <a:srgbClr val="333333"/>
                </a:solidFill>
                <a:latin typeface="Calibri"/>
              </a:rPr>
              <a:t>Crowdsourcing enables rapid scale for simple schemas but introduces worker variance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Manual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Ambiguity, or domain expertise matter more than throughput</a:t>
            </a:r>
          </a:p>
          <a:p>
            <a:pPr lvl="0" marL="457200" indent="-228600">
              <a:buFont typeface="Calibri"/>
              <a:spcAft>
                <a:spcPts val="1000"/>
              </a:spcAft>
              <a:buSzPct val="100000"/>
              <a:buChar char="•"/>
              <a:lnSpc>
                <a:spcPts val="2200"/>
              </a:lnSpc>
            </a:pPr>
            <a:r>
              <a:rPr sz="2000" b="0">
                <a:solidFill>
                  <a:srgbClr val="333333"/>
                </a:solidFill>
                <a:latin typeface="Calibri"/>
              </a:rPr>
              <a:t>Humans handle occlusion, sarcasm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4.26 — Manual sentiment ambiguity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4.26 shows a sentiment edge case</a:t>
            </a:r>
          </a:p>
          <a:p>
            <a:pPr lvl="0" marL="457200" indent="-228600">
              <a:buFont typeface="Calibri"/>
              <a:spcAft>
                <a:spcPts val="1000"/>
              </a:spcAft>
              <a:buSzPct val="100000"/>
              <a:buChar char="•"/>
              <a:lnSpc>
                <a:spcPts val="2200"/>
              </a:lnSpc>
            </a:pPr>
            <a:r>
              <a:rPr sz="2000" b="0">
                <a:solidFill>
                  <a:srgbClr val="333333"/>
                </a:solidFill>
                <a:latin typeface="Calibri"/>
              </a:rPr>
              <a:t>A sentence such as “That was quite a disaster</a:t>
            </a:r>
          </a:p>
          <a:p>
            <a:pPr lvl="0" marL="457200" indent="-228600">
              <a:buFont typeface="Calibri"/>
              <a:spcAft>
                <a:spcPts val="1000"/>
              </a:spcAft>
              <a:buSzPct val="100000"/>
              <a:buChar char="•"/>
              <a:lnSpc>
                <a:spcPts val="2200"/>
              </a:lnSpc>
            </a:pPr>
            <a:r>
              <a:rPr sz="2000" b="0">
                <a:solidFill>
                  <a:srgbClr val="333333"/>
                </a:solidFill>
                <a:latin typeface="Calibri"/>
              </a:rPr>
              <a:t>A brittle keyword rule may miss that tone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Semi-automated and active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Semi-automated annotation combines human review with model-generated proposals</a:t>
            </a:r>
          </a:p>
          <a:p>
            <a:pPr lvl="0" marL="457200" indent="-228600">
              <a:buFont typeface="Calibri"/>
              <a:spcAft>
                <a:spcPts val="1000"/>
              </a:spcAft>
              <a:buSzPct val="100000"/>
              <a:buChar char="•"/>
              <a:lnSpc>
                <a:spcPts val="2200"/>
              </a:lnSpc>
            </a:pPr>
            <a:r>
              <a:rPr sz="2000" b="0">
                <a:solidFill>
                  <a:srgbClr val="333333"/>
                </a:solidFill>
                <a:latin typeface="Calibri"/>
              </a:rPr>
              <a:t>A pre-trained detector may suggest boxes or entity spans</a:t>
            </a:r>
          </a:p>
          <a:p>
            <a:pPr lvl="0" marL="457200" indent="-228600">
              <a:buFont typeface="Calibri"/>
              <a:spcAft>
                <a:spcPts val="1000"/>
              </a:spcAft>
              <a:buSzPct val="100000"/>
              <a:buChar char="•"/>
              <a:lnSpc>
                <a:spcPts val="2200"/>
              </a:lnSpc>
            </a:pPr>
            <a:r>
              <a:rPr sz="2000" b="0">
                <a:solidFill>
                  <a:srgbClr val="333333"/>
                </a:solidFill>
                <a:latin typeface="Calibri"/>
              </a:rPr>
              <a:t>Active learning prioritizes labeling for the most uncertain items so human effort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4.27 — Active learning queue for text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4.27 shows a typical queueing pattern</a:t>
            </a:r>
          </a:p>
          <a:p>
            <a:pPr lvl="0" marL="457200" indent="-228600">
              <a:buFont typeface="Calibri"/>
              <a:spcAft>
                <a:spcPts val="1000"/>
              </a:spcAft>
              <a:buSzPct val="100000"/>
              <a:buChar char="•"/>
              <a:lnSpc>
                <a:spcPts val="2200"/>
              </a:lnSpc>
            </a:pPr>
            <a:r>
              <a:rPr sz="2000" b="0">
                <a:solidFill>
                  <a:srgbClr val="333333"/>
                </a:solidFill>
                <a:latin typeface="Calibri"/>
              </a:rPr>
              <a:t>In text classification</a:t>
            </a:r>
          </a:p>
          <a:p>
            <a:pPr lvl="0" marL="457200" indent="-228600">
              <a:buFont typeface="Calibri"/>
              <a:spcAft>
                <a:spcPts val="1000"/>
              </a:spcAft>
              <a:buSzPct val="100000"/>
              <a:buChar char="•"/>
              <a:lnSpc>
                <a:spcPts val="2200"/>
              </a:lnSpc>
            </a:pPr>
            <a:r>
              <a:rPr sz="2000" b="0">
                <a:solidFill>
                  <a:srgbClr val="333333"/>
                </a:solidFill>
                <a:latin typeface="Calibri"/>
              </a:rPr>
              <a:t>Active learning reduces label volume but still requires monitoring for bias introduced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Fully automated and crowdsourced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Fully automated pipelines label data without per-item human review</a:t>
            </a:r>
          </a:p>
          <a:p>
            <a:pPr lvl="0" marL="457200" indent="-228600">
              <a:buFont typeface="Calibri"/>
              <a:spcAft>
                <a:spcPts val="1000"/>
              </a:spcAft>
              <a:buSzPct val="100000"/>
              <a:buChar char="•"/>
              <a:lnSpc>
                <a:spcPts val="2200"/>
              </a:lnSpc>
            </a:pPr>
            <a:r>
              <a:rPr sz="2000" b="0">
                <a:solidFill>
                  <a:srgbClr val="333333"/>
                </a:solidFill>
                <a:latin typeface="Calibri"/>
              </a:rPr>
              <a:t>Automated labelers inherit training-data skew</a:t>
            </a:r>
          </a:p>
          <a:p>
            <a:pPr lvl="0" marL="457200" indent="-228600">
              <a:buFont typeface="Calibri"/>
              <a:spcAft>
                <a:spcPts val="1000"/>
              </a:spcAft>
              <a:buSzPct val="100000"/>
              <a:buChar char="•"/>
              <a:lnSpc>
                <a:spcPts val="2200"/>
              </a:lnSpc>
            </a:pPr>
            <a:r>
              <a:rPr sz="2000" b="0">
                <a:solidFill>
                  <a:srgbClr val="333333"/>
                </a:solidFill>
                <a:latin typeface="Calibri"/>
              </a:rPr>
              <a:t>Crowdsourcing distributes micro-tasks to many workers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4.28 — Majority vote on crowdsourced sentiment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4.28 shows a simple redundancy pattern</a:t>
            </a:r>
          </a:p>
          <a:p>
            <a:pPr lvl="0" marL="457200" indent="-228600">
              <a:buFont typeface="Calibri"/>
              <a:spcAft>
                <a:spcPts val="1000"/>
              </a:spcAft>
              <a:buSzPct val="100000"/>
              <a:buChar char="•"/>
              <a:lnSpc>
                <a:spcPts val="2200"/>
              </a:lnSpc>
            </a:pPr>
            <a:r>
              <a:rPr sz="2000" b="0">
                <a:solidFill>
                  <a:srgbClr val="333333"/>
                </a:solidFill>
                <a:latin typeface="Calibri"/>
              </a:rPr>
              <a:t>Three workers label the same review as positive, positive, and negative</a:t>
            </a:r>
          </a:p>
          <a:p>
            <a:pPr lvl="0" marL="457200" indent="-228600">
              <a:buFont typeface="Calibri"/>
              <a:spcAft>
                <a:spcPts val="1000"/>
              </a:spcAft>
              <a:buSzPct val="100000"/>
              <a:buChar char="•"/>
              <a:lnSpc>
                <a:spcPts val="2200"/>
              </a:lnSpc>
            </a:pPr>
            <a:r>
              <a:rPr sz="2000" b="0">
                <a:solidFill>
                  <a:srgbClr val="333333"/>
                </a:solidFill>
                <a:latin typeface="Calibri"/>
              </a:rPr>
              <a:t>Crowdsourcing scales quickly but needs gold items, worker qualification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Match technique to ambiguity, throughput, and ethics, not to habit</a:t>
            </a:r>
          </a:p>
          <a:p>
            <a:pPr lvl="0" marL="457200" indent="-228600">
              <a:buFont typeface="Calibri"/>
              <a:spcAft>
                <a:spcPts val="1000"/>
              </a:spcAft>
              <a:buSzPct val="100000"/>
              <a:buChar char="•"/>
              <a:lnSpc>
                <a:spcPts val="2200"/>
              </a:lnSpc>
            </a:pPr>
            <a:r>
              <a:rPr sz="2000" b="0">
                <a:solidFill>
                  <a:srgbClr val="333333"/>
                </a:solidFill>
                <a:latin typeface="Calibri"/>
              </a:rPr>
              <a:t>Table 4.2 pairs each approach with its primary risk</a:t>
            </a:r>
          </a:p>
          <a:p>
            <a:pPr lvl="0" marL="457200" indent="-228600">
              <a:buFont typeface="Calibri"/>
              <a:spcAft>
                <a:spcPts val="1000"/>
              </a:spcAft>
              <a:buSzPct val="100000"/>
              <a:buChar char="•"/>
              <a:lnSpc>
                <a:spcPts val="2200"/>
              </a:lnSpc>
            </a:pPr>
            <a:r>
              <a:rPr sz="2000" b="0">
                <a:solidFill>
                  <a:srgbClr val="333333"/>
                </a:solidFill>
                <a:latin typeface="Calibri"/>
              </a:rPr>
              <a:t>Combine workflows only when shared QC gates keep volume from eroding accuracy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A minimal object-detection workflow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representative open-source and commercial annotation tools</a:t>
            </a:r>
          </a:p>
          <a:p>
            <a:pPr lvl="0" marL="457200" indent="-228600">
              <a:buFont typeface="Calibri"/>
              <a:spcAft>
                <a:spcPts val="1000"/>
              </a:spcAft>
              <a:buSzPct val="100000"/>
              <a:buChar char="•"/>
              <a:lnSpc>
                <a:spcPts val="2200"/>
              </a:lnSpc>
            </a:pPr>
            <a:r>
              <a:rPr sz="2000" b="0">
                <a:solidFill>
                  <a:srgbClr val="333333"/>
                </a:solidFill>
                <a:latin typeface="Calibri"/>
              </a:rPr>
              <a:t>Outline a minimal bounding-box workflow suitable for small detection projects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Open-source annotation tools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Open-source tools suit research teams and pilots that need customization without license</a:t>
            </a:r>
          </a:p>
          <a:p>
            <a:pPr lvl="0" marL="457200" indent="-228600">
              <a:buFont typeface="Calibri"/>
              <a:spcAft>
                <a:spcPts val="1000"/>
              </a:spcAft>
              <a:buSzPct val="100000"/>
              <a:buChar char="•"/>
              <a:lnSpc>
                <a:spcPts val="2200"/>
              </a:lnSpc>
            </a:pPr>
            <a:r>
              <a:rPr sz="2000" b="0">
                <a:solidFill>
                  <a:srgbClr val="333333"/>
                </a:solidFill>
                <a:latin typeface="Calibri"/>
              </a:rPr>
              <a:t>Common in small object-detection projects tied to benchmarks such as PASCAL VOC and COCO</a:t>
            </a:r>
          </a:p>
          <a:p>
            <a:pPr lvl="0" marL="457200" indent="-228600">
              <a:buFont typeface="Calibri"/>
              <a:spcAft>
                <a:spcPts val="1000"/>
              </a:spcAft>
              <a:buSzPct val="100000"/>
              <a:buChar char="•"/>
              <a:lnSpc>
                <a:spcPts val="2200"/>
              </a:lnSpc>
            </a:pPr>
            <a:r>
              <a:rPr sz="2000" b="0">
                <a:solidFill>
                  <a:srgbClr val="333333"/>
                </a:solidFill>
                <a:latin typeface="Calibri"/>
              </a:rPr>
              <a:t>Label Studio supports text, image, audio</a:t>
            </a:r>
          </a:p>
          <a:p>
            <a:pPr lvl="0" marL="457200" indent="-228600">
              <a:buFont typeface="Calibri"/>
              <a:spcAft>
                <a:spcPts val="1000"/>
              </a:spcAft>
              <a:buSzPct val="100000"/>
              <a:buChar char="•"/>
              <a:lnSpc>
                <a:spcPts val="2200"/>
              </a:lnSpc>
            </a:pPr>
            <a:r>
              <a:rPr sz="2000" b="0">
                <a:solidFill>
                  <a:srgbClr val="333333"/>
                </a:solidFill>
                <a:latin typeface="Calibri"/>
              </a:rPr>
              <a:t>Team workflows for larger vision efforts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Commercial annotation platforms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Commercial platforms add managed workforces, service-level agreements</a:t>
            </a:r>
          </a:p>
          <a:p>
            <a:pPr lvl="0" marL="457200" indent="-228600">
              <a:buFont typeface="Calibri"/>
              <a:spcAft>
                <a:spcPts val="1000"/>
              </a:spcAft>
              <a:buSzPct val="100000"/>
              <a:buChar char="•"/>
              <a:lnSpc>
                <a:spcPts val="2200"/>
              </a:lnSpc>
            </a:pPr>
            <a:r>
              <a:rPr sz="2000" b="0">
                <a:solidFill>
                  <a:srgbClr val="333333"/>
                </a:solidFill>
                <a:latin typeface="Calibri"/>
              </a:rPr>
              <a:t>Vendors such as Scale AI and Appen combine tooling with contracted annotators</a:t>
            </a:r>
          </a:p>
          <a:p>
            <a:pPr lvl="0" marL="457200" indent="-228600">
              <a:buFont typeface="Calibri"/>
              <a:spcAft>
                <a:spcPts val="1000"/>
              </a:spcAft>
              <a:buSzPct val="100000"/>
              <a:buChar char="•"/>
              <a:lnSpc>
                <a:spcPts val="2200"/>
              </a:lnSpc>
            </a:pPr>
            <a:r>
              <a:rPr sz="2000" b="0">
                <a:solidFill>
                  <a:srgbClr val="333333"/>
                </a:solidFill>
                <a:latin typeface="Calibri"/>
              </a:rPr>
              <a:t>NLP-focused products such as Prodigy emphasize tight active-learning loops for text</a:t>
            </a:r>
          </a:p>
          <a:p>
            <a:pPr lvl="0" marL="457200" indent="-228600">
              <a:buFont typeface="Calibri"/>
              <a:spcAft>
                <a:spcPts val="1000"/>
              </a:spcAft>
              <a:buSzPct val="100000"/>
              <a:buChar char="•"/>
              <a:lnSpc>
                <a:spcPts val="2200"/>
              </a:lnSpc>
            </a:pPr>
            <a:r>
              <a:rPr sz="2000" b="0">
                <a:solidFill>
                  <a:srgbClr val="333333"/>
                </a:solidFill>
                <a:latin typeface="Calibri"/>
              </a:rPr>
              <a:t>Product names change quickly</a:t>
            </a:r>
          </a:p>
          <a:p>
            <a:pPr lvl="0" marL="457200" indent="-228600">
              <a:buFont typeface="Calibri"/>
              <a:spcAft>
                <a:spcPts val="1000"/>
              </a:spcAft>
              <a:buSzPct val="100000"/>
              <a:buChar char="•"/>
              <a:lnSpc>
                <a:spcPts val="2200"/>
              </a:lnSpc>
            </a:pPr>
            <a:r>
              <a:rPr sz="2000" b="0">
                <a:solidFill>
                  <a:srgbClr val="333333"/>
                </a:solidFill>
                <a:latin typeface="Calibri"/>
              </a:rPr>
              <a:t>Many teams prototype in open-source tools and move to commercial platforms when scale 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required platform features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Match the tool to modality and workflow</a:t>
            </a:r>
          </a:p>
          <a:p>
            <a:pPr lvl="0" marL="457200" indent="-228600">
              <a:buFont typeface="Calibri"/>
              <a:spcAft>
                <a:spcPts val="1000"/>
              </a:spcAft>
              <a:buSzPct val="100000"/>
              <a:buChar char="•"/>
              <a:lnSpc>
                <a:spcPts val="2200"/>
              </a:lnSpc>
            </a:pPr>
            <a:r>
              <a:rPr sz="2000" b="0">
                <a:solidFill>
                  <a:srgbClr val="333333"/>
                </a:solidFill>
                <a:latin typeface="Calibri"/>
              </a:rPr>
              <a:t>Also check collaboration, export formats, API hooks for pre-labeling</a:t>
            </a:r>
          </a:p>
          <a:p>
            <a:pPr lvl="0" marL="457200" indent="-228600">
              <a:buFont typeface="Calibri"/>
              <a:spcAft>
                <a:spcPts val="1000"/>
              </a:spcAft>
              <a:buSzPct val="100000"/>
              <a:buChar char="•"/>
              <a:lnSpc>
                <a:spcPts val="2200"/>
              </a:lnSpc>
            </a:pPr>
            <a:r>
              <a:rPr sz="2000" b="0">
                <a:solidFill>
                  <a:srgbClr val="333333"/>
                </a:solidFill>
                <a:latin typeface="Calibri"/>
              </a:rPr>
              <a:t>Hooks for quality review such as duplicate labeling or adjudication queues</a:t>
            </a:r>
          </a:p>
          <a:p>
            <a:pPr lvl="0" marL="457200" indent="-228600">
              <a:buFont typeface="Calibri"/>
              <a:spcAft>
                <a:spcPts val="1000"/>
              </a:spcAft>
              <a:buSzPct val="100000"/>
              <a:buChar char="•"/>
              <a:lnSpc>
                <a:spcPts val="2200"/>
              </a:lnSpc>
            </a:pPr>
            <a:r>
              <a:rPr sz="2000" b="0">
                <a:solidFill>
                  <a:srgbClr val="333333"/>
                </a:solidFill>
                <a:latin typeface="Calibri"/>
              </a:rPr>
              <a:t>If a candidate tool lacks those four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4.29 — LabelImg box-label workflow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4.29 summarizes a minimal LabelImg path for object detection</a:t>
            </a:r>
          </a:p>
          <a:p>
            <a:pPr lvl="0" marL="457200" indent="-228600">
              <a:buFont typeface="Calibri"/>
              <a:spcAft>
                <a:spcPts val="1000"/>
              </a:spcAft>
              <a:buSzPct val="100000"/>
              <a:buChar char="•"/>
              <a:lnSpc>
                <a:spcPts val="2200"/>
              </a:lnSpc>
            </a:pPr>
            <a:r>
              <a:rPr sz="2000" b="0">
                <a:solidFill>
                  <a:srgbClr val="333333"/>
                </a:solidFill>
                <a:latin typeface="Calibri"/>
              </a:rPr>
              <a:t>Save VOC-compatible XML for downstream training</a:t>
            </a:r>
          </a:p>
          <a:p>
            <a:pPr lvl="0" marL="457200" indent="-228600">
              <a:buFont typeface="Calibri"/>
              <a:spcAft>
                <a:spcPts val="1000"/>
              </a:spcAft>
              <a:buSzPct val="100000"/>
              <a:buChar char="•"/>
              <a:lnSpc>
                <a:spcPts val="2200"/>
              </a:lnSpc>
            </a:pPr>
            <a:r>
              <a:rPr sz="2000" b="0">
                <a:solidFill>
                  <a:srgbClr val="333333"/>
                </a:solidFill>
                <a:latin typeface="Calibri"/>
              </a:rPr>
              <a:t>Before scaling, review a handful of exports to confirm class names, box tightness</a:t>
            </a:r>
          </a:p>
          <a:p>
            <a:pPr lvl="0" marL="457200" indent="-228600">
              <a:buFont typeface="Calibri"/>
              <a:spcAft>
                <a:spcPts val="1000"/>
              </a:spcAft>
              <a:buSzPct val="100000"/>
              <a:buChar char="•"/>
              <a:lnSpc>
                <a:spcPts val="2200"/>
              </a:lnSpc>
            </a:pPr>
            <a:r>
              <a:rPr sz="2000" b="0">
                <a:solidFill>
                  <a:srgbClr val="333333"/>
                </a:solidFill>
                <a:latin typeface="Calibri"/>
              </a:rPr>
              <a:t>The same export-check habit applies to other box editors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tools for your program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Selection depends on modality, scale, integration with machine learning workflows</a:t>
            </a:r>
          </a:p>
          <a:p>
            <a:pPr lvl="0" marL="457200" indent="-228600">
              <a:buFont typeface="Calibri"/>
              <a:spcAft>
                <a:spcPts val="1000"/>
              </a:spcAft>
              <a:buSzPct val="100000"/>
              <a:buChar char="•"/>
              <a:lnSpc>
                <a:spcPts val="2200"/>
              </a:lnSpc>
            </a:pPr>
            <a:r>
              <a:rPr sz="2000" b="0">
                <a:solidFill>
                  <a:srgbClr val="333333"/>
                </a:solidFill>
                <a:latin typeface="Calibri"/>
              </a:rPr>
              <a:t>Open-source options favor customization and bring-your-own annotators</a:t>
            </a:r>
          </a:p>
          <a:p>
            <a:pPr lvl="0" marL="457200" indent="-228600">
              <a:buFont typeface="Calibri"/>
              <a:spcAft>
                <a:spcPts val="1000"/>
              </a:spcAft>
              <a:buSzPct val="100000"/>
              <a:buChar char="•"/>
              <a:lnSpc>
                <a:spcPts val="2200"/>
              </a:lnSpc>
            </a:pPr>
            <a:r>
              <a:rPr sz="2000" b="0">
                <a:solidFill>
                  <a:srgbClr val="333333"/>
                </a:solidFill>
                <a:latin typeface="Calibri"/>
              </a:rPr>
              <a:t>The right choice is the one that supports your schema, collaboration model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LabelImg, Label Studio, and CVAT cover common research and vision needs</a:t>
            </a:r>
          </a:p>
          <a:p>
            <a:pPr lvl="0" marL="457200" indent="-228600">
              <a:buFont typeface="Calibri"/>
              <a:spcAft>
                <a:spcPts val="1000"/>
              </a:spcAft>
              <a:buSzPct val="100000"/>
              <a:buChar char="•"/>
              <a:lnSpc>
                <a:spcPts val="2200"/>
              </a:lnSpc>
            </a:pPr>
            <a:r>
              <a:rPr sz="2000" b="0">
                <a:solidFill>
                  <a:srgbClr val="333333"/>
                </a:solidFill>
                <a:latin typeface="Calibri"/>
              </a:rPr>
              <a:t>Require schema validation, collaboration, versioned exports, and QC hooks</a:t>
            </a:r>
          </a:p>
          <a:p>
            <a:pPr lvl="0" marL="457200" indent="-228600">
              <a:buFont typeface="Calibri"/>
              <a:spcAft>
                <a:spcPts val="1000"/>
              </a:spcAft>
              <a:buSzPct val="100000"/>
              <a:buChar char="•"/>
              <a:lnSpc>
                <a:spcPts val="2200"/>
              </a:lnSpc>
            </a:pPr>
            <a:r>
              <a:rPr sz="2000" b="0">
                <a:solidFill>
                  <a:srgbClr val="333333"/>
                </a:solidFill>
                <a:latin typeface="Calibri"/>
              </a:rPr>
              <a:t>Always audit a small export batch before labeling thousands of images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Annotator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frequent annotation failure modes</a:t>
            </a:r>
          </a:p>
          <a:p>
            <a:pPr lvl="0" marL="457200" indent="-228600">
              <a:buFont typeface="Calibri"/>
              <a:spcAft>
                <a:spcPts val="1000"/>
              </a:spcAft>
              <a:buSzPct val="100000"/>
              <a:buChar char="•"/>
              <a:lnSpc>
                <a:spcPts val="2200"/>
              </a:lnSpc>
            </a:pPr>
            <a:r>
              <a:rPr sz="2000" b="0">
                <a:solidFill>
                  <a:srgbClr val="333333"/>
                </a:solidFill>
                <a:latin typeface="Calibri"/>
              </a:rPr>
              <a:t>Describe training habits that sustain label quality during long projects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quality control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Label quality bounds model performance in supervised learning</a:t>
            </a:r>
          </a:p>
          <a:p>
            <a:pPr lvl="0" marL="457200" indent="-228600">
              <a:buFont typeface="Calibri"/>
              <a:spcAft>
                <a:spcPts val="1000"/>
              </a:spcAft>
              <a:buSzPct val="100000"/>
              <a:buChar char="•"/>
              <a:lnSpc>
                <a:spcPts val="2200"/>
              </a:lnSpc>
            </a:pPr>
            <a:r>
              <a:rPr sz="2000" b="0">
                <a:solidFill>
                  <a:srgbClr val="333333"/>
                </a:solidFill>
                <a:latin typeface="Calibri"/>
              </a:rPr>
              <a:t>Inconsistent or missing labels teach the wrong decision boundaries</a:t>
            </a:r>
          </a:p>
          <a:p>
            <a:pPr lvl="0" marL="457200" indent="-228600">
              <a:buFont typeface="Calibri"/>
              <a:spcAft>
                <a:spcPts val="1000"/>
              </a:spcAft>
              <a:buSzPct val="100000"/>
              <a:buChar char="•"/>
              <a:lnSpc>
                <a:spcPts val="2200"/>
              </a:lnSpc>
            </a:pPr>
            <a:r>
              <a:rPr sz="2000" b="0">
                <a:solidFill>
                  <a:srgbClr val="333333"/>
                </a:solidFill>
                <a:latin typeface="Calibri"/>
              </a:rPr>
              <a:t>Quality control is therefore part of dataset governance, not optional polish</a:t>
            </a:r>
          </a:p>
          <a:p>
            <a:pPr lvl="0" marL="457200" indent="-228600">
              <a:buFont typeface="Calibri"/>
              <a:spcAft>
                <a:spcPts val="1000"/>
              </a:spcAft>
              <a:buSzPct val="100000"/>
              <a:buChar char="•"/>
              <a:lnSpc>
                <a:spcPts val="2200"/>
              </a:lnSpc>
            </a:pPr>
            <a:r>
              <a:rPr sz="2000" b="0">
                <a:solidFill>
                  <a:srgbClr val="333333"/>
                </a:solidFill>
                <a:latin typeface="Calibri"/>
              </a:rPr>
              <a:t>Annotator training before and during full-scale labeling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annotation errors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Subjective bias in sentiment or toxicity labels</a:t>
            </a:r>
          </a:p>
          <a:p>
            <a:pPr lvl="0" marL="457200" indent="-228600">
              <a:buFont typeface="Calibri"/>
              <a:spcAft>
                <a:spcPts val="1000"/>
              </a:spcAft>
              <a:buSzPct val="100000"/>
              <a:buChar char="•"/>
              <a:lnSpc>
                <a:spcPts val="2200"/>
              </a:lnSpc>
            </a:pPr>
            <a:r>
              <a:rPr sz="2000" b="0">
                <a:solidFill>
                  <a:srgbClr val="333333"/>
                </a:solidFill>
                <a:latin typeface="Calibri"/>
              </a:rPr>
              <a:t>Guidelines with positive and negative examples reduce but do not eliminate these errors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4.30 — Inconsistent class names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4.30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4.30 shows a naming inconsistency that looks minor but splits the class signal</a:t>
            </a:r>
          </a:p>
          <a:p>
            <a:pPr lvl="0" marL="457200" indent="-228600">
              <a:buFont typeface="Calibri"/>
              <a:spcAft>
                <a:spcPts val="1000"/>
              </a:spcAft>
              <a:buSzPct val="100000"/>
              <a:buChar char="•"/>
              <a:lnSpc>
                <a:spcPts val="2200"/>
              </a:lnSpc>
            </a:pPr>
            <a:r>
              <a:rPr sz="2000" b="0">
                <a:solidFill>
                  <a:srgbClr val="333333"/>
                </a:solidFill>
                <a:latin typeface="Calibri"/>
              </a:rPr>
              <a:t>One annotator tags pets as “dog” while another uses “puppy” for young dogs</a:t>
            </a:r>
          </a:p>
          <a:p>
            <a:pPr lvl="0" marL="457200" indent="-228600">
              <a:buFont typeface="Calibri"/>
              <a:spcAft>
                <a:spcPts val="1000"/>
              </a:spcAft>
              <a:buSzPct val="100000"/>
              <a:buChar char="•"/>
              <a:lnSpc>
                <a:spcPts val="2200"/>
              </a:lnSpc>
            </a:pPr>
            <a:r>
              <a:rPr sz="2000" b="0">
                <a:solidFill>
                  <a:srgbClr val="333333"/>
                </a:solidFill>
                <a:latin typeface="Calibri"/>
              </a:rPr>
              <a:t>Without a guideline that collapses those strings to one class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`modules/chapter4/example30/`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Inter-annotator agreement (Table 4.4)</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Inter-annotator agreement measures consistency among annotators labeling the same items</a:t>
            </a:r>
          </a:p>
          <a:p>
            <a:pPr lvl="0" marL="457200" indent="-228600">
              <a:buFont typeface="Calibri"/>
              <a:spcAft>
                <a:spcPts val="1000"/>
              </a:spcAft>
              <a:buSzPct val="100000"/>
              <a:buChar char="•"/>
              <a:lnSpc>
                <a:spcPts val="2200"/>
              </a:lnSpc>
            </a:pPr>
            <a:r>
              <a:rPr sz="2000" b="0">
                <a:solidFill>
                  <a:srgbClr val="333333"/>
                </a:solidFill>
                <a:latin typeface="Calibri"/>
              </a:rPr>
              <a:t>High agreement supports reliable guidelines and usable gold labels</a:t>
            </a:r>
          </a:p>
          <a:p>
            <a:pPr lvl="0" marL="457200" indent="-228600">
              <a:buFont typeface="Calibri"/>
              <a:spcAft>
                <a:spcPts val="1000"/>
              </a:spcAft>
              <a:buSzPct val="100000"/>
              <a:buChar char="•"/>
              <a:lnSpc>
                <a:spcPts val="2200"/>
              </a:lnSpc>
            </a:pPr>
            <a:r>
              <a:rPr sz="2000" b="0">
                <a:solidFill>
                  <a:srgbClr val="333333"/>
                </a:solidFill>
                <a:latin typeface="Calibri"/>
              </a:rPr>
              <a:t>Table 4.4 summarizes common chance-corrected coefficients</a:t>
            </a:r>
          </a:p>
          <a:p>
            <a:pPr lvl="0" marL="457200" indent="-228600">
              <a:buFont typeface="Calibri"/>
              <a:spcAft>
                <a:spcPts val="1000"/>
              </a:spcAft>
              <a:buSzPct val="100000"/>
              <a:buChar char="•"/>
              <a:lnSpc>
                <a:spcPts val="2200"/>
              </a:lnSpc>
            </a:pPr>
            <a:r>
              <a:rPr sz="2000" b="0">
                <a:solidFill>
                  <a:srgbClr val="333333"/>
                </a:solidFill>
                <a:latin typeface="Calibri"/>
              </a:rPr>
              <a:t>Cohen’s kappa suits two raters on nominal labels</a:t>
            </a:r>
          </a:p>
          <a:p>
            <a:pPr lvl="0" marL="457200" indent="-228600">
              <a:buFont typeface="Calibri"/>
              <a:spcAft>
                <a:spcPts val="1000"/>
              </a:spcAft>
              <a:buSzPct val="100000"/>
              <a:buChar char="•"/>
              <a:lnSpc>
                <a:spcPts val="2200"/>
              </a:lnSpc>
            </a:pPr>
            <a:r>
              <a:rPr sz="2000" b="0">
                <a:solidFill>
                  <a:srgbClr val="333333"/>
                </a:solidFill>
                <a:latin typeface="Calibri"/>
              </a:rPr>
              <a:t>Fleiss’ kappa extends the idea to more than two raters</a:t>
            </a:r>
          </a:p>
          <a:p>
            <a:pPr lvl="0" marL="457200" indent="-228600">
              <a:buFont typeface="Calibri"/>
              <a:spcAft>
                <a:spcPts val="1000"/>
              </a:spcAft>
              <a:buSzPct val="100000"/>
              <a:buChar char="•"/>
              <a:lnSpc>
                <a:spcPts val="2200"/>
              </a:lnSpc>
            </a:pPr>
            <a:r>
              <a:rPr sz="2000" b="0">
                <a:solidFill>
                  <a:srgbClr val="333333"/>
                </a:solidFill>
                <a:latin typeface="Calibri"/>
              </a:rPr>
              <a:t>Krippendorff’s alpha handles ordinal or mixed levels and missing ratings with flexible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4.31 — Low kappa triggers guideline revision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4.31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4.31 shows how low agreement should stop a scale-up rather than be ignored</a:t>
            </a:r>
          </a:p>
          <a:p>
            <a:pPr lvl="0" marL="457200" indent="-228600">
              <a:buFont typeface="Calibri"/>
              <a:spcAft>
                <a:spcPts val="1000"/>
              </a:spcAft>
              <a:buSzPct val="100000"/>
              <a:buChar char="•"/>
              <a:lnSpc>
                <a:spcPts val="2200"/>
              </a:lnSpc>
            </a:pPr>
            <a:r>
              <a:rPr sz="2000" b="0">
                <a:solidFill>
                  <a:srgbClr val="333333"/>
                </a:solidFill>
                <a:latin typeface="Calibri"/>
              </a:rPr>
              <a:t>On a named-entity pilot</a:t>
            </a:r>
          </a:p>
          <a:p>
            <a:pPr lvl="0" marL="457200" indent="-228600">
              <a:buFont typeface="Calibri"/>
              <a:spcAft>
                <a:spcPts val="1000"/>
              </a:spcAft>
              <a:buSzPct val="100000"/>
              <a:buChar char="•"/>
              <a:lnSpc>
                <a:spcPts val="2200"/>
              </a:lnSpc>
            </a:pPr>
            <a:r>
              <a:rPr sz="2000" b="0">
                <a:solidFill>
                  <a:srgbClr val="333333"/>
                </a:solidFill>
                <a:latin typeface="Calibri"/>
              </a:rPr>
              <a:t>The team revises examples and re-trains before labeling the full corpus</a:t>
            </a:r>
          </a:p>
          <a:p>
            <a:pPr lvl="0" marL="457200" indent="-228600">
              <a:buFont typeface="Calibri"/>
              <a:spcAft>
                <a:spcPts val="1000"/>
              </a:spcAft>
              <a:buSzPct val="100000"/>
              <a:buChar char="•"/>
              <a:lnSpc>
                <a:spcPts val="2200"/>
              </a:lnSpc>
            </a:pPr>
            <a:r>
              <a:rPr sz="2000" b="0">
                <a:solidFill>
                  <a:srgbClr val="333333"/>
                </a:solidFill>
                <a:latin typeface="Calibri"/>
              </a:rPr>
              <a:t>Clear instructions, calibration rounds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`modules/chapter4/example31/`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Gold-set audit metrics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Inter-annotator agreement measures agreement among annotators</a:t>
            </a:r>
          </a:p>
          <a:p>
            <a:pPr lvl="0" marL="457200" indent="-228600">
              <a:buFont typeface="Calibri"/>
              <a:spcAft>
                <a:spcPts val="1000"/>
              </a:spcAft>
              <a:buSzPct val="100000"/>
              <a:buChar char="•"/>
              <a:lnSpc>
                <a:spcPts val="2200"/>
              </a:lnSpc>
            </a:pPr>
            <a:r>
              <a:rPr sz="2000" b="0">
                <a:solidFill>
                  <a:srgbClr val="333333"/>
                </a:solidFill>
                <a:latin typeface="Calibri"/>
              </a:rPr>
              <a:t>After adjudication, teams track label-level precision and recall on an audit 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4.32 — Annotator audit versus model test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4.32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4.32 separates labeler metrics from model test scores</a:t>
            </a:r>
          </a:p>
          <a:p>
            <a:pPr lvl="0" marL="457200" indent="-228600">
              <a:buFont typeface="Calibri"/>
              <a:spcAft>
                <a:spcPts val="1000"/>
              </a:spcAft>
              <a:buSzPct val="100000"/>
              <a:buChar char="•"/>
              <a:lnSpc>
                <a:spcPts val="2200"/>
              </a:lnSpc>
            </a:pPr>
            <a:r>
              <a:rPr sz="2000" b="0">
                <a:solidFill>
                  <a:srgbClr val="333333"/>
                </a:solidFill>
                <a:latin typeface="Calibri"/>
              </a:rPr>
              <a:t>On a held-out review batch</a:t>
            </a:r>
          </a:p>
          <a:p>
            <a:pPr lvl="0" marL="457200" indent="-228600">
              <a:buFont typeface="Calibri"/>
              <a:spcAft>
                <a:spcPts val="1000"/>
              </a:spcAft>
              <a:buSzPct val="100000"/>
              <a:buChar char="•"/>
              <a:lnSpc>
                <a:spcPts val="2200"/>
              </a:lnSpc>
            </a:pPr>
            <a:r>
              <a:rPr sz="2000" b="0">
                <a:solidFill>
                  <a:srgbClr val="333333"/>
                </a:solidFill>
                <a:latin typeface="Calibri"/>
              </a:rPr>
              <a:t>Those figures evaluate the labeler, not the detector trained later on the released corpus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`modules/chapter4/example32/`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Training annotators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Train annotators with written guidelines, worked examples</a:t>
            </a:r>
          </a:p>
          <a:p>
            <a:pPr lvl="0" marL="457200" indent="-228600">
              <a:buFont typeface="Calibri"/>
              <a:spcAft>
                <a:spcPts val="1000"/>
              </a:spcAft>
              <a:buSzPct val="100000"/>
              <a:buChar char="•"/>
              <a:lnSpc>
                <a:spcPts val="2200"/>
              </a:lnSpc>
            </a:pPr>
            <a:r>
              <a:rPr sz="2000" b="0">
                <a:solidFill>
                  <a:srgbClr val="333333"/>
                </a:solidFill>
                <a:latin typeface="Calibri"/>
              </a:rPr>
              <a:t>Regular feedback sessions and spot audits keep drift in check</a:t>
            </a:r>
          </a:p>
          <a:p>
            <a:pPr lvl="0" marL="457200" indent="-228600">
              <a:buFont typeface="Calibri"/>
              <a:spcAft>
                <a:spcPts val="1000"/>
              </a:spcAft>
              <a:buSzPct val="100000"/>
              <a:buChar char="•"/>
              <a:lnSpc>
                <a:spcPts val="2200"/>
              </a:lnSpc>
            </a:pPr>
            <a:r>
              <a:rPr sz="2000" b="0">
                <a:solidFill>
                  <a:srgbClr val="333333"/>
                </a:solidFill>
                <a:latin typeface="Calibri"/>
              </a:rPr>
              <a:t>Specialist programs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Fix class-name hygiene, missed instances, and subjective drift with guidelines plus audits</a:t>
            </a:r>
          </a:p>
          <a:p>
            <a:pPr lvl="0" marL="457200" indent="-228600">
              <a:buFont typeface="Calibri"/>
              <a:spcAft>
                <a:spcPts val="1000"/>
              </a:spcAft>
              <a:buSzPct val="100000"/>
              <a:buChar char="•"/>
              <a:lnSpc>
                <a:spcPts val="2200"/>
              </a:lnSpc>
            </a:pPr>
            <a:r>
              <a:rPr sz="2000" b="0">
                <a:solidFill>
                  <a:srgbClr val="333333"/>
                </a:solidFill>
                <a:latin typeface="Calibri"/>
              </a:rPr>
              <a:t>Use IAA to decide whether to scale</a:t>
            </a:r>
          </a:p>
          <a:p>
            <a:pPr lvl="0" marL="457200" indent="-228600">
              <a:buFont typeface="Calibri"/>
              <a:spcAft>
                <a:spcPts val="1000"/>
              </a:spcAft>
              <a:buSzPct val="100000"/>
              <a:buChar char="•"/>
              <a:lnSpc>
                <a:spcPts val="2200"/>
              </a:lnSpc>
            </a:pPr>
            <a:r>
              <a:rPr sz="2000" b="0">
                <a:solidFill>
                  <a:srgbClr val="333333"/>
                </a:solidFill>
                <a:latin typeface="Calibri"/>
              </a:rPr>
              <a:t>Train, calibrate, and re-audit after any guideline or tool change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throughput bottlenecks in large labeling programs</a:t>
            </a:r>
          </a:p>
          <a:p>
            <a:pPr lvl="0" marL="457200" indent="-228600">
              <a:buFont typeface="Calibri"/>
              <a:spcAft>
                <a:spcPts val="1000"/>
              </a:spcAft>
              <a:buSzPct val="100000"/>
              <a:buChar char="•"/>
              <a:lnSpc>
                <a:spcPts val="2200"/>
              </a:lnSpc>
            </a:pPr>
            <a:r>
              <a:rPr sz="2000" b="0">
                <a:solidFill>
                  <a:srgbClr val="333333"/>
                </a:solidFill>
                <a:latin typeface="Calibri"/>
              </a:rPr>
              <a:t>Explain why rare classes need expert validation and targeted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Scale and throughput bottlenecks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Large vision and language models can require millions of labeled instances</a:t>
            </a:r>
          </a:p>
          <a:p>
            <a:pPr lvl="0" marL="457200" indent="-228600">
              <a:buFont typeface="Calibri"/>
              <a:spcAft>
                <a:spcPts val="1000"/>
              </a:spcAft>
              <a:buSzPct val="100000"/>
              <a:buChar char="•"/>
              <a:lnSpc>
                <a:spcPts val="2200"/>
              </a:lnSpc>
            </a:pPr>
            <a:r>
              <a:rPr sz="2000" b="0">
                <a:solidFill>
                  <a:srgbClr val="333333"/>
                </a:solidFill>
                <a:latin typeface="Calibri"/>
              </a:rPr>
              <a:t>Common responses reuse workflows from earlier sections</a:t>
            </a:r>
          </a:p>
          <a:p>
            <a:pPr lvl="0" marL="457200" indent="-228600">
              <a:buFont typeface="Calibri"/>
              <a:spcAft>
                <a:spcPts val="1000"/>
              </a:spcAft>
              <a:buSzPct val="100000"/>
              <a:buChar char="•"/>
              <a:lnSpc>
                <a:spcPts val="2200"/>
              </a:lnSpc>
            </a:pPr>
            <a:r>
              <a:rPr sz="2000" b="0">
                <a:solidFill>
                  <a:srgbClr val="333333"/>
                </a:solidFill>
                <a:latin typeface="Calibri"/>
              </a:rPr>
              <a:t>Each speed-up still needs the quality-control gates from the previous part so volume does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in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in annotation can skew labels and propagate into models</a:t>
            </a:r>
          </a:p>
          <a:p>
            <a:pPr lvl="0" marL="457200" indent="-228600">
              <a:buFont typeface="Calibri"/>
              <a:spcAft>
                <a:spcPts val="1000"/>
              </a:spcAft>
              <a:buSzPct val="100000"/>
              <a:buChar char="•"/>
              <a:lnSpc>
                <a:spcPts val="2200"/>
              </a:lnSpc>
            </a:pPr>
            <a:r>
              <a:rPr sz="2000" b="0">
                <a:solidFill>
                  <a:srgbClr val="333333"/>
                </a:solidFill>
                <a:latin typeface="Calibri"/>
              </a:rPr>
              <a:t>The focus here is labeler and guideline failure modes that create biased training data</a:t>
            </a:r>
          </a:p>
          <a:p>
            <a:pPr lvl="0" marL="457200" indent="-228600">
              <a:buFont typeface="Calibri"/>
              <a:spcAft>
                <a:spcPts val="1000"/>
              </a:spcAft>
              <a:buSzPct val="100000"/>
              <a:buChar char="•"/>
              <a:lnSpc>
                <a:spcPts val="2200"/>
              </a:lnSpc>
            </a:pPr>
            <a:r>
              <a:rPr sz="2000" b="0">
                <a:solidFill>
                  <a:srgbClr val="333333"/>
                </a:solidFill>
                <a:latin typeface="Calibri"/>
              </a:rPr>
              <a:t>Annotator bias, unrepresentative sampling</a:t>
            </a:r>
          </a:p>
          <a:p>
            <a:pPr lvl="0" marL="457200" indent="-228600">
              <a:buFont typeface="Calibri"/>
              <a:spcAft>
                <a:spcPts val="1000"/>
              </a:spcAft>
              <a:buSzPct val="100000"/>
              <a:buChar char="•"/>
              <a:lnSpc>
                <a:spcPts val="2200"/>
              </a:lnSpc>
            </a:pPr>
            <a:r>
              <a:rPr sz="2000" b="0">
                <a:solidFill>
                  <a:srgbClr val="333333"/>
                </a:solidFill>
                <a:latin typeface="Calibri"/>
              </a:rPr>
              <a:t>Human adjudication when automated suggestions disagree across demographic subgroups</a:t>
            </a:r>
          </a:p>
          <a:p>
            <a:pPr lvl="0" marL="457200" indent="-228600">
              <a:buFont typeface="Calibri"/>
              <a:spcAft>
                <a:spcPts val="1000"/>
              </a:spcAft>
              <a:buSzPct val="100000"/>
              <a:buChar char="•"/>
              <a:lnSpc>
                <a:spcPts val="2200"/>
              </a:lnSpc>
            </a:pPr>
            <a:r>
              <a:rPr sz="2000" b="0">
                <a:solidFill>
                  <a:srgbClr val="333333"/>
                </a:solidFill>
                <a:latin typeface="Calibri"/>
              </a:rPr>
              <a:t>Fairness metrics and deeper mitigation appear in Chapter 3 and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concerns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annotation raises ethical issues of fair compensation, privacy, and harmful labels</a:t>
            </a:r>
          </a:p>
          <a:p>
            <a:pPr lvl="0" marL="457200" indent="-228600">
              <a:buFont typeface="Calibri"/>
              <a:spcAft>
                <a:spcPts val="1000"/>
              </a:spcAft>
              <a:buSzPct val="100000"/>
              <a:buChar char="•"/>
              <a:lnSpc>
                <a:spcPts val="2200"/>
              </a:lnSpc>
            </a:pPr>
            <a:r>
              <a:rPr sz="2000" b="0">
                <a:solidFill>
                  <a:srgbClr val="333333"/>
                </a:solidFill>
                <a:latin typeface="Calibri"/>
              </a:rPr>
              <a:t>Crowdsourced marketplaces should pay fairly for task complexity, disclose payment rules</a:t>
            </a:r>
          </a:p>
          <a:p>
            <a:pPr lvl="0" marL="457200" indent="-228600">
              <a:buFont typeface="Calibri"/>
              <a:spcAft>
                <a:spcPts val="1000"/>
              </a:spcAft>
              <a:buSzPct val="100000"/>
              <a:buChar char="•"/>
              <a:lnSpc>
                <a:spcPts val="2200"/>
              </a:lnSpc>
            </a:pPr>
            <a:r>
              <a:rPr sz="2000" b="0">
                <a:solidFill>
                  <a:srgbClr val="333333"/>
                </a:solidFill>
                <a:latin typeface="Calibri"/>
              </a:rPr>
              <a:t>Label schemas for race</a:t>
            </a:r>
          </a:p>
          <a:p>
            <a:pPr lvl="0" marL="457200" indent="-228600">
              <a:buFont typeface="Calibri"/>
              <a:spcAft>
                <a:spcPts val="1000"/>
              </a:spcAft>
              <a:buSzPct val="100000"/>
              <a:buChar char="•"/>
              <a:lnSpc>
                <a:spcPts val="2200"/>
              </a:lnSpc>
            </a:pPr>
            <a:r>
              <a:rPr sz="2000" b="0">
                <a:solidFill>
                  <a:srgbClr val="333333"/>
                </a:solidFill>
                <a:latin typeface="Calibri"/>
              </a:rPr>
              <a:t>Chapter 3 supplies the broader ethics and privacy frame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Annotating rare events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Rare classes</a:t>
            </a:r>
          </a:p>
          <a:p>
            <a:pPr lvl="0" marL="457200" indent="-228600">
              <a:buFont typeface="Calibri"/>
              <a:spcAft>
                <a:spcPts val="1000"/>
              </a:spcAft>
              <a:buSzPct val="100000"/>
              <a:buChar char="•"/>
              <a:lnSpc>
                <a:spcPts val="2200"/>
              </a:lnSpc>
            </a:pPr>
            <a:r>
              <a:rPr sz="2000" b="0">
                <a:solidFill>
                  <a:srgbClr val="333333"/>
                </a:solidFill>
                <a:latin typeface="Calibri"/>
              </a:rPr>
              <a:t>Domain experts should validate gold sets</a:t>
            </a:r>
          </a:p>
          <a:p>
            <a:pPr lvl="0" marL="457200" indent="-228600">
              <a:buFont typeface="Calibri"/>
              <a:spcAft>
                <a:spcPts val="1000"/>
              </a:spcAft>
              <a:buSzPct val="100000"/>
              <a:buChar char="•"/>
              <a:lnSpc>
                <a:spcPts val="2200"/>
              </a:lnSpc>
            </a:pPr>
            <a:r>
              <a:rPr sz="2000" b="0">
                <a:solidFill>
                  <a:srgbClr val="333333"/>
                </a:solidFill>
                <a:latin typeface="Calibri"/>
              </a:rPr>
              <a:t>Rare-class work is where manual review and QC investment concentrate rather than where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Scale demands combined workflows, not blind volume</a:t>
            </a:r>
          </a:p>
          <a:p>
            <a:pPr lvl="0" marL="457200" indent="-228600">
              <a:buFont typeface="Calibri"/>
              <a:spcAft>
                <a:spcPts val="1000"/>
              </a:spcAft>
              <a:buSzPct val="100000"/>
              <a:buChar char="•"/>
              <a:lnSpc>
                <a:spcPts val="2200"/>
              </a:lnSpc>
            </a:pPr>
            <a:r>
              <a:rPr sz="2000" b="0">
                <a:solidFill>
                  <a:srgbClr val="333333"/>
                </a:solidFill>
                <a:latin typeface="Calibri"/>
              </a:rPr>
              <a:t>Bias enters through people, sampling</a:t>
            </a:r>
          </a:p>
          <a:p>
            <a:pPr lvl="0" marL="457200" indent="-228600">
              <a:buFont typeface="Calibri"/>
              <a:spcAft>
                <a:spcPts val="1000"/>
              </a:spcAft>
              <a:buSzPct val="100000"/>
              <a:buChar char="•"/>
              <a:lnSpc>
                <a:spcPts val="2200"/>
              </a:lnSpc>
            </a:pPr>
            <a:r>
              <a:rPr sz="2000" b="0">
                <a:solidFill>
                  <a:srgbClr val="333333"/>
                </a:solidFill>
                <a:latin typeface="Calibri"/>
              </a:rPr>
              <a:t>Ethics and rare classes both require expert gates before labels enter training pools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Emerging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annotation demands in autonomous driving and medical imaging</a:t>
            </a:r>
          </a:p>
          <a:p>
            <a:pPr lvl="0" marL="457200" indent="-228600">
              <a:buFont typeface="Calibri"/>
              <a:spcAft>
                <a:spcPts val="1000"/>
              </a:spcAft>
              <a:buSzPct val="100000"/>
              <a:buChar char="•"/>
              <a:lnSpc>
                <a:spcPts val="2200"/>
              </a:lnSpc>
            </a:pPr>
            <a:r>
              <a:rPr sz="2000" b="0">
                <a:solidFill>
                  <a:srgbClr val="333333"/>
                </a:solidFill>
                <a:latin typeface="Calibri"/>
              </a:rPr>
              <a:t>Recognize temporal and spatial consistency needs in emerging geospatial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Autonomous vehicles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Lane markings</a:t>
            </a:r>
          </a:p>
          <a:p>
            <a:pPr lvl="0" marL="457200" indent="-228600">
              <a:buFont typeface="Calibri"/>
              <a:spcAft>
                <a:spcPts val="1000"/>
              </a:spcAft>
              <a:buSzPct val="100000"/>
              <a:buChar char="•"/>
              <a:lnSpc>
                <a:spcPts val="2200"/>
              </a:lnSpc>
            </a:pPr>
            <a:r>
              <a:rPr sz="2000" b="0">
                <a:solidFill>
                  <a:srgbClr val="333333"/>
                </a:solidFill>
                <a:latin typeface="Calibri"/>
              </a:rPr>
              <a:t>Labels feed perception and planning stacks</a:t>
            </a:r>
          </a:p>
          <a:p>
            <a:pPr lvl="0" marL="457200" indent="-228600">
              <a:buFont typeface="Calibri"/>
              <a:spcAft>
                <a:spcPts val="1000"/>
              </a:spcAft>
              <a:buSzPct val="100000"/>
              <a:buChar char="•"/>
              <a:lnSpc>
                <a:spcPts val="2200"/>
              </a:lnSpc>
            </a:pPr>
            <a:r>
              <a:rPr sz="2000" b="0">
                <a:solidFill>
                  <a:srgbClr val="333333"/>
                </a:solidFill>
                <a:latin typeface="Calibri"/>
              </a:rPr>
              <a:t>Quality-control practices and geographic diversity in collection matter as much as volume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Healthcare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Medical imaging annotation marks lesions</a:t>
            </a:r>
          </a:p>
          <a:p>
            <a:pPr lvl="0" marL="457200" indent="-228600">
              <a:buFont typeface="Calibri"/>
              <a:spcAft>
                <a:spcPts val="1000"/>
              </a:spcAft>
              <a:buSzPct val="100000"/>
              <a:buChar char="•"/>
              <a:lnSpc>
                <a:spcPts val="2200"/>
              </a:lnSpc>
            </a:pPr>
            <a:r>
              <a:rPr sz="2000" b="0">
                <a:solidFill>
                  <a:srgbClr val="333333"/>
                </a:solidFill>
                <a:latin typeface="Calibri"/>
              </a:rPr>
              <a:t>Expert clinicians typically validate or produce gold labels</a:t>
            </a:r>
          </a:p>
          <a:p>
            <a:pPr lvl="0" marL="457200" indent="-228600">
              <a:buFont typeface="Calibri"/>
              <a:spcAft>
                <a:spcPts val="1000"/>
              </a:spcAft>
              <a:buSzPct val="100000"/>
              <a:buChar char="•"/>
              <a:lnSpc>
                <a:spcPts val="2200"/>
              </a:lnSpc>
            </a:pPr>
            <a:r>
              <a:rPr sz="2000" b="0">
                <a:solidFill>
                  <a:srgbClr val="333333"/>
                </a:solidFill>
                <a:latin typeface="Calibri"/>
              </a:rPr>
              <a:t>Privacy and consent constraints govern what can be labeled and shared</a:t>
            </a:r>
          </a:p>
          <a:p>
            <a:pPr lvl="0" marL="457200" indent="-228600">
              <a:buFont typeface="Calibri"/>
              <a:spcAft>
                <a:spcPts val="1000"/>
              </a:spcAft>
              <a:buSzPct val="100000"/>
              <a:buChar char="•"/>
              <a:lnSpc>
                <a:spcPts val="2200"/>
              </a:lnSpc>
            </a:pPr>
            <a:r>
              <a:rPr sz="2000" b="0">
                <a:solidFill>
                  <a:srgbClr val="333333"/>
                </a:solidFill>
                <a:latin typeface="Calibri"/>
              </a:rPr>
              <a:t>Segmentation precision often matters more than coarse boxes because boundary errors can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E-commerce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Retail catalogs use category and attribute labels for search, recommendations</a:t>
            </a:r>
          </a:p>
          <a:p>
            <a:pPr lvl="0" marL="457200" indent="-228600">
              <a:buFont typeface="Calibri"/>
              <a:spcAft>
                <a:spcPts val="1000"/>
              </a:spcAft>
              <a:buSzPct val="100000"/>
              <a:buChar char="•"/>
              <a:lnSpc>
                <a:spcPts val="2200"/>
              </a:lnSpc>
            </a:pPr>
            <a:r>
              <a:rPr sz="2000" b="0">
                <a:solidFill>
                  <a:srgbClr val="333333"/>
                </a:solidFill>
                <a:latin typeface="Calibri"/>
              </a:rPr>
              <a:t>Product taxonomies and review polarity labels must stay consistent across locales and</a:t>
            </a:r>
          </a:p>
          <a:p>
            <a:pPr lvl="0" marL="457200" indent="-228600">
              <a:buFont typeface="Calibri"/>
              <a:spcAft>
                <a:spcPts val="1000"/>
              </a:spcAft>
              <a:buSzPct val="100000"/>
              <a:buChar char="•"/>
              <a:lnSpc>
                <a:spcPts val="2200"/>
              </a:lnSpc>
            </a:pPr>
            <a:r>
              <a:rPr sz="2000" b="0">
                <a:solidFill>
                  <a:srgbClr val="333333"/>
                </a:solidFill>
                <a:latin typeface="Calibri"/>
              </a:rPr>
              <a:t>A shoe labeled “sneaker” in one locale and “trainer” in another without a mapped taxonomy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Emerging applications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Augmented reality needs spatially registered object labels so virtual content aligns with</a:t>
            </a:r>
          </a:p>
          <a:p>
            <a:pPr lvl="0" marL="457200" indent="-228600">
              <a:buFont typeface="Calibri"/>
              <a:spcAft>
                <a:spcPts val="1000"/>
              </a:spcAft>
              <a:buSzPct val="100000"/>
              <a:buChar char="•"/>
              <a:lnSpc>
                <a:spcPts val="2200"/>
              </a:lnSpc>
            </a:pPr>
            <a:r>
              <a:rPr sz="2000" b="0">
                <a:solidFill>
                  <a:srgbClr val="333333"/>
                </a:solidFill>
                <a:latin typeface="Calibri"/>
              </a:rPr>
              <a:t>Climate and remote-sensing workflows need geospatial segmentation over time series</a:t>
            </a:r>
          </a:p>
          <a:p>
            <a:pPr lvl="0" marL="457200" indent="-228600">
              <a:buFont typeface="Calibri"/>
              <a:spcAft>
                <a:spcPts val="1000"/>
              </a:spcAft>
              <a:buSzPct val="100000"/>
              <a:buChar char="•"/>
              <a:lnSpc>
                <a:spcPts val="2200"/>
              </a:lnSpc>
            </a:pPr>
            <a:r>
              <a:rPr sz="2000" b="0">
                <a:solidFill>
                  <a:srgbClr val="333333"/>
                </a:solidFill>
                <a:latin typeface="Calibri"/>
              </a:rPr>
              <a:t>Both stress temporal consistency and domain-expert review beyond single-frame box labeling</a:t>
            </a:r>
          </a:p>
          <a:p>
            <a:pPr lvl="0" marL="457200" indent="-228600">
              <a:buFont typeface="Calibri"/>
              <a:spcAft>
                <a:spcPts val="1000"/>
              </a:spcAft>
              <a:buSzPct val="100000"/>
              <a:buChar char="•"/>
              <a:lnSpc>
                <a:spcPts val="2200"/>
              </a:lnSpc>
            </a:pPr>
            <a:r>
              <a:rPr sz="2000" b="0">
                <a:solidFill>
                  <a:srgbClr val="333333"/>
                </a:solidFill>
                <a:latin typeface="Calibri"/>
              </a:rPr>
              <a:t>Emerging domains reuse the same modality techniques from earlier parts but raise the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Autonomous driving couples volume with safety-critical QC</a:t>
            </a:r>
          </a:p>
          <a:p>
            <a:pPr lvl="0" marL="457200" indent="-228600">
              <a:buFont typeface="Calibri"/>
              <a:spcAft>
                <a:spcPts val="1000"/>
              </a:spcAft>
              <a:buSzPct val="100000"/>
              <a:buChar char="•"/>
              <a:lnSpc>
                <a:spcPts val="2200"/>
              </a:lnSpc>
            </a:pPr>
            <a:r>
              <a:rPr sz="2000" b="0">
                <a:solidFill>
                  <a:srgbClr val="333333"/>
                </a:solidFill>
                <a:latin typeface="Calibri"/>
              </a:rPr>
              <a:t>Healthcare pairs expert gold labels with privacy governance</a:t>
            </a:r>
          </a:p>
          <a:p>
            <a:pPr lvl="0" marL="457200" indent="-228600">
              <a:buFont typeface="Calibri"/>
              <a:spcAft>
                <a:spcPts val="1000"/>
              </a:spcAft>
              <a:buSzPct val="100000"/>
              <a:buChar char="•"/>
              <a:lnSpc>
                <a:spcPts val="2200"/>
              </a:lnSpc>
            </a:pPr>
            <a:r>
              <a:rPr sz="2000" b="0">
                <a:solidFill>
                  <a:srgbClr val="333333"/>
                </a:solidFill>
                <a:latin typeface="Calibri"/>
              </a:rPr>
              <a:t>E-commerce needs stable taxonomies across locales</a:t>
            </a:r>
          </a:p>
          <a:p>
            <a:pPr lvl="0" marL="457200" indent="-228600">
              <a:buFont typeface="Calibri"/>
              <a:spcAft>
                <a:spcPts val="1000"/>
              </a:spcAft>
              <a:buSzPct val="100000"/>
              <a:buChar char="•"/>
              <a:lnSpc>
                <a:spcPts val="2200"/>
              </a:lnSpc>
            </a:pPr>
            <a:r>
              <a:rPr sz="2000" b="0">
                <a:solidFill>
                  <a:srgbClr val="333333"/>
                </a:solidFill>
                <a:latin typeface="Calibri"/>
              </a:rPr>
              <a:t>Emerging AR and geospatial work add temporal consistency to spatial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Pre-labeling as proposals rather than shortcuts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Draft guideline habits with positive and negative exemplars</a:t>
            </a:r>
          </a:p>
          <a:p>
            <a:pPr lvl="0" marL="457200" indent="-228600">
              <a:buFont typeface="Calibri"/>
              <a:spcAft>
                <a:spcPts val="1000"/>
              </a:spcAft>
              <a:buSzPct val="100000"/>
              <a:buChar char="•"/>
              <a:lnSpc>
                <a:spcPts val="2200"/>
              </a:lnSpc>
            </a:pPr>
            <a:r>
              <a:rPr sz="2000" b="0">
                <a:solidFill>
                  <a:srgbClr val="333333"/>
                </a:solidFill>
                <a:latin typeface="Calibri"/>
              </a:rPr>
              <a:t>Use pre-labeling only with audit thresholds met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Guidelines and exemplars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Strong annotation programs share a common skeleton</a:t>
            </a:r>
          </a:p>
          <a:p>
            <a:pPr lvl="0" marL="457200" indent="-228600">
              <a:buFont typeface="Calibri"/>
              <a:spcAft>
                <a:spcPts val="1000"/>
              </a:spcAft>
              <a:buSzPct val="100000"/>
              <a:buChar char="•"/>
              <a:lnSpc>
                <a:spcPts val="2200"/>
              </a:lnSpc>
            </a:pPr>
            <a:r>
              <a:rPr sz="2000" b="0">
                <a:solidFill>
                  <a:srgbClr val="333333"/>
                </a:solidFill>
                <a:latin typeface="Calibri"/>
              </a:rPr>
              <a:t>Guidelines specify class definitions, edge cases, and prohibited inferences</a:t>
            </a:r>
          </a:p>
          <a:p>
            <a:pPr lvl="0" marL="457200" indent="-228600">
              <a:buFont typeface="Calibri"/>
              <a:spcAft>
                <a:spcPts val="1000"/>
              </a:spcAft>
              <a:buSzPct val="100000"/>
              <a:buChar char="•"/>
              <a:lnSpc>
                <a:spcPts val="2200"/>
              </a:lnSpc>
            </a:pPr>
            <a:r>
              <a:rPr sz="2000" b="0">
                <a:solidFill>
                  <a:srgbClr val="333333"/>
                </a:solidFill>
                <a:latin typeface="Calibri"/>
              </a:rPr>
              <a:t>Include positive and negative examples for each label and document how to handle ambiguity</a:t>
            </a:r>
          </a:p>
          <a:p>
            <a:pPr lvl="0" marL="457200" indent="-228600">
              <a:buFont typeface="Calibri"/>
              <a:spcAft>
                <a:spcPts val="1000"/>
              </a:spcAft>
              <a:buSzPct val="100000"/>
              <a:buChar char="•"/>
              <a:lnSpc>
                <a:spcPts val="2200"/>
              </a:lnSpc>
            </a:pPr>
            <a:r>
              <a:rPr sz="2000" b="0">
                <a:solidFill>
                  <a:srgbClr val="333333"/>
                </a:solidFill>
                <a:latin typeface="Calibri"/>
              </a:rPr>
              <a:t>Version the guideline document when schemas change, retrain annotators on diffs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Feedback, audits, and drift checks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regular calibration sessions while labeling is active</a:t>
            </a:r>
          </a:p>
          <a:p>
            <a:pPr lvl="0" marL="457200" indent="-228600">
              <a:buFont typeface="Calibri"/>
              <a:spcAft>
                <a:spcPts val="1000"/>
              </a:spcAft>
              <a:buSzPct val="100000"/>
              <a:buChar char="•"/>
              <a:lnSpc>
                <a:spcPts val="2200"/>
              </a:lnSpc>
            </a:pPr>
            <a:r>
              <a:rPr sz="2000" b="0">
                <a:solidFill>
                  <a:srgbClr val="333333"/>
                </a:solidFill>
                <a:latin typeface="Calibri"/>
              </a:rPr>
              <a:t>Insert repeated gold items to detect drift over long projects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Diversity and bias reduction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Where labels encode social constructs such as sentiment</a:t>
            </a:r>
          </a:p>
          <a:p>
            <a:pPr lvl="0" marL="457200" indent="-228600">
              <a:buFont typeface="Calibri"/>
              <a:spcAft>
                <a:spcPts val="1000"/>
              </a:spcAft>
              <a:buSzPct val="100000"/>
              <a:buChar char="•"/>
              <a:lnSpc>
                <a:spcPts val="2200"/>
              </a:lnSpc>
            </a:pPr>
            <a:r>
              <a:rPr sz="2000" b="0">
                <a:solidFill>
                  <a:srgbClr val="333333"/>
                </a:solidFill>
                <a:latin typeface="Calibri"/>
              </a:rPr>
              <a:t>In practice: include diverse reviewers, test subgroup agreement</a:t>
            </a:r>
          </a:p>
          <a:p>
            <a:pPr lvl="0" marL="457200" indent="-228600">
              <a:buFont typeface="Calibri"/>
              <a:spcAft>
                <a:spcPts val="1000"/>
              </a:spcAft>
              <a:buSzPct val="100000"/>
              <a:buChar char="•"/>
              <a:lnSpc>
                <a:spcPts val="2200"/>
              </a:lnSpc>
            </a:pPr>
            <a:r>
              <a:rPr sz="2000" b="0">
                <a:solidFill>
                  <a:srgbClr val="333333"/>
                </a:solidFill>
                <a:latin typeface="Calibri"/>
              </a:rPr>
              <a:t>Diversity is not only a collection concern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Pre-labeling and effort reduction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pre-labeling to propose candidates</a:t>
            </a:r>
          </a:p>
          <a:p>
            <a:pPr lvl="0" marL="457200" indent="-228600">
              <a:buFont typeface="Calibri"/>
              <a:spcAft>
                <a:spcPts val="1000"/>
              </a:spcAft>
              <a:buSzPct val="100000"/>
              <a:buChar char="•"/>
              <a:lnSpc>
                <a:spcPts val="2200"/>
              </a:lnSpc>
            </a:pPr>
            <a:r>
              <a:rPr sz="2000" b="0">
                <a:solidFill>
                  <a:srgbClr val="333333"/>
                </a:solidFill>
                <a:latin typeface="Calibri"/>
              </a:rPr>
              <a:t>Combine active learning, pre-labeling</a:t>
            </a:r>
          </a:p>
          <a:p>
            <a:pPr lvl="0" marL="457200" indent="-228600">
              <a:buFont typeface="Calibri"/>
              <a:spcAft>
                <a:spcPts val="1000"/>
              </a:spcAft>
              <a:buSzPct val="100000"/>
              <a:buChar char="•"/>
              <a:lnSpc>
                <a:spcPts val="2200"/>
              </a:lnSpc>
            </a:pPr>
            <a:r>
              <a:rPr sz="2000" b="0">
                <a:solidFill>
                  <a:srgbClr val="333333"/>
                </a:solidFill>
                <a:latin typeface="Calibri"/>
              </a:rPr>
              <a:t>A model proposal accepted without correction is still a human decision and should appear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Versioned guidelines with inline exemplars anchor every labeler</a:t>
            </a:r>
          </a:p>
          <a:p>
            <a:pPr lvl="0" marL="457200" indent="-228600">
              <a:buFont typeface="Calibri"/>
              <a:spcAft>
                <a:spcPts val="1000"/>
              </a:spcAft>
              <a:buSzPct val="100000"/>
              <a:buChar char="•"/>
              <a:lnSpc>
                <a:spcPts val="2200"/>
              </a:lnSpc>
            </a:pPr>
            <a:r>
              <a:rPr sz="2000" b="0">
                <a:solidFill>
                  <a:srgbClr val="333333"/>
                </a:solidFill>
                <a:latin typeface="Calibri"/>
              </a:rPr>
              <a:t>Calibration, gold items, and re-audits catch drift after tool or schema changes</a:t>
            </a:r>
          </a:p>
          <a:p>
            <a:pPr lvl="0" marL="457200" indent="-228600">
              <a:buFont typeface="Calibri"/>
              <a:spcAft>
                <a:spcPts val="1000"/>
              </a:spcAft>
              <a:buSzPct val="100000"/>
              <a:buChar char="•"/>
              <a:lnSpc>
                <a:spcPts val="2200"/>
              </a:lnSpc>
            </a:pPr>
            <a:r>
              <a:rPr sz="2000" b="0">
                <a:solidFill>
                  <a:srgbClr val="333333"/>
                </a:solidFill>
                <a:latin typeface="Calibri"/>
              </a:rPr>
              <a:t>Pre-labeling saves time only when proposals stay under human review with measured error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bridge to data cleaning in Chapter 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AI-assisted and self-labeling workflows with human correction gates</a:t>
            </a:r>
          </a:p>
          <a:p>
            <a:pPr lvl="0" marL="457200" indent="-228600">
              <a:buFont typeface="Calibri"/>
              <a:spcAft>
                <a:spcPts val="1000"/>
              </a:spcAft>
              <a:buSzPct val="100000"/>
              <a:buChar char="•"/>
              <a:lnSpc>
                <a:spcPts val="2200"/>
              </a:lnSpc>
            </a:pPr>
            <a:r>
              <a:rPr sz="2000" b="0">
                <a:solidFill>
                  <a:srgbClr val="333333"/>
                </a:solidFill>
                <a:latin typeface="Calibri"/>
              </a:rPr>
              <a:t>State how Chapter 5 continues the dataset lifecycle after labeling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AI-assisted and self-labeling workflows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Humans correct errors before labels enter the training pool</a:t>
            </a:r>
          </a:p>
          <a:p>
            <a:pPr lvl="0" marL="457200" indent="-228600">
              <a:buFont typeface="Calibri"/>
              <a:spcAft>
                <a:spcPts val="1000"/>
              </a:spcAft>
              <a:buSzPct val="100000"/>
              <a:buChar char="•"/>
              <a:lnSpc>
                <a:spcPts val="2200"/>
              </a:lnSpc>
            </a:pPr>
            <a:r>
              <a:rPr sz="2000" b="0">
                <a:solidFill>
                  <a:srgbClr val="333333"/>
                </a:solidFill>
                <a:latin typeface="Calibri"/>
              </a:rPr>
              <a:t>Self-training and pseudo-labeling can scale further when confidence thresholds and audit</a:t>
            </a:r>
          </a:p>
          <a:p>
            <a:pPr lvl="0" marL="457200" indent="-228600">
              <a:buFont typeface="Calibri"/>
              <a:spcAft>
                <a:spcPts val="1000"/>
              </a:spcAft>
              <a:buSzPct val="100000"/>
              <a:buChar char="•"/>
              <a:lnSpc>
                <a:spcPts val="2200"/>
              </a:lnSpc>
            </a:pPr>
            <a:r>
              <a:rPr sz="2000" b="0">
                <a:solidFill>
                  <a:srgbClr val="333333"/>
                </a:solidFill>
                <a:latin typeface="Calibri"/>
              </a:rPr>
              <a:t>Unchecked self-labeling amplifies early mistakes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Synthetic and programmatic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Synthetic images or text can fill rare classes but must be validated against real</a:t>
            </a:r>
          </a:p>
          <a:p>
            <a:pPr lvl="0" marL="457200" indent="-228600">
              <a:buFont typeface="Calibri"/>
              <a:spcAft>
                <a:spcPts val="1000"/>
              </a:spcAft>
              <a:buSzPct val="100000"/>
              <a:buChar char="•"/>
              <a:lnSpc>
                <a:spcPts val="2200"/>
              </a:lnSpc>
            </a:pPr>
            <a:r>
              <a:rPr sz="2000" b="0">
                <a:solidFill>
                  <a:srgbClr val="333333"/>
                </a:solidFill>
                <a:latin typeface="Calibri"/>
              </a:rPr>
              <a:t>Weak supervision and labeling functions encode heuristics that humans later audit</a:t>
            </a:r>
          </a:p>
          <a:p>
            <a:pPr lvl="0" marL="457200" indent="-228600">
              <a:buFont typeface="Calibri"/>
              <a:spcAft>
                <a:spcPts val="1000"/>
              </a:spcAft>
              <a:buSzPct val="100000"/>
              <a:buChar char="•"/>
              <a:lnSpc>
                <a:spcPts val="2200"/>
              </a:lnSpc>
            </a:pPr>
            <a:r>
              <a:rPr sz="2000" b="0">
                <a:solidFill>
                  <a:srgbClr val="333333"/>
                </a:solidFill>
                <a:latin typeface="Calibri"/>
              </a:rPr>
              <a:t>Not replacements for adjudicated gold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Real-time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Streaming applications may label on the fly for monitoring</a:t>
            </a:r>
          </a:p>
          <a:p>
            <a:pPr lvl="0" marL="457200" indent="-228600">
              <a:buFont typeface="Calibri"/>
              <a:spcAft>
                <a:spcPts val="1000"/>
              </a:spcAft>
              <a:buSzPct val="100000"/>
              <a:buChar char="•"/>
              <a:lnSpc>
                <a:spcPts val="2200"/>
              </a:lnSpc>
            </a:pPr>
            <a:r>
              <a:rPr sz="2000" b="0">
                <a:solidFill>
                  <a:srgbClr val="333333"/>
                </a:solidFill>
                <a:latin typeface="Calibri"/>
              </a:rPr>
              <a:t>Bias risk if models or synthetic generators encode skew</a:t>
            </a:r>
          </a:p>
          <a:p>
            <a:pPr lvl="0" marL="457200" indent="-228600">
              <a:buFont typeface="Calibri"/>
              <a:spcAft>
                <a:spcPts val="1000"/>
              </a:spcAft>
              <a:buSzPct val="100000"/>
              <a:buChar char="•"/>
              <a:lnSpc>
                <a:spcPts val="2200"/>
              </a:lnSpc>
            </a:pPr>
            <a:r>
              <a:rPr sz="2000" b="0">
                <a:solidFill>
                  <a:srgbClr val="333333"/>
                </a:solidFill>
                <a:latin typeface="Calibri"/>
              </a:rPr>
              <a:t>Real-time speed is valuable only when governance keeps pace with the feed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 to Chapter 5</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Emerging directions that connect to ethics and bias</a:t>
            </a:r>
          </a:p>
          <a:p>
            <a:pPr lvl="0" marL="457200" indent="-228600">
              <a:buFont typeface="Calibri"/>
              <a:spcAft>
                <a:spcPts val="1000"/>
              </a:spcAft>
              <a:buSzPct val="100000"/>
              <a:buChar char="•"/>
              <a:lnSpc>
                <a:spcPts val="2200"/>
              </a:lnSpc>
            </a:pPr>
            <a:r>
              <a:rPr sz="2000" b="0">
                <a:solidFill>
                  <a:srgbClr val="333333"/>
                </a:solidFill>
                <a:latin typeface="Calibri"/>
              </a:rPr>
              <a:t>Chapter 5 turns to cleaning and preprocessing so labeled datasets become model-ready</a:t>
            </a:r>
          </a:p>
          <a:p>
            <a:pPr lvl="0" marL="457200" indent="-228600">
              <a:buFont typeface="Calibri"/>
              <a:spcAft>
                <a:spcPts val="1000"/>
              </a:spcAft>
              <a:buSzPct val="100000"/>
              <a:buChar char="•"/>
              <a:lnSpc>
                <a:spcPts val="2200"/>
              </a:lnSpc>
            </a:pPr>
            <a:r>
              <a:rPr sz="2000" b="0">
                <a:solidFill>
                  <a:srgbClr val="333333"/>
                </a:solidFill>
                <a:latin typeface="Calibri"/>
              </a:rPr>
              <a:t>When fairness of labels or models is the primary concern</a:t>
            </a:r>
          </a:p>
          <a:p>
            <a:pPr lvl="0" marL="457200" indent="-228600">
              <a:buFont typeface="Calibri"/>
              <a:spcAft>
                <a:spcPts val="1000"/>
              </a:spcAft>
              <a:buSzPct val="100000"/>
              <a:buChar char="•"/>
              <a:lnSpc>
                <a:spcPts val="2200"/>
              </a:lnSpc>
            </a:pPr>
            <a:r>
              <a:rPr sz="2000" b="0">
                <a:solidFill>
                  <a:srgbClr val="333333"/>
                </a:solidFill>
                <a:latin typeface="Calibri"/>
              </a:rPr>
              <a:t>Deeper treatment of active learning, weak supervision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AI-assisted, synthetic</a:t>
            </a:r>
          </a:p>
          <a:p>
            <a:pPr lvl="0" marL="457200" indent="-228600">
              <a:buFont typeface="Calibri"/>
              <a:spcAft>
                <a:spcPts val="1000"/>
              </a:spcAft>
              <a:buSzPct val="100000"/>
              <a:buChar char="•"/>
              <a:lnSpc>
                <a:spcPts val="2200"/>
              </a:lnSpc>
            </a:pPr>
            <a:r>
              <a:rPr sz="2000" b="0">
                <a:solidFill>
                  <a:srgbClr val="333333"/>
                </a:solidFill>
                <a:latin typeface="Calibri"/>
              </a:rPr>
              <a:t>Human correction gates and gold audits remain the release criterion</a:t>
            </a:r>
          </a:p>
          <a:p>
            <a:pPr lvl="0" marL="457200" indent="-228600">
              <a:buFont typeface="Calibri"/>
              <a:spcAft>
                <a:spcPts val="1000"/>
              </a:spcAft>
              <a:buSzPct val="100000"/>
              <a:buChar char="•"/>
              <a:lnSpc>
                <a:spcPts val="2200"/>
              </a:lnSpc>
            </a:pPr>
            <a:r>
              <a:rPr sz="2000" b="0">
                <a:solidFill>
                  <a:srgbClr val="333333"/>
                </a:solidFill>
                <a:latin typeface="Calibri"/>
              </a:rPr>
              <a:t>The next chapter asks how to clean and preprocess once labels exist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to finish Chapter 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Data Annotation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