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introduction showed what labeled data look like in each modality. This part turns to the label operations teams specify in guidelines: tokenization, sentiment, named entities, and part-of-speech for text; bounding boxes, segmentation, and landmarks for images.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common text annotation building blocks, contrast bounding boxes, segmentation masks, and landmarks as image formats, and match each technique to typical natural language processing and computer-vision tasks.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annotation supports classification, information extraction, and retrieval. Common building blocks include tokenization, sentiment tagging, named entity recognition, and part-of-speech tagging. Tokenization splits text into words, subwords, or characters as a prerequisite for most taggers. Sentiment tagging assigns polarity to spans or documents. Named entity recognition identifies and types entities such as people, organizations, and locations. Part-of-speech tagging assigns syntactic categories to tokens.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4.9 shows a simple word split. The sentence “AI is the future” may tokenize to a short list of word tokens that downstream taggers consume. Token boundaries affect every later label, so guidelines should specify whether punctuation is attached, how contractions are split, and whether casing is preserved. Open the example 9 module for this chapter to inspect the token list.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4.12 applies organization and location tags. In “Apple is headquartered in Cupertino,” the company span receives an organization type and the city span a location type. Subsidiary versus parent-brand boundaries are a frequent source of disagreement and are revisited under quality control. Open the example 12 module for this chapter to see the span schema.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annotation marks objects or regions for computer vision. Three frequent formats are bounding boxes, segmentation masks, and landmarks. Bounding boxes are axis-aligned rectangles around objects of interest and dominate many detection benchmarks. Segmentation assigns pixel-level or polygon labels and yields tighter boundaries than boxes, which matters in medical imaging and fine-grained scene parsing. Landmarking places keypoints on faces or bodies for recognition and pose estimation.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4.14 states the box format in a driving schema. In a self-driving corpus, rectangles may enclose cars, people, and road signs with a class label for each instance. Box tightness, occlusion handling, and consistent class names directly affect detector training. Open the example 14 module for this chapter to review a detection-oriented schema.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4.15 shows a clinical mask task. Annotators outline a tumor region on a scan so every pixel inside the contour receives the tumor class, enabling supervised segmentation training. Masks demand more effort per object than boxes but reward applications where boundary precision matters. Open the example 15 module for this chapter to compare mask labels with box labels.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pipelines combine tokenization with sentiment, entity, or syntactic tags. Image work chooses among boxes, masks, and landmarks based on task precision and cost. Format choice belongs in the guideline before scale-up, because relabeling is expensive.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audio, video, and tabular annotation—transcription, diarization, frame tracks, activity labels, and row-level classes.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4 — Text and image annotation</a:t>
            </a:r>
          </a:p>
          <a:p>
            <a:pPr algn="ctr">
              <a:lnSpc>
                <a:spcPts val="2200"/>
              </a:lnSpc>
              <a:spcBef>
                <a:spcPts val="1400"/>
              </a:spcBef>
            </a:pPr>
            <a:r>
              <a:rPr sz="2600" b="0">
                <a:solidFill>
                  <a:srgbClr val="333333"/>
                </a:solidFill>
                <a:latin typeface="Calibri"/>
              </a:rPr>
              <a:t>The introduction showed what labeled data look like in each modality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02 Text And Image Annotation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Describe common text annotation building blocks</a:t>
            </a:r>
          </a:p>
          <a:p>
            <a:pPr>
              <a:spcAft>
                <a:spcPts val="1000"/>
              </a:spcAft>
              <a:buChar char="•"/>
              <a:lnSpc>
                <a:spcPts val="2200"/>
              </a:lnSpc>
            </a:pPr>
            <a:r>
              <a:rPr sz="2000" b="0">
                <a:solidFill>
                  <a:srgbClr val="333333"/>
                </a:solidFill>
                <a:latin typeface="Calibri"/>
              </a:rPr>
              <a:t>Landmarks as image formats</a:t>
            </a:r>
          </a:p>
          <a:p>
            <a:pPr>
              <a:spcAft>
                <a:spcPts val="1000"/>
              </a:spcAft>
              <a:buChar char="•"/>
              <a:lnSpc>
                <a:spcPts val="2200"/>
              </a:lnSpc>
            </a:pPr>
            <a:r>
              <a:rPr sz="2000" b="0">
                <a:solidFill>
                  <a:srgbClr val="333333"/>
                </a:solidFill>
                <a:latin typeface="Calibri"/>
              </a:rPr>
              <a:t>Match each technique to typical natural language processing and computer-vision tasks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02 Text And Image Annotation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Text annotation building blocks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Text annotation supports classification, information extraction, and retrieval</a:t>
            </a:r>
          </a:p>
          <a:p>
            <a:pPr>
              <a:spcAft>
                <a:spcPts val="1000"/>
              </a:spcAft>
              <a:buChar char="•"/>
              <a:lnSpc>
                <a:spcPts val="2200"/>
              </a:lnSpc>
            </a:pPr>
            <a:r>
              <a:rPr sz="2000" b="0">
                <a:solidFill>
                  <a:srgbClr val="333333"/>
                </a:solidFill>
                <a:latin typeface="Calibri"/>
              </a:rPr>
              <a:t>Common building blocks include tokenization, sentiment tagging, named entity recognition</a:t>
            </a:r>
          </a:p>
          <a:p>
            <a:pPr>
              <a:spcAft>
                <a:spcPts val="1000"/>
              </a:spcAft>
              <a:buChar char="•"/>
              <a:lnSpc>
                <a:spcPts val="2200"/>
              </a:lnSpc>
            </a:pPr>
            <a:r>
              <a:rPr sz="2000" b="0">
                <a:solidFill>
                  <a:srgbClr val="333333"/>
                </a:solidFill>
                <a:latin typeface="Calibri"/>
              </a:rPr>
              <a:t>Tokenization splits text into words</a:t>
            </a:r>
          </a:p>
          <a:p>
            <a:pPr>
              <a:spcAft>
                <a:spcPts val="1000"/>
              </a:spcAft>
              <a:buChar char="•"/>
              <a:lnSpc>
                <a:spcPts val="2200"/>
              </a:lnSpc>
            </a:pPr>
            <a:r>
              <a:rPr sz="2000" b="0">
                <a:solidFill>
                  <a:srgbClr val="333333"/>
                </a:solidFill>
                <a:latin typeface="Calibri"/>
              </a:rPr>
              <a:t>Sentiment tagging assigns polarity to spans or documents</a:t>
            </a:r>
          </a:p>
          <a:p>
            <a:pPr>
              <a:spcAft>
                <a:spcPts val="1000"/>
              </a:spcAft>
              <a:buChar char="•"/>
              <a:lnSpc>
                <a:spcPts val="2200"/>
              </a:lnSpc>
            </a:pPr>
            <a:r>
              <a:rPr sz="2000" b="0">
                <a:solidFill>
                  <a:srgbClr val="333333"/>
                </a:solidFill>
                <a:latin typeface="Calibri"/>
              </a:rPr>
              <a:t>Named entity recognition identifies and types entities such as people, organizations</a:t>
            </a:r>
          </a:p>
          <a:p>
            <a:pPr>
              <a:spcAft>
                <a:spcPts val="1000"/>
              </a:spcAft>
              <a:buChar char="•"/>
              <a:lnSpc>
                <a:spcPts val="2200"/>
              </a:lnSpc>
            </a:pPr>
            <a:r>
              <a:rPr sz="2000" b="0">
                <a:solidFill>
                  <a:srgbClr val="333333"/>
                </a:solidFill>
                <a:latin typeface="Calibri"/>
              </a:rPr>
              <a:t>Part-of-speech tagging assigns syntactic categories to tokens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02 Text And Image Annotation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4.9 — Tokenization on text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4.9 — hands-on module</a:t>
            </a:r>
          </a:p>
          <a:p>
            <a:pPr>
              <a:spcAft>
                <a:spcPts val="1000"/>
              </a:spcAft>
              <a:buChar char="•"/>
              <a:lnSpc>
                <a:spcPts val="2200"/>
              </a:lnSpc>
            </a:pPr>
            <a:r>
              <a:rPr sz="2000" b="0">
                <a:solidFill>
                  <a:srgbClr val="333333"/>
                </a:solidFill>
                <a:latin typeface="Calibri"/>
              </a:rPr>
              <a:t>Example 4.9 shows a simple word split</a:t>
            </a:r>
          </a:p>
          <a:p>
            <a:pPr>
              <a:spcAft>
                <a:spcPts val="1000"/>
              </a:spcAft>
              <a:buChar char="•"/>
              <a:lnSpc>
                <a:spcPts val="2200"/>
              </a:lnSpc>
            </a:pPr>
            <a:r>
              <a:rPr sz="2000" b="0">
                <a:solidFill>
                  <a:srgbClr val="333333"/>
                </a:solidFill>
                <a:latin typeface="Calibri"/>
              </a:rPr>
              <a:t>The sentence “AI is the future” may tokenize to a short list of word tokens that</a:t>
            </a:r>
          </a:p>
          <a:p>
            <a:pPr>
              <a:spcAft>
                <a:spcPts val="1000"/>
              </a:spcAft>
              <a:buChar char="•"/>
              <a:lnSpc>
                <a:spcPts val="2200"/>
              </a:lnSpc>
            </a:pPr>
            <a:r>
              <a:rPr sz="2000" b="0">
                <a:solidFill>
                  <a:srgbClr val="333333"/>
                </a:solidFill>
                <a:latin typeface="Calibri"/>
              </a:rPr>
              <a:t>Whether casing is preserved</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02 Text And Image Annotation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4.12 — Named entities on a sentence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4.12 — hands-on module</a:t>
            </a:r>
          </a:p>
          <a:p>
            <a:pPr>
              <a:spcAft>
                <a:spcPts val="1000"/>
              </a:spcAft>
              <a:buChar char="•"/>
              <a:lnSpc>
                <a:spcPts val="2200"/>
              </a:lnSpc>
            </a:pPr>
            <a:r>
              <a:rPr sz="2000" b="0">
                <a:solidFill>
                  <a:srgbClr val="333333"/>
                </a:solidFill>
                <a:latin typeface="Calibri"/>
              </a:rPr>
              <a:t>Example 4.12 applies organization and location tags</a:t>
            </a:r>
          </a:p>
          <a:p>
            <a:pPr>
              <a:spcAft>
                <a:spcPts val="1000"/>
              </a:spcAft>
              <a:buChar char="•"/>
              <a:lnSpc>
                <a:spcPts val="2200"/>
              </a:lnSpc>
            </a:pPr>
            <a:r>
              <a:rPr sz="2000" b="0">
                <a:solidFill>
                  <a:srgbClr val="333333"/>
                </a:solidFill>
                <a:latin typeface="Calibri"/>
              </a:rPr>
              <a:t>In “Apple is headquartered in Cupertino,” the company span receives an organization type</a:t>
            </a:r>
          </a:p>
          <a:p>
            <a:pPr>
              <a:spcAft>
                <a:spcPts val="1000"/>
              </a:spcAft>
              <a:buChar char="•"/>
              <a:lnSpc>
                <a:spcPts val="2200"/>
              </a:lnSpc>
            </a:pPr>
            <a:r>
              <a:rPr sz="2000" b="0">
                <a:solidFill>
                  <a:srgbClr val="333333"/>
                </a:solidFill>
                <a:latin typeface="Calibri"/>
              </a:rPr>
              <a:t>Subsidiary versus parent-brand boundaries are a frequent source of disagreement and are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02 Text And Image Annotation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Image annotation formats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Image annotation marks objects or regions for computer vision</a:t>
            </a:r>
          </a:p>
          <a:p>
            <a:pPr>
              <a:spcAft>
                <a:spcPts val="1000"/>
              </a:spcAft>
              <a:buChar char="•"/>
              <a:lnSpc>
                <a:spcPts val="2200"/>
              </a:lnSpc>
            </a:pPr>
            <a:r>
              <a:rPr sz="2000" b="0">
                <a:solidFill>
                  <a:srgbClr val="333333"/>
                </a:solidFill>
                <a:latin typeface="Calibri"/>
              </a:rPr>
              <a:t>Three frequent formats are bounding boxes, segmentation masks, and landmarks</a:t>
            </a:r>
          </a:p>
          <a:p>
            <a:pPr>
              <a:spcAft>
                <a:spcPts val="1000"/>
              </a:spcAft>
              <a:buChar char="•"/>
              <a:lnSpc>
                <a:spcPts val="2200"/>
              </a:lnSpc>
            </a:pPr>
            <a:r>
              <a:rPr sz="2000" b="0">
                <a:solidFill>
                  <a:srgbClr val="333333"/>
                </a:solidFill>
                <a:latin typeface="Calibri"/>
              </a:rPr>
              <a:t>Bounding boxes are axis-aligned rectangles around objects of interest and dominate many</a:t>
            </a:r>
          </a:p>
          <a:p>
            <a:pPr>
              <a:spcAft>
                <a:spcPts val="1000"/>
              </a:spcAft>
              <a:buChar char="•"/>
              <a:lnSpc>
                <a:spcPts val="2200"/>
              </a:lnSpc>
            </a:pPr>
            <a:r>
              <a:rPr sz="2000" b="0">
                <a:solidFill>
                  <a:srgbClr val="333333"/>
                </a:solidFill>
                <a:latin typeface="Calibri"/>
              </a:rPr>
              <a:t>Which matters in medical imaging and fine-grained scene parsing</a:t>
            </a:r>
          </a:p>
          <a:p>
            <a:pPr>
              <a:spcAft>
                <a:spcPts val="1000"/>
              </a:spcAft>
              <a:buChar char="•"/>
              <a:lnSpc>
                <a:spcPts val="2200"/>
              </a:lnSpc>
            </a:pPr>
            <a:r>
              <a:rPr sz="2000" b="0">
                <a:solidFill>
                  <a:srgbClr val="333333"/>
                </a:solidFill>
                <a:latin typeface="Calibri"/>
              </a:rPr>
              <a:t>Landmarking places keypoints on faces or bodies for recognition and pose estimation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02 Text And Image Annotation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4.14 — Bounding boxes for detection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4.14 — hands-on module</a:t>
            </a:r>
          </a:p>
          <a:p>
            <a:pPr>
              <a:spcAft>
                <a:spcPts val="1000"/>
              </a:spcAft>
              <a:buChar char="•"/>
              <a:lnSpc>
                <a:spcPts val="2200"/>
              </a:lnSpc>
            </a:pPr>
            <a:r>
              <a:rPr sz="2000" b="0">
                <a:solidFill>
                  <a:srgbClr val="333333"/>
                </a:solidFill>
                <a:latin typeface="Calibri"/>
              </a:rPr>
              <a:t>Example 4.14 states the box format in a driving schema</a:t>
            </a:r>
          </a:p>
          <a:p>
            <a:pPr>
              <a:spcAft>
                <a:spcPts val="1000"/>
              </a:spcAft>
              <a:buChar char="•"/>
              <a:lnSpc>
                <a:spcPts val="2200"/>
              </a:lnSpc>
            </a:pPr>
            <a:r>
              <a:rPr sz="2000" b="0">
                <a:solidFill>
                  <a:srgbClr val="333333"/>
                </a:solidFill>
                <a:latin typeface="Calibri"/>
              </a:rPr>
              <a:t>In a self-driving corpus, rectangles may enclose cars, people</a:t>
            </a:r>
          </a:p>
          <a:p>
            <a:pPr>
              <a:spcAft>
                <a:spcPts val="1000"/>
              </a:spcAft>
              <a:buChar char="•"/>
              <a:lnSpc>
                <a:spcPts val="2200"/>
              </a:lnSpc>
            </a:pPr>
            <a:r>
              <a:rPr sz="2000" b="0">
                <a:solidFill>
                  <a:srgbClr val="333333"/>
                </a:solidFill>
                <a:latin typeface="Calibri"/>
              </a:rPr>
              <a:t>Box tightness, occlusion handling</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02 Text And Image Annotation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4.15 — Segmentation on medical images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4.15 — hands-on module</a:t>
            </a:r>
          </a:p>
          <a:p>
            <a:pPr>
              <a:spcAft>
                <a:spcPts val="1000"/>
              </a:spcAft>
              <a:buChar char="•"/>
              <a:lnSpc>
                <a:spcPts val="2200"/>
              </a:lnSpc>
            </a:pPr>
            <a:r>
              <a:rPr sz="2000" b="0">
                <a:solidFill>
                  <a:srgbClr val="333333"/>
                </a:solidFill>
                <a:latin typeface="Calibri"/>
              </a:rPr>
              <a:t>Example 4.15 shows a clinical mask task</a:t>
            </a:r>
          </a:p>
          <a:p>
            <a:pPr>
              <a:spcAft>
                <a:spcPts val="1000"/>
              </a:spcAft>
              <a:buChar char="•"/>
              <a:lnSpc>
                <a:spcPts val="2200"/>
              </a:lnSpc>
            </a:pPr>
            <a:r>
              <a:rPr sz="2000" b="0">
                <a:solidFill>
                  <a:srgbClr val="333333"/>
                </a:solidFill>
                <a:latin typeface="Calibri"/>
              </a:rPr>
              <a:t>Enabling supervised segmentation training</a:t>
            </a:r>
          </a:p>
          <a:p>
            <a:pPr>
              <a:spcAft>
                <a:spcPts val="1000"/>
              </a:spcAft>
              <a:buChar char="•"/>
              <a:lnSpc>
                <a:spcPts val="2200"/>
              </a:lnSpc>
            </a:pPr>
            <a:r>
              <a:rPr sz="2000" b="0">
                <a:solidFill>
                  <a:srgbClr val="333333"/>
                </a:solidFill>
                <a:latin typeface="Calibri"/>
              </a:rPr>
              <a:t>Masks demand more effort per object than boxes but reward applications where boundary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02 Text And Image Annotation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Text pipelines combine tokenization with sentiment, entity, or syntactic tags</a:t>
            </a:r>
          </a:p>
          <a:p>
            <a:pPr>
              <a:spcAft>
                <a:spcPts val="1000"/>
              </a:spcAft>
              <a:buChar char="•"/>
              <a:lnSpc>
                <a:spcPts val="2200"/>
              </a:lnSpc>
            </a:pPr>
            <a:r>
              <a:rPr sz="2000" b="0">
                <a:solidFill>
                  <a:srgbClr val="333333"/>
                </a:solidFill>
                <a:latin typeface="Calibri"/>
              </a:rPr>
              <a:t>Image work chooses among boxes, masks, and landmarks based on task precision and cost</a:t>
            </a:r>
          </a:p>
          <a:p>
            <a:pPr>
              <a:spcAft>
                <a:spcPts val="1000"/>
              </a:spcAft>
              <a:buChar char="•"/>
              <a:lnSpc>
                <a:spcPts val="2200"/>
              </a:lnSpc>
            </a:pPr>
            <a:r>
              <a:rPr sz="2000" b="0">
                <a:solidFill>
                  <a:srgbClr val="333333"/>
                </a:solidFill>
                <a:latin typeface="Calibri"/>
              </a:rPr>
              <a:t>Format choice belongs in the guideline before scale-up, because relabeling is expensive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02 Text And Image Annotation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 then continue to the next part on audio, video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02 Text And Image Annotation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