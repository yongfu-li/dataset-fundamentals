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Even strong quality-control programs face structural limits. This part names scale bottlenecks, labeler bias, workforce ethics, and rare-class scarcity—and points back to workflows and governance already introduced rather than re-teaching them.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describe throughput bottlenecks in large labeling programs, identify sources of bias in annotation, name ethical concerns specific to annotation workforces, and explain why rare classes need expert validation and targeted workflows.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Large vision and language models can require millions of labeled instances, and manual throughput often lags model iteration cycles. Common responses reuse workflows from earlier sections: crowdsourcing, semi-automated pre-labeling, parallel annotator pools, adjudicator roles, active-learning queues, and phased schema rollout with core classes first and rare classes later. Each speed-up still needs the quality-control gates from the previous part so volume does not erode accuracy.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Bias in annotation can skew labels and propagate into models. The focus here is labeler and guideline failure modes that create biased training data. Annotator bias, unrepresentative sampling, and biased pre-label models are the main sources. Mitigations include diverse review panels, inclusive guidelines, periodic bias audits on labeled slices, and human adjudication when automated suggestions disagree across demographic subgroups. Fairness metrics and deeper mitigation appear in Chapter 3 and Chapter 7.</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annotation raises ethical issues of fair compensation, privacy, and harmful labels. Crowdsourced marketplaces should pay fairly for task complexity, disclose payment rules, and restrict sensitive content to trained annotators under appropriate consent and de-identification. Label schemas for race, gender, mental health, or criminality need extra review so tags do not encode stigma or oversimplify context. Chapter 3 supplies the broader ethics and privacy frame; this section stresses workforce and label-governance practices specific to annotation pipelines.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Rare classes—uncommon diagnoses, endangered species, fraud cases—are hard to label at scale because positives are scarce. Domain experts should validate gold sets; active learning can surface uncertain cases to those experts; transfer learning and careful synthetic augmentation can supplement but not replace verified real examples. Rare-class work is where manual review and QC investment concentrate rather than where shortcuts belong.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Scale demands combined workflows, not blind volume. Bias enters through people, sampling, and pre-label models—audit slices and adjudicate disagreements. Ethics and rare classes both require expert gates before labels enter training pools.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for the quiz, then continue to the next part on use cases and applications—autonomous driving, healthcare, e-commerce, and emerging domains.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4 — Challenges in data annotation</a:t>
            </a:r>
          </a:p>
          <a:p>
            <a:pPr algn="ctr">
              <a:lnSpc>
                <a:spcPts val="2200"/>
              </a:lnSpc>
              <a:spcBef>
                <a:spcPts val="1400"/>
              </a:spcBef>
            </a:pPr>
            <a:r>
              <a:rPr sz="2600" b="0">
                <a:solidFill>
                  <a:srgbClr val="333333"/>
                </a:solidFill>
                <a:latin typeface="Calibri"/>
              </a:rPr>
              <a:t>Even strong quality-control programs face structural limits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Challenges In Annotation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Describe throughput bottlenecks in large labeling programs</a:t>
            </a:r>
          </a:p>
          <a:p>
            <a:pPr lvl="0" marL="457200" indent="-228600">
              <a:buFont typeface="Calibri"/>
              <a:spcAft>
                <a:spcPts val="1000"/>
              </a:spcAft>
              <a:buSzPct val="100000"/>
              <a:buChar char="•"/>
              <a:lnSpc>
                <a:spcPts val="2200"/>
              </a:lnSpc>
            </a:pPr>
            <a:r>
              <a:rPr sz="2000" b="0">
                <a:solidFill>
                  <a:srgbClr val="333333"/>
                </a:solidFill>
                <a:latin typeface="Calibri"/>
              </a:rPr>
              <a:t>Explain why rare classes need expert validation and targeted workflows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Challenges In Annotation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Scale and throughput bottlenecks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Large vision and language models can require millions of labeled instances</a:t>
            </a:r>
          </a:p>
          <a:p>
            <a:pPr lvl="0" marL="457200" indent="-228600">
              <a:buFont typeface="Calibri"/>
              <a:spcAft>
                <a:spcPts val="1000"/>
              </a:spcAft>
              <a:buSzPct val="100000"/>
              <a:buChar char="•"/>
              <a:lnSpc>
                <a:spcPts val="2200"/>
              </a:lnSpc>
            </a:pPr>
            <a:r>
              <a:rPr sz="2000" b="0">
                <a:solidFill>
                  <a:srgbClr val="333333"/>
                </a:solidFill>
                <a:latin typeface="Calibri"/>
              </a:rPr>
              <a:t>Common responses reuse workflows from earlier sections</a:t>
            </a:r>
          </a:p>
          <a:p>
            <a:pPr lvl="0" marL="457200" indent="-228600">
              <a:buFont typeface="Calibri"/>
              <a:spcAft>
                <a:spcPts val="1000"/>
              </a:spcAft>
              <a:buSzPct val="100000"/>
              <a:buChar char="•"/>
              <a:lnSpc>
                <a:spcPts val="2200"/>
              </a:lnSpc>
            </a:pPr>
            <a:r>
              <a:rPr sz="2000" b="0">
                <a:solidFill>
                  <a:srgbClr val="333333"/>
                </a:solidFill>
                <a:latin typeface="Calibri"/>
              </a:rPr>
              <a:t>Each speed-up still needs the quality-control gates from the previous part so volume does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Challenges In Annotation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Bias in annotation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Bias in annotation can skew labels and propagate into models</a:t>
            </a:r>
          </a:p>
          <a:p>
            <a:pPr lvl="0" marL="457200" indent="-228600">
              <a:buFont typeface="Calibri"/>
              <a:spcAft>
                <a:spcPts val="1000"/>
              </a:spcAft>
              <a:buSzPct val="100000"/>
              <a:buChar char="•"/>
              <a:lnSpc>
                <a:spcPts val="2200"/>
              </a:lnSpc>
            </a:pPr>
            <a:r>
              <a:rPr sz="2000" b="0">
                <a:solidFill>
                  <a:srgbClr val="333333"/>
                </a:solidFill>
                <a:latin typeface="Calibri"/>
              </a:rPr>
              <a:t>The focus here is labeler and guideline failure modes that create biased training data</a:t>
            </a:r>
          </a:p>
          <a:p>
            <a:pPr lvl="0" marL="457200" indent="-228600">
              <a:buFont typeface="Calibri"/>
              <a:spcAft>
                <a:spcPts val="1000"/>
              </a:spcAft>
              <a:buSzPct val="100000"/>
              <a:buChar char="•"/>
              <a:lnSpc>
                <a:spcPts val="2200"/>
              </a:lnSpc>
            </a:pPr>
            <a:r>
              <a:rPr sz="2000" b="0">
                <a:solidFill>
                  <a:srgbClr val="333333"/>
                </a:solidFill>
                <a:latin typeface="Calibri"/>
              </a:rPr>
              <a:t>Annotator bias, unrepresentative sampling</a:t>
            </a:r>
          </a:p>
          <a:p>
            <a:pPr lvl="0" marL="457200" indent="-228600">
              <a:buFont typeface="Calibri"/>
              <a:spcAft>
                <a:spcPts val="1000"/>
              </a:spcAft>
              <a:buSzPct val="100000"/>
              <a:buChar char="•"/>
              <a:lnSpc>
                <a:spcPts val="2200"/>
              </a:lnSpc>
            </a:pPr>
            <a:r>
              <a:rPr sz="2000" b="0">
                <a:solidFill>
                  <a:srgbClr val="333333"/>
                </a:solidFill>
                <a:latin typeface="Calibri"/>
              </a:rPr>
              <a:t>Human adjudication when automated suggestions disagree across demographic subgroups</a:t>
            </a:r>
          </a:p>
          <a:p>
            <a:pPr lvl="0" marL="457200" indent="-228600">
              <a:buFont typeface="Calibri"/>
              <a:spcAft>
                <a:spcPts val="1000"/>
              </a:spcAft>
              <a:buSzPct val="100000"/>
              <a:buChar char="•"/>
              <a:lnSpc>
                <a:spcPts val="2200"/>
              </a:lnSpc>
            </a:pPr>
            <a:r>
              <a:rPr sz="2000" b="0">
                <a:solidFill>
                  <a:srgbClr val="333333"/>
                </a:solidFill>
                <a:latin typeface="Calibri"/>
              </a:rPr>
              <a:t>Fairness metrics and deeper mitigation appear in Chapter 3 and Chapter 7</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Challenges In Annotation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Ethical concerns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Data annotation raises ethical issues of fair compensation, privacy, and harmful labels</a:t>
            </a:r>
          </a:p>
          <a:p>
            <a:pPr lvl="0" marL="457200" indent="-228600">
              <a:buFont typeface="Calibri"/>
              <a:spcAft>
                <a:spcPts val="1000"/>
              </a:spcAft>
              <a:buSzPct val="100000"/>
              <a:buChar char="•"/>
              <a:lnSpc>
                <a:spcPts val="2200"/>
              </a:lnSpc>
            </a:pPr>
            <a:r>
              <a:rPr sz="2000" b="0">
                <a:solidFill>
                  <a:srgbClr val="333333"/>
                </a:solidFill>
                <a:latin typeface="Calibri"/>
              </a:rPr>
              <a:t>Crowdsourced marketplaces should pay fairly for task complexity, disclose payment rules</a:t>
            </a:r>
          </a:p>
          <a:p>
            <a:pPr lvl="0" marL="457200" indent="-228600">
              <a:buFont typeface="Calibri"/>
              <a:spcAft>
                <a:spcPts val="1000"/>
              </a:spcAft>
              <a:buSzPct val="100000"/>
              <a:buChar char="•"/>
              <a:lnSpc>
                <a:spcPts val="2200"/>
              </a:lnSpc>
            </a:pPr>
            <a:r>
              <a:rPr sz="2000" b="0">
                <a:solidFill>
                  <a:srgbClr val="333333"/>
                </a:solidFill>
                <a:latin typeface="Calibri"/>
              </a:rPr>
              <a:t>Label schemas for race</a:t>
            </a:r>
          </a:p>
          <a:p>
            <a:pPr lvl="0" marL="457200" indent="-228600">
              <a:buFont typeface="Calibri"/>
              <a:spcAft>
                <a:spcPts val="1000"/>
              </a:spcAft>
              <a:buSzPct val="100000"/>
              <a:buChar char="•"/>
              <a:lnSpc>
                <a:spcPts val="2200"/>
              </a:lnSpc>
            </a:pPr>
            <a:r>
              <a:rPr sz="2000" b="0">
                <a:solidFill>
                  <a:srgbClr val="333333"/>
                </a:solidFill>
                <a:latin typeface="Calibri"/>
              </a:rPr>
              <a:t>Chapter 3 supplies the broader ethics and privacy frame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Challenges In Annotation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Annotating rare events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Rare classes</a:t>
            </a:r>
          </a:p>
          <a:p>
            <a:pPr lvl="0" marL="457200" indent="-228600">
              <a:buFont typeface="Calibri"/>
              <a:spcAft>
                <a:spcPts val="1000"/>
              </a:spcAft>
              <a:buSzPct val="100000"/>
              <a:buChar char="•"/>
              <a:lnSpc>
                <a:spcPts val="2200"/>
              </a:lnSpc>
            </a:pPr>
            <a:r>
              <a:rPr sz="2000" b="0">
                <a:solidFill>
                  <a:srgbClr val="333333"/>
                </a:solidFill>
                <a:latin typeface="Calibri"/>
              </a:rPr>
              <a:t>Domain experts should validate gold sets</a:t>
            </a:r>
          </a:p>
          <a:p>
            <a:pPr lvl="0" marL="457200" indent="-228600">
              <a:buFont typeface="Calibri"/>
              <a:spcAft>
                <a:spcPts val="1000"/>
              </a:spcAft>
              <a:buSzPct val="100000"/>
              <a:buChar char="•"/>
              <a:lnSpc>
                <a:spcPts val="2200"/>
              </a:lnSpc>
            </a:pPr>
            <a:r>
              <a:rPr sz="2000" b="0">
                <a:solidFill>
                  <a:srgbClr val="333333"/>
                </a:solidFill>
                <a:latin typeface="Calibri"/>
              </a:rPr>
              <a:t>Rare-class work is where manual review and QC investment concentrate rather than where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Challenges In Annotation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Scale demands combined workflows, not blind volume</a:t>
            </a:r>
          </a:p>
          <a:p>
            <a:pPr lvl="0" marL="457200" indent="-228600">
              <a:buFont typeface="Calibri"/>
              <a:spcAft>
                <a:spcPts val="1000"/>
              </a:spcAft>
              <a:buSzPct val="100000"/>
              <a:buChar char="•"/>
              <a:lnSpc>
                <a:spcPts val="2200"/>
              </a:lnSpc>
            </a:pPr>
            <a:r>
              <a:rPr sz="2000" b="0">
                <a:solidFill>
                  <a:srgbClr val="333333"/>
                </a:solidFill>
                <a:latin typeface="Calibri"/>
              </a:rPr>
              <a:t>Bias enters through people, sampling</a:t>
            </a:r>
          </a:p>
          <a:p>
            <a:pPr lvl="0" marL="457200" indent="-228600">
              <a:buFont typeface="Calibri"/>
              <a:spcAft>
                <a:spcPts val="1000"/>
              </a:spcAft>
              <a:buSzPct val="100000"/>
              <a:buChar char="•"/>
              <a:lnSpc>
                <a:spcPts val="2200"/>
              </a:lnSpc>
            </a:pPr>
            <a:r>
              <a:rPr sz="2000" b="0">
                <a:solidFill>
                  <a:srgbClr val="333333"/>
                </a:solidFill>
                <a:latin typeface="Calibri"/>
              </a:rPr>
              <a:t>Ethics and rare classes both require expert gates before labels enter training pools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Challenges In Annotation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Emerging domains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Challenges In Annotation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