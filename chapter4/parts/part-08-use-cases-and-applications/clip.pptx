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Abstract schemas become concrete in domain settings. This part shows how annotation choices play out in autonomous driving, medical imaging, e-commerce catalogs, and emerging geospatial and augmented-reality workflows.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describe annotation demands in autonomous driving and medical imaging, explain catalog and review labeling in e-commerce, and recognize temporal and spatial consistency needs in emerging geospatial and augmented-reality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Autonomous driving requires large labeled corpora of road scenes with pedestrians, vehicles, signs, and lane markings. Labels feed perception and planning stacks; errors in box placement or class choice directly affect safety-critical behavior. Quality-control practices and geographic diversity in collection matter as much as volume: a detector trained only on sunny highways may fail in rain or unfamiliar regions.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Medical imaging annotation marks lesions, organs, or findings on radiology and pathology images so diagnostic models can learn localized patterns. Expert clinicians typically validate or produce gold labels. Privacy and consent constraints govern what can be labeled and shared. Segmentation precision often matters more than coarse boxes because boundary errors can change clinical interpretation.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Retail catalogs use category and attribute labels for search, recommendations, and review sentiment. Product taxonomies and review polarity labels must stay consistent across locales and product lines to avoid fragmented training signal. A shoe labeled “sneaker” in one locale and “trainer” in another without a mapped taxonomy splits the class signal much like inconsistent annotator strings.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Augmented reality needs spatially registered object labels so virtual content aligns with the physical scene. Climate and remote-sensing workflows need geospatial segmentation over time series, not just single snapshots. Both stress temporal consistency and domain-expert review beyond single-frame box labeling. Emerging domains reuse the same modality techniques from earlier parts but raise the cost of inconsistency across space and time.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Autonomous driving couples volume with safety-critical QC. Healthcare pairs expert gold labels with privacy governance. E-commerce needs stable taxonomies across locales. Emerging AR and geospatial work add temporal consistency to spatial labels.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quiz, then continue to the next part on best practices—guidelines with exemplars, calibration audits, diversity checks, and pre-labeling as proposals rather than shortcuts.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4 — Use cases and applications</a:t>
            </a:r>
          </a:p>
          <a:p>
            <a:pPr algn="ctr">
              <a:lnSpc>
                <a:spcPts val="2200"/>
              </a:lnSpc>
              <a:spcBef>
                <a:spcPts val="1400"/>
              </a:spcBef>
            </a:pPr>
            <a:r>
              <a:rPr sz="2600" b="0">
                <a:solidFill>
                  <a:srgbClr val="333333"/>
                </a:solidFill>
                <a:latin typeface="Calibri"/>
              </a:rPr>
              <a:t>Abstract schemas become concrete in domain settings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Use Cases And Applications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Describe annotation demands in autonomous driving and medical imaging</a:t>
            </a:r>
          </a:p>
          <a:p>
            <a:pPr>
              <a:spcAft>
                <a:spcPts val="1000"/>
              </a:spcAft>
              <a:buChar char="•"/>
              <a:lnSpc>
                <a:spcPts val="2200"/>
              </a:lnSpc>
            </a:pPr>
            <a:r>
              <a:rPr sz="2000" b="0">
                <a:solidFill>
                  <a:srgbClr val="333333"/>
                </a:solidFill>
                <a:latin typeface="Calibri"/>
              </a:rPr>
              <a:t>Recognize temporal and spatial consistency needs in emerging geospatial and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Use Cases And Applications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Case study — Autonomous vehicles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Lane markings</a:t>
            </a:r>
          </a:p>
          <a:p>
            <a:pPr>
              <a:spcAft>
                <a:spcPts val="1000"/>
              </a:spcAft>
              <a:buChar char="•"/>
              <a:lnSpc>
                <a:spcPts val="2200"/>
              </a:lnSpc>
            </a:pPr>
            <a:r>
              <a:rPr sz="2000" b="0">
                <a:solidFill>
                  <a:srgbClr val="333333"/>
                </a:solidFill>
                <a:latin typeface="Calibri"/>
              </a:rPr>
              <a:t>Labels feed perception and planning stacks</a:t>
            </a:r>
          </a:p>
          <a:p>
            <a:pPr>
              <a:spcAft>
                <a:spcPts val="1000"/>
              </a:spcAft>
              <a:buChar char="•"/>
              <a:lnSpc>
                <a:spcPts val="2200"/>
              </a:lnSpc>
            </a:pPr>
            <a:r>
              <a:rPr sz="2000" b="0">
                <a:solidFill>
                  <a:srgbClr val="333333"/>
                </a:solidFill>
                <a:latin typeface="Calibri"/>
              </a:rPr>
              <a:t>Quality-control practices and geographic diversity in collection matter as much as volume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Use Cases And Applications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Case study — Healthcare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Medical imaging annotation marks lesions</a:t>
            </a:r>
          </a:p>
          <a:p>
            <a:pPr>
              <a:spcAft>
                <a:spcPts val="1000"/>
              </a:spcAft>
              <a:buChar char="•"/>
              <a:lnSpc>
                <a:spcPts val="2200"/>
              </a:lnSpc>
            </a:pPr>
            <a:r>
              <a:rPr sz="2000" b="0">
                <a:solidFill>
                  <a:srgbClr val="333333"/>
                </a:solidFill>
                <a:latin typeface="Calibri"/>
              </a:rPr>
              <a:t>Expert clinicians typically validate or produce gold labels</a:t>
            </a:r>
          </a:p>
          <a:p>
            <a:pPr>
              <a:spcAft>
                <a:spcPts val="1000"/>
              </a:spcAft>
              <a:buChar char="•"/>
              <a:lnSpc>
                <a:spcPts val="2200"/>
              </a:lnSpc>
            </a:pPr>
            <a:r>
              <a:rPr sz="2000" b="0">
                <a:solidFill>
                  <a:srgbClr val="333333"/>
                </a:solidFill>
                <a:latin typeface="Calibri"/>
              </a:rPr>
              <a:t>Privacy and consent constraints govern what can be labeled and shared</a:t>
            </a:r>
          </a:p>
          <a:p>
            <a:pPr>
              <a:spcAft>
                <a:spcPts val="1000"/>
              </a:spcAft>
              <a:buChar char="•"/>
              <a:lnSpc>
                <a:spcPts val="2200"/>
              </a:lnSpc>
            </a:pPr>
            <a:r>
              <a:rPr sz="2000" b="0">
                <a:solidFill>
                  <a:srgbClr val="333333"/>
                </a:solidFill>
                <a:latin typeface="Calibri"/>
              </a:rPr>
              <a:t>Segmentation precision often matters more than coarse boxes because boundary errors can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Use Cases And Applications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Case study — E-commerce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Retail catalogs use category and attribute labels for search, recommendations</a:t>
            </a:r>
          </a:p>
          <a:p>
            <a:pPr>
              <a:spcAft>
                <a:spcPts val="1000"/>
              </a:spcAft>
              <a:buChar char="•"/>
              <a:lnSpc>
                <a:spcPts val="2200"/>
              </a:lnSpc>
            </a:pPr>
            <a:r>
              <a:rPr sz="2000" b="0">
                <a:solidFill>
                  <a:srgbClr val="333333"/>
                </a:solidFill>
                <a:latin typeface="Calibri"/>
              </a:rPr>
              <a:t>Product taxonomies and review polarity labels must stay consistent across locales and</a:t>
            </a:r>
          </a:p>
          <a:p>
            <a:pPr>
              <a:spcAft>
                <a:spcPts val="1000"/>
              </a:spcAft>
              <a:buChar char="•"/>
              <a:lnSpc>
                <a:spcPts val="2200"/>
              </a:lnSpc>
            </a:pPr>
            <a:r>
              <a:rPr sz="2000" b="0">
                <a:solidFill>
                  <a:srgbClr val="333333"/>
                </a:solidFill>
                <a:latin typeface="Calibri"/>
              </a:rPr>
              <a:t>A shoe labeled “sneaker” in one locale and “trainer” in another without a mapped taxonomy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Use Cases And Applications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Emerging applications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Augmented reality needs spatially registered object labels so virtual content aligns with</a:t>
            </a:r>
          </a:p>
          <a:p>
            <a:pPr>
              <a:spcAft>
                <a:spcPts val="1000"/>
              </a:spcAft>
              <a:buChar char="•"/>
              <a:lnSpc>
                <a:spcPts val="2200"/>
              </a:lnSpc>
            </a:pPr>
            <a:r>
              <a:rPr sz="2000" b="0">
                <a:solidFill>
                  <a:srgbClr val="333333"/>
                </a:solidFill>
                <a:latin typeface="Calibri"/>
              </a:rPr>
              <a:t>Climate and remote-sensing workflows need geospatial segmentation over time series</a:t>
            </a:r>
          </a:p>
          <a:p>
            <a:pPr>
              <a:spcAft>
                <a:spcPts val="1000"/>
              </a:spcAft>
              <a:buChar char="•"/>
              <a:lnSpc>
                <a:spcPts val="2200"/>
              </a:lnSpc>
            </a:pPr>
            <a:r>
              <a:rPr sz="2000" b="0">
                <a:solidFill>
                  <a:srgbClr val="333333"/>
                </a:solidFill>
                <a:latin typeface="Calibri"/>
              </a:rPr>
              <a:t>Both stress temporal consistency and domain-expert review beyond single-frame box labeling</a:t>
            </a:r>
          </a:p>
          <a:p>
            <a:pPr>
              <a:spcAft>
                <a:spcPts val="1000"/>
              </a:spcAft>
              <a:buChar char="•"/>
              <a:lnSpc>
                <a:spcPts val="2200"/>
              </a:lnSpc>
            </a:pPr>
            <a:r>
              <a:rPr sz="2000" b="0">
                <a:solidFill>
                  <a:srgbClr val="333333"/>
                </a:solidFill>
                <a:latin typeface="Calibri"/>
              </a:rPr>
              <a:t>Emerging domains reuse the same modality techniques from earlier parts but raise the cost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Use Cases And Applications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Autonomous driving couples volume with safety-critical QC</a:t>
            </a:r>
          </a:p>
          <a:p>
            <a:pPr>
              <a:spcAft>
                <a:spcPts val="1000"/>
              </a:spcAft>
              <a:buChar char="•"/>
              <a:lnSpc>
                <a:spcPts val="2200"/>
              </a:lnSpc>
            </a:pPr>
            <a:r>
              <a:rPr sz="2000" b="0">
                <a:solidFill>
                  <a:srgbClr val="333333"/>
                </a:solidFill>
                <a:latin typeface="Calibri"/>
              </a:rPr>
              <a:t>Healthcare pairs expert gold labels with privacy governance</a:t>
            </a:r>
          </a:p>
          <a:p>
            <a:pPr>
              <a:spcAft>
                <a:spcPts val="1000"/>
              </a:spcAft>
              <a:buChar char="•"/>
              <a:lnSpc>
                <a:spcPts val="2200"/>
              </a:lnSpc>
            </a:pPr>
            <a:r>
              <a:rPr sz="2000" b="0">
                <a:solidFill>
                  <a:srgbClr val="333333"/>
                </a:solidFill>
                <a:latin typeface="Calibri"/>
              </a:rPr>
              <a:t>E-commerce needs stable taxonomies across locales</a:t>
            </a:r>
          </a:p>
          <a:p>
            <a:pPr>
              <a:spcAft>
                <a:spcPts val="1000"/>
              </a:spcAft>
              <a:buChar char="•"/>
              <a:lnSpc>
                <a:spcPts val="2200"/>
              </a:lnSpc>
            </a:pPr>
            <a:r>
              <a:rPr sz="2000" b="0">
                <a:solidFill>
                  <a:srgbClr val="333333"/>
                </a:solidFill>
                <a:latin typeface="Calibri"/>
              </a:rPr>
              <a:t>Emerging AR and geospatial work add temporal consistency to spatial labels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Use Cases And Applications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Pre-labeling as proposals rather than shortcuts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Use Cases And Applications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