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and image schemas are only part of the annotation landscape. This part covers transcription and diarization for audio, frame-level and activity labels for video, and row-level categorization and outlier flags for tabular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typical audio labels such as transcripts and speaker turns, explain how video combines spatial and temporal labeling, and recognize row categorization and outlier flags as tabular annotation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Audio annotation supports speech recognition, speaker diarization, and affect analysis. Typical labels include transcripts, speaker identities, and emotion tags aligned to time. Transcription converts speech to text for automatic speech recognition training. Diarization assigns who spoke when in multi-speaker recordings. Emotion tagging labels affective tone in discrete classes such as happy, angry, sad, or neutral for quality monitoring.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4.17 shows a call-center transcript task. Annotators listen to a call and produce a time-aligned transcript used to train automatic speech recognition. Alignment quality—matching words to the correct intervals—matters as much as lexical accuracy. Open the example 17 module for this chapter to review a transcript-oriented workflow.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annotation combines spatial and temporal labeling and is costly because objects and actions evolve across frames. Frame-by-frame labeling annotates objects in successive frames for detection and tracking. Activity recognition labels clip-level behaviors—such as picking, passing, or fouls—over an interval even when per-frame boxes already exist. Production programs often separate dense tracks from lighter activity tags to control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4.21 shows surveillance-style classes. In surveillance video, frames may receive labels such as person, car, or bicycle for detection and multi-object tracking. Temporal consistency across frames is a QC concern: an object that flickers in and out teaches unstable trackers. Open the example 21 module for this chapter to inspect frame-level labels.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Tabular annotation assigns labels to rows, columns, or cells for classification, ranking, or anomaly detection. Categorization maps rows to discrete classes—such as customer value bands—from purchase history for supervised targeting. Labeling outliers marks anomalous rows for fraud or quality review when positives are rare and human judgment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4.24 shows customer-value bands. In a customer database, rows may be labeled high, medium, or low value from purchase history for supervised targeting models. The schema must define thresholds and tie-break rules so annotators—or rule engines—apply bands consistently. Open the example 24 module for this chapter to see row-level classes.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Audio work aligns text, speakers, or affect with time. Video adds temporal cost to spatial labels and often mixes tracks with activity tags. Tabular labels include class bands and outlier flags for classification and fraud workflows.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annotation techniques—manual, semi-automated, fully automated, and crowdsourced workflows with their trade-offs.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Audio, video, and tabular annotation</a:t>
            </a:r>
          </a:p>
          <a:p>
            <a:pPr algn="ctr">
              <a:lnSpc>
                <a:spcPts val="2200"/>
              </a:lnSpc>
              <a:spcBef>
                <a:spcPts val="1400"/>
              </a:spcBef>
            </a:pPr>
            <a:r>
              <a:rPr sz="2600" b="0">
                <a:solidFill>
                  <a:srgbClr val="333333"/>
                </a:solidFill>
                <a:latin typeface="Calibri"/>
              </a:rPr>
              <a:t>Text and image schemas are only part of the annotation landscape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typical audio labels such as transcripts and speaker turns</a:t>
            </a:r>
          </a:p>
          <a:p>
            <a:pPr>
              <a:spcAft>
                <a:spcPts val="1000"/>
              </a:spcAft>
              <a:buChar char="•"/>
              <a:lnSpc>
                <a:spcPts val="2200"/>
              </a:lnSpc>
            </a:pPr>
            <a:r>
              <a:rPr sz="2000" b="0">
                <a:solidFill>
                  <a:srgbClr val="333333"/>
                </a:solidFill>
                <a:latin typeface="Calibri"/>
              </a:rPr>
              <a:t>Recognize row categorization and outlier flags as tabular annotation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Audio annotation techniques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Audio annotation supports speech recognition, speaker diarization, and affect analysis</a:t>
            </a:r>
          </a:p>
          <a:p>
            <a:pPr>
              <a:spcAft>
                <a:spcPts val="1000"/>
              </a:spcAft>
              <a:buChar char="•"/>
              <a:lnSpc>
                <a:spcPts val="2200"/>
              </a:lnSpc>
            </a:pPr>
            <a:r>
              <a:rPr sz="2000" b="0">
                <a:solidFill>
                  <a:srgbClr val="333333"/>
                </a:solidFill>
                <a:latin typeface="Calibri"/>
              </a:rPr>
              <a:t>Typical labels include transcripts, speaker identities, and emotion tags aligned to time</a:t>
            </a:r>
          </a:p>
          <a:p>
            <a:pPr>
              <a:spcAft>
                <a:spcPts val="1000"/>
              </a:spcAft>
              <a:buChar char="•"/>
              <a:lnSpc>
                <a:spcPts val="2200"/>
              </a:lnSpc>
            </a:pPr>
            <a:r>
              <a:rPr sz="2000" b="0">
                <a:solidFill>
                  <a:srgbClr val="333333"/>
                </a:solidFill>
                <a:latin typeface="Calibri"/>
              </a:rPr>
              <a:t>Transcription converts speech to text for automatic speech recognition training</a:t>
            </a:r>
          </a:p>
          <a:p>
            <a:pPr>
              <a:spcAft>
                <a:spcPts val="1000"/>
              </a:spcAft>
              <a:buChar char="•"/>
              <a:lnSpc>
                <a:spcPts val="2200"/>
              </a:lnSpc>
            </a:pPr>
            <a:r>
              <a:rPr sz="2000" b="0">
                <a:solidFill>
                  <a:srgbClr val="333333"/>
                </a:solidFill>
                <a:latin typeface="Calibri"/>
              </a:rPr>
              <a:t>Diarization assigns who spoke when in multi-speaker recordings</a:t>
            </a:r>
          </a:p>
          <a:p>
            <a:pPr>
              <a:spcAft>
                <a:spcPts val="1000"/>
              </a:spcAft>
              <a:buChar char="•"/>
              <a:lnSpc>
                <a:spcPts val="2200"/>
              </a:lnSpc>
            </a:pPr>
            <a:r>
              <a:rPr sz="2000" b="0">
                <a:solidFill>
                  <a:srgbClr val="333333"/>
                </a:solidFill>
                <a:latin typeface="Calibri"/>
              </a:rPr>
              <a:t>Emotion tagging labels affective tone in discrete classes such as happy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4.17 — Transcription on a customer service call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4.17 — hands-on module</a:t>
            </a:r>
          </a:p>
          <a:p>
            <a:pPr>
              <a:spcAft>
                <a:spcPts val="1000"/>
              </a:spcAft>
              <a:buChar char="•"/>
              <a:lnSpc>
                <a:spcPts val="2200"/>
              </a:lnSpc>
            </a:pPr>
            <a:r>
              <a:rPr sz="2000" b="0">
                <a:solidFill>
                  <a:srgbClr val="333333"/>
                </a:solidFill>
                <a:latin typeface="Calibri"/>
              </a:rPr>
              <a:t>Example 4.17 shows a call-center transcript task</a:t>
            </a:r>
          </a:p>
          <a:p>
            <a:pPr>
              <a:spcAft>
                <a:spcPts val="1000"/>
              </a:spcAft>
              <a:buChar char="•"/>
              <a:lnSpc>
                <a:spcPts val="2200"/>
              </a:lnSpc>
            </a:pPr>
            <a:r>
              <a:rPr sz="2000" b="0">
                <a:solidFill>
                  <a:srgbClr val="333333"/>
                </a:solidFill>
                <a:latin typeface="Calibri"/>
              </a:rPr>
              <a:t>Annotators listen to a call and produce a time-aligned transcript used to train automatic</a:t>
            </a:r>
          </a:p>
          <a:p>
            <a:pPr>
              <a:spcAft>
                <a:spcPts val="1000"/>
              </a:spcAft>
              <a:buChar char="•"/>
              <a:lnSpc>
                <a:spcPts val="2200"/>
              </a:lnSpc>
            </a:pPr>
            <a:r>
              <a:rPr sz="2000" b="0">
                <a:solidFill>
                  <a:srgbClr val="333333"/>
                </a:solidFill>
                <a:latin typeface="Calibri"/>
              </a:rPr>
              <a:t>Alignment quality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Video annotation techniques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Video annotation combines spatial and temporal labeling and is costly because objects and</a:t>
            </a:r>
          </a:p>
          <a:p>
            <a:pPr>
              <a:spcAft>
                <a:spcPts val="1000"/>
              </a:spcAft>
              <a:buChar char="•"/>
              <a:lnSpc>
                <a:spcPts val="2200"/>
              </a:lnSpc>
            </a:pPr>
            <a:r>
              <a:rPr sz="2000" b="0">
                <a:solidFill>
                  <a:srgbClr val="333333"/>
                </a:solidFill>
                <a:latin typeface="Calibri"/>
              </a:rPr>
              <a:t>Frame-by-frame labeling annotates objects in successive frames for detection and tracking</a:t>
            </a:r>
          </a:p>
          <a:p>
            <a:pPr>
              <a:spcAft>
                <a:spcPts val="1000"/>
              </a:spcAft>
              <a:buChar char="•"/>
              <a:lnSpc>
                <a:spcPts val="2200"/>
              </a:lnSpc>
            </a:pPr>
            <a:r>
              <a:rPr sz="2000" b="0">
                <a:solidFill>
                  <a:srgbClr val="333333"/>
                </a:solidFill>
                <a:latin typeface="Calibri"/>
              </a:rPr>
              <a:t>Activity recognition labels clip-level behaviors</a:t>
            </a:r>
          </a:p>
          <a:p>
            <a:pPr>
              <a:spcAft>
                <a:spcPts val="1000"/>
              </a:spcAft>
              <a:buChar char="•"/>
              <a:lnSpc>
                <a:spcPts val="2200"/>
              </a:lnSpc>
            </a:pPr>
            <a:r>
              <a:rPr sz="2000" b="0">
                <a:solidFill>
                  <a:srgbClr val="333333"/>
                </a:solidFill>
                <a:latin typeface="Calibri"/>
              </a:rPr>
              <a:t>Production programs often separate dense tracks from lighter activity tags to control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4.21 — Frame-by-frame labeling on video</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4.21 — hands-on module</a:t>
            </a:r>
          </a:p>
          <a:p>
            <a:pPr>
              <a:spcAft>
                <a:spcPts val="1000"/>
              </a:spcAft>
              <a:buChar char="•"/>
              <a:lnSpc>
                <a:spcPts val="2200"/>
              </a:lnSpc>
            </a:pPr>
            <a:r>
              <a:rPr sz="2000" b="0">
                <a:solidFill>
                  <a:srgbClr val="333333"/>
                </a:solidFill>
                <a:latin typeface="Calibri"/>
              </a:rPr>
              <a:t>Example 4.21 shows surveillance-style classes</a:t>
            </a:r>
          </a:p>
          <a:p>
            <a:pPr>
              <a:spcAft>
                <a:spcPts val="1000"/>
              </a:spcAft>
              <a:buChar char="•"/>
              <a:lnSpc>
                <a:spcPts val="2200"/>
              </a:lnSpc>
            </a:pPr>
            <a:r>
              <a:rPr sz="2000" b="0">
                <a:solidFill>
                  <a:srgbClr val="333333"/>
                </a:solidFill>
                <a:latin typeface="Calibri"/>
              </a:rPr>
              <a:t>In surveillance video</a:t>
            </a:r>
          </a:p>
          <a:p>
            <a:pPr>
              <a:spcAft>
                <a:spcPts val="1000"/>
              </a:spcAft>
              <a:buChar char="•"/>
              <a:lnSpc>
                <a:spcPts val="2200"/>
              </a:lnSpc>
            </a:pPr>
            <a:r>
              <a:rPr sz="2000" b="0">
                <a:solidFill>
                  <a:srgbClr val="333333"/>
                </a:solidFill>
                <a:latin typeface="Calibri"/>
              </a:rPr>
              <a:t>Temporal consistency across frames is a QC concern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Tabular data annotation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Tabular annotation assigns labels to rows</a:t>
            </a:r>
          </a:p>
          <a:p>
            <a:pPr>
              <a:spcAft>
                <a:spcPts val="1000"/>
              </a:spcAft>
              <a:buChar char="•"/>
              <a:lnSpc>
                <a:spcPts val="2200"/>
              </a:lnSpc>
            </a:pPr>
            <a:r>
              <a:rPr sz="2000" b="0">
                <a:solidFill>
                  <a:srgbClr val="333333"/>
                </a:solidFill>
                <a:latin typeface="Calibri"/>
              </a:rPr>
              <a:t>Categorization maps rows to discrete classes</a:t>
            </a:r>
          </a:p>
          <a:p>
            <a:pPr>
              <a:spcAft>
                <a:spcPts val="1000"/>
              </a:spcAft>
              <a:buChar char="•"/>
              <a:lnSpc>
                <a:spcPts val="2200"/>
              </a:lnSpc>
            </a:pPr>
            <a:r>
              <a:rPr sz="2000" b="0">
                <a:solidFill>
                  <a:srgbClr val="333333"/>
                </a:solidFill>
                <a:latin typeface="Calibri"/>
              </a:rPr>
              <a:t>Labeling outliers marks anomalous rows for fraud or quality review when positives are rare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4.24 — Categorization on tabular rows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4.24 — hands-on module</a:t>
            </a:r>
          </a:p>
          <a:p>
            <a:pPr>
              <a:spcAft>
                <a:spcPts val="1000"/>
              </a:spcAft>
              <a:buChar char="•"/>
              <a:lnSpc>
                <a:spcPts val="2200"/>
              </a:lnSpc>
            </a:pPr>
            <a:r>
              <a:rPr sz="2000" b="0">
                <a:solidFill>
                  <a:srgbClr val="333333"/>
                </a:solidFill>
                <a:latin typeface="Calibri"/>
              </a:rPr>
              <a:t>Example 4.24 shows customer-value bands</a:t>
            </a:r>
          </a:p>
          <a:p>
            <a:pPr>
              <a:spcAft>
                <a:spcPts val="1000"/>
              </a:spcAft>
              <a:buChar char="•"/>
              <a:lnSpc>
                <a:spcPts val="2200"/>
              </a:lnSpc>
            </a:pPr>
            <a:r>
              <a:rPr sz="2000" b="0">
                <a:solidFill>
                  <a:srgbClr val="333333"/>
                </a:solidFill>
                <a:latin typeface="Calibri"/>
              </a:rPr>
              <a:t>In a customer database</a:t>
            </a:r>
          </a:p>
          <a:p>
            <a:pPr>
              <a:spcAft>
                <a:spcPts val="1000"/>
              </a:spcAft>
              <a:buChar char="•"/>
              <a:lnSpc>
                <a:spcPts val="2200"/>
              </a:lnSpc>
            </a:pPr>
            <a:r>
              <a:rPr sz="2000" b="0">
                <a:solidFill>
                  <a:srgbClr val="333333"/>
                </a:solidFill>
                <a:latin typeface="Calibri"/>
              </a:rPr>
              <a:t>The schema must define thresholds and tie-break rules so annotators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Audio work aligns text, speakers, or affect with time</a:t>
            </a:r>
          </a:p>
          <a:p>
            <a:pPr>
              <a:spcAft>
                <a:spcPts val="1000"/>
              </a:spcAft>
              <a:buChar char="•"/>
              <a:lnSpc>
                <a:spcPts val="2200"/>
              </a:lnSpc>
            </a:pPr>
            <a:r>
              <a:rPr sz="2000" b="0">
                <a:solidFill>
                  <a:srgbClr val="333333"/>
                </a:solidFill>
                <a:latin typeface="Calibri"/>
              </a:rPr>
              <a:t>Video adds temporal cost to spatial labels and often mixes tracks with activity tags</a:t>
            </a:r>
          </a:p>
          <a:p>
            <a:pPr>
              <a:spcAft>
                <a:spcPts val="1000"/>
              </a:spcAft>
              <a:buChar char="•"/>
              <a:lnSpc>
                <a:spcPts val="2200"/>
              </a:lnSpc>
            </a:pPr>
            <a:r>
              <a:rPr sz="2000" b="0">
                <a:solidFill>
                  <a:srgbClr val="333333"/>
                </a:solidFill>
                <a:latin typeface="Calibri"/>
              </a:rPr>
              <a:t>Tabular labels include class bands and outlier flags for classification and fraud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Crowdsourced workflows with their trade-offs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03 Audio Video Tabular Annotation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