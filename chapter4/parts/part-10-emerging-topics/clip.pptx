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Annotation practice is moving toward tighter human–model loops. This final part surveys AI-assisted labeling, synthetic and programmatic labels, real-time annotation for streaming systems, and how those accelerators still depend on quality control, ethics, and bias review before Chapter 5 turns to cleaning labeled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AI-assisted and self-labeling workflows with human correction gates, explain synthetic and programmatic labels as audited supplements, recognize real-time annotation risks in streaming systems, and state how Chapter 5 continues the dataset lifecycle after labeling.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semi-automated workflows, model-assisted interfaces surface proposals ranked by uncertainty; humans correct errors before labels enter the training pool. Self-training and pseudo-labeling can scale further when confidence thresholds and audit sampling are strict. Unchecked self-labeling amplifies early mistakes, so confidence cutoffs and spot audits are not optional extras—they are part of the schema.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images or text can fill rare classes but must be validated against real distributions before deployment. Weak supervision and labeling functions encode heuristics that humans later audit; they speed bootstrapping but still need gold evaluation sets. Programmatic labels are accelerators on top of the quality-control skeleton from earlier parts, not replacements for adjudicated gold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applications may label on the fly for monitoring, but safety-critical paths should keep human review for schema changes and edge cases. AI-assisted and federated labeling also raise quality-control complexity, privacy questions, and bias risk if models or synthetic generators encode skew. Real-time speed is valuable only when governance keeps pace with the feed.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covered annotation modalities, workflows, tools, quality control including inter-annotator agreement, challenges, use cases, and emerging directions that connect to ethics and bias. Chapter 5 turns to cleaning and preprocessing so labeled datasets become model-ready tables and tensors. When fairness of labels or models is the primary concern, return to the ethics and bias material in Chapters 3 and 7. Deeper treatment of active learning, weak supervision, and hybrid crowd–expert pipelines appears later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AI-assisted, synthetic, and real-time labeling are accelerators—not excuses to drop QC, ethics, or bias review. Human correction gates and gold audits remain the release criterion. The next chapter asks how to clean and preprocess once labels exist.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to finish Chapter 4. The next chapter turns to data cleaning and preprocessing—how labeled datasets become consistent, model-ready tables and tensors after annotation is complete.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Emerging topics and future directions</a:t>
            </a:r>
          </a:p>
          <a:p>
            <a:pPr algn="ctr">
              <a:lnSpc>
                <a:spcPts val="2200"/>
              </a:lnSpc>
              <a:spcBef>
                <a:spcPts val="1400"/>
              </a:spcBef>
            </a:pPr>
            <a:r>
              <a:rPr sz="2600" b="0">
                <a:solidFill>
                  <a:srgbClr val="333333"/>
                </a:solidFill>
                <a:latin typeface="Calibri"/>
              </a:rPr>
              <a:t>Annotation practice is moving toward tighter human–model loops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AI-assisted and self-labeling workflows with human correction gates</a:t>
            </a:r>
          </a:p>
          <a:p>
            <a:pPr lvl="0" marL="457200" indent="-228600">
              <a:buFont typeface="Calibri"/>
              <a:spcAft>
                <a:spcPts val="1000"/>
              </a:spcAft>
              <a:buSzPct val="100000"/>
              <a:buChar char="•"/>
              <a:lnSpc>
                <a:spcPts val="2200"/>
              </a:lnSpc>
            </a:pPr>
            <a:r>
              <a:rPr sz="2000" b="0">
                <a:solidFill>
                  <a:srgbClr val="333333"/>
                </a:solidFill>
                <a:latin typeface="Calibri"/>
              </a:rPr>
              <a:t>State how Chapter 5 continues the dataset lifecycle after labeling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AI-assisted and self-labeling workflows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Humans correct errors before labels enter the training pool</a:t>
            </a:r>
          </a:p>
          <a:p>
            <a:pPr lvl="0" marL="457200" indent="-228600">
              <a:buFont typeface="Calibri"/>
              <a:spcAft>
                <a:spcPts val="1000"/>
              </a:spcAft>
              <a:buSzPct val="100000"/>
              <a:buChar char="•"/>
              <a:lnSpc>
                <a:spcPts val="2200"/>
              </a:lnSpc>
            </a:pPr>
            <a:r>
              <a:rPr sz="2000" b="0">
                <a:solidFill>
                  <a:srgbClr val="333333"/>
                </a:solidFill>
                <a:latin typeface="Calibri"/>
              </a:rPr>
              <a:t>Self-training and pseudo-labeling can scale further when confidence thresholds and audit</a:t>
            </a:r>
          </a:p>
          <a:p>
            <a:pPr lvl="0" marL="457200" indent="-228600">
              <a:buFont typeface="Calibri"/>
              <a:spcAft>
                <a:spcPts val="1000"/>
              </a:spcAft>
              <a:buSzPct val="100000"/>
              <a:buChar char="•"/>
              <a:lnSpc>
                <a:spcPts val="2200"/>
              </a:lnSpc>
            </a:pPr>
            <a:r>
              <a:rPr sz="2000" b="0">
                <a:solidFill>
                  <a:srgbClr val="333333"/>
                </a:solidFill>
                <a:latin typeface="Calibri"/>
              </a:rPr>
              <a:t>Unchecked self-labeling amplifies early mistakes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Synthetic and programmatic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images or text can fill rare classes but must be validated against real</a:t>
            </a:r>
          </a:p>
          <a:p>
            <a:pPr lvl="0" marL="457200" indent="-228600">
              <a:buFont typeface="Calibri"/>
              <a:spcAft>
                <a:spcPts val="1000"/>
              </a:spcAft>
              <a:buSzPct val="100000"/>
              <a:buChar char="•"/>
              <a:lnSpc>
                <a:spcPts val="2200"/>
              </a:lnSpc>
            </a:pPr>
            <a:r>
              <a:rPr sz="2000" b="0">
                <a:solidFill>
                  <a:srgbClr val="333333"/>
                </a:solidFill>
                <a:latin typeface="Calibri"/>
              </a:rPr>
              <a:t>Weak supervision and labeling functions encode heuristics that humans later audit</a:t>
            </a:r>
          </a:p>
          <a:p>
            <a:pPr lvl="0" marL="457200" indent="-228600">
              <a:buFont typeface="Calibri"/>
              <a:spcAft>
                <a:spcPts val="1000"/>
              </a:spcAft>
              <a:buSzPct val="100000"/>
              <a:buChar char="•"/>
              <a:lnSpc>
                <a:spcPts val="2200"/>
              </a:lnSpc>
            </a:pPr>
            <a:r>
              <a:rPr sz="2000" b="0">
                <a:solidFill>
                  <a:srgbClr val="333333"/>
                </a:solidFill>
                <a:latin typeface="Calibri"/>
              </a:rPr>
              <a:t>Not replacements for adjudicated gold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Streaming applications may label on the fly for monitoring</a:t>
            </a:r>
          </a:p>
          <a:p>
            <a:pPr lvl="0" marL="457200" indent="-228600">
              <a:buFont typeface="Calibri"/>
              <a:spcAft>
                <a:spcPts val="1000"/>
              </a:spcAft>
              <a:buSzPct val="100000"/>
              <a:buChar char="•"/>
              <a:lnSpc>
                <a:spcPts val="2200"/>
              </a:lnSpc>
            </a:pPr>
            <a:r>
              <a:rPr sz="2000" b="0">
                <a:solidFill>
                  <a:srgbClr val="333333"/>
                </a:solidFill>
                <a:latin typeface="Calibri"/>
              </a:rPr>
              <a:t>Bias risk if models or synthetic generators encode skew</a:t>
            </a:r>
          </a:p>
          <a:p>
            <a:pPr lvl="0" marL="457200" indent="-228600">
              <a:buFont typeface="Calibri"/>
              <a:spcAft>
                <a:spcPts val="1000"/>
              </a:spcAft>
              <a:buSzPct val="100000"/>
              <a:buChar char="•"/>
              <a:lnSpc>
                <a:spcPts val="2200"/>
              </a:lnSpc>
            </a:pPr>
            <a:r>
              <a:rPr sz="2000" b="0">
                <a:solidFill>
                  <a:srgbClr val="333333"/>
                </a:solidFill>
                <a:latin typeface="Calibri"/>
              </a:rPr>
              <a:t>Real-time speed is valuable only when governance keeps pace with the feed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 to Chapter 5</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Emerging directions that connect to ethics and bias</a:t>
            </a:r>
          </a:p>
          <a:p>
            <a:pPr lvl="0" marL="457200" indent="-228600">
              <a:buFont typeface="Calibri"/>
              <a:spcAft>
                <a:spcPts val="1000"/>
              </a:spcAft>
              <a:buSzPct val="100000"/>
              <a:buChar char="•"/>
              <a:lnSpc>
                <a:spcPts val="2200"/>
              </a:lnSpc>
            </a:pPr>
            <a:r>
              <a:rPr sz="2000" b="0">
                <a:solidFill>
                  <a:srgbClr val="333333"/>
                </a:solidFill>
                <a:latin typeface="Calibri"/>
              </a:rPr>
              <a:t>Chapter 5 turns to cleaning and preprocessing so labeled datasets become model-ready</a:t>
            </a:r>
          </a:p>
          <a:p>
            <a:pPr lvl="0" marL="457200" indent="-228600">
              <a:buFont typeface="Calibri"/>
              <a:spcAft>
                <a:spcPts val="1000"/>
              </a:spcAft>
              <a:buSzPct val="100000"/>
              <a:buChar char="•"/>
              <a:lnSpc>
                <a:spcPts val="2200"/>
              </a:lnSpc>
            </a:pPr>
            <a:r>
              <a:rPr sz="2000" b="0">
                <a:solidFill>
                  <a:srgbClr val="333333"/>
                </a:solidFill>
                <a:latin typeface="Calibri"/>
              </a:rPr>
              <a:t>When fairness of labels or models is the primary concern</a:t>
            </a:r>
          </a:p>
          <a:p>
            <a:pPr lvl="0" marL="457200" indent="-228600">
              <a:buFont typeface="Calibri"/>
              <a:spcAft>
                <a:spcPts val="1000"/>
              </a:spcAft>
              <a:buSzPct val="100000"/>
              <a:buChar char="•"/>
              <a:lnSpc>
                <a:spcPts val="2200"/>
              </a:lnSpc>
            </a:pPr>
            <a:r>
              <a:rPr sz="2000" b="0">
                <a:solidFill>
                  <a:srgbClr val="333333"/>
                </a:solidFill>
                <a:latin typeface="Calibri"/>
              </a:rPr>
              <a:t>Deeper treatment of active learning, weak supervision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AI-assisted, synthetic</a:t>
            </a:r>
          </a:p>
          <a:p>
            <a:pPr lvl="0" marL="457200" indent="-228600">
              <a:buFont typeface="Calibri"/>
              <a:spcAft>
                <a:spcPts val="1000"/>
              </a:spcAft>
              <a:buSzPct val="100000"/>
              <a:buChar char="•"/>
              <a:lnSpc>
                <a:spcPts val="2200"/>
              </a:lnSpc>
            </a:pPr>
            <a:r>
              <a:rPr sz="2000" b="0">
                <a:solidFill>
                  <a:srgbClr val="333333"/>
                </a:solidFill>
                <a:latin typeface="Calibri"/>
              </a:rPr>
              <a:t>Human correction gates and gold audits remain the release criterion</a:t>
            </a:r>
          </a:p>
          <a:p>
            <a:pPr lvl="0" marL="457200" indent="-228600">
              <a:buFont typeface="Calibri"/>
              <a:spcAft>
                <a:spcPts val="1000"/>
              </a:spcAft>
              <a:buSzPct val="100000"/>
              <a:buChar char="•"/>
              <a:lnSpc>
                <a:spcPts val="2200"/>
              </a:lnSpc>
            </a:pPr>
            <a:r>
              <a:rPr sz="2000" b="0">
                <a:solidFill>
                  <a:srgbClr val="333333"/>
                </a:solidFill>
                <a:latin typeface="Calibri"/>
              </a:rPr>
              <a:t>The next chapter asks how to clean and preprocess once labels exist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to finish Chapter 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Emerging Topics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