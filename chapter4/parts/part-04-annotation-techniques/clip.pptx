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which labels to apply is not enough—you still need a workflow that matches quality and budget. This part contrasts manual, semi-automated, fully automated, and crowdsourced annotation, including active learning queues and majority-vote redundancy.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compare manual, semi-automated, fully automated, and crowdsourced annotation on throughput and risk, summarize the trade-offs in Table 4.2, and describe active learning and majority-vote patterns as practical workflow choices.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Annotation is labor-intensive, so teams must match technique to quality and budget constraints. Table 4.2 summarizes four approaches. Manual annotation handles ambiguity and domain nuance but offers low throughput and annotator variance. Semi-automated labeling is faster when humans review model proposals but risks over-trusting bad suggestions. Fully automated pipelines scale at low marginal cost yet inherit skew and silent errors. Crowdsourcing enables rapid scale for simple schemas but introduces worker variance and labor ethics concerns. No single technique dominates; production programs often combine several under shared quality-control gates.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annotation assigns labels through trained humans and remains the reference standard when context, ambiguity, or domain expertise matter more than throughput. Humans handle occlusion, sarcasm, and guideline exceptions that automated pre-labelers often miss, but manual throughput is limited and inter-annotator variance must be managed with guidelines and agreement checks.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4.26 shows a sentiment edge case. A sentence such as “That was quite a disaster, but at least I got the coffee!” may still be labeled positive from context even though surface words look negative. A brittle keyword rule may miss that tone. Open the example 26 module for this chapter to walk through the ambiguity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Semi-automated annotation combines human review with model-generated proposals. A pre-trained detector may suggest boxes or entity spans; annotators accept, correct, or reject them. Active learning prioritizes labeling for the most uncertain items so human effort concentrates where it changes the model most.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4.27 shows a typical queueing pattern. In text classification, ambiguous sentences are queued for human review while high-confidence cases are auto-labeled or skipped, so annotators spend time where the model is most uncertain. Active learning reduces label volume but still requires monitoring for bias introduced during adjudication. Open the example 27 module for this chapter to inspect the queue logic.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Fully automated pipelines label data without per-item human review, which suits scale but raises accuracy and bias risk. Automated labelers inherit training-data skew, so subsets should be spot-checked and fairness metrics applied before release. Crowdsourcing distributes micro-tasks to many workers, often with redundancy and majority vote for quality on simpler schemas.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4.28 shows a simple redundancy pattern. Three workers label the same review as positive, positive, and negative; majority vote yields positive, while gold-item checks and qualification tests limit random or adversarial workers. Crowdsourcing scales quickly but needs gold items, worker qualification, and fair payment practices. Open the example 28 module for this chapter to review the vote pattern.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technique to ambiguity, throughput, and ethics—not to habit. Table 4.2 pairs each approach with its primary risk. Combine workflows only when shared QC gates keep volume from eroding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annotation tools—open-source editors, commercial platforms, and a minimal object-detection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Annotation techniques</a:t>
            </a:r>
          </a:p>
          <a:p>
            <a:pPr algn="ctr">
              <a:lnSpc>
                <a:spcPts val="2200"/>
              </a:lnSpc>
              <a:spcBef>
                <a:spcPts val="1400"/>
              </a:spcBef>
            </a:pPr>
            <a:r>
              <a:rPr sz="2600" b="0">
                <a:solidFill>
                  <a:srgbClr val="333333"/>
                </a:solidFill>
                <a:latin typeface="Calibri"/>
              </a:rPr>
              <a:t>Knowing which labels to apply is not enough, you still need a workflow that matches quality and budget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Compare manual, semi-automated, fully automated</a:t>
            </a:r>
          </a:p>
          <a:p>
            <a:pPr>
              <a:spcAft>
                <a:spcPts val="1000"/>
              </a:spcAft>
              <a:buChar char="•"/>
              <a:lnSpc>
                <a:spcPts val="2200"/>
              </a:lnSpc>
            </a:pPr>
            <a:r>
              <a:rPr sz="2000" b="0">
                <a:solidFill>
                  <a:srgbClr val="333333"/>
                </a:solidFill>
                <a:latin typeface="Calibri"/>
              </a:rPr>
              <a:t>Crowdsourced annotation on throughput and risk, summarize the trade-offs in Table 4.2</a:t>
            </a:r>
          </a:p>
          <a:p>
            <a:pPr>
              <a:spcAft>
                <a:spcPts val="1000"/>
              </a:spcAft>
              <a:buChar char="•"/>
              <a:lnSpc>
                <a:spcPts val="2200"/>
              </a:lnSpc>
            </a:pPr>
            <a:r>
              <a:rPr sz="2000" b="0">
                <a:solidFill>
                  <a:srgbClr val="333333"/>
                </a:solidFill>
                <a:latin typeface="Calibri"/>
              </a:rPr>
              <a:t>Describe active learning and majority-vote patterns as practical workflow choices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Technique trade-offs (Table 4.2)</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Annotation is labor-intensive</a:t>
            </a:r>
          </a:p>
          <a:p>
            <a:pPr>
              <a:spcAft>
                <a:spcPts val="1000"/>
              </a:spcAft>
              <a:buChar char="•"/>
              <a:lnSpc>
                <a:spcPts val="2200"/>
              </a:lnSpc>
            </a:pPr>
            <a:r>
              <a:rPr sz="2000" b="0">
                <a:solidFill>
                  <a:srgbClr val="333333"/>
                </a:solidFill>
                <a:latin typeface="Calibri"/>
              </a:rPr>
              <a:t>Table 4.2 summarizes four approaches</a:t>
            </a:r>
          </a:p>
          <a:p>
            <a:pPr>
              <a:spcAft>
                <a:spcPts val="1000"/>
              </a:spcAft>
              <a:buChar char="•"/>
              <a:lnSpc>
                <a:spcPts val="2200"/>
              </a:lnSpc>
            </a:pPr>
            <a:r>
              <a:rPr sz="2000" b="0">
                <a:solidFill>
                  <a:srgbClr val="333333"/>
                </a:solidFill>
                <a:latin typeface="Calibri"/>
              </a:rPr>
              <a:t>Manual annotation handles ambiguity and domain nuance but offers low throughput and</a:t>
            </a:r>
          </a:p>
          <a:p>
            <a:pPr>
              <a:spcAft>
                <a:spcPts val="1000"/>
              </a:spcAft>
              <a:buChar char="•"/>
              <a:lnSpc>
                <a:spcPts val="2200"/>
              </a:lnSpc>
            </a:pPr>
            <a:r>
              <a:rPr sz="2000" b="0">
                <a:solidFill>
                  <a:srgbClr val="333333"/>
                </a:solidFill>
                <a:latin typeface="Calibri"/>
              </a:rPr>
              <a:t>Semi-automated labeling is faster when humans review model proposals but risks</a:t>
            </a:r>
          </a:p>
          <a:p>
            <a:pPr>
              <a:spcAft>
                <a:spcPts val="1000"/>
              </a:spcAft>
              <a:buChar char="•"/>
              <a:lnSpc>
                <a:spcPts val="2200"/>
              </a:lnSpc>
            </a:pPr>
            <a:r>
              <a:rPr sz="2000" b="0">
                <a:solidFill>
                  <a:srgbClr val="333333"/>
                </a:solidFill>
                <a:latin typeface="Calibri"/>
              </a:rPr>
              <a:t>Fully automated pipelines scale at low marginal cost yet inherit skew and silent errors</a:t>
            </a:r>
          </a:p>
          <a:p>
            <a:pPr>
              <a:spcAft>
                <a:spcPts val="1000"/>
              </a:spcAft>
              <a:buChar char="•"/>
              <a:lnSpc>
                <a:spcPts val="2200"/>
              </a:lnSpc>
            </a:pPr>
            <a:r>
              <a:rPr sz="2000" b="0">
                <a:solidFill>
                  <a:srgbClr val="333333"/>
                </a:solidFill>
                <a:latin typeface="Calibri"/>
              </a:rPr>
              <a:t>Crowdsourcing enables rapid scale for simple schemas but introduces worker variance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Manual annotation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Ambiguity, or domain expertise matter more than throughput</a:t>
            </a:r>
          </a:p>
          <a:p>
            <a:pPr>
              <a:spcAft>
                <a:spcPts val="1000"/>
              </a:spcAft>
              <a:buChar char="•"/>
              <a:lnSpc>
                <a:spcPts val="2200"/>
              </a:lnSpc>
            </a:pPr>
            <a:r>
              <a:rPr sz="2000" b="0">
                <a:solidFill>
                  <a:srgbClr val="333333"/>
                </a:solidFill>
                <a:latin typeface="Calibri"/>
              </a:rPr>
              <a:t>Humans handle occlusion, sarcasm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4.26 — Manual sentiment ambiguity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4.26 — hands-on module</a:t>
            </a:r>
          </a:p>
          <a:p>
            <a:pPr>
              <a:spcAft>
                <a:spcPts val="1000"/>
              </a:spcAft>
              <a:buChar char="•"/>
              <a:lnSpc>
                <a:spcPts val="2200"/>
              </a:lnSpc>
            </a:pPr>
            <a:r>
              <a:rPr sz="2000" b="0">
                <a:solidFill>
                  <a:srgbClr val="333333"/>
                </a:solidFill>
                <a:latin typeface="Calibri"/>
              </a:rPr>
              <a:t>Example 4.26 shows a sentiment edge case</a:t>
            </a:r>
          </a:p>
          <a:p>
            <a:pPr>
              <a:spcAft>
                <a:spcPts val="1000"/>
              </a:spcAft>
              <a:buChar char="•"/>
              <a:lnSpc>
                <a:spcPts val="2200"/>
              </a:lnSpc>
            </a:pPr>
            <a:r>
              <a:rPr sz="2000" b="0">
                <a:solidFill>
                  <a:srgbClr val="333333"/>
                </a:solidFill>
                <a:latin typeface="Calibri"/>
              </a:rPr>
              <a:t>A sentence such as “That was quite a disaster</a:t>
            </a:r>
          </a:p>
          <a:p>
            <a:pPr>
              <a:spcAft>
                <a:spcPts val="1000"/>
              </a:spcAft>
              <a:buChar char="•"/>
              <a:lnSpc>
                <a:spcPts val="2200"/>
              </a:lnSpc>
            </a:pPr>
            <a:r>
              <a:rPr sz="2000" b="0">
                <a:solidFill>
                  <a:srgbClr val="333333"/>
                </a:solidFill>
                <a:latin typeface="Calibri"/>
              </a:rPr>
              <a:t>A brittle keyword rule may miss that tone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Semi-automated and active learning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Semi-automated annotation combines human review with model-generated proposals</a:t>
            </a:r>
          </a:p>
          <a:p>
            <a:pPr>
              <a:spcAft>
                <a:spcPts val="1000"/>
              </a:spcAft>
              <a:buChar char="•"/>
              <a:lnSpc>
                <a:spcPts val="2200"/>
              </a:lnSpc>
            </a:pPr>
            <a:r>
              <a:rPr sz="2000" b="0">
                <a:solidFill>
                  <a:srgbClr val="333333"/>
                </a:solidFill>
                <a:latin typeface="Calibri"/>
              </a:rPr>
              <a:t>A pre-trained detector may suggest boxes or entity spans</a:t>
            </a:r>
          </a:p>
          <a:p>
            <a:pPr>
              <a:spcAft>
                <a:spcPts val="1000"/>
              </a:spcAft>
              <a:buChar char="•"/>
              <a:lnSpc>
                <a:spcPts val="2200"/>
              </a:lnSpc>
            </a:pPr>
            <a:r>
              <a:rPr sz="2000" b="0">
                <a:solidFill>
                  <a:srgbClr val="333333"/>
                </a:solidFill>
                <a:latin typeface="Calibri"/>
              </a:rPr>
              <a:t>Active learning prioritizes labeling for the most uncertain items so human effort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4.27 — Active learning queue for text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4.27 — hands-on module</a:t>
            </a:r>
          </a:p>
          <a:p>
            <a:pPr>
              <a:spcAft>
                <a:spcPts val="1000"/>
              </a:spcAft>
              <a:buChar char="•"/>
              <a:lnSpc>
                <a:spcPts val="2200"/>
              </a:lnSpc>
            </a:pPr>
            <a:r>
              <a:rPr sz="2000" b="0">
                <a:solidFill>
                  <a:srgbClr val="333333"/>
                </a:solidFill>
                <a:latin typeface="Calibri"/>
              </a:rPr>
              <a:t>Example 4.27 shows a typical queueing pattern</a:t>
            </a:r>
          </a:p>
          <a:p>
            <a:pPr>
              <a:spcAft>
                <a:spcPts val="1000"/>
              </a:spcAft>
              <a:buChar char="•"/>
              <a:lnSpc>
                <a:spcPts val="2200"/>
              </a:lnSpc>
            </a:pPr>
            <a:r>
              <a:rPr sz="2000" b="0">
                <a:solidFill>
                  <a:srgbClr val="333333"/>
                </a:solidFill>
                <a:latin typeface="Calibri"/>
              </a:rPr>
              <a:t>In text classification</a:t>
            </a:r>
          </a:p>
          <a:p>
            <a:pPr>
              <a:spcAft>
                <a:spcPts val="1000"/>
              </a:spcAft>
              <a:buChar char="•"/>
              <a:lnSpc>
                <a:spcPts val="2200"/>
              </a:lnSpc>
            </a:pPr>
            <a:r>
              <a:rPr sz="2000" b="0">
                <a:solidFill>
                  <a:srgbClr val="333333"/>
                </a:solidFill>
                <a:latin typeface="Calibri"/>
              </a:rPr>
              <a:t>Active learning reduces label volume but still requires monitoring for bias introduced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Fully automated and crowdsourced annotation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Fully automated pipelines label data without per-item human review</a:t>
            </a:r>
          </a:p>
          <a:p>
            <a:pPr>
              <a:spcAft>
                <a:spcPts val="1000"/>
              </a:spcAft>
              <a:buChar char="•"/>
              <a:lnSpc>
                <a:spcPts val="2200"/>
              </a:lnSpc>
            </a:pPr>
            <a:r>
              <a:rPr sz="2000" b="0">
                <a:solidFill>
                  <a:srgbClr val="333333"/>
                </a:solidFill>
                <a:latin typeface="Calibri"/>
              </a:rPr>
              <a:t>Automated labelers inherit training-data skew</a:t>
            </a:r>
          </a:p>
          <a:p>
            <a:pPr>
              <a:spcAft>
                <a:spcPts val="1000"/>
              </a:spcAft>
              <a:buChar char="•"/>
              <a:lnSpc>
                <a:spcPts val="2200"/>
              </a:lnSpc>
            </a:pPr>
            <a:r>
              <a:rPr sz="2000" b="0">
                <a:solidFill>
                  <a:srgbClr val="333333"/>
                </a:solidFill>
                <a:latin typeface="Calibri"/>
              </a:rPr>
              <a:t>Crowdsourcing distributes micro-tasks to many workers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4.28 — Majority vote on crowdsourced sentiment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4.28 — hands-on module</a:t>
            </a:r>
          </a:p>
          <a:p>
            <a:pPr>
              <a:spcAft>
                <a:spcPts val="1000"/>
              </a:spcAft>
              <a:buChar char="•"/>
              <a:lnSpc>
                <a:spcPts val="2200"/>
              </a:lnSpc>
            </a:pPr>
            <a:r>
              <a:rPr sz="2000" b="0">
                <a:solidFill>
                  <a:srgbClr val="333333"/>
                </a:solidFill>
                <a:latin typeface="Calibri"/>
              </a:rPr>
              <a:t>Example 4.28 shows a simple redundancy pattern</a:t>
            </a:r>
          </a:p>
          <a:p>
            <a:pPr>
              <a:spcAft>
                <a:spcPts val="1000"/>
              </a:spcAft>
              <a:buChar char="•"/>
              <a:lnSpc>
                <a:spcPts val="2200"/>
              </a:lnSpc>
            </a:pPr>
            <a:r>
              <a:rPr sz="2000" b="0">
                <a:solidFill>
                  <a:srgbClr val="333333"/>
                </a:solidFill>
                <a:latin typeface="Calibri"/>
              </a:rPr>
              <a:t>Three workers label the same review as positive, positive, and negative</a:t>
            </a:r>
          </a:p>
          <a:p>
            <a:pPr>
              <a:spcAft>
                <a:spcPts val="1000"/>
              </a:spcAft>
              <a:buChar char="•"/>
              <a:lnSpc>
                <a:spcPts val="2200"/>
              </a:lnSpc>
            </a:pPr>
            <a:r>
              <a:rPr sz="2000" b="0">
                <a:solidFill>
                  <a:srgbClr val="333333"/>
                </a:solidFill>
                <a:latin typeface="Calibri"/>
              </a:rPr>
              <a:t>Crowdsourcing scales quickly but needs gold items, worker qualification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Match technique to ambiguity, throughput, and ethics, not to habit</a:t>
            </a:r>
          </a:p>
          <a:p>
            <a:pPr>
              <a:spcAft>
                <a:spcPts val="1000"/>
              </a:spcAft>
              <a:buChar char="•"/>
              <a:lnSpc>
                <a:spcPts val="2200"/>
              </a:lnSpc>
            </a:pPr>
            <a:r>
              <a:rPr sz="2000" b="0">
                <a:solidFill>
                  <a:srgbClr val="333333"/>
                </a:solidFill>
                <a:latin typeface="Calibri"/>
              </a:rPr>
              <a:t>Table 4.2 pairs each approach with its primary risk</a:t>
            </a:r>
          </a:p>
          <a:p>
            <a:pPr>
              <a:spcAft>
                <a:spcPts val="1000"/>
              </a:spcAft>
              <a:buChar char="•"/>
              <a:lnSpc>
                <a:spcPts val="2200"/>
              </a:lnSpc>
            </a:pPr>
            <a:r>
              <a:rPr sz="2000" b="0">
                <a:solidFill>
                  <a:srgbClr val="333333"/>
                </a:solidFill>
                <a:latin typeface="Calibri"/>
              </a:rPr>
              <a:t>Combine workflows only when shared QC gates keep volume from eroding accuracy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A minimal object-detection workflow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Annotation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